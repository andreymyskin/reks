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56.xml" ContentType="application/vnd.openxmlformats-officedocument.drawingml.chart+xml"/>
  <Override PartName="/ppt/charts/part358xml" ContentType="application/vnd.ms-office.chartcolorstyle+xml"/>
  <Override PartName="/ppt/charts/part359xml" ContentType="application/vnd.ms-office.chartstyle+xml"/>
  <Override PartName="/ppt/commentAuthors.xml" ContentType="application/vnd.openxmlformats-officedocument.presentationml.commentAuthors+xml"/>
  <Override PartName="/ppt/drawings/drawing360xml" ContentType="application/vnd.openxmlformats-officedocument.drawingml.chartshapes+xml"/>
  <Override PartName="/ppt/embeddings/embedding357xlsx" ContentType="application/vnd.openxmlformats-officedocument.spreadsheetml.sheet"/>
  <Override PartName="/ppt/handoutMasters/handoutMaster1.xml" ContentType="application/vnd.openxmlformats-officedocument.presentationml.handoutMaster+xml"/>
  <Override PartName="/ppt/media/image30.svg" ContentType="image/svg+xml"/>
  <Override PartName="/ppt/media/image302.svg" ContentType="image/svg+xml"/>
  <Override PartName="/ppt/media/image303.svg" ContentType="image/svg+xml"/>
  <Override PartName="/ppt/media/image304.svg" ContentType="image/svg+xml"/>
  <Override PartName="/ppt/media/image305.svg" ContentType="image/svg+xml"/>
  <Override PartName="/ppt/media/image306.svg" ContentType="image/svg+xml"/>
  <Override PartName="/ppt/media/image307.svg" ContentType="image/svg+xml"/>
  <Override PartName="/ppt/media/image308.svg" ContentType="image/svg+xml"/>
  <Override PartName="/ppt/media/image309.svg" ContentType="image/svg+xml"/>
  <Override PartName="/ppt/media/image310.svg" ContentType="image/svg+xml"/>
  <Override PartName="/ppt/media/image311.svg" ContentType="image/svg+xml"/>
  <Override PartName="/ppt/media/image312.svg" ContentType="image/svg+xml"/>
  <Override PartName="/ppt/media/image313.svg" ContentType="image/svg+xml"/>
  <Override PartName="/ppt/media/image314.svg" ContentType="image/svg+xml"/>
  <Override PartName="/ppt/media/image315.svg" ContentType="image/svg+xml"/>
  <Override PartName="/ppt/media/image316.svg" ContentType="image/svg+xml"/>
  <Override PartName="/ppt/media/image317.svg" ContentType="image/svg+xml"/>
  <Override PartName="/ppt/media/image318.svg" ContentType="image/svg+xml"/>
  <Override PartName="/ppt/media/image319.svg" ContentType="image/svg+xml"/>
  <Override PartName="/ppt/media/image320.svg" ContentType="image/svg+xml"/>
  <Override PartName="/ppt/media/image321.svg" ContentType="image/svg+xml"/>
  <Override PartName="/ppt/media/image322.svg" ContentType="image/svg+xml"/>
  <Override PartName="/ppt/media/image323.svg" ContentType="image/svg+xml"/>
  <Override PartName="/ppt/media/image324.svg" ContentType="image/svg+xml"/>
  <Override PartName="/ppt/media/image325.svg" ContentType="image/svg+xml"/>
  <Override PartName="/ppt/media/image326.svg" ContentType="image/svg+xml"/>
  <Override PartName="/ppt/media/image327.svg" ContentType="image/svg+xml"/>
  <Override PartName="/ppt/media/image328.svg" ContentType="image/svg+xml"/>
  <Override PartName="/ppt/media/image329.svg" ContentType="image/svg+xml"/>
  <Override PartName="/ppt/media/image330.svg" ContentType="image/svg+xml"/>
  <Override PartName="/ppt/media/image331.svg" ContentType="image/svg+xml"/>
  <Override PartName="/ppt/media/image332.svg" ContentType="image/svg+xml"/>
  <Override PartName="/ppt/media/image333.svg" ContentType="image/svg+xml"/>
  <Override PartName="/ppt/media/image334.svg" ContentType="image/svg+xml"/>
  <Override PartName="/ppt/media/image335.svg" ContentType="image/svg+xml"/>
  <Override PartName="/ppt/media/image336.svg" ContentType="image/svg+xml"/>
  <Override PartName="/ppt/media/image337.svg" ContentType="image/svg+xml"/>
  <Override PartName="/ppt/media/image338.svg" ContentType="image/svg+xml"/>
  <Override PartName="/ppt/media/image339.svg" ContentType="image/svg+xml"/>
  <Override PartName="/ppt/media/image340.svg" ContentType="image/svg+xml"/>
  <Override PartName="/ppt/media/image341.svg" ContentType="image/svg+xml"/>
  <Override PartName="/ppt/media/image342.svg" ContentType="image/svg+xml"/>
  <Override PartName="/ppt/media/image343.svg" ContentType="image/svg+xml"/>
  <Override PartName="/ppt/media/image344.svg" ContentType="image/svg+xml"/>
  <Override PartName="/ppt/media/image345.svg" ContentType="image/svg+xml"/>
  <Override PartName="/ppt/media/image346.svg" ContentType="image/svg+xml"/>
  <Override PartName="/ppt/media/image347.svg" ContentType="image/svg+xml"/>
  <Override PartName="/ppt/media/image348.svg" ContentType="image/svg+xml"/>
  <Override PartName="/ppt/media/image349.svg" ContentType="image/svg+xml"/>
  <Override PartName="/ppt/media/image35.svg" ContentType="image/svg+xml"/>
  <Override PartName="/ppt/media/image350.svg" ContentType="image/svg+xml"/>
  <Override PartName="/ppt/media/image351.svg" ContentType="image/svg+xml"/>
  <Override PartName="/ppt/media/image352.svg" ContentType="image/svg+xml"/>
  <Override PartName="/ppt/media/image353.svg" ContentType="image/svg+xml"/>
  <Override PartName="/ppt/media/image354.svg" ContentType="image/svg+xml"/>
  <Override PartName="/ppt/media/image355.svg" ContentType="image/svg+xml"/>
  <Override PartName="/ppt/media/image361.svg" ContentType="image/svg+xml"/>
  <Override PartName="/ppt/media/image362.svg" ContentType="image/svg+xml"/>
  <Override PartName="/ppt/media/image4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50" r:id="rId1"/>
  </p:sldMasterIdLst>
  <p:notesMasterIdLst>
    <p:notesMasterId r:id="rId135"/>
  </p:notesMasterIdLst>
  <p:handoutMasterIdLst>
    <p:handoutMasterId r:id="rId136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  <p:sldId id="329" r:id="rId88"/>
    <p:sldId id="330" r:id="rId89"/>
    <p:sldId id="331" r:id="rId90"/>
    <p:sldId id="332" r:id="rId91"/>
    <p:sldId id="333" r:id="rId92"/>
    <p:sldId id="334" r:id="rId93"/>
    <p:sldId id="335" r:id="rId94"/>
    <p:sldId id="336" r:id="rId95"/>
    <p:sldId id="337" r:id="rId96"/>
    <p:sldId id="338" r:id="rId97"/>
    <p:sldId id="339" r:id="rId98"/>
    <p:sldId id="340" r:id="rId99"/>
    <p:sldId id="341" r:id="rId100"/>
    <p:sldId id="342" r:id="rId101"/>
    <p:sldId id="343" r:id="rId102"/>
    <p:sldId id="344" r:id="rId103"/>
    <p:sldId id="345" r:id="rId104"/>
    <p:sldId id="346" r:id="rId105"/>
  </p:sldIdLst>
  <p:sldSz cx="12192000" cy="6858000"/>
  <p:notesSz cx="13716000" cy="24387175"/>
  <p:embeddedFontLst>
    <p:embeddedFont>
      <p:font typeface="Calibri" panose="020F0502020204030204" pitchFamily="34" charset="0"/>
      <p:regular r:id="rId137"/>
      <p:bold r:id="rId138"/>
      <p:italic r:id="rId139"/>
      <p:boldItalic r:id="rId140"/>
    </p:embeddedFont>
    <p:embeddedFont>
      <p:font typeface="Stapel" panose="020B0504020202020204" pitchFamily="34" charset="77"/>
      <p:regular r:id="rId141"/>
    </p:embeddedFont>
    <p:embeddedFont>
      <p:font typeface="Stapel Medium" panose="020B0504020202020204" pitchFamily="34" charset="77"/>
      <p:regular r:id="rId142"/>
    </p:embeddedFont>
  </p:embeddedFontLst>
  <p:defaultTextStyle>
    <a:lvl1pPr marL="0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554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109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663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217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2771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326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9880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434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a Kochanova" initials="AK" lastIdx="4" clrIdx="0">
    <p:extLst>
      <p:ext uri="{19B8F6BF-5375-455C-9EA6-DF929625EA0E}">
        <p15:presenceInfo xmlns:p15="http://schemas.microsoft.com/office/powerpoint/2012/main" userId="38a79274e5f12d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4F4"/>
    <a:srgbClr val="99FFCC"/>
    <a:srgbClr val="C007A7"/>
    <a:srgbClr val="8F0D6B"/>
    <a:srgbClr val="8B0466"/>
    <a:srgbClr val="ACC4FE"/>
    <a:srgbClr val="FFDBDA"/>
    <a:srgbClr val="FAE6E9"/>
    <a:srgbClr val="E5E2FC"/>
    <a:srgbClr val="D5B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 autoAdjust="0"/>
    <p:restoredTop sz="96405" autoAdjust="0"/>
  </p:normalViewPr>
  <p:slideViewPr>
    <p:cSldViewPr snapToGrid="0" snapToObjects="1">
      <p:cViewPr varScale="1">
        <p:scale>
          <a:sx n="122" d="100"/>
          <a:sy n="122" d="100"/>
        </p:scale>
        <p:origin x="75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1943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23" d="100"/>
          <a:sy n="23" d="100"/>
        </p:scale>
        <p:origin x="3405" y="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Relationship Id="rId105" Type="http://schemas.openxmlformats.org/officeDocument/2006/relationships/slide" Target="slides/slide91.xml"/><Relationship Id="rId135" Type="http://schemas.openxmlformats.org/officeDocument/2006/relationships/notesMaster" Target="notesMasters/notesMaster1.xml"/><Relationship Id="rId136" Type="http://schemas.openxmlformats.org/officeDocument/2006/relationships/handoutMaster" Target="handoutMasters/handoutMaster1.xml"/><Relationship Id="rId137" Type="http://schemas.openxmlformats.org/officeDocument/2006/relationships/font" Target="fonts/font1.fntdata"/><Relationship Id="rId138" Type="http://schemas.openxmlformats.org/officeDocument/2006/relationships/font" Target="fonts/font2.fntdata"/><Relationship Id="rId139" Type="http://schemas.openxmlformats.org/officeDocument/2006/relationships/font" Target="fonts/font3.fntdata"/><Relationship Id="rId140" Type="http://schemas.openxmlformats.org/officeDocument/2006/relationships/font" Target="fonts/font4.fntdata"/><Relationship Id="rId141" Type="http://schemas.openxmlformats.org/officeDocument/2006/relationships/font" Target="fonts/font5.fntdata"/><Relationship Id="rId142" Type="http://schemas.openxmlformats.org/officeDocument/2006/relationships/font" Target="fonts/font6.fntdata"/><Relationship Id="rId143" Type="http://schemas.openxmlformats.org/officeDocument/2006/relationships/commentAuthors" Target="commentAuthors.xml"/><Relationship Id="rId144" Type="http://schemas.openxmlformats.org/officeDocument/2006/relationships/presProps" Target="presProps.xml"/><Relationship Id="rId145" Type="http://schemas.openxmlformats.org/officeDocument/2006/relationships/viewProps" Target="viewProps.xml"/><Relationship Id="rId146" Type="http://schemas.openxmlformats.org/officeDocument/2006/relationships/theme" Target="theme/theme1.xml"/><Relationship Id="rId147" Type="http://schemas.openxmlformats.org/officeDocument/2006/relationships/tableStyles" Target="tableStyles.xml"/></Relationships>
</file>

<file path=ppt/charts/_rels/chart356.xml.rels><?xml version='1.0' encoding='UTF-8' standalone='yes'?>
<Relationships xmlns="http://schemas.openxmlformats.org/package/2006/relationships"><Relationship Id="rId1" Type="http://schemas.microsoft.com/office/2011/relationships/chartStyle" Target="part359xml"/><Relationship Id="rId2" Type="http://schemas.microsoft.com/office/2011/relationships/chartColorStyle" Target="part358xml"/><Relationship Id="rId3" Type="http://schemas.openxmlformats.org/officeDocument/2006/relationships/package" Target="../embeddings/embedding357xlsx"/><Relationship Id="rId4" Type="http://schemas.openxmlformats.org/officeDocument/2006/relationships/chartUserShapes" Target="../drawings/drawing360xml"/></Relationships>
</file>

<file path=ppt/charts/chart3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721374213655632"/>
          <c:y val="3.4375000000000003E-2"/>
          <c:w val="0.60966405973502824"/>
          <c:h val="0.9312500000000000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rgbClr val="8F0D6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4D5A-4FC6-BD9D-7BA0F32DA049}"/>
              </c:ext>
            </c:extLst>
          </c:dPt>
          <c:dPt>
            <c:idx val="1"/>
            <c:bubble3D val="0"/>
            <c:spPr>
              <a:solidFill>
                <a:srgbClr val="DDB6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5A-4FC6-BD9D-7BA0F32DA049}"/>
              </c:ext>
            </c:extLst>
          </c:dPt>
          <c:dPt>
            <c:idx val="2"/>
            <c:bubble3D val="0"/>
            <c:spPr>
              <a:solidFill>
                <a:srgbClr val="ACC4F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4D5A-4FC6-BD9D-7BA0F32DA049}"/>
              </c:ext>
            </c:extLst>
          </c:dPt>
          <c:dPt>
            <c:idx val="3"/>
            <c:bubble3D val="0"/>
            <c:spPr>
              <a:solidFill>
                <a:srgbClr val="7D70E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D5A-4FC6-BD9D-7BA0F32DA049}"/>
              </c:ext>
            </c:extLst>
          </c:dPt>
          <c:dPt>
            <c:idx val="4"/>
            <c:bubble3D val="0"/>
            <c:spPr>
              <a:solidFill>
                <a:srgbClr val="7D70E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D5A-4FC6-BD9D-7BA0F32DA049}"/>
              </c:ext>
            </c:extLst>
          </c:dPt>
          <c:cat>
            <c:strRef>
              <c:f>Sheet1!$A$2:$A$6</c:f>
              <c:strCache>
                <c:ptCount val="5"/>
                <c:pt idx="0">
                  <c:v>Test Strategy and practices</c:v>
                </c:pt>
                <c:pt idx="1">
                  <c:v>Test Automation</c:v>
                </c:pt>
                <c:pt idx="2">
                  <c:v>Architecture </c:v>
                </c:pt>
                <c:pt idx="3">
                  <c:v>Development process/practices </c:v>
                </c:pt>
                <c:pt idx="4">
                  <c:v>Infrastructure/ DevTestOps</c:v>
                </c:pt>
              </c:strCache>
            </c:strRef>
          </c:cat>
          <c:val>
            <c:numRef>
              <c:f>Sheet1!$B$2:$B$6</c:f>
              <c:numCache>
                <c:formatCode>\О\с\н\о\в\н\о\й</c:formatCode>
                <c:ptCount val="5"/>
                <c:pt idx="0">
                  <c:v>72</c:v>
                </c:pt>
                <c:pt idx="1">
                  <c:v>72</c:v>
                </c:pt>
                <c:pt idx="2">
                  <c:v>72</c:v>
                </c:pt>
                <c:pt idx="3">
                  <c:v>72</c:v>
                </c:pt>
                <c:pt idx="4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D5A-4FC6-BD9D-7BA0F32DA0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  <c:holeSize val="75"/>
      </c:doughnutChart>
      <c:spPr>
        <a:noFill/>
        <a:ln w="25331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997" b="0" i="0" u="none" strike="noStrike" baseline="0">
          <a:solidFill>
            <a:srgbClr val="000000"/>
          </a:solidFill>
          <a:latin typeface="Stapel"/>
          <a:ea typeface="Stapel"/>
          <a:cs typeface="Stapel"/>
        </a:defRPr>
      </a:pPr>
      <a:endParaRPr lang="ru-RU"/>
    </a:p>
  </c:txPr>
  <c:externalData r:id="rId3">
    <c:autoUpdate val="0"/>
  </c:externalData>
  <c:userShapes r:id="rId4"/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A71AE9C-5FD3-7274-22B5-2AB50D2088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1D43E2B-8CAC-B160-343E-319D6E02FC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1C3F4-E42E-40C2-ACFB-F4523142FF82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D8A288-6AAC-5502-5378-789343DF62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9267E6-C03B-F94B-D2B4-1484BECE11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8C993-F0AF-4FAF-8CC3-49C84D8055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7398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7178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554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109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663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217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2771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326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99880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434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Минюст</a:t>
            </a:r>
          </a:p>
          <a:p>
            <a:r>
              <a:rPr lang="ru-RU" sz="1400">
                <a:latin typeface="Stapel"/>
              </a:rPr>
              <a:t>Аня Север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Мария Лукашова - Роскосмос</a:t>
            </a:r>
          </a:p>
          <a:p>
            <a:r>
              <a:rPr lang="ru-RU" sz="1400">
                <a:latin typeface="Stapel"/>
              </a:rPr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Минюст</a:t>
            </a:r>
          </a:p>
          <a:p>
            <a:r>
              <a:rPr lang="ru-RU" sz="1400">
                <a:latin typeface="Stapel"/>
              </a:rPr>
              <a:t>Аня Север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Минюст</a:t>
            </a:r>
          </a:p>
          <a:p>
            <a:r>
              <a:rPr lang="ru-RU" sz="1400">
                <a:latin typeface="Stapel"/>
              </a:rPr>
              <a:t>Аня Север</a:t>
            </a:r>
          </a:p>
          <a:p>
            <a:r>
              <a:rPr lang="ru-RU" sz="1400">
                <a:latin typeface="Stapel"/>
              </a:rPr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Виталя 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.png"/><Relationship Id="rId8" Type="http://schemas.openxmlformats.org/officeDocument/2006/relationships/image" Target="../media/image1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://www.reksoft.com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5.svg"/><Relationship Id="rId6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microsoft.com/office/2007/relationships/hdphoto" Target="../media/hdphoto1.wdp"/><Relationship Id="rId4" Type="http://schemas.openxmlformats.org/officeDocument/2006/relationships/image" Target="../media/image41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jpeg"/><Relationship Id="rId3" Type="http://schemas.openxmlformats.org/officeDocument/2006/relationships/image" Target="../media/image40.png"/><Relationship Id="rId4" Type="http://schemas.microsoft.com/office/2007/relationships/hdphoto" Target="../media/hdphoto1.wdp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jpeg"/><Relationship Id="rId3" Type="http://schemas.openxmlformats.org/officeDocument/2006/relationships/image" Target="../media/image40.png"/><Relationship Id="rId4" Type="http://schemas.microsoft.com/office/2007/relationships/hdphoto" Target="../media/hdphoto1.wdp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jpeg"/><Relationship Id="rId3" Type="http://schemas.openxmlformats.org/officeDocument/2006/relationships/image" Target="../media/image40.png"/><Relationship Id="rId4" Type="http://schemas.microsoft.com/office/2007/relationships/hdphoto" Target="../media/hdphoto1.wdp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37E6FB-B1E0-B50C-87F3-0ACD134A43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34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83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56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2">
            <a:extLst>
              <a:ext uri="{FF2B5EF4-FFF2-40B4-BE49-F238E27FC236}">
                <a16:creationId xmlns:a16="http://schemas.microsoft.com/office/drawing/2014/main" id="{A3BA59F4-5575-AA07-41BB-BFCFE4DD78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1323874"/>
            <a:ext cx="11442798" cy="1636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10000"/>
              </a:lnSpc>
              <a:defRPr sz="1000"/>
            </a:lvl1pPr>
            <a:lvl2pPr>
              <a:lnSpc>
                <a:spcPct val="110000"/>
              </a:lnSpc>
              <a:defRPr sz="1000"/>
            </a:lvl2pPr>
            <a:lvl3pPr>
              <a:lnSpc>
                <a:spcPct val="110000"/>
              </a:lnSpc>
              <a:defRPr sz="1000"/>
            </a:lvl3pPr>
            <a:lvl4pPr>
              <a:lnSpc>
                <a:spcPct val="110000"/>
              </a:lnSpc>
              <a:defRPr sz="1000"/>
            </a:lvl4pPr>
            <a:lvl5pPr>
              <a:lnSpc>
                <a:spcPct val="110000"/>
              </a:lnSpc>
              <a:defRPr sz="1000"/>
            </a:lvl5pPr>
            <a:lvl6pPr>
              <a:lnSpc>
                <a:spcPct val="110000"/>
              </a:lnSpc>
              <a:defRPr sz="1000"/>
            </a:lvl6pPr>
            <a:lvl7pPr>
              <a:lnSpc>
                <a:spcPct val="110000"/>
              </a:lnSpc>
              <a:defRPr sz="1000"/>
            </a:lvl7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60044CD6-6AC6-018D-F0FE-5CB20C49334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71475" y="1737367"/>
            <a:ext cx="11442798" cy="1636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5pPr>
            <a:lvl6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6pPr>
            <a:lvl7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7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12CC2936-3870-D653-3E5E-59E01E56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7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670767-2D71-D378-D26D-0126811706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17B7D1D1-96FB-7231-F95A-60A1D9D21A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00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34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83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56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Обложка светл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">
            <a:extLst>
              <a:ext uri="{FF2B5EF4-FFF2-40B4-BE49-F238E27FC236}">
                <a16:creationId xmlns:a16="http://schemas.microsoft.com/office/drawing/2014/main" id="{C4B9DA29-EE52-4501-88B4-8394AC52FE50}"/>
              </a:ext>
            </a:extLst>
          </p:cNvPr>
          <p:cNvSpPr/>
          <p:nvPr userDrawn="1"/>
        </p:nvSpPr>
        <p:spPr>
          <a:xfrm>
            <a:off x="355598" y="1403350"/>
            <a:ext cx="5384772" cy="2565400"/>
          </a:xfrm>
          <a:prstGeom prst="rect">
            <a:avLst/>
          </a:prstGeom>
          <a:noFill/>
          <a:ln/>
        </p:spPr>
      </p:sp>
      <p:sp>
        <p:nvSpPr>
          <p:cNvPr id="17" name="Рисунок 3">
            <a:extLst>
              <a:ext uri="{FF2B5EF4-FFF2-40B4-BE49-F238E27FC236}">
                <a16:creationId xmlns:a16="http://schemas.microsoft.com/office/drawing/2014/main" id="{27856579-C874-451C-29B0-9E9DFF749A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CF51693-6FDF-BA6F-4FDA-FC988F1B94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5599" y="3510968"/>
            <a:ext cx="5469438" cy="1962150"/>
          </a:xfrm>
          <a:noFill/>
          <a:ln/>
        </p:spPr>
        <p:txBody>
          <a:bodyPr vert="horz" wrap="square" lIns="0" tIns="0" rIns="0" bIns="0" rtlCol="0" anchor="t">
            <a:noAutofit/>
          </a:bodyPr>
          <a:lstStyle>
            <a:lvl1pPr marL="0" indent="0">
              <a:lnSpc>
                <a:spcPts val="2000"/>
              </a:lnSpc>
              <a:buNone/>
              <a:defRPr lang="ru-RU" sz="2000" kern="0" spc="-30" baseline="0">
                <a:solidFill>
                  <a:schemeClr val="tx1">
                    <a:alpha val="45000"/>
                  </a:scheme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>
                <a:effectLst/>
              </a:rPr>
              <a:t>Здесь должен быть подзаголовок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810C30-9B5B-460E-8950-EB898D0230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5581068"/>
            <a:ext cx="5469767" cy="936625"/>
          </a:xfrm>
          <a:noFill/>
          <a:ln/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ts val="2000"/>
              </a:lnSpc>
              <a:buNone/>
              <a:defRPr lang="ru-RU" sz="2000" spc="-3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>
                <a:effectLst/>
              </a:rPr>
              <a:t>Месяц и год</a:t>
            </a:r>
            <a:endParaRPr lang="ru-RU" dirty="0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0F0188CE-618E-9CC4-F1BD-68E35FC215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600" y="1460500"/>
            <a:ext cx="5470525" cy="1274836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 dirty="0"/>
              <a:t>Здесь должен быть заголовок в одну или несколько строк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6691EA-85A0-1C32-95C4-76C1575E74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45AE0C91-96A5-482C-C78F-4AC8CFE9C4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83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34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56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 темна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3">
            <a:extLst>
              <a:ext uri="{FF2B5EF4-FFF2-40B4-BE49-F238E27FC236}">
                <a16:creationId xmlns:a16="http://schemas.microsoft.com/office/drawing/2014/main" id="{27856579-C874-451C-29B0-9E9DFF749A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F1FC79FA-E532-04DD-CB59-994782D412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5599" y="3510968"/>
            <a:ext cx="5469438" cy="1962150"/>
          </a:xfrm>
          <a:noFill/>
          <a:ln/>
        </p:spPr>
        <p:txBody>
          <a:bodyPr vert="horz" wrap="square" lIns="0" tIns="0" rIns="0" bIns="0" rtlCol="0" anchor="t">
            <a:noAutofit/>
          </a:bodyPr>
          <a:lstStyle>
            <a:lvl1pPr marL="0" indent="0">
              <a:lnSpc>
                <a:spcPts val="2000"/>
              </a:lnSpc>
              <a:buNone/>
              <a:defRPr lang="ru-RU" sz="2000" kern="0" spc="-30" baseline="0">
                <a:solidFill>
                  <a:schemeClr val="bg1">
                    <a:alpha val="50000"/>
                  </a:scheme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>
                <a:effectLst/>
              </a:rPr>
              <a:t>Здесь должен быть подзаголовок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5F93A843-7510-6429-A515-C7171986C8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5581068"/>
            <a:ext cx="5469767" cy="936625"/>
          </a:xfrm>
          <a:noFill/>
          <a:ln/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ts val="2000"/>
              </a:lnSpc>
              <a:buNone/>
              <a:defRPr lang="ru-RU" sz="20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>
                <a:effectLst/>
              </a:rPr>
              <a:t>Месяц и год</a:t>
            </a:r>
            <a:endParaRPr lang="ru-RU" dirty="0"/>
          </a:p>
        </p:txBody>
      </p:sp>
      <p:sp>
        <p:nvSpPr>
          <p:cNvPr id="19" name="Текст 26">
            <a:extLst>
              <a:ext uri="{FF2B5EF4-FFF2-40B4-BE49-F238E27FC236}">
                <a16:creationId xmlns:a16="http://schemas.microsoft.com/office/drawing/2014/main" id="{F1A86B02-FABE-81F8-C8F8-F77A2BDF24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600" y="1460500"/>
            <a:ext cx="5470525" cy="1274836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 dirty="0"/>
              <a:t>Здесь должен быть заголовок в одну или несколько строк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B29E26-09CB-DAC7-C764-2DF5BED0F8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5B58D9F8-AD32-339D-EB3F-F85C062200F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7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79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95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фиденциально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3E96409B-61D7-3C9C-38BE-42B5396339DC}"/>
              </a:ext>
            </a:extLst>
          </p:cNvPr>
          <p:cNvSpPr/>
          <p:nvPr userDrawn="1"/>
        </p:nvSpPr>
        <p:spPr>
          <a:xfrm>
            <a:off x="9042353" y="1412875"/>
            <a:ext cx="2793986" cy="403225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A7C6165-091B-B6C4-26E1-4B3AE6444626}"/>
              </a:ext>
            </a:extLst>
          </p:cNvPr>
          <p:cNvSpPr/>
          <p:nvPr userDrawn="1"/>
        </p:nvSpPr>
        <p:spPr>
          <a:xfrm>
            <a:off x="9194752" y="1549400"/>
            <a:ext cx="2489187" cy="2482850"/>
          </a:xfrm>
          <a:prstGeom prst="rect">
            <a:avLst/>
          </a:prstGeom>
          <a:noFill/>
          <a:ln/>
        </p:spPr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A1D13088-8F85-EA12-01FB-E64D5D4ED4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4930" y="1559772"/>
            <a:ext cx="7454123" cy="3836820"/>
          </a:xfr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>
              <a:lnSpc>
                <a:spcPts val="1320"/>
              </a:lnSpc>
              <a:spcBef>
                <a:spcPts val="0"/>
              </a:spcBef>
              <a:buNone/>
              <a:defRPr lang="ru-RU" sz="1200" spc="0" baseline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Aria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1320"/>
              </a:lnSpc>
              <a:buNone/>
            </a:pPr>
            <a:r>
              <a:rPr lang="ru-RU" dirty="0">
                <a:effectLst/>
              </a:rPr>
              <a:t>Настоящее предложение содержит конфиденциальную информацию Рексофт Консалтинг далее именуемый «Рексофт», а также компаний Группы Рексофт (компании, входящие в одну группу лиц с Филиалом №1 ООО «Рексофт» в г. Москве – «</a:t>
            </a:r>
            <a:r>
              <a:rPr lang="ru-RU" dirty="0" err="1">
                <a:effectLst/>
              </a:rPr>
              <a:t>Рексофт.Консалтинг</a:t>
            </a:r>
            <a:r>
              <a:rPr lang="ru-RU" dirty="0">
                <a:effectLst/>
              </a:rPr>
              <a:t>», как этот как термин определен в ст. 9 ФЗ от 26.07.2006 № 135-ФЗ «О защите конкуренции»).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Предложение и содержащаяся в нем информация предназначены исключительно для использования Компания Х (далее Заказчик) и предоставляются Заказчику только для оценки возможностей Рексофт по оказанию описанных в нем услуг. Настоящее предложение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содержащаяся в нем информация не могут передаваться и раскрываться третьим лицам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и/или использоваться для иных целей, чем указано выше. 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Настоящее предложение не является юридически обязательным для Рексофт и Заказчика и не является офертой по российскому законодательству. Если Рексофт будет выбрана для оказания услуг, описанных в данном документе, Рексофт и Компания Х незамедлительно и добросовестно начнут переговоры по поводу заключения соответствующего договора. 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Все упомянутые в настоящем предложении торговые наименования, логотипы, включая фирменное наименование Рексофт, не могут использоваться без получения предварительного согласия Рексофт. Заказчик вправе обращаться к клиентам Рексофт, упомянутым в настоящем предложении, только после получения предварительного согласия Рексофт.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Рексофт не оказывает услуги по налоговому, бухгалтерскому и юридическому консультированию, а также в области оценочной деятельности, аудита и образования*. </a:t>
            </a:r>
            <a:endParaRPr lang="ru-RU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A61C77FC-0E01-3D34-ADF2-B3F09E2C215B}"/>
              </a:ext>
            </a:extLst>
          </p:cNvPr>
          <p:cNvCxnSpPr>
            <a:cxnSpLocks/>
          </p:cNvCxnSpPr>
          <p:nvPr userDrawn="1"/>
        </p:nvCxnSpPr>
        <p:spPr>
          <a:xfrm>
            <a:off x="9042353" y="1412875"/>
            <a:ext cx="2789637" cy="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C16E4500-41CA-518D-19FE-FC36FEC9F700}"/>
              </a:ext>
            </a:extLst>
          </p:cNvPr>
          <p:cNvSpPr txBox="1">
            <a:spLocks/>
          </p:cNvSpPr>
          <p:nvPr userDrawn="1"/>
        </p:nvSpPr>
        <p:spPr>
          <a:xfrm>
            <a:off x="9190273" y="1551559"/>
            <a:ext cx="311078" cy="304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rgbClr val="000000">
                    <a:alpha val="10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800" kern="1200" dirty="0">
                <a:solidFill>
                  <a:schemeClr val="tx1">
                    <a:alpha val="55000"/>
                  </a:schemeClr>
                </a:solidFill>
                <a:latin typeface="Stapel" panose="020B0504020202020204" pitchFamily="34" charset="-52"/>
                <a:ea typeface="Arial" pitchFamily="34" charset="-122"/>
              </a:rPr>
              <a:t>*</a:t>
            </a:r>
            <a:endParaRPr lang="ru-RU" sz="800" dirty="0">
              <a:solidFill>
                <a:schemeClr val="tx1">
                  <a:alpha val="55000"/>
                </a:schemeClr>
              </a:solidFill>
              <a:latin typeface="Stapel" panose="020B0504020202020204" pitchFamily="34" charset="-52"/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E8C79CB-632D-B27D-D776-6BC39F077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63F93FE-AB81-C784-2A17-22B096F12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kern="0" spc="-30" baseline="0"/>
            </a:lvl1pPr>
          </a:lstStyle>
          <a:p>
            <a:r>
              <a:rPr lang="ru-RU" dirty="0">
                <a:effectLst/>
              </a:rPr>
              <a:t>Конфиденциальность и характер документа</a:t>
            </a:r>
            <a:endParaRPr lang="ru-RU" dirty="0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CF9E06CC-65DA-DF8F-02AE-797C5B9BBA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3700" y="1560513"/>
            <a:ext cx="2412000" cy="3459793"/>
          </a:xfrm>
        </p:spPr>
        <p:txBody>
          <a:bodyPr/>
          <a:lstStyle>
            <a:lvl1pPr indent="0">
              <a:lnSpc>
                <a:spcPts val="960"/>
              </a:lnSpc>
              <a:spcBef>
                <a:spcPts val="0"/>
              </a:spcBef>
              <a:defRPr lang="ru-RU" sz="800" kern="0" spc="0" baseline="0" dirty="0">
                <a:solidFill>
                  <a:schemeClr val="tx1">
                    <a:alpha val="45000"/>
                  </a:schemeClr>
                </a:solidFill>
              </a:defRPr>
            </a:lvl1pPr>
            <a:lvl2pPr>
              <a:lnSpc>
                <a:spcPct val="120000"/>
              </a:lnSpc>
              <a:defRPr sz="800" kern="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20000"/>
              </a:lnSpc>
              <a:defRPr sz="800" kern="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20000"/>
              </a:lnSpc>
              <a:defRPr sz="800" kern="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20000"/>
              </a:lnSpc>
              <a:defRPr sz="800" kern="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Термин «оценка» (и его производные)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по тексту настоящего документа не подразумевает оценочную деятельность в соответствии с ФЗ «Об оценочной деятельности». 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Термин «аудит» (и его производные) по тексту настоящего документа не подразумевает аудиторскую деятельность в соответствии с ФЗ «Об аудиторской деятельности». 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Термин «обучение» (и его производные)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по тексту настоящего документа не подразумевает деятельность по обучению в соответствии с ФЗ «Об образовательной деятельности» и включает только оказание справочных и информационно- консультационных услуг. 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Термины «эксперт», «экспертиза»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(и их производные) по тексту настоящего документа должны пониматься исключительно как профессиональный опыт консалтинговой компании и ее персонала, не требующей  получения специальных разрешений, лицензий или специальную квалификацию в терминах законодательства Российской Федерации.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58F5DA-4FFB-E442-D5AC-D292BBEE9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741B30FB-E716-2B0F-F6FF-C34046A5D3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63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99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47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(короткое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Рисунок 3">
            <a:extLst>
              <a:ext uri="{FF2B5EF4-FFF2-40B4-BE49-F238E27FC236}">
                <a16:creationId xmlns:a16="http://schemas.microsoft.com/office/drawing/2014/main" id="{2B2D061D-2F47-2322-898F-6631E3A02E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69" name="Заголовок 1">
            <a:extLst>
              <a:ext uri="{FF2B5EF4-FFF2-40B4-BE49-F238E27FC236}">
                <a16:creationId xmlns:a16="http://schemas.microsoft.com/office/drawing/2014/main" id="{76A6E70E-521B-4763-D160-18EA94575D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599" y="1340840"/>
            <a:ext cx="5469438" cy="673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75000"/>
              </a:lnSpc>
              <a:defRPr lang="ru-RU" sz="3600" kern="0" spc="-60" baseline="0" dirty="0">
                <a:solidFill>
                  <a:srgbClr val="000000">
                    <a:alpha val="100000"/>
                  </a:srgbClr>
                </a:solidFill>
                <a:latin typeface="+mj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3239"/>
              </a:lnSpc>
            </a:pPr>
            <a:r>
              <a:rPr lang="ru-RU" dirty="0"/>
              <a:t>Содержание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A19EEF-64D0-B29A-7328-BB6CC7F0A3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76041F2A-9A74-8845-4029-04E75D0829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74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(длинное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Номер слайда 5">
            <a:extLst>
              <a:ext uri="{FF2B5EF4-FFF2-40B4-BE49-F238E27FC236}">
                <a16:creationId xmlns:a16="http://schemas.microsoft.com/office/drawing/2014/main" id="{BF0C6F1B-F9B8-6872-8AD4-01C949ACA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BDB2F5C1-C57B-655A-D27F-9FA13EC43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Содержание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5A4A0F-AA4D-7B1C-92F5-295F1E39B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4" name="Image 11" descr=" ">
            <a:extLst>
              <a:ext uri="{FF2B5EF4-FFF2-40B4-BE49-F238E27FC236}">
                <a16:creationId xmlns:a16="http://schemas.microsoft.com/office/drawing/2014/main" id="{4FBADA78-E894-23C3-754C-F89A0A0652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51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лайд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15">
            <a:extLst>
              <a:ext uri="{FF2B5EF4-FFF2-40B4-BE49-F238E27FC236}">
                <a16:creationId xmlns:a16="http://schemas.microsoft.com/office/drawing/2014/main" id="{4E890A6B-09E6-B421-1C60-8303575CF4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56304" y="299294"/>
            <a:ext cx="2766219" cy="423065"/>
          </a:xfrm>
        </p:spPr>
        <p:txBody>
          <a:bodyPr>
            <a:spAutoFit/>
          </a:bodyPr>
          <a:lstStyle>
            <a:lvl1pPr marL="0" indent="0" algn="r">
              <a:lnSpc>
                <a:spcPct val="70000"/>
              </a:lnSpc>
              <a:spcBef>
                <a:spcPts val="400"/>
              </a:spcBef>
              <a:buNone/>
              <a:defRPr sz="3600" kern="0" spc="-6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7104DB83-1635-04B2-CA36-9AA110334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598" y="5308661"/>
            <a:ext cx="5740402" cy="126073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>
            <a:lvl1pPr>
              <a:lnSpc>
                <a:spcPct val="70000"/>
              </a:lnSpc>
              <a:defRPr lang="ru-RU" sz="3600" kern="0" spc="-60" baseline="0" dirty="0">
                <a:solidFill>
                  <a:schemeClr val="bg1"/>
                </a:solidFill>
                <a:latin typeface="+mj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3239"/>
              </a:lnSpc>
            </a:pPr>
            <a:r>
              <a:rPr lang="ru-RU" dirty="0"/>
              <a:t>Разделительный слайд </a:t>
            </a:r>
            <a:br>
              <a:rPr lang="ru-RU" dirty="0"/>
            </a:br>
            <a:r>
              <a:rPr lang="ru-RU" dirty="0"/>
              <a:t>с текстом в одну или три строки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8D3B1D-2FA7-201D-3B99-0B1AE154D3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5" name="Image 1" descr=" ">
            <a:extLst>
              <a:ext uri="{FF2B5EF4-FFF2-40B4-BE49-F238E27FC236}">
                <a16:creationId xmlns:a16="http://schemas.microsoft.com/office/drawing/2014/main" id="{0BBACC31-BD57-875E-820E-2DED16EB6F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38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лайд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EF798AE5-893D-0EBA-85E9-192E8DD877E5}"/>
              </a:ext>
            </a:extLst>
          </p:cNvPr>
          <p:cNvSpPr/>
          <p:nvPr userDrawn="1"/>
        </p:nvSpPr>
        <p:spPr>
          <a:xfrm>
            <a:off x="355598" y="5130800"/>
            <a:ext cx="4241778" cy="1371600"/>
          </a:xfrm>
          <a:prstGeom prst="rect">
            <a:avLst/>
          </a:prstGeom>
          <a:noFill/>
          <a:ln/>
        </p:spPr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C51A9764-ABF4-85D7-591A-EA63F39359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59DD8F73-9751-0891-50F4-575F96BC6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600" y="1460500"/>
            <a:ext cx="5470525" cy="859338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 dirty="0"/>
              <a:t>Разделительный слайд </a:t>
            </a:r>
            <a:br>
              <a:rPr lang="ru-RU" dirty="0"/>
            </a:br>
            <a:r>
              <a:rPr lang="ru-RU" dirty="0"/>
              <a:t>с фотографией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28BA6720-884A-9613-5C1B-FAFEB312A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5161809"/>
            <a:ext cx="5469767" cy="1355884"/>
          </a:xfrm>
          <a:noFill/>
          <a:ln/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432000" rtl="0" eaLnBrk="1" fontAlgn="auto" latinLnBrk="0" hangingPunct="1">
              <a:lnSpc>
                <a:spcPts val="2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0" spc="-20" baseline="0" dirty="0" smtClean="0">
                <a:solidFill>
                  <a:schemeClr val="tx1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R="0" lvl="0" indent="0" fontAlgn="auto">
              <a:lnSpc>
                <a:spcPts val="2000"/>
              </a:lnSpc>
              <a:spcAft>
                <a:spcPts val="0"/>
              </a:spcAft>
              <a:buClrTx/>
              <a:buSzTx/>
              <a:tabLst/>
            </a:pPr>
            <a:r>
              <a:rPr lang="ru-RU" dirty="0"/>
              <a:t>Николай Ланцев</a:t>
            </a:r>
            <a:endParaRPr lang="en-US" dirty="0"/>
          </a:p>
          <a:p>
            <a:pPr marL="0" marR="0" lvl="0" indent="0" algn="l" defTabSz="432000" rtl="0" eaLnBrk="1" fontAlgn="auto" latinLnBrk="0" hangingPunct="1">
              <a:lnSpc>
                <a:spcPts val="2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руководитель практики </a:t>
            </a:r>
            <a:br>
              <a:rPr lang="ru-RU" dirty="0"/>
            </a:br>
            <a:r>
              <a:rPr lang="ru-RU" dirty="0"/>
              <a:t>«Государственных </a:t>
            </a:r>
            <a:br>
              <a:rPr lang="ru-RU" dirty="0"/>
            </a:br>
            <a:r>
              <a:rPr lang="ru-RU" dirty="0"/>
              <a:t>и социальных инициатив» </a:t>
            </a:r>
            <a:br>
              <a:rPr lang="ru-RU" dirty="0"/>
            </a:br>
            <a:r>
              <a:rPr lang="ru-RU" dirty="0"/>
              <a:t>Рексофт Консалтинг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78013C-8639-3DBA-3894-A231F0C0E2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700F0C38-5FAB-16A4-7A01-3EF59F1F98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99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лайд с маленьким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EF798AE5-893D-0EBA-85E9-192E8DD877E5}"/>
              </a:ext>
            </a:extLst>
          </p:cNvPr>
          <p:cNvSpPr/>
          <p:nvPr userDrawn="1"/>
        </p:nvSpPr>
        <p:spPr>
          <a:xfrm>
            <a:off x="355598" y="5130800"/>
            <a:ext cx="4241778" cy="1371600"/>
          </a:xfrm>
          <a:prstGeom prst="rect">
            <a:avLst/>
          </a:prstGeom>
          <a:noFill/>
          <a:ln/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CB1F3D96-D931-929B-F4EB-44477F5317E4}"/>
              </a:ext>
            </a:extLst>
          </p:cNvPr>
          <p:cNvSpPr/>
          <p:nvPr userDrawn="1"/>
        </p:nvSpPr>
        <p:spPr>
          <a:xfrm>
            <a:off x="355598" y="5130800"/>
            <a:ext cx="4241778" cy="1371600"/>
          </a:xfrm>
          <a:prstGeom prst="rect">
            <a:avLst/>
          </a:prstGeom>
          <a:noFill/>
          <a:ln/>
        </p:spPr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C51A9764-ABF4-85D7-591A-EA63F39359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7158" y="2439194"/>
            <a:ext cx="3759181" cy="4050506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5A84BBE-2890-DC06-CBB1-6FF69904E85A}"/>
              </a:ext>
            </a:extLst>
          </p:cNvPr>
          <p:cNvSpPr/>
          <p:nvPr userDrawn="1"/>
        </p:nvSpPr>
        <p:spPr>
          <a:xfrm>
            <a:off x="355598" y="5130800"/>
            <a:ext cx="4241778" cy="1371600"/>
          </a:xfrm>
          <a:prstGeom prst="rect">
            <a:avLst/>
          </a:prstGeom>
          <a:noFill/>
          <a:ln/>
        </p:spPr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8B358B40-96B2-ACCF-3B78-49F8349058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600" y="1460500"/>
            <a:ext cx="6657975" cy="859338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 dirty="0"/>
              <a:t>Разделительный слайд </a:t>
            </a:r>
            <a:br>
              <a:rPr lang="ru-RU" dirty="0"/>
            </a:br>
            <a:r>
              <a:rPr lang="ru-RU" dirty="0"/>
              <a:t>с маленькой фотографией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648E579-471F-10B4-AF26-B9AE38B30A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2" name="Текст 3">
            <a:extLst>
              <a:ext uri="{FF2B5EF4-FFF2-40B4-BE49-F238E27FC236}">
                <a16:creationId xmlns:a16="http://schemas.microsoft.com/office/drawing/2014/main" id="{35E63FBA-2AC1-0843-4D84-AC326CB02B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5161809"/>
            <a:ext cx="5469767" cy="1355884"/>
          </a:xfrm>
          <a:noFill/>
          <a:ln/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432000" rtl="0" eaLnBrk="1" fontAlgn="auto" latinLnBrk="0" hangingPunct="1">
              <a:lnSpc>
                <a:spcPts val="2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0" spc="-20" baseline="0" dirty="0" smtClean="0">
                <a:solidFill>
                  <a:schemeClr val="tx1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R="0" lvl="0" indent="0" fontAlgn="auto">
              <a:lnSpc>
                <a:spcPts val="2000"/>
              </a:lnSpc>
              <a:spcAft>
                <a:spcPts val="0"/>
              </a:spcAft>
              <a:buClrTx/>
              <a:buSzTx/>
              <a:tabLst/>
            </a:pPr>
            <a:r>
              <a:rPr lang="ru-RU" dirty="0"/>
              <a:t>Николай Ланцев</a:t>
            </a:r>
            <a:endParaRPr lang="en-US" dirty="0"/>
          </a:p>
          <a:p>
            <a:pPr marL="0" marR="0" lvl="0" indent="0" algn="l" defTabSz="432000" rtl="0" eaLnBrk="1" fontAlgn="auto" latinLnBrk="0" hangingPunct="1">
              <a:lnSpc>
                <a:spcPts val="2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руководитель практики </a:t>
            </a:r>
            <a:br>
              <a:rPr lang="ru-RU" dirty="0"/>
            </a:br>
            <a:r>
              <a:rPr lang="ru-RU" dirty="0"/>
              <a:t>«Государственных </a:t>
            </a:r>
            <a:br>
              <a:rPr lang="ru-RU" dirty="0"/>
            </a:br>
            <a:r>
              <a:rPr lang="ru-RU" dirty="0"/>
              <a:t>и социальных инициатив» </a:t>
            </a:r>
            <a:br>
              <a:rPr lang="ru-RU" dirty="0"/>
            </a:br>
            <a:r>
              <a:rPr lang="ru-RU" dirty="0"/>
              <a:t>Рексофт Консалтинг</a:t>
            </a:r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C1A8F66D-2DDC-6E61-47E7-492845D4F68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26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редпосылки и подхо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542627E0-0E55-24A0-4237-06220979E951}"/>
              </a:ext>
            </a:extLst>
          </p:cNvPr>
          <p:cNvSpPr/>
          <p:nvPr userDrawn="1"/>
        </p:nvSpPr>
        <p:spPr>
          <a:xfrm>
            <a:off x="355598" y="1498600"/>
            <a:ext cx="3759181" cy="5003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BB0914D1-2011-CF80-CC2C-D19D8EE2CE4D}"/>
              </a:ext>
            </a:extLst>
          </p:cNvPr>
          <p:cNvSpPr/>
          <p:nvPr userDrawn="1"/>
        </p:nvSpPr>
        <p:spPr>
          <a:xfrm>
            <a:off x="340358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13" name="Image 1" descr=" ">
            <a:extLst>
              <a:ext uri="{FF2B5EF4-FFF2-40B4-BE49-F238E27FC236}">
                <a16:creationId xmlns:a16="http://schemas.microsoft.com/office/drawing/2014/main" id="{DC98BBBA-7950-F54D-0E17-792C6A3034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2" y="1752600"/>
            <a:ext cx="304798" cy="304800"/>
          </a:xfrm>
          <a:prstGeom prst="rect">
            <a:avLst/>
          </a:prstGeom>
        </p:spPr>
      </p:pic>
      <p:sp>
        <p:nvSpPr>
          <p:cNvPr id="23" name="Shape 10">
            <a:extLst>
              <a:ext uri="{FF2B5EF4-FFF2-40B4-BE49-F238E27FC236}">
                <a16:creationId xmlns:a16="http://schemas.microsoft.com/office/drawing/2014/main" id="{F79DEAE7-BA2A-F5D1-C383-63F62E29E2E1}"/>
              </a:ext>
            </a:extLst>
          </p:cNvPr>
          <p:cNvSpPr/>
          <p:nvPr userDrawn="1"/>
        </p:nvSpPr>
        <p:spPr>
          <a:xfrm>
            <a:off x="4216378" y="2004007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solidFill>
              <a:schemeClr val="tx1"/>
            </a:solidFill>
          </a:ln>
        </p:spPr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650527DD-20DE-B3A4-E35F-611A8A98F06F}"/>
              </a:ext>
            </a:extLst>
          </p:cNvPr>
          <p:cNvSpPr/>
          <p:nvPr userDrawn="1"/>
        </p:nvSpPr>
        <p:spPr>
          <a:xfrm>
            <a:off x="4216378" y="411480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solidFill>
              <a:schemeClr val="tx1"/>
            </a:solidFill>
          </a:ln>
        </p:spPr>
      </p:sp>
      <p:sp>
        <p:nvSpPr>
          <p:cNvPr id="45" name="Текст 43">
            <a:extLst>
              <a:ext uri="{FF2B5EF4-FFF2-40B4-BE49-F238E27FC236}">
                <a16:creationId xmlns:a16="http://schemas.microsoft.com/office/drawing/2014/main" id="{2D812629-F20B-26F1-D141-34E5574B00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732" y="1711184"/>
            <a:ext cx="2737287" cy="446532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/>
            </a:lvl1pPr>
          </a:lstStyle>
          <a:p>
            <a:pPr lvl="0"/>
            <a:r>
              <a:rPr lang="ru-RU" dirty="0"/>
              <a:t>Заголовок в одну или несколько строк</a:t>
            </a:r>
          </a:p>
        </p:txBody>
      </p:sp>
      <p:sp>
        <p:nvSpPr>
          <p:cNvPr id="6" name="Текст 61">
            <a:extLst>
              <a:ext uri="{FF2B5EF4-FFF2-40B4-BE49-F238E27FC236}">
                <a16:creationId xmlns:a16="http://schemas.microsoft.com/office/drawing/2014/main" id="{B760172B-C11F-2DEA-DFDA-626D15419C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14660" y="4285396"/>
            <a:ext cx="6746790" cy="153888"/>
          </a:xfrm>
        </p:spPr>
        <p:txBody>
          <a:bodyPr>
            <a:spAutoFit/>
          </a:bodyPr>
          <a:lstStyle>
            <a:lvl1pPr marL="269946" marR="0" indent="-28800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9" name="Текст 61">
            <a:extLst>
              <a:ext uri="{FF2B5EF4-FFF2-40B4-BE49-F238E27FC236}">
                <a16:creationId xmlns:a16="http://schemas.microsoft.com/office/drawing/2014/main" id="{9644557D-965E-71E9-2CE9-4EE31890EE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14660" y="2163089"/>
            <a:ext cx="6746790" cy="153888"/>
          </a:xfrm>
        </p:spPr>
        <p:txBody>
          <a:bodyPr>
            <a:spAutoFit/>
          </a:bodyPr>
          <a:lstStyle>
            <a:lvl1pPr marL="269946" marR="0" indent="-28800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  <a:r>
              <a:rPr lang="ru-RU" dirty="0">
                <a:effectLst/>
              </a:rPr>
              <a:t> </a:t>
            </a:r>
            <a:r>
              <a:rPr lang="en-US" dirty="0">
                <a:effectLst/>
              </a:rPr>
              <a:t> </a:t>
            </a:r>
            <a:endParaRPr lang="ru-RU" dirty="0">
              <a:effectLst/>
            </a:endParaRP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92FCFEB-6BB0-50CC-55DD-3AA0F27FEE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Предпосылки проекта и подход к реализации</a:t>
            </a:r>
            <a:endParaRPr lang="ru-RU" dirty="0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EDE67E4B-1FD0-9A4F-958A-6F6C5E5A6D0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16400" y="1656186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Цели и задачи</a:t>
            </a:r>
          </a:p>
        </p:txBody>
      </p:sp>
      <p:sp>
        <p:nvSpPr>
          <p:cNvPr id="28" name="Текст 25">
            <a:extLst>
              <a:ext uri="{FF2B5EF4-FFF2-40B4-BE49-F238E27FC236}">
                <a16:creationId xmlns:a16="http://schemas.microsoft.com/office/drawing/2014/main" id="{417C3F6B-0759-0802-313B-7CE579F56E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16400" y="3755705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 подход</a:t>
            </a:r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84B9AC64-010C-5043-3983-F79F59158B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2826756"/>
            <a:ext cx="3384000" cy="1538883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31" name="Номер слайда 5">
            <a:extLst>
              <a:ext uri="{FF2B5EF4-FFF2-40B4-BE49-F238E27FC236}">
                <a16:creationId xmlns:a16="http://schemas.microsoft.com/office/drawing/2014/main" id="{ADDF964D-F9B6-56EF-DCAE-2F4805AB0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B9EF2D-B7DA-F5A1-9929-6A87D8DC8B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7687784-72A6-EE7E-75EE-DEB7D9B600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0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редпосылки и подход со спис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542627E0-0E55-24A0-4237-06220979E951}"/>
              </a:ext>
            </a:extLst>
          </p:cNvPr>
          <p:cNvSpPr/>
          <p:nvPr userDrawn="1"/>
        </p:nvSpPr>
        <p:spPr>
          <a:xfrm>
            <a:off x="355598" y="1498600"/>
            <a:ext cx="3759181" cy="5003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BB0914D1-2011-CF80-CC2C-D19D8EE2CE4D}"/>
              </a:ext>
            </a:extLst>
          </p:cNvPr>
          <p:cNvSpPr/>
          <p:nvPr userDrawn="1"/>
        </p:nvSpPr>
        <p:spPr>
          <a:xfrm>
            <a:off x="340358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13" name="Image 1" descr=" ">
            <a:extLst>
              <a:ext uri="{FF2B5EF4-FFF2-40B4-BE49-F238E27FC236}">
                <a16:creationId xmlns:a16="http://schemas.microsoft.com/office/drawing/2014/main" id="{DC98BBBA-7950-F54D-0E17-792C6A3034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2" y="1752600"/>
            <a:ext cx="304798" cy="304800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6E97BCBF-3D1D-D414-53CC-BC07CA156E2B}"/>
              </a:ext>
            </a:extLst>
          </p:cNvPr>
          <p:cNvSpPr/>
          <p:nvPr userDrawn="1"/>
        </p:nvSpPr>
        <p:spPr>
          <a:xfrm>
            <a:off x="4216378" y="5181600"/>
            <a:ext cx="7619960" cy="1905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578D5F2-F8F8-63F4-AA15-C59EC074F6C0}"/>
              </a:ext>
            </a:extLst>
          </p:cNvPr>
          <p:cNvSpPr/>
          <p:nvPr userDrawn="1"/>
        </p:nvSpPr>
        <p:spPr>
          <a:xfrm>
            <a:off x="4216378" y="6483350"/>
            <a:ext cx="7619960" cy="1905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F4DA24B-6E73-D277-EE5D-D74F20EF4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Предпосылки проекта и подход к реализации</a:t>
            </a:r>
            <a:endParaRPr lang="ru-RU" dirty="0"/>
          </a:p>
        </p:txBody>
      </p:sp>
      <p:sp>
        <p:nvSpPr>
          <p:cNvPr id="22" name="Текст 25">
            <a:extLst>
              <a:ext uri="{FF2B5EF4-FFF2-40B4-BE49-F238E27FC236}">
                <a16:creationId xmlns:a16="http://schemas.microsoft.com/office/drawing/2014/main" id="{BAF1533B-0AE2-6586-A1A5-6BA65223F5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16400" y="1656186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Цели и задачи</a:t>
            </a: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FDB877D3-AB3C-5392-6D8E-2E87DB5EFD0F}"/>
              </a:ext>
            </a:extLst>
          </p:cNvPr>
          <p:cNvSpPr/>
          <p:nvPr userDrawn="1"/>
        </p:nvSpPr>
        <p:spPr>
          <a:xfrm>
            <a:off x="4216378" y="2004007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solidFill>
              <a:schemeClr val="tx1"/>
            </a:solidFill>
          </a:ln>
        </p:spPr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DC74DE84-9F60-D624-51C8-3B3D86027EB0}"/>
              </a:ext>
            </a:extLst>
          </p:cNvPr>
          <p:cNvSpPr/>
          <p:nvPr userDrawn="1"/>
        </p:nvSpPr>
        <p:spPr>
          <a:xfrm>
            <a:off x="4216378" y="379756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solidFill>
              <a:schemeClr val="tx1"/>
            </a:solidFill>
          </a:ln>
        </p:spPr>
      </p:sp>
      <p:sp>
        <p:nvSpPr>
          <p:cNvPr id="30" name="Текст 25">
            <a:extLst>
              <a:ext uri="{FF2B5EF4-FFF2-40B4-BE49-F238E27FC236}">
                <a16:creationId xmlns:a16="http://schemas.microsoft.com/office/drawing/2014/main" id="{93799831-F8CA-278F-59A8-EABAB2EDA3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16400" y="3438465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 подход</a:t>
            </a:r>
          </a:p>
        </p:txBody>
      </p:sp>
      <p:sp>
        <p:nvSpPr>
          <p:cNvPr id="31" name="Текст 43">
            <a:extLst>
              <a:ext uri="{FF2B5EF4-FFF2-40B4-BE49-F238E27FC236}">
                <a16:creationId xmlns:a16="http://schemas.microsoft.com/office/drawing/2014/main" id="{05DAC619-8EC7-DD2E-FF91-92032C58D4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732" y="1711184"/>
            <a:ext cx="2737287" cy="446532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/>
            </a:lvl1pPr>
          </a:lstStyle>
          <a:p>
            <a:pPr lvl="0"/>
            <a:r>
              <a:rPr lang="ru-RU" dirty="0"/>
              <a:t>Заголовок в одну или несколько строк</a:t>
            </a:r>
          </a:p>
        </p:txBody>
      </p:sp>
      <p:sp>
        <p:nvSpPr>
          <p:cNvPr id="33" name="Текст 29">
            <a:extLst>
              <a:ext uri="{FF2B5EF4-FFF2-40B4-BE49-F238E27FC236}">
                <a16:creationId xmlns:a16="http://schemas.microsoft.com/office/drawing/2014/main" id="{CC7F16E4-E3C5-C2D4-BC24-AC92E0EF857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2826756"/>
            <a:ext cx="3384000" cy="1538883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87311E54-32D1-3714-C269-CBC84301FB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14660" y="2163089"/>
            <a:ext cx="6746790" cy="769441"/>
          </a:xfrm>
        </p:spPr>
        <p:txBody>
          <a:bodyPr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9E37EDDB-8078-67CD-94DF-D591E4E77A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32944" y="3916669"/>
            <a:ext cx="3527684" cy="461665"/>
          </a:xfrm>
        </p:spPr>
        <p:txBody>
          <a:bodyPr/>
          <a:lstStyle>
            <a:lvl1pPr marL="27450" indent="-171450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latin typeface="+mn-lt"/>
              </a:defRPr>
            </a:lvl1pPr>
            <a:lvl2pPr>
              <a:lnSpc>
                <a:spcPts val="1200"/>
              </a:lnSpc>
              <a:defRPr sz="1000"/>
            </a:lvl2pPr>
            <a:lvl3pPr>
              <a:lnSpc>
                <a:spcPts val="1200"/>
              </a:lnSpc>
              <a:defRPr sz="1000"/>
            </a:lvl3pPr>
            <a:lvl4pPr>
              <a:lnSpc>
                <a:spcPts val="1200"/>
              </a:lnSpc>
              <a:defRPr sz="1000"/>
            </a:lvl4pPr>
            <a:lvl5pPr>
              <a:lnSpc>
                <a:spcPts val="1200"/>
              </a:lnSpc>
              <a:defRPr sz="1000"/>
            </a:lvl5pPr>
          </a:lstStyle>
          <a:p>
            <a:pPr lvl="0"/>
            <a:r>
              <a:rPr lang="ru-RU" dirty="0"/>
              <a:t>Маркированный список</a:t>
            </a:r>
          </a:p>
          <a:p>
            <a:pPr lvl="0"/>
            <a:r>
              <a:rPr lang="ru-RU" dirty="0"/>
              <a:t>Маркированный список</a:t>
            </a:r>
          </a:p>
          <a:p>
            <a:pPr lvl="0"/>
            <a:r>
              <a:rPr lang="ru-RU" dirty="0"/>
              <a:t>Маркированный список</a:t>
            </a:r>
          </a:p>
        </p:txBody>
      </p:sp>
      <p:sp>
        <p:nvSpPr>
          <p:cNvPr id="43" name="Текст 41">
            <a:extLst>
              <a:ext uri="{FF2B5EF4-FFF2-40B4-BE49-F238E27FC236}">
                <a16:creationId xmlns:a16="http://schemas.microsoft.com/office/drawing/2014/main" id="{C87451FA-BAA4-7317-ED9F-9E042354C3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32944" y="5298167"/>
            <a:ext cx="3527684" cy="461665"/>
          </a:xfrm>
        </p:spPr>
        <p:txBody>
          <a:bodyPr/>
          <a:lstStyle>
            <a:lvl1pPr marL="27450" indent="-171450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latin typeface="+mn-lt"/>
              </a:defRPr>
            </a:lvl1pPr>
            <a:lvl2pPr>
              <a:lnSpc>
                <a:spcPts val="1200"/>
              </a:lnSpc>
              <a:defRPr sz="1000"/>
            </a:lvl2pPr>
            <a:lvl3pPr>
              <a:lnSpc>
                <a:spcPts val="1200"/>
              </a:lnSpc>
              <a:defRPr sz="1000"/>
            </a:lvl3pPr>
            <a:lvl4pPr>
              <a:lnSpc>
                <a:spcPts val="1200"/>
              </a:lnSpc>
              <a:defRPr sz="1000"/>
            </a:lvl4pPr>
            <a:lvl5pPr>
              <a:lnSpc>
                <a:spcPts val="1200"/>
              </a:lnSpc>
              <a:defRPr sz="1000"/>
            </a:lvl5pPr>
          </a:lstStyle>
          <a:p>
            <a:pPr lvl="0"/>
            <a:r>
              <a:rPr lang="ru-RU" dirty="0"/>
              <a:t>Маркированный список</a:t>
            </a:r>
          </a:p>
          <a:p>
            <a:pPr lvl="0"/>
            <a:r>
              <a:rPr lang="ru-RU" dirty="0"/>
              <a:t>Маркированный список</a:t>
            </a:r>
          </a:p>
          <a:p>
            <a:pPr lvl="0"/>
            <a:r>
              <a:rPr lang="ru-RU" dirty="0"/>
              <a:t>Маркированный список</a:t>
            </a:r>
          </a:p>
        </p:txBody>
      </p:sp>
      <p:sp>
        <p:nvSpPr>
          <p:cNvPr id="44" name="Текст 61">
            <a:extLst>
              <a:ext uri="{FF2B5EF4-FFF2-40B4-BE49-F238E27FC236}">
                <a16:creationId xmlns:a16="http://schemas.microsoft.com/office/drawing/2014/main" id="{9E2AB628-729F-DC08-245B-121CC3E053F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14660" y="3940962"/>
            <a:ext cx="3199295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rgbClr val="000000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Этап 01</a:t>
            </a:r>
            <a:endParaRPr lang="ru-RU" dirty="0"/>
          </a:p>
        </p:txBody>
      </p:sp>
      <p:sp>
        <p:nvSpPr>
          <p:cNvPr id="46" name="Текст 61">
            <a:extLst>
              <a:ext uri="{FF2B5EF4-FFF2-40B4-BE49-F238E27FC236}">
                <a16:creationId xmlns:a16="http://schemas.microsoft.com/office/drawing/2014/main" id="{26AB2473-B0ED-B8E3-32F9-C43F6C3390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14660" y="4153103"/>
            <a:ext cx="319929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Текст…</a:t>
            </a:r>
            <a:endParaRPr lang="ru-RU" dirty="0"/>
          </a:p>
        </p:txBody>
      </p:sp>
      <p:sp>
        <p:nvSpPr>
          <p:cNvPr id="47" name="Текст 61">
            <a:extLst>
              <a:ext uri="{FF2B5EF4-FFF2-40B4-BE49-F238E27FC236}">
                <a16:creationId xmlns:a16="http://schemas.microsoft.com/office/drawing/2014/main" id="{F23C70AC-A645-E23F-F306-C4A6CCE78E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14660" y="5323534"/>
            <a:ext cx="3199295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rgbClr val="000000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Этап 02</a:t>
            </a:r>
            <a:endParaRPr lang="ru-RU" dirty="0"/>
          </a:p>
        </p:txBody>
      </p:sp>
      <p:sp>
        <p:nvSpPr>
          <p:cNvPr id="48" name="Текст 61">
            <a:extLst>
              <a:ext uri="{FF2B5EF4-FFF2-40B4-BE49-F238E27FC236}">
                <a16:creationId xmlns:a16="http://schemas.microsoft.com/office/drawing/2014/main" id="{26E382FD-806F-0E29-F7FB-DA8C3DED45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14660" y="5535675"/>
            <a:ext cx="319929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Текст…</a:t>
            </a:r>
            <a:endParaRPr lang="ru-RU" dirty="0"/>
          </a:p>
        </p:txBody>
      </p:sp>
      <p:sp>
        <p:nvSpPr>
          <p:cNvPr id="49" name="Текст 61">
            <a:extLst>
              <a:ext uri="{FF2B5EF4-FFF2-40B4-BE49-F238E27FC236}">
                <a16:creationId xmlns:a16="http://schemas.microsoft.com/office/drawing/2014/main" id="{B7CE61DB-D258-51CD-D83D-77D013A111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14660" y="4955907"/>
            <a:ext cx="319929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6 месяцев</a:t>
            </a:r>
            <a:endParaRPr lang="ru-RU" dirty="0"/>
          </a:p>
        </p:txBody>
      </p:sp>
      <p:sp>
        <p:nvSpPr>
          <p:cNvPr id="50" name="Текст 61">
            <a:extLst>
              <a:ext uri="{FF2B5EF4-FFF2-40B4-BE49-F238E27FC236}">
                <a16:creationId xmlns:a16="http://schemas.microsoft.com/office/drawing/2014/main" id="{3B49375B-6C77-BE0F-4B31-C28E16605A7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14660" y="6245171"/>
            <a:ext cx="319929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12 месяцев</a:t>
            </a:r>
            <a:endParaRPr lang="ru-RU" dirty="0"/>
          </a:p>
        </p:txBody>
      </p:sp>
      <p:sp>
        <p:nvSpPr>
          <p:cNvPr id="51" name="Номер слайда 5">
            <a:extLst>
              <a:ext uri="{FF2B5EF4-FFF2-40B4-BE49-F238E27FC236}">
                <a16:creationId xmlns:a16="http://schemas.microsoft.com/office/drawing/2014/main" id="{BB75440B-191D-5826-8E77-8759E52F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5E51E1-0311-F573-87E2-C2A2865BB0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B2BF36D2-D05C-A367-59E4-9ECA62F44C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74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редпосылки и подход с проблемати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5">
            <a:extLst>
              <a:ext uri="{FF2B5EF4-FFF2-40B4-BE49-F238E27FC236}">
                <a16:creationId xmlns:a16="http://schemas.microsoft.com/office/drawing/2014/main" id="{1701A98A-ABBA-CFD5-D127-57AAE665CD61}"/>
              </a:ext>
            </a:extLst>
          </p:cNvPr>
          <p:cNvSpPr/>
          <p:nvPr userDrawn="1"/>
        </p:nvSpPr>
        <p:spPr>
          <a:xfrm>
            <a:off x="8077158" y="1498600"/>
            <a:ext cx="3759181" cy="5003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ECA0BD6E-4196-E2A9-F9BB-3BE8BB56F420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noFill/>
          </a:ln>
        </p:spPr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5B44C1F-E051-73CC-193E-FE5B0C7DDB0D}"/>
              </a:ext>
            </a:extLst>
          </p:cNvPr>
          <p:cNvSpPr/>
          <p:nvPr userDrawn="1"/>
        </p:nvSpPr>
        <p:spPr>
          <a:xfrm>
            <a:off x="421637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noFill/>
          </a:ln>
        </p:spPr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E4564103-4166-8F63-A18B-B43AE3C67321}"/>
              </a:ext>
            </a:extLst>
          </p:cNvPr>
          <p:cNvSpPr/>
          <p:nvPr userDrawn="1"/>
        </p:nvSpPr>
        <p:spPr>
          <a:xfrm>
            <a:off x="355599" y="353695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0D0C1020-5DBD-503C-0594-9FAC75D75B04}"/>
              </a:ext>
            </a:extLst>
          </p:cNvPr>
          <p:cNvSpPr/>
          <p:nvPr userDrawn="1"/>
        </p:nvSpPr>
        <p:spPr>
          <a:xfrm>
            <a:off x="355599" y="507365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BA575AF5-36B2-0A01-318A-7F41040905E8}"/>
              </a:ext>
            </a:extLst>
          </p:cNvPr>
          <p:cNvSpPr/>
          <p:nvPr userDrawn="1"/>
        </p:nvSpPr>
        <p:spPr>
          <a:xfrm>
            <a:off x="1112514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42" name="Image 1" descr=" ">
            <a:extLst>
              <a:ext uri="{FF2B5EF4-FFF2-40B4-BE49-F238E27FC236}">
                <a16:creationId xmlns:a16="http://schemas.microsoft.com/office/drawing/2014/main" id="{C56F3441-DC4A-1005-4B15-AA5201B6BA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7541" y="1752600"/>
            <a:ext cx="304798" cy="304800"/>
          </a:xfrm>
          <a:prstGeom prst="rect">
            <a:avLst/>
          </a:prstGeom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FA74D415-C194-57F4-D900-4F8C0052F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516C7B6-5A86-586F-B5F8-5A752D36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Предпосылки проекта и подход к реализации</a:t>
            </a:r>
            <a:endParaRPr lang="ru-RU" dirty="0"/>
          </a:p>
        </p:txBody>
      </p:sp>
      <p:sp>
        <p:nvSpPr>
          <p:cNvPr id="13" name="Текст 29">
            <a:extLst>
              <a:ext uri="{FF2B5EF4-FFF2-40B4-BE49-F238E27FC236}">
                <a16:creationId xmlns:a16="http://schemas.microsoft.com/office/drawing/2014/main" id="{B0AB134B-1FD9-D157-DE1E-25DE0330F4C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77686" y="2823635"/>
            <a:ext cx="3384000" cy="1538883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>
                <a:latin typeface="+mn-lt"/>
              </a:defRPr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14" name="Текст 43">
            <a:extLst>
              <a:ext uri="{FF2B5EF4-FFF2-40B4-BE49-F238E27FC236}">
                <a16:creationId xmlns:a16="http://schemas.microsoft.com/office/drawing/2014/main" id="{96FC495D-BF3B-04CD-F27C-00AA26AA40E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78413" y="1708063"/>
            <a:ext cx="2737287" cy="224933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>
                <a:latin typeface="+mn-lt"/>
              </a:defRPr>
            </a:lvl1pPr>
          </a:lstStyle>
          <a:p>
            <a:pPr lvl="0"/>
            <a:r>
              <a:rPr lang="ru-RU" dirty="0"/>
              <a:t>Периметр проекта</a:t>
            </a:r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C7C1E693-1122-0BFB-8BCF-BF760C8FD01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00" y="1656186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Проблематика</a:t>
            </a:r>
          </a:p>
        </p:txBody>
      </p:sp>
      <p:sp>
        <p:nvSpPr>
          <p:cNvPr id="18" name="Текст 25">
            <a:extLst>
              <a:ext uri="{FF2B5EF4-FFF2-40B4-BE49-F238E27FC236}">
                <a16:creationId xmlns:a16="http://schemas.microsoft.com/office/drawing/2014/main" id="{E3623902-C07D-D45B-57E7-920E74DDF9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685" y="1656186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Бизнес-контекст</a:t>
            </a:r>
          </a:p>
        </p:txBody>
      </p:sp>
      <p:sp>
        <p:nvSpPr>
          <p:cNvPr id="19" name="Текст 61">
            <a:extLst>
              <a:ext uri="{FF2B5EF4-FFF2-40B4-BE49-F238E27FC236}">
                <a16:creationId xmlns:a16="http://schemas.microsoft.com/office/drawing/2014/main" id="{D500B716-4BB5-B503-BBBA-6F358BF298B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14660" y="2104569"/>
            <a:ext cx="2930003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sp>
        <p:nvSpPr>
          <p:cNvPr id="20" name="Текст 61">
            <a:extLst>
              <a:ext uri="{FF2B5EF4-FFF2-40B4-BE49-F238E27FC236}">
                <a16:creationId xmlns:a16="http://schemas.microsoft.com/office/drawing/2014/main" id="{0BEEA61A-5611-A65D-C47A-5A523C5040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2529" y="2104569"/>
            <a:ext cx="2930003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sp>
        <p:nvSpPr>
          <p:cNvPr id="21" name="Текст 25">
            <a:extLst>
              <a:ext uri="{FF2B5EF4-FFF2-40B4-BE49-F238E27FC236}">
                <a16:creationId xmlns:a16="http://schemas.microsoft.com/office/drawing/2014/main" id="{442A4346-43FB-A8C9-E9F1-F9A4ABD30A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2685" y="3190769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Цели проекта</a:t>
            </a:r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E432D453-5C7C-711B-838A-2592B58B60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2685" y="4726960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</a:t>
            </a:r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70DF6F8B-0370-1B7A-B919-1FA068C6843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3983" y="5191581"/>
            <a:ext cx="669055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D6A234-ACD0-A81B-6420-1CD92CB9F9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3" name="Текст 61">
            <a:extLst>
              <a:ext uri="{FF2B5EF4-FFF2-40B4-BE49-F238E27FC236}">
                <a16:creationId xmlns:a16="http://schemas.microsoft.com/office/drawing/2014/main" id="{10A95866-5BDF-6758-84B8-FFC4F368FD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2685" y="3670020"/>
            <a:ext cx="5760000" cy="371897"/>
          </a:xfrm>
        </p:spPr>
        <p:txBody>
          <a:bodyPr>
            <a:spAutoFit/>
          </a:bodyPr>
          <a:lstStyle>
            <a:lvl1pPr marL="269946" marR="0" indent="-28800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  <a:r>
              <a:rPr lang="ru-RU" dirty="0">
                <a:effectLst/>
              </a:rPr>
              <a:t> </a:t>
            </a:r>
            <a:r>
              <a:rPr lang="en-US" dirty="0">
                <a:effectLst/>
              </a:rPr>
              <a:t> </a:t>
            </a:r>
          </a:p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</a:t>
            </a:r>
            <a:endParaRPr lang="ru-RU" dirty="0">
              <a:effectLst/>
            </a:endParaRPr>
          </a:p>
        </p:txBody>
      </p:sp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0DDBDC9A-6E1A-5561-B013-764AA9A729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26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редпосылки и подход с пот. эффе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2">
            <a:extLst>
              <a:ext uri="{FF2B5EF4-FFF2-40B4-BE49-F238E27FC236}">
                <a16:creationId xmlns:a16="http://schemas.microsoft.com/office/drawing/2014/main" id="{1F513740-4F96-CCDA-E728-31237FD3B0E9}"/>
              </a:ext>
            </a:extLst>
          </p:cNvPr>
          <p:cNvSpPr/>
          <p:nvPr userDrawn="1"/>
        </p:nvSpPr>
        <p:spPr>
          <a:xfrm>
            <a:off x="7111963" y="1498600"/>
            <a:ext cx="4724375" cy="5003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ECA0BD6E-4196-E2A9-F9BB-3BE8BB56F420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BA575AF5-36B2-0A01-318A-7F41040905E8}"/>
              </a:ext>
            </a:extLst>
          </p:cNvPr>
          <p:cNvSpPr/>
          <p:nvPr userDrawn="1"/>
        </p:nvSpPr>
        <p:spPr>
          <a:xfrm>
            <a:off x="1112514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42" name="Image 1" descr=" ">
            <a:extLst>
              <a:ext uri="{FF2B5EF4-FFF2-40B4-BE49-F238E27FC236}">
                <a16:creationId xmlns:a16="http://schemas.microsoft.com/office/drawing/2014/main" id="{C56F3441-DC4A-1005-4B15-AA5201B6BA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7541" y="1752600"/>
            <a:ext cx="304798" cy="304800"/>
          </a:xfrm>
          <a:prstGeom prst="rect">
            <a:avLst/>
          </a:prstGeom>
        </p:spPr>
      </p:pic>
      <p:sp>
        <p:nvSpPr>
          <p:cNvPr id="12" name="Shape 5">
            <a:extLst>
              <a:ext uri="{FF2B5EF4-FFF2-40B4-BE49-F238E27FC236}">
                <a16:creationId xmlns:a16="http://schemas.microsoft.com/office/drawing/2014/main" id="{CFA9D7CA-9195-2D76-6E2D-C02FD1259AD5}"/>
              </a:ext>
            </a:extLst>
          </p:cNvPr>
          <p:cNvSpPr/>
          <p:nvPr userDrawn="1"/>
        </p:nvSpPr>
        <p:spPr>
          <a:xfrm>
            <a:off x="355598" y="2000250"/>
            <a:ext cx="665476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EC6807B-7009-8E82-1665-3BF0E6E6B3B5}"/>
              </a:ext>
            </a:extLst>
          </p:cNvPr>
          <p:cNvSpPr/>
          <p:nvPr userDrawn="1"/>
        </p:nvSpPr>
        <p:spPr>
          <a:xfrm>
            <a:off x="355598" y="3536950"/>
            <a:ext cx="665476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E5B889C8-980A-053E-4936-45DBBB59D987}"/>
              </a:ext>
            </a:extLst>
          </p:cNvPr>
          <p:cNvSpPr/>
          <p:nvPr userDrawn="1"/>
        </p:nvSpPr>
        <p:spPr>
          <a:xfrm>
            <a:off x="355598" y="5073650"/>
            <a:ext cx="665476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FB336CCF-9F52-484F-877D-9D7F7E6C9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8757921B-1C0B-DC23-BE59-D46A7AA82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Предпосылки проекта и подход к реализации</a:t>
            </a:r>
            <a:endParaRPr lang="ru-RU" dirty="0"/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49C1C8DB-A7C1-4EFF-DF29-9502E035ED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685" y="1656186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Бизнес-контекст</a:t>
            </a:r>
          </a:p>
        </p:txBody>
      </p:sp>
      <p:sp>
        <p:nvSpPr>
          <p:cNvPr id="18" name="Текст 25">
            <a:extLst>
              <a:ext uri="{FF2B5EF4-FFF2-40B4-BE49-F238E27FC236}">
                <a16:creationId xmlns:a16="http://schemas.microsoft.com/office/drawing/2014/main" id="{07F6DD92-C75C-E2EA-70C0-2D2622E907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2685" y="3190769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Цели</a:t>
            </a:r>
          </a:p>
        </p:txBody>
      </p:sp>
      <p:sp>
        <p:nvSpPr>
          <p:cNvPr id="19" name="Текст 61">
            <a:extLst>
              <a:ext uri="{FF2B5EF4-FFF2-40B4-BE49-F238E27FC236}">
                <a16:creationId xmlns:a16="http://schemas.microsoft.com/office/drawing/2014/main" id="{A5F97C22-5D55-CFB4-32C0-BB04535FA02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2529" y="2104569"/>
            <a:ext cx="5760000" cy="46166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2" name="Текст 61">
            <a:extLst>
              <a:ext uri="{FF2B5EF4-FFF2-40B4-BE49-F238E27FC236}">
                <a16:creationId xmlns:a16="http://schemas.microsoft.com/office/drawing/2014/main" id="{3FCCD514-C7B8-DCF5-4113-7CBA348C95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2685" y="3670020"/>
            <a:ext cx="5760000" cy="371897"/>
          </a:xfrm>
        </p:spPr>
        <p:txBody>
          <a:bodyPr>
            <a:spAutoFit/>
          </a:bodyPr>
          <a:lstStyle>
            <a:lvl1pPr marL="269946" marR="0" indent="-28800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  <a:r>
              <a:rPr lang="ru-RU" dirty="0">
                <a:effectLst/>
              </a:rPr>
              <a:t> </a:t>
            </a:r>
            <a:r>
              <a:rPr lang="en-US" dirty="0">
                <a:effectLst/>
              </a:rPr>
              <a:t> </a:t>
            </a:r>
          </a:p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</a:t>
            </a:r>
            <a:endParaRPr lang="ru-RU" dirty="0">
              <a:effectLst/>
            </a:endParaRPr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5826CDD0-522A-F183-C08D-A48A43C199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2685" y="4726960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Задачи</a:t>
            </a:r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2EAFB6E9-E93E-2D95-6E60-344BDEEBF4F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3982" y="5191581"/>
            <a:ext cx="5760000" cy="923330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25" name="Текст 43">
            <a:extLst>
              <a:ext uri="{FF2B5EF4-FFF2-40B4-BE49-F238E27FC236}">
                <a16:creationId xmlns:a16="http://schemas.microsoft.com/office/drawing/2014/main" id="{226AA203-93AC-38EA-F1AB-1535C22FC1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4017" y="1708063"/>
            <a:ext cx="2737287" cy="446532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Периметр проекта / Потенциальные эффекты</a:t>
            </a:r>
            <a:endParaRPr lang="ru-RU" dirty="0"/>
          </a:p>
        </p:txBody>
      </p:sp>
      <p:sp>
        <p:nvSpPr>
          <p:cNvPr id="27" name="Текст 29">
            <a:extLst>
              <a:ext uri="{FF2B5EF4-FFF2-40B4-BE49-F238E27FC236}">
                <a16:creationId xmlns:a16="http://schemas.microsoft.com/office/drawing/2014/main" id="{D7E237FD-CDFB-C8D3-422E-52D9A47EAA5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14016" y="2823635"/>
            <a:ext cx="4320000" cy="1885131"/>
          </a:xfrm>
        </p:spPr>
        <p:txBody>
          <a:bodyPr/>
          <a:lstStyle>
            <a:lvl1pPr marL="0" marR="0" indent="0" algn="l" defTabSz="432000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ru-RU" dirty="0">
                <a:effectLst/>
              </a:rPr>
            </a:b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ED14DB-7E21-9224-4FEA-8307E6F319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7A4B549-CACD-431B-3072-C41C423F55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93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писание в 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4">
            <a:extLst>
              <a:ext uri="{FF2B5EF4-FFF2-40B4-BE49-F238E27FC236}">
                <a16:creationId xmlns:a16="http://schemas.microsoft.com/office/drawing/2014/main" id="{99C03F2E-A4A2-81C0-CC1A-B2B126D9DDCF}"/>
              </a:ext>
            </a:extLst>
          </p:cNvPr>
          <p:cNvSpPr/>
          <p:nvPr userDrawn="1"/>
        </p:nvSpPr>
        <p:spPr>
          <a:xfrm>
            <a:off x="355598" y="2000250"/>
            <a:ext cx="568957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D467361B-1A60-A8E7-81A7-5C97FD4FD97E}"/>
              </a:ext>
            </a:extLst>
          </p:cNvPr>
          <p:cNvSpPr/>
          <p:nvPr userDrawn="1"/>
        </p:nvSpPr>
        <p:spPr>
          <a:xfrm>
            <a:off x="6146768" y="2000250"/>
            <a:ext cx="568957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FBDF66F-06E0-C092-C604-A0A97E753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18F794D-7FDE-F959-59F9-1A2A5CC419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Шаблон слайда</a:t>
            </a:r>
            <a:endParaRPr lang="ru-RU" dirty="0"/>
          </a:p>
        </p:txBody>
      </p:sp>
      <p:sp>
        <p:nvSpPr>
          <p:cNvPr id="12" name="Текст 25">
            <a:extLst>
              <a:ext uri="{FF2B5EF4-FFF2-40B4-BE49-F238E27FC236}">
                <a16:creationId xmlns:a16="http://schemas.microsoft.com/office/drawing/2014/main" id="{485B2FB7-F76C-72AF-7E5D-4B241AFAAB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684" y="1656186"/>
            <a:ext cx="4788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Текст 25">
            <a:extLst>
              <a:ext uri="{FF2B5EF4-FFF2-40B4-BE49-F238E27FC236}">
                <a16:creationId xmlns:a16="http://schemas.microsoft.com/office/drawing/2014/main" id="{19B57AAE-F238-8969-D0BB-6A7C2E5BC0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50417" y="1656186"/>
            <a:ext cx="4788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61">
            <a:extLst>
              <a:ext uri="{FF2B5EF4-FFF2-40B4-BE49-F238E27FC236}">
                <a16:creationId xmlns:a16="http://schemas.microsoft.com/office/drawing/2014/main" id="{01A2A767-EA03-27A7-61EF-ADF72E2505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0668" y="2270782"/>
            <a:ext cx="4788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17" name="Текст 61">
            <a:extLst>
              <a:ext uri="{FF2B5EF4-FFF2-40B4-BE49-F238E27FC236}">
                <a16:creationId xmlns:a16="http://schemas.microsoft.com/office/drawing/2014/main" id="{270E1820-EB92-9C8C-2890-982ACA3376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50417" y="2270782"/>
            <a:ext cx="4788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18" name="Текст 61">
            <a:extLst>
              <a:ext uri="{FF2B5EF4-FFF2-40B4-BE49-F238E27FC236}">
                <a16:creationId xmlns:a16="http://schemas.microsoft.com/office/drawing/2014/main" id="{36E2BF5B-F7C3-E85D-E0B4-55DAFB1C813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2529" y="2571414"/>
            <a:ext cx="4788000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19" name="Текст 61">
            <a:extLst>
              <a:ext uri="{FF2B5EF4-FFF2-40B4-BE49-F238E27FC236}">
                <a16:creationId xmlns:a16="http://schemas.microsoft.com/office/drawing/2014/main" id="{CEF2E352-FDB2-F474-D738-D43F7CEEA7B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6768" y="2571414"/>
            <a:ext cx="4788000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0" name="Текст 61">
            <a:extLst>
              <a:ext uri="{FF2B5EF4-FFF2-40B4-BE49-F238E27FC236}">
                <a16:creationId xmlns:a16="http://schemas.microsoft.com/office/drawing/2014/main" id="{CB5C4C83-8E41-19B0-AFA5-674F62B64A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0668" y="3483765"/>
            <a:ext cx="4788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1" name="Текст 61">
            <a:extLst>
              <a:ext uri="{FF2B5EF4-FFF2-40B4-BE49-F238E27FC236}">
                <a16:creationId xmlns:a16="http://schemas.microsoft.com/office/drawing/2014/main" id="{1FE7176F-962B-0918-3103-A64AE96568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0417" y="3483765"/>
            <a:ext cx="4788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2" name="Текст 61">
            <a:extLst>
              <a:ext uri="{FF2B5EF4-FFF2-40B4-BE49-F238E27FC236}">
                <a16:creationId xmlns:a16="http://schemas.microsoft.com/office/drawing/2014/main" id="{2D9252A7-2220-1980-C3D8-C81647F2E12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2529" y="3784398"/>
            <a:ext cx="4788000" cy="148758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23" name="Текст 61">
            <a:extLst>
              <a:ext uri="{FF2B5EF4-FFF2-40B4-BE49-F238E27FC236}">
                <a16:creationId xmlns:a16="http://schemas.microsoft.com/office/drawing/2014/main" id="{02F279E2-F345-333F-087C-94775B41312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6768" y="3784398"/>
            <a:ext cx="4788000" cy="135934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BEFBB7-4E75-66BD-A8C5-A750A6997F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A4A79FC8-39D3-7647-906B-90EAC74E87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42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писание в 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1">
            <a:extLst>
              <a:ext uri="{FF2B5EF4-FFF2-40B4-BE49-F238E27FC236}">
                <a16:creationId xmlns:a16="http://schemas.microsoft.com/office/drawing/2014/main" id="{16C5AD0E-B178-30F2-E4E3-E9C23A6E1C1C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8" name="Shape 22">
            <a:extLst>
              <a:ext uri="{FF2B5EF4-FFF2-40B4-BE49-F238E27FC236}">
                <a16:creationId xmlns:a16="http://schemas.microsoft.com/office/drawing/2014/main" id="{6375011A-409C-F42B-1531-932D8DBD84BD}"/>
              </a:ext>
            </a:extLst>
          </p:cNvPr>
          <p:cNvSpPr/>
          <p:nvPr userDrawn="1"/>
        </p:nvSpPr>
        <p:spPr>
          <a:xfrm>
            <a:off x="421637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Shape 23">
            <a:extLst>
              <a:ext uri="{FF2B5EF4-FFF2-40B4-BE49-F238E27FC236}">
                <a16:creationId xmlns:a16="http://schemas.microsoft.com/office/drawing/2014/main" id="{0DA260B8-163A-757A-E54E-C6167A85BD7C}"/>
              </a:ext>
            </a:extLst>
          </p:cNvPr>
          <p:cNvSpPr/>
          <p:nvPr userDrawn="1"/>
        </p:nvSpPr>
        <p:spPr>
          <a:xfrm>
            <a:off x="807715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8D772E9A-DAF1-975B-7F31-DE115A150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2C759B45-2C72-07FA-BE24-8A13D81FB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Шаблон слайда</a:t>
            </a:r>
            <a:endParaRPr lang="ru-RU" dirty="0"/>
          </a:p>
        </p:txBody>
      </p:sp>
      <p:sp>
        <p:nvSpPr>
          <p:cNvPr id="33" name="Текст 25">
            <a:extLst>
              <a:ext uri="{FF2B5EF4-FFF2-40B4-BE49-F238E27FC236}">
                <a16:creationId xmlns:a16="http://schemas.microsoft.com/office/drawing/2014/main" id="{0E03D740-8A12-3B66-E3BF-0B5783093C5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5CC662FE-70BD-9229-5962-F1A32B0A4F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66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C422E648-74E7-64DD-F180-B6AC9F73D0A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52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6" name="Текст 61">
            <a:extLst>
              <a:ext uri="{FF2B5EF4-FFF2-40B4-BE49-F238E27FC236}">
                <a16:creationId xmlns:a16="http://schemas.microsoft.com/office/drawing/2014/main" id="{5409AE8B-A802-F2CB-D5EF-6D5E4040E04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0668" y="3651925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7" name="Текст 61">
            <a:extLst>
              <a:ext uri="{FF2B5EF4-FFF2-40B4-BE49-F238E27FC236}">
                <a16:creationId xmlns:a16="http://schemas.microsoft.com/office/drawing/2014/main" id="{B027FCE4-B4F6-ED75-EA43-BC2D062F8F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2529" y="3952558"/>
            <a:ext cx="3600000" cy="164147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8" name="Текст 25">
            <a:extLst>
              <a:ext uri="{FF2B5EF4-FFF2-40B4-BE49-F238E27FC236}">
                <a16:creationId xmlns:a16="http://schemas.microsoft.com/office/drawing/2014/main" id="{6488721C-0AE8-D1C8-8F5A-2005613CE35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9" name="Текст 61">
            <a:extLst>
              <a:ext uri="{FF2B5EF4-FFF2-40B4-BE49-F238E27FC236}">
                <a16:creationId xmlns:a16="http://schemas.microsoft.com/office/drawing/2014/main" id="{E25B003B-E258-DE40-C347-B08B2E4450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21637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0" name="Текст 61">
            <a:extLst>
              <a:ext uri="{FF2B5EF4-FFF2-40B4-BE49-F238E27FC236}">
                <a16:creationId xmlns:a16="http://schemas.microsoft.com/office/drawing/2014/main" id="{4F927D3C-103B-C0A9-D11F-88C798A7F87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1823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41" name="Текст 61">
            <a:extLst>
              <a:ext uri="{FF2B5EF4-FFF2-40B4-BE49-F238E27FC236}">
                <a16:creationId xmlns:a16="http://schemas.microsoft.com/office/drawing/2014/main" id="{201CF85E-0589-EF94-B0FE-92E49AF8C21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16378" y="3651925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2" name="Текст 61">
            <a:extLst>
              <a:ext uri="{FF2B5EF4-FFF2-40B4-BE49-F238E27FC236}">
                <a16:creationId xmlns:a16="http://schemas.microsoft.com/office/drawing/2014/main" id="{25147953-9F70-36D8-0C1C-0FE782EABD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952558"/>
            <a:ext cx="3600000" cy="164147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43" name="Текст 25">
            <a:extLst>
              <a:ext uri="{FF2B5EF4-FFF2-40B4-BE49-F238E27FC236}">
                <a16:creationId xmlns:a16="http://schemas.microsoft.com/office/drawing/2014/main" id="{90F4EF2C-3D1E-C662-37C0-5928B68DED1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4" name="Текст 61">
            <a:extLst>
              <a:ext uri="{FF2B5EF4-FFF2-40B4-BE49-F238E27FC236}">
                <a16:creationId xmlns:a16="http://schemas.microsoft.com/office/drawing/2014/main" id="{4148DE60-F211-38D3-6024-B64CCE86A5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075142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5" name="Текст 61">
            <a:extLst>
              <a:ext uri="{FF2B5EF4-FFF2-40B4-BE49-F238E27FC236}">
                <a16:creationId xmlns:a16="http://schemas.microsoft.com/office/drawing/2014/main" id="{E41E3389-9E99-D9EC-5420-7379C9FA751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77003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46" name="Текст 61">
            <a:extLst>
              <a:ext uri="{FF2B5EF4-FFF2-40B4-BE49-F238E27FC236}">
                <a16:creationId xmlns:a16="http://schemas.microsoft.com/office/drawing/2014/main" id="{E30BE74D-4739-2C68-4030-543D0302088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75142" y="3651925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7" name="Текст 61">
            <a:extLst>
              <a:ext uri="{FF2B5EF4-FFF2-40B4-BE49-F238E27FC236}">
                <a16:creationId xmlns:a16="http://schemas.microsoft.com/office/drawing/2014/main" id="{2D88CEDD-2EAB-B6AD-42DB-7FDC093602D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77003" y="3952558"/>
            <a:ext cx="3600000" cy="164147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0F5E54-FB00-712B-7969-0EF8F6F4B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88D54C88-7977-BD21-2A0E-660F1B35CE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63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42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писание в 3 колонки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1">
            <a:extLst>
              <a:ext uri="{FF2B5EF4-FFF2-40B4-BE49-F238E27FC236}">
                <a16:creationId xmlns:a16="http://schemas.microsoft.com/office/drawing/2014/main" id="{16C5AD0E-B178-30F2-E4E3-E9C23A6E1C1C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8" name="Shape 22">
            <a:extLst>
              <a:ext uri="{FF2B5EF4-FFF2-40B4-BE49-F238E27FC236}">
                <a16:creationId xmlns:a16="http://schemas.microsoft.com/office/drawing/2014/main" id="{6375011A-409C-F42B-1531-932D8DBD84BD}"/>
              </a:ext>
            </a:extLst>
          </p:cNvPr>
          <p:cNvSpPr/>
          <p:nvPr userDrawn="1"/>
        </p:nvSpPr>
        <p:spPr>
          <a:xfrm>
            <a:off x="421637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Shape 23">
            <a:extLst>
              <a:ext uri="{FF2B5EF4-FFF2-40B4-BE49-F238E27FC236}">
                <a16:creationId xmlns:a16="http://schemas.microsoft.com/office/drawing/2014/main" id="{0DA260B8-163A-757A-E54E-C6167A85BD7C}"/>
              </a:ext>
            </a:extLst>
          </p:cNvPr>
          <p:cNvSpPr/>
          <p:nvPr userDrawn="1"/>
        </p:nvSpPr>
        <p:spPr>
          <a:xfrm>
            <a:off x="807715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78E236-849C-EE00-756F-1E688CF985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164" y="4508748"/>
            <a:ext cx="11477870" cy="1980953"/>
          </a:xfrm>
          <a:prstGeom prst="rect">
            <a:avLst/>
          </a:prstGeom>
        </p:spPr>
      </p:pic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75DBF6B7-8211-689D-730D-7EB1542D0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33A26B95-F53B-2303-FDCE-B4E82D68F3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61">
            <a:extLst>
              <a:ext uri="{FF2B5EF4-FFF2-40B4-BE49-F238E27FC236}">
                <a16:creationId xmlns:a16="http://schemas.microsoft.com/office/drawing/2014/main" id="{16D544C3-6F80-BCE6-744E-0A2C9091E86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66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2" name="Текст 61">
            <a:extLst>
              <a:ext uri="{FF2B5EF4-FFF2-40B4-BE49-F238E27FC236}">
                <a16:creationId xmlns:a16="http://schemas.microsoft.com/office/drawing/2014/main" id="{95E6E05E-23E5-44E6-5E44-42E0011694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52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4CB9D931-0A78-3881-9802-0E1A594D32F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325BBE08-BE88-460E-18C4-F445659DD5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21637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5" name="Текст 61">
            <a:extLst>
              <a:ext uri="{FF2B5EF4-FFF2-40B4-BE49-F238E27FC236}">
                <a16:creationId xmlns:a16="http://schemas.microsoft.com/office/drawing/2014/main" id="{093CA431-F2FF-2083-0689-9F288B42275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1823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2DBD2F59-279D-D06D-22AC-0FDE2E65C40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61">
            <a:extLst>
              <a:ext uri="{FF2B5EF4-FFF2-40B4-BE49-F238E27FC236}">
                <a16:creationId xmlns:a16="http://schemas.microsoft.com/office/drawing/2014/main" id="{72FF48F5-1DF3-375B-8A7C-EFD89B14820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075142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8" name="Текст 61">
            <a:extLst>
              <a:ext uri="{FF2B5EF4-FFF2-40B4-BE49-F238E27FC236}">
                <a16:creationId xmlns:a16="http://schemas.microsoft.com/office/drawing/2014/main" id="{9E45C494-517D-C818-0E6F-DA0E63703CC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77003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E31B9ED5-93F2-4CE6-509B-C72D3045D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Шаблон слайда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81E912-FB4E-D3FF-378A-798ACE78E6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ABF08783-CAFD-4A8D-DEB0-C51C386A18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16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42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Таблица 172">
            <a:extLst>
              <a:ext uri="{FF2B5EF4-FFF2-40B4-BE49-F238E27FC236}">
                <a16:creationId xmlns:a16="http://schemas.microsoft.com/office/drawing/2014/main" id="{99860466-0432-D87E-EDA8-6E430130589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49937" y="1304925"/>
            <a:ext cx="11486509" cy="5006975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E587D649-0277-5DF1-DEDB-D49A34B94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B5B431C-EED4-FE85-A695-B9E418FABE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Таблица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7FA5C9-BF2F-E82E-F8FC-89927D700D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F68611DC-3946-6646-07BE-89EDB36D31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2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 13">
            <a:extLst>
              <a:ext uri="{FF2B5EF4-FFF2-40B4-BE49-F238E27FC236}">
                <a16:creationId xmlns:a16="http://schemas.microsoft.com/office/drawing/2014/main" id="{283CDC1A-5DB7-DD2F-CC3D-4ADBBA742EA7}"/>
              </a:ext>
            </a:extLst>
          </p:cNvPr>
          <p:cNvSpPr/>
          <p:nvPr/>
        </p:nvSpPr>
        <p:spPr>
          <a:xfrm>
            <a:off x="355598" y="1079501"/>
            <a:ext cx="11633139" cy="304798"/>
          </a:xfrm>
          <a:custGeom>
            <a:avLst/>
            <a:gdLst>
              <a:gd name="connsiteX0" fmla="*/ 0 w 11633139"/>
              <a:gd name="connsiteY0" fmla="*/ 0 h 304798"/>
              <a:gd name="connsiteX1" fmla="*/ 11480740 w 11633139"/>
              <a:gd name="connsiteY1" fmla="*/ 0 h 304798"/>
              <a:gd name="connsiteX2" fmla="*/ 11633139 w 11633139"/>
              <a:gd name="connsiteY2" fmla="*/ 152399 h 304798"/>
              <a:gd name="connsiteX3" fmla="*/ 11480740 w 11633139"/>
              <a:gd name="connsiteY3" fmla="*/ 304798 h 304798"/>
              <a:gd name="connsiteX4" fmla="*/ 0 w 11633139"/>
              <a:gd name="connsiteY4" fmla="*/ 304798 h 304798"/>
              <a:gd name="connsiteX5" fmla="*/ 0 w 11633139"/>
              <a:gd name="connsiteY5" fmla="*/ 0 h 30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33139" h="304798">
                <a:moveTo>
                  <a:pt x="0" y="0"/>
                </a:moveTo>
                <a:lnTo>
                  <a:pt x="11480740" y="0"/>
                </a:lnTo>
                <a:lnTo>
                  <a:pt x="11633139" y="152399"/>
                </a:lnTo>
                <a:lnTo>
                  <a:pt x="11480740" y="304798"/>
                </a:lnTo>
                <a:lnTo>
                  <a:pt x="0" y="30479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6348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3" name="Таблица 172">
            <a:extLst>
              <a:ext uri="{FF2B5EF4-FFF2-40B4-BE49-F238E27FC236}">
                <a16:creationId xmlns:a16="http://schemas.microsoft.com/office/drawing/2014/main" id="{99860466-0432-D87E-EDA8-6E430130589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49937" y="1079500"/>
            <a:ext cx="11486509" cy="5232400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9CE8A058-8AB4-CAD4-AE91-27B7188F5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F38E80F-819A-9CD8-7EE4-287923369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Таймлайн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BA9946-AC6F-C0D1-BD25-18DCCD3A60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73BB0628-3DAE-92B1-0A02-F19C8F8C0F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95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орожная кар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Таблица 172">
            <a:extLst>
              <a:ext uri="{FF2B5EF4-FFF2-40B4-BE49-F238E27FC236}">
                <a16:creationId xmlns:a16="http://schemas.microsoft.com/office/drawing/2014/main" id="{99860466-0432-D87E-EDA8-6E430130589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49937" y="952502"/>
            <a:ext cx="11486509" cy="4834263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8" name="Shape 52">
            <a:extLst>
              <a:ext uri="{FF2B5EF4-FFF2-40B4-BE49-F238E27FC236}">
                <a16:creationId xmlns:a16="http://schemas.microsoft.com/office/drawing/2014/main" id="{06A0EBB2-80D5-C1B0-2B2A-D2A4068C255D}"/>
              </a:ext>
            </a:extLst>
          </p:cNvPr>
          <p:cNvSpPr/>
          <p:nvPr userDrawn="1"/>
        </p:nvSpPr>
        <p:spPr>
          <a:xfrm>
            <a:off x="6146769" y="6100563"/>
            <a:ext cx="253998" cy="1651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9" name="Text 53">
            <a:extLst>
              <a:ext uri="{FF2B5EF4-FFF2-40B4-BE49-F238E27FC236}">
                <a16:creationId xmlns:a16="http://schemas.microsoft.com/office/drawing/2014/main" id="{F2F8C989-B5E0-6F4E-422D-DA4CC834B798}"/>
              </a:ext>
            </a:extLst>
          </p:cNvPr>
          <p:cNvSpPr/>
          <p:nvPr userDrawn="1"/>
        </p:nvSpPr>
        <p:spPr>
          <a:xfrm>
            <a:off x="6208152" y="6117497"/>
            <a:ext cx="131232" cy="11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Shape 62">
            <a:extLst>
              <a:ext uri="{FF2B5EF4-FFF2-40B4-BE49-F238E27FC236}">
                <a16:creationId xmlns:a16="http://schemas.microsoft.com/office/drawing/2014/main" id="{942AA2BD-FCD7-C27B-96FF-E9E8AD2FACE3}"/>
              </a:ext>
            </a:extLst>
          </p:cNvPr>
          <p:cNvSpPr/>
          <p:nvPr userDrawn="1"/>
        </p:nvSpPr>
        <p:spPr>
          <a:xfrm>
            <a:off x="450848" y="6132313"/>
            <a:ext cx="101599" cy="101600"/>
          </a:xfrm>
          <a:prstGeom prst="rect">
            <a:avLst/>
          </a:prstGeom>
          <a:solidFill>
            <a:srgbClr val="EF80BB"/>
          </a:solidFill>
          <a:ln/>
        </p:spPr>
      </p:sp>
      <p:sp>
        <p:nvSpPr>
          <p:cNvPr id="16" name="Shape 65">
            <a:extLst>
              <a:ext uri="{FF2B5EF4-FFF2-40B4-BE49-F238E27FC236}">
                <a16:creationId xmlns:a16="http://schemas.microsoft.com/office/drawing/2014/main" id="{7B41FDBB-7437-6681-B86A-28CF9A946283}"/>
              </a:ext>
            </a:extLst>
          </p:cNvPr>
          <p:cNvSpPr/>
          <p:nvPr userDrawn="1"/>
        </p:nvSpPr>
        <p:spPr>
          <a:xfrm>
            <a:off x="3327383" y="6132313"/>
            <a:ext cx="1749416" cy="101600"/>
          </a:xfrm>
          <a:prstGeom prst="rect">
            <a:avLst/>
          </a:prstGeom>
          <a:noFill/>
          <a:ln/>
        </p:spPr>
      </p:sp>
      <p:sp>
        <p:nvSpPr>
          <p:cNvPr id="17" name="Shape 66">
            <a:extLst>
              <a:ext uri="{FF2B5EF4-FFF2-40B4-BE49-F238E27FC236}">
                <a16:creationId xmlns:a16="http://schemas.microsoft.com/office/drawing/2014/main" id="{D1558D45-877A-E516-8D66-6594778FB422}"/>
              </a:ext>
            </a:extLst>
          </p:cNvPr>
          <p:cNvSpPr/>
          <p:nvPr userDrawn="1"/>
        </p:nvSpPr>
        <p:spPr>
          <a:xfrm>
            <a:off x="3327383" y="6132313"/>
            <a:ext cx="101599" cy="101600"/>
          </a:xfrm>
          <a:prstGeom prst="rect">
            <a:avLst/>
          </a:prstGeom>
          <a:solidFill>
            <a:srgbClr val="F9CCE4"/>
          </a:solidFill>
          <a:ln/>
        </p:spPr>
      </p: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5014A199-8FFB-45B4-0DAF-0D670B2F259A}"/>
              </a:ext>
            </a:extLst>
          </p:cNvPr>
          <p:cNvSpPr/>
          <p:nvPr userDrawn="1"/>
        </p:nvSpPr>
        <p:spPr>
          <a:xfrm>
            <a:off x="6146769" y="6090742"/>
            <a:ext cx="253998" cy="165100"/>
          </a:xfrm>
          <a:custGeom>
            <a:avLst/>
            <a:gdLst>
              <a:gd name="connsiteX0" fmla="*/ 0 w 1242577"/>
              <a:gd name="connsiteY0" fmla="*/ 0 h 745546"/>
              <a:gd name="connsiteX1" fmla="*/ 1242577 w 1242577"/>
              <a:gd name="connsiteY1" fmla="*/ 0 h 745546"/>
              <a:gd name="connsiteX2" fmla="*/ 1242577 w 1242577"/>
              <a:gd name="connsiteY2" fmla="*/ 745546 h 745546"/>
              <a:gd name="connsiteX3" fmla="*/ 0 w 1242577"/>
              <a:gd name="connsiteY3" fmla="*/ 745546 h 745546"/>
              <a:gd name="connsiteX4" fmla="*/ 0 w 1242577"/>
              <a:gd name="connsiteY4" fmla="*/ 0 h 74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577" h="745546">
                <a:moveTo>
                  <a:pt x="0" y="0"/>
                </a:moveTo>
                <a:lnTo>
                  <a:pt x="1242577" y="0"/>
                </a:lnTo>
                <a:lnTo>
                  <a:pt x="1242577" y="745546"/>
                </a:lnTo>
                <a:lnTo>
                  <a:pt x="0" y="74554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095" tIns="38095" rIns="38095" bIns="38095" numCol="1" spcCol="1270" anchor="ctr" anchorCtr="0">
            <a:noAutofit/>
          </a:bodyPr>
          <a:lstStyle/>
          <a:p>
            <a:pPr marL="0" lvl="0" indent="0" algn="ctr" defTabSz="44441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700" kern="1200" dirty="0">
                <a:latin typeface="Stapel" panose="020B0504020202020204" pitchFamily="34" charset="-52"/>
              </a:rPr>
              <a:t>1</a:t>
            </a:r>
          </a:p>
        </p:txBody>
      </p:sp>
      <p:sp>
        <p:nvSpPr>
          <p:cNvPr id="14" name="Объект 6">
            <a:extLst>
              <a:ext uri="{FF2B5EF4-FFF2-40B4-BE49-F238E27FC236}">
                <a16:creationId xmlns:a16="http://schemas.microsoft.com/office/drawing/2014/main" id="{DB1A42C6-F5D1-F83F-0966-C234B59CFBB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1362" y="6119359"/>
            <a:ext cx="2229354" cy="204800"/>
          </a:xfrm>
        </p:spPr>
        <p:txBody>
          <a:bodyPr>
            <a:spAutoFit/>
          </a:bodyPr>
          <a:lstStyle>
            <a:lvl1pPr marL="0" indent="0">
              <a:buNone/>
              <a:defRPr sz="800"/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5" name="Объект 6">
            <a:extLst>
              <a:ext uri="{FF2B5EF4-FFF2-40B4-BE49-F238E27FC236}">
                <a16:creationId xmlns:a16="http://schemas.microsoft.com/office/drawing/2014/main" id="{B8C4A463-C66E-D236-C11D-689B1D5B52D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477966" y="6119359"/>
            <a:ext cx="2229354" cy="204800"/>
          </a:xfrm>
        </p:spPr>
        <p:txBody>
          <a:bodyPr>
            <a:spAutoFit/>
          </a:bodyPr>
          <a:lstStyle>
            <a:lvl1pPr marL="0" indent="0">
              <a:buNone/>
              <a:defRPr sz="800"/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8" name="Объект 6">
            <a:extLst>
              <a:ext uri="{FF2B5EF4-FFF2-40B4-BE49-F238E27FC236}">
                <a16:creationId xmlns:a16="http://schemas.microsoft.com/office/drawing/2014/main" id="{910F0DFF-9EE8-3E19-D36E-179FA34A055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453657" y="6119359"/>
            <a:ext cx="2229354" cy="204800"/>
          </a:xfrm>
        </p:spPr>
        <p:txBody>
          <a:bodyPr>
            <a:spAutoFit/>
          </a:bodyPr>
          <a:lstStyle>
            <a:lvl1pPr marL="0" indent="0">
              <a:buNone/>
              <a:defRPr sz="800"/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313E7485-6C56-13C5-6594-DB23B13B4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3A5AF719-DBA5-D07F-B52A-AABA288E70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Дорожная карта проекта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D9335F-7022-D6F2-6E47-3624FEB9B2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7EEDE2CD-F5FE-6D1E-3CD4-50EE6507CE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49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правление 1. Дизайн операционной модел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Таблица 172">
            <a:extLst>
              <a:ext uri="{FF2B5EF4-FFF2-40B4-BE49-F238E27FC236}">
                <a16:creationId xmlns:a16="http://schemas.microsoft.com/office/drawing/2014/main" id="{99860466-0432-D87E-EDA8-6E430130589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49937" y="952502"/>
            <a:ext cx="11486509" cy="3125723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pic>
        <p:nvPicPr>
          <p:cNvPr id="3" name="Image 22" descr=" ">
            <a:extLst>
              <a:ext uri="{FF2B5EF4-FFF2-40B4-BE49-F238E27FC236}">
                <a16:creationId xmlns:a16="http://schemas.microsoft.com/office/drawing/2014/main" id="{0A16B182-0258-39A9-F7F7-9B44F688C1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1433" y="6142892"/>
            <a:ext cx="84676" cy="80442"/>
          </a:xfrm>
          <a:prstGeom prst="rect">
            <a:avLst/>
          </a:prstGeom>
        </p:spPr>
      </p:pic>
      <p:sp>
        <p:nvSpPr>
          <p:cNvPr id="14" name="Shape 44">
            <a:extLst>
              <a:ext uri="{FF2B5EF4-FFF2-40B4-BE49-F238E27FC236}">
                <a16:creationId xmlns:a16="http://schemas.microsoft.com/office/drawing/2014/main" id="{25F8CAD7-7969-17F6-2A66-9362C8B3D27B}"/>
              </a:ext>
            </a:extLst>
          </p:cNvPr>
          <p:cNvSpPr/>
          <p:nvPr userDrawn="1"/>
        </p:nvSpPr>
        <p:spPr>
          <a:xfrm>
            <a:off x="355598" y="459740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9" name="Текст 12">
            <a:extLst>
              <a:ext uri="{FF2B5EF4-FFF2-40B4-BE49-F238E27FC236}">
                <a16:creationId xmlns:a16="http://schemas.microsoft.com/office/drawing/2014/main" id="{8B76828E-FF94-3627-8E4C-4149D5501C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5182" y="4688450"/>
            <a:ext cx="2736000" cy="50161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defRPr>
            </a:lvl1pPr>
            <a:lvl2pPr marL="171415" indent="0" algn="l">
              <a:lnSpc>
                <a:spcPts val="1100"/>
              </a:lnSpc>
              <a:buSzPct val="100000"/>
              <a:buNone/>
              <a:defRPr>
                <a:latin typeface="+mn-lt"/>
              </a:defRPr>
            </a:lvl2pPr>
          </a:lstStyle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  <a:endParaRPr lang="en-US" sz="1000" dirty="0"/>
          </a:p>
        </p:txBody>
      </p:sp>
      <p:sp>
        <p:nvSpPr>
          <p:cNvPr id="30" name="Текст 12">
            <a:extLst>
              <a:ext uri="{FF2B5EF4-FFF2-40B4-BE49-F238E27FC236}">
                <a16:creationId xmlns:a16="http://schemas.microsoft.com/office/drawing/2014/main" id="{D4532099-C76B-57F2-8057-0D13824558C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98779" y="4688450"/>
            <a:ext cx="2736000" cy="50161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defRPr>
            </a:lvl1pPr>
            <a:lvl2pPr marL="342831" indent="-171416" algn="l">
              <a:lnSpc>
                <a:spcPts val="1100"/>
              </a:lnSpc>
              <a:buSzPct val="100000"/>
              <a:buChar char="•"/>
              <a:defRPr>
                <a:latin typeface="+mn-lt"/>
              </a:defRPr>
            </a:lvl2pPr>
          </a:lstStyle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  <a:endParaRPr lang="en-US" sz="1000" dirty="0"/>
          </a:p>
        </p:txBody>
      </p:sp>
      <p:sp>
        <p:nvSpPr>
          <p:cNvPr id="34" name="Текст 12">
            <a:extLst>
              <a:ext uri="{FF2B5EF4-FFF2-40B4-BE49-F238E27FC236}">
                <a16:creationId xmlns:a16="http://schemas.microsoft.com/office/drawing/2014/main" id="{8E130590-7FE5-97C1-9858-EEA9F4B20C4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4364" y="4688450"/>
            <a:ext cx="2736000" cy="50161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defRPr>
            </a:lvl1pPr>
            <a:lvl2pPr marL="342831" indent="-171416" algn="l">
              <a:lnSpc>
                <a:spcPts val="1100"/>
              </a:lnSpc>
              <a:buSzPct val="100000"/>
              <a:buChar char="•"/>
              <a:defRPr>
                <a:latin typeface="+mn-lt"/>
              </a:defRPr>
            </a:lvl2pPr>
          </a:lstStyle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  <a:endParaRPr lang="en-US" sz="1000" dirty="0"/>
          </a:p>
        </p:txBody>
      </p:sp>
      <p:sp>
        <p:nvSpPr>
          <p:cNvPr id="35" name="Текст 12">
            <a:extLst>
              <a:ext uri="{FF2B5EF4-FFF2-40B4-BE49-F238E27FC236}">
                <a16:creationId xmlns:a16="http://schemas.microsoft.com/office/drawing/2014/main" id="{65AD625E-C4E1-1DD1-04CB-4AC1A3535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87961" y="4688450"/>
            <a:ext cx="2736000" cy="50161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defRPr>
            </a:lvl1pPr>
            <a:lvl2pPr marL="342831" indent="-171416" algn="l">
              <a:lnSpc>
                <a:spcPts val="1100"/>
              </a:lnSpc>
              <a:buSzPct val="100000"/>
              <a:buChar char="•"/>
              <a:defRPr>
                <a:latin typeface="+mn-lt"/>
              </a:defRPr>
            </a:lvl2pPr>
          </a:lstStyle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  <a:endParaRPr lang="en-US" sz="1000" dirty="0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012895F1-EDDA-9A6B-7B7F-E105527BE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10E2205A-2B8E-62C5-1A8E-B41B0E7079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Направление 1. Дизайн операционной модели</a:t>
            </a:r>
            <a:endParaRPr lang="ru-RU" dirty="0"/>
          </a:p>
        </p:txBody>
      </p:sp>
      <p:sp>
        <p:nvSpPr>
          <p:cNvPr id="27" name="Текст 25">
            <a:extLst>
              <a:ext uri="{FF2B5EF4-FFF2-40B4-BE49-F238E27FC236}">
                <a16:creationId xmlns:a16="http://schemas.microsoft.com/office/drawing/2014/main" id="{24DD48EB-A63B-E492-A461-4651CD3EA7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60000" y="4255008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32" name="Shape 62">
            <a:extLst>
              <a:ext uri="{FF2B5EF4-FFF2-40B4-BE49-F238E27FC236}">
                <a16:creationId xmlns:a16="http://schemas.microsoft.com/office/drawing/2014/main" id="{60A435B7-948C-2C24-1509-FF18D09636D0}"/>
              </a:ext>
            </a:extLst>
          </p:cNvPr>
          <p:cNvSpPr/>
          <p:nvPr userDrawn="1"/>
        </p:nvSpPr>
        <p:spPr>
          <a:xfrm>
            <a:off x="450848" y="6132313"/>
            <a:ext cx="101599" cy="101600"/>
          </a:xfrm>
          <a:prstGeom prst="rect">
            <a:avLst/>
          </a:prstGeom>
          <a:solidFill>
            <a:srgbClr val="EF80BB"/>
          </a:solidFill>
          <a:ln/>
        </p:spPr>
      </p:sp>
      <p:sp>
        <p:nvSpPr>
          <p:cNvPr id="33" name="Shape 65">
            <a:extLst>
              <a:ext uri="{FF2B5EF4-FFF2-40B4-BE49-F238E27FC236}">
                <a16:creationId xmlns:a16="http://schemas.microsoft.com/office/drawing/2014/main" id="{B540CFFB-A28C-4931-84A1-FD0AD37AE68C}"/>
              </a:ext>
            </a:extLst>
          </p:cNvPr>
          <p:cNvSpPr/>
          <p:nvPr userDrawn="1"/>
        </p:nvSpPr>
        <p:spPr>
          <a:xfrm>
            <a:off x="3327383" y="6132313"/>
            <a:ext cx="1749416" cy="101600"/>
          </a:xfrm>
          <a:prstGeom prst="rect">
            <a:avLst/>
          </a:prstGeom>
          <a:noFill/>
          <a:ln/>
        </p:spPr>
      </p:sp>
      <p:sp>
        <p:nvSpPr>
          <p:cNvPr id="36" name="Shape 66">
            <a:extLst>
              <a:ext uri="{FF2B5EF4-FFF2-40B4-BE49-F238E27FC236}">
                <a16:creationId xmlns:a16="http://schemas.microsoft.com/office/drawing/2014/main" id="{66FC89A9-0EF5-A4DC-B776-5D0717E3FB9C}"/>
              </a:ext>
            </a:extLst>
          </p:cNvPr>
          <p:cNvSpPr/>
          <p:nvPr userDrawn="1"/>
        </p:nvSpPr>
        <p:spPr>
          <a:xfrm>
            <a:off x="3327383" y="6132313"/>
            <a:ext cx="101599" cy="101600"/>
          </a:xfrm>
          <a:prstGeom prst="rect">
            <a:avLst/>
          </a:prstGeom>
          <a:solidFill>
            <a:srgbClr val="F9CCE4"/>
          </a:solidFill>
          <a:ln/>
        </p:spPr>
      </p:sp>
      <p:sp>
        <p:nvSpPr>
          <p:cNvPr id="38" name="Объект 6">
            <a:extLst>
              <a:ext uri="{FF2B5EF4-FFF2-40B4-BE49-F238E27FC236}">
                <a16:creationId xmlns:a16="http://schemas.microsoft.com/office/drawing/2014/main" id="{DEBE148B-2BE6-34A5-FD29-DE73289572E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1362" y="6119359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39" name="Объект 6">
            <a:extLst>
              <a:ext uri="{FF2B5EF4-FFF2-40B4-BE49-F238E27FC236}">
                <a16:creationId xmlns:a16="http://schemas.microsoft.com/office/drawing/2014/main" id="{5BB8E487-C171-0D87-C0D8-845AB61B1194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477966" y="6119359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40" name="Объект 6">
            <a:extLst>
              <a:ext uri="{FF2B5EF4-FFF2-40B4-BE49-F238E27FC236}">
                <a16:creationId xmlns:a16="http://schemas.microsoft.com/office/drawing/2014/main" id="{A7EF94ED-57C3-A89F-72BC-E88407237DA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453657" y="6119359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5977DA-CF25-D587-2541-8B22851B61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60307D8-BA6C-2B10-B583-84600DFB75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8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тализация ключевых зада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Image 18" descr=" ">
            <a:extLst>
              <a:ext uri="{FF2B5EF4-FFF2-40B4-BE49-F238E27FC236}">
                <a16:creationId xmlns:a16="http://schemas.microsoft.com/office/drawing/2014/main" id="{B7BDF01E-2D67-83B2-9D99-FAA86FE95B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848" y="3013710"/>
            <a:ext cx="101599" cy="101600"/>
          </a:xfrm>
          <a:prstGeom prst="rect">
            <a:avLst/>
          </a:prstGeom>
        </p:spPr>
      </p:pic>
      <p:pic>
        <p:nvPicPr>
          <p:cNvPr id="130" name="Image 19" descr=" ">
            <a:extLst>
              <a:ext uri="{FF2B5EF4-FFF2-40B4-BE49-F238E27FC236}">
                <a16:creationId xmlns:a16="http://schemas.microsoft.com/office/drawing/2014/main" id="{A1BA2946-5835-4EC0-6A06-78CDD07894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315" y="3026410"/>
            <a:ext cx="87988" cy="76200"/>
          </a:xfrm>
          <a:prstGeom prst="rect">
            <a:avLst/>
          </a:prstGeom>
        </p:spPr>
      </p:pic>
      <p:pic>
        <p:nvPicPr>
          <p:cNvPr id="134" name="Image 20" descr=" ">
            <a:extLst>
              <a:ext uri="{FF2B5EF4-FFF2-40B4-BE49-F238E27FC236}">
                <a16:creationId xmlns:a16="http://schemas.microsoft.com/office/drawing/2014/main" id="{751CC97C-2A50-15F2-08B8-7A25066824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7383" y="3013710"/>
            <a:ext cx="101599" cy="101600"/>
          </a:xfrm>
          <a:prstGeom prst="rect">
            <a:avLst/>
          </a:prstGeom>
        </p:spPr>
      </p:pic>
      <p:pic>
        <p:nvPicPr>
          <p:cNvPr id="135" name="Image 21" descr=" ">
            <a:extLst>
              <a:ext uri="{FF2B5EF4-FFF2-40B4-BE49-F238E27FC236}">
                <a16:creationId xmlns:a16="http://schemas.microsoft.com/office/drawing/2014/main" id="{E763B0E9-304D-D6EA-26AB-31E99FB745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5850" y="3026410"/>
            <a:ext cx="87988" cy="76200"/>
          </a:xfrm>
          <a:prstGeom prst="rect">
            <a:avLst/>
          </a:prstGeom>
        </p:spPr>
      </p:pic>
      <p:pic>
        <p:nvPicPr>
          <p:cNvPr id="139" name="Image 22" descr=" ">
            <a:extLst>
              <a:ext uri="{FF2B5EF4-FFF2-40B4-BE49-F238E27FC236}">
                <a16:creationId xmlns:a16="http://schemas.microsoft.com/office/drawing/2014/main" id="{CE0E4B1C-5318-8A01-E702-DC3F5EFC44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2968" y="3013710"/>
            <a:ext cx="101599" cy="101600"/>
          </a:xfrm>
          <a:prstGeom prst="rect">
            <a:avLst/>
          </a:prstGeom>
        </p:spPr>
      </p:pic>
      <p:pic>
        <p:nvPicPr>
          <p:cNvPr id="140" name="Image 23" descr=" ">
            <a:extLst>
              <a:ext uri="{FF2B5EF4-FFF2-40B4-BE49-F238E27FC236}">
                <a16:creationId xmlns:a16="http://schemas.microsoft.com/office/drawing/2014/main" id="{DAC6CF89-147C-502E-ECA2-2380889ACE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1435" y="3026410"/>
            <a:ext cx="87988" cy="76200"/>
          </a:xfrm>
          <a:prstGeom prst="rect">
            <a:avLst/>
          </a:prstGeom>
        </p:spPr>
      </p:pic>
      <p:pic>
        <p:nvPicPr>
          <p:cNvPr id="144" name="Image 24" descr=" ">
            <a:extLst>
              <a:ext uri="{FF2B5EF4-FFF2-40B4-BE49-F238E27FC236}">
                <a16:creationId xmlns:a16="http://schemas.microsoft.com/office/drawing/2014/main" id="{C80859BC-0B6F-1154-1D81-FBC1C56929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8553" y="3013710"/>
            <a:ext cx="101599" cy="101600"/>
          </a:xfrm>
          <a:prstGeom prst="rect">
            <a:avLst/>
          </a:prstGeom>
        </p:spPr>
      </p:pic>
      <p:pic>
        <p:nvPicPr>
          <p:cNvPr id="145" name="Image 25" descr=" ">
            <a:extLst>
              <a:ext uri="{FF2B5EF4-FFF2-40B4-BE49-F238E27FC236}">
                <a16:creationId xmlns:a16="http://schemas.microsoft.com/office/drawing/2014/main" id="{BE5DD7F2-0BDF-FF47-CAFC-12DFE1BD185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27020" y="3026410"/>
            <a:ext cx="87988" cy="76200"/>
          </a:xfrm>
          <a:prstGeom prst="rect">
            <a:avLst/>
          </a:prstGeom>
        </p:spPr>
      </p:pic>
      <p:sp>
        <p:nvSpPr>
          <p:cNvPr id="175" name="Текст 173">
            <a:extLst>
              <a:ext uri="{FF2B5EF4-FFF2-40B4-BE49-F238E27FC236}">
                <a16:creationId xmlns:a16="http://schemas.microsoft.com/office/drawing/2014/main" id="{3929FE00-48EB-9112-5C4C-04FF9607806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6539" y="1077717"/>
            <a:ext cx="8584038" cy="140616"/>
          </a:xfrm>
        </p:spPr>
        <p:txBody>
          <a:bodyPr>
            <a:spAutoFit/>
          </a:bodyPr>
          <a:lstStyle>
            <a:lvl1pPr marL="0" marR="0" indent="0" algn="l" defTabSz="457109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marL="0" marR="0" lvl="0" indent="0" algn="l" defTabSz="457109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Направление 1. Текст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7EEC7432-4FEA-5D80-01AC-7A78263EC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Объект 6">
            <a:extLst>
              <a:ext uri="{FF2B5EF4-FFF2-40B4-BE49-F238E27FC236}">
                <a16:creationId xmlns:a16="http://schemas.microsoft.com/office/drawing/2014/main" id="{B35DB1F9-BAF7-02B8-B4CD-F9CA913EB59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1362" y="3006353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7" name="Объект 6">
            <a:extLst>
              <a:ext uri="{FF2B5EF4-FFF2-40B4-BE49-F238E27FC236}">
                <a16:creationId xmlns:a16="http://schemas.microsoft.com/office/drawing/2014/main" id="{55E46A0D-D28F-4862-6B26-D3EF603AED87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3477966" y="3006353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8" name="Объект 6">
            <a:extLst>
              <a:ext uri="{FF2B5EF4-FFF2-40B4-BE49-F238E27FC236}">
                <a16:creationId xmlns:a16="http://schemas.microsoft.com/office/drawing/2014/main" id="{35B8BBBF-214F-08EB-82BC-87F8C7324B2F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453657" y="3006353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9" name="Объект 6">
            <a:extLst>
              <a:ext uri="{FF2B5EF4-FFF2-40B4-BE49-F238E27FC236}">
                <a16:creationId xmlns:a16="http://schemas.microsoft.com/office/drawing/2014/main" id="{85932323-F9C3-4803-CCF4-0AEE270CEBF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9350786" y="3006353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800880AF-BD32-C030-5D9F-76A400B8A4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7814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Детализация ключевых задач: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Этап 1. Концепция цифровизации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7F9721-73C4-3C72-A424-F2807872DA2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8F79398-FF7E-89A9-7A10-3F7911EB3E8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65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тализация рабо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6974614B-CDE7-EB23-03C1-2036FCB76F75}"/>
              </a:ext>
            </a:extLst>
          </p:cNvPr>
          <p:cNvSpPr/>
          <p:nvPr userDrawn="1"/>
        </p:nvSpPr>
        <p:spPr>
          <a:xfrm>
            <a:off x="355598" y="3187700"/>
            <a:ext cx="863596" cy="1454150"/>
          </a:xfrm>
          <a:prstGeom prst="rect">
            <a:avLst/>
          </a:prstGeom>
          <a:solidFill>
            <a:srgbClr val="FAE6E9">
              <a:alpha val="10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AF913E-445A-1148-ED11-F7EF87AAA82F}"/>
              </a:ext>
            </a:extLst>
          </p:cNvPr>
          <p:cNvSpPr/>
          <p:nvPr userDrawn="1"/>
        </p:nvSpPr>
        <p:spPr>
          <a:xfrm>
            <a:off x="355598" y="1619250"/>
            <a:ext cx="863596" cy="1454150"/>
          </a:xfrm>
          <a:prstGeom prst="rect">
            <a:avLst/>
          </a:prstGeom>
          <a:solidFill>
            <a:srgbClr val="FAE6E9">
              <a:alpha val="100000"/>
            </a:srgbClr>
          </a:solidFill>
          <a:ln/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E0B2911-33FB-6B1D-10BD-17851034FDB5}"/>
              </a:ext>
            </a:extLst>
          </p:cNvPr>
          <p:cNvSpPr/>
          <p:nvPr userDrawn="1"/>
        </p:nvSpPr>
        <p:spPr>
          <a:xfrm>
            <a:off x="355598" y="3175000"/>
            <a:ext cx="11480740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505024B-C76A-3308-319A-F62989D634EB}"/>
              </a:ext>
            </a:extLst>
          </p:cNvPr>
          <p:cNvSpPr/>
          <p:nvPr userDrawn="1"/>
        </p:nvSpPr>
        <p:spPr>
          <a:xfrm>
            <a:off x="355598" y="161290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A84EBD8E-55BA-2B15-367A-8D37CA536144}"/>
              </a:ext>
            </a:extLst>
          </p:cNvPr>
          <p:cNvSpPr/>
          <p:nvPr userDrawn="1"/>
        </p:nvSpPr>
        <p:spPr>
          <a:xfrm>
            <a:off x="355598" y="511175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A32D9663-886D-817F-0596-EA2B3A2DC2D6}"/>
              </a:ext>
            </a:extLst>
          </p:cNvPr>
          <p:cNvSpPr/>
          <p:nvPr userDrawn="1"/>
        </p:nvSpPr>
        <p:spPr>
          <a:xfrm>
            <a:off x="1320793" y="139700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Работы</a:t>
            </a:r>
            <a:endParaRPr lang="en-US" sz="1000" dirty="0">
              <a:latin typeface="+mn-lt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033569D-22E7-D3BF-1128-69B1BA1CFB24}"/>
              </a:ext>
            </a:extLst>
          </p:cNvPr>
          <p:cNvSpPr/>
          <p:nvPr userDrawn="1"/>
        </p:nvSpPr>
        <p:spPr>
          <a:xfrm>
            <a:off x="1320793" y="489585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Общие ограничения</a:t>
            </a:r>
            <a:endParaRPr lang="en-US" sz="1000" dirty="0">
              <a:latin typeface="+mn-lt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6EAC210C-A55F-887D-4C70-4228734FA1FE}"/>
              </a:ext>
            </a:extLst>
          </p:cNvPr>
          <p:cNvSpPr/>
          <p:nvPr userDrawn="1"/>
        </p:nvSpPr>
        <p:spPr>
          <a:xfrm>
            <a:off x="4216378" y="139700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Результаты</a:t>
            </a:r>
            <a:endParaRPr lang="en-US" sz="1000" dirty="0">
              <a:latin typeface="+mn-lt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2A534A5B-93C0-5B6A-BE6C-53F2673512C5}"/>
              </a:ext>
            </a:extLst>
          </p:cNvPr>
          <p:cNvSpPr/>
          <p:nvPr userDrawn="1"/>
        </p:nvSpPr>
        <p:spPr>
          <a:xfrm>
            <a:off x="7111963" y="139700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Ограничения</a:t>
            </a:r>
            <a:endParaRPr lang="en-US" sz="1000" dirty="0">
              <a:latin typeface="+mn-lt"/>
            </a:endParaRP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B84EE11-B77D-7346-74C8-35AAA9AE9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8AA3E8FD-92CF-E2EC-6499-7EB418C46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Шаблон слайда</a:t>
            </a:r>
            <a:endParaRPr lang="ru-RU" dirty="0"/>
          </a:p>
        </p:txBody>
      </p:sp>
      <p:sp>
        <p:nvSpPr>
          <p:cNvPr id="29" name="Текст 61">
            <a:extLst>
              <a:ext uri="{FF2B5EF4-FFF2-40B4-BE49-F238E27FC236}">
                <a16:creationId xmlns:a16="http://schemas.microsoft.com/office/drawing/2014/main" id="{EB7D4905-527A-9345-C316-339489D02F2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11962" y="1727852"/>
            <a:ext cx="47243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3" name="Текст 61">
            <a:extLst>
              <a:ext uri="{FF2B5EF4-FFF2-40B4-BE49-F238E27FC236}">
                <a16:creationId xmlns:a16="http://schemas.microsoft.com/office/drawing/2014/main" id="{0934AE21-18DF-C89B-FE3A-715D7E2991D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0358" y="1727852"/>
            <a:ext cx="2734928" cy="461665"/>
          </a:xfrm>
        </p:spPr>
        <p:txBody>
          <a:bodyPr wrap="square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7AF74427-2A60-6794-CAD8-C39685FBC75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98537" y="1727852"/>
            <a:ext cx="2734928" cy="461665"/>
          </a:xfrm>
        </p:spPr>
        <p:txBody>
          <a:bodyPr wrap="square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75B783CE-6FD0-CF4E-6F67-BBE18548058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10088" y="1727852"/>
            <a:ext cx="638407" cy="15953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Этап 1</a:t>
            </a:r>
            <a:endParaRPr lang="ru-RU" dirty="0"/>
          </a:p>
        </p:txBody>
      </p:sp>
      <p:sp>
        <p:nvSpPr>
          <p:cNvPr id="36" name="Текст 61">
            <a:extLst>
              <a:ext uri="{FF2B5EF4-FFF2-40B4-BE49-F238E27FC236}">
                <a16:creationId xmlns:a16="http://schemas.microsoft.com/office/drawing/2014/main" id="{7B4C4B83-257B-5EE7-91A7-7C58580D167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111962" y="3295394"/>
            <a:ext cx="47243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7" name="Текст 61">
            <a:extLst>
              <a:ext uri="{FF2B5EF4-FFF2-40B4-BE49-F238E27FC236}">
                <a16:creationId xmlns:a16="http://schemas.microsoft.com/office/drawing/2014/main" id="{DF5E8EF5-030B-3808-985F-0D0653BE73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300358" y="3295394"/>
            <a:ext cx="2734928" cy="461665"/>
          </a:xfrm>
        </p:spPr>
        <p:txBody>
          <a:bodyPr wrap="square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8" name="Текст 61">
            <a:extLst>
              <a:ext uri="{FF2B5EF4-FFF2-40B4-BE49-F238E27FC236}">
                <a16:creationId xmlns:a16="http://schemas.microsoft.com/office/drawing/2014/main" id="{91728009-4156-1543-774C-81836D34B0B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398537" y="3295394"/>
            <a:ext cx="2734928" cy="461665"/>
          </a:xfrm>
        </p:spPr>
        <p:txBody>
          <a:bodyPr wrap="square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9" name="Текст 61">
            <a:extLst>
              <a:ext uri="{FF2B5EF4-FFF2-40B4-BE49-F238E27FC236}">
                <a16:creationId xmlns:a16="http://schemas.microsoft.com/office/drawing/2014/main" id="{FBC269B4-F412-2314-09B0-AB9386318CE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10088" y="3295394"/>
            <a:ext cx="638407" cy="15953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Этап 1</a:t>
            </a:r>
            <a:endParaRPr lang="ru-RU" dirty="0"/>
          </a:p>
        </p:txBody>
      </p:sp>
      <p:sp>
        <p:nvSpPr>
          <p:cNvPr id="40" name="Текст 61">
            <a:extLst>
              <a:ext uri="{FF2B5EF4-FFF2-40B4-BE49-F238E27FC236}">
                <a16:creationId xmlns:a16="http://schemas.microsoft.com/office/drawing/2014/main" id="{66EFAFAD-8483-F716-2DB9-FD0591490F4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320793" y="5236158"/>
            <a:ext cx="673152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A819E2-AE92-7DDB-A197-290017132F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ED8455A9-BBE2-68EB-9B33-978627F345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80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оимость про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>
            <a:extLst>
              <a:ext uri="{FF2B5EF4-FFF2-40B4-BE49-F238E27FC236}">
                <a16:creationId xmlns:a16="http://schemas.microsoft.com/office/drawing/2014/main" id="{BB3EDA8E-E0F1-CBD4-871F-369582485AC1}"/>
              </a:ext>
            </a:extLst>
          </p:cNvPr>
          <p:cNvSpPr/>
          <p:nvPr userDrawn="1"/>
        </p:nvSpPr>
        <p:spPr>
          <a:xfrm>
            <a:off x="355598" y="5651500"/>
            <a:ext cx="5689570" cy="850900"/>
          </a:xfrm>
          <a:prstGeom prst="rect">
            <a:avLst/>
          </a:prstGeom>
          <a:solidFill>
            <a:srgbClr val="FAE6E9">
              <a:alpha val="100000"/>
            </a:srgbClr>
          </a:solidFill>
          <a:ln/>
        </p:spPr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F78E2757-A5C8-2745-F823-CAE6A4126370}"/>
              </a:ext>
            </a:extLst>
          </p:cNvPr>
          <p:cNvSpPr/>
          <p:nvPr userDrawn="1"/>
        </p:nvSpPr>
        <p:spPr>
          <a:xfrm>
            <a:off x="6146768" y="5660831"/>
            <a:ext cx="1026578" cy="16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Условия оплаты</a:t>
            </a:r>
            <a:endParaRPr lang="en-US" sz="1000" dirty="0">
              <a:latin typeface="+mn-lt"/>
            </a:endParaRPr>
          </a:p>
        </p:txBody>
      </p:sp>
      <p:sp>
        <p:nvSpPr>
          <p:cNvPr id="9" name="Shape 29">
            <a:extLst>
              <a:ext uri="{FF2B5EF4-FFF2-40B4-BE49-F238E27FC236}">
                <a16:creationId xmlns:a16="http://schemas.microsoft.com/office/drawing/2014/main" id="{669BD78A-C739-E24C-89A1-241C37163F7D}"/>
              </a:ext>
            </a:extLst>
          </p:cNvPr>
          <p:cNvSpPr/>
          <p:nvPr userDrawn="1"/>
        </p:nvSpPr>
        <p:spPr>
          <a:xfrm>
            <a:off x="6146768" y="5854700"/>
            <a:ext cx="568957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37" name="Таблица 23">
            <a:extLst>
              <a:ext uri="{FF2B5EF4-FFF2-40B4-BE49-F238E27FC236}">
                <a16:creationId xmlns:a16="http://schemas.microsoft.com/office/drawing/2014/main" id="{0B8B26D2-DC0B-A374-B2D4-D72DB817A38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74601" y="1350169"/>
            <a:ext cx="11470575" cy="2926556"/>
          </a:xfrm>
        </p:spPr>
        <p:txBody>
          <a:bodyPr/>
          <a:lstStyle/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8D3EE255-CA81-4AB1-0B29-ADCC5F258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C327A527-814F-F27E-79FA-27D8BD9C37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Стоимость проекта</a:t>
            </a:r>
            <a:endParaRPr lang="ru-RU" dirty="0"/>
          </a:p>
        </p:txBody>
      </p:sp>
      <p:sp>
        <p:nvSpPr>
          <p:cNvPr id="17" name="Текст 61">
            <a:extLst>
              <a:ext uri="{FF2B5EF4-FFF2-40B4-BE49-F238E27FC236}">
                <a16:creationId xmlns:a16="http://schemas.microsoft.com/office/drawing/2014/main" id="{3C87C8BC-370D-CCA6-4A18-3A4C75429A2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46768" y="5970602"/>
            <a:ext cx="5544489" cy="46166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sp>
        <p:nvSpPr>
          <p:cNvPr id="18" name="Текст 61">
            <a:extLst>
              <a:ext uri="{FF2B5EF4-FFF2-40B4-BE49-F238E27FC236}">
                <a16:creationId xmlns:a16="http://schemas.microsoft.com/office/drawing/2014/main" id="{1E9B2A60-315F-431B-9230-EEA48D9110C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0679" y="6213063"/>
            <a:ext cx="5400000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Стоимость указана без НДС</a:t>
            </a:r>
            <a:endParaRPr lang="ru-RU" dirty="0"/>
          </a:p>
        </p:txBody>
      </p:sp>
      <p:sp>
        <p:nvSpPr>
          <p:cNvPr id="20" name="Текст 25">
            <a:extLst>
              <a:ext uri="{FF2B5EF4-FFF2-40B4-BE49-F238E27FC236}">
                <a16:creationId xmlns:a16="http://schemas.microsoft.com/office/drawing/2014/main" id="{57295FA2-688A-B4A6-D1BD-BD077F66E9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0010" y="5764489"/>
            <a:ext cx="5390669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ХХХ млн руб.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460FA9-ABF1-7CD9-42A8-D7BAAF317F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1ECC19CC-7610-0B8F-E2A4-77611804EB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07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оимость про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Таблица 23">
            <a:extLst>
              <a:ext uri="{FF2B5EF4-FFF2-40B4-BE49-F238E27FC236}">
                <a16:creationId xmlns:a16="http://schemas.microsoft.com/office/drawing/2014/main" id="{0B8B26D2-DC0B-A374-B2D4-D72DB817A38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74601" y="1350169"/>
            <a:ext cx="11470575" cy="2926556"/>
          </a:xfrm>
        </p:spPr>
        <p:txBody>
          <a:bodyPr/>
          <a:lstStyle/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518FC8FE-75DB-6C4B-0990-65F6DE815BD8}"/>
              </a:ext>
            </a:extLst>
          </p:cNvPr>
          <p:cNvSpPr/>
          <p:nvPr userDrawn="1"/>
        </p:nvSpPr>
        <p:spPr>
          <a:xfrm>
            <a:off x="355598" y="4546600"/>
            <a:ext cx="11480740" cy="660400"/>
          </a:xfrm>
          <a:prstGeom prst="rect">
            <a:avLst/>
          </a:prstGeom>
          <a:solidFill>
            <a:srgbClr val="FAE6E9">
              <a:alpha val="100000"/>
            </a:srgbClr>
          </a:solidFill>
          <a:ln/>
        </p:spPr>
      </p:sp>
      <p:sp>
        <p:nvSpPr>
          <p:cNvPr id="15" name="Text 30">
            <a:extLst>
              <a:ext uri="{FF2B5EF4-FFF2-40B4-BE49-F238E27FC236}">
                <a16:creationId xmlns:a16="http://schemas.microsoft.com/office/drawing/2014/main" id="{3DFE5171-4F0C-CAEC-DD2D-7DBC1AAA40CD}"/>
              </a:ext>
            </a:extLst>
          </p:cNvPr>
          <p:cNvSpPr/>
          <p:nvPr userDrawn="1"/>
        </p:nvSpPr>
        <p:spPr>
          <a:xfrm>
            <a:off x="355598" y="5470331"/>
            <a:ext cx="1445676" cy="16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Ключевые примечания</a:t>
            </a:r>
            <a:endParaRPr lang="en-US" sz="1000" dirty="0">
              <a:latin typeface="+mn-lt"/>
            </a:endParaRPr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8ABEDA7E-066C-8D19-E850-483FB3BDE2DF}"/>
              </a:ext>
            </a:extLst>
          </p:cNvPr>
          <p:cNvSpPr/>
          <p:nvPr userDrawn="1"/>
        </p:nvSpPr>
        <p:spPr>
          <a:xfrm>
            <a:off x="355598" y="566420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5F6D10A-82CF-C8D4-97A4-5F057AAB1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1971A28-2977-7A9C-24D5-EC8C02954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Стоимость проекта</a:t>
            </a:r>
            <a:endParaRPr lang="ru-RU" dirty="0"/>
          </a:p>
        </p:txBody>
      </p:sp>
      <p:sp>
        <p:nvSpPr>
          <p:cNvPr id="13" name="Текст 61">
            <a:extLst>
              <a:ext uri="{FF2B5EF4-FFF2-40B4-BE49-F238E27FC236}">
                <a16:creationId xmlns:a16="http://schemas.microsoft.com/office/drawing/2014/main" id="{993AF01C-9181-A0C7-2275-3B37D2DB6E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54959" y="4883027"/>
            <a:ext cx="5400000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Стоимость указана без НДС</a:t>
            </a:r>
            <a:endParaRPr lang="ru-RU" dirty="0"/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49729AC8-17B2-8DE4-049F-D1FBE054BB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2220" y="4606347"/>
            <a:ext cx="5390669" cy="553998"/>
          </a:xfrm>
        </p:spPr>
        <p:txBody>
          <a:bodyPr/>
          <a:lstStyle>
            <a:lvl1pPr>
              <a:lnSpc>
                <a:spcPct val="100000"/>
              </a:lnSpc>
              <a:defRPr sz="36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ХХХ млн руб.</a:t>
            </a:r>
            <a:endParaRPr lang="ru-RU" dirty="0"/>
          </a:p>
        </p:txBody>
      </p:sp>
      <p:sp>
        <p:nvSpPr>
          <p:cNvPr id="20" name="Текст 61">
            <a:extLst>
              <a:ext uri="{FF2B5EF4-FFF2-40B4-BE49-F238E27FC236}">
                <a16:creationId xmlns:a16="http://schemas.microsoft.com/office/drawing/2014/main" id="{C125104B-B09E-AAEA-4893-23EFC3A0C96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56099" y="5783990"/>
            <a:ext cx="5544489" cy="461665"/>
          </a:xfrm>
        </p:spPr>
        <p:txBody>
          <a:bodyPr wrap="square">
            <a:spAutoFit/>
          </a:bodyPr>
          <a:lstStyle>
            <a:lvl1pPr marL="171450" marR="0" indent="-17145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sp>
        <p:nvSpPr>
          <p:cNvPr id="21" name="Текст 61">
            <a:extLst>
              <a:ext uri="{FF2B5EF4-FFF2-40B4-BE49-F238E27FC236}">
                <a16:creationId xmlns:a16="http://schemas.microsoft.com/office/drawing/2014/main" id="{4EDF4433-CD8C-B8F0-BBD1-3B25E02B511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69331" y="5783990"/>
            <a:ext cx="5544489" cy="461665"/>
          </a:xfrm>
        </p:spPr>
        <p:txBody>
          <a:bodyPr wrap="square">
            <a:spAutoFit/>
          </a:bodyPr>
          <a:lstStyle>
            <a:lvl1pPr marL="171450" marR="0" indent="-17145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BD14F0-3345-4059-DCF5-DC3359FE48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B907C389-000D-4814-7E08-B250EFDF1D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6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план-фа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54">
            <a:extLst>
              <a:ext uri="{FF2B5EF4-FFF2-40B4-BE49-F238E27FC236}">
                <a16:creationId xmlns:a16="http://schemas.microsoft.com/office/drawing/2014/main" id="{7FCAE3F5-B2E3-C965-26D4-C4F3847843EC}"/>
              </a:ext>
            </a:extLst>
          </p:cNvPr>
          <p:cNvSpPr/>
          <p:nvPr userDrawn="1"/>
        </p:nvSpPr>
        <p:spPr>
          <a:xfrm>
            <a:off x="374648" y="1250950"/>
            <a:ext cx="787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REVENUE</a:t>
            </a:r>
            <a:endParaRPr lang="en-US" sz="1200" dirty="0">
              <a:latin typeface="+mn-lt"/>
            </a:endParaRPr>
          </a:p>
        </p:txBody>
      </p:sp>
      <p:sp>
        <p:nvSpPr>
          <p:cNvPr id="211" name="Text 55">
            <a:extLst>
              <a:ext uri="{FF2B5EF4-FFF2-40B4-BE49-F238E27FC236}">
                <a16:creationId xmlns:a16="http://schemas.microsoft.com/office/drawing/2014/main" id="{5488749B-DCB3-F9D6-C344-1571192305AA}"/>
              </a:ext>
            </a:extLst>
          </p:cNvPr>
          <p:cNvSpPr/>
          <p:nvPr userDrawn="1"/>
        </p:nvSpPr>
        <p:spPr>
          <a:xfrm>
            <a:off x="374648" y="4000500"/>
            <a:ext cx="60959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EBITDA</a:t>
            </a:r>
            <a:endParaRPr lang="en-US" sz="1200" dirty="0">
              <a:latin typeface="+mn-lt"/>
            </a:endParaRPr>
          </a:p>
        </p:txBody>
      </p:sp>
      <p:sp>
        <p:nvSpPr>
          <p:cNvPr id="216" name="Text 60">
            <a:extLst>
              <a:ext uri="{FF2B5EF4-FFF2-40B4-BE49-F238E27FC236}">
                <a16:creationId xmlns:a16="http://schemas.microsoft.com/office/drawing/2014/main" id="{31593C30-9F7A-009A-86CD-451F86CD8806}"/>
              </a:ext>
            </a:extLst>
          </p:cNvPr>
          <p:cNvSpPr/>
          <p:nvPr userDrawn="1"/>
        </p:nvSpPr>
        <p:spPr>
          <a:xfrm>
            <a:off x="11328341" y="1276350"/>
            <a:ext cx="550330" cy="16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00" dirty="0">
                <a:solidFill>
                  <a:schemeClr val="tx1">
                    <a:alpha val="45000"/>
                  </a:scheme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млн руб.</a:t>
            </a:r>
            <a:endParaRPr lang="en-US" sz="1000" dirty="0">
              <a:solidFill>
                <a:schemeClr val="tx1">
                  <a:alpha val="45000"/>
                </a:schemeClr>
              </a:solidFill>
            </a:endParaRPr>
          </a:p>
        </p:txBody>
      </p:sp>
      <p:sp>
        <p:nvSpPr>
          <p:cNvPr id="217" name="Text 61">
            <a:extLst>
              <a:ext uri="{FF2B5EF4-FFF2-40B4-BE49-F238E27FC236}">
                <a16:creationId xmlns:a16="http://schemas.microsoft.com/office/drawing/2014/main" id="{D86C6951-A4EB-66CF-58AA-345A5646237E}"/>
              </a:ext>
            </a:extLst>
          </p:cNvPr>
          <p:cNvSpPr/>
          <p:nvPr userDrawn="1"/>
        </p:nvSpPr>
        <p:spPr>
          <a:xfrm>
            <a:off x="11328341" y="4025900"/>
            <a:ext cx="550330" cy="16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00" dirty="0">
                <a:solidFill>
                  <a:schemeClr val="tx1">
                    <a:alpha val="45000"/>
                  </a:scheme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млн руб.</a:t>
            </a:r>
            <a:endParaRPr lang="en-US" sz="1000" dirty="0">
              <a:solidFill>
                <a:schemeClr val="tx1">
                  <a:alpha val="45000"/>
                </a:schemeClr>
              </a:solidFill>
            </a:endParaRPr>
          </a:p>
        </p:txBody>
      </p:sp>
      <p:pic>
        <p:nvPicPr>
          <p:cNvPr id="224" name="Image 20" descr=" ">
            <a:extLst>
              <a:ext uri="{FF2B5EF4-FFF2-40B4-BE49-F238E27FC236}">
                <a16:creationId xmlns:a16="http://schemas.microsoft.com/office/drawing/2014/main" id="{E3D25E00-3CA0-BAFC-8BA7-904170C39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683000"/>
            <a:ext cx="11480740" cy="12700"/>
          </a:xfrm>
          <a:prstGeom prst="rect">
            <a:avLst/>
          </a:prstGeo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A5FB4006-A2D2-ECCD-0570-3366A04273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4601" y="1454150"/>
            <a:ext cx="8565035" cy="205646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Объект 5">
            <a:extLst>
              <a:ext uri="{FF2B5EF4-FFF2-40B4-BE49-F238E27FC236}">
                <a16:creationId xmlns:a16="http://schemas.microsoft.com/office/drawing/2014/main" id="{29BDFAD4-BFA9-233E-7BBD-64195FBF86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4601" y="4203700"/>
            <a:ext cx="8565035" cy="205646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71F0F9ED-DF55-70BF-9B96-B01C08552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5E538D2C-7B9A-9E2F-37E9-6A9A127339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Графики план-факт за последние 12 месяцев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65C590-BBE7-C1F8-C1BC-7AADC8CA04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0584AFBE-5045-CAB5-9C0D-DEA618BB6B1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36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о схем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1" descr=" ">
            <a:extLst>
              <a:ext uri="{FF2B5EF4-FFF2-40B4-BE49-F238E27FC236}">
                <a16:creationId xmlns:a16="http://schemas.microsoft.com/office/drawing/2014/main" id="{598AE3F5-0E51-DFB9-02AA-774AAFCA7B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6378" y="1955800"/>
            <a:ext cx="7619960" cy="1117600"/>
          </a:xfrm>
          <a:prstGeom prst="rect">
            <a:avLst/>
          </a:prstGeom>
        </p:spPr>
      </p:pic>
      <p:sp>
        <p:nvSpPr>
          <p:cNvPr id="40" name="Shape 29">
            <a:extLst>
              <a:ext uri="{FF2B5EF4-FFF2-40B4-BE49-F238E27FC236}">
                <a16:creationId xmlns:a16="http://schemas.microsoft.com/office/drawing/2014/main" id="{A81B0609-EE5A-7971-AE49-1C9C99066708}"/>
              </a:ext>
            </a:extLst>
          </p:cNvPr>
          <p:cNvSpPr/>
          <p:nvPr userDrawn="1"/>
        </p:nvSpPr>
        <p:spPr>
          <a:xfrm>
            <a:off x="355598" y="876300"/>
            <a:ext cx="3759181" cy="561594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A16B6DF5-A887-7D15-0B8F-D8DEEB2E21A5}"/>
              </a:ext>
            </a:extLst>
          </p:cNvPr>
          <p:cNvSpPr/>
          <p:nvPr userDrawn="1"/>
        </p:nvSpPr>
        <p:spPr>
          <a:xfrm>
            <a:off x="4216378" y="876300"/>
            <a:ext cx="3759181" cy="558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D4BD31DB-48C8-34CF-7920-2AE9D971E2E6}"/>
              </a:ext>
            </a:extLst>
          </p:cNvPr>
          <p:cNvSpPr/>
          <p:nvPr userDrawn="1"/>
        </p:nvSpPr>
        <p:spPr>
          <a:xfrm>
            <a:off x="4216378" y="337820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EA513E67-E7F4-1DC3-BB55-A3A550F4837F}"/>
              </a:ext>
            </a:extLst>
          </p:cNvPr>
          <p:cNvSpPr/>
          <p:nvPr userDrawn="1"/>
        </p:nvSpPr>
        <p:spPr>
          <a:xfrm>
            <a:off x="8077158" y="876300"/>
            <a:ext cx="3759181" cy="55880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AF5A612C-8CFB-CB97-CF2C-DCA64DE9861D}"/>
              </a:ext>
            </a:extLst>
          </p:cNvPr>
          <p:cNvSpPr/>
          <p:nvPr userDrawn="1"/>
        </p:nvSpPr>
        <p:spPr>
          <a:xfrm>
            <a:off x="4317978" y="1352550"/>
            <a:ext cx="253998" cy="1440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4B719EA6-04A9-01FC-446A-D3BACF5F66F4}"/>
              </a:ext>
            </a:extLst>
          </p:cNvPr>
          <p:cNvSpPr/>
          <p:nvPr userDrawn="1"/>
        </p:nvSpPr>
        <p:spPr>
          <a:xfrm>
            <a:off x="4379361" y="1369484"/>
            <a:ext cx="131232" cy="11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1</a:t>
            </a:r>
            <a:endParaRPr lang="en-US" sz="700" dirty="0"/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5A10B9B4-AB67-2254-EB33-21ECC95273B6}"/>
              </a:ext>
            </a:extLst>
          </p:cNvPr>
          <p:cNvSpPr/>
          <p:nvPr userDrawn="1"/>
        </p:nvSpPr>
        <p:spPr>
          <a:xfrm>
            <a:off x="4635476" y="1352550"/>
            <a:ext cx="253998" cy="1440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637C3E78-3825-BC78-A854-5436FDD011C2}"/>
              </a:ext>
            </a:extLst>
          </p:cNvPr>
          <p:cNvSpPr/>
          <p:nvPr userDrawn="1"/>
        </p:nvSpPr>
        <p:spPr>
          <a:xfrm>
            <a:off x="4696859" y="1369484"/>
            <a:ext cx="131232" cy="11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2</a:t>
            </a:r>
            <a:endParaRPr lang="en-US" sz="70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2529B8CC-935B-C82D-6DBE-BA631002ABDF}"/>
              </a:ext>
            </a:extLst>
          </p:cNvPr>
          <p:cNvSpPr/>
          <p:nvPr userDrawn="1"/>
        </p:nvSpPr>
        <p:spPr>
          <a:xfrm>
            <a:off x="4940275" y="1352550"/>
            <a:ext cx="253998" cy="1440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3976B54E-68D3-13FA-BC2E-70EF2FC42AEF}"/>
              </a:ext>
            </a:extLst>
          </p:cNvPr>
          <p:cNvSpPr/>
          <p:nvPr userDrawn="1"/>
        </p:nvSpPr>
        <p:spPr>
          <a:xfrm>
            <a:off x="5001658" y="1369484"/>
            <a:ext cx="131232" cy="11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3</a:t>
            </a:r>
            <a:endParaRPr lang="en-US" sz="700" dirty="0"/>
          </a:p>
        </p:txBody>
      </p:sp>
      <p:pic>
        <p:nvPicPr>
          <p:cNvPr id="48" name="Image 2" descr=" ">
            <a:extLst>
              <a:ext uri="{FF2B5EF4-FFF2-40B4-BE49-F238E27FC236}">
                <a16:creationId xmlns:a16="http://schemas.microsoft.com/office/drawing/2014/main" id="{550AF648-720C-CF86-7712-367C2F900E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8819" y="1435100"/>
            <a:ext cx="12700" cy="520700"/>
          </a:xfrm>
          <a:prstGeom prst="rect">
            <a:avLst/>
          </a:prstGeom>
        </p:spPr>
      </p:pic>
      <p:sp>
        <p:nvSpPr>
          <p:cNvPr id="138" name="Текст 58">
            <a:extLst>
              <a:ext uri="{FF2B5EF4-FFF2-40B4-BE49-F238E27FC236}">
                <a16:creationId xmlns:a16="http://schemas.microsoft.com/office/drawing/2014/main" id="{27A0B7C8-BB06-9C4D-DFF4-BCDF087E847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309089" y="946150"/>
            <a:ext cx="3587477" cy="40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139" name="Текст 58">
            <a:extLst>
              <a:ext uri="{FF2B5EF4-FFF2-40B4-BE49-F238E27FC236}">
                <a16:creationId xmlns:a16="http://schemas.microsoft.com/office/drawing/2014/main" id="{0B260B33-6A6E-20F8-4E08-00B236D7F7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157081" y="946150"/>
            <a:ext cx="3587477" cy="40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CD5530D0-DFF6-9D8D-2BB4-3072CCDFC424}"/>
              </a:ext>
            </a:extLst>
          </p:cNvPr>
          <p:cNvSpPr/>
          <p:nvPr userDrawn="1"/>
        </p:nvSpPr>
        <p:spPr>
          <a:xfrm>
            <a:off x="8077158" y="337820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9E52910D-4684-BD9F-A434-FD0D7570E3E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335715" y="1556806"/>
            <a:ext cx="2884392" cy="279115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buNone/>
              <a:defRPr sz="1000"/>
            </a:lvl1pPr>
            <a:lvl2pPr marL="228554" indent="0">
              <a:lnSpc>
                <a:spcPct val="120000"/>
              </a:lnSpc>
              <a:buNone/>
              <a:defRPr sz="800"/>
            </a:lvl2pPr>
            <a:lvl3pPr marL="457109" indent="0">
              <a:lnSpc>
                <a:spcPct val="120000"/>
              </a:lnSpc>
              <a:buNone/>
              <a:defRPr sz="800"/>
            </a:lvl3pPr>
            <a:lvl4pPr marL="685663" indent="0">
              <a:lnSpc>
                <a:spcPct val="120000"/>
              </a:lnSpc>
              <a:buNone/>
              <a:defRPr sz="800"/>
            </a:lvl4pPr>
            <a:lvl5pPr marL="914217" indent="0">
              <a:lnSpc>
                <a:spcPct val="120000"/>
              </a:lnSpc>
              <a:buNone/>
              <a:defRPr sz="800"/>
            </a:lvl5pPr>
          </a:lstStyle>
          <a:p>
            <a:pPr lvl="0"/>
            <a:r>
              <a:rPr lang="ru-RU" dirty="0"/>
              <a:t>Здесь должен быть текст </a:t>
            </a:r>
            <a:br>
              <a:rPr lang="ru-RU" dirty="0"/>
            </a:br>
            <a:r>
              <a:rPr lang="ru-RU" dirty="0"/>
              <a:t>в одну или две строки</a:t>
            </a:r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A5B0988F-291A-6987-FE62-246A60D78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0E7D5B7-5F4B-1D58-BA3A-DBB22F348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19" name="Текст 29">
            <a:extLst>
              <a:ext uri="{FF2B5EF4-FFF2-40B4-BE49-F238E27FC236}">
                <a16:creationId xmlns:a16="http://schemas.microsoft.com/office/drawing/2014/main" id="{5B2FB417-F896-2E08-F1E6-388BA45227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1086478"/>
            <a:ext cx="3384000" cy="4924425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45FB4F93-800A-EB9F-10D7-59BE877F5E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644831" y="3553831"/>
            <a:ext cx="3216275" cy="2356607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consectetur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elit</a:t>
            </a:r>
            <a:r>
              <a:rPr lang="en-US" dirty="0">
                <a:effectLst/>
              </a:rPr>
              <a:t>. Nulla a ante magna. 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consectetur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elit</a:t>
            </a:r>
            <a:r>
              <a:rPr lang="en-US" dirty="0">
                <a:effectLst/>
              </a:rPr>
              <a:t>. Nulla a ante magna. Nunc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nisi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eleifend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. In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metus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vehicula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dignissim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placerat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aliquam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augue</a:t>
            </a:r>
            <a:r>
              <a:rPr lang="en-US" dirty="0">
                <a:effectLst/>
              </a:rPr>
              <a:t>. Ut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nisl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molestie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sollicitudin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nibh</a:t>
            </a:r>
            <a:r>
              <a:rPr lang="en-US" dirty="0">
                <a:effectLst/>
              </a:rPr>
              <a:t> non, </a:t>
            </a:r>
            <a:r>
              <a:rPr lang="en-US" dirty="0" err="1">
                <a:effectLst/>
              </a:rPr>
              <a:t>egestas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tortor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Fusce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mattis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tincidunt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vestibulum </a:t>
            </a:r>
            <a:r>
              <a:rPr lang="en-US" dirty="0" err="1">
                <a:effectLst/>
              </a:rPr>
              <a:t>mollis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Vivamus</a:t>
            </a:r>
            <a:r>
              <a:rPr lang="en-US" dirty="0">
                <a:effectLst/>
              </a:rPr>
              <a:t> in </a:t>
            </a:r>
            <a:r>
              <a:rPr lang="en-US" dirty="0" err="1">
                <a:effectLst/>
              </a:rPr>
              <a:t>justo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scelerisque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faucibus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lacus</a:t>
            </a:r>
            <a:r>
              <a:rPr lang="en-US" dirty="0">
                <a:effectLst/>
              </a:rPr>
              <a:t> sed, </a:t>
            </a:r>
            <a:r>
              <a:rPr lang="en-US" dirty="0" err="1">
                <a:effectLst/>
              </a:rPr>
              <a:t>aliquet</a:t>
            </a:r>
            <a:r>
              <a:rPr lang="en-US" dirty="0">
                <a:effectLst/>
              </a:rPr>
              <a:t> est. Donec non diam tempus, </a:t>
            </a:r>
            <a:r>
              <a:rPr lang="en-US" dirty="0" err="1">
                <a:effectLst/>
              </a:rPr>
              <a:t>ultricies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orci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imperdiet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tortor</a:t>
            </a:r>
            <a:r>
              <a:rPr lang="en-US" dirty="0">
                <a:effectLst/>
              </a:rPr>
              <a:t>. 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Donec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nibh</a:t>
            </a:r>
            <a:r>
              <a:rPr lang="en-US" dirty="0">
                <a:effectLst/>
              </a:rPr>
              <a:t> dolor. </a:t>
            </a:r>
            <a:r>
              <a:rPr lang="en-US" dirty="0" err="1">
                <a:effectLst/>
              </a:rPr>
              <a:t>Praesent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euismod</a:t>
            </a:r>
            <a:r>
              <a:rPr lang="en-US" dirty="0">
                <a:effectLst/>
              </a:rPr>
              <a:t> ante id ante ornare, at </a:t>
            </a:r>
            <a:r>
              <a:rPr lang="en-US" dirty="0" err="1">
                <a:effectLst/>
              </a:rPr>
              <a:t>feugiat</a:t>
            </a:r>
            <a:r>
              <a:rPr lang="en-US" dirty="0">
                <a:effectLst/>
              </a:rPr>
              <a:t> magna </a:t>
            </a:r>
            <a:r>
              <a:rPr lang="en-US" dirty="0" err="1">
                <a:effectLst/>
              </a:rPr>
              <a:t>imperdiet</a:t>
            </a:r>
            <a:r>
              <a:rPr lang="en-US" dirty="0">
                <a:effectLst/>
              </a:rPr>
              <a:t>. Maecenas </a:t>
            </a:r>
            <a:r>
              <a:rPr lang="en-US" dirty="0" err="1">
                <a:effectLst/>
              </a:rPr>
              <a:t>elementum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sollicitudin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leo</a:t>
            </a:r>
            <a:r>
              <a:rPr lang="en-US" dirty="0">
                <a:effectLst/>
              </a:rPr>
              <a:t>. Nulla </a:t>
            </a:r>
            <a:r>
              <a:rPr lang="en-US" dirty="0" err="1">
                <a:effectLst/>
              </a:rPr>
              <a:t>facilisi</a:t>
            </a:r>
            <a:r>
              <a:rPr lang="en-US" dirty="0">
                <a:effectLst/>
              </a:rPr>
              <a:t>. Donec lacinia </a:t>
            </a:r>
            <a:r>
              <a:rPr lang="en-US" dirty="0" err="1">
                <a:effectLst/>
              </a:rPr>
              <a:t>sapien</a:t>
            </a:r>
            <a:r>
              <a:rPr lang="en-US" dirty="0">
                <a:effectLst/>
              </a:rPr>
              <a:t> libero, sed </a:t>
            </a:r>
            <a:r>
              <a:rPr lang="en-US" dirty="0" err="1">
                <a:effectLst/>
              </a:rPr>
              <a:t>elementum</a:t>
            </a:r>
            <a:r>
              <a:rPr lang="en-US" dirty="0">
                <a:effectLst/>
              </a:rPr>
              <a:t> ante </a:t>
            </a:r>
            <a:r>
              <a:rPr lang="en-US" dirty="0" err="1">
                <a:effectLst/>
              </a:rPr>
              <a:t>finibus</a:t>
            </a:r>
            <a:r>
              <a:rPr lang="en-US" dirty="0">
                <a:effectLst/>
              </a:rPr>
              <a:t>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32" name="Текст 29">
            <a:extLst>
              <a:ext uri="{FF2B5EF4-FFF2-40B4-BE49-F238E27FC236}">
                <a16:creationId xmlns:a16="http://schemas.microsoft.com/office/drawing/2014/main" id="{65027142-78A9-9419-FA5E-B8D5716F38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505763" y="3553831"/>
            <a:ext cx="3330576" cy="1387111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consectetur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elit</a:t>
            </a:r>
            <a:r>
              <a:rPr lang="en-US" dirty="0">
                <a:effectLst/>
              </a:rPr>
              <a:t>. Nulla a ante magna.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effectLst/>
              </a:rPr>
              <a:t>Fusce</a:t>
            </a:r>
            <a:r>
              <a:rPr lang="en-US" dirty="0">
                <a:effectLst/>
              </a:rPr>
              <a:t> in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cursus, </a:t>
            </a:r>
            <a:r>
              <a:rPr lang="en-US" dirty="0" err="1">
                <a:effectLst/>
              </a:rPr>
              <a:t>facilisis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mauris</a:t>
            </a:r>
            <a:r>
              <a:rPr lang="en-US" dirty="0">
                <a:effectLst/>
              </a:rPr>
              <a:t> a,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enim</a:t>
            </a:r>
            <a:r>
              <a:rPr lang="en-US" dirty="0">
                <a:effectLst/>
              </a:rPr>
              <a:t>. Morbi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ultrices</a:t>
            </a:r>
            <a:r>
              <a:rPr lang="en-US" dirty="0">
                <a:effectLst/>
              </a:rPr>
              <a:t> ipsum. Maecenas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ante </a:t>
            </a:r>
            <a:r>
              <a:rPr lang="en-US" dirty="0" err="1">
                <a:effectLst/>
              </a:rPr>
              <a:t>nibh</a:t>
            </a:r>
            <a:r>
              <a:rPr lang="en-US" dirty="0">
                <a:effectLst/>
              </a:rPr>
              <a:t>, sed tempus </a:t>
            </a:r>
            <a:r>
              <a:rPr lang="en-US" dirty="0" err="1">
                <a:effectLst/>
              </a:rPr>
              <a:t>odio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ut.</a:t>
            </a:r>
            <a:r>
              <a:rPr lang="en-US" dirty="0">
                <a:effectLst/>
              </a:rPr>
              <a:t> Class </a:t>
            </a:r>
            <a:r>
              <a:rPr lang="en-US" dirty="0" err="1">
                <a:effectLst/>
              </a:rPr>
              <a:t>aptent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taciti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sociosqu</a:t>
            </a:r>
            <a:r>
              <a:rPr lang="en-US" dirty="0">
                <a:effectLst/>
              </a:rPr>
              <a:t> ad </a:t>
            </a:r>
            <a:r>
              <a:rPr lang="en-US" dirty="0" err="1">
                <a:effectLst/>
              </a:rPr>
              <a:t>litora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torquent</a:t>
            </a:r>
            <a:r>
              <a:rPr lang="en-US" dirty="0">
                <a:effectLst/>
              </a:rPr>
              <a:t> per </a:t>
            </a:r>
            <a:r>
              <a:rPr lang="en-US" dirty="0" err="1">
                <a:effectLst/>
              </a:rPr>
              <a:t>conubia</a:t>
            </a:r>
            <a:r>
              <a:rPr lang="en-US" dirty="0">
                <a:effectLst/>
              </a:rPr>
              <a:t> nostra, per </a:t>
            </a:r>
            <a:r>
              <a:rPr lang="en-US" dirty="0" err="1">
                <a:effectLst/>
              </a:rPr>
              <a:t>inceptos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himenaeos</a:t>
            </a:r>
            <a:r>
              <a:rPr lang="en-US" dirty="0">
                <a:effectLst/>
              </a:rPr>
              <a:t>. Nulla </a:t>
            </a:r>
            <a:r>
              <a:rPr lang="en-US" dirty="0" err="1">
                <a:effectLst/>
              </a:rPr>
              <a:t>posuere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interdum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eleifend</a:t>
            </a:r>
            <a:r>
              <a:rPr lang="en-US" dirty="0">
                <a:effectLst/>
              </a:rPr>
              <a:t>. Morbi </a:t>
            </a:r>
            <a:r>
              <a:rPr lang="en-US" dirty="0" err="1">
                <a:effectLst/>
              </a:rPr>
              <a:t>sagittis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at </a:t>
            </a:r>
            <a:r>
              <a:rPr lang="en-US" dirty="0" err="1">
                <a:effectLst/>
              </a:rPr>
              <a:t>odio</a:t>
            </a:r>
            <a:r>
              <a:rPr lang="en-US" dirty="0">
                <a:effectLst/>
              </a:rPr>
              <a:t> ornare vestibulum. Sed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mi, </a:t>
            </a:r>
            <a:r>
              <a:rPr lang="en-US" dirty="0" err="1">
                <a:effectLst/>
              </a:rPr>
              <a:t>vehicula</a:t>
            </a:r>
            <a:r>
              <a:rPr lang="en-US" dirty="0">
                <a:effectLst/>
              </a:rPr>
              <a:t> id ipsum a, </a:t>
            </a:r>
            <a:r>
              <a:rPr lang="en-US" dirty="0" err="1">
                <a:effectLst/>
              </a:rPr>
              <a:t>sagittis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interdum</a:t>
            </a:r>
            <a:r>
              <a:rPr lang="en-US" dirty="0">
                <a:effectLst/>
              </a:rPr>
              <a:t> sem. </a:t>
            </a:r>
            <a:endParaRPr lang="ru-RU" dirty="0"/>
          </a:p>
        </p:txBody>
      </p:sp>
      <p:sp>
        <p:nvSpPr>
          <p:cNvPr id="34" name="Текст 29">
            <a:extLst>
              <a:ext uri="{FF2B5EF4-FFF2-40B4-BE49-F238E27FC236}">
                <a16:creationId xmlns:a16="http://schemas.microsoft.com/office/drawing/2014/main" id="{2C1B3127-565A-1FE5-3CEF-A17A38147E4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505763" y="5216289"/>
            <a:ext cx="3330576" cy="694614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consectetur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elit</a:t>
            </a:r>
            <a:r>
              <a:rPr lang="en-US" dirty="0">
                <a:effectLst/>
              </a:rPr>
              <a:t>. Nulla a ante magna.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effectLst/>
              </a:rPr>
              <a:t>reated</a:t>
            </a:r>
            <a:r>
              <a:rPr lang="en-US" dirty="0">
                <a:effectLst/>
              </a:rPr>
              <a:t> under the laws of England, for provision of all central services, managing new investments, etc.</a:t>
            </a:r>
            <a:endParaRPr lang="ru-RU" dirty="0"/>
          </a:p>
        </p:txBody>
      </p:sp>
      <p:sp>
        <p:nvSpPr>
          <p:cNvPr id="36" name="Текст 29">
            <a:extLst>
              <a:ext uri="{FF2B5EF4-FFF2-40B4-BE49-F238E27FC236}">
                <a16:creationId xmlns:a16="http://schemas.microsoft.com/office/drawing/2014/main" id="{14CECDF0-0016-0077-CF2D-9FBA2A69041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216226" y="3553831"/>
            <a:ext cx="360000" cy="140616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2"/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01</a:t>
            </a:r>
            <a:endParaRPr lang="ru-RU" dirty="0"/>
          </a:p>
        </p:txBody>
      </p:sp>
      <p:sp>
        <p:nvSpPr>
          <p:cNvPr id="38" name="Текст 29">
            <a:extLst>
              <a:ext uri="{FF2B5EF4-FFF2-40B4-BE49-F238E27FC236}">
                <a16:creationId xmlns:a16="http://schemas.microsoft.com/office/drawing/2014/main" id="{E92370E5-752C-E847-1F90-097959DE2D1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077158" y="3553831"/>
            <a:ext cx="360000" cy="140616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2"/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02</a:t>
            </a:r>
            <a:endParaRPr lang="ru-RU" dirty="0"/>
          </a:p>
        </p:txBody>
      </p:sp>
      <p:sp>
        <p:nvSpPr>
          <p:cNvPr id="39" name="Текст 29">
            <a:extLst>
              <a:ext uri="{FF2B5EF4-FFF2-40B4-BE49-F238E27FC236}">
                <a16:creationId xmlns:a16="http://schemas.microsoft.com/office/drawing/2014/main" id="{DB0F45F2-6FC1-B46F-FF61-5FCD949E920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077158" y="5216289"/>
            <a:ext cx="360000" cy="140616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2"/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03</a:t>
            </a:r>
            <a:endParaRPr lang="ru-RU" dirty="0"/>
          </a:p>
        </p:txBody>
      </p:sp>
      <p:sp>
        <p:nvSpPr>
          <p:cNvPr id="51" name="Текст 58">
            <a:extLst>
              <a:ext uri="{FF2B5EF4-FFF2-40B4-BE49-F238E27FC236}">
                <a16:creationId xmlns:a16="http://schemas.microsoft.com/office/drawing/2014/main" id="{24BB132E-C929-510B-6B2B-B135CF019E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26284" y="2057400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2" name="Текст 58">
            <a:extLst>
              <a:ext uri="{FF2B5EF4-FFF2-40B4-BE49-F238E27FC236}">
                <a16:creationId xmlns:a16="http://schemas.microsoft.com/office/drawing/2014/main" id="{ADB522BC-8DD6-3D6C-B2D4-9661416A075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820119" y="2057400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3" name="Текст 58">
            <a:extLst>
              <a:ext uri="{FF2B5EF4-FFF2-40B4-BE49-F238E27FC236}">
                <a16:creationId xmlns:a16="http://schemas.microsoft.com/office/drawing/2014/main" id="{BACE5E83-1F72-F39A-ECC8-BE72E2AB037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820119" y="2574544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4" name="Текст 58">
            <a:extLst>
              <a:ext uri="{FF2B5EF4-FFF2-40B4-BE49-F238E27FC236}">
                <a16:creationId xmlns:a16="http://schemas.microsoft.com/office/drawing/2014/main" id="{F9B2EA73-F56A-BFA3-F310-F4B916398F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318231" y="2057400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5" name="Текст 58">
            <a:extLst>
              <a:ext uri="{FF2B5EF4-FFF2-40B4-BE49-F238E27FC236}">
                <a16:creationId xmlns:a16="http://schemas.microsoft.com/office/drawing/2014/main" id="{5D940984-BC5A-92DE-BDAD-5584162E8651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326284" y="2574544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6" name="Текст 58">
            <a:extLst>
              <a:ext uri="{FF2B5EF4-FFF2-40B4-BE49-F238E27FC236}">
                <a16:creationId xmlns:a16="http://schemas.microsoft.com/office/drawing/2014/main" id="{D0D8E86B-C210-1221-612E-07B75709867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318231" y="2574544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1AB8E0-442D-D05C-F59D-D61069CE19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2007E13B-D96A-27F1-D317-BC9B10CC41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92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97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иаграмм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иаграмма 8">
            <a:extLst>
              <a:ext uri="{FF2B5EF4-FFF2-40B4-BE49-F238E27FC236}">
                <a16:creationId xmlns:a16="http://schemas.microsoft.com/office/drawing/2014/main" id="{5DD92E42-C938-CCCD-08E2-BF04348A2630}"/>
              </a:ext>
            </a:extLst>
          </p:cNvPr>
          <p:cNvSpPr>
            <a:spLocks noGrp="1"/>
          </p:cNvSpPr>
          <p:nvPr>
            <p:ph type="chart" sz="quarter" idx="54"/>
          </p:nvPr>
        </p:nvSpPr>
        <p:spPr>
          <a:xfrm>
            <a:off x="4223788" y="1160463"/>
            <a:ext cx="3744425" cy="2214563"/>
          </a:xfrm>
        </p:spPr>
        <p:txBody>
          <a:bodyPr/>
          <a:lstStyle/>
          <a:p>
            <a:r>
              <a:rPr lang="ru-RU"/>
              <a:t>Вставка диаграммы</a:t>
            </a:r>
            <a:endParaRPr lang="ru-RU" dirty="0"/>
          </a:p>
        </p:txBody>
      </p:sp>
      <p:sp>
        <p:nvSpPr>
          <p:cNvPr id="10" name="Диаграмма 8">
            <a:extLst>
              <a:ext uri="{FF2B5EF4-FFF2-40B4-BE49-F238E27FC236}">
                <a16:creationId xmlns:a16="http://schemas.microsoft.com/office/drawing/2014/main" id="{8B14D65E-DDAD-6290-C2EA-9E35228DECB9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8082770" y="1160463"/>
            <a:ext cx="3744425" cy="2214563"/>
          </a:xfrm>
        </p:spPr>
        <p:txBody>
          <a:bodyPr/>
          <a:lstStyle/>
          <a:p>
            <a:r>
              <a:rPr lang="ru-RU"/>
              <a:t>Вставка диаграммы</a:t>
            </a:r>
          </a:p>
        </p:txBody>
      </p:sp>
      <p:sp>
        <p:nvSpPr>
          <p:cNvPr id="12" name="Диаграмма 8">
            <a:extLst>
              <a:ext uri="{FF2B5EF4-FFF2-40B4-BE49-F238E27FC236}">
                <a16:creationId xmlns:a16="http://schemas.microsoft.com/office/drawing/2014/main" id="{17EB0F9F-3667-243F-FE8D-3C4DC7B3EBB4}"/>
              </a:ext>
            </a:extLst>
          </p:cNvPr>
          <p:cNvSpPr>
            <a:spLocks noGrp="1"/>
          </p:cNvSpPr>
          <p:nvPr>
            <p:ph type="chart" sz="quarter" idx="56"/>
          </p:nvPr>
        </p:nvSpPr>
        <p:spPr>
          <a:xfrm>
            <a:off x="4223788" y="3710965"/>
            <a:ext cx="3744425" cy="2214563"/>
          </a:xfrm>
        </p:spPr>
        <p:txBody>
          <a:bodyPr/>
          <a:lstStyle/>
          <a:p>
            <a:r>
              <a:rPr lang="ru-RU"/>
              <a:t>Вставка диаграммы</a:t>
            </a:r>
            <a:endParaRPr lang="ru-RU" dirty="0"/>
          </a:p>
        </p:txBody>
      </p:sp>
      <p:sp>
        <p:nvSpPr>
          <p:cNvPr id="13" name="Диаграмма 8">
            <a:extLst>
              <a:ext uri="{FF2B5EF4-FFF2-40B4-BE49-F238E27FC236}">
                <a16:creationId xmlns:a16="http://schemas.microsoft.com/office/drawing/2014/main" id="{508D202C-6578-645E-1683-D918D430E435}"/>
              </a:ext>
            </a:extLst>
          </p:cNvPr>
          <p:cNvSpPr>
            <a:spLocks noGrp="1"/>
          </p:cNvSpPr>
          <p:nvPr>
            <p:ph type="chart" sz="quarter" idx="57"/>
          </p:nvPr>
        </p:nvSpPr>
        <p:spPr>
          <a:xfrm>
            <a:off x="8082770" y="3710965"/>
            <a:ext cx="3744425" cy="2214563"/>
          </a:xfrm>
        </p:spPr>
        <p:txBody>
          <a:bodyPr/>
          <a:lstStyle/>
          <a:p>
            <a:r>
              <a:rPr lang="ru-RU"/>
              <a:t>Вставка диаграммы</a:t>
            </a:r>
          </a:p>
        </p:txBody>
      </p:sp>
      <p:sp>
        <p:nvSpPr>
          <p:cNvPr id="17" name="Номер слайда 5">
            <a:extLst>
              <a:ext uri="{FF2B5EF4-FFF2-40B4-BE49-F238E27FC236}">
                <a16:creationId xmlns:a16="http://schemas.microsoft.com/office/drawing/2014/main" id="{3DF344B6-97A4-6C45-CCB0-5E872571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75006A28-F25D-513F-2D38-966040A78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Графики и диаграммы</a:t>
            </a:r>
            <a:endParaRPr lang="ru-RU" dirty="0"/>
          </a:p>
        </p:txBody>
      </p:sp>
      <p:sp>
        <p:nvSpPr>
          <p:cNvPr id="19" name="Shape 29">
            <a:extLst>
              <a:ext uri="{FF2B5EF4-FFF2-40B4-BE49-F238E27FC236}">
                <a16:creationId xmlns:a16="http://schemas.microsoft.com/office/drawing/2014/main" id="{3C1D2796-316E-37FC-1876-BCB7BEA364BB}"/>
              </a:ext>
            </a:extLst>
          </p:cNvPr>
          <p:cNvSpPr/>
          <p:nvPr userDrawn="1"/>
        </p:nvSpPr>
        <p:spPr>
          <a:xfrm>
            <a:off x="355598" y="876300"/>
            <a:ext cx="3759181" cy="561594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20" name="Текст 29">
            <a:extLst>
              <a:ext uri="{FF2B5EF4-FFF2-40B4-BE49-F238E27FC236}">
                <a16:creationId xmlns:a16="http://schemas.microsoft.com/office/drawing/2014/main" id="{EF0015DC-AB47-DA49-409A-73A4547921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1086478"/>
            <a:ext cx="3384000" cy="4924425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9F892C-65DB-B4BF-FBB9-0CCCE34766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E08C9975-6093-4431-522E-2D6F5E0C08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5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вые клиенты H1 202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038D9D3E-489B-B65D-4FBF-5D845DEA27F5}"/>
              </a:ext>
            </a:extLst>
          </p:cNvPr>
          <p:cNvSpPr/>
          <p:nvPr userDrawn="1"/>
        </p:nvSpPr>
        <p:spPr>
          <a:xfrm>
            <a:off x="355598" y="1491226"/>
            <a:ext cx="3759181" cy="4998474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91613426-CF9D-DFBF-5C63-E78E89C5B9CC}"/>
              </a:ext>
            </a:extLst>
          </p:cNvPr>
          <p:cNvSpPr/>
          <p:nvPr userDrawn="1"/>
        </p:nvSpPr>
        <p:spPr>
          <a:xfrm>
            <a:off x="340358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37" name="Image 1" descr=" ">
            <a:extLst>
              <a:ext uri="{FF2B5EF4-FFF2-40B4-BE49-F238E27FC236}">
                <a16:creationId xmlns:a16="http://schemas.microsoft.com/office/drawing/2014/main" id="{E7789BBB-A29C-F35B-9128-F1B587A9F9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2" y="1752600"/>
            <a:ext cx="304798" cy="304800"/>
          </a:xfrm>
          <a:prstGeom prst="rect">
            <a:avLst/>
          </a:prstGeom>
        </p:spPr>
      </p:pic>
      <p:sp>
        <p:nvSpPr>
          <p:cNvPr id="41" name="Shape 11">
            <a:extLst>
              <a:ext uri="{FF2B5EF4-FFF2-40B4-BE49-F238E27FC236}">
                <a16:creationId xmlns:a16="http://schemas.microsoft.com/office/drawing/2014/main" id="{08E8B083-D75C-F0CA-4276-F068B93E12D3}"/>
              </a:ext>
            </a:extLst>
          </p:cNvPr>
          <p:cNvSpPr/>
          <p:nvPr userDrawn="1"/>
        </p:nvSpPr>
        <p:spPr>
          <a:xfrm>
            <a:off x="4216378" y="203200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E4A0ADE1-1C0F-CFAA-A42D-4F83F37DFC19}"/>
              </a:ext>
            </a:extLst>
          </p:cNvPr>
          <p:cNvSpPr/>
          <p:nvPr userDrawn="1"/>
        </p:nvSpPr>
        <p:spPr>
          <a:xfrm>
            <a:off x="4216378" y="411480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642F6A77-B22B-CDCA-DA35-117F5D577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6FD27EC5-05DF-E4A3-649A-CAA51A84F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13" name="Текст 43">
            <a:extLst>
              <a:ext uri="{FF2B5EF4-FFF2-40B4-BE49-F238E27FC236}">
                <a16:creationId xmlns:a16="http://schemas.microsoft.com/office/drawing/2014/main" id="{F098932C-6519-DAD4-A969-EE24F7997F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732" y="1711184"/>
            <a:ext cx="2737287" cy="446532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/>
            </a:lvl1pPr>
          </a:lstStyle>
          <a:p>
            <a:pPr lvl="0"/>
            <a:r>
              <a:rPr lang="ru-RU" dirty="0">
                <a:effectLst/>
              </a:rPr>
              <a:t>Новые клиенты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за </a:t>
            </a:r>
            <a:r>
              <a:rPr lang="en-US" dirty="0">
                <a:effectLst/>
              </a:rPr>
              <a:t>H1 2025</a:t>
            </a:r>
            <a:endParaRPr lang="ru-RU" dirty="0"/>
          </a:p>
        </p:txBody>
      </p:sp>
      <p:sp>
        <p:nvSpPr>
          <p:cNvPr id="14" name="Текст 61">
            <a:extLst>
              <a:ext uri="{FF2B5EF4-FFF2-40B4-BE49-F238E27FC236}">
                <a16:creationId xmlns:a16="http://schemas.microsoft.com/office/drawing/2014/main" id="{F1E61C92-26BD-3185-601B-C90E5E9BA6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14660" y="4238741"/>
            <a:ext cx="6746790" cy="769441"/>
          </a:xfrm>
        </p:spPr>
        <p:txBody>
          <a:bodyPr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15" name="Текст 61">
            <a:extLst>
              <a:ext uri="{FF2B5EF4-FFF2-40B4-BE49-F238E27FC236}">
                <a16:creationId xmlns:a16="http://schemas.microsoft.com/office/drawing/2014/main" id="{8E67557D-CA08-5D37-B903-D85CA48904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14660" y="2116434"/>
            <a:ext cx="6746790" cy="769441"/>
          </a:xfrm>
        </p:spPr>
        <p:txBody>
          <a:bodyPr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16" name="Текст 25">
            <a:extLst>
              <a:ext uri="{FF2B5EF4-FFF2-40B4-BE49-F238E27FC236}">
                <a16:creationId xmlns:a16="http://schemas.microsoft.com/office/drawing/2014/main" id="{5800E682-B42C-414E-ED64-9A15C5168D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16400" y="1656186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9C235963-F00F-7DBE-0484-CF2FEA57020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16400" y="3755705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Текст 29">
            <a:extLst>
              <a:ext uri="{FF2B5EF4-FFF2-40B4-BE49-F238E27FC236}">
                <a16:creationId xmlns:a16="http://schemas.microsoft.com/office/drawing/2014/main" id="{E2F7EAA6-F2AC-FA9A-746E-45C21EB649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2826756"/>
            <a:ext cx="3384000" cy="2154436"/>
          </a:xfrm>
        </p:spPr>
        <p:txBody>
          <a:bodyPr/>
          <a:lstStyle>
            <a:lvl1pPr marL="144000" indent="-144000">
              <a:lnSpc>
                <a:spcPts val="12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 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  <a:endParaRPr lang="ru-RU" dirty="0">
              <a:effectLst/>
            </a:endParaRPr>
          </a:p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 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  <a:endParaRPr lang="ru-RU" dirty="0">
              <a:effectLst/>
            </a:endParaRPr>
          </a:p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 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4F7413-5908-0DBD-D916-94CD57D9E5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FCDD6C4A-2096-8392-96C1-CA10F3B89E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23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и описание в 3 колонки с выно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764213A-89F4-48C0-76BB-F31B273C47B6}"/>
              </a:ext>
            </a:extLst>
          </p:cNvPr>
          <p:cNvSpPr/>
          <p:nvPr userDrawn="1"/>
        </p:nvSpPr>
        <p:spPr>
          <a:xfrm>
            <a:off x="353967" y="4545013"/>
            <a:ext cx="3760812" cy="19446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8F45E77-1898-4EFB-BA2F-735694A6EC6E}"/>
              </a:ext>
            </a:extLst>
          </p:cNvPr>
          <p:cNvSpPr/>
          <p:nvPr userDrawn="1"/>
        </p:nvSpPr>
        <p:spPr>
          <a:xfrm>
            <a:off x="4223788" y="4545013"/>
            <a:ext cx="7599494" cy="19446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 dirty="0"/>
          </a:p>
        </p:txBody>
      </p:sp>
      <p:sp>
        <p:nvSpPr>
          <p:cNvPr id="17" name="Рисунок 24">
            <a:extLst>
              <a:ext uri="{FF2B5EF4-FFF2-40B4-BE49-F238E27FC236}">
                <a16:creationId xmlns:a16="http://schemas.microsoft.com/office/drawing/2014/main" id="{55099183-3153-0E77-8EAF-72FB5FE0D5A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6398" y="4570382"/>
            <a:ext cx="1879937" cy="1881219"/>
          </a:xfr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FF5F553E-42A1-0EFA-A675-5B406ADC3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080CCA7-5C01-6121-AF78-008A9B32A3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5AC2A8E-3E8F-31B9-58A1-5F4208993BAC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F6AC934-4FA2-043D-EDAB-77BCBD02D850}"/>
              </a:ext>
            </a:extLst>
          </p:cNvPr>
          <p:cNvSpPr/>
          <p:nvPr userDrawn="1"/>
        </p:nvSpPr>
        <p:spPr>
          <a:xfrm>
            <a:off x="421637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1D0128C-2C70-B710-8186-204789EC997B}"/>
              </a:ext>
            </a:extLst>
          </p:cNvPr>
          <p:cNvSpPr/>
          <p:nvPr userDrawn="1"/>
        </p:nvSpPr>
        <p:spPr>
          <a:xfrm>
            <a:off x="807715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4" name="Текст 25">
            <a:extLst>
              <a:ext uri="{FF2B5EF4-FFF2-40B4-BE49-F238E27FC236}">
                <a16:creationId xmlns:a16="http://schemas.microsoft.com/office/drawing/2014/main" id="{8FC54FA0-88B5-8384-268A-3F0BEADC9B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61">
            <a:extLst>
              <a:ext uri="{FF2B5EF4-FFF2-40B4-BE49-F238E27FC236}">
                <a16:creationId xmlns:a16="http://schemas.microsoft.com/office/drawing/2014/main" id="{38AA1780-9043-5414-A7A6-5A5628A2DC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66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0" name="Текст 61">
            <a:extLst>
              <a:ext uri="{FF2B5EF4-FFF2-40B4-BE49-F238E27FC236}">
                <a16:creationId xmlns:a16="http://schemas.microsoft.com/office/drawing/2014/main" id="{36A8816C-A6D6-414B-6AA6-AB62814B51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1" name="Текст 25">
            <a:extLst>
              <a:ext uri="{FF2B5EF4-FFF2-40B4-BE49-F238E27FC236}">
                <a16:creationId xmlns:a16="http://schemas.microsoft.com/office/drawing/2014/main" id="{82A0C0EE-EF37-87BF-B8FA-91025D6A3CB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1839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D8F5EDF7-4FAD-E0CB-9935-A2E06C18C33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1637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CDC9A13C-50E3-5381-79B9-307D2EF3D61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6" name="Текст 25">
            <a:extLst>
              <a:ext uri="{FF2B5EF4-FFF2-40B4-BE49-F238E27FC236}">
                <a16:creationId xmlns:a16="http://schemas.microsoft.com/office/drawing/2014/main" id="{AF0D1464-C85D-1207-6F12-1EFF126CFF7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7" name="Текст 61">
            <a:extLst>
              <a:ext uri="{FF2B5EF4-FFF2-40B4-BE49-F238E27FC236}">
                <a16:creationId xmlns:a16="http://schemas.microsoft.com/office/drawing/2014/main" id="{5EF6DBB8-158A-20A4-36C0-B6F5F88A010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075142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8" name="Текст 61">
            <a:extLst>
              <a:ext uri="{FF2B5EF4-FFF2-40B4-BE49-F238E27FC236}">
                <a16:creationId xmlns:a16="http://schemas.microsoft.com/office/drawing/2014/main" id="{07BF93D0-526F-97E3-B12C-AFE387BFEBD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77003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41" name="Текст 61">
            <a:extLst>
              <a:ext uri="{FF2B5EF4-FFF2-40B4-BE49-F238E27FC236}">
                <a16:creationId xmlns:a16="http://schemas.microsoft.com/office/drawing/2014/main" id="{923F4687-5041-6F01-FD83-BDD49822C51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66228" y="4707296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2" name="Текст 61">
            <a:extLst>
              <a:ext uri="{FF2B5EF4-FFF2-40B4-BE49-F238E27FC236}">
                <a16:creationId xmlns:a16="http://schemas.microsoft.com/office/drawing/2014/main" id="{14B5AAEE-5D98-9C8A-A30C-0CD69E57471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68088" y="5007928"/>
            <a:ext cx="7309069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46" name="Текст 45">
            <a:extLst>
              <a:ext uri="{FF2B5EF4-FFF2-40B4-BE49-F238E27FC236}">
                <a16:creationId xmlns:a16="http://schemas.microsoft.com/office/drawing/2014/main" id="{CE7935F0-8541-84E6-0869-2521C5A7D7B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286000" y="5853435"/>
            <a:ext cx="1666875" cy="444865"/>
          </a:xfrm>
        </p:spPr>
        <p:txBody>
          <a:bodyPr anchor="b">
            <a:spAutoFit/>
          </a:bodyPr>
          <a:lstStyle>
            <a:lvl1pPr>
              <a:lnSpc>
                <a:spcPct val="90000"/>
              </a:lnSpc>
              <a:defRPr sz="800">
                <a:latin typeface="+mn-lt"/>
              </a:defRPr>
            </a:lvl1pPr>
            <a:lvl2pPr>
              <a:lnSpc>
                <a:spcPct val="90000"/>
              </a:lnSpc>
              <a:defRPr sz="800"/>
            </a:lvl2pPr>
            <a:lvl3pPr>
              <a:lnSpc>
                <a:spcPct val="90000"/>
              </a:lnSpc>
              <a:defRPr sz="800"/>
            </a:lvl3pPr>
            <a:lvl4pPr>
              <a:lnSpc>
                <a:spcPct val="90000"/>
              </a:lnSpc>
              <a:defRPr sz="800"/>
            </a:lvl4pPr>
            <a:lvl5pPr>
              <a:lnSpc>
                <a:spcPct val="90000"/>
              </a:lnSpc>
              <a:defRPr sz="800"/>
            </a:lvl5pPr>
          </a:lstStyle>
          <a:p>
            <a:pPr lvl="0"/>
            <a:r>
              <a:rPr lang="ru-RU" dirty="0">
                <a:effectLst/>
              </a:rPr>
              <a:t>Здесь должен быть ваш текст: он может быть кратким или развернутым — занимающим несколько строк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6E6E48-904C-09EA-AD92-1D712ABA08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A95B1FC-FE8E-A614-86CA-858E2E60EB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6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42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писани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1772EE1-9C1A-3207-D2A3-8E01B4234045}"/>
              </a:ext>
            </a:extLst>
          </p:cNvPr>
          <p:cNvSpPr/>
          <p:nvPr userDrawn="1"/>
        </p:nvSpPr>
        <p:spPr>
          <a:xfrm>
            <a:off x="355599" y="2229879"/>
            <a:ext cx="7619960" cy="863600"/>
          </a:xfrm>
          <a:prstGeom prst="rect">
            <a:avLst/>
          </a:prstGeom>
          <a:noFill/>
          <a:ln/>
        </p:spPr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59B59F35-470A-A121-4823-47C1DFD7B696}"/>
              </a:ext>
            </a:extLst>
          </p:cNvPr>
          <p:cNvSpPr/>
          <p:nvPr userDrawn="1"/>
        </p:nvSpPr>
        <p:spPr>
          <a:xfrm>
            <a:off x="7162763" y="5689600"/>
            <a:ext cx="1574792" cy="419100"/>
          </a:xfrm>
          <a:prstGeom prst="rect">
            <a:avLst/>
          </a:prstGeom>
          <a:noFill/>
          <a:ln/>
        </p:spPr>
      </p:sp>
      <p:sp>
        <p:nvSpPr>
          <p:cNvPr id="83" name="Shape 32">
            <a:extLst>
              <a:ext uri="{FF2B5EF4-FFF2-40B4-BE49-F238E27FC236}">
                <a16:creationId xmlns:a16="http://schemas.microsoft.com/office/drawing/2014/main" id="{2DB4D3F7-0A1C-CBF6-FC1E-9BCD4604EBF0}"/>
              </a:ext>
            </a:extLst>
          </p:cNvPr>
          <p:cNvSpPr/>
          <p:nvPr userDrawn="1"/>
        </p:nvSpPr>
        <p:spPr>
          <a:xfrm>
            <a:off x="9042353" y="4368800"/>
            <a:ext cx="2793985" cy="2133600"/>
          </a:xfrm>
          <a:prstGeom prst="rect">
            <a:avLst/>
          </a:prstGeom>
          <a:solidFill>
            <a:srgbClr val="FAE6E9"/>
          </a:solidFill>
          <a:ln/>
        </p:spPr>
      </p:sp>
      <p:sp>
        <p:nvSpPr>
          <p:cNvPr id="85" name="Shape 34">
            <a:extLst>
              <a:ext uri="{FF2B5EF4-FFF2-40B4-BE49-F238E27FC236}">
                <a16:creationId xmlns:a16="http://schemas.microsoft.com/office/drawing/2014/main" id="{2BBEED21-8EA6-E5B8-5A22-C99DEB7ACB91}"/>
              </a:ext>
            </a:extLst>
          </p:cNvPr>
          <p:cNvSpPr/>
          <p:nvPr userDrawn="1"/>
        </p:nvSpPr>
        <p:spPr>
          <a:xfrm>
            <a:off x="11480740" y="4440973"/>
            <a:ext cx="304798" cy="3048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86" name="Image 17" descr=" ">
            <a:extLst>
              <a:ext uri="{FF2B5EF4-FFF2-40B4-BE49-F238E27FC236}">
                <a16:creationId xmlns:a16="http://schemas.microsoft.com/office/drawing/2014/main" id="{60EE58E8-DEE0-0B00-136C-FC4869202C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9800" y="4540043"/>
            <a:ext cx="106680" cy="106685"/>
          </a:xfrm>
          <a:prstGeom prst="rect">
            <a:avLst/>
          </a:prstGeom>
        </p:spPr>
      </p:pic>
      <p:sp>
        <p:nvSpPr>
          <p:cNvPr id="103" name="Shape 6">
            <a:extLst>
              <a:ext uri="{FF2B5EF4-FFF2-40B4-BE49-F238E27FC236}">
                <a16:creationId xmlns:a16="http://schemas.microsoft.com/office/drawing/2014/main" id="{311840BE-06E8-231C-FF15-BA55928082D4}"/>
              </a:ext>
            </a:extLst>
          </p:cNvPr>
          <p:cNvSpPr/>
          <p:nvPr userDrawn="1"/>
        </p:nvSpPr>
        <p:spPr>
          <a:xfrm>
            <a:off x="355598" y="1999755"/>
            <a:ext cx="858515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F7F8AA0-94B2-EDC5-622A-497E44D4DCB1}"/>
              </a:ext>
            </a:extLst>
          </p:cNvPr>
          <p:cNvSpPr/>
          <p:nvPr userDrawn="1"/>
        </p:nvSpPr>
        <p:spPr>
          <a:xfrm>
            <a:off x="9042353" y="2000250"/>
            <a:ext cx="279398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2" name="Текст 20">
            <a:extLst>
              <a:ext uri="{FF2B5EF4-FFF2-40B4-BE49-F238E27FC236}">
                <a16:creationId xmlns:a16="http://schemas.microsoft.com/office/drawing/2014/main" id="{8AD5E556-BF97-C9B0-3523-1A2CC4C0F3C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204669" y="2446260"/>
            <a:ext cx="2743636" cy="710407"/>
          </a:xfrm>
        </p:spPr>
        <p:txBody>
          <a:bodyPr>
            <a:noAutofit/>
          </a:bodyPr>
          <a:lstStyle>
            <a:lvl1pPr marL="0" indent="0">
              <a:buNone/>
              <a:defRPr sz="5999">
                <a:latin typeface="+mn-lt"/>
              </a:defRPr>
            </a:lvl1pPr>
            <a:lvl2pPr marL="228554" indent="0">
              <a:buNone/>
              <a:defRPr sz="5999"/>
            </a:lvl2pPr>
            <a:lvl3pPr marL="457109" indent="0">
              <a:buNone/>
              <a:defRPr sz="5999"/>
            </a:lvl3pPr>
            <a:lvl4pPr marL="685663" indent="0">
              <a:buNone/>
              <a:defRPr sz="5999"/>
            </a:lvl4pPr>
            <a:lvl5pPr marL="914217" indent="0">
              <a:buNone/>
              <a:defRPr sz="5999"/>
            </a:lvl5pPr>
          </a:lstStyle>
          <a:p>
            <a:pPr lvl="0"/>
            <a:r>
              <a:rPr lang="ru-RU" dirty="0"/>
              <a:t>+ХХХ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416FA400-4E54-E935-6AC4-7061BCE3B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58B9F65-2DBC-EDA3-A4C8-A9112E97A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14" name="Текст 25">
            <a:extLst>
              <a:ext uri="{FF2B5EF4-FFF2-40B4-BE49-F238E27FC236}">
                <a16:creationId xmlns:a16="http://schemas.microsoft.com/office/drawing/2014/main" id="{239C1029-D717-5338-81A6-4A6E6A849D2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Текст 61">
            <a:extLst>
              <a:ext uri="{FF2B5EF4-FFF2-40B4-BE49-F238E27FC236}">
                <a16:creationId xmlns:a16="http://schemas.microsoft.com/office/drawing/2014/main" id="{DE83B4BE-CF9A-250E-1E1F-E51098E5F0C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66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16" name="Текст 61">
            <a:extLst>
              <a:ext uri="{FF2B5EF4-FFF2-40B4-BE49-F238E27FC236}">
                <a16:creationId xmlns:a16="http://schemas.microsoft.com/office/drawing/2014/main" id="{6A883BD0-81A7-8BF9-EBAF-759529552AF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2571414"/>
            <a:ext cx="7550500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20" name="Текст 61">
            <a:extLst>
              <a:ext uri="{FF2B5EF4-FFF2-40B4-BE49-F238E27FC236}">
                <a16:creationId xmlns:a16="http://schemas.microsoft.com/office/drawing/2014/main" id="{BE551C4B-7532-0FF6-B854-1B9BC751FE9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187647" y="3242047"/>
            <a:ext cx="291104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Здесь должен быть ваш текст </a:t>
            </a:r>
            <a:br>
              <a:rPr lang="ru-RU" dirty="0"/>
            </a:br>
            <a:r>
              <a:rPr lang="ru-RU" dirty="0">
                <a:effectLst/>
              </a:rPr>
              <a:t>в одну или несколько строк</a:t>
            </a:r>
            <a:endParaRPr lang="ru-RU" dirty="0"/>
          </a:p>
        </p:txBody>
      </p:sp>
      <p:sp>
        <p:nvSpPr>
          <p:cNvPr id="21" name="Текст 43">
            <a:extLst>
              <a:ext uri="{FF2B5EF4-FFF2-40B4-BE49-F238E27FC236}">
                <a16:creationId xmlns:a16="http://schemas.microsoft.com/office/drawing/2014/main" id="{A55EBF29-4551-D22F-89A1-B7458B89C1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95338" y="4520840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Выводы</a:t>
            </a:r>
            <a:endParaRPr lang="ru-RU" dirty="0"/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5C5E9BEA-FF15-23CB-8747-D443DE82E68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204669" y="5303879"/>
            <a:ext cx="2500473" cy="1077218"/>
          </a:xfrm>
        </p:spPr>
        <p:txBody>
          <a:bodyPr wrap="square" anchor="b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список, он может быть кратким или развернутым — занимающим несколько строк</a:t>
            </a:r>
          </a:p>
          <a:p>
            <a:r>
              <a:rPr lang="ru-RU" dirty="0">
                <a:effectLst/>
              </a:rPr>
              <a:t>Маркированный список, он может быть кратким или развернутым — занимающим несколько строк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DDD741-EC31-DD7F-3385-FA87652AE9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38C4C9CB-7191-ADA0-4BCD-F67A573113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19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Этап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8">
            <a:extLst>
              <a:ext uri="{FF2B5EF4-FFF2-40B4-BE49-F238E27FC236}">
                <a16:creationId xmlns:a16="http://schemas.microsoft.com/office/drawing/2014/main" id="{0FDEAC6F-42D1-B6E4-FC37-4A68BF4F97B2}"/>
              </a:ext>
            </a:extLst>
          </p:cNvPr>
          <p:cNvSpPr/>
          <p:nvPr userDrawn="1"/>
        </p:nvSpPr>
        <p:spPr>
          <a:xfrm>
            <a:off x="9042319" y="1397000"/>
            <a:ext cx="2793986" cy="27241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0" name="Shape 30">
            <a:extLst>
              <a:ext uri="{FF2B5EF4-FFF2-40B4-BE49-F238E27FC236}">
                <a16:creationId xmlns:a16="http://schemas.microsoft.com/office/drawing/2014/main" id="{C3EC9ACD-7021-8C33-D56E-5591E334E9EC}"/>
              </a:ext>
            </a:extLst>
          </p:cNvPr>
          <p:cNvSpPr/>
          <p:nvPr userDrawn="1"/>
        </p:nvSpPr>
        <p:spPr>
          <a:xfrm>
            <a:off x="6146734" y="1397000"/>
            <a:ext cx="2793986" cy="27241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4" name="Shape 22">
            <a:extLst>
              <a:ext uri="{FF2B5EF4-FFF2-40B4-BE49-F238E27FC236}">
                <a16:creationId xmlns:a16="http://schemas.microsoft.com/office/drawing/2014/main" id="{743DBBDF-6888-4D47-9AC5-A27B894D5F53}"/>
              </a:ext>
            </a:extLst>
          </p:cNvPr>
          <p:cNvSpPr/>
          <p:nvPr userDrawn="1"/>
        </p:nvSpPr>
        <p:spPr>
          <a:xfrm>
            <a:off x="3251149" y="1397000"/>
            <a:ext cx="2793986" cy="27241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ABEBA7A0-9AEB-33C0-D4C8-BA96C408D527}"/>
              </a:ext>
            </a:extLst>
          </p:cNvPr>
          <p:cNvSpPr/>
          <p:nvPr userDrawn="1"/>
        </p:nvSpPr>
        <p:spPr>
          <a:xfrm>
            <a:off x="355598" y="1397000"/>
            <a:ext cx="2793986" cy="27241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4" name="Shape 35">
            <a:extLst>
              <a:ext uri="{FF2B5EF4-FFF2-40B4-BE49-F238E27FC236}">
                <a16:creationId xmlns:a16="http://schemas.microsoft.com/office/drawing/2014/main" id="{DFEF1989-3ACF-2DBF-36FB-18A0401CA599}"/>
              </a:ext>
            </a:extLst>
          </p:cNvPr>
          <p:cNvSpPr/>
          <p:nvPr userDrawn="1"/>
        </p:nvSpPr>
        <p:spPr>
          <a:xfrm>
            <a:off x="6146734" y="4171950"/>
            <a:ext cx="2793986" cy="50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F1CD08B0-63B9-F01A-07BD-5725F3CCA71C}"/>
              </a:ext>
            </a:extLst>
          </p:cNvPr>
          <p:cNvSpPr/>
          <p:nvPr userDrawn="1"/>
        </p:nvSpPr>
        <p:spPr>
          <a:xfrm>
            <a:off x="3251149" y="4171950"/>
            <a:ext cx="2793986" cy="50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5BF00A47-FF3B-2BA3-5FCD-59CF7009F6D3}"/>
              </a:ext>
            </a:extLst>
          </p:cNvPr>
          <p:cNvSpPr/>
          <p:nvPr userDrawn="1"/>
        </p:nvSpPr>
        <p:spPr>
          <a:xfrm>
            <a:off x="355598" y="4171950"/>
            <a:ext cx="2793986" cy="50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52E991B-7C68-6264-B86B-AA849D465067}"/>
              </a:ext>
            </a:extLst>
          </p:cNvPr>
          <p:cNvSpPr/>
          <p:nvPr userDrawn="1"/>
        </p:nvSpPr>
        <p:spPr>
          <a:xfrm>
            <a:off x="9093119" y="1447800"/>
            <a:ext cx="2692386" cy="508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2619443-6765-1CA3-88AF-40B2CEAAB6BB}"/>
              </a:ext>
            </a:extLst>
          </p:cNvPr>
          <p:cNvSpPr/>
          <p:nvPr userDrawn="1"/>
        </p:nvSpPr>
        <p:spPr>
          <a:xfrm>
            <a:off x="6197568" y="1447800"/>
            <a:ext cx="2692386" cy="508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8F4717-2ADE-52AF-4994-C5B008774B70}"/>
              </a:ext>
            </a:extLst>
          </p:cNvPr>
          <p:cNvSpPr/>
          <p:nvPr userDrawn="1"/>
        </p:nvSpPr>
        <p:spPr>
          <a:xfrm>
            <a:off x="3301949" y="1447800"/>
            <a:ext cx="2692386" cy="508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>
              <a:solidFill>
                <a:schemeClr val="tx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79E418F-8566-184A-5B31-30C989453DC7}"/>
              </a:ext>
            </a:extLst>
          </p:cNvPr>
          <p:cNvSpPr/>
          <p:nvPr userDrawn="1"/>
        </p:nvSpPr>
        <p:spPr>
          <a:xfrm>
            <a:off x="406398" y="1447800"/>
            <a:ext cx="2692386" cy="508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D6BDFBB-4B72-E095-BA4A-30005BA0ADB8}"/>
              </a:ext>
            </a:extLst>
          </p:cNvPr>
          <p:cNvSpPr/>
          <p:nvPr userDrawn="1"/>
        </p:nvSpPr>
        <p:spPr>
          <a:xfrm>
            <a:off x="3352749" y="4273550"/>
            <a:ext cx="304798" cy="304800"/>
          </a:xfrm>
          <a:prstGeom prst="rect">
            <a:avLst/>
          </a:prstGeom>
          <a:noFill/>
          <a:ln/>
        </p:spPr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EE0E8B4E-AFEC-7094-992F-71E76AEBB835}"/>
              </a:ext>
            </a:extLst>
          </p:cNvPr>
          <p:cNvSpPr/>
          <p:nvPr userDrawn="1"/>
        </p:nvSpPr>
        <p:spPr>
          <a:xfrm>
            <a:off x="9042319" y="4171950"/>
            <a:ext cx="2793986" cy="50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58C587A-EB23-548C-CCE9-87550E5FE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749" y="4273448"/>
            <a:ext cx="304798" cy="304838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DE7C7C42-7FF4-D94B-2A55-412781F08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8" y="4273448"/>
            <a:ext cx="304798" cy="304838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D4ECE113-8089-6990-8B6F-DE7F3A44B3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8334" y="4273448"/>
            <a:ext cx="304798" cy="304838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72984F9F-3128-6DE7-443D-3718CCE857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19" y="4273448"/>
            <a:ext cx="304798" cy="304838"/>
          </a:xfrm>
          <a:prstGeom prst="rect">
            <a:avLst/>
          </a:prstGeom>
        </p:spPr>
      </p:pic>
      <p:sp>
        <p:nvSpPr>
          <p:cNvPr id="131" name="Текст 3">
            <a:extLst>
              <a:ext uri="{FF2B5EF4-FFF2-40B4-BE49-F238E27FC236}">
                <a16:creationId xmlns:a16="http://schemas.microsoft.com/office/drawing/2014/main" id="{E6A16846-89B5-58C8-8D62-99D2608A5AB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9075" y="5042728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Результат этапа</a:t>
            </a:r>
          </a:p>
        </p:txBody>
      </p:sp>
      <p:sp>
        <p:nvSpPr>
          <p:cNvPr id="135" name="Текст 3">
            <a:extLst>
              <a:ext uri="{FF2B5EF4-FFF2-40B4-BE49-F238E27FC236}">
                <a16:creationId xmlns:a16="http://schemas.microsoft.com/office/drawing/2014/main" id="{05B81877-19B7-673E-16BB-653BBEA82D1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453686" y="5042728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Результат этапа</a:t>
            </a:r>
          </a:p>
        </p:txBody>
      </p:sp>
      <p:sp>
        <p:nvSpPr>
          <p:cNvPr id="139" name="Текст 3">
            <a:extLst>
              <a:ext uri="{FF2B5EF4-FFF2-40B4-BE49-F238E27FC236}">
                <a16:creationId xmlns:a16="http://schemas.microsoft.com/office/drawing/2014/main" id="{2EB1DF03-67A0-C712-5EEC-25464B2393D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50472" y="5042728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Результат этапа</a:t>
            </a:r>
          </a:p>
        </p:txBody>
      </p:sp>
      <p:sp>
        <p:nvSpPr>
          <p:cNvPr id="141" name="Текст 3">
            <a:extLst>
              <a:ext uri="{FF2B5EF4-FFF2-40B4-BE49-F238E27FC236}">
                <a16:creationId xmlns:a16="http://schemas.microsoft.com/office/drawing/2014/main" id="{71DE1E4B-6384-B184-547A-F30098ED52D5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245835" y="5042728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Результат этапа</a:t>
            </a:r>
          </a:p>
        </p:txBody>
      </p:sp>
      <p:sp>
        <p:nvSpPr>
          <p:cNvPr id="182" name="Текст 12">
            <a:extLst>
              <a:ext uri="{FF2B5EF4-FFF2-40B4-BE49-F238E27FC236}">
                <a16:creationId xmlns:a16="http://schemas.microsoft.com/office/drawing/2014/main" id="{E0B7E55D-AD2C-8A19-506F-5CD895842D2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8305" y="4331835"/>
            <a:ext cx="2131737" cy="24833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ru-RU" sz="1000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Тайминг: 5 дней</a:t>
            </a:r>
            <a:endParaRPr lang="en-US" sz="1000" dirty="0"/>
          </a:p>
        </p:txBody>
      </p:sp>
      <p:sp>
        <p:nvSpPr>
          <p:cNvPr id="183" name="Текст 12">
            <a:extLst>
              <a:ext uri="{FF2B5EF4-FFF2-40B4-BE49-F238E27FC236}">
                <a16:creationId xmlns:a16="http://schemas.microsoft.com/office/drawing/2014/main" id="{1421F54B-69B8-02CE-2E19-DB65162FDC4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708688" y="4331835"/>
            <a:ext cx="2131737" cy="24833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ru-RU" sz="1000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Тайминг: 5 дней</a:t>
            </a:r>
            <a:endParaRPr lang="en-US" sz="1000" dirty="0"/>
          </a:p>
        </p:txBody>
      </p:sp>
      <p:sp>
        <p:nvSpPr>
          <p:cNvPr id="184" name="Текст 12">
            <a:extLst>
              <a:ext uri="{FF2B5EF4-FFF2-40B4-BE49-F238E27FC236}">
                <a16:creationId xmlns:a16="http://schemas.microsoft.com/office/drawing/2014/main" id="{615E705B-54B1-B0C8-6974-32C47567138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613929" y="4331835"/>
            <a:ext cx="2131737" cy="24833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ru-RU" sz="1000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Тайминг: 5 дней</a:t>
            </a:r>
            <a:endParaRPr lang="en-US" sz="1000" dirty="0"/>
          </a:p>
        </p:txBody>
      </p:sp>
      <p:sp>
        <p:nvSpPr>
          <p:cNvPr id="185" name="Текст 12">
            <a:extLst>
              <a:ext uri="{FF2B5EF4-FFF2-40B4-BE49-F238E27FC236}">
                <a16:creationId xmlns:a16="http://schemas.microsoft.com/office/drawing/2014/main" id="{F21586B9-3F94-36A3-10FF-AF866130782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505752" y="4331835"/>
            <a:ext cx="2131737" cy="24833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ru-RU" sz="1000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Тайминг: 5 дней</a:t>
            </a:r>
            <a:endParaRPr lang="en-US" sz="1000" dirty="0"/>
          </a:p>
        </p:txBody>
      </p:sp>
      <p:sp>
        <p:nvSpPr>
          <p:cNvPr id="202" name="Текст 43">
            <a:extLst>
              <a:ext uri="{FF2B5EF4-FFF2-40B4-BE49-F238E27FC236}">
                <a16:creationId xmlns:a16="http://schemas.microsoft.com/office/drawing/2014/main" id="{D642A84E-191E-A7F7-855A-B67BD9005F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190" y="1588468"/>
            <a:ext cx="2382850" cy="243656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Этап 1</a:t>
            </a:r>
            <a:endParaRPr lang="ru-RU" dirty="0"/>
          </a:p>
        </p:txBody>
      </p:sp>
      <p:sp>
        <p:nvSpPr>
          <p:cNvPr id="203" name="Текст 43">
            <a:extLst>
              <a:ext uri="{FF2B5EF4-FFF2-40B4-BE49-F238E27FC236}">
                <a16:creationId xmlns:a16="http://schemas.microsoft.com/office/drawing/2014/main" id="{FAD21EDB-26F2-C4D5-0002-1DE24098922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59075" y="2152841"/>
            <a:ext cx="2433965" cy="730969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/>
            </a:lvl1pPr>
          </a:lstStyle>
          <a:p>
            <a:pPr lvl="0"/>
            <a:r>
              <a:rPr lang="ru-RU" dirty="0">
                <a:effectLst/>
              </a:rPr>
              <a:t>Наименование этапа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204" name="Текст 3">
            <a:extLst>
              <a:ext uri="{FF2B5EF4-FFF2-40B4-BE49-F238E27FC236}">
                <a16:creationId xmlns:a16="http://schemas.microsoft.com/office/drawing/2014/main" id="{93B9312E-2C42-61C9-3530-7FEF5E98F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075" y="2975051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C8C8C"/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Вид работ</a:t>
            </a:r>
          </a:p>
        </p:txBody>
      </p:sp>
      <p:sp>
        <p:nvSpPr>
          <p:cNvPr id="206" name="Текст 43">
            <a:extLst>
              <a:ext uri="{FF2B5EF4-FFF2-40B4-BE49-F238E27FC236}">
                <a16:creationId xmlns:a16="http://schemas.microsoft.com/office/drawing/2014/main" id="{332EA1ED-BE2D-8223-7CCA-DD0AD0A17C8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510892" y="1588468"/>
            <a:ext cx="2382850" cy="243656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Этап 2</a:t>
            </a:r>
            <a:endParaRPr lang="ru-RU" dirty="0"/>
          </a:p>
        </p:txBody>
      </p:sp>
      <p:sp>
        <p:nvSpPr>
          <p:cNvPr id="207" name="Текст 43">
            <a:extLst>
              <a:ext uri="{FF2B5EF4-FFF2-40B4-BE49-F238E27FC236}">
                <a16:creationId xmlns:a16="http://schemas.microsoft.com/office/drawing/2014/main" id="{976C07BA-6786-ABA8-83CD-347CF469005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58602" y="2152841"/>
            <a:ext cx="2433965" cy="730969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/>
            </a:lvl1pPr>
          </a:lstStyle>
          <a:p>
            <a:pPr lvl="0"/>
            <a:r>
              <a:rPr lang="ru-RU" dirty="0">
                <a:effectLst/>
              </a:rPr>
              <a:t>Наименование этапа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208" name="Текст 3">
            <a:extLst>
              <a:ext uri="{FF2B5EF4-FFF2-40B4-BE49-F238E27FC236}">
                <a16:creationId xmlns:a16="http://schemas.microsoft.com/office/drawing/2014/main" id="{44888172-E491-6668-A019-3ED40B142B9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58602" y="2975051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C8C8C"/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Вид работ</a:t>
            </a:r>
          </a:p>
        </p:txBody>
      </p:sp>
      <p:sp>
        <p:nvSpPr>
          <p:cNvPr id="210" name="Текст 43">
            <a:extLst>
              <a:ext uri="{FF2B5EF4-FFF2-40B4-BE49-F238E27FC236}">
                <a16:creationId xmlns:a16="http://schemas.microsoft.com/office/drawing/2014/main" id="{38C24E05-6231-ADAA-136F-8CD796931C1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96672" y="1588468"/>
            <a:ext cx="2382850" cy="243656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Этап 3</a:t>
            </a:r>
            <a:endParaRPr lang="ru-RU" dirty="0"/>
          </a:p>
        </p:txBody>
      </p:sp>
      <p:sp>
        <p:nvSpPr>
          <p:cNvPr id="211" name="Текст 43">
            <a:extLst>
              <a:ext uri="{FF2B5EF4-FFF2-40B4-BE49-F238E27FC236}">
                <a16:creationId xmlns:a16="http://schemas.microsoft.com/office/drawing/2014/main" id="{988726B4-7814-1E86-3457-85DBD6622F9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45557" y="2152841"/>
            <a:ext cx="2433965" cy="730969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/>
            </a:lvl1pPr>
          </a:lstStyle>
          <a:p>
            <a:pPr lvl="0"/>
            <a:r>
              <a:rPr lang="ru-RU" dirty="0">
                <a:effectLst/>
              </a:rPr>
              <a:t>Наименование этапа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212" name="Текст 3">
            <a:extLst>
              <a:ext uri="{FF2B5EF4-FFF2-40B4-BE49-F238E27FC236}">
                <a16:creationId xmlns:a16="http://schemas.microsoft.com/office/drawing/2014/main" id="{518B233A-2A36-D54F-0426-58D6683E062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54700" y="2975051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C8C8C"/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Вид работ</a:t>
            </a:r>
          </a:p>
        </p:txBody>
      </p:sp>
      <p:sp>
        <p:nvSpPr>
          <p:cNvPr id="214" name="Текст 43">
            <a:extLst>
              <a:ext uri="{FF2B5EF4-FFF2-40B4-BE49-F238E27FC236}">
                <a16:creationId xmlns:a16="http://schemas.microsoft.com/office/drawing/2014/main" id="{04301E1E-CA39-574F-2A16-35ED2873EB7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297638" y="1588468"/>
            <a:ext cx="2382850" cy="243656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Этап 4</a:t>
            </a:r>
            <a:endParaRPr lang="ru-RU" dirty="0"/>
          </a:p>
        </p:txBody>
      </p:sp>
      <p:sp>
        <p:nvSpPr>
          <p:cNvPr id="215" name="Текст 43">
            <a:extLst>
              <a:ext uri="{FF2B5EF4-FFF2-40B4-BE49-F238E27FC236}">
                <a16:creationId xmlns:a16="http://schemas.microsoft.com/office/drawing/2014/main" id="{090A4428-6B08-7E21-2249-A404A22A95E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246523" y="2152841"/>
            <a:ext cx="2433965" cy="730969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/>
            </a:lvl1pPr>
          </a:lstStyle>
          <a:p>
            <a:pPr lvl="0"/>
            <a:r>
              <a:rPr lang="ru-RU" dirty="0">
                <a:effectLst/>
              </a:rPr>
              <a:t>Наименование этапа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216" name="Текст 3">
            <a:extLst>
              <a:ext uri="{FF2B5EF4-FFF2-40B4-BE49-F238E27FC236}">
                <a16:creationId xmlns:a16="http://schemas.microsoft.com/office/drawing/2014/main" id="{13AD42A6-1F7B-8ED3-8813-B2E22B43377F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46523" y="2975051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C8C8C"/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Вид работ</a:t>
            </a:r>
          </a:p>
        </p:txBody>
      </p:sp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3D028711-AB24-A298-4114-C93480145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4A86CCCA-AEF8-66C4-F0AD-F496DEFF3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4F38CC52-6A9E-5907-489B-E201BA9171A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9075" y="3224557"/>
            <a:ext cx="243396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</a:t>
            </a:r>
            <a:endParaRPr lang="ru-RU" dirty="0"/>
          </a:p>
        </p:txBody>
      </p:sp>
      <p:sp>
        <p:nvSpPr>
          <p:cNvPr id="25" name="Текст 61">
            <a:extLst>
              <a:ext uri="{FF2B5EF4-FFF2-40B4-BE49-F238E27FC236}">
                <a16:creationId xmlns:a16="http://schemas.microsoft.com/office/drawing/2014/main" id="{3873DC61-3695-6329-D0FF-225CD7091CC3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453686" y="3224557"/>
            <a:ext cx="243396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</a:t>
            </a:r>
            <a:endParaRPr lang="ru-RU" dirty="0"/>
          </a:p>
        </p:txBody>
      </p:sp>
      <p:sp>
        <p:nvSpPr>
          <p:cNvPr id="29" name="Текст 61">
            <a:extLst>
              <a:ext uri="{FF2B5EF4-FFF2-40B4-BE49-F238E27FC236}">
                <a16:creationId xmlns:a16="http://schemas.microsoft.com/office/drawing/2014/main" id="{33B898B3-880B-A8E3-E1CE-D284D658AFB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54700" y="3224557"/>
            <a:ext cx="243396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</a:t>
            </a:r>
            <a:endParaRPr lang="ru-RU" dirty="0"/>
          </a:p>
        </p:txBody>
      </p:sp>
      <p:sp>
        <p:nvSpPr>
          <p:cNvPr id="31" name="Текст 61">
            <a:extLst>
              <a:ext uri="{FF2B5EF4-FFF2-40B4-BE49-F238E27FC236}">
                <a16:creationId xmlns:a16="http://schemas.microsoft.com/office/drawing/2014/main" id="{DD5011C4-41B1-1DE0-97A3-77186352A70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249311" y="3224557"/>
            <a:ext cx="243396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</a:t>
            </a:r>
            <a:endParaRPr lang="ru-RU" dirty="0"/>
          </a:p>
        </p:txBody>
      </p:sp>
      <p:sp>
        <p:nvSpPr>
          <p:cNvPr id="32" name="Текст 61">
            <a:extLst>
              <a:ext uri="{FF2B5EF4-FFF2-40B4-BE49-F238E27FC236}">
                <a16:creationId xmlns:a16="http://schemas.microsoft.com/office/drawing/2014/main" id="{494DCE08-BE91-9802-A430-127ED8F0763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559075" y="5286622"/>
            <a:ext cx="243396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sed in,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33" name="Текст 61">
            <a:extLst>
              <a:ext uri="{FF2B5EF4-FFF2-40B4-BE49-F238E27FC236}">
                <a16:creationId xmlns:a16="http://schemas.microsoft.com/office/drawing/2014/main" id="{3DD856BA-3C95-C387-580B-71FE769925A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53686" y="5286622"/>
            <a:ext cx="243396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sed in,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516F3A03-A556-5B78-E5DD-FF9CD3E0BCA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354700" y="5286622"/>
            <a:ext cx="243396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sed in,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492A5E83-B2C8-DF1C-9662-6FC76C9F0A6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49311" y="5286622"/>
            <a:ext cx="243396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sed in,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1270F2-1FF5-5A56-342E-2E7C48A7956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30A0B52-A240-2C2E-380A-0C3BAEDF5C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22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езюм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6">
            <a:extLst>
              <a:ext uri="{FF2B5EF4-FFF2-40B4-BE49-F238E27FC236}">
                <a16:creationId xmlns:a16="http://schemas.microsoft.com/office/drawing/2014/main" id="{232BEEBF-E5FA-271B-840F-6B8FF110A5A9}"/>
              </a:ext>
            </a:extLst>
          </p:cNvPr>
          <p:cNvSpPr/>
          <p:nvPr userDrawn="1"/>
        </p:nvSpPr>
        <p:spPr>
          <a:xfrm>
            <a:off x="495298" y="1397000"/>
            <a:ext cx="582080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Команда</a:t>
            </a:r>
            <a:endParaRPr lang="en-US" sz="1000" dirty="0">
              <a:latin typeface="+mn-lt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2E0DB271-1898-D45A-6A36-F4DE2026F965}"/>
              </a:ext>
            </a:extLst>
          </p:cNvPr>
          <p:cNvSpPr/>
          <p:nvPr userDrawn="1"/>
        </p:nvSpPr>
        <p:spPr>
          <a:xfrm>
            <a:off x="4216378" y="1397000"/>
            <a:ext cx="880529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Образование</a:t>
            </a:r>
            <a:endParaRPr lang="en-US" sz="1000" dirty="0">
              <a:latin typeface="+mn-lt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2194E94-27C2-E351-C1D0-1D0D93F0C371}"/>
              </a:ext>
            </a:extLst>
          </p:cNvPr>
          <p:cNvSpPr/>
          <p:nvPr userDrawn="1"/>
        </p:nvSpPr>
        <p:spPr>
          <a:xfrm>
            <a:off x="8077158" y="139700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Релевантный проектный опыт</a:t>
            </a:r>
            <a:endParaRPr lang="en-US" sz="1000" dirty="0">
              <a:latin typeface="+mn-lt"/>
            </a:endParaRPr>
          </a:p>
        </p:txBody>
      </p:sp>
      <p:sp>
        <p:nvSpPr>
          <p:cNvPr id="169" name="Рисунок 3">
            <a:extLst>
              <a:ext uri="{FF2B5EF4-FFF2-40B4-BE49-F238E27FC236}">
                <a16:creationId xmlns:a16="http://schemas.microsoft.com/office/drawing/2014/main" id="{056DD5DE-72C7-9F38-D051-95ECE5B46E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298" y="1778000"/>
            <a:ext cx="939795" cy="9398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70" name="Текст 12">
            <a:extLst>
              <a:ext uri="{FF2B5EF4-FFF2-40B4-BE49-F238E27FC236}">
                <a16:creationId xmlns:a16="http://schemas.microsoft.com/office/drawing/2014/main" id="{9B1BE3CB-5217-14FE-D5A7-E783629E76A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42240" y="1755141"/>
            <a:ext cx="1908700" cy="229102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ts val="1000"/>
              </a:lnSpc>
              <a:spcBef>
                <a:spcPts val="0"/>
              </a:spcBef>
              <a:defRPr lang="ru-RU" sz="1000" dirty="0" smtClean="0">
                <a:solidFill>
                  <a:schemeClr val="tx1"/>
                </a:solidFill>
                <a:latin typeface="+mn-lt"/>
              </a:defRPr>
            </a:lvl1pPr>
          </a:lstStyle>
          <a:p>
            <a:pPr lvl="0" indent="0">
              <a:lnSpc>
                <a:spcPts val="2000"/>
              </a:lnSpc>
              <a:spcBef>
                <a:spcPts val="0"/>
              </a:spcBef>
            </a:pPr>
            <a:r>
              <a:rPr lang="ru-RU" sz="1000" dirty="0"/>
              <a:t>Имя Фамилия</a:t>
            </a:r>
          </a:p>
        </p:txBody>
      </p:sp>
      <p:sp>
        <p:nvSpPr>
          <p:cNvPr id="171" name="Текст 150">
            <a:extLst>
              <a:ext uri="{FF2B5EF4-FFF2-40B4-BE49-F238E27FC236}">
                <a16:creationId xmlns:a16="http://schemas.microsoft.com/office/drawing/2014/main" id="{2C20A2F8-7CC3-EAB4-12A6-4142812F851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542552" y="1934981"/>
            <a:ext cx="1908389" cy="485582"/>
          </a:xfrm>
        </p:spPr>
        <p:txBody>
          <a:bodyPr wrap="square">
            <a:spAutoFit/>
          </a:bodyPr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228554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Наименование должности </a:t>
            </a:r>
            <a:br>
              <a:rPr lang="ru-RU" sz="1000" dirty="0"/>
            </a:br>
            <a:r>
              <a:rPr lang="ru-RU" sz="1000" dirty="0"/>
              <a:t>в одну или две строки</a:t>
            </a:r>
          </a:p>
        </p:txBody>
      </p:sp>
      <p:sp>
        <p:nvSpPr>
          <p:cNvPr id="172" name="Текст 12">
            <a:extLst>
              <a:ext uri="{FF2B5EF4-FFF2-40B4-BE49-F238E27FC236}">
                <a16:creationId xmlns:a16="http://schemas.microsoft.com/office/drawing/2014/main" id="{BF217469-0C8C-9E38-E50E-3E0B137F3C3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42240" y="2568484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опыта в консалтинге</a:t>
            </a:r>
          </a:p>
        </p:txBody>
      </p:sp>
      <p:sp>
        <p:nvSpPr>
          <p:cNvPr id="173" name="Текст 12">
            <a:extLst>
              <a:ext uri="{FF2B5EF4-FFF2-40B4-BE49-F238E27FC236}">
                <a16:creationId xmlns:a16="http://schemas.microsoft.com/office/drawing/2014/main" id="{D4A4EA95-EFE1-4CFF-B616-13F7E71CEE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240" y="2379430"/>
            <a:ext cx="1908700" cy="234000"/>
          </a:xfrm>
        </p:spPr>
        <p:txBody>
          <a:bodyPr wrap="square">
            <a:no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900" kern="1200" dirty="0" smtClean="0">
                <a:solidFill>
                  <a:schemeClr val="tx2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3000"/>
              </a:lnSpc>
              <a:buNone/>
            </a:pPr>
            <a:r>
              <a:rPr lang="ru-RU" sz="1000" dirty="0"/>
              <a:t>10 лет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000" dirty="0"/>
          </a:p>
        </p:txBody>
      </p:sp>
      <p:sp>
        <p:nvSpPr>
          <p:cNvPr id="176" name="Рисунок 3">
            <a:extLst>
              <a:ext uri="{FF2B5EF4-FFF2-40B4-BE49-F238E27FC236}">
                <a16:creationId xmlns:a16="http://schemas.microsoft.com/office/drawing/2014/main" id="{D62528E6-BEBD-C912-6A83-605867BA47A6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495298" y="3039534"/>
            <a:ext cx="939795" cy="9398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77" name="Текст 12">
            <a:extLst>
              <a:ext uri="{FF2B5EF4-FFF2-40B4-BE49-F238E27FC236}">
                <a16:creationId xmlns:a16="http://schemas.microsoft.com/office/drawing/2014/main" id="{F84D034A-D74A-CC15-7BEF-5881AD0BA69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542240" y="3016675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Имя Фамилия</a:t>
            </a:r>
          </a:p>
        </p:txBody>
      </p:sp>
      <p:sp>
        <p:nvSpPr>
          <p:cNvPr id="178" name="Текст 150">
            <a:extLst>
              <a:ext uri="{FF2B5EF4-FFF2-40B4-BE49-F238E27FC236}">
                <a16:creationId xmlns:a16="http://schemas.microsoft.com/office/drawing/2014/main" id="{259D38F4-0198-071B-D5DD-76B7852F76B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542552" y="3196515"/>
            <a:ext cx="1908389" cy="485582"/>
          </a:xfrm>
        </p:spPr>
        <p:txBody>
          <a:bodyPr wrap="square">
            <a:spAutoFit/>
          </a:bodyPr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228554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Наименование должности </a:t>
            </a:r>
            <a:br>
              <a:rPr lang="ru-RU" sz="1000" dirty="0"/>
            </a:br>
            <a:r>
              <a:rPr lang="ru-RU" sz="1000" dirty="0"/>
              <a:t>в одну или две строки</a:t>
            </a:r>
          </a:p>
        </p:txBody>
      </p:sp>
      <p:sp>
        <p:nvSpPr>
          <p:cNvPr id="179" name="Текст 12">
            <a:extLst>
              <a:ext uri="{FF2B5EF4-FFF2-40B4-BE49-F238E27FC236}">
                <a16:creationId xmlns:a16="http://schemas.microsoft.com/office/drawing/2014/main" id="{94EC67D7-03A0-43C9-6D2E-4CC6B65637E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542240" y="3830017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опыта в консалтинге</a:t>
            </a:r>
          </a:p>
        </p:txBody>
      </p:sp>
      <p:sp>
        <p:nvSpPr>
          <p:cNvPr id="180" name="Текст 12">
            <a:extLst>
              <a:ext uri="{FF2B5EF4-FFF2-40B4-BE49-F238E27FC236}">
                <a16:creationId xmlns:a16="http://schemas.microsoft.com/office/drawing/2014/main" id="{1281B26B-0525-3EF3-A6CC-C4D631EB7AB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542240" y="3640964"/>
            <a:ext cx="1908700" cy="234000"/>
          </a:xfrm>
        </p:spPr>
        <p:txBody>
          <a:bodyPr wrap="square">
            <a:no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900" kern="1200" dirty="0" smtClean="0">
                <a:solidFill>
                  <a:schemeClr val="tx2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3000"/>
              </a:lnSpc>
              <a:buNone/>
            </a:pPr>
            <a:r>
              <a:rPr lang="ru-RU" sz="1000" dirty="0"/>
              <a:t>10 лет</a:t>
            </a:r>
            <a:endParaRPr lang="en-US" sz="1000" dirty="0"/>
          </a:p>
        </p:txBody>
      </p:sp>
      <p:sp>
        <p:nvSpPr>
          <p:cNvPr id="183" name="Рисунок 3">
            <a:extLst>
              <a:ext uri="{FF2B5EF4-FFF2-40B4-BE49-F238E27FC236}">
                <a16:creationId xmlns:a16="http://schemas.microsoft.com/office/drawing/2014/main" id="{EEF1CA90-E881-94B2-CCD0-ABE0255E6146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495298" y="4290261"/>
            <a:ext cx="939795" cy="9398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84" name="Текст 12">
            <a:extLst>
              <a:ext uri="{FF2B5EF4-FFF2-40B4-BE49-F238E27FC236}">
                <a16:creationId xmlns:a16="http://schemas.microsoft.com/office/drawing/2014/main" id="{7339927E-0D6C-73B9-CA4D-06C15C91A578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542240" y="4267402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Имя Фамилия</a:t>
            </a:r>
          </a:p>
        </p:txBody>
      </p:sp>
      <p:sp>
        <p:nvSpPr>
          <p:cNvPr id="185" name="Текст 150">
            <a:extLst>
              <a:ext uri="{FF2B5EF4-FFF2-40B4-BE49-F238E27FC236}">
                <a16:creationId xmlns:a16="http://schemas.microsoft.com/office/drawing/2014/main" id="{51722053-5E07-11C2-DDB6-EFC729B209E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542552" y="4447242"/>
            <a:ext cx="1908389" cy="485582"/>
          </a:xfrm>
        </p:spPr>
        <p:txBody>
          <a:bodyPr wrap="square">
            <a:spAutoFit/>
          </a:bodyPr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228554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Наименование должности </a:t>
            </a:r>
            <a:br>
              <a:rPr lang="ru-RU" sz="1000" dirty="0"/>
            </a:br>
            <a:r>
              <a:rPr lang="ru-RU" sz="1000" dirty="0"/>
              <a:t>в одну или две строки</a:t>
            </a:r>
          </a:p>
        </p:txBody>
      </p:sp>
      <p:sp>
        <p:nvSpPr>
          <p:cNvPr id="186" name="Текст 12">
            <a:extLst>
              <a:ext uri="{FF2B5EF4-FFF2-40B4-BE49-F238E27FC236}">
                <a16:creationId xmlns:a16="http://schemas.microsoft.com/office/drawing/2014/main" id="{EFDF7772-EB48-E91D-EA0C-117371B5626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542240" y="5080745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опыта в консалтинге</a:t>
            </a:r>
          </a:p>
        </p:txBody>
      </p:sp>
      <p:sp>
        <p:nvSpPr>
          <p:cNvPr id="187" name="Текст 12">
            <a:extLst>
              <a:ext uri="{FF2B5EF4-FFF2-40B4-BE49-F238E27FC236}">
                <a16:creationId xmlns:a16="http://schemas.microsoft.com/office/drawing/2014/main" id="{F0BADB0F-E13C-5985-A669-B2B54730DB4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542240" y="4891691"/>
            <a:ext cx="1908700" cy="234000"/>
          </a:xfrm>
        </p:spPr>
        <p:txBody>
          <a:bodyPr wrap="square">
            <a:no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900" kern="1200" dirty="0" smtClean="0">
                <a:solidFill>
                  <a:schemeClr val="tx2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3000"/>
              </a:lnSpc>
              <a:buNone/>
            </a:pPr>
            <a:r>
              <a:rPr lang="ru-RU" sz="1000" dirty="0"/>
              <a:t>10 лет</a:t>
            </a:r>
          </a:p>
        </p:txBody>
      </p:sp>
      <p:sp>
        <p:nvSpPr>
          <p:cNvPr id="190" name="Рисунок 3">
            <a:extLst>
              <a:ext uri="{FF2B5EF4-FFF2-40B4-BE49-F238E27FC236}">
                <a16:creationId xmlns:a16="http://schemas.microsoft.com/office/drawing/2014/main" id="{326253CB-7F41-46EE-E4B7-20E9E7E6A58C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495298" y="5550067"/>
            <a:ext cx="939795" cy="9398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91" name="Текст 12">
            <a:extLst>
              <a:ext uri="{FF2B5EF4-FFF2-40B4-BE49-F238E27FC236}">
                <a16:creationId xmlns:a16="http://schemas.microsoft.com/office/drawing/2014/main" id="{90566730-382C-A35E-273B-57E8B994A8B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542240" y="5527208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Имя Фамилия</a:t>
            </a:r>
          </a:p>
        </p:txBody>
      </p:sp>
      <p:sp>
        <p:nvSpPr>
          <p:cNvPr id="192" name="Текст 150">
            <a:extLst>
              <a:ext uri="{FF2B5EF4-FFF2-40B4-BE49-F238E27FC236}">
                <a16:creationId xmlns:a16="http://schemas.microsoft.com/office/drawing/2014/main" id="{CAA68E47-CD22-6E23-E278-A658D54CA06F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542552" y="5707048"/>
            <a:ext cx="1908389" cy="485582"/>
          </a:xfrm>
        </p:spPr>
        <p:txBody>
          <a:bodyPr wrap="square">
            <a:spAutoFit/>
          </a:bodyPr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228554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Наименование должности </a:t>
            </a:r>
            <a:br>
              <a:rPr lang="ru-RU" sz="1000" dirty="0"/>
            </a:br>
            <a:r>
              <a:rPr lang="ru-RU" sz="1000" dirty="0"/>
              <a:t>в одну или две строки</a:t>
            </a:r>
          </a:p>
        </p:txBody>
      </p:sp>
      <p:sp>
        <p:nvSpPr>
          <p:cNvPr id="193" name="Текст 12">
            <a:extLst>
              <a:ext uri="{FF2B5EF4-FFF2-40B4-BE49-F238E27FC236}">
                <a16:creationId xmlns:a16="http://schemas.microsoft.com/office/drawing/2014/main" id="{9F227F25-A04B-97C8-D9F5-AA4CC2A76B54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542240" y="6340550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опыта в консалтинге</a:t>
            </a:r>
          </a:p>
        </p:txBody>
      </p:sp>
      <p:sp>
        <p:nvSpPr>
          <p:cNvPr id="194" name="Текст 12">
            <a:extLst>
              <a:ext uri="{FF2B5EF4-FFF2-40B4-BE49-F238E27FC236}">
                <a16:creationId xmlns:a16="http://schemas.microsoft.com/office/drawing/2014/main" id="{8BC14F0B-2575-D0A6-0EE1-B621AA7F9E1E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542240" y="6151497"/>
            <a:ext cx="1908700" cy="234000"/>
          </a:xfrm>
        </p:spPr>
        <p:txBody>
          <a:bodyPr wrap="square">
            <a:no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900" kern="1200" dirty="0" smtClean="0">
                <a:solidFill>
                  <a:schemeClr val="tx2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3000"/>
              </a:lnSpc>
              <a:buNone/>
            </a:pPr>
            <a:r>
              <a:rPr lang="ru-RU" sz="1000" dirty="0"/>
              <a:t>10 лет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000" dirty="0"/>
          </a:p>
        </p:txBody>
      </p:sp>
      <p:sp>
        <p:nvSpPr>
          <p:cNvPr id="197" name="Текст 11">
            <a:extLst>
              <a:ext uri="{FF2B5EF4-FFF2-40B4-BE49-F238E27FC236}">
                <a16:creationId xmlns:a16="http://schemas.microsoft.com/office/drawing/2014/main" id="{176BCD30-98CD-F517-E1A6-E8422DA46E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70664" y="1746441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98" name="Текст 11">
            <a:extLst>
              <a:ext uri="{FF2B5EF4-FFF2-40B4-BE49-F238E27FC236}">
                <a16:creationId xmlns:a16="http://schemas.microsoft.com/office/drawing/2014/main" id="{9C6C3AA0-09FB-CC1A-12C3-75B756054C8C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028483" y="1746441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99" name="Текст 11">
            <a:extLst>
              <a:ext uri="{FF2B5EF4-FFF2-40B4-BE49-F238E27FC236}">
                <a16:creationId xmlns:a16="http://schemas.microsoft.com/office/drawing/2014/main" id="{CA2B5D22-2EBF-7DFC-7C86-D6E923AFB72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170664" y="2998386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0" name="Текст 11">
            <a:extLst>
              <a:ext uri="{FF2B5EF4-FFF2-40B4-BE49-F238E27FC236}">
                <a16:creationId xmlns:a16="http://schemas.microsoft.com/office/drawing/2014/main" id="{8D28BF06-04E3-9BEE-BBDF-9D6B0402418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28483" y="2998386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1" name="Текст 11">
            <a:extLst>
              <a:ext uri="{FF2B5EF4-FFF2-40B4-BE49-F238E27FC236}">
                <a16:creationId xmlns:a16="http://schemas.microsoft.com/office/drawing/2014/main" id="{1FEA0552-7C91-8394-D4D5-DA2703B446C1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170664" y="4244848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2" name="Текст 11">
            <a:extLst>
              <a:ext uri="{FF2B5EF4-FFF2-40B4-BE49-F238E27FC236}">
                <a16:creationId xmlns:a16="http://schemas.microsoft.com/office/drawing/2014/main" id="{E8A33F1E-A556-6F08-42F3-3184D5A23231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028483" y="4244848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3" name="Текст 11">
            <a:extLst>
              <a:ext uri="{FF2B5EF4-FFF2-40B4-BE49-F238E27FC236}">
                <a16:creationId xmlns:a16="http://schemas.microsoft.com/office/drawing/2014/main" id="{430FD457-7864-9970-C087-452B0656DB0A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4170664" y="5517683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4" name="Текст 11">
            <a:extLst>
              <a:ext uri="{FF2B5EF4-FFF2-40B4-BE49-F238E27FC236}">
                <a16:creationId xmlns:a16="http://schemas.microsoft.com/office/drawing/2014/main" id="{CB02BBA9-A451-82B3-DAEE-98D8763489AA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028483" y="5517683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2656DED-0FED-3E52-5BF0-98E1070B9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7BF707F9-07DB-BA48-8F78-9CD8569FC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Потенциальные члены команды</a:t>
            </a:r>
            <a:endParaRPr lang="ru-RU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13C1C2D8-CF02-418D-70DF-D92272607405}"/>
              </a:ext>
            </a:extLst>
          </p:cNvPr>
          <p:cNvCxnSpPr/>
          <p:nvPr userDrawn="1"/>
        </p:nvCxnSpPr>
        <p:spPr>
          <a:xfrm>
            <a:off x="355598" y="1619250"/>
            <a:ext cx="114807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E57E474-217B-160C-50CF-EFD547CE8BD4}"/>
              </a:ext>
            </a:extLst>
          </p:cNvPr>
          <p:cNvCxnSpPr/>
          <p:nvPr userDrawn="1"/>
        </p:nvCxnSpPr>
        <p:spPr>
          <a:xfrm>
            <a:off x="355598" y="2870200"/>
            <a:ext cx="114807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C4620C4D-EBB0-948B-1515-4B9B77EF5BA4}"/>
              </a:ext>
            </a:extLst>
          </p:cNvPr>
          <p:cNvCxnSpPr/>
          <p:nvPr userDrawn="1"/>
        </p:nvCxnSpPr>
        <p:spPr>
          <a:xfrm>
            <a:off x="355598" y="4123459"/>
            <a:ext cx="114807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697FE00-A3D8-925F-39EE-B750E5D1058B}"/>
              </a:ext>
            </a:extLst>
          </p:cNvPr>
          <p:cNvCxnSpPr/>
          <p:nvPr userDrawn="1"/>
        </p:nvCxnSpPr>
        <p:spPr>
          <a:xfrm>
            <a:off x="355598" y="5383518"/>
            <a:ext cx="114807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A68782-57C1-1D3F-06F1-871A731A2A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3C69CD37-083B-E63F-4439-BC650C5AA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35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нтакт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7E9E10BA-2C85-A581-B108-3ED6F08F0D3D}"/>
              </a:ext>
            </a:extLst>
          </p:cNvPr>
          <p:cNvSpPr/>
          <p:nvPr userDrawn="1"/>
        </p:nvSpPr>
        <p:spPr>
          <a:xfrm>
            <a:off x="355598" y="1397000"/>
            <a:ext cx="3759181" cy="51054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8CE8DF1-2AE2-8C31-3FE4-B723C548B79B}"/>
              </a:ext>
            </a:extLst>
          </p:cNvPr>
          <p:cNvSpPr/>
          <p:nvPr userDrawn="1"/>
        </p:nvSpPr>
        <p:spPr>
          <a:xfrm>
            <a:off x="4216378" y="1397000"/>
            <a:ext cx="3759181" cy="51054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95F5A9F1-D299-F031-2309-8A2D33119B2B}"/>
              </a:ext>
            </a:extLst>
          </p:cNvPr>
          <p:cNvSpPr/>
          <p:nvPr userDrawn="1"/>
        </p:nvSpPr>
        <p:spPr>
          <a:xfrm>
            <a:off x="8077158" y="1397000"/>
            <a:ext cx="3759181" cy="51054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64E91F3-D1A1-0EE5-FDDA-E18ACBC3580B}"/>
              </a:ext>
            </a:extLst>
          </p:cNvPr>
          <p:cNvSpPr/>
          <p:nvPr userDrawn="1"/>
        </p:nvSpPr>
        <p:spPr>
          <a:xfrm>
            <a:off x="406398" y="1447800"/>
            <a:ext cx="3657581" cy="9906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F7AC2FEF-EDE6-A035-1FD1-8355AA8F9C05}"/>
              </a:ext>
            </a:extLst>
          </p:cNvPr>
          <p:cNvSpPr/>
          <p:nvPr userDrawn="1"/>
        </p:nvSpPr>
        <p:spPr>
          <a:xfrm>
            <a:off x="4267178" y="1447800"/>
            <a:ext cx="3657581" cy="9906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8B63401A-2CD3-FB44-BEF3-705658AC3D52}"/>
              </a:ext>
            </a:extLst>
          </p:cNvPr>
          <p:cNvSpPr/>
          <p:nvPr userDrawn="1"/>
        </p:nvSpPr>
        <p:spPr>
          <a:xfrm>
            <a:off x="8127958" y="1447800"/>
            <a:ext cx="3657581" cy="9906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pic>
        <p:nvPicPr>
          <p:cNvPr id="30" name="Image 4" descr=" ">
            <a:extLst>
              <a:ext uri="{FF2B5EF4-FFF2-40B4-BE49-F238E27FC236}">
                <a16:creationId xmlns:a16="http://schemas.microsoft.com/office/drawing/2014/main" id="{2CE02192-73FA-769B-C641-1205FFEA7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2633" y="5657850"/>
            <a:ext cx="692146" cy="844550"/>
          </a:xfrm>
          <a:prstGeom prst="rect">
            <a:avLst/>
          </a:prstGeom>
        </p:spPr>
      </p:pic>
      <p:pic>
        <p:nvPicPr>
          <p:cNvPr id="31" name="Image 5" descr=" ">
            <a:extLst>
              <a:ext uri="{FF2B5EF4-FFF2-40B4-BE49-F238E27FC236}">
                <a16:creationId xmlns:a16="http://schemas.microsoft.com/office/drawing/2014/main" id="{4903ED07-BEFC-F385-6BA8-337F0E353D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3413" y="5657850"/>
            <a:ext cx="692146" cy="844550"/>
          </a:xfrm>
          <a:prstGeom prst="rect">
            <a:avLst/>
          </a:prstGeom>
        </p:spPr>
      </p:pic>
      <p:pic>
        <p:nvPicPr>
          <p:cNvPr id="32" name="Image 6" descr=" ">
            <a:extLst>
              <a:ext uri="{FF2B5EF4-FFF2-40B4-BE49-F238E27FC236}">
                <a16:creationId xmlns:a16="http://schemas.microsoft.com/office/drawing/2014/main" id="{AC41743C-809B-DB17-D24B-8D4FEF0AB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4192" y="5657850"/>
            <a:ext cx="692146" cy="844550"/>
          </a:xfrm>
          <a:prstGeom prst="rect">
            <a:avLst/>
          </a:prstGeom>
        </p:spPr>
      </p:pic>
      <p:sp>
        <p:nvSpPr>
          <p:cNvPr id="45" name="Shape 29">
            <a:extLst>
              <a:ext uri="{FF2B5EF4-FFF2-40B4-BE49-F238E27FC236}">
                <a16:creationId xmlns:a16="http://schemas.microsoft.com/office/drawing/2014/main" id="{7860C8C6-87E2-566B-07D5-472F3A00601D}"/>
              </a:ext>
            </a:extLst>
          </p:cNvPr>
          <p:cNvSpPr/>
          <p:nvPr userDrawn="1"/>
        </p:nvSpPr>
        <p:spPr>
          <a:xfrm>
            <a:off x="507997" y="3975100"/>
            <a:ext cx="3454382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6" name="Shape 30">
            <a:extLst>
              <a:ext uri="{FF2B5EF4-FFF2-40B4-BE49-F238E27FC236}">
                <a16:creationId xmlns:a16="http://schemas.microsoft.com/office/drawing/2014/main" id="{AD522BD1-DCB6-3F35-E0FA-1E9013B6788C}"/>
              </a:ext>
            </a:extLst>
          </p:cNvPr>
          <p:cNvSpPr/>
          <p:nvPr userDrawn="1"/>
        </p:nvSpPr>
        <p:spPr>
          <a:xfrm>
            <a:off x="4368777" y="3975100"/>
            <a:ext cx="3454382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7" name="Shape 31">
            <a:extLst>
              <a:ext uri="{FF2B5EF4-FFF2-40B4-BE49-F238E27FC236}">
                <a16:creationId xmlns:a16="http://schemas.microsoft.com/office/drawing/2014/main" id="{9374156E-940B-790A-4359-A19B38136989}"/>
              </a:ext>
            </a:extLst>
          </p:cNvPr>
          <p:cNvSpPr/>
          <p:nvPr userDrawn="1"/>
        </p:nvSpPr>
        <p:spPr>
          <a:xfrm>
            <a:off x="8229557" y="3975100"/>
            <a:ext cx="3454382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51" name="Рисунок 3">
            <a:extLst>
              <a:ext uri="{FF2B5EF4-FFF2-40B4-BE49-F238E27FC236}">
                <a16:creationId xmlns:a16="http://schemas.microsoft.com/office/drawing/2014/main" id="{62666490-5191-C214-8138-E68B6614D8E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7998" y="1545743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2" name="Рисунок 3">
            <a:extLst>
              <a:ext uri="{FF2B5EF4-FFF2-40B4-BE49-F238E27FC236}">
                <a16:creationId xmlns:a16="http://schemas.microsoft.com/office/drawing/2014/main" id="{DE9FD4CE-1645-3011-A481-13C89D1D92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68777" y="1545743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3" name="Рисунок 3">
            <a:extLst>
              <a:ext uri="{FF2B5EF4-FFF2-40B4-BE49-F238E27FC236}">
                <a16:creationId xmlns:a16="http://schemas.microsoft.com/office/drawing/2014/main" id="{1A5CA3AA-4680-C566-DDAD-CC744E52B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9557" y="1545743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D45B113C-B46A-CAFA-037B-F4D3D7175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7F838D05-0CF3-37EB-0391-CC6213A7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Контакты</a:t>
            </a:r>
            <a:endParaRPr lang="ru-RU" dirty="0"/>
          </a:p>
        </p:txBody>
      </p:sp>
      <p:sp>
        <p:nvSpPr>
          <p:cNvPr id="17" name="Текст 43">
            <a:extLst>
              <a:ext uri="{FF2B5EF4-FFF2-40B4-BE49-F238E27FC236}">
                <a16:creationId xmlns:a16="http://schemas.microsoft.com/office/drawing/2014/main" id="{3B860D6E-5089-2B71-ED8F-503CEDE00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1363" y="2659711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Образование</a:t>
            </a:r>
            <a:endParaRPr lang="ru-RU" dirty="0"/>
          </a:p>
        </p:txBody>
      </p:sp>
      <p:sp>
        <p:nvSpPr>
          <p:cNvPr id="18" name="Текст 43">
            <a:extLst>
              <a:ext uri="{FF2B5EF4-FFF2-40B4-BE49-F238E27FC236}">
                <a16:creationId xmlns:a16="http://schemas.microsoft.com/office/drawing/2014/main" id="{35C133CC-3D71-C903-687A-211AE08655A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371975" y="2659711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Образование</a:t>
            </a:r>
            <a:endParaRPr lang="ru-RU" dirty="0"/>
          </a:p>
        </p:txBody>
      </p:sp>
      <p:sp>
        <p:nvSpPr>
          <p:cNvPr id="22" name="Текст 43">
            <a:extLst>
              <a:ext uri="{FF2B5EF4-FFF2-40B4-BE49-F238E27FC236}">
                <a16:creationId xmlns:a16="http://schemas.microsoft.com/office/drawing/2014/main" id="{1AA5350E-2405-BE5B-29A6-1405F5426B0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233005" y="2659711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Образование</a:t>
            </a:r>
            <a:endParaRPr lang="ru-RU" dirty="0"/>
          </a:p>
        </p:txBody>
      </p:sp>
      <p:sp>
        <p:nvSpPr>
          <p:cNvPr id="23" name="Текст 43">
            <a:extLst>
              <a:ext uri="{FF2B5EF4-FFF2-40B4-BE49-F238E27FC236}">
                <a16:creationId xmlns:a16="http://schemas.microsoft.com/office/drawing/2014/main" id="{9129282A-F1C3-C1A6-EA91-84A56F1F325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11363" y="4199743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Релевантный проектный опыт</a:t>
            </a:r>
            <a:endParaRPr lang="ru-RU" dirty="0"/>
          </a:p>
        </p:txBody>
      </p:sp>
      <p:sp>
        <p:nvSpPr>
          <p:cNvPr id="24" name="Текст 43">
            <a:extLst>
              <a:ext uri="{FF2B5EF4-FFF2-40B4-BE49-F238E27FC236}">
                <a16:creationId xmlns:a16="http://schemas.microsoft.com/office/drawing/2014/main" id="{9BC630EC-6A14-9CDB-E7BC-AB5365CFB627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371975" y="4199743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Релевантный проектный опыт</a:t>
            </a:r>
            <a:endParaRPr lang="ru-RU" dirty="0"/>
          </a:p>
        </p:txBody>
      </p:sp>
      <p:sp>
        <p:nvSpPr>
          <p:cNvPr id="26" name="Текст 43">
            <a:extLst>
              <a:ext uri="{FF2B5EF4-FFF2-40B4-BE49-F238E27FC236}">
                <a16:creationId xmlns:a16="http://schemas.microsoft.com/office/drawing/2014/main" id="{D5A6E256-9CDF-E7B8-7291-8914E35DE35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233005" y="4199743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Релевантный проектный опыт</a:t>
            </a:r>
            <a:endParaRPr lang="ru-RU" dirty="0"/>
          </a:p>
        </p:txBody>
      </p:sp>
      <p:sp>
        <p:nvSpPr>
          <p:cNvPr id="27" name="Текст 61">
            <a:extLst>
              <a:ext uri="{FF2B5EF4-FFF2-40B4-BE49-F238E27FC236}">
                <a16:creationId xmlns:a16="http://schemas.microsoft.com/office/drawing/2014/main" id="{A7E8F08D-9A13-4ABD-105D-5231174F0710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82645" y="2938575"/>
            <a:ext cx="3454382" cy="923330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28" name="Текст 61">
            <a:extLst>
              <a:ext uri="{FF2B5EF4-FFF2-40B4-BE49-F238E27FC236}">
                <a16:creationId xmlns:a16="http://schemas.microsoft.com/office/drawing/2014/main" id="{A85FED70-0850-5739-9B2F-E14B337F92A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46529" y="2938575"/>
            <a:ext cx="3454382" cy="923330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29" name="Текст 61">
            <a:extLst>
              <a:ext uri="{FF2B5EF4-FFF2-40B4-BE49-F238E27FC236}">
                <a16:creationId xmlns:a16="http://schemas.microsoft.com/office/drawing/2014/main" id="{D64B3522-6872-D935-A64C-077FCCA53E6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307309" y="2938575"/>
            <a:ext cx="3454382" cy="923330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33" name="Текст 61">
            <a:extLst>
              <a:ext uri="{FF2B5EF4-FFF2-40B4-BE49-F238E27FC236}">
                <a16:creationId xmlns:a16="http://schemas.microsoft.com/office/drawing/2014/main" id="{23E6B087-9E5A-7089-39D3-BE5394B29E70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82645" y="4487459"/>
            <a:ext cx="3454382" cy="1231106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9833D6DD-D899-3CCE-A6F5-9AED84FBBC1B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4446529" y="4487459"/>
            <a:ext cx="3454382" cy="1231106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BD69CDB2-B5D1-4DB9-FB1F-F8907BF3F53C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307309" y="4487459"/>
            <a:ext cx="3454382" cy="1231106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38" name="Текст 43">
            <a:extLst>
              <a:ext uri="{FF2B5EF4-FFF2-40B4-BE49-F238E27FC236}">
                <a16:creationId xmlns:a16="http://schemas.microsoft.com/office/drawing/2014/main" id="{9897BA40-E0EE-5FC7-975B-E53ABF33238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394363" y="1558695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39" name="Текст 43">
            <a:extLst>
              <a:ext uri="{FF2B5EF4-FFF2-40B4-BE49-F238E27FC236}">
                <a16:creationId xmlns:a16="http://schemas.microsoft.com/office/drawing/2014/main" id="{977EB17D-AFC4-8BD3-3243-07F258E5210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5254975" y="1558695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0" name="Текст 43">
            <a:extLst>
              <a:ext uri="{FF2B5EF4-FFF2-40B4-BE49-F238E27FC236}">
                <a16:creationId xmlns:a16="http://schemas.microsoft.com/office/drawing/2014/main" id="{0BAAF003-4E0A-1B44-F580-2A74E2DD053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9116005" y="1558695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1" name="Текст 43">
            <a:extLst>
              <a:ext uri="{FF2B5EF4-FFF2-40B4-BE49-F238E27FC236}">
                <a16:creationId xmlns:a16="http://schemas.microsoft.com/office/drawing/2014/main" id="{3F57F526-C674-4EB7-1779-BEC012A2F38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385031" y="1745305"/>
            <a:ext cx="2556000" cy="279115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в одну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или две строки</a:t>
            </a:r>
            <a:endParaRPr lang="ru-RU" dirty="0"/>
          </a:p>
        </p:txBody>
      </p:sp>
      <p:sp>
        <p:nvSpPr>
          <p:cNvPr id="42" name="Текст 43">
            <a:extLst>
              <a:ext uri="{FF2B5EF4-FFF2-40B4-BE49-F238E27FC236}">
                <a16:creationId xmlns:a16="http://schemas.microsoft.com/office/drawing/2014/main" id="{E2E36A89-412C-24B9-271A-FB4B58B7C939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5245643" y="1745305"/>
            <a:ext cx="2556000" cy="279115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в одну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или две строки</a:t>
            </a:r>
            <a:endParaRPr lang="ru-RU" dirty="0"/>
          </a:p>
        </p:txBody>
      </p:sp>
      <p:sp>
        <p:nvSpPr>
          <p:cNvPr id="43" name="Текст 43">
            <a:extLst>
              <a:ext uri="{FF2B5EF4-FFF2-40B4-BE49-F238E27FC236}">
                <a16:creationId xmlns:a16="http://schemas.microsoft.com/office/drawing/2014/main" id="{BE398214-16FA-F098-A67B-03E0D671DE15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106673" y="1745305"/>
            <a:ext cx="2556000" cy="279115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в одну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или две строки</a:t>
            </a:r>
            <a:endParaRPr lang="ru-RU" dirty="0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AFD88698-9095-711D-1E9C-93747E61B0D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94363" y="2220520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10 лет опыта в консалтинге</a:t>
            </a:r>
            <a:endParaRPr lang="ru-RU" dirty="0"/>
          </a:p>
        </p:txBody>
      </p:sp>
      <p:sp>
        <p:nvSpPr>
          <p:cNvPr id="48" name="Текст 43">
            <a:extLst>
              <a:ext uri="{FF2B5EF4-FFF2-40B4-BE49-F238E27FC236}">
                <a16:creationId xmlns:a16="http://schemas.microsoft.com/office/drawing/2014/main" id="{0A6469A4-F157-3302-BCDA-D03B380F59B5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254975" y="2220520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10 лет опыта в консалтинге</a:t>
            </a:r>
            <a:endParaRPr lang="ru-RU" dirty="0"/>
          </a:p>
        </p:txBody>
      </p:sp>
      <p:sp>
        <p:nvSpPr>
          <p:cNvPr id="49" name="Текст 43">
            <a:extLst>
              <a:ext uri="{FF2B5EF4-FFF2-40B4-BE49-F238E27FC236}">
                <a16:creationId xmlns:a16="http://schemas.microsoft.com/office/drawing/2014/main" id="{B282F5A5-4F1E-9437-EC5A-6328D6446DA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9116005" y="2220520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10 лет опыта в консалтинге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69F3AC-448D-60A2-E94F-6AA7DEBAB8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B61AC195-2F7C-E572-EBAA-D6960D5C876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99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нта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C6F1FF5-64BD-5D60-A6C1-ED41CCAF8737}"/>
              </a:ext>
            </a:extLst>
          </p:cNvPr>
          <p:cNvSpPr/>
          <p:nvPr userDrawn="1"/>
        </p:nvSpPr>
        <p:spPr>
          <a:xfrm>
            <a:off x="6146768" y="1397000"/>
            <a:ext cx="5689570" cy="502920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9424CCF-1156-D31B-265B-569331AEEB49}"/>
              </a:ext>
            </a:extLst>
          </p:cNvPr>
          <p:cNvSpPr/>
          <p:nvPr userDrawn="1"/>
        </p:nvSpPr>
        <p:spPr>
          <a:xfrm>
            <a:off x="355598" y="139700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C759ECAA-97C2-81C4-F32C-F9D6A2302A03}"/>
              </a:ext>
            </a:extLst>
          </p:cNvPr>
          <p:cNvSpPr/>
          <p:nvPr userDrawn="1"/>
        </p:nvSpPr>
        <p:spPr>
          <a:xfrm>
            <a:off x="355598" y="4622800"/>
            <a:ext cx="11480740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CD996B89-66D4-96DD-454D-590039AA3AED}"/>
              </a:ext>
            </a:extLst>
          </p:cNvPr>
          <p:cNvSpPr/>
          <p:nvPr userDrawn="1"/>
        </p:nvSpPr>
        <p:spPr>
          <a:xfrm>
            <a:off x="355598" y="3200400"/>
            <a:ext cx="8585155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87" name="Рисунок 3">
            <a:extLst>
              <a:ext uri="{FF2B5EF4-FFF2-40B4-BE49-F238E27FC236}">
                <a16:creationId xmlns:a16="http://schemas.microsoft.com/office/drawing/2014/main" id="{ACFE5DFD-4E0C-2086-22F2-67BC5CE426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51184" y="178231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88" name="Рисунок 3">
            <a:extLst>
              <a:ext uri="{FF2B5EF4-FFF2-40B4-BE49-F238E27FC236}">
                <a16:creationId xmlns:a16="http://schemas.microsoft.com/office/drawing/2014/main" id="{E779BC55-76DD-9C92-8517-41C57F02A3F5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3251184" y="248920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2" name="Рисунок 3">
            <a:extLst>
              <a:ext uri="{FF2B5EF4-FFF2-40B4-BE49-F238E27FC236}">
                <a16:creationId xmlns:a16="http://schemas.microsoft.com/office/drawing/2014/main" id="{87D31E10-1E47-8F76-79D1-D1BBF0A7D2E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042353" y="178231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3" name="Рисунок 3">
            <a:extLst>
              <a:ext uri="{FF2B5EF4-FFF2-40B4-BE49-F238E27FC236}">
                <a16:creationId xmlns:a16="http://schemas.microsoft.com/office/drawing/2014/main" id="{6BAA78B4-42A6-36E3-4E30-4E92E4937C3B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9042353" y="248920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4" name="Рисунок 3">
            <a:extLst>
              <a:ext uri="{FF2B5EF4-FFF2-40B4-BE49-F238E27FC236}">
                <a16:creationId xmlns:a16="http://schemas.microsoft.com/office/drawing/2014/main" id="{CF247644-984F-6FD1-8C72-8A828858BFC9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299167" y="178231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39" name="Рисунок 3">
            <a:extLst>
              <a:ext uri="{FF2B5EF4-FFF2-40B4-BE49-F238E27FC236}">
                <a16:creationId xmlns:a16="http://schemas.microsoft.com/office/drawing/2014/main" id="{3446B595-A7F9-0121-A13A-0C379671F941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3251184" y="3583379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41" name="Рисунок 3">
            <a:extLst>
              <a:ext uri="{FF2B5EF4-FFF2-40B4-BE49-F238E27FC236}">
                <a16:creationId xmlns:a16="http://schemas.microsoft.com/office/drawing/2014/main" id="{83A6AA23-77D5-707C-E5D7-78FB85EC3DE7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9042353" y="3254195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42" name="Рисунок 3">
            <a:extLst>
              <a:ext uri="{FF2B5EF4-FFF2-40B4-BE49-F238E27FC236}">
                <a16:creationId xmlns:a16="http://schemas.microsoft.com/office/drawing/2014/main" id="{FBC287E1-3F62-529B-4FD1-D608ACF9D4D2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9042353" y="3961086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43" name="Рисунок 3">
            <a:extLst>
              <a:ext uri="{FF2B5EF4-FFF2-40B4-BE49-F238E27FC236}">
                <a16:creationId xmlns:a16="http://schemas.microsoft.com/office/drawing/2014/main" id="{3A06DE60-8B45-5C26-0D1D-E300A7385530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6299167" y="3583379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68" name="Рисунок 3">
            <a:extLst>
              <a:ext uri="{FF2B5EF4-FFF2-40B4-BE49-F238E27FC236}">
                <a16:creationId xmlns:a16="http://schemas.microsoft.com/office/drawing/2014/main" id="{4477EE98-B7C9-343C-2EF0-AC5339C67BE6}"/>
              </a:ext>
            </a:extLst>
          </p:cNvPr>
          <p:cNvSpPr>
            <a:spLocks noGrp="1"/>
          </p:cNvSpPr>
          <p:nvPr>
            <p:ph type="pic" sz="quarter" idx="111"/>
          </p:nvPr>
        </p:nvSpPr>
        <p:spPr>
          <a:xfrm>
            <a:off x="6299167" y="571602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1" name="Рисунок 3">
            <a:extLst>
              <a:ext uri="{FF2B5EF4-FFF2-40B4-BE49-F238E27FC236}">
                <a16:creationId xmlns:a16="http://schemas.microsoft.com/office/drawing/2014/main" id="{CA969919-82D3-AB0D-EB8C-7ECDD04BAC7C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>
          <a:xfrm>
            <a:off x="3251184" y="5003538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2" name="Рисунок 3">
            <a:extLst>
              <a:ext uri="{FF2B5EF4-FFF2-40B4-BE49-F238E27FC236}">
                <a16:creationId xmlns:a16="http://schemas.microsoft.com/office/drawing/2014/main" id="{367BDDBE-A8D7-179E-8AA6-ADACFDB939FB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>
          <a:xfrm>
            <a:off x="9042353" y="5003538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3" name="Рисунок 3">
            <a:extLst>
              <a:ext uri="{FF2B5EF4-FFF2-40B4-BE49-F238E27FC236}">
                <a16:creationId xmlns:a16="http://schemas.microsoft.com/office/drawing/2014/main" id="{D1514E6D-3A2C-494E-CEAA-5DE0E47EDFEC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>
          <a:xfrm>
            <a:off x="9042353" y="5710428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4" name="Рисунок 3">
            <a:extLst>
              <a:ext uri="{FF2B5EF4-FFF2-40B4-BE49-F238E27FC236}">
                <a16:creationId xmlns:a16="http://schemas.microsoft.com/office/drawing/2014/main" id="{5A1ECC4D-9EC4-998B-8B44-50358395740D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>
          <a:xfrm>
            <a:off x="6299167" y="5003538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90" name="Текст 288">
            <a:extLst>
              <a:ext uri="{FF2B5EF4-FFF2-40B4-BE49-F238E27FC236}">
                <a16:creationId xmlns:a16="http://schemas.microsoft.com/office/drawing/2014/main" id="{2009B848-5B1D-C041-87AB-64C1C9FE7035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09230" y="6590589"/>
            <a:ext cx="1837502" cy="154782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1pPr>
            <a:lvl2pPr marL="228554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*вовлечение по необходимости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CA1870DE-A83B-CC51-135A-F39320445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18D8360-B847-7554-1119-5A051247B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7814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Предлагаемая организационная структура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проектной команды</a:t>
            </a:r>
            <a:endParaRPr lang="ru-RU" dirty="0"/>
          </a:p>
        </p:txBody>
      </p:sp>
      <p:sp>
        <p:nvSpPr>
          <p:cNvPr id="14" name="Текст 43">
            <a:extLst>
              <a:ext uri="{FF2B5EF4-FFF2-40B4-BE49-F238E27FC236}">
                <a16:creationId xmlns:a16="http://schemas.microsoft.com/office/drawing/2014/main" id="{D23875AC-EE7E-8E3E-B73F-B45DD87DF7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032" y="1502491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Управляющий комитет</a:t>
            </a:r>
            <a:endParaRPr lang="ru-RU" dirty="0"/>
          </a:p>
        </p:txBody>
      </p:sp>
      <p:sp>
        <p:nvSpPr>
          <p:cNvPr id="19" name="Текст 43">
            <a:extLst>
              <a:ext uri="{FF2B5EF4-FFF2-40B4-BE49-F238E27FC236}">
                <a16:creationId xmlns:a16="http://schemas.microsoft.com/office/drawing/2014/main" id="{17CD6B1E-A70D-3C07-18C7-345FF2E06A66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223883" y="1502491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20" name="Текст 43">
            <a:extLst>
              <a:ext uri="{FF2B5EF4-FFF2-40B4-BE49-F238E27FC236}">
                <a16:creationId xmlns:a16="http://schemas.microsoft.com/office/drawing/2014/main" id="{90B9E697-4A7C-4980-103A-2089E58554DF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297488" y="1502491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21" name="Текст 43">
            <a:extLst>
              <a:ext uri="{FF2B5EF4-FFF2-40B4-BE49-F238E27FC236}">
                <a16:creationId xmlns:a16="http://schemas.microsoft.com/office/drawing/2014/main" id="{7228E426-E06E-6089-3BBD-7029F7FA651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042353" y="1502491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Группа экспертов *</a:t>
            </a:r>
            <a:endParaRPr lang="ru-RU" dirty="0"/>
          </a:p>
        </p:txBody>
      </p:sp>
      <p:sp>
        <p:nvSpPr>
          <p:cNvPr id="25" name="Текст 43">
            <a:extLst>
              <a:ext uri="{FF2B5EF4-FFF2-40B4-BE49-F238E27FC236}">
                <a16:creationId xmlns:a16="http://schemas.microsoft.com/office/drawing/2014/main" id="{591F7309-484F-B9F0-990A-3B9705FFC394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02032" y="4723323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Управляющий комитет</a:t>
            </a:r>
            <a:endParaRPr lang="ru-RU" dirty="0"/>
          </a:p>
        </p:txBody>
      </p:sp>
      <p:sp>
        <p:nvSpPr>
          <p:cNvPr id="26" name="Текст 43">
            <a:extLst>
              <a:ext uri="{FF2B5EF4-FFF2-40B4-BE49-F238E27FC236}">
                <a16:creationId xmlns:a16="http://schemas.microsoft.com/office/drawing/2014/main" id="{85590FAE-E2AF-9656-E21E-F64EA95D7B05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3223883" y="4723323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27" name="Текст 43">
            <a:extLst>
              <a:ext uri="{FF2B5EF4-FFF2-40B4-BE49-F238E27FC236}">
                <a16:creationId xmlns:a16="http://schemas.microsoft.com/office/drawing/2014/main" id="{B3147729-F0F9-DA05-6156-BC43FA06D786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6297488" y="4723323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28" name="Текст 43">
            <a:extLst>
              <a:ext uri="{FF2B5EF4-FFF2-40B4-BE49-F238E27FC236}">
                <a16:creationId xmlns:a16="http://schemas.microsoft.com/office/drawing/2014/main" id="{306D62E2-7B2A-065A-ED86-D8477AD7C33F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9042353" y="4723323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Группа экспертов *</a:t>
            </a:r>
            <a:endParaRPr lang="ru-RU" dirty="0"/>
          </a:p>
        </p:txBody>
      </p:sp>
      <p:sp>
        <p:nvSpPr>
          <p:cNvPr id="29" name="Текст 43">
            <a:extLst>
              <a:ext uri="{FF2B5EF4-FFF2-40B4-BE49-F238E27FC236}">
                <a16:creationId xmlns:a16="http://schemas.microsoft.com/office/drawing/2014/main" id="{3E043A09-496E-F35C-1197-FCAF62553EB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502032" y="3282450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Управляющий комитет</a:t>
            </a:r>
            <a:endParaRPr lang="ru-RU" dirty="0"/>
          </a:p>
        </p:txBody>
      </p:sp>
      <p:sp>
        <p:nvSpPr>
          <p:cNvPr id="30" name="Текст 43">
            <a:extLst>
              <a:ext uri="{FF2B5EF4-FFF2-40B4-BE49-F238E27FC236}">
                <a16:creationId xmlns:a16="http://schemas.microsoft.com/office/drawing/2014/main" id="{87F6CD53-FFAB-9CE3-4099-ABF503E150CB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223883" y="3282450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31" name="Текст 43">
            <a:extLst>
              <a:ext uri="{FF2B5EF4-FFF2-40B4-BE49-F238E27FC236}">
                <a16:creationId xmlns:a16="http://schemas.microsoft.com/office/drawing/2014/main" id="{190E94EC-3DD0-5DC1-E0D4-8346944D51A7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6297488" y="3282450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32" name="Текст 43">
            <a:extLst>
              <a:ext uri="{FF2B5EF4-FFF2-40B4-BE49-F238E27FC236}">
                <a16:creationId xmlns:a16="http://schemas.microsoft.com/office/drawing/2014/main" id="{3BF2AF82-8E7C-07DC-5E40-069E6849E70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965125" y="1779594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33" name="Текст 43">
            <a:extLst>
              <a:ext uri="{FF2B5EF4-FFF2-40B4-BE49-F238E27FC236}">
                <a16:creationId xmlns:a16="http://schemas.microsoft.com/office/drawing/2014/main" id="{98CE5F61-AC52-1078-ECC8-4FB8ACC6160D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955793" y="1959266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34" name="Текст 43">
            <a:extLst>
              <a:ext uri="{FF2B5EF4-FFF2-40B4-BE49-F238E27FC236}">
                <a16:creationId xmlns:a16="http://schemas.microsoft.com/office/drawing/2014/main" id="{F706F15B-0C04-B501-061B-BC0C8B58C79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7010392" y="1779594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35" name="Текст 43">
            <a:extLst>
              <a:ext uri="{FF2B5EF4-FFF2-40B4-BE49-F238E27FC236}">
                <a16:creationId xmlns:a16="http://schemas.microsoft.com/office/drawing/2014/main" id="{883933F1-6394-EFE9-0937-350E8C8A544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7001060" y="1959266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36" name="Текст 43">
            <a:extLst>
              <a:ext uri="{FF2B5EF4-FFF2-40B4-BE49-F238E27FC236}">
                <a16:creationId xmlns:a16="http://schemas.microsoft.com/office/drawing/2014/main" id="{04145BA8-1D7C-816D-5AB8-CE8EB31D5471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9754028" y="1779594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37" name="Текст 43">
            <a:extLst>
              <a:ext uri="{FF2B5EF4-FFF2-40B4-BE49-F238E27FC236}">
                <a16:creationId xmlns:a16="http://schemas.microsoft.com/office/drawing/2014/main" id="{2107AEB4-D9ED-B8A2-262B-7DA8097CB7DD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9744696" y="1959266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43" name="Текст 43">
            <a:extLst>
              <a:ext uri="{FF2B5EF4-FFF2-40B4-BE49-F238E27FC236}">
                <a16:creationId xmlns:a16="http://schemas.microsoft.com/office/drawing/2014/main" id="{B7D1F3D3-FAEE-A4FC-BD3C-EA783BEFAB67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965125" y="2489200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E9F5F3A0-3A0D-EC48-0358-C2F01DE73F6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955793" y="2668872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45" name="Текст 43">
            <a:extLst>
              <a:ext uri="{FF2B5EF4-FFF2-40B4-BE49-F238E27FC236}">
                <a16:creationId xmlns:a16="http://schemas.microsoft.com/office/drawing/2014/main" id="{0A7B4970-D9B6-9DA1-AED8-93778DA1A19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9754028" y="2489200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6" name="Текст 43">
            <a:extLst>
              <a:ext uri="{FF2B5EF4-FFF2-40B4-BE49-F238E27FC236}">
                <a16:creationId xmlns:a16="http://schemas.microsoft.com/office/drawing/2014/main" id="{5CD35970-7C4C-A14B-B7F8-AA18D52A1E4F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9744696" y="2668872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47" name="Текст 43">
            <a:extLst>
              <a:ext uri="{FF2B5EF4-FFF2-40B4-BE49-F238E27FC236}">
                <a16:creationId xmlns:a16="http://schemas.microsoft.com/office/drawing/2014/main" id="{BC32F97F-DA71-8F13-E2F0-0089154C902B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3965125" y="3583379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8" name="Текст 43">
            <a:extLst>
              <a:ext uri="{FF2B5EF4-FFF2-40B4-BE49-F238E27FC236}">
                <a16:creationId xmlns:a16="http://schemas.microsoft.com/office/drawing/2014/main" id="{8D250BC9-57F4-BDFE-A001-6E29A34C44A1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3955793" y="3763051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49" name="Текст 43">
            <a:extLst>
              <a:ext uri="{FF2B5EF4-FFF2-40B4-BE49-F238E27FC236}">
                <a16:creationId xmlns:a16="http://schemas.microsoft.com/office/drawing/2014/main" id="{4B82401C-92C2-96F9-C0FB-0C5D0E891B6B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7010392" y="3583379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0" name="Текст 43">
            <a:extLst>
              <a:ext uri="{FF2B5EF4-FFF2-40B4-BE49-F238E27FC236}">
                <a16:creationId xmlns:a16="http://schemas.microsoft.com/office/drawing/2014/main" id="{90A0E225-EE98-6FDC-19CC-0EB7E71339B9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7001060" y="3763051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1" name="Текст 43">
            <a:extLst>
              <a:ext uri="{FF2B5EF4-FFF2-40B4-BE49-F238E27FC236}">
                <a16:creationId xmlns:a16="http://schemas.microsoft.com/office/drawing/2014/main" id="{A5327E1F-E291-E735-B1AC-D1020BE24F36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754028" y="320723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2" name="Текст 43">
            <a:extLst>
              <a:ext uri="{FF2B5EF4-FFF2-40B4-BE49-F238E27FC236}">
                <a16:creationId xmlns:a16="http://schemas.microsoft.com/office/drawing/2014/main" id="{FC48C610-3CE7-38BF-5517-6EFC74D08F6F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744696" y="338691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3" name="Текст 43">
            <a:extLst>
              <a:ext uri="{FF2B5EF4-FFF2-40B4-BE49-F238E27FC236}">
                <a16:creationId xmlns:a16="http://schemas.microsoft.com/office/drawing/2014/main" id="{84FE25A4-DF34-0FCC-2E43-EC2B6F07064A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754028" y="392008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4" name="Текст 43">
            <a:extLst>
              <a:ext uri="{FF2B5EF4-FFF2-40B4-BE49-F238E27FC236}">
                <a16:creationId xmlns:a16="http://schemas.microsoft.com/office/drawing/2014/main" id="{F0D1BC3F-70DF-908B-E303-7F872DED918C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9744696" y="409976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5" name="Текст 43">
            <a:extLst>
              <a:ext uri="{FF2B5EF4-FFF2-40B4-BE49-F238E27FC236}">
                <a16:creationId xmlns:a16="http://schemas.microsoft.com/office/drawing/2014/main" id="{7B6055C3-CEA4-848D-3DD1-3F2524BF0991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965125" y="500353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6" name="Текст 43">
            <a:extLst>
              <a:ext uri="{FF2B5EF4-FFF2-40B4-BE49-F238E27FC236}">
                <a16:creationId xmlns:a16="http://schemas.microsoft.com/office/drawing/2014/main" id="{016AA76F-D10F-1E20-B521-8BB873273717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955793" y="518321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7" name="Текст 43">
            <a:extLst>
              <a:ext uri="{FF2B5EF4-FFF2-40B4-BE49-F238E27FC236}">
                <a16:creationId xmlns:a16="http://schemas.microsoft.com/office/drawing/2014/main" id="{E18AEB03-9250-2999-FB41-EEDF0D84ADBB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7010392" y="500353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8" name="Текст 43">
            <a:extLst>
              <a:ext uri="{FF2B5EF4-FFF2-40B4-BE49-F238E27FC236}">
                <a16:creationId xmlns:a16="http://schemas.microsoft.com/office/drawing/2014/main" id="{9EE624B1-206D-AA8E-4F14-A7A90DC72016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7001060" y="518321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9" name="Текст 43">
            <a:extLst>
              <a:ext uri="{FF2B5EF4-FFF2-40B4-BE49-F238E27FC236}">
                <a16:creationId xmlns:a16="http://schemas.microsoft.com/office/drawing/2014/main" id="{F18B874B-6C9E-6737-9C8B-129A973B9222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9754028" y="500353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60" name="Текст 43">
            <a:extLst>
              <a:ext uri="{FF2B5EF4-FFF2-40B4-BE49-F238E27FC236}">
                <a16:creationId xmlns:a16="http://schemas.microsoft.com/office/drawing/2014/main" id="{F8943A40-07BA-2B12-81F0-5FB9E972E6A2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9744696" y="518321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61" name="Текст 43">
            <a:extLst>
              <a:ext uri="{FF2B5EF4-FFF2-40B4-BE49-F238E27FC236}">
                <a16:creationId xmlns:a16="http://schemas.microsoft.com/office/drawing/2014/main" id="{2FD6EC3E-F06F-C274-3ED4-C2074956AA5E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7010392" y="5717901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62" name="Текст 43">
            <a:extLst>
              <a:ext uri="{FF2B5EF4-FFF2-40B4-BE49-F238E27FC236}">
                <a16:creationId xmlns:a16="http://schemas.microsoft.com/office/drawing/2014/main" id="{9A9DE9C0-DBF3-4697-EA28-A002662648FF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7001060" y="5897573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63" name="Текст 43">
            <a:extLst>
              <a:ext uri="{FF2B5EF4-FFF2-40B4-BE49-F238E27FC236}">
                <a16:creationId xmlns:a16="http://schemas.microsoft.com/office/drawing/2014/main" id="{3F46D33E-6F65-8826-AC6B-F9A3DFF8BFC9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9754028" y="5717901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128" name="Текст 43">
            <a:extLst>
              <a:ext uri="{FF2B5EF4-FFF2-40B4-BE49-F238E27FC236}">
                <a16:creationId xmlns:a16="http://schemas.microsoft.com/office/drawing/2014/main" id="{C05521A9-09BD-8AA1-1A0D-AC030A97AE85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9744696" y="5897573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2836B1-DB76-CF7C-8C6E-1194F67B2C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77950DB1-9E8F-ED7D-54B9-0642E1E7C0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08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Контакт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1D36A4C-2BB8-527C-1879-E62D2EAE1DDE}"/>
              </a:ext>
            </a:extLst>
          </p:cNvPr>
          <p:cNvSpPr/>
          <p:nvPr userDrawn="1"/>
        </p:nvSpPr>
        <p:spPr>
          <a:xfrm>
            <a:off x="355598" y="1397000"/>
            <a:ext cx="3759181" cy="29273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851930C-2B21-3080-1961-CF5D78533821}"/>
              </a:ext>
            </a:extLst>
          </p:cNvPr>
          <p:cNvSpPr/>
          <p:nvPr userDrawn="1"/>
        </p:nvSpPr>
        <p:spPr>
          <a:xfrm>
            <a:off x="4216378" y="1397000"/>
            <a:ext cx="3759181" cy="29273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255A8AAC-F43C-A0BF-91DA-C7C001939D70}"/>
              </a:ext>
            </a:extLst>
          </p:cNvPr>
          <p:cNvSpPr/>
          <p:nvPr userDrawn="1"/>
        </p:nvSpPr>
        <p:spPr>
          <a:xfrm>
            <a:off x="8077158" y="1397000"/>
            <a:ext cx="3759181" cy="29273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13" name="Image 4" descr=" ">
            <a:extLst>
              <a:ext uri="{FF2B5EF4-FFF2-40B4-BE49-F238E27FC236}">
                <a16:creationId xmlns:a16="http://schemas.microsoft.com/office/drawing/2014/main" id="{EA6E1DA9-1858-1D54-F485-BBC30BDF00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7735" y="3860412"/>
            <a:ext cx="393698" cy="48260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66D9A78D-D839-CFA5-288C-E493082439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8515" y="3860412"/>
            <a:ext cx="393698" cy="482600"/>
          </a:xfrm>
          <a:prstGeom prst="rect">
            <a:avLst/>
          </a:prstGeom>
        </p:spPr>
      </p:pic>
      <p:pic>
        <p:nvPicPr>
          <p:cNvPr id="16" name="Image 6" descr=" ">
            <a:extLst>
              <a:ext uri="{FF2B5EF4-FFF2-40B4-BE49-F238E27FC236}">
                <a16:creationId xmlns:a16="http://schemas.microsoft.com/office/drawing/2014/main" id="{DAB0A414-9D34-C109-FB94-682BDB8C5B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295" y="3860412"/>
            <a:ext cx="393698" cy="482600"/>
          </a:xfrm>
          <a:prstGeom prst="rect">
            <a:avLst/>
          </a:prstGeom>
        </p:spPr>
      </p:pic>
      <p:sp>
        <p:nvSpPr>
          <p:cNvPr id="51" name="Shape 24">
            <a:hlinkClick r:id="rId3"/>
            <a:extLst>
              <a:ext uri="{FF2B5EF4-FFF2-40B4-BE49-F238E27FC236}">
                <a16:creationId xmlns:a16="http://schemas.microsoft.com/office/drawing/2014/main" id="{19BC0D60-51DC-1454-F019-764975698A97}"/>
              </a:ext>
            </a:extLst>
          </p:cNvPr>
          <p:cNvSpPr/>
          <p:nvPr userDrawn="1"/>
        </p:nvSpPr>
        <p:spPr>
          <a:xfrm>
            <a:off x="355598" y="5105400"/>
            <a:ext cx="1447792" cy="4572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413DD0EB-49F1-69F4-515B-9742884E34A8}"/>
              </a:ext>
            </a:extLst>
          </p:cNvPr>
          <p:cNvSpPr/>
          <p:nvPr userDrawn="1"/>
        </p:nvSpPr>
        <p:spPr>
          <a:xfrm>
            <a:off x="537630" y="5257800"/>
            <a:ext cx="1083728" cy="194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www.</a:t>
            </a:r>
            <a:r>
              <a:rPr lang="en-US" sz="1000" dirty="0">
                <a:solidFill>
                  <a:srgbClr val="FFFFFF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reksoft</a:t>
            </a:r>
            <a:r>
              <a:rPr lang="en-US" sz="10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.com</a:t>
            </a:r>
            <a:endParaRPr lang="en-US" sz="1000" dirty="0"/>
          </a:p>
        </p:txBody>
      </p:sp>
      <p:sp>
        <p:nvSpPr>
          <p:cNvPr id="131" name="Текст 129">
            <a:extLst>
              <a:ext uri="{FF2B5EF4-FFF2-40B4-BE49-F238E27FC236}">
                <a16:creationId xmlns:a16="http://schemas.microsoft.com/office/drawing/2014/main" id="{2C47B6E2-B69A-0120-7490-EAC73BC141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6847" y="5832906"/>
            <a:ext cx="11489492" cy="666464"/>
          </a:xfrm>
        </p:spPr>
        <p:txBody>
          <a:bodyPr>
            <a:spAutoFit/>
          </a:bodyPr>
          <a:lstStyle>
            <a:lvl1pPr marL="0" indent="0">
              <a:buNone/>
              <a:defRPr sz="800" baseline="0">
                <a:solidFill>
                  <a:schemeClr val="tx1">
                    <a:alpha val="45000"/>
                  </a:schemeClr>
                </a:solidFill>
              </a:defRPr>
            </a:lvl1pPr>
            <a:lvl2pPr marL="228554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</a:t>
            </a:r>
            <a:endParaRPr lang="ru-RU" dirty="0"/>
          </a:p>
        </p:txBody>
      </p:sp>
      <p:sp>
        <p:nvSpPr>
          <p:cNvPr id="173" name="Текст 45">
            <a:extLst>
              <a:ext uri="{FF2B5EF4-FFF2-40B4-BE49-F238E27FC236}">
                <a16:creationId xmlns:a16="http://schemas.microsoft.com/office/drawing/2014/main" id="{9CFAD664-2978-5D86-54A7-DCE0E60F84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0514" y="258734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/>
              <a:t>Имя Фамилия</a:t>
            </a:r>
          </a:p>
        </p:txBody>
      </p:sp>
      <p:sp>
        <p:nvSpPr>
          <p:cNvPr id="202" name="Рисунок 3">
            <a:extLst>
              <a:ext uri="{FF2B5EF4-FFF2-40B4-BE49-F238E27FC236}">
                <a16:creationId xmlns:a16="http://schemas.microsoft.com/office/drawing/2014/main" id="{181C2F54-1160-47EA-14E2-68A0EDBC64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8797" y="1600200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3" name="Рисунок 3">
            <a:extLst>
              <a:ext uri="{FF2B5EF4-FFF2-40B4-BE49-F238E27FC236}">
                <a16:creationId xmlns:a16="http://schemas.microsoft.com/office/drawing/2014/main" id="{9367235B-05EC-9112-E3C7-AADDEF6BC654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419577" y="1600200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4" name="Рисунок 3">
            <a:extLst>
              <a:ext uri="{FF2B5EF4-FFF2-40B4-BE49-F238E27FC236}">
                <a16:creationId xmlns:a16="http://schemas.microsoft.com/office/drawing/2014/main" id="{4AF8670D-623D-ABCC-A3EF-C1F1A2F063C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8280357" y="1600200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AEC8BBDF-B1BD-4515-6FF4-D2A17C88C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27DB846D-6F0F-4636-AFA0-1F4DC19334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Контакты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12765A2D-ECA9-9E24-685F-86362E05E3C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56825" y="2872987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Наименование должности в одну или две строки</a:t>
            </a:r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3511EE44-132D-17D1-CCD7-259E4FFB122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47494" y="3276752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Телефон</a:t>
            </a:r>
          </a:p>
        </p:txBody>
      </p:sp>
      <p:sp>
        <p:nvSpPr>
          <p:cNvPr id="25" name="Текст 22">
            <a:extLst>
              <a:ext uri="{FF2B5EF4-FFF2-40B4-BE49-F238E27FC236}">
                <a16:creationId xmlns:a16="http://schemas.microsoft.com/office/drawing/2014/main" id="{6BFFDC15-5288-F87A-E7F1-632E6A2B949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56825" y="3803501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/>
              <a:t>E-mail</a:t>
            </a:r>
          </a:p>
        </p:txBody>
      </p:sp>
      <p:sp>
        <p:nvSpPr>
          <p:cNvPr id="32" name="Текст 22">
            <a:extLst>
              <a:ext uri="{FF2B5EF4-FFF2-40B4-BE49-F238E27FC236}">
                <a16:creationId xmlns:a16="http://schemas.microsoft.com/office/drawing/2014/main" id="{1A10DE78-1BD3-2A98-E452-8EA1B801477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47494" y="346081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+7 (XXX) XXX-XX-XX (</a:t>
            </a:r>
            <a:r>
              <a:rPr lang="ru-RU" dirty="0">
                <a:effectLst/>
              </a:rPr>
              <a:t>ХХХХХ)</a:t>
            </a:r>
            <a:endParaRPr lang="en-US" sz="1000" dirty="0"/>
          </a:p>
        </p:txBody>
      </p:sp>
      <p:sp>
        <p:nvSpPr>
          <p:cNvPr id="33" name="Текст 22">
            <a:extLst>
              <a:ext uri="{FF2B5EF4-FFF2-40B4-BE49-F238E27FC236}">
                <a16:creationId xmlns:a16="http://schemas.microsoft.com/office/drawing/2014/main" id="{8CA397BB-1340-45DD-9981-C9078D4DFCF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56825" y="399689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name@reksoft.com</a:t>
            </a:r>
            <a:endParaRPr lang="en-US" sz="1000" dirty="0"/>
          </a:p>
        </p:txBody>
      </p:sp>
      <p:pic>
        <p:nvPicPr>
          <p:cNvPr id="34" name="Image 4" descr=" ">
            <a:extLst>
              <a:ext uri="{FF2B5EF4-FFF2-40B4-BE49-F238E27FC236}">
                <a16:creationId xmlns:a16="http://schemas.microsoft.com/office/drawing/2014/main" id="{42B868F3-B759-5531-01BF-CFA11F9FD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6817" y="3860412"/>
            <a:ext cx="393698" cy="482600"/>
          </a:xfrm>
          <a:prstGeom prst="rect">
            <a:avLst/>
          </a:prstGeom>
        </p:spPr>
      </p:pic>
      <p:sp>
        <p:nvSpPr>
          <p:cNvPr id="35" name="Текст 45">
            <a:extLst>
              <a:ext uri="{FF2B5EF4-FFF2-40B4-BE49-F238E27FC236}">
                <a16:creationId xmlns:a16="http://schemas.microsoft.com/office/drawing/2014/main" id="{A9778C18-9D6A-4F42-72B0-AA9E3EE9AF0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419596" y="258734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/>
              <a:t>Имя Фамилия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8B4E5C3A-5D4A-C23A-8D69-42F5B60216F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415907" y="2872987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Наименование должности в одну или две строки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50636ADB-8EC9-9DF1-44C8-5FFF6690855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406576" y="3276752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Телефон</a:t>
            </a:r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704392AE-3D57-718D-EBE1-B74E62761456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415907" y="3803501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/>
              <a:t>E-mail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52034BE9-32CD-064F-54E4-8B3E33D1C58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406576" y="346081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+7 (XXX) XXX-XX-XX (</a:t>
            </a:r>
            <a:r>
              <a:rPr lang="ru-RU" dirty="0">
                <a:effectLst/>
              </a:rPr>
              <a:t>ХХХХХ)</a:t>
            </a:r>
            <a:endParaRPr lang="en-US" sz="1000" dirty="0"/>
          </a:p>
        </p:txBody>
      </p:sp>
      <p:sp>
        <p:nvSpPr>
          <p:cNvPr id="40" name="Текст 22">
            <a:extLst>
              <a:ext uri="{FF2B5EF4-FFF2-40B4-BE49-F238E27FC236}">
                <a16:creationId xmlns:a16="http://schemas.microsoft.com/office/drawing/2014/main" id="{B407FF33-810B-24E6-D4CC-F4FD5162AFFE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415907" y="399689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name@reksoft.com</a:t>
            </a:r>
            <a:endParaRPr lang="en-US" sz="1000" dirty="0"/>
          </a:p>
        </p:txBody>
      </p:sp>
      <p:pic>
        <p:nvPicPr>
          <p:cNvPr id="41" name="Image 4" descr=" ">
            <a:extLst>
              <a:ext uri="{FF2B5EF4-FFF2-40B4-BE49-F238E27FC236}">
                <a16:creationId xmlns:a16="http://schemas.microsoft.com/office/drawing/2014/main" id="{3D5AD7B1-252B-D7A1-149F-F97C95478C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794" y="3860412"/>
            <a:ext cx="393698" cy="482600"/>
          </a:xfrm>
          <a:prstGeom prst="rect">
            <a:avLst/>
          </a:prstGeom>
        </p:spPr>
      </p:pic>
      <p:sp>
        <p:nvSpPr>
          <p:cNvPr id="42" name="Текст 45">
            <a:extLst>
              <a:ext uri="{FF2B5EF4-FFF2-40B4-BE49-F238E27FC236}">
                <a16:creationId xmlns:a16="http://schemas.microsoft.com/office/drawing/2014/main" id="{7B075E0F-3BD8-3620-52C8-8804855BD78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1573" y="258734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/>
              <a:t>Имя Фамилия</a:t>
            </a:r>
          </a:p>
        </p:txBody>
      </p:sp>
      <p:sp>
        <p:nvSpPr>
          <p:cNvPr id="43" name="Текст 22">
            <a:extLst>
              <a:ext uri="{FF2B5EF4-FFF2-40B4-BE49-F238E27FC236}">
                <a16:creationId xmlns:a16="http://schemas.microsoft.com/office/drawing/2014/main" id="{7C059294-7F9D-336D-D83D-C98327AE880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77884" y="2872987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Наименование должности в одну или две строки</a:t>
            </a:r>
          </a:p>
        </p:txBody>
      </p:sp>
      <p:sp>
        <p:nvSpPr>
          <p:cNvPr id="44" name="Текст 22">
            <a:extLst>
              <a:ext uri="{FF2B5EF4-FFF2-40B4-BE49-F238E27FC236}">
                <a16:creationId xmlns:a16="http://schemas.microsoft.com/office/drawing/2014/main" id="{85A1DD26-7475-45A0-CFE1-171370EAFEB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268553" y="3276752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Телефон</a:t>
            </a:r>
          </a:p>
        </p:txBody>
      </p:sp>
      <p:sp>
        <p:nvSpPr>
          <p:cNvPr id="45" name="Текст 22">
            <a:extLst>
              <a:ext uri="{FF2B5EF4-FFF2-40B4-BE49-F238E27FC236}">
                <a16:creationId xmlns:a16="http://schemas.microsoft.com/office/drawing/2014/main" id="{A1F822E8-F4BD-8542-D568-3CB7E2D5FAB2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277884" y="3803501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/>
              <a:t>E-mail</a:t>
            </a:r>
          </a:p>
        </p:txBody>
      </p:sp>
      <p:sp>
        <p:nvSpPr>
          <p:cNvPr id="46" name="Текст 22">
            <a:extLst>
              <a:ext uri="{FF2B5EF4-FFF2-40B4-BE49-F238E27FC236}">
                <a16:creationId xmlns:a16="http://schemas.microsoft.com/office/drawing/2014/main" id="{CDA1673D-8170-8975-4143-E2C4D2D38610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268553" y="346081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+7 (XXX) XXX-XX-XX (</a:t>
            </a:r>
            <a:r>
              <a:rPr lang="ru-RU" dirty="0">
                <a:effectLst/>
              </a:rPr>
              <a:t>ХХХХХ)</a:t>
            </a:r>
            <a:endParaRPr lang="en-US" sz="1000" dirty="0"/>
          </a:p>
        </p:txBody>
      </p:sp>
      <p:sp>
        <p:nvSpPr>
          <p:cNvPr id="47" name="Текст 22">
            <a:extLst>
              <a:ext uri="{FF2B5EF4-FFF2-40B4-BE49-F238E27FC236}">
                <a16:creationId xmlns:a16="http://schemas.microsoft.com/office/drawing/2014/main" id="{B0B658DD-A56C-55E9-6B1A-BDC6C5610FE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277884" y="399689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name@reksoft.com</a:t>
            </a:r>
            <a:endParaRPr lang="en-US" sz="1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A2D529-8A8E-C6B3-442B-377576ED76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0CBCCC21-74BB-6385-B836-09BFCF3C0E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39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ключите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B77683D2-34D1-A652-A7FC-4CFCEBF360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68" y="0"/>
            <a:ext cx="6095968" cy="6858000"/>
          </a:xfrm>
          <a:prstGeom prst="rect">
            <a:avLst/>
          </a:prstGeom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C4B9DA29-EE52-4501-88B4-8394AC52FE50}"/>
              </a:ext>
            </a:extLst>
          </p:cNvPr>
          <p:cNvSpPr/>
          <p:nvPr userDrawn="1"/>
        </p:nvSpPr>
        <p:spPr>
          <a:xfrm>
            <a:off x="355598" y="1403350"/>
            <a:ext cx="5384772" cy="2565400"/>
          </a:xfrm>
          <a:prstGeom prst="rect">
            <a:avLst/>
          </a:prstGeom>
          <a:noFill/>
          <a:ln/>
        </p:spPr>
      </p:sp>
      <p:sp>
        <p:nvSpPr>
          <p:cNvPr id="17" name="Рисунок 3">
            <a:extLst>
              <a:ext uri="{FF2B5EF4-FFF2-40B4-BE49-F238E27FC236}">
                <a16:creationId xmlns:a16="http://schemas.microsoft.com/office/drawing/2014/main" id="{27856579-C874-451C-29B0-9E9DFF749A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E6233398-DBA0-16E4-AD88-53C0BB6734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5600" y="1460500"/>
            <a:ext cx="5470525" cy="443839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7AAE017F-FF26-61DF-7C28-3A34471390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600" y="5931250"/>
            <a:ext cx="3347993" cy="586443"/>
          </a:xfrm>
          <a:noFill/>
          <a:ln/>
        </p:spPr>
        <p:txBody>
          <a:bodyPr vert="horz" wrap="square" lIns="0" tIns="0" rIns="0" bIns="0" rtlCol="0" anchor="b">
            <a:spAutoFit/>
          </a:bodyPr>
          <a:lstStyle>
            <a:lvl1pPr marL="0" indent="0">
              <a:lnSpc>
                <a:spcPts val="2000"/>
              </a:lnSpc>
              <a:buNone/>
              <a:defRPr lang="ru-RU" sz="20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en-US" dirty="0">
                <a:effectLst/>
              </a:rPr>
              <a:t>+7 (XXX) XXX-XX-XX</a:t>
            </a:r>
            <a:endParaRPr lang="ru-RU" dirty="0">
              <a:effectLst/>
            </a:endParaRPr>
          </a:p>
          <a:p>
            <a:pPr marL="0" lvl="0" indent="0">
              <a:lnSpc>
                <a:spcPts val="2000"/>
              </a:lnSpc>
              <a:buNone/>
            </a:pPr>
            <a:r>
              <a:rPr lang="en-US" dirty="0">
                <a:effectLst/>
              </a:rPr>
              <a:t>name@reksoft.com</a:t>
            </a:r>
            <a:endParaRPr lang="ru-RU" dirty="0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4003DCDB-84F4-5DD3-F853-7EFF2FDC87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600" y="4629538"/>
            <a:ext cx="3347993" cy="265842"/>
          </a:xfrm>
          <a:noFill/>
          <a:ln/>
        </p:spPr>
        <p:txBody>
          <a:bodyPr vert="horz" wrap="square" lIns="0" tIns="0" rIns="0" bIns="0" rtlCol="0" anchor="t">
            <a:spAutoFit/>
          </a:bodyPr>
          <a:lstStyle>
            <a:lvl1pPr marL="0" indent="0">
              <a:lnSpc>
                <a:spcPts val="2000"/>
              </a:lnSpc>
              <a:buNone/>
              <a:defRPr lang="ru-RU" sz="20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/>
              <a:t>Имя Фамилия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CAF602-6A0B-ED4A-ABDD-E6D814DED1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88E455-F910-4784-BB57-73CFCDD6B1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2528" y="4768850"/>
            <a:ext cx="1714888" cy="1714888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79E5D165-FC1E-9264-9BAA-B6659B27BB1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7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4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95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Интерфейс и возможнос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2">
            <a:extLst>
              <a:ext uri="{FF2B5EF4-FFF2-40B4-BE49-F238E27FC236}">
                <a16:creationId xmlns:a16="http://schemas.microsoft.com/office/drawing/2014/main" id="{A3BA59F4-5575-AA07-41BB-BFCFE4DD78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1323874"/>
            <a:ext cx="1540800" cy="1636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10000"/>
              </a:lnSpc>
              <a:defRPr sz="1000"/>
            </a:lvl1pPr>
            <a:lvl2pPr>
              <a:lnSpc>
                <a:spcPct val="110000"/>
              </a:lnSpc>
              <a:defRPr sz="1000"/>
            </a:lvl2pPr>
            <a:lvl3pPr>
              <a:lnSpc>
                <a:spcPct val="110000"/>
              </a:lnSpc>
              <a:defRPr sz="1000"/>
            </a:lvl3pPr>
            <a:lvl4pPr>
              <a:lnSpc>
                <a:spcPct val="110000"/>
              </a:lnSpc>
              <a:defRPr sz="1000"/>
            </a:lvl4pPr>
            <a:lvl5pPr>
              <a:lnSpc>
                <a:spcPct val="110000"/>
              </a:lnSpc>
              <a:defRPr sz="1000"/>
            </a:lvl5pPr>
            <a:lvl6pPr>
              <a:lnSpc>
                <a:spcPct val="110000"/>
              </a:lnSpc>
              <a:defRPr sz="1000"/>
            </a:lvl6pPr>
            <a:lvl7pPr>
              <a:lnSpc>
                <a:spcPct val="110000"/>
              </a:lnSpc>
              <a:defRPr sz="1000"/>
            </a:lvl7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60044CD6-6AC6-018D-F0FE-5CB20C49334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71475" y="1737367"/>
            <a:ext cx="1540800" cy="1636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5pPr>
            <a:lvl6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6pPr>
            <a:lvl7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7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12CC2936-3870-D653-3E5E-59E01E56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7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670767-2D71-D378-D26D-0126811706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5C9FC33F-39E4-4F5F-C5D5-7A4DFE39CC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3938" y="1632184"/>
            <a:ext cx="7404061" cy="4260295"/>
          </a:xfrm>
          <a:prstGeom prst="rect">
            <a:avLst/>
          </a:prstGeom>
        </p:spPr>
      </p:pic>
      <p:sp>
        <p:nvSpPr>
          <p:cNvPr id="9" name="Рисунок 8">
            <a:extLst>
              <a:ext uri="{FF2B5EF4-FFF2-40B4-BE49-F238E27FC236}">
                <a16:creationId xmlns:a16="http://schemas.microsoft.com/office/drawing/2014/main" id="{AFE01861-D297-252E-42C5-363DF83560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3358" y="1949500"/>
            <a:ext cx="5149901" cy="3341218"/>
          </a:xfrm>
          <a:prstGeom prst="round2SameRect">
            <a:avLst>
              <a:gd name="adj1" fmla="val 1670"/>
              <a:gd name="adj2" fmla="val 0"/>
            </a:avLst>
          </a:prstGeom>
          <a:ln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A4796B9C-E5D0-AE57-107E-6642B103253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4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>
            <a:extLst>
              <a:ext uri="{FF2B5EF4-FFF2-40B4-BE49-F238E27FC236}">
                <a16:creationId xmlns:a16="http://schemas.microsoft.com/office/drawing/2014/main" id="{A29BBE8D-ACA6-9E25-2B18-D940D01110E7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19" name="Текст 45">
            <a:extLst>
              <a:ext uri="{FF2B5EF4-FFF2-40B4-BE49-F238E27FC236}">
                <a16:creationId xmlns:a16="http://schemas.microsoft.com/office/drawing/2014/main" id="{9E854ED5-E828-022A-8380-4860D202C5E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2684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Название компании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230392"/>
            <a:ext cx="5267641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1734312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3132870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3479513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4899087"/>
            <a:ext cx="3432178" cy="203200"/>
          </a:xfrm>
        </p:spPr>
        <p:txBody>
          <a:bodyPr vert="horz" lIns="0" tIns="0" rIns="0" bIns="0" rtlCol="0">
            <a:noAutofit/>
          </a:bodyPr>
          <a:lstStyle>
            <a:lvl1pPr>
              <a:defRPr lang="ru-RU" sz="1600" dirty="0" smtClean="0">
                <a:effectLst/>
                <a:latin typeface="+mn-lt"/>
              </a:defRPr>
            </a:lvl1pPr>
          </a:lstStyle>
          <a:p>
            <a:pPr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55598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49925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355598" y="4773168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355598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49925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355598" y="5771105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3251572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3245899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3251572" y="4773168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51572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45899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3251572" y="5771105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159" name="Text 1">
            <a:extLst>
              <a:ext uri="{FF2B5EF4-FFF2-40B4-BE49-F238E27FC236}">
                <a16:creationId xmlns:a16="http://schemas.microsoft.com/office/drawing/2014/main" id="{8AE32186-688E-CA8F-EB62-A1EE0C458D01}"/>
              </a:ext>
            </a:extLst>
          </p:cNvPr>
          <p:cNvSpPr/>
          <p:nvPr userDrawn="1"/>
        </p:nvSpPr>
        <p:spPr>
          <a:xfrm>
            <a:off x="355597" y="270154"/>
            <a:ext cx="8754488" cy="25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600" kern="0" spc="-16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Кейс</a:t>
            </a:r>
            <a:endParaRPr lang="en-US" sz="1600" dirty="0"/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D3D2AAE6-B99F-43F6-9F70-CC4EC18E8B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00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1588"/>
            <a:ext cx="6045200" cy="685641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230392"/>
            <a:ext cx="5267641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1734312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3132870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3479513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4899087"/>
            <a:ext cx="3432178" cy="2032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dirty="0">
                <a:effectLst/>
                <a:latin typeface="+mn-lt"/>
              </a:defRPr>
            </a:lvl1pPr>
          </a:lstStyle>
          <a:p>
            <a:pPr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55598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49925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355598" y="4773168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355598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49925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355598" y="5771105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3251572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3245899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3251572" y="4773168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51572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45899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3251572" y="5771105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41C2452E-8704-FDDB-DAD1-A3EB303A70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0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4 бе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2B9D2FE-EA5C-EF6F-7840-BB5F248A537E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3479514"/>
            <a:ext cx="6045200" cy="337848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230392"/>
            <a:ext cx="5267641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1734312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3132870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3479513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4899087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0" spc="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>
              <a:lnSpc>
                <a:spcPts val="1760"/>
              </a:lnSpc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55598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49925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355598" y="4773168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355598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49925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355598" y="5771105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3251572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3245899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3251572" y="4773168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51572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45899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3251572" y="5771105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9110DC7D-1CB0-B97A-2B13-B00EC1FD17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69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4 чер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2B9D2FE-EA5C-EF6F-7840-BB5F248A537E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3479514"/>
            <a:ext cx="6045200" cy="337848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230392"/>
            <a:ext cx="5267641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1734312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3132870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3479513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4899087"/>
            <a:ext cx="3432178" cy="2032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kern="0" spc="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55598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49925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355598" y="4773168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355598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49925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355598" y="5771105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3251572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3245899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3251572" y="4773168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51572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45899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3251572" y="5771105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11EA9B31-5BBA-E6AD-2AE6-6C1E6DC7F3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54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4 белый, ген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2B9D2FE-EA5C-EF6F-7840-BB5F248A537E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3479514"/>
            <a:ext cx="6045200" cy="337848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BE5C4452-0EE4-D108-9568-67DB3972CD82}"/>
              </a:ext>
            </a:extLst>
          </p:cNvPr>
          <p:cNvSpPr/>
          <p:nvPr userDrawn="1"/>
        </p:nvSpPr>
        <p:spPr>
          <a:xfrm>
            <a:off x="6400766" y="1397711"/>
            <a:ext cx="5435572" cy="4730134"/>
          </a:xfrm>
          <a:prstGeom prst="rect">
            <a:avLst/>
          </a:prstGeom>
          <a:noFill/>
          <a:ln/>
        </p:spPr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306060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791502"/>
            <a:ext cx="5267641" cy="694614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3407252"/>
            <a:ext cx="53464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425509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4601736"/>
            <a:ext cx="53464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5460197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>
              <a:lnSpc>
                <a:spcPts val="1760"/>
              </a:lnSpc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406439" y="1070405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6400766" y="1497804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6403360" y="1039369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406439" y="1934633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6400766" y="2365111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6403360" y="1904916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9302413" y="1070405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296740" y="1497804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9299334" y="1039369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9302413" y="1934633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9296740" y="2365111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9299334" y="1904916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4ACACE1D-CC2D-E968-0A13-2B81DCC0D6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7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4 черный, ген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2B9D2FE-EA5C-EF6F-7840-BB5F248A537E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3479514"/>
            <a:ext cx="6045200" cy="337848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306060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791502"/>
            <a:ext cx="5267641" cy="694614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3407252"/>
            <a:ext cx="53464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425509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4601736"/>
            <a:ext cx="53464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5460197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>
              <a:lnSpc>
                <a:spcPts val="1760"/>
              </a:lnSpc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406439" y="1070405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6400766" y="1497804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6403360" y="1039369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406439" y="1934633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6400766" y="2365111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6403360" y="1904916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9302413" y="1070405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296740" y="1497804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9299334" y="1039369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9302413" y="1934633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9296740" y="2365111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9299334" y="1904916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050CE78F-DC2B-C792-072C-1E22DBB2E6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80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Кей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2" descr=" ">
            <a:extLst>
              <a:ext uri="{FF2B5EF4-FFF2-40B4-BE49-F238E27FC236}">
                <a16:creationId xmlns:a16="http://schemas.microsoft.com/office/drawing/2014/main" id="{59D4AFD1-3084-1C60-C322-6367E88CB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6378" y="5359149"/>
            <a:ext cx="3759181" cy="1142851"/>
          </a:xfrm>
          <a:prstGeom prst="rect">
            <a:avLst/>
          </a:prstGeom>
          <a:solidFill>
            <a:srgbClr val="CF0522">
              <a:alpha val="10196"/>
            </a:srgbClr>
          </a:solidFill>
        </p:spPr>
      </p:pic>
      <p:pic>
        <p:nvPicPr>
          <p:cNvPr id="69" name="Image 5" descr=" ">
            <a:extLst>
              <a:ext uri="{FF2B5EF4-FFF2-40B4-BE49-F238E27FC236}">
                <a16:creationId xmlns:a16="http://schemas.microsoft.com/office/drawing/2014/main" id="{1CBF8C1A-60A5-C110-275B-652581B2B4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158" y="5359149"/>
            <a:ext cx="3759181" cy="1142851"/>
          </a:xfrm>
          <a:prstGeom prst="rect">
            <a:avLst/>
          </a:prstGeom>
          <a:solidFill>
            <a:srgbClr val="CF0522">
              <a:alpha val="10196"/>
            </a:srgbClr>
          </a:solidFill>
        </p:spPr>
      </p:pic>
      <p:pic>
        <p:nvPicPr>
          <p:cNvPr id="70" name="Image 8" descr=" ">
            <a:extLst>
              <a:ext uri="{FF2B5EF4-FFF2-40B4-BE49-F238E27FC236}">
                <a16:creationId xmlns:a16="http://schemas.microsoft.com/office/drawing/2014/main" id="{02AE7F85-BD53-7BD9-6582-AF0B2B602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598" y="5359149"/>
            <a:ext cx="3759181" cy="1142851"/>
          </a:xfrm>
          <a:prstGeom prst="rect">
            <a:avLst/>
          </a:prstGeom>
          <a:solidFill>
            <a:srgbClr val="CF0522">
              <a:alpha val="10196"/>
            </a:srgbClr>
          </a:solidFill>
        </p:spPr>
      </p:pic>
      <p:sp>
        <p:nvSpPr>
          <p:cNvPr id="82" name="Text 1">
            <a:extLst>
              <a:ext uri="{FF2B5EF4-FFF2-40B4-BE49-F238E27FC236}">
                <a16:creationId xmlns:a16="http://schemas.microsoft.com/office/drawing/2014/main" id="{9521B94B-F46D-F557-4239-AEB21BC60442}"/>
              </a:ext>
            </a:extLst>
          </p:cNvPr>
          <p:cNvSpPr/>
          <p:nvPr userDrawn="1"/>
        </p:nvSpPr>
        <p:spPr>
          <a:xfrm>
            <a:off x="355597" y="270154"/>
            <a:ext cx="8754488" cy="25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600" kern="0" spc="-16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Кейс</a:t>
            </a:r>
            <a:endParaRPr lang="en-US" sz="1600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379F4F19-1CF6-AD88-0D00-B983336119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55599" y="1670279"/>
            <a:ext cx="1371593" cy="660314"/>
          </a:xfrm>
          <a:prstGeom prst="rect">
            <a:avLst/>
          </a:prstGeom>
        </p:spPr>
      </p:pic>
      <p:sp>
        <p:nvSpPr>
          <p:cNvPr id="28" name="Рисунок 26">
            <a:extLst>
              <a:ext uri="{FF2B5EF4-FFF2-40B4-BE49-F238E27FC236}">
                <a16:creationId xmlns:a16="http://schemas.microsoft.com/office/drawing/2014/main" id="{F59371FE-CB66-72BC-1F1E-E26E41D8BA0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98500" y="1797050"/>
            <a:ext cx="690563" cy="334963"/>
          </a:xfrm>
          <a:noFill/>
        </p:spPr>
        <p:txBody>
          <a:bodyPr/>
          <a:lstStyle>
            <a:lvl1pPr>
              <a:defRPr sz="12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1" name="Текст 25">
            <a:extLst>
              <a:ext uri="{FF2B5EF4-FFF2-40B4-BE49-F238E27FC236}">
                <a16:creationId xmlns:a16="http://schemas.microsoft.com/office/drawing/2014/main" id="{6D6E7611-6DBE-B25D-76E1-F07AA11BB9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681" y="675637"/>
            <a:ext cx="7044163" cy="781496"/>
          </a:xfrm>
        </p:spPr>
        <p:txBody>
          <a:bodyPr/>
          <a:lstStyle>
            <a:lvl1pPr>
              <a:lnSpc>
                <a:spcPct val="90000"/>
              </a:lnSpc>
              <a:defRPr sz="2800" kern="0" spc="-30" baseline="0"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Создание гибкой страховой платформы</a:t>
            </a:r>
            <a:br>
              <a:rPr lang="ru-RU" dirty="0"/>
            </a:br>
            <a:r>
              <a:rPr lang="ru-RU" dirty="0">
                <a:effectLst/>
              </a:rPr>
              <a:t>для поддержки развития бизнеса</a:t>
            </a:r>
            <a:endParaRPr lang="ru-RU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96A7B92-FEA7-A3EF-A57F-E4AE30E6F07E}"/>
              </a:ext>
            </a:extLst>
          </p:cNvPr>
          <p:cNvSpPr/>
          <p:nvPr userDrawn="1"/>
        </p:nvSpPr>
        <p:spPr>
          <a:xfrm>
            <a:off x="35559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7F35D393-0C15-C346-4E8F-F0D4A292DD2E}"/>
              </a:ext>
            </a:extLst>
          </p:cNvPr>
          <p:cNvSpPr/>
          <p:nvPr userDrawn="1"/>
        </p:nvSpPr>
        <p:spPr>
          <a:xfrm>
            <a:off x="421637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6563AA82-D6B0-9860-71DE-19B62DA9FB81}"/>
              </a:ext>
            </a:extLst>
          </p:cNvPr>
          <p:cNvSpPr/>
          <p:nvPr userDrawn="1"/>
        </p:nvSpPr>
        <p:spPr>
          <a:xfrm>
            <a:off x="807715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8" name="Текст 25">
            <a:extLst>
              <a:ext uri="{FF2B5EF4-FFF2-40B4-BE49-F238E27FC236}">
                <a16:creationId xmlns:a16="http://schemas.microsoft.com/office/drawing/2014/main" id="{70889F1A-E9F3-BB66-BE78-55310C451A2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684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  клиента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FFB315DD-6321-A5E4-D2D2-96E40BAC78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Наше решение</a:t>
            </a:r>
          </a:p>
        </p:txBody>
      </p:sp>
      <p:sp>
        <p:nvSpPr>
          <p:cNvPr id="50" name="Текст 25">
            <a:extLst>
              <a:ext uri="{FF2B5EF4-FFF2-40B4-BE49-F238E27FC236}">
                <a16:creationId xmlns:a16="http://schemas.microsoft.com/office/drawing/2014/main" id="{21BB077D-F210-76CA-2EC2-AEB2D282370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51" name="Текст 61">
            <a:extLst>
              <a:ext uri="{FF2B5EF4-FFF2-40B4-BE49-F238E27FC236}">
                <a16:creationId xmlns:a16="http://schemas.microsoft.com/office/drawing/2014/main" id="{29B5ACC0-66F4-8DAE-DC07-1A1FDEFBC5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355112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2" name="Текст 61">
            <a:extLst>
              <a:ext uri="{FF2B5EF4-FFF2-40B4-BE49-F238E27FC236}">
                <a16:creationId xmlns:a16="http://schemas.microsoft.com/office/drawing/2014/main" id="{2BEA6CB7-4BD0-1FC8-9224-50B7A9F32F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55112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3" name="Текст 61">
            <a:extLst>
              <a:ext uri="{FF2B5EF4-FFF2-40B4-BE49-F238E27FC236}">
                <a16:creationId xmlns:a16="http://schemas.microsoft.com/office/drawing/2014/main" id="{AD53956E-50D9-C3BA-68FA-8069E6FEBCB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140420" y="3551120"/>
            <a:ext cx="3492000" cy="1155188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A8B38A0B-7306-F71F-01D8-5A2ABCB8C0C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7087" y="6022530"/>
            <a:ext cx="328378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 запуск платформы и эксплуатацию</a:t>
            </a:r>
            <a:endParaRPr lang="ru-RU" dirty="0"/>
          </a:p>
        </p:txBody>
      </p:sp>
      <p:sp>
        <p:nvSpPr>
          <p:cNvPr id="63" name="Текст 25">
            <a:extLst>
              <a:ext uri="{FF2B5EF4-FFF2-40B4-BE49-F238E27FC236}">
                <a16:creationId xmlns:a16="http://schemas.microsoft.com/office/drawing/2014/main" id="{51CAFA1B-ABE5-2E80-D2C4-717D3B222C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08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en-US" dirty="0"/>
              <a:t>&lt;9</a:t>
            </a:r>
            <a:r>
              <a:rPr lang="ru-RU" dirty="0"/>
              <a:t> </a:t>
            </a:r>
            <a:r>
              <a:rPr lang="ru-RU" dirty="0" err="1"/>
              <a:t>мес</a:t>
            </a:r>
            <a:endParaRPr lang="ru-RU" dirty="0"/>
          </a:p>
        </p:txBody>
      </p:sp>
      <p:sp>
        <p:nvSpPr>
          <p:cNvPr id="64" name="Текст 61">
            <a:extLst>
              <a:ext uri="{FF2B5EF4-FFF2-40B4-BE49-F238E27FC236}">
                <a16:creationId xmlns:a16="http://schemas.microsoft.com/office/drawing/2014/main" id="{C149DFE0-D1A1-F622-A531-686A38444235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25927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времени разработки одного продукта после внедрения</a:t>
            </a:r>
            <a:endParaRPr lang="ru-RU" dirty="0"/>
          </a:p>
        </p:txBody>
      </p:sp>
      <p:sp>
        <p:nvSpPr>
          <p:cNvPr id="65" name="Текст 25">
            <a:extLst>
              <a:ext uri="{FF2B5EF4-FFF2-40B4-BE49-F238E27FC236}">
                <a16:creationId xmlns:a16="http://schemas.microsoft.com/office/drawing/2014/main" id="{55A8A15B-614E-2BC1-3E31-D1BFF91A9C5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42592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с 60 до 2 дней</a:t>
            </a:r>
          </a:p>
        </p:txBody>
      </p:sp>
      <p:sp>
        <p:nvSpPr>
          <p:cNvPr id="66" name="Текст 61">
            <a:extLst>
              <a:ext uri="{FF2B5EF4-FFF2-40B4-BE49-F238E27FC236}">
                <a16:creationId xmlns:a16="http://schemas.microsoft.com/office/drawing/2014/main" id="{6A0C5A8F-8BC0-7454-0FC9-6D98E9ED5B2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8285373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трудоемкости создания прототипов пользовательского интерфейсов за счет </a:t>
            </a:r>
            <a:r>
              <a:rPr lang="en-US" dirty="0">
                <a:effectLst/>
              </a:rPr>
              <a:t> GenAI</a:t>
            </a:r>
            <a:endParaRPr lang="ru-RU" dirty="0"/>
          </a:p>
        </p:txBody>
      </p:sp>
      <p:sp>
        <p:nvSpPr>
          <p:cNvPr id="67" name="Текст 25">
            <a:extLst>
              <a:ext uri="{FF2B5EF4-FFF2-40B4-BE49-F238E27FC236}">
                <a16:creationId xmlns:a16="http://schemas.microsoft.com/office/drawing/2014/main" id="{1246574E-2547-D786-9F2F-BF554AFD52F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285373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в 4 раза</a:t>
            </a: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F029FC00-F5BC-2BEE-6DAC-0AC4C0985A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59BB1A39-42E9-6C2C-F0FB-FC88E90E1DA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12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Кейс с изображением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144A1D49-A7A1-5D95-298C-5E77F6A3A52C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0" y="0"/>
            <a:ext cx="12192000" cy="2638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68" name="Image 2" descr=" ">
            <a:extLst>
              <a:ext uri="{FF2B5EF4-FFF2-40B4-BE49-F238E27FC236}">
                <a16:creationId xmlns:a16="http://schemas.microsoft.com/office/drawing/2014/main" id="{59D4AFD1-3084-1C60-C322-6367E88CB2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637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69" name="Image 5" descr=" ">
            <a:extLst>
              <a:ext uri="{FF2B5EF4-FFF2-40B4-BE49-F238E27FC236}">
                <a16:creationId xmlns:a16="http://schemas.microsoft.com/office/drawing/2014/main" id="{1CBF8C1A-60A5-C110-275B-652581B2B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15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70" name="Image 8" descr=" ">
            <a:extLst>
              <a:ext uri="{FF2B5EF4-FFF2-40B4-BE49-F238E27FC236}">
                <a16:creationId xmlns:a16="http://schemas.microsoft.com/office/drawing/2014/main" id="{02AE7F85-BD53-7BD9-6582-AF0B2B602B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59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96A7B92-FEA7-A3EF-A57F-E4AE30E6F07E}"/>
              </a:ext>
            </a:extLst>
          </p:cNvPr>
          <p:cNvSpPr/>
          <p:nvPr userDrawn="1"/>
        </p:nvSpPr>
        <p:spPr>
          <a:xfrm>
            <a:off x="35559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7F35D393-0C15-C346-4E8F-F0D4A292DD2E}"/>
              </a:ext>
            </a:extLst>
          </p:cNvPr>
          <p:cNvSpPr/>
          <p:nvPr userDrawn="1"/>
        </p:nvSpPr>
        <p:spPr>
          <a:xfrm>
            <a:off x="421637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6563AA82-D6B0-9860-71DE-19B62DA9FB81}"/>
              </a:ext>
            </a:extLst>
          </p:cNvPr>
          <p:cNvSpPr/>
          <p:nvPr userDrawn="1"/>
        </p:nvSpPr>
        <p:spPr>
          <a:xfrm>
            <a:off x="807715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8" name="Текст 25">
            <a:extLst>
              <a:ext uri="{FF2B5EF4-FFF2-40B4-BE49-F238E27FC236}">
                <a16:creationId xmlns:a16="http://schemas.microsoft.com/office/drawing/2014/main" id="{70889F1A-E9F3-BB66-BE78-55310C451A2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684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  клиента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FFB315DD-6321-A5E4-D2D2-96E40BAC78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Наше решение</a:t>
            </a:r>
          </a:p>
        </p:txBody>
      </p:sp>
      <p:sp>
        <p:nvSpPr>
          <p:cNvPr id="50" name="Текст 25">
            <a:extLst>
              <a:ext uri="{FF2B5EF4-FFF2-40B4-BE49-F238E27FC236}">
                <a16:creationId xmlns:a16="http://schemas.microsoft.com/office/drawing/2014/main" id="{21BB077D-F210-76CA-2EC2-AEB2D282370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51" name="Текст 61">
            <a:extLst>
              <a:ext uri="{FF2B5EF4-FFF2-40B4-BE49-F238E27FC236}">
                <a16:creationId xmlns:a16="http://schemas.microsoft.com/office/drawing/2014/main" id="{29B5ACC0-66F4-8DAE-DC07-1A1FDEFBC5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355112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2" name="Текст 61">
            <a:extLst>
              <a:ext uri="{FF2B5EF4-FFF2-40B4-BE49-F238E27FC236}">
                <a16:creationId xmlns:a16="http://schemas.microsoft.com/office/drawing/2014/main" id="{2BEA6CB7-4BD0-1FC8-9224-50B7A9F32F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55112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3" name="Текст 61">
            <a:extLst>
              <a:ext uri="{FF2B5EF4-FFF2-40B4-BE49-F238E27FC236}">
                <a16:creationId xmlns:a16="http://schemas.microsoft.com/office/drawing/2014/main" id="{AD53956E-50D9-C3BA-68FA-8069E6FEBCB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140420" y="3551120"/>
            <a:ext cx="3492000" cy="1155188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A8B38A0B-7306-F71F-01D8-5A2ABCB8C0C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7087" y="6022530"/>
            <a:ext cx="328378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 запуск платформы и эксплуатацию</a:t>
            </a:r>
            <a:endParaRPr lang="ru-RU" dirty="0"/>
          </a:p>
        </p:txBody>
      </p:sp>
      <p:sp>
        <p:nvSpPr>
          <p:cNvPr id="63" name="Текст 25">
            <a:extLst>
              <a:ext uri="{FF2B5EF4-FFF2-40B4-BE49-F238E27FC236}">
                <a16:creationId xmlns:a16="http://schemas.microsoft.com/office/drawing/2014/main" id="{51CAFA1B-ABE5-2E80-D2C4-717D3B222C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08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en-US" dirty="0"/>
              <a:t>&lt;9</a:t>
            </a:r>
            <a:r>
              <a:rPr lang="ru-RU" dirty="0"/>
              <a:t> </a:t>
            </a:r>
            <a:r>
              <a:rPr lang="ru-RU" dirty="0" err="1"/>
              <a:t>мес</a:t>
            </a:r>
            <a:endParaRPr lang="ru-RU" dirty="0"/>
          </a:p>
        </p:txBody>
      </p:sp>
      <p:sp>
        <p:nvSpPr>
          <p:cNvPr id="64" name="Текст 61">
            <a:extLst>
              <a:ext uri="{FF2B5EF4-FFF2-40B4-BE49-F238E27FC236}">
                <a16:creationId xmlns:a16="http://schemas.microsoft.com/office/drawing/2014/main" id="{C149DFE0-D1A1-F622-A531-686A38444235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25927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времени разработки одного продукта после внедрения</a:t>
            </a:r>
            <a:endParaRPr lang="ru-RU" dirty="0"/>
          </a:p>
        </p:txBody>
      </p:sp>
      <p:sp>
        <p:nvSpPr>
          <p:cNvPr id="65" name="Текст 25">
            <a:extLst>
              <a:ext uri="{FF2B5EF4-FFF2-40B4-BE49-F238E27FC236}">
                <a16:creationId xmlns:a16="http://schemas.microsoft.com/office/drawing/2014/main" id="{55A8A15B-614E-2BC1-3E31-D1BFF91A9C5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42592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с 60 до 2 дней</a:t>
            </a:r>
          </a:p>
        </p:txBody>
      </p:sp>
      <p:sp>
        <p:nvSpPr>
          <p:cNvPr id="66" name="Текст 61">
            <a:extLst>
              <a:ext uri="{FF2B5EF4-FFF2-40B4-BE49-F238E27FC236}">
                <a16:creationId xmlns:a16="http://schemas.microsoft.com/office/drawing/2014/main" id="{6A0C5A8F-8BC0-7454-0FC9-6D98E9ED5B2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8285373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трудоемкости создания прототипов пользовательского интерфейсов за счет </a:t>
            </a:r>
            <a:r>
              <a:rPr lang="en-US" dirty="0">
                <a:effectLst/>
              </a:rPr>
              <a:t> GenAI</a:t>
            </a:r>
            <a:endParaRPr lang="ru-RU" dirty="0"/>
          </a:p>
        </p:txBody>
      </p:sp>
      <p:sp>
        <p:nvSpPr>
          <p:cNvPr id="67" name="Текст 25">
            <a:extLst>
              <a:ext uri="{FF2B5EF4-FFF2-40B4-BE49-F238E27FC236}">
                <a16:creationId xmlns:a16="http://schemas.microsoft.com/office/drawing/2014/main" id="{1246574E-2547-D786-9F2F-BF554AFD52F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285373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в 4 раза</a:t>
            </a: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F029FC00-F5BC-2BEE-6DAC-0AC4C0985A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31" name="Текст 25">
            <a:extLst>
              <a:ext uri="{FF2B5EF4-FFF2-40B4-BE49-F238E27FC236}">
                <a16:creationId xmlns:a16="http://schemas.microsoft.com/office/drawing/2014/main" id="{6D6E7611-6DBE-B25D-76E1-F07AA11BB9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681" y="675637"/>
            <a:ext cx="7044163" cy="781496"/>
          </a:xfrm>
        </p:spPr>
        <p:txBody>
          <a:bodyPr/>
          <a:lstStyle>
            <a:lvl1pPr>
              <a:lnSpc>
                <a:spcPct val="90000"/>
              </a:lnSpc>
              <a:defRPr sz="2800" kern="0" spc="-3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Создание гибкой страховой платформы</a:t>
            </a:r>
            <a:br>
              <a:rPr lang="ru-RU" dirty="0"/>
            </a:br>
            <a:r>
              <a:rPr lang="ru-RU" dirty="0">
                <a:effectLst/>
              </a:rPr>
              <a:t>для поддержки развития бизнеса</a:t>
            </a:r>
            <a:endParaRPr lang="ru-RU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A9DA5B8B-88CF-0A2F-959C-04CB01F9E6D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0781D54B-39F5-1E83-6C57-BC2DFA1622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20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Кейс с изображением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39D858F2-D4FB-9C79-C9A7-2F2BCDCF76E8}"/>
              </a:ext>
            </a:extLst>
          </p:cNvPr>
          <p:cNvSpPr/>
          <p:nvPr userDrawn="1"/>
        </p:nvSpPr>
        <p:spPr>
          <a:xfrm>
            <a:off x="0" y="894"/>
            <a:ext cx="6045168" cy="284106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144A1D49-A7A1-5D95-298C-5E77F6A3A52C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6040526" y="0"/>
            <a:ext cx="6151474" cy="2841955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68" name="Image 2" descr=" ">
            <a:extLst>
              <a:ext uri="{FF2B5EF4-FFF2-40B4-BE49-F238E27FC236}">
                <a16:creationId xmlns:a16="http://schemas.microsoft.com/office/drawing/2014/main" id="{59D4AFD1-3084-1C60-C322-6367E88CB2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637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69" name="Image 5" descr=" ">
            <a:extLst>
              <a:ext uri="{FF2B5EF4-FFF2-40B4-BE49-F238E27FC236}">
                <a16:creationId xmlns:a16="http://schemas.microsoft.com/office/drawing/2014/main" id="{1CBF8C1A-60A5-C110-275B-652581B2B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15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70" name="Image 8" descr=" ">
            <a:extLst>
              <a:ext uri="{FF2B5EF4-FFF2-40B4-BE49-F238E27FC236}">
                <a16:creationId xmlns:a16="http://schemas.microsoft.com/office/drawing/2014/main" id="{02AE7F85-BD53-7BD9-6582-AF0B2B602B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59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96A7B92-FEA7-A3EF-A57F-E4AE30E6F07E}"/>
              </a:ext>
            </a:extLst>
          </p:cNvPr>
          <p:cNvSpPr/>
          <p:nvPr userDrawn="1"/>
        </p:nvSpPr>
        <p:spPr>
          <a:xfrm>
            <a:off x="35559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7F35D393-0C15-C346-4E8F-F0D4A292DD2E}"/>
              </a:ext>
            </a:extLst>
          </p:cNvPr>
          <p:cNvSpPr/>
          <p:nvPr userDrawn="1"/>
        </p:nvSpPr>
        <p:spPr>
          <a:xfrm>
            <a:off x="421637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6563AA82-D6B0-9860-71DE-19B62DA9FB81}"/>
              </a:ext>
            </a:extLst>
          </p:cNvPr>
          <p:cNvSpPr/>
          <p:nvPr userDrawn="1"/>
        </p:nvSpPr>
        <p:spPr>
          <a:xfrm>
            <a:off x="807715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8" name="Текст 25">
            <a:extLst>
              <a:ext uri="{FF2B5EF4-FFF2-40B4-BE49-F238E27FC236}">
                <a16:creationId xmlns:a16="http://schemas.microsoft.com/office/drawing/2014/main" id="{70889F1A-E9F3-BB66-BE78-55310C451A2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684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  клиента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FFB315DD-6321-A5E4-D2D2-96E40BAC78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Наше решение</a:t>
            </a:r>
          </a:p>
        </p:txBody>
      </p:sp>
      <p:sp>
        <p:nvSpPr>
          <p:cNvPr id="50" name="Текст 25">
            <a:extLst>
              <a:ext uri="{FF2B5EF4-FFF2-40B4-BE49-F238E27FC236}">
                <a16:creationId xmlns:a16="http://schemas.microsoft.com/office/drawing/2014/main" id="{21BB077D-F210-76CA-2EC2-AEB2D282370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51" name="Текст 61">
            <a:extLst>
              <a:ext uri="{FF2B5EF4-FFF2-40B4-BE49-F238E27FC236}">
                <a16:creationId xmlns:a16="http://schemas.microsoft.com/office/drawing/2014/main" id="{29B5ACC0-66F4-8DAE-DC07-1A1FDEFBC5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373400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2" name="Текст 61">
            <a:extLst>
              <a:ext uri="{FF2B5EF4-FFF2-40B4-BE49-F238E27FC236}">
                <a16:creationId xmlns:a16="http://schemas.microsoft.com/office/drawing/2014/main" id="{2BEA6CB7-4BD0-1FC8-9224-50B7A9F32F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73400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3" name="Текст 61">
            <a:extLst>
              <a:ext uri="{FF2B5EF4-FFF2-40B4-BE49-F238E27FC236}">
                <a16:creationId xmlns:a16="http://schemas.microsoft.com/office/drawing/2014/main" id="{AD53956E-50D9-C3BA-68FA-8069E6FEBCB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140420" y="3734000"/>
            <a:ext cx="3492000" cy="1155188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A8B38A0B-7306-F71F-01D8-5A2ABCB8C0C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7087" y="6022530"/>
            <a:ext cx="328378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 запуск платформы и эксплуатацию</a:t>
            </a:r>
            <a:endParaRPr lang="ru-RU" dirty="0"/>
          </a:p>
        </p:txBody>
      </p:sp>
      <p:sp>
        <p:nvSpPr>
          <p:cNvPr id="63" name="Текст 25">
            <a:extLst>
              <a:ext uri="{FF2B5EF4-FFF2-40B4-BE49-F238E27FC236}">
                <a16:creationId xmlns:a16="http://schemas.microsoft.com/office/drawing/2014/main" id="{51CAFA1B-ABE5-2E80-D2C4-717D3B222C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08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en-US" dirty="0"/>
              <a:t>&lt;9</a:t>
            </a:r>
            <a:r>
              <a:rPr lang="ru-RU" dirty="0"/>
              <a:t> </a:t>
            </a:r>
            <a:r>
              <a:rPr lang="ru-RU" dirty="0" err="1"/>
              <a:t>мес</a:t>
            </a:r>
            <a:endParaRPr lang="ru-RU" dirty="0"/>
          </a:p>
        </p:txBody>
      </p:sp>
      <p:sp>
        <p:nvSpPr>
          <p:cNvPr id="64" name="Текст 61">
            <a:extLst>
              <a:ext uri="{FF2B5EF4-FFF2-40B4-BE49-F238E27FC236}">
                <a16:creationId xmlns:a16="http://schemas.microsoft.com/office/drawing/2014/main" id="{C149DFE0-D1A1-F622-A531-686A38444235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25927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времени разработки одного продукта после внедрения</a:t>
            </a:r>
            <a:endParaRPr lang="ru-RU" dirty="0"/>
          </a:p>
        </p:txBody>
      </p:sp>
      <p:sp>
        <p:nvSpPr>
          <p:cNvPr id="65" name="Текст 25">
            <a:extLst>
              <a:ext uri="{FF2B5EF4-FFF2-40B4-BE49-F238E27FC236}">
                <a16:creationId xmlns:a16="http://schemas.microsoft.com/office/drawing/2014/main" id="{55A8A15B-614E-2BC1-3E31-D1BFF91A9C5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42592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с 60 до 2 дней</a:t>
            </a:r>
          </a:p>
        </p:txBody>
      </p:sp>
      <p:sp>
        <p:nvSpPr>
          <p:cNvPr id="66" name="Текст 61">
            <a:extLst>
              <a:ext uri="{FF2B5EF4-FFF2-40B4-BE49-F238E27FC236}">
                <a16:creationId xmlns:a16="http://schemas.microsoft.com/office/drawing/2014/main" id="{6A0C5A8F-8BC0-7454-0FC9-6D98E9ED5B2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8285373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трудоемкости создания прототипов пользовательского интерфейсов за счет </a:t>
            </a:r>
            <a:r>
              <a:rPr lang="en-US" dirty="0">
                <a:effectLst/>
              </a:rPr>
              <a:t> GenAI</a:t>
            </a:r>
            <a:endParaRPr lang="ru-RU" dirty="0"/>
          </a:p>
        </p:txBody>
      </p:sp>
      <p:sp>
        <p:nvSpPr>
          <p:cNvPr id="67" name="Текст 25">
            <a:extLst>
              <a:ext uri="{FF2B5EF4-FFF2-40B4-BE49-F238E27FC236}">
                <a16:creationId xmlns:a16="http://schemas.microsoft.com/office/drawing/2014/main" id="{1246574E-2547-D786-9F2F-BF554AFD52F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285373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в 4 раза</a:t>
            </a: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F029FC00-F5BC-2BEE-6DAC-0AC4C0985A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31" name="Текст 25">
            <a:extLst>
              <a:ext uri="{FF2B5EF4-FFF2-40B4-BE49-F238E27FC236}">
                <a16:creationId xmlns:a16="http://schemas.microsoft.com/office/drawing/2014/main" id="{6D6E7611-6DBE-B25D-76E1-F07AA11BB9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681" y="700087"/>
            <a:ext cx="5326533" cy="1050800"/>
          </a:xfrm>
        </p:spPr>
        <p:txBody>
          <a:bodyPr/>
          <a:lstStyle>
            <a:lvl1pPr>
              <a:lnSpc>
                <a:spcPct val="80000"/>
              </a:lnSpc>
              <a:defRPr sz="2800" kern="0" spc="-30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Создание гибкой страховой платформы для поддержки развития бизнеса</a:t>
            </a:r>
            <a:endParaRPr lang="ru-RU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A9DA5B8B-88CF-0A2F-959C-04CB01F9E6D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5AD3564F-E1C3-F670-B4B9-43C04D0A3A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Кейс с изображением 1/4, гене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39D858F2-D4FB-9C79-C9A7-2F2BCDCF76E8}"/>
              </a:ext>
            </a:extLst>
          </p:cNvPr>
          <p:cNvSpPr/>
          <p:nvPr userDrawn="1"/>
        </p:nvSpPr>
        <p:spPr>
          <a:xfrm>
            <a:off x="0" y="894"/>
            <a:ext cx="6045168" cy="284106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144A1D49-A7A1-5D95-298C-5E77F6A3A52C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6040526" y="0"/>
            <a:ext cx="6151474" cy="2841955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68" name="Image 2" descr=" ">
            <a:extLst>
              <a:ext uri="{FF2B5EF4-FFF2-40B4-BE49-F238E27FC236}">
                <a16:creationId xmlns:a16="http://schemas.microsoft.com/office/drawing/2014/main" id="{59D4AFD1-3084-1C60-C322-6367E88CB2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637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69" name="Image 5" descr=" ">
            <a:extLst>
              <a:ext uri="{FF2B5EF4-FFF2-40B4-BE49-F238E27FC236}">
                <a16:creationId xmlns:a16="http://schemas.microsoft.com/office/drawing/2014/main" id="{1CBF8C1A-60A5-C110-275B-652581B2B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15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70" name="Image 8" descr=" ">
            <a:extLst>
              <a:ext uri="{FF2B5EF4-FFF2-40B4-BE49-F238E27FC236}">
                <a16:creationId xmlns:a16="http://schemas.microsoft.com/office/drawing/2014/main" id="{02AE7F85-BD53-7BD9-6582-AF0B2B602B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59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96A7B92-FEA7-A3EF-A57F-E4AE30E6F07E}"/>
              </a:ext>
            </a:extLst>
          </p:cNvPr>
          <p:cNvSpPr/>
          <p:nvPr userDrawn="1"/>
        </p:nvSpPr>
        <p:spPr>
          <a:xfrm>
            <a:off x="35559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7F35D393-0C15-C346-4E8F-F0D4A292DD2E}"/>
              </a:ext>
            </a:extLst>
          </p:cNvPr>
          <p:cNvSpPr/>
          <p:nvPr userDrawn="1"/>
        </p:nvSpPr>
        <p:spPr>
          <a:xfrm>
            <a:off x="421637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6563AA82-D6B0-9860-71DE-19B62DA9FB81}"/>
              </a:ext>
            </a:extLst>
          </p:cNvPr>
          <p:cNvSpPr/>
          <p:nvPr userDrawn="1"/>
        </p:nvSpPr>
        <p:spPr>
          <a:xfrm>
            <a:off x="807715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8" name="Текст 25">
            <a:extLst>
              <a:ext uri="{FF2B5EF4-FFF2-40B4-BE49-F238E27FC236}">
                <a16:creationId xmlns:a16="http://schemas.microsoft.com/office/drawing/2014/main" id="{70889F1A-E9F3-BB66-BE78-55310C451A2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684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  клиента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FFB315DD-6321-A5E4-D2D2-96E40BAC78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Наше решение</a:t>
            </a:r>
          </a:p>
        </p:txBody>
      </p:sp>
      <p:sp>
        <p:nvSpPr>
          <p:cNvPr id="50" name="Текст 25">
            <a:extLst>
              <a:ext uri="{FF2B5EF4-FFF2-40B4-BE49-F238E27FC236}">
                <a16:creationId xmlns:a16="http://schemas.microsoft.com/office/drawing/2014/main" id="{21BB077D-F210-76CA-2EC2-AEB2D282370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51" name="Текст 61">
            <a:extLst>
              <a:ext uri="{FF2B5EF4-FFF2-40B4-BE49-F238E27FC236}">
                <a16:creationId xmlns:a16="http://schemas.microsoft.com/office/drawing/2014/main" id="{29B5ACC0-66F4-8DAE-DC07-1A1FDEFBC5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373400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2" name="Текст 61">
            <a:extLst>
              <a:ext uri="{FF2B5EF4-FFF2-40B4-BE49-F238E27FC236}">
                <a16:creationId xmlns:a16="http://schemas.microsoft.com/office/drawing/2014/main" id="{2BEA6CB7-4BD0-1FC8-9224-50B7A9F32F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73400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3" name="Текст 61">
            <a:extLst>
              <a:ext uri="{FF2B5EF4-FFF2-40B4-BE49-F238E27FC236}">
                <a16:creationId xmlns:a16="http://schemas.microsoft.com/office/drawing/2014/main" id="{AD53956E-50D9-C3BA-68FA-8069E6FEBCB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140420" y="3734000"/>
            <a:ext cx="3492000" cy="1155188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A8B38A0B-7306-F71F-01D8-5A2ABCB8C0C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7087" y="6022530"/>
            <a:ext cx="328378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 запуск платформы и эксплуатацию</a:t>
            </a:r>
            <a:endParaRPr lang="ru-RU" dirty="0"/>
          </a:p>
        </p:txBody>
      </p:sp>
      <p:sp>
        <p:nvSpPr>
          <p:cNvPr id="63" name="Текст 25">
            <a:extLst>
              <a:ext uri="{FF2B5EF4-FFF2-40B4-BE49-F238E27FC236}">
                <a16:creationId xmlns:a16="http://schemas.microsoft.com/office/drawing/2014/main" id="{51CAFA1B-ABE5-2E80-D2C4-717D3B222C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08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en-US" dirty="0"/>
              <a:t>&lt;9</a:t>
            </a:r>
            <a:r>
              <a:rPr lang="ru-RU" dirty="0"/>
              <a:t> </a:t>
            </a:r>
            <a:r>
              <a:rPr lang="ru-RU" dirty="0" err="1"/>
              <a:t>мес</a:t>
            </a:r>
            <a:endParaRPr lang="ru-RU" dirty="0"/>
          </a:p>
        </p:txBody>
      </p:sp>
      <p:sp>
        <p:nvSpPr>
          <p:cNvPr id="64" name="Текст 61">
            <a:extLst>
              <a:ext uri="{FF2B5EF4-FFF2-40B4-BE49-F238E27FC236}">
                <a16:creationId xmlns:a16="http://schemas.microsoft.com/office/drawing/2014/main" id="{C149DFE0-D1A1-F622-A531-686A38444235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25927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времени разработки одного продукта после внедрения</a:t>
            </a:r>
            <a:endParaRPr lang="ru-RU" dirty="0"/>
          </a:p>
        </p:txBody>
      </p:sp>
      <p:sp>
        <p:nvSpPr>
          <p:cNvPr id="65" name="Текст 25">
            <a:extLst>
              <a:ext uri="{FF2B5EF4-FFF2-40B4-BE49-F238E27FC236}">
                <a16:creationId xmlns:a16="http://schemas.microsoft.com/office/drawing/2014/main" id="{55A8A15B-614E-2BC1-3E31-D1BFF91A9C5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42592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с 60 до 2 дней</a:t>
            </a:r>
          </a:p>
        </p:txBody>
      </p:sp>
      <p:sp>
        <p:nvSpPr>
          <p:cNvPr id="66" name="Текст 61">
            <a:extLst>
              <a:ext uri="{FF2B5EF4-FFF2-40B4-BE49-F238E27FC236}">
                <a16:creationId xmlns:a16="http://schemas.microsoft.com/office/drawing/2014/main" id="{6A0C5A8F-8BC0-7454-0FC9-6D98E9ED5B2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8285373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трудоемкости создания прототипов пользовательского интерфейсов за счет </a:t>
            </a:r>
            <a:r>
              <a:rPr lang="en-US" dirty="0">
                <a:effectLst/>
              </a:rPr>
              <a:t> GenAI</a:t>
            </a:r>
            <a:endParaRPr lang="ru-RU" dirty="0"/>
          </a:p>
        </p:txBody>
      </p:sp>
      <p:sp>
        <p:nvSpPr>
          <p:cNvPr id="67" name="Текст 25">
            <a:extLst>
              <a:ext uri="{FF2B5EF4-FFF2-40B4-BE49-F238E27FC236}">
                <a16:creationId xmlns:a16="http://schemas.microsoft.com/office/drawing/2014/main" id="{1246574E-2547-D786-9F2F-BF554AFD52F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285373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в 4 раза</a:t>
            </a: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F029FC00-F5BC-2BEE-6DAC-0AC4C0985A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31" name="Текст 25">
            <a:extLst>
              <a:ext uri="{FF2B5EF4-FFF2-40B4-BE49-F238E27FC236}">
                <a16:creationId xmlns:a16="http://schemas.microsoft.com/office/drawing/2014/main" id="{6D6E7611-6DBE-B25D-76E1-F07AA11BB9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681" y="700087"/>
            <a:ext cx="5326533" cy="1050800"/>
          </a:xfrm>
        </p:spPr>
        <p:txBody>
          <a:bodyPr/>
          <a:lstStyle>
            <a:lvl1pPr>
              <a:lnSpc>
                <a:spcPct val="80000"/>
              </a:lnSpc>
              <a:defRPr sz="2800" kern="0" spc="-30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Создание гибкой страховой платформы для поддержки развития бизнеса</a:t>
            </a:r>
            <a:endParaRPr lang="ru-RU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A9DA5B8B-88CF-0A2F-959C-04CB01F9E6D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E4060B70-7A0E-ECD1-E3EA-E77FF7805BC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2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Заключите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B77683D2-34D1-A652-A7FC-4CFCEBF360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68" y="0"/>
            <a:ext cx="6095968" cy="6858000"/>
          </a:xfrm>
          <a:prstGeom prst="rect">
            <a:avLst/>
          </a:prstGeom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C4B9DA29-EE52-4501-88B4-8394AC52FE50}"/>
              </a:ext>
            </a:extLst>
          </p:cNvPr>
          <p:cNvSpPr/>
          <p:nvPr userDrawn="1"/>
        </p:nvSpPr>
        <p:spPr>
          <a:xfrm>
            <a:off x="355598" y="1403350"/>
            <a:ext cx="5384772" cy="2565400"/>
          </a:xfrm>
          <a:prstGeom prst="rect">
            <a:avLst/>
          </a:prstGeom>
          <a:noFill/>
          <a:ln/>
        </p:spPr>
      </p:sp>
      <p:sp>
        <p:nvSpPr>
          <p:cNvPr id="17" name="Рисунок 3">
            <a:extLst>
              <a:ext uri="{FF2B5EF4-FFF2-40B4-BE49-F238E27FC236}">
                <a16:creationId xmlns:a16="http://schemas.microsoft.com/office/drawing/2014/main" id="{27856579-C874-451C-29B0-9E9DFF749A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7914862F-504D-CD81-B100-57D11542B2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52621" y="4814645"/>
            <a:ext cx="1687750" cy="1687750"/>
          </a:xfrm>
          <a:prstGeom prst="rect">
            <a:avLst/>
          </a:prstGeom>
        </p:spPr>
      </p:pic>
      <p:sp>
        <p:nvSpPr>
          <p:cNvPr id="12" name="Текст 3">
            <a:extLst>
              <a:ext uri="{FF2B5EF4-FFF2-40B4-BE49-F238E27FC236}">
                <a16:creationId xmlns:a16="http://schemas.microsoft.com/office/drawing/2014/main" id="{7AAE017F-FF26-61DF-7C28-3A34471390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600" y="5949912"/>
            <a:ext cx="3347993" cy="586443"/>
          </a:xfrm>
          <a:noFill/>
          <a:ln/>
        </p:spPr>
        <p:txBody>
          <a:bodyPr vert="horz" wrap="square" lIns="0" tIns="0" rIns="0" bIns="0" rtlCol="0" anchor="b">
            <a:spAutoFit/>
          </a:bodyPr>
          <a:lstStyle>
            <a:lvl1pPr marL="0" indent="0">
              <a:lnSpc>
                <a:spcPts val="2200"/>
              </a:lnSpc>
              <a:buNone/>
              <a:defRPr lang="ru-RU" sz="16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en-US" dirty="0">
                <a:effectLst/>
              </a:rPr>
              <a:t>+7 (XXX) XXX-XX-XX</a:t>
            </a:r>
            <a:endParaRPr lang="ru-RU" dirty="0">
              <a:effectLst/>
            </a:endParaRPr>
          </a:p>
          <a:p>
            <a:pPr marL="0" lvl="0" indent="0">
              <a:lnSpc>
                <a:spcPts val="2000"/>
              </a:lnSpc>
              <a:buNone/>
            </a:pPr>
            <a:r>
              <a:rPr lang="en-US" dirty="0">
                <a:effectLst/>
              </a:rPr>
              <a:t>name@reksoft.com</a:t>
            </a:r>
            <a:endParaRPr lang="ru-RU" dirty="0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4003DCDB-84F4-5DD3-F853-7EFF2FDC87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600" y="4797494"/>
            <a:ext cx="3347993" cy="251094"/>
          </a:xfrm>
          <a:noFill/>
          <a:ln/>
        </p:spPr>
        <p:txBody>
          <a:bodyPr vert="horz" wrap="square" lIns="0" tIns="0" rIns="0" bIns="0" rtlCol="0" anchor="t">
            <a:spAutoFit/>
          </a:bodyPr>
          <a:lstStyle>
            <a:lvl1pPr marL="0" indent="0">
              <a:lnSpc>
                <a:spcPts val="2000"/>
              </a:lnSpc>
              <a:buNone/>
              <a:defRPr lang="ru-RU" sz="16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/>
              <a:t>Имя Фамилия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CAF602-6A0B-ED4A-ABDD-E6D814DED12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B25FE13-275D-CEF1-6345-806470E5CF2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7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5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23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94">
          <p15:clr>
            <a:srgbClr val="FBAE40"/>
          </p15:clr>
        </p15:guide>
        <p15:guide id="11" orient="horz" pos="2795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67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DAC46-B413-0144-4DC8-A26333AB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11442798" cy="50616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1846CB-223B-17A8-AC68-00C0113F6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400113"/>
            <a:ext cx="11442798" cy="222381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  <a:p>
            <a:pPr lvl="5"/>
            <a:r>
              <a:rPr lang="ru-RU" dirty="0"/>
              <a:t>Текст</a:t>
            </a:r>
          </a:p>
          <a:p>
            <a:pPr lvl="6"/>
            <a:r>
              <a:rPr lang="ru-RU" dirty="0"/>
              <a:t>Маленький текст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0E40C4D-5BA4-C140-64A0-1E3ED1F54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776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8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74" r:id="rId18"/>
    <p:sldLayoutId id="2147483685" r:id="rId19"/>
    <p:sldLayoutId id="2147483686" r:id="rId20"/>
    <p:sldLayoutId id="2147483687" r:id="rId21"/>
    <p:sldLayoutId id="2147483688" r:id="rId22"/>
    <p:sldLayoutId id="2147483699" r:id="rId23"/>
    <p:sldLayoutId id="2147483700" r:id="rId24"/>
    <p:sldLayoutId id="2147483701" r:id="rId25"/>
    <p:sldLayoutId id="2147483675" r:id="rId26"/>
    <p:sldLayoutId id="2147483676" r:id="rId27"/>
    <p:sldLayoutId id="2147483677" r:id="rId28"/>
    <p:sldLayoutId id="2147483678" r:id="rId29"/>
    <p:sldLayoutId id="2147483692" r:id="rId30"/>
    <p:sldLayoutId id="2147483693" r:id="rId31"/>
    <p:sldLayoutId id="2147483696" r:id="rId32"/>
    <p:sldLayoutId id="2147483708" r:id="rId33"/>
    <p:sldLayoutId id="2147483707" r:id="rId34"/>
    <p:sldLayoutId id="2147483705" r:id="rId35"/>
    <p:sldLayoutId id="2147483704" r:id="rId36"/>
    <p:sldLayoutId id="2147483703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</p:sldLayoutIdLst>
  <p:hf hdr="0" ftr="0" dt="0"/>
  <p:txStyles>
    <p:titleStyle>
      <a:lvl1pPr algn="l" defTabSz="457109" rtl="0" eaLnBrk="1" latinLnBrk="0" hangingPunct="1">
        <a:lnSpc>
          <a:spcPct val="90000"/>
        </a:lnSpc>
        <a:spcBef>
          <a:spcPct val="0"/>
        </a:spcBef>
        <a:buNone/>
        <a:defRPr sz="3600" kern="0" spc="-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-144000" algn="l" defTabSz="432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600" kern="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-144000" algn="l" defTabSz="4320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2800" kern="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-144000" algn="l" defTabSz="432000" rtl="0" eaLnBrk="1" latinLnBrk="0" hangingPunct="1">
        <a:lnSpc>
          <a:spcPct val="100000"/>
        </a:lnSpc>
        <a:spcBef>
          <a:spcPts val="250"/>
        </a:spcBef>
        <a:buFont typeface="Arial" panose="020B0604020202020204" pitchFamily="34" charset="0"/>
        <a:buChar char="•"/>
        <a:defRPr sz="2000" kern="0" spc="0">
          <a:solidFill>
            <a:schemeClr val="tx1"/>
          </a:solidFill>
          <a:latin typeface="+mn-lt"/>
          <a:ea typeface="+mn-ea"/>
          <a:cs typeface="+mn-cs"/>
        </a:defRPr>
      </a:lvl3pPr>
      <a:lvl4pPr marL="0" indent="-144000" algn="l" defTabSz="432000" rtl="0" eaLnBrk="1" latinLnBrk="0" hangingPunct="1">
        <a:lnSpc>
          <a:spcPct val="110000"/>
        </a:lnSpc>
        <a:spcBef>
          <a:spcPts val="250"/>
        </a:spcBef>
        <a:buFont typeface="Arial" panose="020B0604020202020204" pitchFamily="34" charset="0"/>
        <a:buChar char="•"/>
        <a:defRPr sz="1600" kern="0" spc="0">
          <a:solidFill>
            <a:schemeClr val="tx1"/>
          </a:solidFill>
          <a:latin typeface="+mn-lt"/>
          <a:ea typeface="+mn-ea"/>
          <a:cs typeface="+mn-cs"/>
        </a:defRPr>
      </a:lvl4pPr>
      <a:lvl5pPr marL="0" indent="-144000" algn="l" defTabSz="432000" rtl="0" eaLnBrk="1" latinLnBrk="0" hangingPunct="1">
        <a:lnSpc>
          <a:spcPct val="110000"/>
        </a:lnSpc>
        <a:spcBef>
          <a:spcPts val="250"/>
        </a:spcBef>
        <a:buFont typeface="Arial" panose="020B0604020202020204" pitchFamily="34" charset="0"/>
        <a:buChar char="•"/>
        <a:defRPr sz="1200" kern="0" spc="0">
          <a:solidFill>
            <a:schemeClr val="tx1"/>
          </a:solidFill>
          <a:latin typeface="+mn-lt"/>
          <a:ea typeface="+mn-ea"/>
          <a:cs typeface="+mn-cs"/>
        </a:defRPr>
      </a:lvl5pPr>
      <a:lvl6pPr marL="0" indent="-144000" algn="l" defTabSz="432000" rtl="0" eaLnBrk="1" latinLnBrk="0" hangingPunct="1">
        <a:lnSpc>
          <a:spcPct val="120000"/>
        </a:lnSpc>
        <a:spcBef>
          <a:spcPts val="250"/>
        </a:spcBef>
        <a:buFont typeface="Arial" panose="020B0604020202020204" pitchFamily="34" charset="0"/>
        <a:buChar char="•"/>
        <a:defRPr sz="1000" kern="0" spc="0">
          <a:solidFill>
            <a:schemeClr val="tx1"/>
          </a:solidFill>
          <a:latin typeface="+mn-lt"/>
          <a:ea typeface="+mn-ea"/>
          <a:cs typeface="+mn-cs"/>
        </a:defRPr>
      </a:lvl6pPr>
      <a:lvl7pPr marL="0" indent="-144000" algn="l" defTabSz="432000" rtl="0" eaLnBrk="1" latinLnBrk="0" hangingPunct="1">
        <a:lnSpc>
          <a:spcPct val="120000"/>
        </a:lnSpc>
        <a:spcBef>
          <a:spcPts val="250"/>
        </a:spcBef>
        <a:buFont typeface="Arial" panose="020B0604020202020204" pitchFamily="34" charset="0"/>
        <a:buChar char="•"/>
        <a:defRPr sz="800" kern="0" spc="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1.emf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Relationship Id="rId3" Type="http://schemas.openxmlformats.org/officeDocument/2006/relationships/image" Target="../media/image302.svg"/><Relationship Id="rId4" Type="http://schemas.openxmlformats.org/officeDocument/2006/relationships/image" Target="../media/image53.png"/><Relationship Id="rId5" Type="http://schemas.openxmlformats.org/officeDocument/2006/relationships/image" Target="../media/image303.svg"/><Relationship Id="rId6" Type="http://schemas.openxmlformats.org/officeDocument/2006/relationships/image" Target="../media/image54.png"/><Relationship Id="rId7" Type="http://schemas.openxmlformats.org/officeDocument/2006/relationships/image" Target="../media/image304.svg"/><Relationship Id="rId8" Type="http://schemas.openxmlformats.org/officeDocument/2006/relationships/image" Target="../media/image305.svg"/><Relationship Id="rId9" Type="http://schemas.openxmlformats.org/officeDocument/2006/relationships/image" Target="../media/image306.svg"/><Relationship Id="rId10" Type="http://schemas.openxmlformats.org/officeDocument/2006/relationships/image" Target="../media/image307.svg"/><Relationship Id="rId11" Type="http://schemas.openxmlformats.org/officeDocument/2006/relationships/image" Target="../media/image308.svg"/><Relationship Id="rId12" Type="http://schemas.openxmlformats.org/officeDocument/2006/relationships/image" Target="../media/image309.svg"/><Relationship Id="rId13" Type="http://schemas.openxmlformats.org/officeDocument/2006/relationships/image" Target="../media/image310.svg"/><Relationship Id="rId14" Type="http://schemas.openxmlformats.org/officeDocument/2006/relationships/image" Target="../media/image311.svg"/><Relationship Id="rId15" Type="http://schemas.openxmlformats.org/officeDocument/2006/relationships/image" Target="../media/image312.svg"/><Relationship Id="rId16" Type="http://schemas.openxmlformats.org/officeDocument/2006/relationships/image" Target="../media/image313.svg"/><Relationship Id="rId17" Type="http://schemas.openxmlformats.org/officeDocument/2006/relationships/image" Target="../media/image314.svg"/><Relationship Id="rId18" Type="http://schemas.openxmlformats.org/officeDocument/2006/relationships/image" Target="../media/image315.svg"/><Relationship Id="rId19" Type="http://schemas.openxmlformats.org/officeDocument/2006/relationships/image" Target="../media/image316.svg"/><Relationship Id="rId20" Type="http://schemas.openxmlformats.org/officeDocument/2006/relationships/image" Target="../media/image317.svg"/><Relationship Id="rId21" Type="http://schemas.openxmlformats.org/officeDocument/2006/relationships/image" Target="../media/image318.svg"/><Relationship Id="rId22" Type="http://schemas.openxmlformats.org/officeDocument/2006/relationships/image" Target="../media/image319.svg"/><Relationship Id="rId23" Type="http://schemas.openxmlformats.org/officeDocument/2006/relationships/image" Target="../media/image320.svg"/><Relationship Id="rId24" Type="http://schemas.openxmlformats.org/officeDocument/2006/relationships/image" Target="../media/image321.svg"/><Relationship Id="rId25" Type="http://schemas.openxmlformats.org/officeDocument/2006/relationships/image" Target="../media/image322.svg"/><Relationship Id="rId26" Type="http://schemas.openxmlformats.org/officeDocument/2006/relationships/image" Target="../media/image323.svg"/><Relationship Id="rId27" Type="http://schemas.openxmlformats.org/officeDocument/2006/relationships/image" Target="../media/image324.svg"/><Relationship Id="rId28" Type="http://schemas.openxmlformats.org/officeDocument/2006/relationships/image" Target="../media/image325.svg"/><Relationship Id="rId29" Type="http://schemas.openxmlformats.org/officeDocument/2006/relationships/image" Target="../media/image326.svg"/><Relationship Id="rId30" Type="http://schemas.openxmlformats.org/officeDocument/2006/relationships/image" Target="../media/image327.svg"/><Relationship Id="rId31" Type="http://schemas.openxmlformats.org/officeDocument/2006/relationships/image" Target="../media/image328.svg"/><Relationship Id="rId32" Type="http://schemas.openxmlformats.org/officeDocument/2006/relationships/image" Target="../media/image329.svg"/><Relationship Id="rId33" Type="http://schemas.openxmlformats.org/officeDocument/2006/relationships/image" Target="../media/image330.svg"/><Relationship Id="rId34" Type="http://schemas.openxmlformats.org/officeDocument/2006/relationships/image" Target="../media/image55.png"/><Relationship Id="rId35" Type="http://schemas.openxmlformats.org/officeDocument/2006/relationships/image" Target="../media/image331.svg"/><Relationship Id="rId36" Type="http://schemas.openxmlformats.org/officeDocument/2006/relationships/image" Target="../media/image332.svg"/><Relationship Id="rId37" Type="http://schemas.openxmlformats.org/officeDocument/2006/relationships/image" Target="../media/image333.svg"/><Relationship Id="rId38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Relationship Id="rId3" Type="http://schemas.openxmlformats.org/officeDocument/2006/relationships/image" Target="../media/image334.svg"/><Relationship Id="rId4" Type="http://schemas.openxmlformats.org/officeDocument/2006/relationships/image" Target="../media/image53.png"/><Relationship Id="rId5" Type="http://schemas.openxmlformats.org/officeDocument/2006/relationships/image" Target="../media/image335.sv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4.png"/><Relationship Id="rId9" Type="http://schemas.openxmlformats.org/officeDocument/2006/relationships/image" Target="../media/image336.svg"/><Relationship Id="rId10" Type="http://schemas.openxmlformats.org/officeDocument/2006/relationships/image" Target="../media/image337.svg"/><Relationship Id="rId11" Type="http://schemas.openxmlformats.org/officeDocument/2006/relationships/image" Target="../media/image338.svg"/><Relationship Id="rId12" Type="http://schemas.openxmlformats.org/officeDocument/2006/relationships/image" Target="../media/image339.svg"/><Relationship Id="rId13" Type="http://schemas.openxmlformats.org/officeDocument/2006/relationships/image" Target="../media/image340.svg"/><Relationship Id="rId14" Type="http://schemas.openxmlformats.org/officeDocument/2006/relationships/image" Target="../media/image341.svg"/><Relationship Id="rId15" Type="http://schemas.openxmlformats.org/officeDocument/2006/relationships/image" Target="../media/image342.svg"/><Relationship Id="rId16" Type="http://schemas.openxmlformats.org/officeDocument/2006/relationships/image" Target="../media/image343.svg"/><Relationship Id="rId17" Type="http://schemas.openxmlformats.org/officeDocument/2006/relationships/image" Target="../media/image344.svg"/><Relationship Id="rId18" Type="http://schemas.openxmlformats.org/officeDocument/2006/relationships/image" Target="../media/image345.svg"/><Relationship Id="rId19" Type="http://schemas.openxmlformats.org/officeDocument/2006/relationships/image" Target="../media/image346.svg"/><Relationship Id="rId20" Type="http://schemas.openxmlformats.org/officeDocument/2006/relationships/image" Target="../media/image55.png"/><Relationship Id="rId21" Type="http://schemas.openxmlformats.org/officeDocument/2006/relationships/image" Target="../media/image347.svg"/><Relationship Id="rId22" Type="http://schemas.openxmlformats.org/officeDocument/2006/relationships/image" Target="../media/image348.svg"/><Relationship Id="rId23" Type="http://schemas.openxmlformats.org/officeDocument/2006/relationships/image" Target="../media/image349.svg"/><Relationship Id="rId24" Type="http://schemas.openxmlformats.org/officeDocument/2006/relationships/image" Target="../media/image58.png"/><Relationship Id="rId25" Type="http://schemas.openxmlformats.org/officeDocument/2006/relationships/image" Target="../media/image350.svg"/><Relationship Id="rId26" Type="http://schemas.openxmlformats.org/officeDocument/2006/relationships/image" Target="../media/image351.svg"/><Relationship Id="rId27" Type="http://schemas.openxmlformats.org/officeDocument/2006/relationships/image" Target="../media/image352.svg"/><Relationship Id="rId28" Type="http://schemas.openxmlformats.org/officeDocument/2006/relationships/image" Target="../media/image59.png"/><Relationship Id="rId29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jp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78.jpg"/><Relationship Id="rId15" Type="http://schemas.openxmlformats.org/officeDocument/2006/relationships/image" Target="../media/image79.png"/><Relationship Id="rId16" Type="http://schemas.openxmlformats.org/officeDocument/2006/relationships/image" Target="../media/image80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Relationship Id="rId19" Type="http://schemas.openxmlformats.org/officeDocument/2006/relationships/image" Target="../media/image83.png"/><Relationship Id="rId20" Type="http://schemas.openxmlformats.org/officeDocument/2006/relationships/image" Target="../media/image84.jpg"/><Relationship Id="rId21" Type="http://schemas.openxmlformats.org/officeDocument/2006/relationships/image" Target="../media/image85.png"/><Relationship Id="rId22" Type="http://schemas.openxmlformats.org/officeDocument/2006/relationships/image" Target="../media/image86.png"/><Relationship Id="rId23" Type="http://schemas.openxmlformats.org/officeDocument/2006/relationships/image" Target="../media/image87.png"/><Relationship Id="rId24" Type="http://schemas.openxmlformats.org/officeDocument/2006/relationships/image" Target="../media/image88.png"/><Relationship Id="rId25" Type="http://schemas.openxmlformats.org/officeDocument/2006/relationships/image" Target="../media/image89.png"/><Relationship Id="rId26" Type="http://schemas.openxmlformats.org/officeDocument/2006/relationships/image" Target="../media/image90.png"/><Relationship Id="rId27" Type="http://schemas.openxmlformats.org/officeDocument/2006/relationships/image" Target="../media/image91.png"/><Relationship Id="rId28" Type="http://schemas.openxmlformats.org/officeDocument/2006/relationships/image" Target="../media/image92.png"/><Relationship Id="rId29" Type="http://schemas.openxmlformats.org/officeDocument/2006/relationships/image" Target="../media/image93.png"/><Relationship Id="rId30" Type="http://schemas.openxmlformats.org/officeDocument/2006/relationships/image" Target="../media/image94.png"/><Relationship Id="rId31" Type="http://schemas.openxmlformats.org/officeDocument/2006/relationships/image" Target="../media/image95.png"/><Relationship Id="rId32" Type="http://schemas.openxmlformats.org/officeDocument/2006/relationships/image" Target="../media/image96.png"/><Relationship Id="rId33" Type="http://schemas.openxmlformats.org/officeDocument/2006/relationships/image" Target="../media/image97.png"/><Relationship Id="rId34" Type="http://schemas.openxmlformats.org/officeDocument/2006/relationships/image" Target="../media/image98.png"/><Relationship Id="rId35" Type="http://schemas.openxmlformats.org/officeDocument/2006/relationships/image" Target="../media/image99.png"/><Relationship Id="rId36" Type="http://schemas.openxmlformats.org/officeDocument/2006/relationships/image" Target="../media/image100.png"/><Relationship Id="rId37" Type="http://schemas.openxmlformats.org/officeDocument/2006/relationships/image" Target="../media/image101.png"/><Relationship Id="rId38" Type="http://schemas.openxmlformats.org/officeDocument/2006/relationships/image" Target="../media/image102.png"/><Relationship Id="rId39" Type="http://schemas.openxmlformats.org/officeDocument/2006/relationships/image" Target="../media/image103.png"/><Relationship Id="rId40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4.png"/><Relationship Id="rId3" Type="http://schemas.openxmlformats.org/officeDocument/2006/relationships/image" Target="../media/image353.svg"/><Relationship Id="rId4" Type="http://schemas.openxmlformats.org/officeDocument/2006/relationships/image" Target="../media/image105.png"/><Relationship Id="rId5" Type="http://schemas.openxmlformats.org/officeDocument/2006/relationships/image" Target="../media/image354.svg"/><Relationship Id="rId6" Type="http://schemas.openxmlformats.org/officeDocument/2006/relationships/image" Target="../media/image355.svg"/><Relationship Id="rId7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56.xml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6.pn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92.png"/><Relationship Id="rId9" Type="http://schemas.openxmlformats.org/officeDocument/2006/relationships/image" Target="../media/image113.png"/><Relationship Id="rId10" Type="http://schemas.openxmlformats.org/officeDocument/2006/relationships/image" Target="../media/image114.png"/><Relationship Id="rId11" Type="http://schemas.openxmlformats.org/officeDocument/2006/relationships/image" Target="../media/image115.png"/><Relationship Id="rId12" Type="http://schemas.openxmlformats.org/officeDocument/2006/relationships/image" Target="../media/image116.png"/><Relationship Id="rId13" Type="http://schemas.openxmlformats.org/officeDocument/2006/relationships/image" Target="../media/image117.png"/><Relationship Id="rId14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jpg"/><Relationship Id="rId9" Type="http://schemas.openxmlformats.org/officeDocument/2006/relationships/image" Target="../media/image124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0.png"/><Relationship Id="rId3" Type="http://schemas.openxmlformats.org/officeDocument/2006/relationships/image" Target="../media/image361.svg"/><Relationship Id="rId4" Type="http://schemas.openxmlformats.org/officeDocument/2006/relationships/image" Target="../media/image131.png"/><Relationship Id="rId5" Type="http://schemas.openxmlformats.org/officeDocument/2006/relationships/image" Target="../media/image362.svg"/><Relationship Id="rId6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8.png"/><Relationship Id="rId3" Type="http://schemas.openxmlformats.org/officeDocument/2006/relationships/image" Target="../media/image139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73.png"/><Relationship Id="rId7" Type="http://schemas.openxmlformats.org/officeDocument/2006/relationships/image" Target="../media/image72.jpg"/><Relationship Id="rId8" Type="http://schemas.openxmlformats.org/officeDocument/2006/relationships/image" Target="../media/image76.png"/><Relationship Id="rId9" Type="http://schemas.openxmlformats.org/officeDocument/2006/relationships/image" Target="../media/image71.jp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Relationship Id="rId12" Type="http://schemas.openxmlformats.org/officeDocument/2006/relationships/image" Target="../media/image144.png"/><Relationship Id="rId13" Type="http://schemas.openxmlformats.org/officeDocument/2006/relationships/image" Target="../media/image145.png"/><Relationship Id="rId14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6.png"/><Relationship Id="rId3" Type="http://schemas.openxmlformats.org/officeDocument/2006/relationships/image" Target="../media/image99.png"/><Relationship Id="rId4" Type="http://schemas.openxmlformats.org/officeDocument/2006/relationships/image" Target="../media/image147.png"/><Relationship Id="rId5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8.png"/><Relationship Id="rId3" Type="http://schemas.openxmlformats.org/officeDocument/2006/relationships/image" Target="../media/image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9.png"/><Relationship Id="rId3" Type="http://schemas.openxmlformats.org/officeDocument/2006/relationships/image" Target="../media/image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0.png"/><Relationship Id="rId3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1.png"/><Relationship Id="rId3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2.png"/><Relationship Id="rId3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Обзор компетенций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ru-RU"/>
              <a:t>Андрей Мыськин</a:t>
            </a:r>
          </a:p>
          <a:p>
            <a:r>
              <a:rPr lang="ru-RU"/>
              <a:t>Руководитель практики тестирования</a:t>
            </a:r>
          </a:p>
          <a:p>
            <a:r>
              <a:rPr lang="ru-RU"/>
              <a:t>01.05.2026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ru-RU"/>
              <a:t>Тестирование и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Обзор практики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Рисунок 27">
            <a:extLst>
              <a:ext uri="{FF2B5EF4-FFF2-40B4-BE49-F238E27FC236}">
                <a16:creationId xmlns:a16="http://schemas.microsoft.com/office/drawing/2014/main" id="{EAA66784-24CB-E728-3B9B-225FAF7C5A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93" t="2061" r="1618"/>
          <a:stretch/>
        </p:blipFill>
        <p:spPr>
          <a:xfrm>
            <a:off x="0" y="-79050"/>
            <a:ext cx="12192001" cy="6858000"/>
          </a:xfrm>
          <a:prstGeom prst="rect">
            <a:avLst/>
          </a:prstGeom>
        </p:spPr>
      </p:pic>
      <p:sp>
        <p:nvSpPr>
          <p:cNvPr id="21" name="Title 6">
            <a:extLst>
              <a:ext uri="{FF2B5EF4-FFF2-40B4-BE49-F238E27FC236}">
                <a16:creationId xmlns:a16="http://schemas.microsoft.com/office/drawing/2014/main" id="{6C018381-1A18-7F99-D5E1-AD6A050DA453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Практика в цифрах</a:t>
            </a:r>
            <a:endParaRPr lang="en-US" dirty="0"/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AAC718D3-A3C9-6120-CAE7-50AC956D3400}"/>
              </a:ext>
            </a:extLst>
          </p:cNvPr>
          <p:cNvSpPr txBox="1"/>
          <p:nvPr/>
        </p:nvSpPr>
        <p:spPr>
          <a:xfrm>
            <a:off x="1544143" y="2723745"/>
            <a:ext cx="1484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00" b="0" i="0" u="none" strike="noStrike" kern="1200" cap="none" spc="3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20+</a:t>
            </a:r>
            <a:endParaRPr kumimoji="0" lang="en-US" sz="3900" b="1" i="0" u="none" strike="noStrike" kern="1200" cap="none" spc="30" normalizeH="0" baseline="0" noProof="0" dirty="0" err="1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E8243902-AB3E-1CA7-F50C-65B19DFF26D8}"/>
              </a:ext>
            </a:extLst>
          </p:cNvPr>
          <p:cNvSpPr txBox="1"/>
          <p:nvPr/>
        </p:nvSpPr>
        <p:spPr>
          <a:xfrm>
            <a:off x="5120983" y="2721200"/>
            <a:ext cx="1636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00" b="0" i="0" u="none" strike="noStrike" kern="1200" cap="none" spc="3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130+</a:t>
            </a:r>
            <a:endParaRPr kumimoji="0" lang="en-US" sz="3900" b="1" i="0" u="none" strike="noStrike" kern="1200" cap="none" spc="30" normalizeH="0" baseline="0" noProof="0" dirty="0" err="1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C6140653-B8C1-3193-C628-31FAA489EC48}"/>
              </a:ext>
            </a:extLst>
          </p:cNvPr>
          <p:cNvSpPr txBox="1"/>
          <p:nvPr/>
        </p:nvSpPr>
        <p:spPr>
          <a:xfrm>
            <a:off x="8048257" y="2524021"/>
            <a:ext cx="1922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00" b="0" i="0" u="none" strike="noStrike" kern="1200" cap="none" spc="3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40+</a:t>
            </a:r>
            <a:endParaRPr kumimoji="0" lang="en-US" sz="3900" b="1" i="0" u="none" strike="noStrike" kern="1200" cap="none" spc="30" normalizeH="0" baseline="0" noProof="0" dirty="0" err="1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cxnSp>
        <p:nvCxnSpPr>
          <p:cNvPr id="25" name="Straight Connector 22">
            <a:extLst>
              <a:ext uri="{FF2B5EF4-FFF2-40B4-BE49-F238E27FC236}">
                <a16:creationId xmlns:a16="http://schemas.microsoft.com/office/drawing/2014/main" id="{446DF1A8-5CDE-96A4-0194-E3C59E31E27F}"/>
              </a:ext>
            </a:extLst>
          </p:cNvPr>
          <p:cNvCxnSpPr>
            <a:cxnSpLocks/>
          </p:cNvCxnSpPr>
          <p:nvPr/>
        </p:nvCxnSpPr>
        <p:spPr>
          <a:xfrm>
            <a:off x="632398" y="2451801"/>
            <a:ext cx="11053763" cy="0"/>
          </a:xfrm>
          <a:prstGeom prst="line">
            <a:avLst/>
          </a:prstGeom>
          <a:ln w="28575"/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26" name="TextBox 24">
            <a:extLst>
              <a:ext uri="{FF2B5EF4-FFF2-40B4-BE49-F238E27FC236}">
                <a16:creationId xmlns:a16="http://schemas.microsoft.com/office/drawing/2014/main" id="{F113AE73-4002-5385-EB04-9E35987F99DA}"/>
              </a:ext>
            </a:extLst>
          </p:cNvPr>
          <p:cNvSpPr txBox="1"/>
          <p:nvPr/>
        </p:nvSpPr>
        <p:spPr>
          <a:xfrm>
            <a:off x="1056460" y="3429087"/>
            <a:ext cx="2460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ru-RU" sz="1200" b="0" i="0" u="none" strike="noStrike" kern="1200" cap="none" spc="15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Лет опыта </a:t>
            </a:r>
            <a:br>
              <a:rPr kumimoji="0" lang="ru-RU" sz="1200" b="0" i="0" u="none" strike="noStrike" kern="1200" cap="none" spc="15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200" b="0" i="0" u="none" strike="noStrike" kern="1200" cap="none" spc="15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lang="ru-RU" altLang="en-RU" sz="1200" spc="50" dirty="0">
                <a:solidFill>
                  <a:srgbClr val="FFFFFF"/>
                </a:solidFill>
                <a:latin typeface="+mn-lt"/>
                <a:ea typeface="Stapel" panose="020B0604020202020204" pitchFamily="34" charset="0"/>
                <a:cs typeface="Stapel" panose="020B0604020202020204" pitchFamily="34" charset="0"/>
              </a:rPr>
              <a:t>тестировании</a:t>
            </a:r>
            <a:endParaRPr lang="en-US" altLang="en-RU" sz="1200" spc="50" dirty="0">
              <a:solidFill>
                <a:srgbClr val="FFFFFF"/>
              </a:solidFill>
              <a:latin typeface="+mn-lt"/>
              <a:ea typeface="Stapel" panose="020B0604020202020204" pitchFamily="34" charset="0"/>
              <a:cs typeface="Stapel" panose="020B0604020202020204" pitchFamily="34" charset="0"/>
            </a:endParaRP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4128DBE8-74FE-CB78-FB01-EC640B2BBD1B}"/>
              </a:ext>
            </a:extLst>
          </p:cNvPr>
          <p:cNvSpPr txBox="1"/>
          <p:nvPr/>
        </p:nvSpPr>
        <p:spPr>
          <a:xfrm>
            <a:off x="4947060" y="3426245"/>
            <a:ext cx="1795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50" spc="15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Специалистов по функциональному тестированию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AD1EBF19-EB04-02B3-5DD1-859870815E3E}"/>
              </a:ext>
            </a:extLst>
          </p:cNvPr>
          <p:cNvSpPr txBox="1"/>
          <p:nvPr/>
        </p:nvSpPr>
        <p:spPr>
          <a:xfrm>
            <a:off x="7789410" y="3231907"/>
            <a:ext cx="23047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50" spc="15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Специалистов по автоматизации Java/.Net /</a:t>
            </a:r>
            <a:r>
              <a:rPr lang="ru-RU" sz="1150" spc="150" dirty="0" err="1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Python</a:t>
            </a:r>
            <a:r>
              <a:rPr lang="ru-RU" sz="1150" spc="15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/JS, производительности и качеству данных</a:t>
            </a:r>
          </a:p>
        </p:txBody>
      </p:sp>
      <p:cxnSp>
        <p:nvCxnSpPr>
          <p:cNvPr id="29" name="Straight Connector 17">
            <a:extLst>
              <a:ext uri="{FF2B5EF4-FFF2-40B4-BE49-F238E27FC236}">
                <a16:creationId xmlns:a16="http://schemas.microsoft.com/office/drawing/2014/main" id="{1012172D-59EF-4310-59B2-1631CAA5E94E}"/>
              </a:ext>
            </a:extLst>
          </p:cNvPr>
          <p:cNvCxnSpPr>
            <a:cxnSpLocks/>
          </p:cNvCxnSpPr>
          <p:nvPr/>
        </p:nvCxnSpPr>
        <p:spPr>
          <a:xfrm>
            <a:off x="632398" y="4319789"/>
            <a:ext cx="11053763" cy="0"/>
          </a:xfrm>
          <a:prstGeom prst="line">
            <a:avLst/>
          </a:prstGeom>
          <a:ln w="28575"/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12">
            <a:extLst>
              <a:ext uri="{FF2B5EF4-FFF2-40B4-BE49-F238E27FC236}">
                <a16:creationId xmlns:a16="http://schemas.microsoft.com/office/drawing/2014/main" id="{2C6DD062-9769-4973-BF5C-2881E8C2F42C}"/>
              </a:ext>
            </a:extLst>
          </p:cNvPr>
          <p:cNvSpPr>
            <a:spLocks noGrp="1"/>
          </p:cNvSpPr>
          <p:nvPr/>
        </p:nvSpPr>
        <p:spPr>
          <a:xfrm>
            <a:off x="287320" y="330348"/>
            <a:ext cx="9953960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Наши возможности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FD511F8-CCE0-462F-9E52-6459DCD6A546}"/>
              </a:ext>
            </a:extLst>
          </p:cNvPr>
          <p:cNvSpPr>
            <a:spLocks noGrp="1"/>
          </p:cNvSpPr>
          <p:nvPr/>
        </p:nvSpPr>
        <p:spPr>
          <a:xfrm>
            <a:off x="361189" y="2711934"/>
            <a:ext cx="2561323" cy="3279167"/>
          </a:xfrm>
        </p:spPr>
        <p:txBody>
          <a:bodyPr/>
          <a:lstStyle/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Проведение аудита процессов обеспечения качества, разработка стратегии и плана тестирования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Организация и сопровождение процессов обеспечения качества и тестирования с нуля</a:t>
            </a:r>
            <a:endParaRPr lang="en-US" sz="1100" dirty="0">
              <a:solidFill>
                <a:srgbClr val="000000"/>
              </a:solidFill>
            </a:endParaRP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Внедрение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в процессы обеспечения качества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трансформации: Agile, DevOps, CI/CD, Непрерывное тестирование, тестовые лаборатории</a:t>
            </a:r>
          </a:p>
          <a:p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5AA6C45-A81F-453D-9132-F704A80F8850}"/>
              </a:ext>
            </a:extLst>
          </p:cNvPr>
          <p:cNvSpPr>
            <a:spLocks noGrp="1"/>
          </p:cNvSpPr>
          <p:nvPr/>
        </p:nvSpPr>
        <p:spPr>
          <a:xfrm>
            <a:off x="6140367" y="2711934"/>
            <a:ext cx="2407920" cy="3535648"/>
          </a:xfrm>
        </p:spPr>
        <p:txBody>
          <a:bodyPr/>
          <a:lstStyle/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Организация и проведение всех видов тестирования от тестирования требований до приемочного тестирования с использованием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инструментария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Внедрение инфраструктуры тестирования, подготовка тестовых стендов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Разработка тестовой документации и организация системы отчетности с использованием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инструментария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Проведение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End-to-End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 приёмочного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тестирования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772D022-6857-47D9-B901-EDDFFA608FC2}"/>
              </a:ext>
            </a:extLst>
          </p:cNvPr>
          <p:cNvSpPr>
            <a:spLocks noGrp="1"/>
          </p:cNvSpPr>
          <p:nvPr/>
        </p:nvSpPr>
        <p:spPr>
          <a:xfrm>
            <a:off x="3100196" y="2711934"/>
            <a:ext cx="2645459" cy="2958567"/>
          </a:xfrm>
        </p:spPr>
        <p:txBody>
          <a:bodyPr/>
          <a:lstStyle/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Решения для автоматизации тестирования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web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, мобильных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приложений, API, веб-сервисов с использованием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инструментов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Анализ целесообразности и эффективности внедрения процессов автоматизированного тестирования</a:t>
            </a:r>
            <a:endParaRPr lang="en-US" sz="1100" dirty="0">
              <a:solidFill>
                <a:srgbClr val="000000"/>
              </a:solidFill>
            </a:endParaRP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Проектирование и внедрение инфраструктуры автоматизации с использованием акселераторов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Встраивание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в конвейеры сборки и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деплоя</a:t>
            </a:r>
            <a:endParaRPr lang="ru-RU" sz="1100" dirty="0">
              <a:solidFill>
                <a:srgbClr val="000000"/>
              </a:solidFill>
            </a:endParaRP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512D8981-BD31-4912-8C09-506A375101C8}"/>
              </a:ext>
            </a:extLst>
          </p:cNvPr>
          <p:cNvSpPr>
            <a:spLocks noGrp="1"/>
          </p:cNvSpPr>
          <p:nvPr/>
        </p:nvSpPr>
        <p:spPr>
          <a:xfrm>
            <a:off x="8984490" y="2711934"/>
            <a:ext cx="3078915" cy="4183196"/>
          </a:xfrm>
        </p:spPr>
        <p:txBody>
          <a:bodyPr/>
          <a:lstStyle/>
          <a:p>
            <a:pPr marL="171450" indent="-1714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Организация и проведение различных видов тестирования: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производительности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качества данных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подготовка данных для их дальнейшего использования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системами</a:t>
            </a:r>
            <a:endParaRPr lang="ru-RU" sz="1100" dirty="0">
              <a:solidFill>
                <a:srgbClr val="000000"/>
              </a:solidFill>
            </a:endParaRP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мобильных приложений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автоматизации промышленных процессов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специализированных промышленных программно-аппаратных комплексов и решений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фаззинг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-тестирования</a:t>
            </a:r>
            <a:endParaRPr lang="ru-RU" sz="1100" dirty="0">
              <a:solidFill>
                <a:srgbClr val="000000"/>
              </a:solidFill>
            </a:endParaRPr>
          </a:p>
          <a:p>
            <a:pPr marL="171450" indent="-1714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Инструменты и акселераторы собственной разработки для повышения эффективности и скорости внедрения разных видов тестирования</a:t>
            </a:r>
          </a:p>
          <a:p>
            <a:pPr marL="171450" indent="-171450">
              <a:lnSpc>
                <a:spcPct val="100000"/>
              </a:lnSpc>
              <a:buFont typeface="Stapel" panose="020B0604020202020204" pitchFamily="34" charset="0"/>
              <a:buChar char="•"/>
            </a:pPr>
            <a:endParaRPr lang="ru-RU" sz="1100" dirty="0">
              <a:solidFill>
                <a:srgbClr val="000000"/>
              </a:solidFill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08AE30B-10FA-4468-A977-E75C715D9BFF}"/>
              </a:ext>
            </a:extLst>
          </p:cNvPr>
          <p:cNvSpPr>
            <a:spLocks noGrp="1"/>
          </p:cNvSpPr>
          <p:nvPr/>
        </p:nvSpPr>
        <p:spPr>
          <a:xfrm>
            <a:off x="361189" y="2188714"/>
            <a:ext cx="2416285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Консалтинг</a:t>
            </a:r>
          </a:p>
        </p:txBody>
      </p:sp>
      <p:pic>
        <p:nvPicPr>
          <p:cNvPr id="26" name="Picture Placeholder 21" descr="A group of people sitting at a table&#10;&#10;Description automatically generated with medium confidence">
            <a:extLst>
              <a:ext uri="{FF2B5EF4-FFF2-40B4-BE49-F238E27FC236}">
                <a16:creationId xmlns:a16="http://schemas.microsoft.com/office/drawing/2014/main" id="{C84EC3F8-2B10-4600-8540-93CE14E6F7D5}"/>
              </a:ext>
            </a:extLst>
          </p:cNvPr>
          <p:cNvPicPr>
            <a:picLocks noGrp="1"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1189" y="740028"/>
            <a:ext cx="2276770" cy="1351431"/>
          </a:xfrm>
        </p:spPr>
      </p:pic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082DCE0-A5C2-46AA-8E69-32584326455F}"/>
              </a:ext>
            </a:extLst>
          </p:cNvPr>
          <p:cNvSpPr>
            <a:spLocks noGrp="1"/>
          </p:cNvSpPr>
          <p:nvPr/>
        </p:nvSpPr>
        <p:spPr>
          <a:xfrm>
            <a:off x="6081958" y="2188714"/>
            <a:ext cx="2431783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Функциональное тестирование​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D059E10-AF71-4CA6-B3CB-7BD166AB27D9}"/>
              </a:ext>
            </a:extLst>
          </p:cNvPr>
          <p:cNvSpPr>
            <a:spLocks noGrp="1"/>
          </p:cNvSpPr>
          <p:nvPr/>
        </p:nvSpPr>
        <p:spPr>
          <a:xfrm>
            <a:off x="3162269" y="2188714"/>
            <a:ext cx="2431783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Автоматизированное тестирование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99F5A262-26CA-4019-9251-F03BA01141EB}"/>
              </a:ext>
            </a:extLst>
          </p:cNvPr>
          <p:cNvSpPr>
            <a:spLocks noGrp="1"/>
          </p:cNvSpPr>
          <p:nvPr/>
        </p:nvSpPr>
        <p:spPr>
          <a:xfrm>
            <a:off x="8939563" y="2188714"/>
            <a:ext cx="2431783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Дополнительно</a:t>
            </a:r>
          </a:p>
        </p:txBody>
      </p:sp>
      <p:pic>
        <p:nvPicPr>
          <p:cNvPr id="30" name="Picture Placeholder 34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1B8A29D0-2A7F-4311-AE6E-F51BAD6724BD}"/>
              </a:ext>
            </a:extLst>
          </p:cNvPr>
          <p:cNvPicPr>
            <a:picLocks noGrp="1"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84490" y="740450"/>
            <a:ext cx="2276960" cy="1350360"/>
          </a:xfrm>
        </p:spPr>
      </p:pic>
      <p:pic>
        <p:nvPicPr>
          <p:cNvPr id="31" name="Picture Placeholder 23" descr="A person sitting on a couch&#10;&#10;Description automatically generated with medium confidence">
            <a:extLst>
              <a:ext uri="{FF2B5EF4-FFF2-40B4-BE49-F238E27FC236}">
                <a16:creationId xmlns:a16="http://schemas.microsoft.com/office/drawing/2014/main" id="{31A2FFEE-D305-4C76-A0CD-B55F8E2D326B}"/>
              </a:ext>
            </a:extLst>
          </p:cNvPr>
          <p:cNvPicPr>
            <a:picLocks noGrp="1"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2864" y="740450"/>
            <a:ext cx="2275467" cy="1350360"/>
          </a:xfrm>
        </p:spPr>
      </p:pic>
      <p:pic>
        <p:nvPicPr>
          <p:cNvPr id="32" name="Picture Placeholder 32" descr="A person sitting at a desk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D1630256-C283-4E9B-ACAE-B5FFEEC66238}"/>
              </a:ext>
            </a:extLst>
          </p:cNvPr>
          <p:cNvPicPr>
            <a:picLocks noGrp="1"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28376" y="740028"/>
            <a:ext cx="2276770" cy="1351431"/>
          </a:xfr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Picture Placeholder 10" descr="A person sitting at a computer&#10;&#10;Description automatically generated with low confidence">
            <a:extLst>
              <a:ext uri="{FF2B5EF4-FFF2-40B4-BE49-F238E27FC236}">
                <a16:creationId xmlns:a16="http://schemas.microsoft.com/office/drawing/2014/main" id="{040C1AC5-372B-4642-B022-BEED956BD108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-1"/>
            <a:ext cx="6096000" cy="6858001"/>
          </a:xfrm>
        </p:spPr>
      </p:pic>
      <p:sp>
        <p:nvSpPr>
          <p:cNvPr id="21" name="Title 4">
            <a:extLst>
              <a:ext uri="{FF2B5EF4-FFF2-40B4-BE49-F238E27FC236}">
                <a16:creationId xmlns:a16="http://schemas.microsoft.com/office/drawing/2014/main" id="{74629B36-126B-4403-8210-C17AB2C7F404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Компетенции в тестировании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928ADC6-C5F9-450C-976A-12460BE766CA}"/>
              </a:ext>
            </a:extLst>
          </p:cNvPr>
          <p:cNvSpPr>
            <a:spLocks noGrp="1"/>
          </p:cNvSpPr>
          <p:nvPr/>
        </p:nvSpPr>
        <p:spPr>
          <a:xfrm>
            <a:off x="515937" y="762574"/>
            <a:ext cx="5122863" cy="4103077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Ручное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Автоматизированное тестирование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lang="en-US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Функциональное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требований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Интеграционное и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API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Мобильное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UI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производительности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err="1" b="0">
                <a:solidFill>
                  <a:srgbClr val="000000"/>
                </a:solidFill>
                <a:latin typeface="Stapel"/>
              </a:rPr>
              <a:t>Фаззинг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-тестирование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систем при работе с большим объёмом данных</a:t>
            </a:r>
            <a:endParaRPr lang="en-US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промышленных процессов и систем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lang="ru-RU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Регрессионное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Исследовательское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критичной функциональности после развертывания в рабочей среде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Stapel"/>
              </a:rPr>
              <a:t>End to End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Применение ИИ в тестировании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Box 158">
            <a:extLst>
              <a:ext uri="{FF2B5EF4-FFF2-40B4-BE49-F238E27FC236}">
                <a16:creationId xmlns:a16="http://schemas.microsoft.com/office/drawing/2014/main" id="{6B2B82EB-45B2-4CBE-82A2-D15AD5A40A8A}"/>
              </a:ext>
            </a:extLst>
          </p:cNvPr>
          <p:cNvSpPr txBox="1"/>
          <p:nvPr/>
        </p:nvSpPr>
        <p:spPr>
          <a:xfrm>
            <a:off x="294674" y="4151028"/>
            <a:ext cx="1638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TextBox 152">
            <a:extLst>
              <a:ext uri="{FF2B5EF4-FFF2-40B4-BE49-F238E27FC236}">
                <a16:creationId xmlns:a16="http://schemas.microsoft.com/office/drawing/2014/main" id="{87E7F759-4763-45E6-9E95-00DD150AEC0E}"/>
              </a:ext>
            </a:extLst>
          </p:cNvPr>
          <p:cNvSpPr txBox="1"/>
          <p:nvPr/>
        </p:nvSpPr>
        <p:spPr>
          <a:xfrm>
            <a:off x="328022" y="2688272"/>
            <a:ext cx="17193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154">
            <a:extLst>
              <a:ext uri="{FF2B5EF4-FFF2-40B4-BE49-F238E27FC236}">
                <a16:creationId xmlns:a16="http://schemas.microsoft.com/office/drawing/2014/main" id="{421C72BA-FA6A-4C5E-9ABC-8CEEE867A4F0}"/>
              </a:ext>
            </a:extLst>
          </p:cNvPr>
          <p:cNvSpPr txBox="1"/>
          <p:nvPr/>
        </p:nvSpPr>
        <p:spPr>
          <a:xfrm>
            <a:off x="324538" y="3124561"/>
            <a:ext cx="18122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TextBox 160">
            <a:extLst>
              <a:ext uri="{FF2B5EF4-FFF2-40B4-BE49-F238E27FC236}">
                <a16:creationId xmlns:a16="http://schemas.microsoft.com/office/drawing/2014/main" id="{A8D6BC05-3265-46BA-AF03-11CB516A9826}"/>
              </a:ext>
            </a:extLst>
          </p:cNvPr>
          <p:cNvSpPr txBox="1"/>
          <p:nvPr/>
        </p:nvSpPr>
        <p:spPr>
          <a:xfrm>
            <a:off x="268902" y="4587317"/>
            <a:ext cx="18122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Ручное тестирование разработчиком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TextBox 150">
            <a:extLst>
              <a:ext uri="{FF2B5EF4-FFF2-40B4-BE49-F238E27FC236}">
                <a16:creationId xmlns:a16="http://schemas.microsoft.com/office/drawing/2014/main" id="{C3C91990-0B71-4F35-9782-DAF49AC62725}"/>
              </a:ext>
            </a:extLst>
          </p:cNvPr>
          <p:cNvSpPr txBox="1"/>
          <p:nvPr/>
        </p:nvSpPr>
        <p:spPr>
          <a:xfrm>
            <a:off x="267024" y="5331381"/>
            <a:ext cx="1991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Проверка работоспособности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56">
            <a:extLst>
              <a:ext uri="{FF2B5EF4-FFF2-40B4-BE49-F238E27FC236}">
                <a16:creationId xmlns:a16="http://schemas.microsoft.com/office/drawing/2014/main" id="{32D661B3-8398-4BFA-AE43-CE4B223D9D45}"/>
              </a:ext>
            </a:extLst>
          </p:cNvPr>
          <p:cNvSpPr txBox="1"/>
          <p:nvPr/>
        </p:nvSpPr>
        <p:spPr>
          <a:xfrm>
            <a:off x="301514" y="3560850"/>
            <a:ext cx="1682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 </a:t>
            </a:r>
          </a:p>
        </p:txBody>
      </p:sp>
      <p:sp>
        <p:nvSpPr>
          <p:cNvPr id="26" name="TextBox 273">
            <a:extLst>
              <a:ext uri="{FF2B5EF4-FFF2-40B4-BE49-F238E27FC236}">
                <a16:creationId xmlns:a16="http://schemas.microsoft.com/office/drawing/2014/main" id="{7E58D6C1-E28D-45F9-B5C9-E8D8FEEF6C0E}"/>
              </a:ext>
            </a:extLst>
          </p:cNvPr>
          <p:cNvSpPr txBox="1"/>
          <p:nvPr/>
        </p:nvSpPr>
        <p:spPr>
          <a:xfrm>
            <a:off x="9993853" y="4381278"/>
            <a:ext cx="1822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Мониторинг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7" name="TextBox 277">
            <a:extLst>
              <a:ext uri="{FF2B5EF4-FFF2-40B4-BE49-F238E27FC236}">
                <a16:creationId xmlns:a16="http://schemas.microsoft.com/office/drawing/2014/main" id="{90F06C56-719C-4688-9583-3FE5DBC443D2}"/>
              </a:ext>
            </a:extLst>
          </p:cNvPr>
          <p:cNvSpPr txBox="1"/>
          <p:nvPr/>
        </p:nvSpPr>
        <p:spPr>
          <a:xfrm>
            <a:off x="10012362" y="3843412"/>
            <a:ext cx="1828800" cy="26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Smoke</a:t>
            </a:r>
            <a:r>
              <a:rPr lang="ru-RU" sz="1100" dirty="0">
                <a:solidFill>
                  <a:srgbClr val="000000"/>
                </a:solidFill>
                <a:latin typeface="Stapel"/>
              </a:rPr>
              <a:t>-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281">
            <a:extLst>
              <a:ext uri="{FF2B5EF4-FFF2-40B4-BE49-F238E27FC236}">
                <a16:creationId xmlns:a16="http://schemas.microsoft.com/office/drawing/2014/main" id="{C3F6F1B5-2960-430B-BEB2-1A7ECFB20801}"/>
              </a:ext>
            </a:extLst>
          </p:cNvPr>
          <p:cNvSpPr txBox="1"/>
          <p:nvPr/>
        </p:nvSpPr>
        <p:spPr>
          <a:xfrm>
            <a:off x="9957200" y="3311354"/>
            <a:ext cx="17920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Bef>
                <a:spcPts val="1200"/>
              </a:spcBef>
              <a:defRPr/>
            </a:pPr>
            <a:r>
              <a:rPr lang="ru-RU" sz="1100" dirty="0">
                <a:solidFill>
                  <a:srgbClr val="000000"/>
                </a:solidFill>
                <a:latin typeface="+mn-lt"/>
              </a:rPr>
              <a:t>Приёмочное тестирование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9" name="TextBox 285">
            <a:extLst>
              <a:ext uri="{FF2B5EF4-FFF2-40B4-BE49-F238E27FC236}">
                <a16:creationId xmlns:a16="http://schemas.microsoft.com/office/drawing/2014/main" id="{9F433864-4F8A-4AA9-A7E4-DE2B01070EEE}"/>
              </a:ext>
            </a:extLst>
          </p:cNvPr>
          <p:cNvSpPr txBox="1"/>
          <p:nvPr/>
        </p:nvSpPr>
        <p:spPr>
          <a:xfrm>
            <a:off x="9917967" y="2610116"/>
            <a:ext cx="19374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1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Проверка работоспособности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TextBox 245">
            <a:extLst>
              <a:ext uri="{FF2B5EF4-FFF2-40B4-BE49-F238E27FC236}">
                <a16:creationId xmlns:a16="http://schemas.microsoft.com/office/drawing/2014/main" id="{43D993FE-93F5-4E96-A9AD-5B699C895EEA}"/>
              </a:ext>
            </a:extLst>
          </p:cNvPr>
          <p:cNvSpPr txBox="1"/>
          <p:nvPr/>
        </p:nvSpPr>
        <p:spPr>
          <a:xfrm>
            <a:off x="7939718" y="5312218"/>
            <a:ext cx="19167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1" name="TextBox 249">
            <a:extLst>
              <a:ext uri="{FF2B5EF4-FFF2-40B4-BE49-F238E27FC236}">
                <a16:creationId xmlns:a16="http://schemas.microsoft.com/office/drawing/2014/main" id="{81430232-B644-42E4-9422-9088B5BA92C5}"/>
              </a:ext>
            </a:extLst>
          </p:cNvPr>
          <p:cNvSpPr txBox="1"/>
          <p:nvPr/>
        </p:nvSpPr>
        <p:spPr>
          <a:xfrm>
            <a:off x="7922479" y="4752566"/>
            <a:ext cx="18251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на выносливость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2" name="TextBox 253">
            <a:extLst>
              <a:ext uri="{FF2B5EF4-FFF2-40B4-BE49-F238E27FC236}">
                <a16:creationId xmlns:a16="http://schemas.microsoft.com/office/drawing/2014/main" id="{0D7092EA-3896-4AA6-BD99-441D99821695}"/>
              </a:ext>
            </a:extLst>
          </p:cNvPr>
          <p:cNvSpPr txBox="1"/>
          <p:nvPr/>
        </p:nvSpPr>
        <p:spPr>
          <a:xfrm>
            <a:off x="7933237" y="4333755"/>
            <a:ext cx="17394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Bef>
                <a:spcPts val="1200"/>
              </a:spcBef>
              <a:defRPr/>
            </a:pPr>
            <a:r>
              <a:rPr lang="ru-RU" sz="1100" dirty="0">
                <a:solidFill>
                  <a:srgbClr val="000000"/>
                </a:solidFill>
                <a:latin typeface="+mn-lt"/>
              </a:rPr>
              <a:t>Приёмочное тестирование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33" name="TextBox 257">
            <a:extLst>
              <a:ext uri="{FF2B5EF4-FFF2-40B4-BE49-F238E27FC236}">
                <a16:creationId xmlns:a16="http://schemas.microsoft.com/office/drawing/2014/main" id="{1BF2C67A-382E-4B3D-9E15-E7851EC12328}"/>
              </a:ext>
            </a:extLst>
          </p:cNvPr>
          <p:cNvSpPr txBox="1"/>
          <p:nvPr/>
        </p:nvSpPr>
        <p:spPr>
          <a:xfrm>
            <a:off x="7924381" y="3806024"/>
            <a:ext cx="17785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системной интеграции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4" name="TextBox 261">
            <a:extLst>
              <a:ext uri="{FF2B5EF4-FFF2-40B4-BE49-F238E27FC236}">
                <a16:creationId xmlns:a16="http://schemas.microsoft.com/office/drawing/2014/main" id="{F4872AB9-9F70-455F-BA14-910F2EE9075D}"/>
              </a:ext>
            </a:extLst>
          </p:cNvPr>
          <p:cNvSpPr txBox="1"/>
          <p:nvPr/>
        </p:nvSpPr>
        <p:spPr>
          <a:xfrm>
            <a:off x="7939718" y="3115071"/>
            <a:ext cx="18410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Сквозные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интеграционные 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5" name="TextBox 265">
            <a:extLst>
              <a:ext uri="{FF2B5EF4-FFF2-40B4-BE49-F238E27FC236}">
                <a16:creationId xmlns:a16="http://schemas.microsoft.com/office/drawing/2014/main" id="{DEE72B21-522F-4E06-925B-CF07335B9899}"/>
              </a:ext>
            </a:extLst>
          </p:cNvPr>
          <p:cNvSpPr txBox="1"/>
          <p:nvPr/>
        </p:nvSpPr>
        <p:spPr>
          <a:xfrm>
            <a:off x="7941260" y="2593395"/>
            <a:ext cx="18410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Критическая регрессия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6" name="TextBox 217">
            <a:extLst>
              <a:ext uri="{FF2B5EF4-FFF2-40B4-BE49-F238E27FC236}">
                <a16:creationId xmlns:a16="http://schemas.microsoft.com/office/drawing/2014/main" id="{0639E230-5CE5-4B25-B7F5-E4A56E5E0E77}"/>
              </a:ext>
            </a:extLst>
          </p:cNvPr>
          <p:cNvSpPr txBox="1"/>
          <p:nvPr/>
        </p:nvSpPr>
        <p:spPr>
          <a:xfrm>
            <a:off x="6134709" y="3925315"/>
            <a:ext cx="15336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Aft>
                <a:spcPts val="1200"/>
              </a:spcAft>
              <a:defRPr/>
            </a:pPr>
            <a:r>
              <a:rPr lang="ru-RU" sz="1000" dirty="0">
                <a:solidFill>
                  <a:srgbClr val="000000"/>
                </a:solidFill>
                <a:latin typeface="+mn-lt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7" name="TextBox 225">
            <a:extLst>
              <a:ext uri="{FF2B5EF4-FFF2-40B4-BE49-F238E27FC236}">
                <a16:creationId xmlns:a16="http://schemas.microsoft.com/office/drawing/2014/main" id="{5B02F4EF-259C-464C-8F6C-7D615E6242A2}"/>
              </a:ext>
            </a:extLst>
          </p:cNvPr>
          <p:cNvSpPr txBox="1"/>
          <p:nvPr/>
        </p:nvSpPr>
        <p:spPr>
          <a:xfrm>
            <a:off x="6145530" y="3095740"/>
            <a:ext cx="1560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Интеграция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8" name="TextBox 231">
            <a:extLst>
              <a:ext uri="{FF2B5EF4-FFF2-40B4-BE49-F238E27FC236}">
                <a16:creationId xmlns:a16="http://schemas.microsoft.com/office/drawing/2014/main" id="{4F4D0A4F-E9F0-4D2B-A764-DFAC34F08474}"/>
              </a:ext>
            </a:extLst>
          </p:cNvPr>
          <p:cNvSpPr txBox="1"/>
          <p:nvPr/>
        </p:nvSpPr>
        <p:spPr>
          <a:xfrm>
            <a:off x="6135514" y="2757868"/>
            <a:ext cx="1559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Регрессия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9" name="TextBox 235">
            <a:extLst>
              <a:ext uri="{FF2B5EF4-FFF2-40B4-BE49-F238E27FC236}">
                <a16:creationId xmlns:a16="http://schemas.microsoft.com/office/drawing/2014/main" id="{332C25DE-1AC9-41E3-A11F-D1474B70D5B3}"/>
              </a:ext>
            </a:extLst>
          </p:cNvPr>
          <p:cNvSpPr txBox="1"/>
          <p:nvPr/>
        </p:nvSpPr>
        <p:spPr>
          <a:xfrm>
            <a:off x="6132245" y="2451003"/>
            <a:ext cx="15593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28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0" name="TextBox 213">
            <a:extLst>
              <a:ext uri="{FF2B5EF4-FFF2-40B4-BE49-F238E27FC236}">
                <a16:creationId xmlns:a16="http://schemas.microsoft.com/office/drawing/2014/main" id="{02DC97A3-DC4E-46C1-9D2F-D05E27C0F339}"/>
              </a:ext>
            </a:extLst>
          </p:cNvPr>
          <p:cNvSpPr txBox="1"/>
          <p:nvPr/>
        </p:nvSpPr>
        <p:spPr>
          <a:xfrm>
            <a:off x="6132245" y="4312095"/>
            <a:ext cx="1533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Нагрузочное тестирование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1" name="TextBox 182">
            <a:extLst>
              <a:ext uri="{FF2B5EF4-FFF2-40B4-BE49-F238E27FC236}">
                <a16:creationId xmlns:a16="http://schemas.microsoft.com/office/drawing/2014/main" id="{2217AA17-3B66-4647-9762-FC2092124753}"/>
              </a:ext>
            </a:extLst>
          </p:cNvPr>
          <p:cNvSpPr txBox="1"/>
          <p:nvPr/>
        </p:nvSpPr>
        <p:spPr>
          <a:xfrm>
            <a:off x="4270709" y="4585936"/>
            <a:ext cx="1528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2" name="TextBox 184">
            <a:extLst>
              <a:ext uri="{FF2B5EF4-FFF2-40B4-BE49-F238E27FC236}">
                <a16:creationId xmlns:a16="http://schemas.microsoft.com/office/drawing/2014/main" id="{934707AC-B321-404A-97AB-CDE39E703D70}"/>
              </a:ext>
            </a:extLst>
          </p:cNvPr>
          <p:cNvSpPr txBox="1"/>
          <p:nvPr/>
        </p:nvSpPr>
        <p:spPr>
          <a:xfrm>
            <a:off x="4271091" y="4025816"/>
            <a:ext cx="1629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Публикация артефактов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3" name="TextBox 186">
            <a:extLst>
              <a:ext uri="{FF2B5EF4-FFF2-40B4-BE49-F238E27FC236}">
                <a16:creationId xmlns:a16="http://schemas.microsoft.com/office/drawing/2014/main" id="{3A638BEA-DC9E-477B-B6F5-825FC99D1C9B}"/>
              </a:ext>
            </a:extLst>
          </p:cNvPr>
          <p:cNvSpPr txBox="1"/>
          <p:nvPr/>
        </p:nvSpPr>
        <p:spPr>
          <a:xfrm>
            <a:off x="4271280" y="3512762"/>
            <a:ext cx="1542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4" name="TextBox 190">
            <a:extLst>
              <a:ext uri="{FF2B5EF4-FFF2-40B4-BE49-F238E27FC236}">
                <a16:creationId xmlns:a16="http://schemas.microsoft.com/office/drawing/2014/main" id="{CE05379D-6937-4448-8FFB-82E33B2B2E0F}"/>
              </a:ext>
            </a:extLst>
          </p:cNvPr>
          <p:cNvSpPr txBox="1"/>
          <p:nvPr/>
        </p:nvSpPr>
        <p:spPr>
          <a:xfrm>
            <a:off x="4271280" y="3142802"/>
            <a:ext cx="15428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5" name="TextBox 194">
            <a:extLst>
              <a:ext uri="{FF2B5EF4-FFF2-40B4-BE49-F238E27FC236}">
                <a16:creationId xmlns:a16="http://schemas.microsoft.com/office/drawing/2014/main" id="{2913BC81-BCA3-4A26-BDCF-847076CA5D55}"/>
              </a:ext>
            </a:extLst>
          </p:cNvPr>
          <p:cNvSpPr txBox="1"/>
          <p:nvPr/>
        </p:nvSpPr>
        <p:spPr>
          <a:xfrm>
            <a:off x="4319530" y="2657973"/>
            <a:ext cx="1540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6" name="TextBox 164">
            <a:extLst>
              <a:ext uri="{FF2B5EF4-FFF2-40B4-BE49-F238E27FC236}">
                <a16:creationId xmlns:a16="http://schemas.microsoft.com/office/drawing/2014/main" id="{1498E624-2D1D-4931-97C6-A142BC6BD6D1}"/>
              </a:ext>
            </a:extLst>
          </p:cNvPr>
          <p:cNvSpPr txBox="1"/>
          <p:nvPr/>
        </p:nvSpPr>
        <p:spPr>
          <a:xfrm>
            <a:off x="2392842" y="2665833"/>
            <a:ext cx="15977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7" name="TextBox 168">
            <a:extLst>
              <a:ext uri="{FF2B5EF4-FFF2-40B4-BE49-F238E27FC236}">
                <a16:creationId xmlns:a16="http://schemas.microsoft.com/office/drawing/2014/main" id="{BB187FC1-3D6B-4958-AD27-5DABB036A435}"/>
              </a:ext>
            </a:extLst>
          </p:cNvPr>
          <p:cNvSpPr txBox="1"/>
          <p:nvPr/>
        </p:nvSpPr>
        <p:spPr>
          <a:xfrm>
            <a:off x="2410938" y="5510527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Ревью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8" name="TextBox 170">
            <a:extLst>
              <a:ext uri="{FF2B5EF4-FFF2-40B4-BE49-F238E27FC236}">
                <a16:creationId xmlns:a16="http://schemas.microsoft.com/office/drawing/2014/main" id="{5AAF3CE6-37E5-4022-A79C-5E0925F0B8E4}"/>
              </a:ext>
            </a:extLst>
          </p:cNvPr>
          <p:cNvSpPr txBox="1"/>
          <p:nvPr/>
        </p:nvSpPr>
        <p:spPr>
          <a:xfrm>
            <a:off x="2365807" y="4816868"/>
            <a:ext cx="15722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критических сценариев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9" name="TextBox 172">
            <a:extLst>
              <a:ext uri="{FF2B5EF4-FFF2-40B4-BE49-F238E27FC236}">
                <a16:creationId xmlns:a16="http://schemas.microsoft.com/office/drawing/2014/main" id="{987E097A-5608-4060-8BBE-DF3F62D653ED}"/>
              </a:ext>
            </a:extLst>
          </p:cNvPr>
          <p:cNvSpPr txBox="1"/>
          <p:nvPr/>
        </p:nvSpPr>
        <p:spPr>
          <a:xfrm>
            <a:off x="2368274" y="4420699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Smoke</a:t>
            </a:r>
            <a:r>
              <a:rPr lang="ru-RU" sz="1000" dirty="0">
                <a:solidFill>
                  <a:srgbClr val="000000"/>
                </a:solidFill>
                <a:latin typeface="Stapel"/>
              </a:rPr>
              <a:t>-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0" name="TextBox 174">
            <a:extLst>
              <a:ext uri="{FF2B5EF4-FFF2-40B4-BE49-F238E27FC236}">
                <a16:creationId xmlns:a16="http://schemas.microsoft.com/office/drawing/2014/main" id="{5A3DB3F4-6730-4EE4-B3AD-519437352F69}"/>
              </a:ext>
            </a:extLst>
          </p:cNvPr>
          <p:cNvSpPr txBox="1"/>
          <p:nvPr/>
        </p:nvSpPr>
        <p:spPr>
          <a:xfrm>
            <a:off x="2371963" y="4055544"/>
            <a:ext cx="16181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1" name="TextBox 178">
            <a:extLst>
              <a:ext uri="{FF2B5EF4-FFF2-40B4-BE49-F238E27FC236}">
                <a16:creationId xmlns:a16="http://schemas.microsoft.com/office/drawing/2014/main" id="{79A88901-393A-4000-80B6-22003D93F0A0}"/>
              </a:ext>
            </a:extLst>
          </p:cNvPr>
          <p:cNvSpPr txBox="1"/>
          <p:nvPr/>
        </p:nvSpPr>
        <p:spPr>
          <a:xfrm>
            <a:off x="2369820" y="3516134"/>
            <a:ext cx="1572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2" name="TextBox 180">
            <a:extLst>
              <a:ext uri="{FF2B5EF4-FFF2-40B4-BE49-F238E27FC236}">
                <a16:creationId xmlns:a16="http://schemas.microsoft.com/office/drawing/2014/main" id="{1B3CD341-587E-458F-9B02-871273EEBA79}"/>
              </a:ext>
            </a:extLst>
          </p:cNvPr>
          <p:cNvSpPr txBox="1"/>
          <p:nvPr/>
        </p:nvSpPr>
        <p:spPr>
          <a:xfrm>
            <a:off x="2378822" y="3137262"/>
            <a:ext cx="16044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3" name="TextBox 3">
            <a:extLst>
              <a:ext uri="{FF2B5EF4-FFF2-40B4-BE49-F238E27FC236}">
                <a16:creationId xmlns:a16="http://schemas.microsoft.com/office/drawing/2014/main" id="{3C24102E-F17B-B811-8FA2-C2CB4CD2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42" y="1267005"/>
            <a:ext cx="20431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Соответствие</a:t>
            </a:r>
            <a:r>
              <a:rPr lang="en-US" altLang="en-RU" sz="900" spc="70" dirty="0">
                <a:solidFill>
                  <a:srgbClr val="000000"/>
                </a:solidFill>
                <a:latin typeface="+mn-lt"/>
              </a:rPr>
              <a:t> DoD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4" name="TextBox 4">
            <a:extLst>
              <a:ext uri="{FF2B5EF4-FFF2-40B4-BE49-F238E27FC236}">
                <a16:creationId xmlns:a16="http://schemas.microsoft.com/office/drawing/2014/main" id="{B47FEFF0-AD1A-40AA-FA72-9D8407C8F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1608" y="1207198"/>
            <a:ext cx="20986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Отсутствие нарушений в коде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Код прошёл </a:t>
            </a:r>
            <a:r>
              <a:rPr lang="ru-RU" altLang="en-RU" sz="900" spc="70" dirty="0" err="1">
                <a:solidFill>
                  <a:srgbClr val="000000"/>
                </a:solidFill>
                <a:latin typeface="+mn-lt"/>
              </a:rPr>
              <a:t>ревью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51641093-D490-5B20-4380-2D215BDDC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242" y="1267223"/>
            <a:ext cx="18113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Последняя удачно верифицированная сборка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7AEC291E-CF14-CCB4-C178-83B0BB59C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527" y="1262686"/>
            <a:ext cx="12801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</a:t>
            </a:r>
            <a:br>
              <a:rPr lang="ru-RU" altLang="en-RU" sz="900" spc="70" dirty="0">
                <a:solidFill>
                  <a:srgbClr val="000000"/>
                </a:solidFill>
                <a:latin typeface="+mn-lt"/>
              </a:rPr>
            </a:b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B97D4BEC-67D8-2BB5-ABC5-978C8675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4356" y="1192040"/>
            <a:ext cx="233716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Одобрение выпуска заинтересованными сторонами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8" name="Rectangle 22">
            <a:extLst>
              <a:ext uri="{FF2B5EF4-FFF2-40B4-BE49-F238E27FC236}">
                <a16:creationId xmlns:a16="http://schemas.microsoft.com/office/drawing/2014/main" id="{8DA71C3D-023A-1E68-42D0-3E5753F72E2A}"/>
              </a:ext>
            </a:extLst>
          </p:cNvPr>
          <p:cNvSpPr/>
          <p:nvPr/>
        </p:nvSpPr>
        <p:spPr>
          <a:xfrm>
            <a:off x="2335213" y="1967864"/>
            <a:ext cx="1749425" cy="3988435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59" name="Rectangle 30">
            <a:extLst>
              <a:ext uri="{FF2B5EF4-FFF2-40B4-BE49-F238E27FC236}">
                <a16:creationId xmlns:a16="http://schemas.microsoft.com/office/drawing/2014/main" id="{31C97220-4F77-0CC7-98A7-052D3D52B838}"/>
              </a:ext>
            </a:extLst>
          </p:cNvPr>
          <p:cNvSpPr/>
          <p:nvPr/>
        </p:nvSpPr>
        <p:spPr>
          <a:xfrm>
            <a:off x="4225925" y="1967865"/>
            <a:ext cx="1717675" cy="3987800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0" name="Rectangle 36">
            <a:extLst>
              <a:ext uri="{FF2B5EF4-FFF2-40B4-BE49-F238E27FC236}">
                <a16:creationId xmlns:a16="http://schemas.microsoft.com/office/drawing/2014/main" id="{601FAEAD-F2A7-4149-983F-31B8B4C9EA92}"/>
              </a:ext>
            </a:extLst>
          </p:cNvPr>
          <p:cNvSpPr/>
          <p:nvPr/>
        </p:nvSpPr>
        <p:spPr>
          <a:xfrm>
            <a:off x="7891463" y="1956275"/>
            <a:ext cx="1965325" cy="3987800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1" name="Rectangle 47">
            <a:extLst>
              <a:ext uri="{FF2B5EF4-FFF2-40B4-BE49-F238E27FC236}">
                <a16:creationId xmlns:a16="http://schemas.microsoft.com/office/drawing/2014/main" id="{92E785B5-19E3-1C39-C79B-CCA128F76E00}"/>
              </a:ext>
            </a:extLst>
          </p:cNvPr>
          <p:cNvSpPr/>
          <p:nvPr/>
        </p:nvSpPr>
        <p:spPr>
          <a:xfrm>
            <a:off x="9971087" y="1953894"/>
            <a:ext cx="1965325" cy="3987800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2" name="Rectangle 52">
            <a:extLst>
              <a:ext uri="{FF2B5EF4-FFF2-40B4-BE49-F238E27FC236}">
                <a16:creationId xmlns:a16="http://schemas.microsoft.com/office/drawing/2014/main" id="{3F2E8AC5-42FF-222A-B0AA-240B8630C432}"/>
              </a:ext>
            </a:extLst>
          </p:cNvPr>
          <p:cNvSpPr/>
          <p:nvPr/>
        </p:nvSpPr>
        <p:spPr>
          <a:xfrm>
            <a:off x="6040438" y="1965804"/>
            <a:ext cx="1765300" cy="3989387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365760" tIns="121920" rIns="243840" bIns="121920" anchor="b" anchorCtr="1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</p:txBody>
      </p:sp>
      <p:sp>
        <p:nvSpPr>
          <p:cNvPr id="63" name="Rectangle 53">
            <a:extLst>
              <a:ext uri="{FF2B5EF4-FFF2-40B4-BE49-F238E27FC236}">
                <a16:creationId xmlns:a16="http://schemas.microsoft.com/office/drawing/2014/main" id="{222ED31E-E0F0-63AE-A77D-0F2A7B6D4B7D}"/>
              </a:ext>
            </a:extLst>
          </p:cNvPr>
          <p:cNvSpPr/>
          <p:nvPr/>
        </p:nvSpPr>
        <p:spPr>
          <a:xfrm>
            <a:off x="6115050" y="2043591"/>
            <a:ext cx="1611313" cy="1384300"/>
          </a:xfrm>
          <a:prstGeom prst="rect">
            <a:avLst/>
          </a:prstGeom>
          <a:noFill/>
          <a:ln w="12700">
            <a:solidFill>
              <a:srgbClr val="7D70EF">
                <a:lumMod val="60000"/>
                <a:lumOff val="40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b="1" dirty="0">
              <a:solidFill>
                <a:srgbClr val="000000"/>
              </a:solidFill>
            </a:endParaRPr>
          </a:p>
        </p:txBody>
      </p:sp>
      <p:sp>
        <p:nvSpPr>
          <p:cNvPr id="64" name="Rectangle 54">
            <a:extLst>
              <a:ext uri="{FF2B5EF4-FFF2-40B4-BE49-F238E27FC236}">
                <a16:creationId xmlns:a16="http://schemas.microsoft.com/office/drawing/2014/main" id="{CAA4FDDD-C8ED-9069-E1BA-5E3AA7682A0A}"/>
              </a:ext>
            </a:extLst>
          </p:cNvPr>
          <p:cNvSpPr/>
          <p:nvPr/>
        </p:nvSpPr>
        <p:spPr>
          <a:xfrm>
            <a:off x="6115050" y="3543779"/>
            <a:ext cx="1611313" cy="1831975"/>
          </a:xfrm>
          <a:prstGeom prst="rect">
            <a:avLst/>
          </a:prstGeom>
          <a:noFill/>
          <a:ln w="12700">
            <a:solidFill>
              <a:srgbClr val="7D70EF">
                <a:lumMod val="60000"/>
                <a:lumOff val="40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65" name="Заголовок 1">
            <a:extLst>
              <a:ext uri="{FF2B5EF4-FFF2-40B4-BE49-F238E27FC236}">
                <a16:creationId xmlns:a16="http://schemas.microsoft.com/office/drawing/2014/main" id="{DD3ED79B-E6CE-4B49-8E48-79727B3A1B59}"/>
              </a:ext>
            </a:extLst>
          </p:cNvPr>
          <p:cNvSpPr>
            <a:spLocks noGrp="1"/>
          </p:cNvSpPr>
          <p:nvPr/>
        </p:nvSpPr>
        <p:spPr>
          <a:xfrm>
            <a:off x="501536" y="400384"/>
            <a:ext cx="9171170" cy="409680"/>
          </a:xfrm>
        </p:spPr>
        <p:txBody>
          <a:bodyPr>
            <a:normAutofit/>
          </a:bodyPr>
          <a:lstStyle/>
          <a:p>
            <a:r>
              <a:rPr lang="ru-RU" dirty="0" sz="2000" b="0">
                <a:latin typeface="Stapel Medium"/>
                <a:solidFill>
                  <a:srgbClr val="000000"/>
                </a:solidFill>
                <a:ea typeface="Stapel Medium"/>
                <a:cs typeface="Stapel Medium"/>
              </a:rPr>
              <a:t>Классический процесс контроля качества</a:t>
            </a:r>
          </a:p>
        </p:txBody>
      </p:sp>
      <p:pic>
        <p:nvPicPr>
          <p:cNvPr id="66" name="Рисунок 70">
            <a:extLst>
              <a:ext uri="{FF2B5EF4-FFF2-40B4-BE49-F238E27FC236}">
                <a16:creationId xmlns:a16="http://schemas.microsoft.com/office/drawing/2014/main" id="{5D735315-B72A-4656-B02E-539F7117A0D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1461" y="4940437"/>
            <a:ext cx="228169" cy="228169"/>
          </a:xfrm>
          <a:prstGeom prst="rect">
            <a:avLst/>
          </a:prstGeom>
        </p:spPr>
      </p:pic>
      <p:pic>
        <p:nvPicPr>
          <p:cNvPr id="67" name="Рисунок 72">
            <a:extLst>
              <a:ext uri="{FF2B5EF4-FFF2-40B4-BE49-F238E27FC236}">
                <a16:creationId xmlns:a16="http://schemas.microsoft.com/office/drawing/2014/main" id="{7A4896EA-BEC5-4CBD-A5DD-98F363F8530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68386" y="4455879"/>
            <a:ext cx="228169" cy="228169"/>
          </a:xfrm>
          <a:prstGeom prst="rect">
            <a:avLst/>
          </a:prstGeom>
        </p:spPr>
      </p:pic>
      <p:pic>
        <p:nvPicPr>
          <p:cNvPr id="68" name="Рисунок 73">
            <a:extLst>
              <a:ext uri="{FF2B5EF4-FFF2-40B4-BE49-F238E27FC236}">
                <a16:creationId xmlns:a16="http://schemas.microsoft.com/office/drawing/2014/main" id="{008B9F64-EAEA-4116-B746-710BD555A78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6954" y="4072265"/>
            <a:ext cx="228169" cy="228169"/>
          </a:xfrm>
          <a:prstGeom prst="rect">
            <a:avLst/>
          </a:prstGeom>
        </p:spPr>
      </p:pic>
      <p:pic>
        <p:nvPicPr>
          <p:cNvPr id="69" name="Рисунок 74">
            <a:extLst>
              <a:ext uri="{FF2B5EF4-FFF2-40B4-BE49-F238E27FC236}">
                <a16:creationId xmlns:a16="http://schemas.microsoft.com/office/drawing/2014/main" id="{687E5F0A-6C5A-49B4-943B-19676A7B91F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58589" y="3617492"/>
            <a:ext cx="228169" cy="228169"/>
          </a:xfrm>
          <a:prstGeom prst="rect">
            <a:avLst/>
          </a:prstGeom>
        </p:spPr>
      </p:pic>
      <p:pic>
        <p:nvPicPr>
          <p:cNvPr id="70" name="Рисунок 75">
            <a:extLst>
              <a:ext uri="{FF2B5EF4-FFF2-40B4-BE49-F238E27FC236}">
                <a16:creationId xmlns:a16="http://schemas.microsoft.com/office/drawing/2014/main" id="{8E3C6FBF-29AE-4E77-9318-60C68B579C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61012" y="3148992"/>
            <a:ext cx="228169" cy="228169"/>
          </a:xfrm>
          <a:prstGeom prst="rect">
            <a:avLst/>
          </a:prstGeom>
        </p:spPr>
      </p:pic>
      <p:pic>
        <p:nvPicPr>
          <p:cNvPr id="71" name="Рисунок 76">
            <a:extLst>
              <a:ext uri="{FF2B5EF4-FFF2-40B4-BE49-F238E27FC236}">
                <a16:creationId xmlns:a16="http://schemas.microsoft.com/office/drawing/2014/main" id="{7A00B957-4C73-4607-8F73-800BD4229ED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61012" y="2704582"/>
            <a:ext cx="228169" cy="228169"/>
          </a:xfrm>
          <a:prstGeom prst="rect">
            <a:avLst/>
          </a:prstGeom>
        </p:spPr>
      </p:pic>
      <p:pic>
        <p:nvPicPr>
          <p:cNvPr id="72" name="Рисунок 81">
            <a:extLst>
              <a:ext uri="{FF2B5EF4-FFF2-40B4-BE49-F238E27FC236}">
                <a16:creationId xmlns:a16="http://schemas.microsoft.com/office/drawing/2014/main" id="{179E3FF1-4436-40FE-A308-7BD7540DE81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37614" y="4105603"/>
            <a:ext cx="228169" cy="228169"/>
          </a:xfrm>
          <a:prstGeom prst="rect">
            <a:avLst/>
          </a:prstGeom>
        </p:spPr>
      </p:pic>
      <p:pic>
        <p:nvPicPr>
          <p:cNvPr id="73" name="Рисунок 82">
            <a:extLst>
              <a:ext uri="{FF2B5EF4-FFF2-40B4-BE49-F238E27FC236}">
                <a16:creationId xmlns:a16="http://schemas.microsoft.com/office/drawing/2014/main" id="{87597340-DDE0-4651-AB56-BD4ADA647C6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49801" y="3151274"/>
            <a:ext cx="228169" cy="228169"/>
          </a:xfrm>
          <a:prstGeom prst="rect">
            <a:avLst/>
          </a:prstGeom>
        </p:spPr>
      </p:pic>
      <p:pic>
        <p:nvPicPr>
          <p:cNvPr id="74" name="Рисунок 83">
            <a:extLst>
              <a:ext uri="{FF2B5EF4-FFF2-40B4-BE49-F238E27FC236}">
                <a16:creationId xmlns:a16="http://schemas.microsoft.com/office/drawing/2014/main" id="{7479E51C-E2E7-4361-8E0E-B7A1A266411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49801" y="3621900"/>
            <a:ext cx="228169" cy="228169"/>
          </a:xfrm>
          <a:prstGeom prst="rect">
            <a:avLst/>
          </a:prstGeom>
        </p:spPr>
      </p:pic>
      <p:pic>
        <p:nvPicPr>
          <p:cNvPr id="75" name="Рисунок 84">
            <a:extLst>
              <a:ext uri="{FF2B5EF4-FFF2-40B4-BE49-F238E27FC236}">
                <a16:creationId xmlns:a16="http://schemas.microsoft.com/office/drawing/2014/main" id="{661D6F86-B184-4CDE-9D74-C19BCCD0FAA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64175" y="2688583"/>
            <a:ext cx="228169" cy="228169"/>
          </a:xfrm>
          <a:prstGeom prst="rect">
            <a:avLst/>
          </a:prstGeom>
        </p:spPr>
      </p:pic>
      <p:pic>
        <p:nvPicPr>
          <p:cNvPr id="76" name="Рисунок 85">
            <a:extLst>
              <a:ext uri="{FF2B5EF4-FFF2-40B4-BE49-F238E27FC236}">
                <a16:creationId xmlns:a16="http://schemas.microsoft.com/office/drawing/2014/main" id="{5F4547F9-7711-4D9E-A67A-29277EA2A95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33707" y="4628898"/>
            <a:ext cx="228169" cy="228169"/>
          </a:xfrm>
          <a:prstGeom prst="rect">
            <a:avLst/>
          </a:prstGeom>
        </p:spPr>
      </p:pic>
      <p:pic>
        <p:nvPicPr>
          <p:cNvPr id="77" name="Рисунок 86">
            <a:extLst>
              <a:ext uri="{FF2B5EF4-FFF2-40B4-BE49-F238E27FC236}">
                <a16:creationId xmlns:a16="http://schemas.microsoft.com/office/drawing/2014/main" id="{73286517-967C-47DB-AB2E-A98BB4583D7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33512" y="2786708"/>
            <a:ext cx="228169" cy="228169"/>
          </a:xfrm>
          <a:prstGeom prst="rect">
            <a:avLst/>
          </a:prstGeom>
        </p:spPr>
      </p:pic>
      <p:pic>
        <p:nvPicPr>
          <p:cNvPr id="78" name="Рисунок 87">
            <a:extLst>
              <a:ext uri="{FF2B5EF4-FFF2-40B4-BE49-F238E27FC236}">
                <a16:creationId xmlns:a16="http://schemas.microsoft.com/office/drawing/2014/main" id="{AEF899C2-78DF-4B6B-BC6F-A69247874E6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24944" y="2465782"/>
            <a:ext cx="228169" cy="228169"/>
          </a:xfrm>
          <a:prstGeom prst="rect">
            <a:avLst/>
          </a:prstGeom>
        </p:spPr>
      </p:pic>
      <p:pic>
        <p:nvPicPr>
          <p:cNvPr id="79" name="Рисунок 88">
            <a:extLst>
              <a:ext uri="{FF2B5EF4-FFF2-40B4-BE49-F238E27FC236}">
                <a16:creationId xmlns:a16="http://schemas.microsoft.com/office/drawing/2014/main" id="{2D8677DF-4200-4FCD-B5C2-C34B14379B9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33500" y="3106325"/>
            <a:ext cx="228169" cy="228169"/>
          </a:xfrm>
          <a:prstGeom prst="rect">
            <a:avLst/>
          </a:prstGeom>
        </p:spPr>
      </p:pic>
      <p:pic>
        <p:nvPicPr>
          <p:cNvPr id="80" name="Рисунок 89">
            <a:extLst>
              <a:ext uri="{FF2B5EF4-FFF2-40B4-BE49-F238E27FC236}">
                <a16:creationId xmlns:a16="http://schemas.microsoft.com/office/drawing/2014/main" id="{9E36876B-A8E8-49CE-845F-9FA0DE5BB8D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24944" y="4391350"/>
            <a:ext cx="228169" cy="228169"/>
          </a:xfrm>
          <a:prstGeom prst="rect">
            <a:avLst/>
          </a:prstGeom>
        </p:spPr>
      </p:pic>
      <p:pic>
        <p:nvPicPr>
          <p:cNvPr id="81" name="Рисунок 90">
            <a:extLst>
              <a:ext uri="{FF2B5EF4-FFF2-40B4-BE49-F238E27FC236}">
                <a16:creationId xmlns:a16="http://schemas.microsoft.com/office/drawing/2014/main" id="{CB686BA5-A4E9-4771-922A-8768CE74B8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34090" y="3953008"/>
            <a:ext cx="228169" cy="228169"/>
          </a:xfrm>
          <a:prstGeom prst="rect">
            <a:avLst/>
          </a:prstGeom>
        </p:spPr>
      </p:pic>
      <p:pic>
        <p:nvPicPr>
          <p:cNvPr id="82" name="Рисунок 92">
            <a:extLst>
              <a:ext uri="{FF2B5EF4-FFF2-40B4-BE49-F238E27FC236}">
                <a16:creationId xmlns:a16="http://schemas.microsoft.com/office/drawing/2014/main" id="{6F7F31F5-A380-4C7D-A98B-5CD7882CC27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999843" y="3186984"/>
            <a:ext cx="228169" cy="228169"/>
          </a:xfrm>
          <a:prstGeom prst="rect">
            <a:avLst/>
          </a:prstGeom>
        </p:spPr>
      </p:pic>
      <p:pic>
        <p:nvPicPr>
          <p:cNvPr id="83" name="Рисунок 93">
            <a:extLst>
              <a:ext uri="{FF2B5EF4-FFF2-40B4-BE49-F238E27FC236}">
                <a16:creationId xmlns:a16="http://schemas.microsoft.com/office/drawing/2014/main" id="{7881A483-BA0E-4EDF-906B-419DDC709E6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11473" y="2686313"/>
            <a:ext cx="228169" cy="228169"/>
          </a:xfrm>
          <a:prstGeom prst="rect">
            <a:avLst/>
          </a:prstGeom>
        </p:spPr>
      </p:pic>
      <p:pic>
        <p:nvPicPr>
          <p:cNvPr id="84" name="Рисунок 94">
            <a:extLst>
              <a:ext uri="{FF2B5EF4-FFF2-40B4-BE49-F238E27FC236}">
                <a16:creationId xmlns:a16="http://schemas.microsoft.com/office/drawing/2014/main" id="{ACB423D0-2AF6-494A-99A4-66B4FC9AAA1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002901" y="3845661"/>
            <a:ext cx="228169" cy="228169"/>
          </a:xfrm>
          <a:prstGeom prst="rect">
            <a:avLst/>
          </a:prstGeom>
        </p:spPr>
      </p:pic>
      <p:pic>
        <p:nvPicPr>
          <p:cNvPr id="85" name="Рисунок 95">
            <a:extLst>
              <a:ext uri="{FF2B5EF4-FFF2-40B4-BE49-F238E27FC236}">
                <a16:creationId xmlns:a16="http://schemas.microsoft.com/office/drawing/2014/main" id="{3EAB468D-CE35-4D11-82A5-7652C830F7D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077989" y="2685915"/>
            <a:ext cx="228169" cy="228169"/>
          </a:xfrm>
          <a:prstGeom prst="rect">
            <a:avLst/>
          </a:prstGeom>
        </p:spPr>
      </p:pic>
      <p:pic>
        <p:nvPicPr>
          <p:cNvPr id="86" name="Рисунок 97">
            <a:extLst>
              <a:ext uri="{FF2B5EF4-FFF2-40B4-BE49-F238E27FC236}">
                <a16:creationId xmlns:a16="http://schemas.microsoft.com/office/drawing/2014/main" id="{CF29C8EB-D2EE-4B8A-823D-6ADC5A7CF3A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005553" y="4851681"/>
            <a:ext cx="228169" cy="228169"/>
          </a:xfrm>
          <a:prstGeom prst="rect">
            <a:avLst/>
          </a:prstGeom>
        </p:spPr>
      </p:pic>
      <p:grpSp>
        <p:nvGrpSpPr>
          <p:cNvPr id="87" name="Группа 98">
            <a:extLst>
              <a:ext uri="{FF2B5EF4-FFF2-40B4-BE49-F238E27FC236}">
                <a16:creationId xmlns:a16="http://schemas.microsoft.com/office/drawing/2014/main" id="{A966C1A7-E63B-4A78-BB14-DF502F38CE0C}"/>
              </a:ext>
            </a:extLst>
          </p:cNvPr>
          <p:cNvGrpSpPr/>
          <p:nvPr/>
        </p:nvGrpSpPr>
        <p:grpSpPr>
          <a:xfrm>
            <a:off x="8022176" y="5345144"/>
            <a:ext cx="174185" cy="288493"/>
            <a:chOff x="5731348" y="5855133"/>
            <a:chExt cx="243840" cy="403859"/>
          </a:xfrm>
        </p:grpSpPr>
        <p:sp>
          <p:nvSpPr>
            <p:cNvPr id="88" name="Полилиния: фигура 99">
              <a:extLst>
                <a:ext uri="{FF2B5EF4-FFF2-40B4-BE49-F238E27FC236}">
                  <a16:creationId xmlns:a16="http://schemas.microsoft.com/office/drawing/2014/main" id="{3D122870-1E6F-47E8-AB13-7953C824FE3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9" name="Полилиния: фигура 100">
              <a:extLst>
                <a:ext uri="{FF2B5EF4-FFF2-40B4-BE49-F238E27FC236}">
                  <a16:creationId xmlns:a16="http://schemas.microsoft.com/office/drawing/2014/main" id="{916609E5-CB51-4411-A676-EFC4F9FE7887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0" name="Полилиния: фигура 101">
              <a:extLst>
                <a:ext uri="{FF2B5EF4-FFF2-40B4-BE49-F238E27FC236}">
                  <a16:creationId xmlns:a16="http://schemas.microsoft.com/office/drawing/2014/main" id="{2E0C6E80-5997-45DE-9F14-72CDF48B962F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1" name="Полилиния: фигура 102">
              <a:extLst>
                <a:ext uri="{FF2B5EF4-FFF2-40B4-BE49-F238E27FC236}">
                  <a16:creationId xmlns:a16="http://schemas.microsoft.com/office/drawing/2014/main" id="{7BF6FCBE-DCDF-4527-BA32-B4CFBFF1B544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2" name="Полилиния: фигура 103">
              <a:extLst>
                <a:ext uri="{FF2B5EF4-FFF2-40B4-BE49-F238E27FC236}">
                  <a16:creationId xmlns:a16="http://schemas.microsoft.com/office/drawing/2014/main" id="{9F792009-55F6-4EFB-8F5A-806F231446A9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93" name="Группа 104">
            <a:extLst>
              <a:ext uri="{FF2B5EF4-FFF2-40B4-BE49-F238E27FC236}">
                <a16:creationId xmlns:a16="http://schemas.microsoft.com/office/drawing/2014/main" id="{1895C50E-8FB0-4B66-AC9D-3EE79E9BC5F6}"/>
              </a:ext>
            </a:extLst>
          </p:cNvPr>
          <p:cNvGrpSpPr/>
          <p:nvPr/>
        </p:nvGrpSpPr>
        <p:grpSpPr>
          <a:xfrm>
            <a:off x="8019230" y="4328645"/>
            <a:ext cx="174185" cy="288493"/>
            <a:chOff x="5731348" y="5855133"/>
            <a:chExt cx="243840" cy="403859"/>
          </a:xfrm>
        </p:grpSpPr>
        <p:sp>
          <p:nvSpPr>
            <p:cNvPr id="94" name="Полилиния: фигура 105">
              <a:extLst>
                <a:ext uri="{FF2B5EF4-FFF2-40B4-BE49-F238E27FC236}">
                  <a16:creationId xmlns:a16="http://schemas.microsoft.com/office/drawing/2014/main" id="{740B8D3B-81AA-48AA-A90C-174B8A8F5CC7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5" name="Полилиния: фигура 106">
              <a:extLst>
                <a:ext uri="{FF2B5EF4-FFF2-40B4-BE49-F238E27FC236}">
                  <a16:creationId xmlns:a16="http://schemas.microsoft.com/office/drawing/2014/main" id="{7C2F09C6-7549-49BF-BBE6-B2344824E724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6" name="Полилиния: фигура 107">
              <a:extLst>
                <a:ext uri="{FF2B5EF4-FFF2-40B4-BE49-F238E27FC236}">
                  <a16:creationId xmlns:a16="http://schemas.microsoft.com/office/drawing/2014/main" id="{DE0D1AF8-C2E7-41ED-8B76-87B3FEBDA704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7" name="Полилиния: фигура 108">
              <a:extLst>
                <a:ext uri="{FF2B5EF4-FFF2-40B4-BE49-F238E27FC236}">
                  <a16:creationId xmlns:a16="http://schemas.microsoft.com/office/drawing/2014/main" id="{B42B519E-3D1A-4C7C-B2FB-5F641C92A915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8" name="Полилиния: фигура 109">
              <a:extLst>
                <a:ext uri="{FF2B5EF4-FFF2-40B4-BE49-F238E27FC236}">
                  <a16:creationId xmlns:a16="http://schemas.microsoft.com/office/drawing/2014/main" id="{F65BC8E0-E12A-4317-AC98-D4C6709EA5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99" name="Группа 116">
            <a:extLst>
              <a:ext uri="{FF2B5EF4-FFF2-40B4-BE49-F238E27FC236}">
                <a16:creationId xmlns:a16="http://schemas.microsoft.com/office/drawing/2014/main" id="{63D25DA1-0B9B-4D46-AA27-2B2C57EBB844}"/>
              </a:ext>
            </a:extLst>
          </p:cNvPr>
          <p:cNvGrpSpPr/>
          <p:nvPr/>
        </p:nvGrpSpPr>
        <p:grpSpPr>
          <a:xfrm>
            <a:off x="10139179" y="3266283"/>
            <a:ext cx="176045" cy="288493"/>
            <a:chOff x="5728744" y="5855133"/>
            <a:chExt cx="246444" cy="403859"/>
          </a:xfrm>
        </p:grpSpPr>
        <p:sp>
          <p:nvSpPr>
            <p:cNvPr id="100" name="Полилиния: фигура 117">
              <a:extLst>
                <a:ext uri="{FF2B5EF4-FFF2-40B4-BE49-F238E27FC236}">
                  <a16:creationId xmlns:a16="http://schemas.microsoft.com/office/drawing/2014/main" id="{9CB2D18F-2A12-4BA2-B022-F12D91014B9C}"/>
                </a:ext>
              </a:extLst>
            </p:cNvPr>
            <p:cNvSpPr/>
            <p:nvPr/>
          </p:nvSpPr>
          <p:spPr>
            <a:xfrm>
              <a:off x="5728744" y="5950383"/>
              <a:ext cx="47626" cy="186690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1" name="Полилиния: фигура 118">
              <a:extLst>
                <a:ext uri="{FF2B5EF4-FFF2-40B4-BE49-F238E27FC236}">
                  <a16:creationId xmlns:a16="http://schemas.microsoft.com/office/drawing/2014/main" id="{312EF20C-356A-4203-A820-73E2BF940E3A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2" name="Полилиния: фигура 119">
              <a:extLst>
                <a:ext uri="{FF2B5EF4-FFF2-40B4-BE49-F238E27FC236}">
                  <a16:creationId xmlns:a16="http://schemas.microsoft.com/office/drawing/2014/main" id="{744AD383-04D8-415C-BD77-C55989F0C333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3" name="Полилиния: фигура 120">
              <a:extLst>
                <a:ext uri="{FF2B5EF4-FFF2-40B4-BE49-F238E27FC236}">
                  <a16:creationId xmlns:a16="http://schemas.microsoft.com/office/drawing/2014/main" id="{75BD3BFA-3C0F-4EF0-B9D9-802CC2753FD9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4" name="Полилиния: фигура 121">
              <a:extLst>
                <a:ext uri="{FF2B5EF4-FFF2-40B4-BE49-F238E27FC236}">
                  <a16:creationId xmlns:a16="http://schemas.microsoft.com/office/drawing/2014/main" id="{0F928BE4-FD60-4065-A611-E4BE4DA956E8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05" name="Группа 122">
            <a:extLst>
              <a:ext uri="{FF2B5EF4-FFF2-40B4-BE49-F238E27FC236}">
                <a16:creationId xmlns:a16="http://schemas.microsoft.com/office/drawing/2014/main" id="{C06E3D2C-04A6-4373-9A6B-D053A9928CB2}"/>
              </a:ext>
            </a:extLst>
          </p:cNvPr>
          <p:cNvGrpSpPr/>
          <p:nvPr/>
        </p:nvGrpSpPr>
        <p:grpSpPr>
          <a:xfrm>
            <a:off x="10141043" y="3840862"/>
            <a:ext cx="174185" cy="288493"/>
            <a:chOff x="5731348" y="5855133"/>
            <a:chExt cx="243840" cy="403859"/>
          </a:xfrm>
        </p:grpSpPr>
        <p:sp>
          <p:nvSpPr>
            <p:cNvPr id="106" name="Полилиния: фигура 123">
              <a:extLst>
                <a:ext uri="{FF2B5EF4-FFF2-40B4-BE49-F238E27FC236}">
                  <a16:creationId xmlns:a16="http://schemas.microsoft.com/office/drawing/2014/main" id="{507320F9-BC4C-45C0-B293-C75A69621D11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7" name="Полилиния: фигура 124">
              <a:extLst>
                <a:ext uri="{FF2B5EF4-FFF2-40B4-BE49-F238E27FC236}">
                  <a16:creationId xmlns:a16="http://schemas.microsoft.com/office/drawing/2014/main" id="{DB0E55C6-E929-4BC1-B34B-15FAF37E745F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8" name="Полилиния: фигура 125">
              <a:extLst>
                <a:ext uri="{FF2B5EF4-FFF2-40B4-BE49-F238E27FC236}">
                  <a16:creationId xmlns:a16="http://schemas.microsoft.com/office/drawing/2014/main" id="{7C3544B0-6AE3-4995-B33D-2772C62560C2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9" name="Полилиния: фигура 126">
              <a:extLst>
                <a:ext uri="{FF2B5EF4-FFF2-40B4-BE49-F238E27FC236}">
                  <a16:creationId xmlns:a16="http://schemas.microsoft.com/office/drawing/2014/main" id="{84B3D010-CF03-4F38-AFE7-64288402113D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0" name="Полилиния: фигура 127">
              <a:extLst>
                <a:ext uri="{FF2B5EF4-FFF2-40B4-BE49-F238E27FC236}">
                  <a16:creationId xmlns:a16="http://schemas.microsoft.com/office/drawing/2014/main" id="{AF1395AF-762B-49BF-93E9-9CF5001DEEAB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11" name="Группа 128">
            <a:extLst>
              <a:ext uri="{FF2B5EF4-FFF2-40B4-BE49-F238E27FC236}">
                <a16:creationId xmlns:a16="http://schemas.microsoft.com/office/drawing/2014/main" id="{92F6C681-8F17-4E93-B74D-AD966BE53313}"/>
              </a:ext>
            </a:extLst>
          </p:cNvPr>
          <p:cNvGrpSpPr/>
          <p:nvPr/>
        </p:nvGrpSpPr>
        <p:grpSpPr>
          <a:xfrm>
            <a:off x="6210292" y="5526431"/>
            <a:ext cx="174185" cy="288493"/>
            <a:chOff x="5731348" y="5855133"/>
            <a:chExt cx="243840" cy="403859"/>
          </a:xfrm>
        </p:grpSpPr>
        <p:sp>
          <p:nvSpPr>
            <p:cNvPr id="112" name="Полилиния: фигура 129">
              <a:extLst>
                <a:ext uri="{FF2B5EF4-FFF2-40B4-BE49-F238E27FC236}">
                  <a16:creationId xmlns:a16="http://schemas.microsoft.com/office/drawing/2014/main" id="{626E57ED-AAF0-46D2-AE92-385321913CE9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3" name="Полилиния: фигура 130">
              <a:extLst>
                <a:ext uri="{FF2B5EF4-FFF2-40B4-BE49-F238E27FC236}">
                  <a16:creationId xmlns:a16="http://schemas.microsoft.com/office/drawing/2014/main" id="{6BCAE0B8-B114-4F5F-BA03-2E4877E97E61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4" name="Полилиния: фигура 131">
              <a:extLst>
                <a:ext uri="{FF2B5EF4-FFF2-40B4-BE49-F238E27FC236}">
                  <a16:creationId xmlns:a16="http://schemas.microsoft.com/office/drawing/2014/main" id="{B361E99A-619E-495F-AAF8-B2E6497E5A38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5" name="Полилиния: фигура 132">
              <a:extLst>
                <a:ext uri="{FF2B5EF4-FFF2-40B4-BE49-F238E27FC236}">
                  <a16:creationId xmlns:a16="http://schemas.microsoft.com/office/drawing/2014/main" id="{D8EA5C21-AA3B-498D-AFC8-F972ABD217D2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6" name="Полилиния: фигура 133">
              <a:extLst>
                <a:ext uri="{FF2B5EF4-FFF2-40B4-BE49-F238E27FC236}">
                  <a16:creationId xmlns:a16="http://schemas.microsoft.com/office/drawing/2014/main" id="{D031F079-EE54-4AF2-A945-AD9F09A4F8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sp>
        <p:nvSpPr>
          <p:cNvPr id="117" name="Rectangle 14">
            <a:extLst>
              <a:ext uri="{FF2B5EF4-FFF2-40B4-BE49-F238E27FC236}">
                <a16:creationId xmlns:a16="http://schemas.microsoft.com/office/drawing/2014/main" id="{EBE2E125-7145-47C0-FF4A-6C8E1A3C5011}"/>
              </a:ext>
            </a:extLst>
          </p:cNvPr>
          <p:cNvSpPr/>
          <p:nvPr/>
        </p:nvSpPr>
        <p:spPr>
          <a:xfrm>
            <a:off x="239713" y="1960609"/>
            <a:ext cx="1974850" cy="3987800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pic>
        <p:nvPicPr>
          <p:cNvPr id="118" name="Рисунок 77">
            <a:extLst>
              <a:ext uri="{FF2B5EF4-FFF2-40B4-BE49-F238E27FC236}">
                <a16:creationId xmlns:a16="http://schemas.microsoft.com/office/drawing/2014/main" id="{2CD99DA7-5DB1-4DEC-B703-D973B2C4801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94040" y="4148891"/>
            <a:ext cx="228169" cy="228169"/>
          </a:xfrm>
          <a:prstGeom prst="rect">
            <a:avLst/>
          </a:prstGeom>
        </p:spPr>
      </p:pic>
      <p:pic>
        <p:nvPicPr>
          <p:cNvPr id="119" name="Рисунок 78">
            <a:extLst>
              <a:ext uri="{FF2B5EF4-FFF2-40B4-BE49-F238E27FC236}">
                <a16:creationId xmlns:a16="http://schemas.microsoft.com/office/drawing/2014/main" id="{22C005C7-FA09-40A5-B818-D3B3CDD2B63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00660" y="3647965"/>
            <a:ext cx="228169" cy="228169"/>
          </a:xfrm>
          <a:prstGeom prst="rect">
            <a:avLst/>
          </a:prstGeom>
        </p:spPr>
      </p:pic>
      <p:pic>
        <p:nvPicPr>
          <p:cNvPr id="120" name="Рисунок 79">
            <a:extLst>
              <a:ext uri="{FF2B5EF4-FFF2-40B4-BE49-F238E27FC236}">
                <a16:creationId xmlns:a16="http://schemas.microsoft.com/office/drawing/2014/main" id="{7968BF5D-5581-41C8-8D98-008A3C9E660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82969" y="3154005"/>
            <a:ext cx="228169" cy="228169"/>
          </a:xfrm>
          <a:prstGeom prst="rect">
            <a:avLst/>
          </a:prstGeom>
        </p:spPr>
      </p:pic>
      <p:pic>
        <p:nvPicPr>
          <p:cNvPr id="121" name="Рисунок 80">
            <a:extLst>
              <a:ext uri="{FF2B5EF4-FFF2-40B4-BE49-F238E27FC236}">
                <a16:creationId xmlns:a16="http://schemas.microsoft.com/office/drawing/2014/main" id="{C052299D-C2AB-4CB4-B43E-666E44743E9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8621" y="2733157"/>
            <a:ext cx="228169" cy="228169"/>
          </a:xfrm>
          <a:prstGeom prst="rect">
            <a:avLst/>
          </a:prstGeom>
        </p:spPr>
      </p:pic>
      <p:pic>
        <p:nvPicPr>
          <p:cNvPr id="122" name="Рисунок 96">
            <a:extLst>
              <a:ext uri="{FF2B5EF4-FFF2-40B4-BE49-F238E27FC236}">
                <a16:creationId xmlns:a16="http://schemas.microsoft.com/office/drawing/2014/main" id="{9553D7D9-56E5-4EC0-AA60-27203DFF5ED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14272" y="5394862"/>
            <a:ext cx="228169" cy="228169"/>
          </a:xfrm>
          <a:prstGeom prst="rect">
            <a:avLst/>
          </a:prstGeom>
        </p:spPr>
      </p:pic>
      <p:grpSp>
        <p:nvGrpSpPr>
          <p:cNvPr id="123" name="Группа 134">
            <a:extLst>
              <a:ext uri="{FF2B5EF4-FFF2-40B4-BE49-F238E27FC236}">
                <a16:creationId xmlns:a16="http://schemas.microsoft.com/office/drawing/2014/main" id="{9D4FA49B-4276-46DE-A121-114CCF38F903}"/>
              </a:ext>
            </a:extLst>
          </p:cNvPr>
          <p:cNvGrpSpPr/>
          <p:nvPr/>
        </p:nvGrpSpPr>
        <p:grpSpPr>
          <a:xfrm>
            <a:off x="425612" y="4669707"/>
            <a:ext cx="174185" cy="288493"/>
            <a:chOff x="5731348" y="5855133"/>
            <a:chExt cx="243840" cy="403859"/>
          </a:xfrm>
        </p:grpSpPr>
        <p:sp>
          <p:nvSpPr>
            <p:cNvPr id="124" name="Полилиния: фигура 135">
              <a:extLst>
                <a:ext uri="{FF2B5EF4-FFF2-40B4-BE49-F238E27FC236}">
                  <a16:creationId xmlns:a16="http://schemas.microsoft.com/office/drawing/2014/main" id="{F865E85A-1AD1-455E-B340-B66BDD59F1D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5" name="Полилиния: фигура 136">
              <a:extLst>
                <a:ext uri="{FF2B5EF4-FFF2-40B4-BE49-F238E27FC236}">
                  <a16:creationId xmlns:a16="http://schemas.microsoft.com/office/drawing/2014/main" id="{D47AAA4B-D281-427E-BAC4-D5F62898437D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6" name="Полилиния: фигура 137">
              <a:extLst>
                <a:ext uri="{FF2B5EF4-FFF2-40B4-BE49-F238E27FC236}">
                  <a16:creationId xmlns:a16="http://schemas.microsoft.com/office/drawing/2014/main" id="{823D4674-1A2A-48E7-B4DA-A42E405310E0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7" name="Полилиния: фигура 138">
              <a:extLst>
                <a:ext uri="{FF2B5EF4-FFF2-40B4-BE49-F238E27FC236}">
                  <a16:creationId xmlns:a16="http://schemas.microsoft.com/office/drawing/2014/main" id="{7BC3B1FB-1495-4E36-8EB9-93EF38676010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8" name="Полилиния: фигура 139">
              <a:extLst>
                <a:ext uri="{FF2B5EF4-FFF2-40B4-BE49-F238E27FC236}">
                  <a16:creationId xmlns:a16="http://schemas.microsoft.com/office/drawing/2014/main" id="{FDB19B41-A84E-4B11-A0ED-F860FCD6F6BE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29" name="Group 3">
            <a:extLst>
              <a:ext uri="{FF2B5EF4-FFF2-40B4-BE49-F238E27FC236}">
                <a16:creationId xmlns:a16="http://schemas.microsoft.com/office/drawing/2014/main" id="{2C396022-24DB-49F4-82D7-72D90E7F10C3}"/>
              </a:ext>
            </a:extLst>
          </p:cNvPr>
          <p:cNvGrpSpPr/>
          <p:nvPr/>
        </p:nvGrpSpPr>
        <p:grpSpPr>
          <a:xfrm>
            <a:off x="2657311" y="6253820"/>
            <a:ext cx="6124575" cy="400050"/>
            <a:chOff x="6067425" y="5621337"/>
            <a:chExt cx="6124575" cy="400050"/>
          </a:xfrm>
        </p:grpSpPr>
        <p:sp>
          <p:nvSpPr>
            <p:cNvPr id="130" name="TextBox 8">
              <a:extLst>
                <a:ext uri="{FF2B5EF4-FFF2-40B4-BE49-F238E27FC236}">
                  <a16:creationId xmlns:a16="http://schemas.microsoft.com/office/drawing/2014/main" id="{AA91A44F-B190-9F94-8D94-6BCBB0C1E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6675" y="5700712"/>
              <a:ext cx="20891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Автоматическое выполнение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31" name="TextBox 9">
              <a:extLst>
                <a:ext uri="{FF2B5EF4-FFF2-40B4-BE49-F238E27FC236}">
                  <a16:creationId xmlns:a16="http://schemas.microsoft.com/office/drawing/2014/main" id="{D0F700B2-B57C-8465-25E0-6A72E0CA1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3521" y="5709717"/>
              <a:ext cx="168592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Ручное выполнение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32" name="TextBox 10">
              <a:extLst>
                <a:ext uri="{FF2B5EF4-FFF2-40B4-BE49-F238E27FC236}">
                  <a16:creationId xmlns:a16="http://schemas.microsoft.com/office/drawing/2014/main" id="{AA1DD995-547A-BE1D-1152-94060C53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7975" y="5700712"/>
              <a:ext cx="172402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Визуальная валидация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33" name="Rectangle 13">
              <a:extLst>
                <a:ext uri="{FF2B5EF4-FFF2-40B4-BE49-F238E27FC236}">
                  <a16:creationId xmlns:a16="http://schemas.microsoft.com/office/drawing/2014/main" id="{A29A6068-11D6-5A3B-901C-216B464C7145}"/>
                </a:ext>
              </a:extLst>
            </p:cNvPr>
            <p:cNvSpPr/>
            <p:nvPr/>
          </p:nvSpPr>
          <p:spPr>
            <a:xfrm>
              <a:off x="6067425" y="5621337"/>
              <a:ext cx="5954713" cy="400050"/>
            </a:xfrm>
            <a:prstGeom prst="rect">
              <a:avLst/>
            </a:prstGeom>
            <a:noFill/>
            <a:ln w="19050">
              <a:solidFill>
                <a:srgbClr val="000000">
                  <a:lumMod val="85000"/>
                </a:srgbClr>
              </a:solidFill>
              <a:prstDash val="sysDot"/>
            </a:ln>
          </p:spPr>
          <p:style>
            <a:lnRef idx="2">
              <a:srgbClr val="8F0D6B">
                <a:shade val="50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pic>
          <p:nvPicPr>
            <p:cNvPr id="134" name="Рисунок 91">
              <a:extLst>
                <a:ext uri="{FF2B5EF4-FFF2-40B4-BE49-F238E27FC236}">
                  <a16:creationId xmlns:a16="http://schemas.microsoft.com/office/drawing/2014/main" id="{609C3217-2A49-42E8-8918-16D935973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6201724" y="5694627"/>
              <a:ext cx="228169" cy="228169"/>
            </a:xfrm>
            <a:prstGeom prst="rect">
              <a:avLst/>
            </a:prstGeom>
          </p:spPr>
        </p:pic>
        <p:grpSp>
          <p:nvGrpSpPr>
            <p:cNvPr id="135" name="Группа 140">
              <a:extLst>
                <a:ext uri="{FF2B5EF4-FFF2-40B4-BE49-F238E27FC236}">
                  <a16:creationId xmlns:a16="http://schemas.microsoft.com/office/drawing/2014/main" id="{9D614C0F-7C76-4DBD-9997-450D642E3A39}"/>
                </a:ext>
              </a:extLst>
            </p:cNvPr>
            <p:cNvGrpSpPr/>
            <p:nvPr/>
          </p:nvGrpSpPr>
          <p:grpSpPr>
            <a:xfrm>
              <a:off x="8510807" y="5665663"/>
              <a:ext cx="174185" cy="288493"/>
              <a:chOff x="5731348" y="5855133"/>
              <a:chExt cx="243840" cy="403859"/>
            </a:xfrm>
          </p:grpSpPr>
          <p:sp>
            <p:nvSpPr>
              <p:cNvPr id="136" name="Полилиния: фигура 141">
                <a:extLst>
                  <a:ext uri="{FF2B5EF4-FFF2-40B4-BE49-F238E27FC236}">
                    <a16:creationId xmlns:a16="http://schemas.microsoft.com/office/drawing/2014/main" id="{ECE894B4-8B68-422D-9A11-D10366704621}"/>
                  </a:ext>
                </a:extLst>
              </p:cNvPr>
              <p:cNvSpPr/>
              <p:nvPr/>
            </p:nvSpPr>
            <p:spPr>
              <a:xfrm>
                <a:off x="5732300" y="5950383"/>
                <a:ext cx="47625" cy="186689"/>
              </a:xfrm>
              <a:custGeom>
                <a:avLst/>
                <a:gdLst>
                  <a:gd name="connsiteX0" fmla="*/ 0 w 47625"/>
                  <a:gd name="connsiteY0" fmla="*/ 186690 h 186689"/>
                  <a:gd name="connsiteX1" fmla="*/ 0 w 47625"/>
                  <a:gd name="connsiteY1" fmla="*/ 23813 h 186689"/>
                  <a:gd name="connsiteX2" fmla="*/ 23813 w 47625"/>
                  <a:gd name="connsiteY2" fmla="*/ 0 h 186689"/>
                  <a:gd name="connsiteX3" fmla="*/ 23813 w 47625"/>
                  <a:gd name="connsiteY3" fmla="*/ 0 h 186689"/>
                  <a:gd name="connsiteX4" fmla="*/ 47625 w 47625"/>
                  <a:gd name="connsiteY4" fmla="*/ 23813 h 186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86689">
                    <a:moveTo>
                      <a:pt x="0" y="186690"/>
                    </a:moveTo>
                    <a:lnTo>
                      <a:pt x="0" y="23813"/>
                    </a:lnTo>
                    <a:cubicBezTo>
                      <a:pt x="0" y="10478"/>
                      <a:pt x="10477" y="0"/>
                      <a:pt x="23813" y="0"/>
                    </a:cubicBezTo>
                    <a:lnTo>
                      <a:pt x="23813" y="0"/>
                    </a:lnTo>
                    <a:cubicBezTo>
                      <a:pt x="37147" y="0"/>
                      <a:pt x="47625" y="10478"/>
                      <a:pt x="47625" y="23813"/>
                    </a:cubicBez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7" name="Полилиния: фигура 142">
                <a:extLst>
                  <a:ext uri="{FF2B5EF4-FFF2-40B4-BE49-F238E27FC236}">
                    <a16:creationId xmlns:a16="http://schemas.microsoft.com/office/drawing/2014/main" id="{94215FAC-243F-4AD3-9EB6-297025D3CF13}"/>
                  </a:ext>
                </a:extLst>
              </p:cNvPr>
              <p:cNvSpPr/>
              <p:nvPr/>
            </p:nvSpPr>
            <p:spPr>
              <a:xfrm>
                <a:off x="5779925" y="5885613"/>
                <a:ext cx="51434" cy="169544"/>
              </a:xfrm>
              <a:custGeom>
                <a:avLst/>
                <a:gdLst>
                  <a:gd name="connsiteX0" fmla="*/ 0 w 51434"/>
                  <a:gd name="connsiteY0" fmla="*/ 169545 h 169544"/>
                  <a:gd name="connsiteX1" fmla="*/ 0 w 51434"/>
                  <a:gd name="connsiteY1" fmla="*/ 25717 h 169544"/>
                  <a:gd name="connsiteX2" fmla="*/ 25717 w 51434"/>
                  <a:gd name="connsiteY2" fmla="*/ 0 h 169544"/>
                  <a:gd name="connsiteX3" fmla="*/ 25717 w 51434"/>
                  <a:gd name="connsiteY3" fmla="*/ 0 h 169544"/>
                  <a:gd name="connsiteX4" fmla="*/ 51435 w 51434"/>
                  <a:gd name="connsiteY4" fmla="*/ 25717 h 169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34" h="169544">
                    <a:moveTo>
                      <a:pt x="0" y="169545"/>
                    </a:moveTo>
                    <a:lnTo>
                      <a:pt x="0" y="25717"/>
                    </a:lnTo>
                    <a:cubicBezTo>
                      <a:pt x="0" y="11430"/>
                      <a:pt x="11430" y="0"/>
                      <a:pt x="25717" y="0"/>
                    </a:cubicBezTo>
                    <a:lnTo>
                      <a:pt x="25717" y="0"/>
                    </a:lnTo>
                    <a:cubicBezTo>
                      <a:pt x="40005" y="0"/>
                      <a:pt x="51435" y="11430"/>
                      <a:pt x="51435" y="25717"/>
                    </a:cubicBez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8" name="Полилиния: фигура 143">
                <a:extLst>
                  <a:ext uri="{FF2B5EF4-FFF2-40B4-BE49-F238E27FC236}">
                    <a16:creationId xmlns:a16="http://schemas.microsoft.com/office/drawing/2014/main" id="{E632E614-034E-411C-8EF6-B02125981FED}"/>
                  </a:ext>
                </a:extLst>
              </p:cNvPr>
              <p:cNvSpPr/>
              <p:nvPr/>
            </p:nvSpPr>
            <p:spPr>
              <a:xfrm>
                <a:off x="5879938" y="5878946"/>
                <a:ext cx="47625" cy="173355"/>
              </a:xfrm>
              <a:custGeom>
                <a:avLst/>
                <a:gdLst>
                  <a:gd name="connsiteX0" fmla="*/ 0 w 47625"/>
                  <a:gd name="connsiteY0" fmla="*/ 173355 h 173355"/>
                  <a:gd name="connsiteX1" fmla="*/ 0 w 47625"/>
                  <a:gd name="connsiteY1" fmla="*/ 23813 h 173355"/>
                  <a:gd name="connsiteX2" fmla="*/ 23813 w 47625"/>
                  <a:gd name="connsiteY2" fmla="*/ 0 h 173355"/>
                  <a:gd name="connsiteX3" fmla="*/ 23813 w 47625"/>
                  <a:gd name="connsiteY3" fmla="*/ 0 h 173355"/>
                  <a:gd name="connsiteX4" fmla="*/ 47625 w 47625"/>
                  <a:gd name="connsiteY4" fmla="*/ 23813 h 173355"/>
                  <a:gd name="connsiteX5" fmla="*/ 47625 w 47625"/>
                  <a:gd name="connsiteY5" fmla="*/ 157163 h 17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173355">
                    <a:moveTo>
                      <a:pt x="0" y="173355"/>
                    </a:moveTo>
                    <a:lnTo>
                      <a:pt x="0" y="23813"/>
                    </a:lnTo>
                    <a:cubicBezTo>
                      <a:pt x="0" y="10478"/>
                      <a:pt x="10477" y="0"/>
                      <a:pt x="23813" y="0"/>
                    </a:cubicBezTo>
                    <a:lnTo>
                      <a:pt x="23813" y="0"/>
                    </a:lnTo>
                    <a:cubicBezTo>
                      <a:pt x="37147" y="0"/>
                      <a:pt x="47625" y="10478"/>
                      <a:pt x="47625" y="23813"/>
                    </a:cubicBezTo>
                    <a:lnTo>
                      <a:pt x="47625" y="157163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9" name="Полилиния: фигура 144">
                <a:extLst>
                  <a:ext uri="{FF2B5EF4-FFF2-40B4-BE49-F238E27FC236}">
                    <a16:creationId xmlns:a16="http://schemas.microsoft.com/office/drawing/2014/main" id="{22A6FAA9-6D1F-4F15-8034-A4F208B25CD9}"/>
                  </a:ext>
                </a:extLst>
              </p:cNvPr>
              <p:cNvSpPr/>
              <p:nvPr/>
            </p:nvSpPr>
            <p:spPr>
              <a:xfrm>
                <a:off x="5731348" y="5981815"/>
                <a:ext cx="243840" cy="277177"/>
              </a:xfrm>
              <a:custGeom>
                <a:avLst/>
                <a:gdLst>
                  <a:gd name="connsiteX0" fmla="*/ 196215 w 243840"/>
                  <a:gd name="connsiteY0" fmla="*/ 23813 h 277177"/>
                  <a:gd name="connsiteX1" fmla="*/ 220028 w 243840"/>
                  <a:gd name="connsiteY1" fmla="*/ 0 h 277177"/>
                  <a:gd name="connsiteX2" fmla="*/ 220028 w 243840"/>
                  <a:gd name="connsiteY2" fmla="*/ 0 h 277177"/>
                  <a:gd name="connsiteX3" fmla="*/ 243840 w 243840"/>
                  <a:gd name="connsiteY3" fmla="*/ 23813 h 277177"/>
                  <a:gd name="connsiteX4" fmla="*/ 243840 w 243840"/>
                  <a:gd name="connsiteY4" fmla="*/ 155258 h 277177"/>
                  <a:gd name="connsiteX5" fmla="*/ 121920 w 243840"/>
                  <a:gd name="connsiteY5" fmla="*/ 277178 h 277177"/>
                  <a:gd name="connsiteX6" fmla="*/ 0 w 243840"/>
                  <a:gd name="connsiteY6" fmla="*/ 155258 h 277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840" h="277177">
                    <a:moveTo>
                      <a:pt x="196215" y="23813"/>
                    </a:moveTo>
                    <a:cubicBezTo>
                      <a:pt x="196215" y="10478"/>
                      <a:pt x="206692" y="0"/>
                      <a:pt x="220028" y="0"/>
                    </a:cubicBezTo>
                    <a:lnTo>
                      <a:pt x="220028" y="0"/>
                    </a:lnTo>
                    <a:cubicBezTo>
                      <a:pt x="233362" y="0"/>
                      <a:pt x="243840" y="10478"/>
                      <a:pt x="243840" y="23813"/>
                    </a:cubicBezTo>
                    <a:lnTo>
                      <a:pt x="243840" y="155258"/>
                    </a:lnTo>
                    <a:cubicBezTo>
                      <a:pt x="243840" y="222885"/>
                      <a:pt x="189548" y="277178"/>
                      <a:pt x="121920" y="277178"/>
                    </a:cubicBezTo>
                    <a:cubicBezTo>
                      <a:pt x="54292" y="277178"/>
                      <a:pt x="0" y="222885"/>
                      <a:pt x="0" y="155258"/>
                    </a:cubicBez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0" name="Полилиния: фигура 145">
                <a:extLst>
                  <a:ext uri="{FF2B5EF4-FFF2-40B4-BE49-F238E27FC236}">
                    <a16:creationId xmlns:a16="http://schemas.microsoft.com/office/drawing/2014/main" id="{576B7B7E-6700-42B2-99F5-2D25CF4913D0}"/>
                  </a:ext>
                </a:extLst>
              </p:cNvPr>
              <p:cNvSpPr/>
              <p:nvPr/>
            </p:nvSpPr>
            <p:spPr>
              <a:xfrm>
                <a:off x="5832313" y="5855133"/>
                <a:ext cx="47625" cy="197167"/>
              </a:xfrm>
              <a:custGeom>
                <a:avLst/>
                <a:gdLst>
                  <a:gd name="connsiteX0" fmla="*/ 0 w 47625"/>
                  <a:gd name="connsiteY0" fmla="*/ 197168 h 197167"/>
                  <a:gd name="connsiteX1" fmla="*/ 0 w 47625"/>
                  <a:gd name="connsiteY1" fmla="*/ 23813 h 197167"/>
                  <a:gd name="connsiteX2" fmla="*/ 23813 w 47625"/>
                  <a:gd name="connsiteY2" fmla="*/ 0 h 197167"/>
                  <a:gd name="connsiteX3" fmla="*/ 23813 w 47625"/>
                  <a:gd name="connsiteY3" fmla="*/ 0 h 197167"/>
                  <a:gd name="connsiteX4" fmla="*/ 47625 w 47625"/>
                  <a:gd name="connsiteY4" fmla="*/ 23813 h 197167"/>
                  <a:gd name="connsiteX5" fmla="*/ 47625 w 47625"/>
                  <a:gd name="connsiteY5" fmla="*/ 196215 h 197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197167">
                    <a:moveTo>
                      <a:pt x="0" y="197168"/>
                    </a:moveTo>
                    <a:lnTo>
                      <a:pt x="0" y="23813"/>
                    </a:lnTo>
                    <a:cubicBezTo>
                      <a:pt x="0" y="10478"/>
                      <a:pt x="10477" y="0"/>
                      <a:pt x="23813" y="0"/>
                    </a:cubicBezTo>
                    <a:lnTo>
                      <a:pt x="23813" y="0"/>
                    </a:lnTo>
                    <a:cubicBezTo>
                      <a:pt x="37147" y="0"/>
                      <a:pt x="47625" y="10478"/>
                      <a:pt x="47625" y="23813"/>
                    </a:cubicBezTo>
                    <a:lnTo>
                      <a:pt x="47625" y="196215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pic>
          <p:nvPicPr>
            <p:cNvPr id="141" name="Рисунок 146">
              <a:extLst>
                <a:ext uri="{FF2B5EF4-FFF2-40B4-BE49-F238E27FC236}">
                  <a16:creationId xmlns:a16="http://schemas.microsoft.com/office/drawing/2014/main" id="{15007C62-9A8B-4AED-8CFF-8F94B3EA8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199800" y="5737495"/>
              <a:ext cx="271806" cy="159886"/>
            </a:xfrm>
            <a:prstGeom prst="rect">
              <a:avLst/>
            </a:prstGeom>
          </p:spPr>
        </p:pic>
      </p:grpSp>
      <p:pic>
        <p:nvPicPr>
          <p:cNvPr id="142" name="Рисунок 147">
            <a:extLst>
              <a:ext uri="{FF2B5EF4-FFF2-40B4-BE49-F238E27FC236}">
                <a16:creationId xmlns:a16="http://schemas.microsoft.com/office/drawing/2014/main" id="{FAB3AA1A-A623-491E-A9CE-E8074C042A69}"/>
              </a:ext>
            </a:extLst>
          </p:cNvPr>
          <p:cNvPicPr>
            <a:picLocks noChangeAspect="1"/>
          </p:cNvPicPr>
          <p:nvPr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104982" y="4422445"/>
            <a:ext cx="271806" cy="159886"/>
          </a:xfrm>
          <a:prstGeom prst="rect">
            <a:avLst/>
          </a:prstGeom>
        </p:spPr>
      </p:pic>
      <p:pic>
        <p:nvPicPr>
          <p:cNvPr id="143" name="Рисунок 148">
            <a:extLst>
              <a:ext uri="{FF2B5EF4-FFF2-40B4-BE49-F238E27FC236}">
                <a16:creationId xmlns:a16="http://schemas.microsoft.com/office/drawing/2014/main" id="{D75F8BE9-4589-4E39-94D8-F486818C475E}"/>
              </a:ext>
            </a:extLst>
          </p:cNvPr>
          <p:cNvPicPr>
            <a:picLocks noChangeAspect="1"/>
          </p:cNvPicPr>
          <p:nvPr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465819" y="5561389"/>
            <a:ext cx="271806" cy="159886"/>
          </a:xfrm>
          <a:prstGeom prst="rect">
            <a:avLst/>
          </a:prstGeom>
        </p:spPr>
      </p:pic>
      <p:cxnSp>
        <p:nvCxnSpPr>
          <p:cNvPr id="144" name="Connector: Elbow 6">
            <a:extLst>
              <a:ext uri="{FF2B5EF4-FFF2-40B4-BE49-F238E27FC236}">
                <a16:creationId xmlns:a16="http://schemas.microsoft.com/office/drawing/2014/main" id="{86A50A58-AC0D-45A5-8E28-42C74A2C1D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24470" y="893430"/>
            <a:ext cx="7256" cy="210312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45" name="Connector: Elbow 110">
            <a:extLst>
              <a:ext uri="{FF2B5EF4-FFF2-40B4-BE49-F238E27FC236}">
                <a16:creationId xmlns:a16="http://schemas.microsoft.com/office/drawing/2014/main" id="{F0B247EA-E5A5-4FCC-A735-3CA9694009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0940" y="1133315"/>
            <a:ext cx="7256" cy="164592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46" name="Connector: Elbow 111">
            <a:extLst>
              <a:ext uri="{FF2B5EF4-FFF2-40B4-BE49-F238E27FC236}">
                <a16:creationId xmlns:a16="http://schemas.microsoft.com/office/drawing/2014/main" id="{39DAF182-9133-41BC-8F3C-3573AC31D2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9818" y="1095557"/>
            <a:ext cx="7256" cy="173736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47" name="Connector: Elbow 112">
            <a:extLst>
              <a:ext uri="{FF2B5EF4-FFF2-40B4-BE49-F238E27FC236}">
                <a16:creationId xmlns:a16="http://schemas.microsoft.com/office/drawing/2014/main" id="{9BD58008-A9A8-429E-B9D3-00849CB606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4384" y="1312530"/>
            <a:ext cx="7256" cy="128016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48" name="Connector: Elbow 113">
            <a:extLst>
              <a:ext uri="{FF2B5EF4-FFF2-40B4-BE49-F238E27FC236}">
                <a16:creationId xmlns:a16="http://schemas.microsoft.com/office/drawing/2014/main" id="{7ABEEA9E-1C21-4EDD-A8A9-83603469B0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5128" y="1032038"/>
            <a:ext cx="7256" cy="182880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149" name="TextBox 115">
            <a:extLst>
              <a:ext uri="{FF2B5EF4-FFF2-40B4-BE49-F238E27FC236}">
                <a16:creationId xmlns:a16="http://schemas.microsoft.com/office/drawing/2014/main" id="{E033E05B-8135-4665-B343-646F17631351}"/>
              </a:ext>
            </a:extLst>
          </p:cNvPr>
          <p:cNvSpPr txBox="1"/>
          <p:nvPr/>
        </p:nvSpPr>
        <p:spPr>
          <a:xfrm>
            <a:off x="275821" y="2092181"/>
            <a:ext cx="19383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Локальная среда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 /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feature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0" name="TextBox 162">
            <a:extLst>
              <a:ext uri="{FF2B5EF4-FFF2-40B4-BE49-F238E27FC236}">
                <a16:creationId xmlns:a16="http://schemas.microsoft.com/office/drawing/2014/main" id="{A202C026-7966-4FE9-AB55-8C963C6C8FC2}"/>
              </a:ext>
            </a:extLst>
          </p:cNvPr>
          <p:cNvSpPr txBox="1"/>
          <p:nvPr/>
        </p:nvSpPr>
        <p:spPr>
          <a:xfrm>
            <a:off x="2421421" y="2089460"/>
            <a:ext cx="15686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Pull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-реквест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1" name="TextBox 199">
            <a:extLst>
              <a:ext uri="{FF2B5EF4-FFF2-40B4-BE49-F238E27FC236}">
                <a16:creationId xmlns:a16="http://schemas.microsoft.com/office/drawing/2014/main" id="{66DA722D-97E9-4B99-8F34-137CFFF59C91}"/>
              </a:ext>
            </a:extLst>
          </p:cNvPr>
          <p:cNvSpPr txBox="1"/>
          <p:nvPr/>
        </p:nvSpPr>
        <p:spPr>
          <a:xfrm>
            <a:off x="4305759" y="2084347"/>
            <a:ext cx="1629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Master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2" name="TextBox 203">
            <a:extLst>
              <a:ext uri="{FF2B5EF4-FFF2-40B4-BE49-F238E27FC236}">
                <a16:creationId xmlns:a16="http://schemas.microsoft.com/office/drawing/2014/main" id="{06EB4980-4180-4AA7-BA1C-BFF0F9EF653D}"/>
              </a:ext>
            </a:extLst>
          </p:cNvPr>
          <p:cNvSpPr txBox="1"/>
          <p:nvPr/>
        </p:nvSpPr>
        <p:spPr>
          <a:xfrm>
            <a:off x="6500349" y="5475612"/>
            <a:ext cx="12768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3" name="TextBox 221">
            <a:extLst>
              <a:ext uri="{FF2B5EF4-FFF2-40B4-BE49-F238E27FC236}">
                <a16:creationId xmlns:a16="http://schemas.microsoft.com/office/drawing/2014/main" id="{33AF0E41-24DC-4F5C-B61B-6222AE85C3BA}"/>
              </a:ext>
            </a:extLst>
          </p:cNvPr>
          <p:cNvSpPr txBox="1"/>
          <p:nvPr/>
        </p:nvSpPr>
        <p:spPr>
          <a:xfrm>
            <a:off x="6210292" y="3599704"/>
            <a:ext cx="1465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PERF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 стенд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4" name="TextBox 241">
            <a:extLst>
              <a:ext uri="{FF2B5EF4-FFF2-40B4-BE49-F238E27FC236}">
                <a16:creationId xmlns:a16="http://schemas.microsoft.com/office/drawing/2014/main" id="{0433FFF4-D5DF-4981-97E2-5D370FA27279}"/>
              </a:ext>
            </a:extLst>
          </p:cNvPr>
          <p:cNvSpPr txBox="1"/>
          <p:nvPr/>
        </p:nvSpPr>
        <p:spPr>
          <a:xfrm>
            <a:off x="6181476" y="2085467"/>
            <a:ext cx="14608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QA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 стенд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5" name="TextBox 269">
            <a:extLst>
              <a:ext uri="{FF2B5EF4-FFF2-40B4-BE49-F238E27FC236}">
                <a16:creationId xmlns:a16="http://schemas.microsoft.com/office/drawing/2014/main" id="{573BFE27-9309-4C98-BBBA-594F8B200BFD}"/>
              </a:ext>
            </a:extLst>
          </p:cNvPr>
          <p:cNvSpPr txBox="1"/>
          <p:nvPr/>
        </p:nvSpPr>
        <p:spPr>
          <a:xfrm>
            <a:off x="7975852" y="2080532"/>
            <a:ext cx="17947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Интеграционный стенд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6" name="TextBox 289">
            <a:extLst>
              <a:ext uri="{FF2B5EF4-FFF2-40B4-BE49-F238E27FC236}">
                <a16:creationId xmlns:a16="http://schemas.microsoft.com/office/drawing/2014/main" id="{A06CDED0-D4E7-4EB8-B9DA-CDCDC2BCBF4C}"/>
              </a:ext>
            </a:extLst>
          </p:cNvPr>
          <p:cNvSpPr txBox="1"/>
          <p:nvPr/>
        </p:nvSpPr>
        <p:spPr>
          <a:xfrm>
            <a:off x="10077569" y="2089460"/>
            <a:ext cx="1752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Продуктив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Box 158">
            <a:extLst>
              <a:ext uri="{FF2B5EF4-FFF2-40B4-BE49-F238E27FC236}">
                <a16:creationId xmlns:a16="http://schemas.microsoft.com/office/drawing/2014/main" id="{6B2B82EB-45B2-4CBE-82A2-D15AD5A40A8A}"/>
              </a:ext>
            </a:extLst>
          </p:cNvPr>
          <p:cNvSpPr txBox="1"/>
          <p:nvPr/>
        </p:nvSpPr>
        <p:spPr>
          <a:xfrm>
            <a:off x="294674" y="4151028"/>
            <a:ext cx="1638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TextBox 152">
            <a:extLst>
              <a:ext uri="{FF2B5EF4-FFF2-40B4-BE49-F238E27FC236}">
                <a16:creationId xmlns:a16="http://schemas.microsoft.com/office/drawing/2014/main" id="{87E7F759-4763-45E6-9E95-00DD150AEC0E}"/>
              </a:ext>
            </a:extLst>
          </p:cNvPr>
          <p:cNvSpPr txBox="1"/>
          <p:nvPr/>
        </p:nvSpPr>
        <p:spPr>
          <a:xfrm>
            <a:off x="328022" y="2688272"/>
            <a:ext cx="17193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154">
            <a:extLst>
              <a:ext uri="{FF2B5EF4-FFF2-40B4-BE49-F238E27FC236}">
                <a16:creationId xmlns:a16="http://schemas.microsoft.com/office/drawing/2014/main" id="{421C72BA-FA6A-4C5E-9ABC-8CEEE867A4F0}"/>
              </a:ext>
            </a:extLst>
          </p:cNvPr>
          <p:cNvSpPr txBox="1"/>
          <p:nvPr/>
        </p:nvSpPr>
        <p:spPr>
          <a:xfrm>
            <a:off x="324538" y="3124561"/>
            <a:ext cx="18122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TextBox 160">
            <a:extLst>
              <a:ext uri="{FF2B5EF4-FFF2-40B4-BE49-F238E27FC236}">
                <a16:creationId xmlns:a16="http://schemas.microsoft.com/office/drawing/2014/main" id="{A8D6BC05-3265-46BA-AF03-11CB516A9826}"/>
              </a:ext>
            </a:extLst>
          </p:cNvPr>
          <p:cNvSpPr txBox="1"/>
          <p:nvPr/>
        </p:nvSpPr>
        <p:spPr>
          <a:xfrm>
            <a:off x="268902" y="4587317"/>
            <a:ext cx="18122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Ручное тестирование разработчиком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TextBox 150">
            <a:extLst>
              <a:ext uri="{FF2B5EF4-FFF2-40B4-BE49-F238E27FC236}">
                <a16:creationId xmlns:a16="http://schemas.microsoft.com/office/drawing/2014/main" id="{C3C91990-0B71-4F35-9782-DAF49AC62725}"/>
              </a:ext>
            </a:extLst>
          </p:cNvPr>
          <p:cNvSpPr txBox="1"/>
          <p:nvPr/>
        </p:nvSpPr>
        <p:spPr>
          <a:xfrm>
            <a:off x="267024" y="5331381"/>
            <a:ext cx="1991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Проверка работоспособности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56">
            <a:extLst>
              <a:ext uri="{FF2B5EF4-FFF2-40B4-BE49-F238E27FC236}">
                <a16:creationId xmlns:a16="http://schemas.microsoft.com/office/drawing/2014/main" id="{32D661B3-8398-4BFA-AE43-CE4B223D9D45}"/>
              </a:ext>
            </a:extLst>
          </p:cNvPr>
          <p:cNvSpPr txBox="1"/>
          <p:nvPr/>
        </p:nvSpPr>
        <p:spPr>
          <a:xfrm>
            <a:off x="301514" y="3560850"/>
            <a:ext cx="1682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 </a:t>
            </a:r>
          </a:p>
        </p:txBody>
      </p:sp>
      <p:sp>
        <p:nvSpPr>
          <p:cNvPr id="26" name="TextBox 273">
            <a:extLst>
              <a:ext uri="{FF2B5EF4-FFF2-40B4-BE49-F238E27FC236}">
                <a16:creationId xmlns:a16="http://schemas.microsoft.com/office/drawing/2014/main" id="{7E58D6C1-E28D-45F9-B5C9-E8D8FEEF6C0E}"/>
              </a:ext>
            </a:extLst>
          </p:cNvPr>
          <p:cNvSpPr txBox="1"/>
          <p:nvPr/>
        </p:nvSpPr>
        <p:spPr>
          <a:xfrm>
            <a:off x="9993853" y="4381278"/>
            <a:ext cx="1822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Мониторинг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7" name="TextBox 277">
            <a:extLst>
              <a:ext uri="{FF2B5EF4-FFF2-40B4-BE49-F238E27FC236}">
                <a16:creationId xmlns:a16="http://schemas.microsoft.com/office/drawing/2014/main" id="{90F06C56-719C-4688-9583-3FE5DBC443D2}"/>
              </a:ext>
            </a:extLst>
          </p:cNvPr>
          <p:cNvSpPr txBox="1"/>
          <p:nvPr/>
        </p:nvSpPr>
        <p:spPr>
          <a:xfrm>
            <a:off x="9920002" y="3861444"/>
            <a:ext cx="1828800" cy="26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Smoke</a:t>
            </a:r>
            <a:r>
              <a:rPr lang="ru-RU" sz="1100" dirty="0">
                <a:solidFill>
                  <a:srgbClr val="000000"/>
                </a:solidFill>
                <a:latin typeface="Stapel"/>
              </a:rPr>
              <a:t>-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281">
            <a:extLst>
              <a:ext uri="{FF2B5EF4-FFF2-40B4-BE49-F238E27FC236}">
                <a16:creationId xmlns:a16="http://schemas.microsoft.com/office/drawing/2014/main" id="{C3F6F1B5-2960-430B-BEB2-1A7ECFB20801}"/>
              </a:ext>
            </a:extLst>
          </p:cNvPr>
          <p:cNvSpPr txBox="1"/>
          <p:nvPr/>
        </p:nvSpPr>
        <p:spPr>
          <a:xfrm>
            <a:off x="9957200" y="3311354"/>
            <a:ext cx="17920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Bef>
                <a:spcPts val="1200"/>
              </a:spcBef>
              <a:defRPr/>
            </a:pPr>
            <a:r>
              <a:rPr lang="ru-RU" sz="1100" dirty="0">
                <a:solidFill>
                  <a:srgbClr val="000000"/>
                </a:solidFill>
                <a:latin typeface="+mn-lt"/>
              </a:rPr>
              <a:t>Приёмочное тестирование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9" name="TextBox 285">
            <a:extLst>
              <a:ext uri="{FF2B5EF4-FFF2-40B4-BE49-F238E27FC236}">
                <a16:creationId xmlns:a16="http://schemas.microsoft.com/office/drawing/2014/main" id="{9F433864-4F8A-4AA9-A7E4-DE2B01070EEE}"/>
              </a:ext>
            </a:extLst>
          </p:cNvPr>
          <p:cNvSpPr txBox="1"/>
          <p:nvPr/>
        </p:nvSpPr>
        <p:spPr>
          <a:xfrm>
            <a:off x="9917967" y="2610116"/>
            <a:ext cx="19374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1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Проверка работоспособности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TextBox 245">
            <a:extLst>
              <a:ext uri="{FF2B5EF4-FFF2-40B4-BE49-F238E27FC236}">
                <a16:creationId xmlns:a16="http://schemas.microsoft.com/office/drawing/2014/main" id="{43D993FE-93F5-4E96-A9AD-5B699C895EEA}"/>
              </a:ext>
            </a:extLst>
          </p:cNvPr>
          <p:cNvSpPr txBox="1"/>
          <p:nvPr/>
        </p:nvSpPr>
        <p:spPr>
          <a:xfrm>
            <a:off x="7913742" y="5313042"/>
            <a:ext cx="19167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1" name="TextBox 249">
            <a:extLst>
              <a:ext uri="{FF2B5EF4-FFF2-40B4-BE49-F238E27FC236}">
                <a16:creationId xmlns:a16="http://schemas.microsoft.com/office/drawing/2014/main" id="{81430232-B644-42E4-9422-9088B5BA92C5}"/>
              </a:ext>
            </a:extLst>
          </p:cNvPr>
          <p:cNvSpPr txBox="1"/>
          <p:nvPr/>
        </p:nvSpPr>
        <p:spPr>
          <a:xfrm>
            <a:off x="7922479" y="4752566"/>
            <a:ext cx="18251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на выносливость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2" name="TextBox 253">
            <a:extLst>
              <a:ext uri="{FF2B5EF4-FFF2-40B4-BE49-F238E27FC236}">
                <a16:creationId xmlns:a16="http://schemas.microsoft.com/office/drawing/2014/main" id="{0D7092EA-3896-4AA6-BD99-441D99821695}"/>
              </a:ext>
            </a:extLst>
          </p:cNvPr>
          <p:cNvSpPr txBox="1"/>
          <p:nvPr/>
        </p:nvSpPr>
        <p:spPr>
          <a:xfrm>
            <a:off x="7933237" y="4333755"/>
            <a:ext cx="17394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Приёмочное тестирование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3" name="TextBox 257">
            <a:extLst>
              <a:ext uri="{FF2B5EF4-FFF2-40B4-BE49-F238E27FC236}">
                <a16:creationId xmlns:a16="http://schemas.microsoft.com/office/drawing/2014/main" id="{1BF2C67A-382E-4B3D-9E15-E7851EC12328}"/>
              </a:ext>
            </a:extLst>
          </p:cNvPr>
          <p:cNvSpPr txBox="1"/>
          <p:nvPr/>
        </p:nvSpPr>
        <p:spPr>
          <a:xfrm>
            <a:off x="7924381" y="3806024"/>
            <a:ext cx="17785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системной интеграции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4" name="TextBox 261">
            <a:extLst>
              <a:ext uri="{FF2B5EF4-FFF2-40B4-BE49-F238E27FC236}">
                <a16:creationId xmlns:a16="http://schemas.microsoft.com/office/drawing/2014/main" id="{F4872AB9-9F70-455F-BA14-910F2EE9075D}"/>
              </a:ext>
            </a:extLst>
          </p:cNvPr>
          <p:cNvSpPr txBox="1"/>
          <p:nvPr/>
        </p:nvSpPr>
        <p:spPr>
          <a:xfrm>
            <a:off x="7939718" y="3115071"/>
            <a:ext cx="18410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Сквозные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интеграционные 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5" name="TextBox 265">
            <a:extLst>
              <a:ext uri="{FF2B5EF4-FFF2-40B4-BE49-F238E27FC236}">
                <a16:creationId xmlns:a16="http://schemas.microsoft.com/office/drawing/2014/main" id="{DEE72B21-522F-4E06-925B-CF07335B9899}"/>
              </a:ext>
            </a:extLst>
          </p:cNvPr>
          <p:cNvSpPr txBox="1"/>
          <p:nvPr/>
        </p:nvSpPr>
        <p:spPr>
          <a:xfrm>
            <a:off x="7941260" y="2593395"/>
            <a:ext cx="18410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Критическая регрессия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6" name="TextBox 217">
            <a:extLst>
              <a:ext uri="{FF2B5EF4-FFF2-40B4-BE49-F238E27FC236}">
                <a16:creationId xmlns:a16="http://schemas.microsoft.com/office/drawing/2014/main" id="{0639E230-5CE5-4B25-B7F5-E4A56E5E0E77}"/>
              </a:ext>
            </a:extLst>
          </p:cNvPr>
          <p:cNvSpPr txBox="1"/>
          <p:nvPr/>
        </p:nvSpPr>
        <p:spPr>
          <a:xfrm>
            <a:off x="6134709" y="3925315"/>
            <a:ext cx="15336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Aft>
                <a:spcPts val="1200"/>
              </a:spcAft>
              <a:defRPr/>
            </a:pPr>
            <a:r>
              <a:rPr lang="ru-RU" sz="1000" dirty="0">
                <a:solidFill>
                  <a:srgbClr val="000000"/>
                </a:solidFill>
                <a:latin typeface="+mn-lt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7" name="TextBox 225">
            <a:extLst>
              <a:ext uri="{FF2B5EF4-FFF2-40B4-BE49-F238E27FC236}">
                <a16:creationId xmlns:a16="http://schemas.microsoft.com/office/drawing/2014/main" id="{5B02F4EF-259C-464C-8F6C-7D615E6242A2}"/>
              </a:ext>
            </a:extLst>
          </p:cNvPr>
          <p:cNvSpPr txBox="1"/>
          <p:nvPr/>
        </p:nvSpPr>
        <p:spPr>
          <a:xfrm>
            <a:off x="6145530" y="3095740"/>
            <a:ext cx="1560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Интеграция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8" name="TextBox 231">
            <a:extLst>
              <a:ext uri="{FF2B5EF4-FFF2-40B4-BE49-F238E27FC236}">
                <a16:creationId xmlns:a16="http://schemas.microsoft.com/office/drawing/2014/main" id="{4F4D0A4F-E9F0-4D2B-A764-DFAC34F08474}"/>
              </a:ext>
            </a:extLst>
          </p:cNvPr>
          <p:cNvSpPr txBox="1"/>
          <p:nvPr/>
        </p:nvSpPr>
        <p:spPr>
          <a:xfrm>
            <a:off x="6135514" y="2757868"/>
            <a:ext cx="1559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Регрессия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9" name="TextBox 235">
            <a:extLst>
              <a:ext uri="{FF2B5EF4-FFF2-40B4-BE49-F238E27FC236}">
                <a16:creationId xmlns:a16="http://schemas.microsoft.com/office/drawing/2014/main" id="{332C25DE-1AC9-41E3-A11F-D1474B70D5B3}"/>
              </a:ext>
            </a:extLst>
          </p:cNvPr>
          <p:cNvSpPr txBox="1"/>
          <p:nvPr/>
        </p:nvSpPr>
        <p:spPr>
          <a:xfrm>
            <a:off x="6132245" y="2451003"/>
            <a:ext cx="15593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28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0" name="TextBox 213">
            <a:extLst>
              <a:ext uri="{FF2B5EF4-FFF2-40B4-BE49-F238E27FC236}">
                <a16:creationId xmlns:a16="http://schemas.microsoft.com/office/drawing/2014/main" id="{02DC97A3-DC4E-46C1-9D2F-D05E27C0F339}"/>
              </a:ext>
            </a:extLst>
          </p:cNvPr>
          <p:cNvSpPr txBox="1"/>
          <p:nvPr/>
        </p:nvSpPr>
        <p:spPr>
          <a:xfrm>
            <a:off x="6132245" y="4312095"/>
            <a:ext cx="1533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Нагрузочное тестирование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1" name="TextBox 182">
            <a:extLst>
              <a:ext uri="{FF2B5EF4-FFF2-40B4-BE49-F238E27FC236}">
                <a16:creationId xmlns:a16="http://schemas.microsoft.com/office/drawing/2014/main" id="{2217AA17-3B66-4647-9762-FC2092124753}"/>
              </a:ext>
            </a:extLst>
          </p:cNvPr>
          <p:cNvSpPr txBox="1"/>
          <p:nvPr/>
        </p:nvSpPr>
        <p:spPr>
          <a:xfrm>
            <a:off x="4270709" y="4585936"/>
            <a:ext cx="1528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2" name="TextBox 184">
            <a:extLst>
              <a:ext uri="{FF2B5EF4-FFF2-40B4-BE49-F238E27FC236}">
                <a16:creationId xmlns:a16="http://schemas.microsoft.com/office/drawing/2014/main" id="{934707AC-B321-404A-97AB-CDE39E703D70}"/>
              </a:ext>
            </a:extLst>
          </p:cNvPr>
          <p:cNvSpPr txBox="1"/>
          <p:nvPr/>
        </p:nvSpPr>
        <p:spPr>
          <a:xfrm>
            <a:off x="4271091" y="4025816"/>
            <a:ext cx="1629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Публикация артефактов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3" name="TextBox 186">
            <a:extLst>
              <a:ext uri="{FF2B5EF4-FFF2-40B4-BE49-F238E27FC236}">
                <a16:creationId xmlns:a16="http://schemas.microsoft.com/office/drawing/2014/main" id="{3A638BEA-DC9E-477B-B6F5-825FC99D1C9B}"/>
              </a:ext>
            </a:extLst>
          </p:cNvPr>
          <p:cNvSpPr txBox="1"/>
          <p:nvPr/>
        </p:nvSpPr>
        <p:spPr>
          <a:xfrm>
            <a:off x="4271280" y="3512762"/>
            <a:ext cx="1542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4" name="TextBox 190">
            <a:extLst>
              <a:ext uri="{FF2B5EF4-FFF2-40B4-BE49-F238E27FC236}">
                <a16:creationId xmlns:a16="http://schemas.microsoft.com/office/drawing/2014/main" id="{CE05379D-6937-4448-8FFB-82E33B2B2E0F}"/>
              </a:ext>
            </a:extLst>
          </p:cNvPr>
          <p:cNvSpPr txBox="1"/>
          <p:nvPr/>
        </p:nvSpPr>
        <p:spPr>
          <a:xfrm>
            <a:off x="4271280" y="3142802"/>
            <a:ext cx="15428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5" name="TextBox 194">
            <a:extLst>
              <a:ext uri="{FF2B5EF4-FFF2-40B4-BE49-F238E27FC236}">
                <a16:creationId xmlns:a16="http://schemas.microsoft.com/office/drawing/2014/main" id="{2913BC81-BCA3-4A26-BDCF-847076CA5D55}"/>
              </a:ext>
            </a:extLst>
          </p:cNvPr>
          <p:cNvSpPr txBox="1"/>
          <p:nvPr/>
        </p:nvSpPr>
        <p:spPr>
          <a:xfrm>
            <a:off x="4319530" y="2657973"/>
            <a:ext cx="1540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6" name="TextBox 164">
            <a:extLst>
              <a:ext uri="{FF2B5EF4-FFF2-40B4-BE49-F238E27FC236}">
                <a16:creationId xmlns:a16="http://schemas.microsoft.com/office/drawing/2014/main" id="{1498E624-2D1D-4931-97C6-A142BC6BD6D1}"/>
              </a:ext>
            </a:extLst>
          </p:cNvPr>
          <p:cNvSpPr txBox="1"/>
          <p:nvPr/>
        </p:nvSpPr>
        <p:spPr>
          <a:xfrm>
            <a:off x="2392842" y="2665833"/>
            <a:ext cx="15977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7" name="TextBox 168">
            <a:extLst>
              <a:ext uri="{FF2B5EF4-FFF2-40B4-BE49-F238E27FC236}">
                <a16:creationId xmlns:a16="http://schemas.microsoft.com/office/drawing/2014/main" id="{BB187FC1-3D6B-4958-AD27-5DABB036A435}"/>
              </a:ext>
            </a:extLst>
          </p:cNvPr>
          <p:cNvSpPr txBox="1"/>
          <p:nvPr/>
        </p:nvSpPr>
        <p:spPr>
          <a:xfrm>
            <a:off x="2410938" y="5510527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Ревью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8" name="TextBox 170">
            <a:extLst>
              <a:ext uri="{FF2B5EF4-FFF2-40B4-BE49-F238E27FC236}">
                <a16:creationId xmlns:a16="http://schemas.microsoft.com/office/drawing/2014/main" id="{5AAF3CE6-37E5-4022-A79C-5E0925F0B8E4}"/>
              </a:ext>
            </a:extLst>
          </p:cNvPr>
          <p:cNvSpPr txBox="1"/>
          <p:nvPr/>
        </p:nvSpPr>
        <p:spPr>
          <a:xfrm>
            <a:off x="2365807" y="4816868"/>
            <a:ext cx="15722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критических сценариев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9" name="TextBox 172">
            <a:extLst>
              <a:ext uri="{FF2B5EF4-FFF2-40B4-BE49-F238E27FC236}">
                <a16:creationId xmlns:a16="http://schemas.microsoft.com/office/drawing/2014/main" id="{987E097A-5608-4060-8BBE-DF3F62D653ED}"/>
              </a:ext>
            </a:extLst>
          </p:cNvPr>
          <p:cNvSpPr txBox="1"/>
          <p:nvPr/>
        </p:nvSpPr>
        <p:spPr>
          <a:xfrm>
            <a:off x="2368274" y="4420699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Smoke</a:t>
            </a:r>
            <a:r>
              <a:rPr lang="ru-RU" sz="1000" dirty="0">
                <a:solidFill>
                  <a:srgbClr val="000000"/>
                </a:solidFill>
                <a:latin typeface="Stapel"/>
              </a:rPr>
              <a:t>-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0" name="TextBox 174">
            <a:extLst>
              <a:ext uri="{FF2B5EF4-FFF2-40B4-BE49-F238E27FC236}">
                <a16:creationId xmlns:a16="http://schemas.microsoft.com/office/drawing/2014/main" id="{5A3DB3F4-6730-4EE4-B3AD-519437352F69}"/>
              </a:ext>
            </a:extLst>
          </p:cNvPr>
          <p:cNvSpPr txBox="1"/>
          <p:nvPr/>
        </p:nvSpPr>
        <p:spPr>
          <a:xfrm>
            <a:off x="2371963" y="4055544"/>
            <a:ext cx="16181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1" name="TextBox 178">
            <a:extLst>
              <a:ext uri="{FF2B5EF4-FFF2-40B4-BE49-F238E27FC236}">
                <a16:creationId xmlns:a16="http://schemas.microsoft.com/office/drawing/2014/main" id="{79A88901-393A-4000-80B6-22003D93F0A0}"/>
              </a:ext>
            </a:extLst>
          </p:cNvPr>
          <p:cNvSpPr txBox="1"/>
          <p:nvPr/>
        </p:nvSpPr>
        <p:spPr>
          <a:xfrm>
            <a:off x="2369820" y="3516134"/>
            <a:ext cx="1572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2" name="TextBox 180">
            <a:extLst>
              <a:ext uri="{FF2B5EF4-FFF2-40B4-BE49-F238E27FC236}">
                <a16:creationId xmlns:a16="http://schemas.microsoft.com/office/drawing/2014/main" id="{1B3CD341-587E-458F-9B02-871273EEBA79}"/>
              </a:ext>
            </a:extLst>
          </p:cNvPr>
          <p:cNvSpPr txBox="1"/>
          <p:nvPr/>
        </p:nvSpPr>
        <p:spPr>
          <a:xfrm>
            <a:off x="2378822" y="3137262"/>
            <a:ext cx="16044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3" name="TextBox 3">
            <a:extLst>
              <a:ext uri="{FF2B5EF4-FFF2-40B4-BE49-F238E27FC236}">
                <a16:creationId xmlns:a16="http://schemas.microsoft.com/office/drawing/2014/main" id="{3C24102E-F17B-B811-8FA2-C2CB4CD2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42" y="1267005"/>
            <a:ext cx="20431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Соответствие</a:t>
            </a:r>
            <a:r>
              <a:rPr lang="en-US" altLang="en-RU" sz="900" spc="70" dirty="0">
                <a:solidFill>
                  <a:srgbClr val="000000"/>
                </a:solidFill>
                <a:latin typeface="+mn-lt"/>
              </a:rPr>
              <a:t> DoD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4" name="TextBox 4">
            <a:extLst>
              <a:ext uri="{FF2B5EF4-FFF2-40B4-BE49-F238E27FC236}">
                <a16:creationId xmlns:a16="http://schemas.microsoft.com/office/drawing/2014/main" id="{B47FEFF0-AD1A-40AA-FA72-9D8407C8F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1608" y="1207198"/>
            <a:ext cx="20986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Отсутствие нарушений в коде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Код прошёл </a:t>
            </a:r>
            <a:r>
              <a:rPr lang="ru-RU" altLang="en-RU" sz="900" spc="70" dirty="0" err="1">
                <a:solidFill>
                  <a:srgbClr val="000000"/>
                </a:solidFill>
                <a:latin typeface="+mn-lt"/>
              </a:rPr>
              <a:t>ревью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51641093-D490-5B20-4380-2D215BDDC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242" y="1267223"/>
            <a:ext cx="18113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Последняя удачно верифицированная сборка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7AEC291E-CF14-CCB4-C178-83B0BB59C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527" y="1262686"/>
            <a:ext cx="12801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</a:t>
            </a:r>
            <a:br>
              <a:rPr lang="ru-RU" altLang="en-RU" sz="900" spc="70" dirty="0">
                <a:solidFill>
                  <a:srgbClr val="000000"/>
                </a:solidFill>
                <a:latin typeface="+mn-lt"/>
              </a:rPr>
            </a:b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B97D4BEC-67D8-2BB5-ABC5-978C8675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4356" y="1192040"/>
            <a:ext cx="233716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Одобрение выпуска заинтересованными сторонами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8" name="Rectangle 22">
            <a:extLst>
              <a:ext uri="{FF2B5EF4-FFF2-40B4-BE49-F238E27FC236}">
                <a16:creationId xmlns:a16="http://schemas.microsoft.com/office/drawing/2014/main" id="{8DA71C3D-023A-1E68-42D0-3E5753F72E2A}"/>
              </a:ext>
            </a:extLst>
          </p:cNvPr>
          <p:cNvSpPr/>
          <p:nvPr/>
        </p:nvSpPr>
        <p:spPr>
          <a:xfrm>
            <a:off x="2335213" y="1967864"/>
            <a:ext cx="1749425" cy="3988435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59" name="Rectangle 30">
            <a:extLst>
              <a:ext uri="{FF2B5EF4-FFF2-40B4-BE49-F238E27FC236}">
                <a16:creationId xmlns:a16="http://schemas.microsoft.com/office/drawing/2014/main" id="{31C97220-4F77-0CC7-98A7-052D3D52B838}"/>
              </a:ext>
            </a:extLst>
          </p:cNvPr>
          <p:cNvSpPr/>
          <p:nvPr/>
        </p:nvSpPr>
        <p:spPr>
          <a:xfrm>
            <a:off x="4225925" y="1967865"/>
            <a:ext cx="1717675" cy="3987800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0" name="Rectangle 36">
            <a:extLst>
              <a:ext uri="{FF2B5EF4-FFF2-40B4-BE49-F238E27FC236}">
                <a16:creationId xmlns:a16="http://schemas.microsoft.com/office/drawing/2014/main" id="{601FAEAD-F2A7-4149-983F-31B8B4C9EA92}"/>
              </a:ext>
            </a:extLst>
          </p:cNvPr>
          <p:cNvSpPr/>
          <p:nvPr/>
        </p:nvSpPr>
        <p:spPr>
          <a:xfrm>
            <a:off x="7891463" y="1956275"/>
            <a:ext cx="1965325" cy="3987800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1" name="Rectangle 47">
            <a:extLst>
              <a:ext uri="{FF2B5EF4-FFF2-40B4-BE49-F238E27FC236}">
                <a16:creationId xmlns:a16="http://schemas.microsoft.com/office/drawing/2014/main" id="{92E785B5-19E3-1C39-C79B-CCA128F76E00}"/>
              </a:ext>
            </a:extLst>
          </p:cNvPr>
          <p:cNvSpPr/>
          <p:nvPr/>
        </p:nvSpPr>
        <p:spPr>
          <a:xfrm>
            <a:off x="9971087" y="1953894"/>
            <a:ext cx="1965325" cy="3987800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2" name="Rectangle 52">
            <a:extLst>
              <a:ext uri="{FF2B5EF4-FFF2-40B4-BE49-F238E27FC236}">
                <a16:creationId xmlns:a16="http://schemas.microsoft.com/office/drawing/2014/main" id="{3F2E8AC5-42FF-222A-B0AA-240B8630C432}"/>
              </a:ext>
            </a:extLst>
          </p:cNvPr>
          <p:cNvSpPr/>
          <p:nvPr/>
        </p:nvSpPr>
        <p:spPr>
          <a:xfrm>
            <a:off x="6040438" y="1965804"/>
            <a:ext cx="1765300" cy="3989387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365760" tIns="121920" rIns="243840" bIns="121920" anchor="b" anchorCtr="1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</p:txBody>
      </p:sp>
      <p:sp>
        <p:nvSpPr>
          <p:cNvPr id="63" name="Rectangle 53">
            <a:extLst>
              <a:ext uri="{FF2B5EF4-FFF2-40B4-BE49-F238E27FC236}">
                <a16:creationId xmlns:a16="http://schemas.microsoft.com/office/drawing/2014/main" id="{222ED31E-E0F0-63AE-A77D-0F2A7B6D4B7D}"/>
              </a:ext>
            </a:extLst>
          </p:cNvPr>
          <p:cNvSpPr/>
          <p:nvPr/>
        </p:nvSpPr>
        <p:spPr>
          <a:xfrm>
            <a:off x="6115050" y="2043591"/>
            <a:ext cx="1611313" cy="1384300"/>
          </a:xfrm>
          <a:prstGeom prst="rect">
            <a:avLst/>
          </a:prstGeom>
          <a:noFill/>
          <a:ln w="12700">
            <a:solidFill>
              <a:srgbClr val="7D70EF">
                <a:lumMod val="60000"/>
                <a:lumOff val="40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b="1" dirty="0">
              <a:solidFill>
                <a:srgbClr val="000000"/>
              </a:solidFill>
            </a:endParaRPr>
          </a:p>
        </p:txBody>
      </p:sp>
      <p:sp>
        <p:nvSpPr>
          <p:cNvPr id="64" name="Rectangle 54">
            <a:extLst>
              <a:ext uri="{FF2B5EF4-FFF2-40B4-BE49-F238E27FC236}">
                <a16:creationId xmlns:a16="http://schemas.microsoft.com/office/drawing/2014/main" id="{CAA4FDDD-C8ED-9069-E1BA-5E3AA7682A0A}"/>
              </a:ext>
            </a:extLst>
          </p:cNvPr>
          <p:cNvSpPr/>
          <p:nvPr/>
        </p:nvSpPr>
        <p:spPr>
          <a:xfrm>
            <a:off x="6115050" y="3543779"/>
            <a:ext cx="1611313" cy="1831975"/>
          </a:xfrm>
          <a:prstGeom prst="rect">
            <a:avLst/>
          </a:prstGeom>
          <a:noFill/>
          <a:ln w="12700">
            <a:solidFill>
              <a:srgbClr val="7D70EF">
                <a:lumMod val="60000"/>
                <a:lumOff val="40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65" name="Заголовок 1">
            <a:extLst>
              <a:ext uri="{FF2B5EF4-FFF2-40B4-BE49-F238E27FC236}">
                <a16:creationId xmlns:a16="http://schemas.microsoft.com/office/drawing/2014/main" id="{DD3ED79B-E6CE-4B49-8E48-79727B3A1B59}"/>
              </a:ext>
            </a:extLst>
          </p:cNvPr>
          <p:cNvSpPr>
            <a:spLocks noGrp="1"/>
          </p:cNvSpPr>
          <p:nvPr/>
        </p:nvSpPr>
        <p:spPr>
          <a:xfrm>
            <a:off x="501536" y="400384"/>
            <a:ext cx="9171170" cy="409680"/>
          </a:xfrm>
        </p:spPr>
        <p:txBody>
          <a:bodyPr>
            <a:normAutofit/>
          </a:bodyPr>
          <a:lstStyle/>
          <a:p>
            <a:r>
              <a:rPr lang="ru-RU" dirty="0" sz="2000" b="0">
                <a:latin typeface="Stapel Medium"/>
                <a:solidFill>
                  <a:srgbClr val="000000"/>
                </a:solidFill>
                <a:ea typeface="Stapel Medium"/>
                <a:cs typeface="Stapel Medium"/>
              </a:rPr>
              <a:t>Рекомендуемый процесс контроля качества</a:t>
            </a:r>
          </a:p>
        </p:txBody>
      </p:sp>
      <p:pic>
        <p:nvPicPr>
          <p:cNvPr id="66" name="Рисунок 73">
            <a:extLst>
              <a:ext uri="{FF2B5EF4-FFF2-40B4-BE49-F238E27FC236}">
                <a16:creationId xmlns:a16="http://schemas.microsoft.com/office/drawing/2014/main" id="{008B9F64-EAEA-4116-B746-710BD555A78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6954" y="4072265"/>
            <a:ext cx="228169" cy="228169"/>
          </a:xfrm>
          <a:prstGeom prst="rect">
            <a:avLst/>
          </a:prstGeom>
        </p:spPr>
      </p:pic>
      <p:pic>
        <p:nvPicPr>
          <p:cNvPr id="67" name="Рисунок 76">
            <a:extLst>
              <a:ext uri="{FF2B5EF4-FFF2-40B4-BE49-F238E27FC236}">
                <a16:creationId xmlns:a16="http://schemas.microsoft.com/office/drawing/2014/main" id="{7A00B957-4C73-4607-8F73-800BD4229ED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61012" y="2704582"/>
            <a:ext cx="228169" cy="228169"/>
          </a:xfrm>
          <a:prstGeom prst="rect">
            <a:avLst/>
          </a:prstGeom>
        </p:spPr>
      </p:pic>
      <p:pic>
        <p:nvPicPr>
          <p:cNvPr id="68" name="Рисунок 81">
            <a:extLst>
              <a:ext uri="{FF2B5EF4-FFF2-40B4-BE49-F238E27FC236}">
                <a16:creationId xmlns:a16="http://schemas.microsoft.com/office/drawing/2014/main" id="{179E3FF1-4436-40FE-A308-7BD7540DE81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7614" y="4105603"/>
            <a:ext cx="228169" cy="228169"/>
          </a:xfrm>
          <a:prstGeom prst="rect">
            <a:avLst/>
          </a:prstGeom>
        </p:spPr>
      </p:pic>
      <p:pic>
        <p:nvPicPr>
          <p:cNvPr id="69" name="Рисунок 84">
            <a:extLst>
              <a:ext uri="{FF2B5EF4-FFF2-40B4-BE49-F238E27FC236}">
                <a16:creationId xmlns:a16="http://schemas.microsoft.com/office/drawing/2014/main" id="{661D6F86-B184-4CDE-9D74-C19BCCD0FAA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64175" y="2688583"/>
            <a:ext cx="228169" cy="228169"/>
          </a:xfrm>
          <a:prstGeom prst="rect">
            <a:avLst/>
          </a:prstGeom>
        </p:spPr>
      </p:pic>
      <p:pic>
        <p:nvPicPr>
          <p:cNvPr id="70" name="Рисунок 87">
            <a:extLst>
              <a:ext uri="{FF2B5EF4-FFF2-40B4-BE49-F238E27FC236}">
                <a16:creationId xmlns:a16="http://schemas.microsoft.com/office/drawing/2014/main" id="{AEF899C2-78DF-4B6B-BC6F-A69247874E6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4944" y="2465782"/>
            <a:ext cx="228169" cy="228169"/>
          </a:xfrm>
          <a:prstGeom prst="rect">
            <a:avLst/>
          </a:prstGeom>
        </p:spPr>
      </p:pic>
      <p:pic>
        <p:nvPicPr>
          <p:cNvPr id="71" name="Рисунок 88">
            <a:extLst>
              <a:ext uri="{FF2B5EF4-FFF2-40B4-BE49-F238E27FC236}">
                <a16:creationId xmlns:a16="http://schemas.microsoft.com/office/drawing/2014/main" id="{2D8677DF-4200-4FCD-B5C2-C34B14379B9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33500" y="3106325"/>
            <a:ext cx="228169" cy="228169"/>
          </a:xfrm>
          <a:prstGeom prst="rect">
            <a:avLst/>
          </a:prstGeom>
        </p:spPr>
      </p:pic>
      <p:pic>
        <p:nvPicPr>
          <p:cNvPr id="72" name="Рисунок 90">
            <a:extLst>
              <a:ext uri="{FF2B5EF4-FFF2-40B4-BE49-F238E27FC236}">
                <a16:creationId xmlns:a16="http://schemas.microsoft.com/office/drawing/2014/main" id="{CB686BA5-A4E9-4771-922A-8768CE74B8E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4090" y="3953008"/>
            <a:ext cx="228169" cy="228169"/>
          </a:xfrm>
          <a:prstGeom prst="rect">
            <a:avLst/>
          </a:prstGeom>
        </p:spPr>
      </p:pic>
      <p:pic>
        <p:nvPicPr>
          <p:cNvPr id="73" name="Рисунок 95">
            <a:extLst>
              <a:ext uri="{FF2B5EF4-FFF2-40B4-BE49-F238E27FC236}">
                <a16:creationId xmlns:a16="http://schemas.microsoft.com/office/drawing/2014/main" id="{3EAB468D-CE35-4D11-82A5-7652C830F7D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77989" y="2685915"/>
            <a:ext cx="228169" cy="228169"/>
          </a:xfrm>
          <a:prstGeom prst="rect">
            <a:avLst/>
          </a:prstGeom>
        </p:spPr>
      </p:pic>
      <p:grpSp>
        <p:nvGrpSpPr>
          <p:cNvPr id="74" name="Группа 98">
            <a:extLst>
              <a:ext uri="{FF2B5EF4-FFF2-40B4-BE49-F238E27FC236}">
                <a16:creationId xmlns:a16="http://schemas.microsoft.com/office/drawing/2014/main" id="{A966C1A7-E63B-4A78-BB14-DF502F38CE0C}"/>
              </a:ext>
            </a:extLst>
          </p:cNvPr>
          <p:cNvGrpSpPr/>
          <p:nvPr/>
        </p:nvGrpSpPr>
        <p:grpSpPr>
          <a:xfrm>
            <a:off x="8022176" y="5345144"/>
            <a:ext cx="174185" cy="288493"/>
            <a:chOff x="5731348" y="5855133"/>
            <a:chExt cx="243840" cy="403859"/>
          </a:xfrm>
        </p:grpSpPr>
        <p:sp>
          <p:nvSpPr>
            <p:cNvPr id="75" name="Полилиния: фигура 99">
              <a:extLst>
                <a:ext uri="{FF2B5EF4-FFF2-40B4-BE49-F238E27FC236}">
                  <a16:creationId xmlns:a16="http://schemas.microsoft.com/office/drawing/2014/main" id="{3D122870-1E6F-47E8-AB13-7953C824FE3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76" name="Полилиния: фигура 100">
              <a:extLst>
                <a:ext uri="{FF2B5EF4-FFF2-40B4-BE49-F238E27FC236}">
                  <a16:creationId xmlns:a16="http://schemas.microsoft.com/office/drawing/2014/main" id="{916609E5-CB51-4411-A676-EFC4F9FE7887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77" name="Полилиния: фигура 101">
              <a:extLst>
                <a:ext uri="{FF2B5EF4-FFF2-40B4-BE49-F238E27FC236}">
                  <a16:creationId xmlns:a16="http://schemas.microsoft.com/office/drawing/2014/main" id="{2E0C6E80-5997-45DE-9F14-72CDF48B962F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78" name="Полилиния: фигура 102">
              <a:extLst>
                <a:ext uri="{FF2B5EF4-FFF2-40B4-BE49-F238E27FC236}">
                  <a16:creationId xmlns:a16="http://schemas.microsoft.com/office/drawing/2014/main" id="{7BF6FCBE-DCDF-4527-BA32-B4CFBFF1B544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79" name="Полилиния: фигура 103">
              <a:extLst>
                <a:ext uri="{FF2B5EF4-FFF2-40B4-BE49-F238E27FC236}">
                  <a16:creationId xmlns:a16="http://schemas.microsoft.com/office/drawing/2014/main" id="{9F792009-55F6-4EFB-8F5A-806F231446A9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80" name="Группа 104">
            <a:extLst>
              <a:ext uri="{FF2B5EF4-FFF2-40B4-BE49-F238E27FC236}">
                <a16:creationId xmlns:a16="http://schemas.microsoft.com/office/drawing/2014/main" id="{1895C50E-8FB0-4B66-AC9D-3EE79E9BC5F6}"/>
              </a:ext>
            </a:extLst>
          </p:cNvPr>
          <p:cNvGrpSpPr/>
          <p:nvPr/>
        </p:nvGrpSpPr>
        <p:grpSpPr>
          <a:xfrm>
            <a:off x="8019230" y="4328645"/>
            <a:ext cx="174185" cy="288493"/>
            <a:chOff x="5731348" y="5855133"/>
            <a:chExt cx="243840" cy="403859"/>
          </a:xfrm>
        </p:grpSpPr>
        <p:sp>
          <p:nvSpPr>
            <p:cNvPr id="81" name="Полилиния: фигура 105">
              <a:extLst>
                <a:ext uri="{FF2B5EF4-FFF2-40B4-BE49-F238E27FC236}">
                  <a16:creationId xmlns:a16="http://schemas.microsoft.com/office/drawing/2014/main" id="{740B8D3B-81AA-48AA-A90C-174B8A8F5CC7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2" name="Полилиния: фигура 106">
              <a:extLst>
                <a:ext uri="{FF2B5EF4-FFF2-40B4-BE49-F238E27FC236}">
                  <a16:creationId xmlns:a16="http://schemas.microsoft.com/office/drawing/2014/main" id="{7C2F09C6-7549-49BF-BBE6-B2344824E724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3" name="Полилиния: фигура 107">
              <a:extLst>
                <a:ext uri="{FF2B5EF4-FFF2-40B4-BE49-F238E27FC236}">
                  <a16:creationId xmlns:a16="http://schemas.microsoft.com/office/drawing/2014/main" id="{DE0D1AF8-C2E7-41ED-8B76-87B3FEBDA704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4" name="Полилиния: фигура 108">
              <a:extLst>
                <a:ext uri="{FF2B5EF4-FFF2-40B4-BE49-F238E27FC236}">
                  <a16:creationId xmlns:a16="http://schemas.microsoft.com/office/drawing/2014/main" id="{B42B519E-3D1A-4C7C-B2FB-5F641C92A915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5" name="Полилиния: фигура 109">
              <a:extLst>
                <a:ext uri="{FF2B5EF4-FFF2-40B4-BE49-F238E27FC236}">
                  <a16:creationId xmlns:a16="http://schemas.microsoft.com/office/drawing/2014/main" id="{F65BC8E0-E12A-4317-AC98-D4C6709EA5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86" name="Группа 116">
            <a:extLst>
              <a:ext uri="{FF2B5EF4-FFF2-40B4-BE49-F238E27FC236}">
                <a16:creationId xmlns:a16="http://schemas.microsoft.com/office/drawing/2014/main" id="{63D25DA1-0B9B-4D46-AA27-2B2C57EBB844}"/>
              </a:ext>
            </a:extLst>
          </p:cNvPr>
          <p:cNvGrpSpPr/>
          <p:nvPr/>
        </p:nvGrpSpPr>
        <p:grpSpPr>
          <a:xfrm>
            <a:off x="10139179" y="3266283"/>
            <a:ext cx="176045" cy="288493"/>
            <a:chOff x="5728744" y="5855133"/>
            <a:chExt cx="246444" cy="403859"/>
          </a:xfrm>
        </p:grpSpPr>
        <p:sp>
          <p:nvSpPr>
            <p:cNvPr id="87" name="Полилиния: фигура 117">
              <a:extLst>
                <a:ext uri="{FF2B5EF4-FFF2-40B4-BE49-F238E27FC236}">
                  <a16:creationId xmlns:a16="http://schemas.microsoft.com/office/drawing/2014/main" id="{9CB2D18F-2A12-4BA2-B022-F12D91014B9C}"/>
                </a:ext>
              </a:extLst>
            </p:cNvPr>
            <p:cNvSpPr/>
            <p:nvPr/>
          </p:nvSpPr>
          <p:spPr>
            <a:xfrm>
              <a:off x="5728744" y="5950383"/>
              <a:ext cx="47626" cy="186690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8" name="Полилиния: фигура 118">
              <a:extLst>
                <a:ext uri="{FF2B5EF4-FFF2-40B4-BE49-F238E27FC236}">
                  <a16:creationId xmlns:a16="http://schemas.microsoft.com/office/drawing/2014/main" id="{312EF20C-356A-4203-A820-73E2BF940E3A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9" name="Полилиния: фигура 119">
              <a:extLst>
                <a:ext uri="{FF2B5EF4-FFF2-40B4-BE49-F238E27FC236}">
                  <a16:creationId xmlns:a16="http://schemas.microsoft.com/office/drawing/2014/main" id="{744AD383-04D8-415C-BD77-C55989F0C333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0" name="Полилиния: фигура 120">
              <a:extLst>
                <a:ext uri="{FF2B5EF4-FFF2-40B4-BE49-F238E27FC236}">
                  <a16:creationId xmlns:a16="http://schemas.microsoft.com/office/drawing/2014/main" id="{75BD3BFA-3C0F-4EF0-B9D9-802CC2753FD9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1" name="Полилиния: фигура 121">
              <a:extLst>
                <a:ext uri="{FF2B5EF4-FFF2-40B4-BE49-F238E27FC236}">
                  <a16:creationId xmlns:a16="http://schemas.microsoft.com/office/drawing/2014/main" id="{0F928BE4-FD60-4065-A611-E4BE4DA956E8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92" name="Группа 128">
            <a:extLst>
              <a:ext uri="{FF2B5EF4-FFF2-40B4-BE49-F238E27FC236}">
                <a16:creationId xmlns:a16="http://schemas.microsoft.com/office/drawing/2014/main" id="{92F6C681-8F17-4E93-B74D-AD966BE53313}"/>
              </a:ext>
            </a:extLst>
          </p:cNvPr>
          <p:cNvGrpSpPr/>
          <p:nvPr/>
        </p:nvGrpSpPr>
        <p:grpSpPr>
          <a:xfrm>
            <a:off x="6210292" y="5526431"/>
            <a:ext cx="174185" cy="288493"/>
            <a:chOff x="5731348" y="5855133"/>
            <a:chExt cx="243840" cy="403859"/>
          </a:xfrm>
        </p:grpSpPr>
        <p:sp>
          <p:nvSpPr>
            <p:cNvPr id="93" name="Полилиния: фигура 129">
              <a:extLst>
                <a:ext uri="{FF2B5EF4-FFF2-40B4-BE49-F238E27FC236}">
                  <a16:creationId xmlns:a16="http://schemas.microsoft.com/office/drawing/2014/main" id="{626E57ED-AAF0-46D2-AE92-385321913CE9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4" name="Полилиния: фигура 130">
              <a:extLst>
                <a:ext uri="{FF2B5EF4-FFF2-40B4-BE49-F238E27FC236}">
                  <a16:creationId xmlns:a16="http://schemas.microsoft.com/office/drawing/2014/main" id="{6BCAE0B8-B114-4F5F-BA03-2E4877E97E61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5" name="Полилиния: фигура 131">
              <a:extLst>
                <a:ext uri="{FF2B5EF4-FFF2-40B4-BE49-F238E27FC236}">
                  <a16:creationId xmlns:a16="http://schemas.microsoft.com/office/drawing/2014/main" id="{B361E99A-619E-495F-AAF8-B2E6497E5A38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6" name="Полилиния: фигура 132">
              <a:extLst>
                <a:ext uri="{FF2B5EF4-FFF2-40B4-BE49-F238E27FC236}">
                  <a16:creationId xmlns:a16="http://schemas.microsoft.com/office/drawing/2014/main" id="{D8EA5C21-AA3B-498D-AFC8-F972ABD217D2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7" name="Полилиния: фигура 133">
              <a:extLst>
                <a:ext uri="{FF2B5EF4-FFF2-40B4-BE49-F238E27FC236}">
                  <a16:creationId xmlns:a16="http://schemas.microsoft.com/office/drawing/2014/main" id="{D031F079-EE54-4AF2-A945-AD9F09A4F8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sp>
        <p:nvSpPr>
          <p:cNvPr id="98" name="Rectangle 14">
            <a:extLst>
              <a:ext uri="{FF2B5EF4-FFF2-40B4-BE49-F238E27FC236}">
                <a16:creationId xmlns:a16="http://schemas.microsoft.com/office/drawing/2014/main" id="{EBE2E125-7145-47C0-FF4A-6C8E1A3C5011}"/>
              </a:ext>
            </a:extLst>
          </p:cNvPr>
          <p:cNvSpPr/>
          <p:nvPr/>
        </p:nvSpPr>
        <p:spPr>
          <a:xfrm>
            <a:off x="239713" y="1960609"/>
            <a:ext cx="1974850" cy="3987800"/>
          </a:xfrm>
          <a:prstGeom prst="rect">
            <a:avLst/>
          </a:prstGeom>
          <a:noFill/>
          <a:ln w="12700"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pic>
        <p:nvPicPr>
          <p:cNvPr id="99" name="Рисунок 77">
            <a:extLst>
              <a:ext uri="{FF2B5EF4-FFF2-40B4-BE49-F238E27FC236}">
                <a16:creationId xmlns:a16="http://schemas.microsoft.com/office/drawing/2014/main" id="{2CD99DA7-5DB1-4DEC-B703-D973B2C4801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4040" y="4148891"/>
            <a:ext cx="228169" cy="228169"/>
          </a:xfrm>
          <a:prstGeom prst="rect">
            <a:avLst/>
          </a:prstGeom>
        </p:spPr>
      </p:pic>
      <p:pic>
        <p:nvPicPr>
          <p:cNvPr id="100" name="Рисунок 80">
            <a:extLst>
              <a:ext uri="{FF2B5EF4-FFF2-40B4-BE49-F238E27FC236}">
                <a16:creationId xmlns:a16="http://schemas.microsoft.com/office/drawing/2014/main" id="{C052299D-C2AB-4CB4-B43E-666E44743E9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8621" y="2733157"/>
            <a:ext cx="228169" cy="228169"/>
          </a:xfrm>
          <a:prstGeom prst="rect">
            <a:avLst/>
          </a:prstGeom>
        </p:spPr>
      </p:pic>
      <p:pic>
        <p:nvPicPr>
          <p:cNvPr id="101" name="Рисунок 96">
            <a:extLst>
              <a:ext uri="{FF2B5EF4-FFF2-40B4-BE49-F238E27FC236}">
                <a16:creationId xmlns:a16="http://schemas.microsoft.com/office/drawing/2014/main" id="{9553D7D9-56E5-4EC0-AA60-27203DFF5ED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4272" y="5394862"/>
            <a:ext cx="228169" cy="228169"/>
          </a:xfrm>
          <a:prstGeom prst="rect">
            <a:avLst/>
          </a:prstGeom>
        </p:spPr>
      </p:pic>
      <p:grpSp>
        <p:nvGrpSpPr>
          <p:cNvPr id="102" name="Группа 134">
            <a:extLst>
              <a:ext uri="{FF2B5EF4-FFF2-40B4-BE49-F238E27FC236}">
                <a16:creationId xmlns:a16="http://schemas.microsoft.com/office/drawing/2014/main" id="{9D4FA49B-4276-46DE-A121-114CCF38F903}"/>
              </a:ext>
            </a:extLst>
          </p:cNvPr>
          <p:cNvGrpSpPr/>
          <p:nvPr/>
        </p:nvGrpSpPr>
        <p:grpSpPr>
          <a:xfrm>
            <a:off x="425612" y="4669707"/>
            <a:ext cx="174185" cy="288493"/>
            <a:chOff x="5731348" y="5855133"/>
            <a:chExt cx="243840" cy="403859"/>
          </a:xfrm>
        </p:grpSpPr>
        <p:sp>
          <p:nvSpPr>
            <p:cNvPr id="103" name="Полилиния: фигура 135">
              <a:extLst>
                <a:ext uri="{FF2B5EF4-FFF2-40B4-BE49-F238E27FC236}">
                  <a16:creationId xmlns:a16="http://schemas.microsoft.com/office/drawing/2014/main" id="{F865E85A-1AD1-455E-B340-B66BDD59F1D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4" name="Полилиния: фигура 136">
              <a:extLst>
                <a:ext uri="{FF2B5EF4-FFF2-40B4-BE49-F238E27FC236}">
                  <a16:creationId xmlns:a16="http://schemas.microsoft.com/office/drawing/2014/main" id="{D47AAA4B-D281-427E-BAC4-D5F62898437D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5" name="Полилиния: фигура 137">
              <a:extLst>
                <a:ext uri="{FF2B5EF4-FFF2-40B4-BE49-F238E27FC236}">
                  <a16:creationId xmlns:a16="http://schemas.microsoft.com/office/drawing/2014/main" id="{823D4674-1A2A-48E7-B4DA-A42E405310E0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6" name="Полилиния: фигура 138">
              <a:extLst>
                <a:ext uri="{FF2B5EF4-FFF2-40B4-BE49-F238E27FC236}">
                  <a16:creationId xmlns:a16="http://schemas.microsoft.com/office/drawing/2014/main" id="{7BC3B1FB-1495-4E36-8EB9-93EF38676010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7" name="Полилиния: фигура 139">
              <a:extLst>
                <a:ext uri="{FF2B5EF4-FFF2-40B4-BE49-F238E27FC236}">
                  <a16:creationId xmlns:a16="http://schemas.microsoft.com/office/drawing/2014/main" id="{FDB19B41-A84E-4B11-A0ED-F860FCD6F6BE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08" name="Group 3">
            <a:extLst>
              <a:ext uri="{FF2B5EF4-FFF2-40B4-BE49-F238E27FC236}">
                <a16:creationId xmlns:a16="http://schemas.microsoft.com/office/drawing/2014/main" id="{2C396022-24DB-49F4-82D7-72D90E7F10C3}"/>
              </a:ext>
            </a:extLst>
          </p:cNvPr>
          <p:cNvGrpSpPr/>
          <p:nvPr/>
        </p:nvGrpSpPr>
        <p:grpSpPr>
          <a:xfrm>
            <a:off x="2705123" y="5979268"/>
            <a:ext cx="9377373" cy="807339"/>
            <a:chOff x="6067425" y="5621337"/>
            <a:chExt cx="5954713" cy="400050"/>
          </a:xfrm>
        </p:grpSpPr>
        <p:sp>
          <p:nvSpPr>
            <p:cNvPr id="109" name="TextBox 8">
              <a:extLst>
                <a:ext uri="{FF2B5EF4-FFF2-40B4-BE49-F238E27FC236}">
                  <a16:creationId xmlns:a16="http://schemas.microsoft.com/office/drawing/2014/main" id="{AA91A44F-B190-9F94-8D94-6BCBB0C1E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9267" y="5675955"/>
              <a:ext cx="127801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Автоматическое выполнение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10" name="TextBox 9">
              <a:extLst>
                <a:ext uri="{FF2B5EF4-FFF2-40B4-BE49-F238E27FC236}">
                  <a16:creationId xmlns:a16="http://schemas.microsoft.com/office/drawing/2014/main" id="{D0F700B2-B57C-8465-25E0-6A72E0CA1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8877" y="5683996"/>
              <a:ext cx="91404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Ручное выполнение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11" name="TextBox 10">
              <a:extLst>
                <a:ext uri="{FF2B5EF4-FFF2-40B4-BE49-F238E27FC236}">
                  <a16:creationId xmlns:a16="http://schemas.microsoft.com/office/drawing/2014/main" id="{AA1DD995-547A-BE1D-1152-94060C53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5378" y="5704244"/>
              <a:ext cx="1023967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Визуальная валидация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12" name="Rectangle 13">
              <a:extLst>
                <a:ext uri="{FF2B5EF4-FFF2-40B4-BE49-F238E27FC236}">
                  <a16:creationId xmlns:a16="http://schemas.microsoft.com/office/drawing/2014/main" id="{A29A6068-11D6-5A3B-901C-216B464C7145}"/>
                </a:ext>
              </a:extLst>
            </p:cNvPr>
            <p:cNvSpPr/>
            <p:nvPr/>
          </p:nvSpPr>
          <p:spPr>
            <a:xfrm>
              <a:off x="6067425" y="5621337"/>
              <a:ext cx="5954713" cy="400050"/>
            </a:xfrm>
            <a:prstGeom prst="rect">
              <a:avLst/>
            </a:prstGeom>
            <a:noFill/>
            <a:ln w="19050">
              <a:solidFill>
                <a:srgbClr val="000000">
                  <a:lumMod val="85000"/>
                </a:srgbClr>
              </a:solidFill>
              <a:prstDash val="sysDot"/>
            </a:ln>
          </p:spPr>
          <p:style>
            <a:lnRef idx="2">
              <a:srgbClr val="8F0D6B">
                <a:shade val="50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pic>
        <p:nvPicPr>
          <p:cNvPr id="113" name="Рисунок 147">
            <a:extLst>
              <a:ext uri="{FF2B5EF4-FFF2-40B4-BE49-F238E27FC236}">
                <a16:creationId xmlns:a16="http://schemas.microsoft.com/office/drawing/2014/main" id="{FAB3AA1A-A623-491E-A9CE-E8074C042A69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04982" y="4422445"/>
            <a:ext cx="271806" cy="159886"/>
          </a:xfrm>
          <a:prstGeom prst="rect">
            <a:avLst/>
          </a:prstGeom>
        </p:spPr>
      </p:pic>
      <p:cxnSp>
        <p:nvCxnSpPr>
          <p:cNvPr id="114" name="Connector: Elbow 6">
            <a:extLst>
              <a:ext uri="{FF2B5EF4-FFF2-40B4-BE49-F238E27FC236}">
                <a16:creationId xmlns:a16="http://schemas.microsoft.com/office/drawing/2014/main" id="{86A50A58-AC0D-45A5-8E28-42C74A2C1D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24470" y="893430"/>
            <a:ext cx="7256" cy="210312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15" name="Connector: Elbow 110">
            <a:extLst>
              <a:ext uri="{FF2B5EF4-FFF2-40B4-BE49-F238E27FC236}">
                <a16:creationId xmlns:a16="http://schemas.microsoft.com/office/drawing/2014/main" id="{F0B247EA-E5A5-4FCC-A735-3CA9694009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0940" y="1133315"/>
            <a:ext cx="7256" cy="164592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16" name="Connector: Elbow 111">
            <a:extLst>
              <a:ext uri="{FF2B5EF4-FFF2-40B4-BE49-F238E27FC236}">
                <a16:creationId xmlns:a16="http://schemas.microsoft.com/office/drawing/2014/main" id="{39DAF182-9133-41BC-8F3C-3573AC31D2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9818" y="1095557"/>
            <a:ext cx="7256" cy="173736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17" name="Connector: Elbow 112">
            <a:extLst>
              <a:ext uri="{FF2B5EF4-FFF2-40B4-BE49-F238E27FC236}">
                <a16:creationId xmlns:a16="http://schemas.microsoft.com/office/drawing/2014/main" id="{9BD58008-A9A8-429E-B9D3-00849CB606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4384" y="1312530"/>
            <a:ext cx="7256" cy="128016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18" name="Connector: Elbow 113">
            <a:extLst>
              <a:ext uri="{FF2B5EF4-FFF2-40B4-BE49-F238E27FC236}">
                <a16:creationId xmlns:a16="http://schemas.microsoft.com/office/drawing/2014/main" id="{7ABEEA9E-1C21-4EDD-A8A9-83603469B0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5128" y="1032038"/>
            <a:ext cx="7256" cy="1828800"/>
          </a:xfrm>
          <a:prstGeom prst="bentConnector3">
            <a:avLst>
              <a:gd name="adj1" fmla="val -3150496"/>
            </a:avLst>
          </a:prstGeom>
          <a:ln w="12700">
            <a:solidFill>
              <a:srgbClr val="7D70E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119" name="TextBox 115">
            <a:extLst>
              <a:ext uri="{FF2B5EF4-FFF2-40B4-BE49-F238E27FC236}">
                <a16:creationId xmlns:a16="http://schemas.microsoft.com/office/drawing/2014/main" id="{E033E05B-8135-4665-B343-646F17631351}"/>
              </a:ext>
            </a:extLst>
          </p:cNvPr>
          <p:cNvSpPr txBox="1"/>
          <p:nvPr/>
        </p:nvSpPr>
        <p:spPr>
          <a:xfrm>
            <a:off x="275821" y="2092181"/>
            <a:ext cx="19383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Локальная среда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 /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feature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0" name="TextBox 162">
            <a:extLst>
              <a:ext uri="{FF2B5EF4-FFF2-40B4-BE49-F238E27FC236}">
                <a16:creationId xmlns:a16="http://schemas.microsoft.com/office/drawing/2014/main" id="{A202C026-7966-4FE9-AB55-8C963C6C8FC2}"/>
              </a:ext>
            </a:extLst>
          </p:cNvPr>
          <p:cNvSpPr txBox="1"/>
          <p:nvPr/>
        </p:nvSpPr>
        <p:spPr>
          <a:xfrm>
            <a:off x="2421421" y="2089460"/>
            <a:ext cx="15686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Pull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-реквест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1" name="TextBox 199">
            <a:extLst>
              <a:ext uri="{FF2B5EF4-FFF2-40B4-BE49-F238E27FC236}">
                <a16:creationId xmlns:a16="http://schemas.microsoft.com/office/drawing/2014/main" id="{66DA722D-97E9-4B99-8F34-137CFFF59C91}"/>
              </a:ext>
            </a:extLst>
          </p:cNvPr>
          <p:cNvSpPr txBox="1"/>
          <p:nvPr/>
        </p:nvSpPr>
        <p:spPr>
          <a:xfrm>
            <a:off x="4305759" y="2084347"/>
            <a:ext cx="1629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Master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2" name="TextBox 203">
            <a:extLst>
              <a:ext uri="{FF2B5EF4-FFF2-40B4-BE49-F238E27FC236}">
                <a16:creationId xmlns:a16="http://schemas.microsoft.com/office/drawing/2014/main" id="{06EB4980-4180-4AA7-BA1C-BFF0F9EF653D}"/>
              </a:ext>
            </a:extLst>
          </p:cNvPr>
          <p:cNvSpPr txBox="1"/>
          <p:nvPr/>
        </p:nvSpPr>
        <p:spPr>
          <a:xfrm>
            <a:off x="6500349" y="5475612"/>
            <a:ext cx="12768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3" name="TextBox 221">
            <a:extLst>
              <a:ext uri="{FF2B5EF4-FFF2-40B4-BE49-F238E27FC236}">
                <a16:creationId xmlns:a16="http://schemas.microsoft.com/office/drawing/2014/main" id="{33AF0E41-24DC-4F5C-B61B-6222AE85C3BA}"/>
              </a:ext>
            </a:extLst>
          </p:cNvPr>
          <p:cNvSpPr txBox="1"/>
          <p:nvPr/>
        </p:nvSpPr>
        <p:spPr>
          <a:xfrm>
            <a:off x="6210292" y="3599704"/>
            <a:ext cx="1465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PERF</a:t>
            </a:r>
            <a:r>
              <a:rPr lang="ru-RU" sz="10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 стенд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4" name="TextBox 241">
            <a:extLst>
              <a:ext uri="{FF2B5EF4-FFF2-40B4-BE49-F238E27FC236}">
                <a16:creationId xmlns:a16="http://schemas.microsoft.com/office/drawing/2014/main" id="{0433FFF4-D5DF-4981-97E2-5D370FA27279}"/>
              </a:ext>
            </a:extLst>
          </p:cNvPr>
          <p:cNvSpPr txBox="1"/>
          <p:nvPr/>
        </p:nvSpPr>
        <p:spPr>
          <a:xfrm>
            <a:off x="6181476" y="2085467"/>
            <a:ext cx="14608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70EF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QA</a:t>
            </a:r>
            <a:r>
              <a:rPr lang="ru-RU" sz="11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 стенд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5" name="TextBox 269">
            <a:extLst>
              <a:ext uri="{FF2B5EF4-FFF2-40B4-BE49-F238E27FC236}">
                <a16:creationId xmlns:a16="http://schemas.microsoft.com/office/drawing/2014/main" id="{573BFE27-9309-4C98-BBBA-594F8B200BFD}"/>
              </a:ext>
            </a:extLst>
          </p:cNvPr>
          <p:cNvSpPr txBox="1"/>
          <p:nvPr/>
        </p:nvSpPr>
        <p:spPr>
          <a:xfrm>
            <a:off x="7975852" y="2080532"/>
            <a:ext cx="17947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/>
            </a:pPr>
            <a:r>
              <a:rPr lang="ru-RU" sz="11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Интеграционный стенд</a:t>
            </a:r>
            <a:endParaRPr lang="en-US" sz="1100" dirty="0">
              <a:solidFill>
                <a:srgbClr val="7D70EF"/>
              </a:solidFill>
            </a:endParaRPr>
          </a:p>
        </p:txBody>
      </p:sp>
      <p:sp>
        <p:nvSpPr>
          <p:cNvPr id="126" name="TextBox 289">
            <a:extLst>
              <a:ext uri="{FF2B5EF4-FFF2-40B4-BE49-F238E27FC236}">
                <a16:creationId xmlns:a16="http://schemas.microsoft.com/office/drawing/2014/main" id="{A06CDED0-D4E7-4EB8-B9DA-CDCDC2BCBF4C}"/>
              </a:ext>
            </a:extLst>
          </p:cNvPr>
          <p:cNvSpPr txBox="1"/>
          <p:nvPr/>
        </p:nvSpPr>
        <p:spPr>
          <a:xfrm>
            <a:off x="10077569" y="2089460"/>
            <a:ext cx="1752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defRPr/>
            </a:pPr>
            <a:r>
              <a:rPr lang="ru-RU" sz="1100" b="0" dirty="0" err="1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Продуктив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pic>
        <p:nvPicPr>
          <p:cNvPr id="127" name="Рисунок 146">
            <a:extLst>
              <a:ext uri="{FF2B5EF4-FFF2-40B4-BE49-F238E27FC236}">
                <a16:creationId xmlns:a16="http://schemas.microsoft.com/office/drawing/2014/main" id="{F7C4E8CF-84DF-4D1A-901B-4A1433D96DE7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31044" y="6206172"/>
            <a:ext cx="271806" cy="159886"/>
          </a:xfrm>
          <a:prstGeom prst="rect">
            <a:avLst/>
          </a:prstGeom>
        </p:spPr>
      </p:pic>
      <p:grpSp>
        <p:nvGrpSpPr>
          <p:cNvPr id="129" name="Группа 98">
            <a:extLst>
              <a:ext uri="{FF2B5EF4-FFF2-40B4-BE49-F238E27FC236}">
                <a16:creationId xmlns:a16="http://schemas.microsoft.com/office/drawing/2014/main" id="{D574A666-471D-4C65-AF10-E7FE7FCD5545}"/>
              </a:ext>
            </a:extLst>
          </p:cNvPr>
          <p:cNvGrpSpPr/>
          <p:nvPr/>
        </p:nvGrpSpPr>
        <p:grpSpPr>
          <a:xfrm>
            <a:off x="4981911" y="6105483"/>
            <a:ext cx="174185" cy="288493"/>
            <a:chOff x="5731348" y="5855133"/>
            <a:chExt cx="243840" cy="403859"/>
          </a:xfrm>
        </p:grpSpPr>
        <p:sp>
          <p:nvSpPr>
            <p:cNvPr id="130" name="Полилиния: фигура 99">
              <a:extLst>
                <a:ext uri="{FF2B5EF4-FFF2-40B4-BE49-F238E27FC236}">
                  <a16:creationId xmlns:a16="http://schemas.microsoft.com/office/drawing/2014/main" id="{EDC68F7C-9534-46FA-91E5-6EB98F4FB91F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1" name="Полилиния: фигура 100">
              <a:extLst>
                <a:ext uri="{FF2B5EF4-FFF2-40B4-BE49-F238E27FC236}">
                  <a16:creationId xmlns:a16="http://schemas.microsoft.com/office/drawing/2014/main" id="{648EA51F-69CE-4992-819A-98D3CC5AF637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2" name="Полилиния: фигура 101">
              <a:extLst>
                <a:ext uri="{FF2B5EF4-FFF2-40B4-BE49-F238E27FC236}">
                  <a16:creationId xmlns:a16="http://schemas.microsoft.com/office/drawing/2014/main" id="{9E1BD27F-44B7-439A-90A5-0169EEAA5FE2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3" name="Полилиния: фигура 102">
              <a:extLst>
                <a:ext uri="{FF2B5EF4-FFF2-40B4-BE49-F238E27FC236}">
                  <a16:creationId xmlns:a16="http://schemas.microsoft.com/office/drawing/2014/main" id="{F2347628-E93B-4C5E-9672-C6A3BC1991D2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4" name="Полилиния: фигура 103">
              <a:extLst>
                <a:ext uri="{FF2B5EF4-FFF2-40B4-BE49-F238E27FC236}">
                  <a16:creationId xmlns:a16="http://schemas.microsoft.com/office/drawing/2014/main" id="{713050F6-D31A-41E8-9EDD-D3CDDD803613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sp>
        <p:nvSpPr>
          <p:cNvPr id="135" name="TextBox 10">
            <a:extLst>
              <a:ext uri="{FF2B5EF4-FFF2-40B4-BE49-F238E27FC236}">
                <a16:creationId xmlns:a16="http://schemas.microsoft.com/office/drawing/2014/main" id="{D38CBFF7-FC2E-441E-9072-0B3BA690F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0464" y="6146582"/>
            <a:ext cx="211278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Использование </a:t>
            </a:r>
            <a:r>
              <a:rPr lang="en-US" altLang="en-RU" sz="900" spc="70" dirty="0">
                <a:solidFill>
                  <a:srgbClr val="000000"/>
                </a:solidFill>
                <a:latin typeface="+mn-lt"/>
              </a:rPr>
              <a:t>AI</a:t>
            </a: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 в создании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36" name="Picture 142" descr="A red circle with dots&#10;&#10;AI-generated content may be incorrect.">
            <a:extLst>
              <a:ext uri="{FF2B5EF4-FFF2-40B4-BE49-F238E27FC236}">
                <a16:creationId xmlns:a16="http://schemas.microsoft.com/office/drawing/2014/main" id="{9CFA92AB-5636-42DC-B8AF-1D223E4583EE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8514855" y="6114320"/>
            <a:ext cx="320212" cy="320212"/>
          </a:xfrm>
          <a:prstGeom prst="rect">
            <a:avLst/>
          </a:prstGeom>
        </p:spPr>
      </p:pic>
      <p:pic>
        <p:nvPicPr>
          <p:cNvPr id="137" name="Picture 143" descr="A red circle with dots&#10;&#10;AI-generated content may be incorrect.">
            <a:extLst>
              <a:ext uri="{FF2B5EF4-FFF2-40B4-BE49-F238E27FC236}">
                <a16:creationId xmlns:a16="http://schemas.microsoft.com/office/drawing/2014/main" id="{806CB9D6-1DE6-4742-BA45-381684B7B8C6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347928" y="3089393"/>
            <a:ext cx="320212" cy="320212"/>
          </a:xfrm>
          <a:prstGeom prst="rect">
            <a:avLst/>
          </a:prstGeom>
        </p:spPr>
      </p:pic>
      <p:pic>
        <p:nvPicPr>
          <p:cNvPr id="138" name="Picture 145" descr="A red circle with dots&#10;&#10;AI-generated content may be incorrect.">
            <a:extLst>
              <a:ext uri="{FF2B5EF4-FFF2-40B4-BE49-F238E27FC236}">
                <a16:creationId xmlns:a16="http://schemas.microsoft.com/office/drawing/2014/main" id="{03B66C0A-9FAE-4931-8D14-AA5446397F60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2438955" y="3118879"/>
            <a:ext cx="320212" cy="320212"/>
          </a:xfrm>
          <a:prstGeom prst="rect">
            <a:avLst/>
          </a:prstGeom>
        </p:spPr>
      </p:pic>
      <p:pic>
        <p:nvPicPr>
          <p:cNvPr id="139" name="Picture 166" descr="A red circle with dots&#10;&#10;AI-generated content may be incorrect.">
            <a:extLst>
              <a:ext uri="{FF2B5EF4-FFF2-40B4-BE49-F238E27FC236}">
                <a16:creationId xmlns:a16="http://schemas.microsoft.com/office/drawing/2014/main" id="{7CFECC88-C036-4585-9366-2A1C2BFEF63D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2437188" y="4417149"/>
            <a:ext cx="320212" cy="320212"/>
          </a:xfrm>
          <a:prstGeom prst="rect">
            <a:avLst/>
          </a:prstGeom>
        </p:spPr>
      </p:pic>
      <p:pic>
        <p:nvPicPr>
          <p:cNvPr id="140" name="Picture 167" descr="A red circle with dots&#10;&#10;AI-generated content may be incorrect.">
            <a:extLst>
              <a:ext uri="{FF2B5EF4-FFF2-40B4-BE49-F238E27FC236}">
                <a16:creationId xmlns:a16="http://schemas.microsoft.com/office/drawing/2014/main" id="{0C2D5DB1-4203-48AB-A0A1-7988670745EC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4296195" y="3100266"/>
            <a:ext cx="320212" cy="320212"/>
          </a:xfrm>
          <a:prstGeom prst="rect">
            <a:avLst/>
          </a:prstGeom>
        </p:spPr>
      </p:pic>
      <p:pic>
        <p:nvPicPr>
          <p:cNvPr id="141" name="Picture 171" descr="A red circle with dots&#10;&#10;AI-generated content may be incorrect.">
            <a:extLst>
              <a:ext uri="{FF2B5EF4-FFF2-40B4-BE49-F238E27FC236}">
                <a16:creationId xmlns:a16="http://schemas.microsoft.com/office/drawing/2014/main" id="{01E12AC8-4C68-402E-BC79-19CE0879D44E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6167432" y="4368607"/>
            <a:ext cx="320212" cy="320212"/>
          </a:xfrm>
          <a:prstGeom prst="rect">
            <a:avLst/>
          </a:prstGeom>
        </p:spPr>
      </p:pic>
      <p:pic>
        <p:nvPicPr>
          <p:cNvPr id="142" name="Picture 173" descr="A red circle with dots&#10;&#10;AI-generated content may be incorrect.">
            <a:extLst>
              <a:ext uri="{FF2B5EF4-FFF2-40B4-BE49-F238E27FC236}">
                <a16:creationId xmlns:a16="http://schemas.microsoft.com/office/drawing/2014/main" id="{20387BCF-FBC0-4599-8B25-1DA1AE3389E4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6181476" y="2746418"/>
            <a:ext cx="320212" cy="320212"/>
          </a:xfrm>
          <a:prstGeom prst="rect">
            <a:avLst/>
          </a:prstGeom>
        </p:spPr>
      </p:pic>
      <p:pic>
        <p:nvPicPr>
          <p:cNvPr id="143" name="Picture 175" descr="A red circle with dots&#10;&#10;AI-generated content may be incorrect.">
            <a:extLst>
              <a:ext uri="{FF2B5EF4-FFF2-40B4-BE49-F238E27FC236}">
                <a16:creationId xmlns:a16="http://schemas.microsoft.com/office/drawing/2014/main" id="{3DFDA790-F0E9-4D57-9A61-57D74AEF5CEF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2430932" y="4942946"/>
            <a:ext cx="320212" cy="320212"/>
          </a:xfrm>
          <a:prstGeom prst="rect">
            <a:avLst/>
          </a:prstGeom>
        </p:spPr>
      </p:pic>
      <p:pic>
        <p:nvPicPr>
          <p:cNvPr id="144" name="Рисунок 81">
            <a:extLst>
              <a:ext uri="{FF2B5EF4-FFF2-40B4-BE49-F238E27FC236}">
                <a16:creationId xmlns:a16="http://schemas.microsoft.com/office/drawing/2014/main" id="{BF45DB4F-A11C-4405-8764-50F9C862ECF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88319" y="3628777"/>
            <a:ext cx="228169" cy="228169"/>
          </a:xfrm>
          <a:prstGeom prst="rect">
            <a:avLst/>
          </a:prstGeom>
        </p:spPr>
      </p:pic>
      <p:pic>
        <p:nvPicPr>
          <p:cNvPr id="145" name="Рисунок 81">
            <a:extLst>
              <a:ext uri="{FF2B5EF4-FFF2-40B4-BE49-F238E27FC236}">
                <a16:creationId xmlns:a16="http://schemas.microsoft.com/office/drawing/2014/main" id="{0966F25D-9919-455F-8CE9-B33A4B163F1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461012" y="3580620"/>
            <a:ext cx="228169" cy="228169"/>
          </a:xfrm>
          <a:prstGeom prst="rect">
            <a:avLst/>
          </a:prstGeom>
        </p:spPr>
      </p:pic>
      <p:pic>
        <p:nvPicPr>
          <p:cNvPr id="146" name="Рисунок 81">
            <a:extLst>
              <a:ext uri="{FF2B5EF4-FFF2-40B4-BE49-F238E27FC236}">
                <a16:creationId xmlns:a16="http://schemas.microsoft.com/office/drawing/2014/main" id="{EFE2627E-E596-410B-BE18-9F608492D4D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323449" y="3589614"/>
            <a:ext cx="228169" cy="228169"/>
          </a:xfrm>
          <a:prstGeom prst="rect">
            <a:avLst/>
          </a:prstGeom>
        </p:spPr>
      </p:pic>
      <p:sp>
        <p:nvSpPr>
          <p:cNvPr id="147" name="TextBox 10">
            <a:extLst>
              <a:ext uri="{FF2B5EF4-FFF2-40B4-BE49-F238E27FC236}">
                <a16:creationId xmlns:a16="http://schemas.microsoft.com/office/drawing/2014/main" id="{8D3B73A0-BAD4-4D08-83FC-C3A4A72A1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717" y="6509765"/>
            <a:ext cx="221982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Использование </a:t>
            </a:r>
            <a:r>
              <a:rPr lang="en-US" altLang="en-RU" sz="900" spc="70" dirty="0">
                <a:solidFill>
                  <a:srgbClr val="000000"/>
                </a:solidFill>
                <a:latin typeface="+mn-lt"/>
              </a:rPr>
              <a:t>AI</a:t>
            </a: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 в процессах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48" name="Picture 146" descr="A red and black logo&#10;&#10;AI-generated content may be incorrect.">
            <a:extLst>
              <a:ext uri="{FF2B5EF4-FFF2-40B4-BE49-F238E27FC236}">
                <a16:creationId xmlns:a16="http://schemas.microsoft.com/office/drawing/2014/main" id="{D39C4D21-388B-4B30-ADAE-5788930E63BF}"/>
              </a:ext>
            </a:extLst>
          </p:cNvPr>
          <p:cNvPicPr>
            <a:picLocks noChangeAspect="1"/>
          </p:cNvPicPr>
          <p:nvPr/>
        </p:nvPicPr>
        <p:blipFill>
          <a:blip r:embed="rId28">
            <a:biLevel thresh="25000"/>
            <a:extLst/>
          </a:blip>
          <a:stretch>
            <a:fillRect/>
          </a:stretch>
        </p:blipFill>
        <p:spPr>
          <a:xfrm>
            <a:off x="8508631" y="6466794"/>
            <a:ext cx="326436" cy="326436"/>
          </a:xfrm>
          <a:prstGeom prst="rect">
            <a:avLst/>
          </a:prstGeom>
        </p:spPr>
      </p:pic>
      <p:pic>
        <p:nvPicPr>
          <p:cNvPr id="149" name="Picture 148" descr="A red and black logo&#10;&#10;AI-generated content may be incorrect.">
            <a:extLst>
              <a:ext uri="{FF2B5EF4-FFF2-40B4-BE49-F238E27FC236}">
                <a16:creationId xmlns:a16="http://schemas.microsoft.com/office/drawing/2014/main" id="{6DD08955-8709-4E0D-BEC1-7443A8608411}"/>
              </a:ext>
            </a:extLst>
          </p:cNvPr>
          <p:cNvPicPr>
            <a:picLocks noChangeAspect="1"/>
          </p:cNvPicPr>
          <p:nvPr/>
        </p:nvPicPr>
        <p:blipFill>
          <a:blip r:embed="rId28">
            <a:biLevel thresh="25000"/>
            <a:extLst/>
          </a:blip>
          <a:stretch>
            <a:fillRect/>
          </a:stretch>
        </p:blipFill>
        <p:spPr>
          <a:xfrm>
            <a:off x="2438122" y="5463254"/>
            <a:ext cx="326436" cy="326436"/>
          </a:xfrm>
          <a:prstGeom prst="rect">
            <a:avLst/>
          </a:prstGeom>
        </p:spPr>
      </p:pic>
      <p:pic>
        <p:nvPicPr>
          <p:cNvPr id="150" name="Picture 169" descr="A red and black logo&#10;&#10;AI-generated content may be incorrect.">
            <a:extLst>
              <a:ext uri="{FF2B5EF4-FFF2-40B4-BE49-F238E27FC236}">
                <a16:creationId xmlns:a16="http://schemas.microsoft.com/office/drawing/2014/main" id="{FC667ACB-CF1A-4C97-B7A2-FEBA7EC202A9}"/>
              </a:ext>
            </a:extLst>
          </p:cNvPr>
          <p:cNvPicPr>
            <a:picLocks noChangeAspect="1"/>
          </p:cNvPicPr>
          <p:nvPr/>
        </p:nvPicPr>
        <p:blipFill>
          <a:blip r:embed="rId28">
            <a:biLevel thresh="25000"/>
            <a:extLst/>
          </a:blip>
          <a:stretch>
            <a:fillRect/>
          </a:stretch>
        </p:blipFill>
        <p:spPr>
          <a:xfrm>
            <a:off x="4308660" y="4626665"/>
            <a:ext cx="326436" cy="326436"/>
          </a:xfrm>
          <a:prstGeom prst="rect">
            <a:avLst/>
          </a:prstGeom>
        </p:spPr>
      </p:pic>
      <p:pic>
        <p:nvPicPr>
          <p:cNvPr id="151" name="Picture 185" descr="A red circle with dots&#10;&#10;AI-generated content may be incorrect.">
            <a:extLst>
              <a:ext uri="{FF2B5EF4-FFF2-40B4-BE49-F238E27FC236}">
                <a16:creationId xmlns:a16="http://schemas.microsoft.com/office/drawing/2014/main" id="{C6474C8D-498A-4E79-AB96-44DC79C106D5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7979785" y="2637658"/>
            <a:ext cx="320212" cy="320212"/>
          </a:xfrm>
          <a:prstGeom prst="rect">
            <a:avLst/>
          </a:prstGeom>
        </p:spPr>
      </p:pic>
      <p:pic>
        <p:nvPicPr>
          <p:cNvPr id="152" name="Picture 187" descr="A red circle with dots&#10;&#10;AI-generated content may be incorrect.">
            <a:extLst>
              <a:ext uri="{FF2B5EF4-FFF2-40B4-BE49-F238E27FC236}">
                <a16:creationId xmlns:a16="http://schemas.microsoft.com/office/drawing/2014/main" id="{FFACAF10-6A1B-40F5-B995-9D15DE1C690C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7999289" y="3238478"/>
            <a:ext cx="320212" cy="320212"/>
          </a:xfrm>
          <a:prstGeom prst="rect">
            <a:avLst/>
          </a:prstGeom>
        </p:spPr>
      </p:pic>
      <p:pic>
        <p:nvPicPr>
          <p:cNvPr id="153" name="Picture 188" descr="A red circle with dots&#10;&#10;AI-generated content may be incorrect.">
            <a:extLst>
              <a:ext uri="{FF2B5EF4-FFF2-40B4-BE49-F238E27FC236}">
                <a16:creationId xmlns:a16="http://schemas.microsoft.com/office/drawing/2014/main" id="{8828CC2F-ABF9-4583-A451-6303C82A3EED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7998682" y="3865710"/>
            <a:ext cx="320212" cy="320212"/>
          </a:xfrm>
          <a:prstGeom prst="rect">
            <a:avLst/>
          </a:prstGeom>
        </p:spPr>
      </p:pic>
      <p:pic>
        <p:nvPicPr>
          <p:cNvPr id="154" name="Picture 189" descr="A red circle with dots&#10;&#10;AI-generated content may be incorrect.">
            <a:extLst>
              <a:ext uri="{FF2B5EF4-FFF2-40B4-BE49-F238E27FC236}">
                <a16:creationId xmlns:a16="http://schemas.microsoft.com/office/drawing/2014/main" id="{DC698B03-7DB9-4E95-B5A1-10101E8BF96B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7979785" y="4811051"/>
            <a:ext cx="320212" cy="320212"/>
          </a:xfrm>
          <a:prstGeom prst="rect">
            <a:avLst/>
          </a:prstGeom>
        </p:spPr>
      </p:pic>
      <p:pic>
        <p:nvPicPr>
          <p:cNvPr id="155" name="Picture 191" descr="A red circle with dots&#10;&#10;AI-generated content may be incorrect.">
            <a:extLst>
              <a:ext uri="{FF2B5EF4-FFF2-40B4-BE49-F238E27FC236}">
                <a16:creationId xmlns:a16="http://schemas.microsoft.com/office/drawing/2014/main" id="{A6B41D1C-2288-4161-99E5-3B3F04DABD03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25000"/>
            <a:extLst/>
          </a:blip>
          <a:stretch>
            <a:fillRect/>
          </a:stretch>
        </p:blipFill>
        <p:spPr>
          <a:xfrm>
            <a:off x="10093656" y="3867875"/>
            <a:ext cx="320212" cy="320212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AI в тестировании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B8A6115-FA00-45FD-8218-8D5D83BCBC14}"/>
              </a:ext>
            </a:extLst>
          </p:cNvPr>
          <p:cNvSpPr>
            <a:spLocks noGrp="1"/>
          </p:cNvSpPr>
          <p:nvPr/>
        </p:nvSpPr>
        <p:spPr>
          <a:xfrm>
            <a:off x="501535" y="1010652"/>
            <a:ext cx="11160123" cy="2261068"/>
          </a:xfrm>
        </p:spPr>
        <p:txBody>
          <a:bodyPr>
            <a:noAutofit/>
          </a:bodyPr>
          <a:lstStyle/>
          <a:p>
            <a:pPr indent="0"/>
            <a:r>
              <a:rPr lang="ru-RU" dirty="0" sz="1350" b="0">
                <a:solidFill>
                  <a:srgbClr val="000000"/>
                </a:solidFill>
                <a:latin typeface="Stapel"/>
              </a:rPr>
              <a:t>ИИ* используется для: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350" b="0">
                <a:solidFill>
                  <a:srgbClr val="000000"/>
                </a:solidFill>
                <a:latin typeface="Stapel"/>
              </a:rPr>
              <a:t>Углублённый анализ и уточнение требований.</a:t>
            </a:r>
            <a:endParaRPr lang="en-US" dirty="0" sz="1750"/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350" b="0">
                <a:solidFill>
                  <a:srgbClr val="000000"/>
                </a:solidFill>
                <a:latin typeface="Stapel"/>
              </a:rPr>
              <a:t>Сокращение времени на подготовку тестовых артефактов.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350" b="0">
                <a:solidFill>
                  <a:srgbClr val="000000"/>
                </a:solidFill>
                <a:latin typeface="Stapel"/>
              </a:rPr>
              <a:t>Повышение эффективности разработки тестов, включая выявление неочевидных и скрытых сценариев.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350" b="0">
                <a:solidFill>
                  <a:srgbClr val="000000"/>
                </a:solidFill>
                <a:latin typeface="Stapel"/>
              </a:rPr>
              <a:t>Ускорение актуализации уже существующих тест‑кейсов.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350" b="0">
                <a:solidFill>
                  <a:srgbClr val="000000"/>
                </a:solidFill>
                <a:latin typeface="Stapel"/>
              </a:rPr>
              <a:t>Более быстрое формирование тестовой стратегии.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350" b="0">
                <a:solidFill>
                  <a:srgbClr val="000000"/>
                </a:solidFill>
                <a:latin typeface="Stapel"/>
              </a:rPr>
              <a:t>Рост скорости разработки автоматизированных тестов.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350" b="0">
                <a:solidFill>
                  <a:srgbClr val="000000"/>
                </a:solidFill>
                <a:latin typeface="Stapel"/>
              </a:rPr>
              <a:t>Проведение </a:t>
            </a:r>
            <a:r>
              <a:rPr lang="ru-RU" dirty="0" err="1" sz="1350" b="0">
                <a:solidFill>
                  <a:srgbClr val="000000"/>
                </a:solidFill>
                <a:latin typeface="Stapel"/>
              </a:rPr>
              <a:t>ревью</a:t>
            </a:r>
            <a:r>
              <a:rPr lang="ru-RU" dirty="0" sz="1350" b="0">
                <a:solidFill>
                  <a:srgbClr val="000000"/>
                </a:solidFill>
                <a:latin typeface="Stapel"/>
              </a:rPr>
              <a:t> тест‑кейсов с поддержкой инструментария.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350" b="0">
                <a:solidFill>
                  <a:srgbClr val="000000"/>
                </a:solidFill>
                <a:latin typeface="Stapel"/>
              </a:rPr>
              <a:t>Автоматическая генерация и наглядная визуализация схемы связей таблиц БД с помощью нашего решения </a:t>
            </a:r>
            <a:r>
              <a:rPr lang="en-US" dirty="0" err="1" sz="1350" b="0">
                <a:solidFill>
                  <a:srgbClr val="000000"/>
                </a:solidFill>
                <a:latin typeface="Stapel"/>
              </a:rPr>
              <a:t>CodeScope</a:t>
            </a:r>
            <a:r>
              <a:rPr lang="ru-RU" dirty="0" sz="1350" b="0">
                <a:solidFill>
                  <a:srgbClr val="000000"/>
                </a:solidFill>
                <a:latin typeface="Stapel"/>
              </a:rPr>
              <a:t>.</a:t>
            </a: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4500C3AC-72FD-4E50-829F-BB6FAEC81F3E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506164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ИИ в тестировании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23991B3-1FDB-403A-B7BC-26183BD364D6}"/>
              </a:ext>
            </a:extLst>
          </p:cNvPr>
          <p:cNvSpPr txBox="1"/>
          <p:nvPr/>
        </p:nvSpPr>
        <p:spPr>
          <a:xfrm>
            <a:off x="501535" y="5861211"/>
            <a:ext cx="4359057" cy="1377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ru-RU" dirty="0" sz="7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*ИИ‑модели развернуты в локальном (</a:t>
            </a:r>
            <a:r>
              <a:rPr lang="ru-RU" dirty="0" err="1" sz="7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on‑premise</a:t>
            </a:r>
            <a:r>
              <a:rPr lang="ru-RU" dirty="0" sz="7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) контуре и изолированы от доступа к интернету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ABCB56DB-9859-4BC6-8A2F-CC98E7161FFA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ИИ – новый член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QA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команды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F532F09-C273-4B94-9893-5AE8A9056308}"/>
              </a:ext>
            </a:extLst>
          </p:cNvPr>
          <p:cNvSpPr>
            <a:spLocks noGrp="1"/>
          </p:cNvSpPr>
          <p:nvPr/>
        </p:nvSpPr>
        <p:spPr>
          <a:xfrm>
            <a:off x="6290511" y="1010652"/>
            <a:ext cx="5385550" cy="5190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z="1050" b="0">
                <a:solidFill>
                  <a:srgbClr val="000000"/>
                </a:solidFill>
                <a:latin typeface="Stapel"/>
              </a:rPr>
              <a:t>Несколько 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QA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 в команде</a:t>
            </a:r>
          </a:p>
          <a:p>
            <a:pPr marL="0" indent="0">
              <a:buNone/>
            </a:pPr>
            <a:r>
              <a:rPr lang="ru-RU" dirty="0" sz="1050" b="0">
                <a:solidFill>
                  <a:srgbClr val="000000"/>
                </a:solidFill>
                <a:latin typeface="Stapel"/>
              </a:rPr>
              <a:t>ИИ помогает (синхронизация работы команды):</a:t>
            </a:r>
          </a:p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Стандартизация подхода: проверяет следование единым шаблонам тест‑кейсов, стратегий и отчётов для разных проектов.</a:t>
            </a:r>
          </a:p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Оптимизирует обмен знаниями: из разрозненных артефактов и переписок помогает собирать базу знаний, FAQ, типовые решения.</a:t>
            </a:r>
          </a:p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Ускоряет сложные задачи: генерация контрактных/интеграционных сценариев, SQL‑запросов для проверки данных, </a:t>
            </a:r>
            <a:r>
              <a:rPr lang="ru-RU" dirty="0" err="1" sz="1050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.</a:t>
            </a:r>
          </a:p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Анализ статистики по проекту: помогает искать повторяющиеся паттерны дефектов, зоны риска, давать рекомендации по </a:t>
            </a:r>
            <a:r>
              <a:rPr lang="ru-RU" dirty="0" err="1" sz="1050" b="0">
                <a:solidFill>
                  <a:srgbClr val="000000"/>
                </a:solidFill>
                <a:latin typeface="Stapel"/>
              </a:rPr>
              <a:t>приоритизации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 тестирования.</a:t>
            </a:r>
          </a:p>
          <a:p>
            <a:pPr marL="0" indent="0">
              <a:buNone/>
            </a:pPr>
            <a:r>
              <a:rPr lang="ru-RU" b="0" dirty="0" sz="105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Результат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: команда QA работает более согласованно, меньше времени тратит на рутину и «изобретение велосипеда», больше — на системное улучшение качества.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B975DFFE-E68C-454B-A012-E5A43F076A69}"/>
              </a:ext>
            </a:extLst>
          </p:cNvPr>
          <p:cNvSpPr>
            <a:spLocks noGrp="1"/>
          </p:cNvSpPr>
          <p:nvPr/>
        </p:nvSpPr>
        <p:spPr>
          <a:xfrm>
            <a:off x="515939" y="1010652"/>
            <a:ext cx="5385550" cy="5190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QA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в команде</a:t>
            </a:r>
          </a:p>
          <a:p>
            <a:pPr marL="0" indent="0">
              <a:buNone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ИИ помогает (+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“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рабочие руки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”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):</a:t>
            </a:r>
          </a:p>
          <a:p>
            <a:r>
              <a:rPr lang="ru-RU" sz="1200" dirty="0" b="0">
                <a:solidFill>
                  <a:srgbClr val="000000"/>
                </a:solidFill>
                <a:latin typeface="Stapel"/>
              </a:rPr>
              <a:t>Берёт на себя рутину: черновики тест‑кейсов и чек‑листов, генерация негативных/пограничных сценариев по описанию требования.</a:t>
            </a:r>
          </a:p>
          <a:p>
            <a:r>
              <a:rPr lang="ru-RU" sz="1200" dirty="0" b="0">
                <a:solidFill>
                  <a:srgbClr val="000000"/>
                </a:solidFill>
                <a:latin typeface="Stapel"/>
              </a:rPr>
              <a:t>Ускоряет регрессию: помогает выделить критичный набор тестов, предложить оптимальный порядок прогона, подсказать, что можно не гонять.</a:t>
            </a:r>
          </a:p>
          <a:p>
            <a:r>
              <a:rPr lang="ru-RU" sz="1200" dirty="0" b="0">
                <a:solidFill>
                  <a:srgbClr val="000000"/>
                </a:solidFill>
                <a:latin typeface="Stapel"/>
              </a:rPr>
              <a:t>Поддерживает документацию в актуальном состоянии: помогает быстро обновлять тест‑кейсы и тест‑планы при изменениях требований.</a:t>
            </a:r>
          </a:p>
          <a:p>
            <a:r>
              <a:rPr lang="ru-RU" sz="1200" dirty="0" b="0">
                <a:solidFill>
                  <a:srgbClr val="000000"/>
                </a:solidFill>
                <a:latin typeface="Stapel"/>
              </a:rPr>
              <a:t>Усиливает качество анализа: подсказывает неочевидные риски, вопросы к требованиям, альтернативные сценарии использования.</a:t>
            </a:r>
          </a:p>
          <a:p>
            <a:pPr marL="0" indent="0">
              <a:buNone/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Результат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: один QA перестаёт быть «бутылочным горлышком», успевает больше без потери качества.</a:t>
            </a:r>
          </a:p>
          <a:p>
            <a:endParaRPr lang="ru-RU" sz="1200" dirty="0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B8A6115-FA00-45FD-8218-8D5D83BCBC14}"/>
              </a:ext>
            </a:extLst>
          </p:cNvPr>
          <p:cNvSpPr>
            <a:spLocks noGrp="1"/>
          </p:cNvSpPr>
          <p:nvPr/>
        </p:nvSpPr>
        <p:spPr>
          <a:xfrm>
            <a:off x="501535" y="1010652"/>
            <a:ext cx="11160123" cy="3728496"/>
          </a:xfrm>
        </p:spPr>
        <p:txBody>
          <a:bodyPr>
            <a:noAutofit/>
          </a:bodyPr>
          <a:lstStyle/>
          <a:p>
            <a:pPr indent="0"/>
            <a:r>
              <a:rPr lang="ru-RU" dirty="0" sz="1400" b="0">
                <a:solidFill>
                  <a:srgbClr val="000000"/>
                </a:solidFill>
                <a:latin typeface="Stapel"/>
              </a:rPr>
              <a:t>ИИ* используется для: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Набор подходов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AI-SDLC</a:t>
            </a:r>
            <a:endParaRPr lang="ru-RU" dirty="0"/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Библиотека 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промтов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для анализа и подготовки тестовых артефактов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en-US" dirty="0" sz="1400" b="0">
                <a:solidFill>
                  <a:srgbClr val="000000"/>
                </a:solidFill>
                <a:latin typeface="Stapel"/>
              </a:rPr>
              <a:t>Jan AI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- ИИ помощник для проектов, который поддерживает ассистентов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en-US" dirty="0" err="1" sz="1400" b="0">
                <a:solidFill>
                  <a:srgbClr val="000000"/>
                </a:solidFill>
                <a:latin typeface="Stapel"/>
              </a:rPr>
              <a:t>CodeScope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 – 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инструмент для визуализации схемы связей таблиц БД 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Агенты на базе </a:t>
            </a:r>
            <a:r>
              <a:rPr lang="en-US" dirty="0" err="1" sz="1400" b="0">
                <a:solidFill>
                  <a:srgbClr val="000000"/>
                </a:solidFill>
                <a:latin typeface="Stapel"/>
              </a:rPr>
              <a:t>OpenCode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, VS Code 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и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Cursor</a:t>
            </a:r>
            <a:endParaRPr lang="ru-RU" dirty="0"/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Собственные внутренние модели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Периодические таблицы инструментов для тестирования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Собственная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TMS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dirty="0" err="1" sz="1400" b="0">
                <a:solidFill>
                  <a:srgbClr val="000000"/>
                </a:solidFill>
                <a:latin typeface="Stapel"/>
              </a:rPr>
              <a:t>QAFrontier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с интегрированным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AI</a:t>
            </a:r>
            <a:endParaRPr lang="ru-RU" dirty="0"/>
          </a:p>
          <a:p>
            <a:pPr marL="571500" indent="-571500">
              <a:buFont typeface="Stape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4500C3AC-72FD-4E50-829F-BB6FAEC81F3E}"/>
              </a:ext>
            </a:extLst>
          </p:cNvPr>
          <p:cNvSpPr>
            <a:spLocks noGrp="1"/>
          </p:cNvSpPr>
          <p:nvPr/>
        </p:nvSpPr>
        <p:spPr>
          <a:xfrm>
            <a:off x="501535" y="361054"/>
            <a:ext cx="9739745" cy="506164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Наши наработки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23991B3-1FDB-403A-B7BC-26183BD364D6}"/>
              </a:ext>
            </a:extLst>
          </p:cNvPr>
          <p:cNvSpPr txBox="1"/>
          <p:nvPr/>
        </p:nvSpPr>
        <p:spPr>
          <a:xfrm>
            <a:off x="501535" y="5861211"/>
            <a:ext cx="4359057" cy="1377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ru-RU" dirty="0" sz="7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*ИИ‑модели развернуты в локальном (</a:t>
            </a:r>
            <a:r>
              <a:rPr lang="ru-RU" dirty="0" err="1" sz="7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on‑premise</a:t>
            </a:r>
            <a:r>
              <a:rPr lang="ru-RU" dirty="0" sz="7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) контуре и изолированы от доступа к интернету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Picture 5">
            <a:extLst>
              <a:ext uri="{FF2B5EF4-FFF2-40B4-BE49-F238E27FC236}">
                <a16:creationId xmlns:a16="http://schemas.microsoft.com/office/drawing/2014/main" id="{D9097E83-0F8A-4848-92BE-042B83CDF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597"/>
            <a:ext cx="12192000" cy="5884806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Комплексный аудит </a:t>
            </a:r>
          </a:p>
          <a:p>
            <a:r>
              <a:rPr lang="ru-RU"/>
              <a:t>и трансформация QA-процессов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DECFF1FC-04A3-424E-82B9-963856EE0EB9}"/>
              </a:ext>
            </a:extLst>
          </p:cNvPr>
          <p:cNvSpPr/>
          <p:nvPr/>
        </p:nvSpPr>
        <p:spPr bwMode="auto">
          <a:xfrm>
            <a:off x="578069" y="5147868"/>
            <a:ext cx="2510878" cy="884702"/>
          </a:xfrm>
          <a:prstGeom prst="roundRect">
            <a:avLst>
              <a:gd name="adj" fmla="val 12450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430299FA-E31D-4C8B-80C3-2D5B9E958C18}"/>
              </a:ext>
            </a:extLst>
          </p:cNvPr>
          <p:cNvSpPr/>
          <p:nvPr/>
        </p:nvSpPr>
        <p:spPr bwMode="auto">
          <a:xfrm>
            <a:off x="578069" y="4191803"/>
            <a:ext cx="2510878" cy="884702"/>
          </a:xfrm>
          <a:prstGeom prst="roundRect">
            <a:avLst>
              <a:gd name="adj" fmla="val 12450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240">
            <a:extLst>
              <a:ext uri="{FF2B5EF4-FFF2-40B4-BE49-F238E27FC236}">
                <a16:creationId xmlns:a16="http://schemas.microsoft.com/office/drawing/2014/main" id="{33BDEFC6-10A2-46D2-BF72-80E9DC50853C}"/>
              </a:ext>
            </a:extLst>
          </p:cNvPr>
          <p:cNvSpPr/>
          <p:nvPr/>
        </p:nvSpPr>
        <p:spPr>
          <a:xfrm>
            <a:off x="1350557" y="4334072"/>
            <a:ext cx="171543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 </a:t>
            </a:r>
            <a:b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 автоматизации 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Комплексный аудит и трансформация процессов обеспечения качества</a:t>
            </a:r>
          </a:p>
        </p:txBody>
      </p:sp>
      <p:sp>
        <p:nvSpPr>
          <p:cNvPr id="24" name="Rectangle: Rounded Corners 9">
            <a:extLst>
              <a:ext uri="{FF2B5EF4-FFF2-40B4-BE49-F238E27FC236}">
                <a16:creationId xmlns:a16="http://schemas.microsoft.com/office/drawing/2014/main" id="{AA61F46C-2541-46B4-9721-8B3E3C88849F}"/>
              </a:ext>
            </a:extLst>
          </p:cNvPr>
          <p:cNvSpPr/>
          <p:nvPr/>
        </p:nvSpPr>
        <p:spPr>
          <a:xfrm>
            <a:off x="544273" y="1168249"/>
            <a:ext cx="11103453" cy="1431530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691E1028-F78E-47A9-81C9-EDF76CEFA14E}"/>
              </a:ext>
            </a:extLst>
          </p:cNvPr>
          <p:cNvSpPr txBox="1"/>
          <p:nvPr/>
        </p:nvSpPr>
        <p:spPr>
          <a:xfrm>
            <a:off x="526330" y="860841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Когда </a:t>
            </a: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нужен аудит?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56FDE138-EB5D-4C3F-81BC-723A5CC23716}"/>
              </a:ext>
            </a:extLst>
          </p:cNvPr>
          <p:cNvSpPr/>
          <p:nvPr/>
        </p:nvSpPr>
        <p:spPr>
          <a:xfrm>
            <a:off x="971716" y="1402737"/>
            <a:ext cx="1863751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повысить качество приложения,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выпущенного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производство</a:t>
            </a:r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D3E19C69-8132-4A0C-9FBD-521ECFE194C6}"/>
              </a:ext>
            </a:extLst>
          </p:cNvPr>
          <p:cNvSpPr/>
          <p:nvPr/>
        </p:nvSpPr>
        <p:spPr>
          <a:xfrm>
            <a:off x="2769851" y="1402737"/>
            <a:ext cx="1827365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ускорить цикл тестирования,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чтобы сократить 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T2M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ED5A914A-483B-4C44-B73F-EB90DCCEE1E1}"/>
              </a:ext>
            </a:extLst>
          </p:cNvPr>
          <p:cNvSpPr/>
          <p:nvPr/>
        </p:nvSpPr>
        <p:spPr>
          <a:xfrm>
            <a:off x="4691422" y="1402737"/>
            <a:ext cx="1647521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сократить затраты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тестирование</a:t>
            </a: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1E9DE71B-F90F-4930-AF37-675805829CAE}"/>
              </a:ext>
            </a:extLst>
          </p:cNvPr>
          <p:cNvSpPr/>
          <p:nvPr/>
        </p:nvSpPr>
        <p:spPr>
          <a:xfrm>
            <a:off x="6335816" y="1402737"/>
            <a:ext cx="1647520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внедрить автоматизацию тестирования</a:t>
            </a:r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248A4971-A993-408C-B323-26C3069A0C04}"/>
              </a:ext>
            </a:extLst>
          </p:cNvPr>
          <p:cNvSpPr/>
          <p:nvPr/>
        </p:nvSpPr>
        <p:spPr>
          <a:xfrm>
            <a:off x="7827316" y="1402737"/>
            <a:ext cx="1712132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повысить эффективность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или сократить затраты на текущую автоматизацию</a:t>
            </a:r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B4834D56-401F-4BBD-A511-44AB8F86B78C}"/>
              </a:ext>
            </a:extLst>
          </p:cNvPr>
          <p:cNvSpPr/>
          <p:nvPr/>
        </p:nvSpPr>
        <p:spPr>
          <a:xfrm>
            <a:off x="9806795" y="1402737"/>
            <a:ext cx="1587263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196"/>
              </a:lnSpc>
              <a:spcBef>
                <a:spcPts val="920"/>
              </a:spcBef>
              <a:buClr>
                <a:srgbClr val="7D70EF"/>
              </a:buClr>
            </a:pPr>
            <a:r>
              <a:rPr lang="ru-RU" sz="9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определить стратегию тестирования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9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существующем проекте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05C1DE39-FE12-4FAF-8B9E-91233EFC7D1C}"/>
              </a:ext>
            </a:extLst>
          </p:cNvPr>
          <p:cNvSpPr txBox="1"/>
          <p:nvPr/>
        </p:nvSpPr>
        <p:spPr>
          <a:xfrm>
            <a:off x="526330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A28F4FBB-FE2A-4C39-BADC-C3F85C5CAC30}"/>
              </a:ext>
            </a:extLst>
          </p:cNvPr>
          <p:cNvSpPr txBox="1"/>
          <p:nvPr/>
        </p:nvSpPr>
        <p:spPr>
          <a:xfrm>
            <a:off x="7491587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grpSp>
        <p:nvGrpSpPr>
          <p:cNvPr id="34" name="Группа 101">
            <a:extLst>
              <a:ext uri="{FF2B5EF4-FFF2-40B4-BE49-F238E27FC236}">
                <a16:creationId xmlns:a16="http://schemas.microsoft.com/office/drawing/2014/main" id="{6CECF41F-1313-4A63-82DD-A3670BE44710}"/>
              </a:ext>
            </a:extLst>
          </p:cNvPr>
          <p:cNvGrpSpPr>
            <a:grpSpLocks noChangeAspect="1"/>
          </p:cNvGrpSpPr>
          <p:nvPr/>
        </p:nvGrpSpPr>
        <p:grpSpPr>
          <a:xfrm>
            <a:off x="855823" y="1463889"/>
            <a:ext cx="86027" cy="173846"/>
            <a:chOff x="709299" y="904822"/>
            <a:chExt cx="432256" cy="873515"/>
          </a:xfrm>
        </p:grpSpPr>
        <p:sp>
          <p:nvSpPr>
            <p:cNvPr id="35" name="Полилиния: фигура 499">
              <a:extLst>
                <a:ext uri="{FF2B5EF4-FFF2-40B4-BE49-F238E27FC236}">
                  <a16:creationId xmlns:a16="http://schemas.microsoft.com/office/drawing/2014/main" id="{956AAB12-21DC-40D8-8C3A-27B1B2DBF72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36" name="Рисунок 476">
              <a:extLst>
                <a:ext uri="{FF2B5EF4-FFF2-40B4-BE49-F238E27FC236}">
                  <a16:creationId xmlns:a16="http://schemas.microsoft.com/office/drawing/2014/main" id="{3E6596F2-ABF9-438D-8BCF-3541C5033F7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FFFFFF"/>
            </a:solidFill>
          </p:grpSpPr>
          <p:sp>
            <p:nvSpPr>
              <p:cNvPr id="37" name="Полилиния: фигура 501">
                <a:extLst>
                  <a:ext uri="{FF2B5EF4-FFF2-40B4-BE49-F238E27FC236}">
                    <a16:creationId xmlns:a16="http://schemas.microsoft.com/office/drawing/2014/main" id="{365BC67F-068F-4FD0-B1DE-1085F346E29D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38" name="Полилиния: фигура 502">
                <a:extLst>
                  <a:ext uri="{FF2B5EF4-FFF2-40B4-BE49-F238E27FC236}">
                    <a16:creationId xmlns:a16="http://schemas.microsoft.com/office/drawing/2014/main" id="{AC279EF5-6C88-406A-A860-4897CC8C8C38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Группа 102">
            <a:extLst>
              <a:ext uri="{FF2B5EF4-FFF2-40B4-BE49-F238E27FC236}">
                <a16:creationId xmlns:a16="http://schemas.microsoft.com/office/drawing/2014/main" id="{5C748D65-237D-451D-9DCE-14786B18F9A6}"/>
              </a:ext>
            </a:extLst>
          </p:cNvPr>
          <p:cNvGrpSpPr>
            <a:grpSpLocks noChangeAspect="1"/>
          </p:cNvGrpSpPr>
          <p:nvPr/>
        </p:nvGrpSpPr>
        <p:grpSpPr>
          <a:xfrm>
            <a:off x="2583292" y="1483842"/>
            <a:ext cx="139209" cy="162814"/>
            <a:chOff x="1571161" y="904822"/>
            <a:chExt cx="749659" cy="876775"/>
          </a:xfrm>
        </p:grpSpPr>
        <p:sp>
          <p:nvSpPr>
            <p:cNvPr id="40" name="Полилиния: фигура 504">
              <a:extLst>
                <a:ext uri="{FF2B5EF4-FFF2-40B4-BE49-F238E27FC236}">
                  <a16:creationId xmlns:a16="http://schemas.microsoft.com/office/drawing/2014/main" id="{4FE19686-9773-409E-8AB6-3093C56F17B9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1" name="Рисунок 481">
              <a:extLst>
                <a:ext uri="{FF2B5EF4-FFF2-40B4-BE49-F238E27FC236}">
                  <a16:creationId xmlns:a16="http://schemas.microsoft.com/office/drawing/2014/main" id="{05B0D46F-FA28-4C14-8F6D-D2B93D7C4902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FFFFFF"/>
            </a:solidFill>
          </p:grpSpPr>
          <p:sp>
            <p:nvSpPr>
              <p:cNvPr id="42" name="Полилиния: фигура 506">
                <a:extLst>
                  <a:ext uri="{FF2B5EF4-FFF2-40B4-BE49-F238E27FC236}">
                    <a16:creationId xmlns:a16="http://schemas.microsoft.com/office/drawing/2014/main" id="{1F7602AC-6700-4F76-B3D9-13CC4DF1BE3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507">
                <a:extLst>
                  <a:ext uri="{FF2B5EF4-FFF2-40B4-BE49-F238E27FC236}">
                    <a16:creationId xmlns:a16="http://schemas.microsoft.com/office/drawing/2014/main" id="{104081EC-A3EC-4BAF-8F7E-9143ACC3C6A1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" name="Группа 103">
            <a:extLst>
              <a:ext uri="{FF2B5EF4-FFF2-40B4-BE49-F238E27FC236}">
                <a16:creationId xmlns:a16="http://schemas.microsoft.com/office/drawing/2014/main" id="{3D558282-4351-4FAD-979B-4E39F5B3CA77}"/>
              </a:ext>
            </a:extLst>
          </p:cNvPr>
          <p:cNvGrpSpPr>
            <a:grpSpLocks noChangeAspect="1"/>
          </p:cNvGrpSpPr>
          <p:nvPr/>
        </p:nvGrpSpPr>
        <p:grpSpPr>
          <a:xfrm>
            <a:off x="4552552" y="1476262"/>
            <a:ext cx="129837" cy="176477"/>
            <a:chOff x="2784188" y="876468"/>
            <a:chExt cx="671434" cy="912628"/>
          </a:xfrm>
        </p:grpSpPr>
        <p:sp>
          <p:nvSpPr>
            <p:cNvPr id="45" name="Полилиния: фигура 509">
              <a:extLst>
                <a:ext uri="{FF2B5EF4-FFF2-40B4-BE49-F238E27FC236}">
                  <a16:creationId xmlns:a16="http://schemas.microsoft.com/office/drawing/2014/main" id="{88E9B49E-AF44-43DF-AEA4-E9B502B5EE76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6" name="Полилиния: фигура 510">
              <a:extLst>
                <a:ext uri="{FF2B5EF4-FFF2-40B4-BE49-F238E27FC236}">
                  <a16:creationId xmlns:a16="http://schemas.microsoft.com/office/drawing/2014/main" id="{ABD168FC-5197-4A43-B706-A435F4D93023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FFFFFF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47" name="Группа 104">
            <a:extLst>
              <a:ext uri="{FF2B5EF4-FFF2-40B4-BE49-F238E27FC236}">
                <a16:creationId xmlns:a16="http://schemas.microsoft.com/office/drawing/2014/main" id="{F1F244A8-80CD-4393-ABB3-B65C2CB0D6D8}"/>
              </a:ext>
            </a:extLst>
          </p:cNvPr>
          <p:cNvGrpSpPr>
            <a:grpSpLocks noChangeAspect="1"/>
          </p:cNvGrpSpPr>
          <p:nvPr/>
        </p:nvGrpSpPr>
        <p:grpSpPr>
          <a:xfrm>
            <a:off x="6176560" y="1487607"/>
            <a:ext cx="154417" cy="165132"/>
            <a:chOff x="3862546" y="921118"/>
            <a:chExt cx="798550" cy="853959"/>
          </a:xfrm>
        </p:grpSpPr>
        <p:sp>
          <p:nvSpPr>
            <p:cNvPr id="48" name="Полилиния: фигура 76">
              <a:extLst>
                <a:ext uri="{FF2B5EF4-FFF2-40B4-BE49-F238E27FC236}">
                  <a16:creationId xmlns:a16="http://schemas.microsoft.com/office/drawing/2014/main" id="{47F20D21-0E6E-4F4D-8673-D2CCCACF81EC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9" name="Рисунок 485">
              <a:extLst>
                <a:ext uri="{FF2B5EF4-FFF2-40B4-BE49-F238E27FC236}">
                  <a16:creationId xmlns:a16="http://schemas.microsoft.com/office/drawing/2014/main" id="{7A33BBBB-7DD6-4360-9B8F-642EF253B4EB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FFFFFF"/>
            </a:solidFill>
          </p:grpSpPr>
          <p:sp>
            <p:nvSpPr>
              <p:cNvPr id="50" name="Полилиния: фигура 78">
                <a:extLst>
                  <a:ext uri="{FF2B5EF4-FFF2-40B4-BE49-F238E27FC236}">
                    <a16:creationId xmlns:a16="http://schemas.microsoft.com/office/drawing/2014/main" id="{4C152417-AE4B-4863-B2E5-CE28F3230F30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79">
                <a:extLst>
                  <a:ext uri="{FF2B5EF4-FFF2-40B4-BE49-F238E27FC236}">
                    <a16:creationId xmlns:a16="http://schemas.microsoft.com/office/drawing/2014/main" id="{899A5550-6CB8-4DBB-B8BA-6B4D5BD3F590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Группа 105">
            <a:extLst>
              <a:ext uri="{FF2B5EF4-FFF2-40B4-BE49-F238E27FC236}">
                <a16:creationId xmlns:a16="http://schemas.microsoft.com/office/drawing/2014/main" id="{928B1318-06D2-4483-BBFC-CCFCECB00231}"/>
              </a:ext>
            </a:extLst>
          </p:cNvPr>
          <p:cNvGrpSpPr>
            <a:grpSpLocks noChangeAspect="1"/>
          </p:cNvGrpSpPr>
          <p:nvPr/>
        </p:nvGrpSpPr>
        <p:grpSpPr>
          <a:xfrm>
            <a:off x="7682951" y="1492094"/>
            <a:ext cx="134248" cy="170805"/>
            <a:chOff x="5133962" y="904822"/>
            <a:chExt cx="694248" cy="883294"/>
          </a:xfrm>
        </p:grpSpPr>
        <p:sp>
          <p:nvSpPr>
            <p:cNvPr id="53" name="Полилиния: фигура 81">
              <a:extLst>
                <a:ext uri="{FF2B5EF4-FFF2-40B4-BE49-F238E27FC236}">
                  <a16:creationId xmlns:a16="http://schemas.microsoft.com/office/drawing/2014/main" id="{5E68F1FF-FA5C-4D56-B09C-289349C0E56F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4" name="Полилиния: фигура 82">
              <a:extLst>
                <a:ext uri="{FF2B5EF4-FFF2-40B4-BE49-F238E27FC236}">
                  <a16:creationId xmlns:a16="http://schemas.microsoft.com/office/drawing/2014/main" id="{20F1460B-0608-415A-B00E-39A037B0A7AC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solidFill>
              <a:srgbClr val="FFFFFF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5" name="Полилиния: фигура 83">
              <a:extLst>
                <a:ext uri="{FF2B5EF4-FFF2-40B4-BE49-F238E27FC236}">
                  <a16:creationId xmlns:a16="http://schemas.microsoft.com/office/drawing/2014/main" id="{782A63AB-487D-474C-9216-F819674C17BF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56" name="Группа 106">
            <a:extLst>
              <a:ext uri="{FF2B5EF4-FFF2-40B4-BE49-F238E27FC236}">
                <a16:creationId xmlns:a16="http://schemas.microsoft.com/office/drawing/2014/main" id="{C9E5EB26-121C-4A9B-87EF-6059BD1CFCB5}"/>
              </a:ext>
            </a:extLst>
          </p:cNvPr>
          <p:cNvGrpSpPr>
            <a:grpSpLocks noChangeAspect="1"/>
          </p:cNvGrpSpPr>
          <p:nvPr/>
        </p:nvGrpSpPr>
        <p:grpSpPr>
          <a:xfrm>
            <a:off x="9676685" y="1496581"/>
            <a:ext cx="135510" cy="168914"/>
            <a:chOff x="6275002" y="904822"/>
            <a:chExt cx="700768" cy="873515"/>
          </a:xfrm>
        </p:grpSpPr>
        <p:sp>
          <p:nvSpPr>
            <p:cNvPr id="57" name="Полилиния: фигура 85">
              <a:extLst>
                <a:ext uri="{FF2B5EF4-FFF2-40B4-BE49-F238E27FC236}">
                  <a16:creationId xmlns:a16="http://schemas.microsoft.com/office/drawing/2014/main" id="{A1A5DD3B-6306-4189-BC11-3AE07B9A17DC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solidFill>
              <a:srgbClr val="000000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8" name="Полилиния: фигура 86">
              <a:extLst>
                <a:ext uri="{FF2B5EF4-FFF2-40B4-BE49-F238E27FC236}">
                  <a16:creationId xmlns:a16="http://schemas.microsoft.com/office/drawing/2014/main" id="{B2ABDDFA-770B-4E68-8B34-AD68288B38F7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FFFFFF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59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3620074"/>
            <a:ext cx="413412" cy="187038"/>
            <a:chOff x="10329863" y="3142398"/>
            <a:chExt cx="817563" cy="369887"/>
          </a:xfrm>
        </p:grpSpPr>
        <p:sp>
          <p:nvSpPr>
            <p:cNvPr id="60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1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2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3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4410666"/>
            <a:ext cx="413412" cy="187038"/>
            <a:chOff x="10329863" y="3142398"/>
            <a:chExt cx="817563" cy="369887"/>
          </a:xfrm>
        </p:grpSpPr>
        <p:sp>
          <p:nvSpPr>
            <p:cNvPr id="64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6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7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5268225"/>
            <a:ext cx="413412" cy="187038"/>
            <a:chOff x="10329863" y="3142398"/>
            <a:chExt cx="817563" cy="369887"/>
          </a:xfrm>
        </p:grpSpPr>
        <p:sp>
          <p:nvSpPr>
            <p:cNvPr id="68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9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0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01AA94D3-8148-45A9-B7B4-F5212B4161DC}"/>
              </a:ext>
            </a:extLst>
          </p:cNvPr>
          <p:cNvSpPr txBox="1">
            <a:spLocks/>
          </p:cNvSpPr>
          <p:nvPr/>
        </p:nvSpPr>
        <p:spPr>
          <a:xfrm>
            <a:off x="8267104" y="3233584"/>
            <a:ext cx="3496935" cy="6463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500"/>
              </a:lnSpc>
              <a:buClr>
                <a:srgbClr val="7D70EF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Сокращение времени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 b="0">
                <a:solidFill>
                  <a:srgbClr val="000000"/>
                </a:solidFill>
                <a:latin typeface="Stapel"/>
              </a:rPr>
              <a:t>вывода на рынок</a:t>
            </a:r>
          </a:p>
        </p:txBody>
      </p:sp>
      <p:sp>
        <p:nvSpPr>
          <p:cNvPr id="72" name="Rectangle 64">
            <a:extLst>
              <a:ext uri="{FF2B5EF4-FFF2-40B4-BE49-F238E27FC236}">
                <a16:creationId xmlns:a16="http://schemas.microsoft.com/office/drawing/2014/main" id="{25149BAC-C3F1-4275-80EE-3E6C3592D122}"/>
              </a:ext>
            </a:extLst>
          </p:cNvPr>
          <p:cNvSpPr/>
          <p:nvPr/>
        </p:nvSpPr>
        <p:spPr>
          <a:xfrm>
            <a:off x="8267104" y="5572932"/>
            <a:ext cx="304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Сокращение затрат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на тестирование</a:t>
            </a:r>
          </a:p>
        </p:txBody>
      </p:sp>
      <p:sp>
        <p:nvSpPr>
          <p:cNvPr id="73" name="Rectangle 65">
            <a:extLst>
              <a:ext uri="{FF2B5EF4-FFF2-40B4-BE49-F238E27FC236}">
                <a16:creationId xmlns:a16="http://schemas.microsoft.com/office/drawing/2014/main" id="{31F511CE-E979-41CC-99F6-0A71C8357122}"/>
              </a:ext>
            </a:extLst>
          </p:cNvPr>
          <p:cNvSpPr/>
          <p:nvPr/>
        </p:nvSpPr>
        <p:spPr>
          <a:xfrm>
            <a:off x="8267104" y="4063555"/>
            <a:ext cx="3496935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Повышение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наглядности работы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QA</a:t>
            </a:r>
          </a:p>
        </p:txBody>
      </p:sp>
      <p:sp>
        <p:nvSpPr>
          <p:cNvPr id="74" name="Rectangle 66">
            <a:extLst>
              <a:ext uri="{FF2B5EF4-FFF2-40B4-BE49-F238E27FC236}">
                <a16:creationId xmlns:a16="http://schemas.microsoft.com/office/drawing/2014/main" id="{4A23773E-18BF-4748-878B-56EAF005CC47}"/>
              </a:ext>
            </a:extLst>
          </p:cNvPr>
          <p:cNvSpPr/>
          <p:nvPr/>
        </p:nvSpPr>
        <p:spPr>
          <a:xfrm>
            <a:off x="8267104" y="4832260"/>
            <a:ext cx="3358040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Улучшение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качества приложений</a:t>
            </a:r>
          </a:p>
        </p:txBody>
      </p:sp>
      <p:sp>
        <p:nvSpPr>
          <p:cNvPr id="75" name="Rectangle 12">
            <a:extLst>
              <a:ext uri="{FF2B5EF4-FFF2-40B4-BE49-F238E27FC236}">
                <a16:creationId xmlns:a16="http://schemas.microsoft.com/office/drawing/2014/main" id="{EE3FF858-FC22-4D14-87F6-62566E15B549}"/>
              </a:ext>
            </a:extLst>
          </p:cNvPr>
          <p:cNvSpPr/>
          <p:nvPr/>
        </p:nvSpPr>
        <p:spPr bwMode="auto">
          <a:xfrm>
            <a:off x="578069" y="3235737"/>
            <a:ext cx="2510878" cy="884702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76" name="Rectangle 12">
            <a:extLst>
              <a:ext uri="{FF2B5EF4-FFF2-40B4-BE49-F238E27FC236}">
                <a16:creationId xmlns:a16="http://schemas.microsoft.com/office/drawing/2014/main" id="{F07F2BE0-FA85-4E21-BDB0-0AB38D508019}"/>
              </a:ext>
            </a:extLst>
          </p:cNvPr>
          <p:cNvSpPr/>
          <p:nvPr/>
        </p:nvSpPr>
        <p:spPr bwMode="auto">
          <a:xfrm>
            <a:off x="3209026" y="3235736"/>
            <a:ext cx="2980581" cy="884702"/>
          </a:xfrm>
          <a:prstGeom prst="roundRect">
            <a:avLst>
              <a:gd name="adj" fmla="val 914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77" name="Rectangle 121">
            <a:extLst>
              <a:ext uri="{FF2B5EF4-FFF2-40B4-BE49-F238E27FC236}">
                <a16:creationId xmlns:a16="http://schemas.microsoft.com/office/drawing/2014/main" id="{5468F63B-E83F-465D-BCF7-F70D9093084A}"/>
              </a:ext>
            </a:extLst>
          </p:cNvPr>
          <p:cNvSpPr/>
          <p:nvPr/>
        </p:nvSpPr>
        <p:spPr>
          <a:xfrm>
            <a:off x="1350557" y="3376049"/>
            <a:ext cx="134299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 </a:t>
            </a:r>
            <a:b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 стратегии 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78" name="Rectangle 122">
            <a:extLst>
              <a:ext uri="{FF2B5EF4-FFF2-40B4-BE49-F238E27FC236}">
                <a16:creationId xmlns:a16="http://schemas.microsoft.com/office/drawing/2014/main" id="{6BC94E6E-4FC4-4EE2-ACE6-F09F614FE5B3}"/>
              </a:ext>
            </a:extLst>
          </p:cNvPr>
          <p:cNvSpPr/>
          <p:nvPr/>
        </p:nvSpPr>
        <p:spPr>
          <a:xfrm>
            <a:off x="3919598" y="3376049"/>
            <a:ext cx="228841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5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Выстраивание, </a:t>
            </a:r>
            <a:br>
              <a:rPr lang="en-US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5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аудит и оптимизация</a:t>
            </a:r>
            <a:r>
              <a:rPr lang="ru-RU" sz="11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2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1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QA-</a:t>
            </a:r>
            <a:r>
              <a:rPr lang="ru-RU" sz="11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процессов</a:t>
            </a:r>
          </a:p>
        </p:txBody>
      </p:sp>
      <p:sp>
        <p:nvSpPr>
          <p:cNvPr id="79" name="Rectangle 12">
            <a:extLst>
              <a:ext uri="{FF2B5EF4-FFF2-40B4-BE49-F238E27FC236}">
                <a16:creationId xmlns:a16="http://schemas.microsoft.com/office/drawing/2014/main" id="{9ADA60E6-4293-4648-B8B8-E5C9127F9A25}"/>
              </a:ext>
            </a:extLst>
          </p:cNvPr>
          <p:cNvSpPr/>
          <p:nvPr/>
        </p:nvSpPr>
        <p:spPr bwMode="auto">
          <a:xfrm>
            <a:off x="3155652" y="4194263"/>
            <a:ext cx="2980580" cy="897517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80" name="Rectangle 128">
            <a:extLst>
              <a:ext uri="{FF2B5EF4-FFF2-40B4-BE49-F238E27FC236}">
                <a16:creationId xmlns:a16="http://schemas.microsoft.com/office/drawing/2014/main" id="{0351B47E-8960-45E9-8AA5-D82692E6999C}"/>
              </a:ext>
            </a:extLst>
          </p:cNvPr>
          <p:cNvSpPr/>
          <p:nvPr/>
        </p:nvSpPr>
        <p:spPr>
          <a:xfrm>
            <a:off x="3877140" y="4405429"/>
            <a:ext cx="2284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2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 в </a:t>
            </a:r>
            <a:r>
              <a:rPr lang="ru-RU" sz="1100" b="0" spc="30" dirty="0" err="1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DevOps</a:t>
            </a:r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b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2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переход к </a:t>
            </a:r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CI/CD</a:t>
            </a:r>
          </a:p>
        </p:txBody>
      </p:sp>
      <p:grpSp>
        <p:nvGrpSpPr>
          <p:cNvPr id="81" name="Группа 194">
            <a:extLst>
              <a:ext uri="{FF2B5EF4-FFF2-40B4-BE49-F238E27FC236}">
                <a16:creationId xmlns:a16="http://schemas.microsoft.com/office/drawing/2014/main" id="{3720DBF5-7EC4-42F5-8F75-198B39AA72F3}"/>
              </a:ext>
            </a:extLst>
          </p:cNvPr>
          <p:cNvGrpSpPr>
            <a:grpSpLocks noChangeAspect="1"/>
          </p:cNvGrpSpPr>
          <p:nvPr/>
        </p:nvGrpSpPr>
        <p:grpSpPr>
          <a:xfrm>
            <a:off x="7617874" y="3325941"/>
            <a:ext cx="388903" cy="326605"/>
            <a:chOff x="8605523" y="2869849"/>
            <a:chExt cx="990409" cy="831756"/>
          </a:xfrm>
          <a:solidFill>
            <a:srgbClr val="000000"/>
          </a:solidFill>
        </p:grpSpPr>
        <p:sp>
          <p:nvSpPr>
            <p:cNvPr id="82" name="Полилиния: фигура 457">
              <a:extLst>
                <a:ext uri="{FF2B5EF4-FFF2-40B4-BE49-F238E27FC236}">
                  <a16:creationId xmlns:a16="http://schemas.microsoft.com/office/drawing/2014/main" id="{0E61DAC7-CA1F-41EC-9E57-6C2376C12453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: фигура 458">
              <a:extLst>
                <a:ext uri="{FF2B5EF4-FFF2-40B4-BE49-F238E27FC236}">
                  <a16:creationId xmlns:a16="http://schemas.microsoft.com/office/drawing/2014/main" id="{D6BE7A3B-3D23-47A8-8FC8-1DB7FC8959C4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: фигура 459">
              <a:extLst>
                <a:ext uri="{FF2B5EF4-FFF2-40B4-BE49-F238E27FC236}">
                  <a16:creationId xmlns:a16="http://schemas.microsoft.com/office/drawing/2014/main" id="{D609B93F-56A4-48FA-ACA1-D4BE88942664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: фигура 460">
              <a:extLst>
                <a:ext uri="{FF2B5EF4-FFF2-40B4-BE49-F238E27FC236}">
                  <a16:creationId xmlns:a16="http://schemas.microsoft.com/office/drawing/2014/main" id="{EDF3ADF8-FD30-4A1D-A94E-4619428E50D9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: фигура 540">
              <a:extLst>
                <a:ext uri="{FF2B5EF4-FFF2-40B4-BE49-F238E27FC236}">
                  <a16:creationId xmlns:a16="http://schemas.microsoft.com/office/drawing/2014/main" id="{ECF7531D-43C6-4E17-8F02-A6B8C55067D4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: фигура 541">
              <a:extLst>
                <a:ext uri="{FF2B5EF4-FFF2-40B4-BE49-F238E27FC236}">
                  <a16:creationId xmlns:a16="http://schemas.microsoft.com/office/drawing/2014/main" id="{0B3FCA33-C443-4829-9A06-8E85F03F2468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: фигура 542">
              <a:extLst>
                <a:ext uri="{FF2B5EF4-FFF2-40B4-BE49-F238E27FC236}">
                  <a16:creationId xmlns:a16="http://schemas.microsoft.com/office/drawing/2014/main" id="{8F01EAA3-E411-4597-8217-58C99DDC9591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543">
              <a:extLst>
                <a:ext uri="{FF2B5EF4-FFF2-40B4-BE49-F238E27FC236}">
                  <a16:creationId xmlns:a16="http://schemas.microsoft.com/office/drawing/2014/main" id="{026FD079-9C61-496C-8855-8C880049F4B5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544">
              <a:extLst>
                <a:ext uri="{FF2B5EF4-FFF2-40B4-BE49-F238E27FC236}">
                  <a16:creationId xmlns:a16="http://schemas.microsoft.com/office/drawing/2014/main" id="{516AF9B3-03A4-4F17-8725-AEC3165497CC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545">
              <a:extLst>
                <a:ext uri="{FF2B5EF4-FFF2-40B4-BE49-F238E27FC236}">
                  <a16:creationId xmlns:a16="http://schemas.microsoft.com/office/drawing/2014/main" id="{DA1083FB-5572-4DA9-8EFB-2D2A939F50B2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rgbClr val="FFFFFF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566">
              <a:extLst>
                <a:ext uri="{FF2B5EF4-FFF2-40B4-BE49-F238E27FC236}">
                  <a16:creationId xmlns:a16="http://schemas.microsoft.com/office/drawing/2014/main" id="{7AA9103C-7774-41FF-97F3-3338E2A632DE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568">
              <a:extLst>
                <a:ext uri="{FF2B5EF4-FFF2-40B4-BE49-F238E27FC236}">
                  <a16:creationId xmlns:a16="http://schemas.microsoft.com/office/drawing/2014/main" id="{C9C91C1F-7E0E-41B0-AC86-E512541BDC82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4" name="Группа 535">
            <a:extLst>
              <a:ext uri="{FF2B5EF4-FFF2-40B4-BE49-F238E27FC236}">
                <a16:creationId xmlns:a16="http://schemas.microsoft.com/office/drawing/2014/main" id="{E54F827B-3294-47AF-B2B4-6E8FAB13A370}"/>
              </a:ext>
            </a:extLst>
          </p:cNvPr>
          <p:cNvGrpSpPr>
            <a:grpSpLocks noChangeAspect="1"/>
          </p:cNvGrpSpPr>
          <p:nvPr/>
        </p:nvGrpSpPr>
        <p:grpSpPr>
          <a:xfrm>
            <a:off x="7649764" y="4120439"/>
            <a:ext cx="384830" cy="423067"/>
            <a:chOff x="2865554" y="4921611"/>
            <a:chExt cx="984276" cy="1082073"/>
          </a:xfrm>
        </p:grpSpPr>
        <p:sp>
          <p:nvSpPr>
            <p:cNvPr id="95" name="Полилиния: фигура 175">
              <a:extLst>
                <a:ext uri="{FF2B5EF4-FFF2-40B4-BE49-F238E27FC236}">
                  <a16:creationId xmlns:a16="http://schemas.microsoft.com/office/drawing/2014/main" id="{E72C6C73-9FF0-4B95-A85F-BA438DC1F479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164">
              <a:extLst>
                <a:ext uri="{FF2B5EF4-FFF2-40B4-BE49-F238E27FC236}">
                  <a16:creationId xmlns:a16="http://schemas.microsoft.com/office/drawing/2014/main" id="{60ED190A-29D6-4A84-847F-1B9089CFCD8F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165">
              <a:extLst>
                <a:ext uri="{FF2B5EF4-FFF2-40B4-BE49-F238E27FC236}">
                  <a16:creationId xmlns:a16="http://schemas.microsoft.com/office/drawing/2014/main" id="{5FC5F986-098E-4101-8FB6-6EAAB4EE00B0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166">
              <a:extLst>
                <a:ext uri="{FF2B5EF4-FFF2-40B4-BE49-F238E27FC236}">
                  <a16:creationId xmlns:a16="http://schemas.microsoft.com/office/drawing/2014/main" id="{798D442F-9E0C-4371-858F-DE39EBCA7880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167">
              <a:extLst>
                <a:ext uri="{FF2B5EF4-FFF2-40B4-BE49-F238E27FC236}">
                  <a16:creationId xmlns:a16="http://schemas.microsoft.com/office/drawing/2014/main" id="{643396F9-E98F-44A1-AF76-15DEA3AA211C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168">
              <a:extLst>
                <a:ext uri="{FF2B5EF4-FFF2-40B4-BE49-F238E27FC236}">
                  <a16:creationId xmlns:a16="http://schemas.microsoft.com/office/drawing/2014/main" id="{05B19749-0BB1-4F31-807D-07AC00AA030C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169">
              <a:extLst>
                <a:ext uri="{FF2B5EF4-FFF2-40B4-BE49-F238E27FC236}">
                  <a16:creationId xmlns:a16="http://schemas.microsoft.com/office/drawing/2014/main" id="{82BD5B70-2D8E-4EA7-A8FC-DB0FE81D7EEC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70">
              <a:extLst>
                <a:ext uri="{FF2B5EF4-FFF2-40B4-BE49-F238E27FC236}">
                  <a16:creationId xmlns:a16="http://schemas.microsoft.com/office/drawing/2014/main" id="{C475CE6D-41D4-4F38-899B-B2990C611AFA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71">
              <a:extLst>
                <a:ext uri="{FF2B5EF4-FFF2-40B4-BE49-F238E27FC236}">
                  <a16:creationId xmlns:a16="http://schemas.microsoft.com/office/drawing/2014/main" id="{9760D9D1-B2D5-466F-BA69-8857B50B8483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4" name="Рисунок 2">
              <a:extLst>
                <a:ext uri="{FF2B5EF4-FFF2-40B4-BE49-F238E27FC236}">
                  <a16:creationId xmlns:a16="http://schemas.microsoft.com/office/drawing/2014/main" id="{882C9E7E-2735-49AA-B8DD-8DC30E16C330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105" name="Полилиния: фигура 173">
                <a:extLst>
                  <a:ext uri="{FF2B5EF4-FFF2-40B4-BE49-F238E27FC236}">
                    <a16:creationId xmlns:a16="http://schemas.microsoft.com/office/drawing/2014/main" id="{325F53C3-395B-4095-86E0-022FFB618758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6" name="Полилиния: фигура 174">
                <a:extLst>
                  <a:ext uri="{FF2B5EF4-FFF2-40B4-BE49-F238E27FC236}">
                    <a16:creationId xmlns:a16="http://schemas.microsoft.com/office/drawing/2014/main" id="{8EEC698C-3AEB-4A38-AA9E-0C6E599875D5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7" name="Группа 290">
            <a:extLst>
              <a:ext uri="{FF2B5EF4-FFF2-40B4-BE49-F238E27FC236}">
                <a16:creationId xmlns:a16="http://schemas.microsoft.com/office/drawing/2014/main" id="{33D9F03A-047D-4C1E-933B-5F207B7736F2}"/>
              </a:ext>
            </a:extLst>
          </p:cNvPr>
          <p:cNvGrpSpPr>
            <a:grpSpLocks noChangeAspect="1"/>
          </p:cNvGrpSpPr>
          <p:nvPr/>
        </p:nvGrpSpPr>
        <p:grpSpPr>
          <a:xfrm>
            <a:off x="7611362" y="4887004"/>
            <a:ext cx="397496" cy="373334"/>
            <a:chOff x="1015845" y="4530606"/>
            <a:chExt cx="779992" cy="732581"/>
          </a:xfrm>
        </p:grpSpPr>
        <p:grpSp>
          <p:nvGrpSpPr>
            <p:cNvPr id="108" name="Рисунок 2">
              <a:extLst>
                <a:ext uri="{FF2B5EF4-FFF2-40B4-BE49-F238E27FC236}">
                  <a16:creationId xmlns:a16="http://schemas.microsoft.com/office/drawing/2014/main" id="{0373A032-AB88-4316-A363-C9018517CE4B}"/>
                </a:ext>
              </a:extLst>
            </p:cNvPr>
            <p:cNvGrpSpPr/>
            <p:nvPr/>
          </p:nvGrpSpPr>
          <p:grpSpPr>
            <a:xfrm>
              <a:off x="1015845" y="4850427"/>
              <a:ext cx="221414" cy="396359"/>
              <a:chOff x="430687" y="3013818"/>
              <a:chExt cx="221414" cy="396359"/>
            </a:xfrm>
          </p:grpSpPr>
          <p:sp>
            <p:nvSpPr>
              <p:cNvPr id="109" name="Полилиния: фигура 49">
                <a:extLst>
                  <a:ext uri="{FF2B5EF4-FFF2-40B4-BE49-F238E27FC236}">
                    <a16:creationId xmlns:a16="http://schemas.microsoft.com/office/drawing/2014/main" id="{403D6047-D79E-4952-B313-4DD913BE4D13}"/>
                  </a:ext>
                </a:extLst>
              </p:cNvPr>
              <p:cNvSpPr/>
              <p:nvPr/>
            </p:nvSpPr>
            <p:spPr>
              <a:xfrm>
                <a:off x="430687" y="3013818"/>
                <a:ext cx="221414" cy="396359"/>
              </a:xfrm>
              <a:custGeom>
                <a:avLst/>
                <a:gdLst>
                  <a:gd name="connsiteX0" fmla="*/ 221415 w 221414"/>
                  <a:gd name="connsiteY0" fmla="*/ 396359 h 396359"/>
                  <a:gd name="connsiteX1" fmla="*/ 150343 w 221414"/>
                  <a:gd name="connsiteY1" fmla="*/ 396359 h 396359"/>
                  <a:gd name="connsiteX2" fmla="*/ 150343 w 221414"/>
                  <a:gd name="connsiteY2" fmla="*/ 369024 h 396359"/>
                  <a:gd name="connsiteX3" fmla="*/ 194079 w 221414"/>
                  <a:gd name="connsiteY3" fmla="*/ 369024 h 396359"/>
                  <a:gd name="connsiteX4" fmla="*/ 188612 w 221414"/>
                  <a:gd name="connsiteY4" fmla="*/ 27335 h 396359"/>
                  <a:gd name="connsiteX5" fmla="*/ 0 w 221414"/>
                  <a:gd name="connsiteY5" fmla="*/ 27335 h 396359"/>
                  <a:gd name="connsiteX6" fmla="*/ 0 w 221414"/>
                  <a:gd name="connsiteY6" fmla="*/ 0 h 396359"/>
                  <a:gd name="connsiteX7" fmla="*/ 215947 w 221414"/>
                  <a:gd name="connsiteY7" fmla="*/ 0 h 39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1414" h="396359">
                    <a:moveTo>
                      <a:pt x="221415" y="396359"/>
                    </a:moveTo>
                    <a:lnTo>
                      <a:pt x="150343" y="396359"/>
                    </a:lnTo>
                    <a:lnTo>
                      <a:pt x="150343" y="369024"/>
                    </a:lnTo>
                    <a:lnTo>
                      <a:pt x="194079" y="369024"/>
                    </a:lnTo>
                    <a:lnTo>
                      <a:pt x="188612" y="27335"/>
                    </a:lnTo>
                    <a:lnTo>
                      <a:pt x="0" y="27335"/>
                    </a:lnTo>
                    <a:lnTo>
                      <a:pt x="0" y="0"/>
                    </a:lnTo>
                    <a:lnTo>
                      <a:pt x="2159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0" name="Полилиния: фигура 50">
                <a:extLst>
                  <a:ext uri="{FF2B5EF4-FFF2-40B4-BE49-F238E27FC236}">
                    <a16:creationId xmlns:a16="http://schemas.microsoft.com/office/drawing/2014/main" id="{1CA825A8-122F-491D-83A1-F47D11290E40}"/>
                  </a:ext>
                </a:extLst>
              </p:cNvPr>
              <p:cNvSpPr/>
              <p:nvPr/>
            </p:nvSpPr>
            <p:spPr>
              <a:xfrm>
                <a:off x="468956" y="3095823"/>
                <a:ext cx="98406" cy="95672"/>
              </a:xfrm>
              <a:custGeom>
                <a:avLst/>
                <a:gdLst>
                  <a:gd name="connsiteX0" fmla="*/ 0 w 98406"/>
                  <a:gd name="connsiteY0" fmla="*/ 0 h 95672"/>
                  <a:gd name="connsiteX1" fmla="*/ 98406 w 98406"/>
                  <a:gd name="connsiteY1" fmla="*/ 0 h 95672"/>
                  <a:gd name="connsiteX2" fmla="*/ 98406 w 98406"/>
                  <a:gd name="connsiteY2" fmla="*/ 95673 h 95672"/>
                  <a:gd name="connsiteX3" fmla="*/ 0 w 98406"/>
                  <a:gd name="connsiteY3" fmla="*/ 95673 h 95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6" h="95672">
                    <a:moveTo>
                      <a:pt x="0" y="0"/>
                    </a:moveTo>
                    <a:lnTo>
                      <a:pt x="98406" y="0"/>
                    </a:lnTo>
                    <a:lnTo>
                      <a:pt x="98406" y="95673"/>
                    </a:lnTo>
                    <a:lnTo>
                      <a:pt x="0" y="95673"/>
                    </a:lnTo>
                    <a:close/>
                  </a:path>
                </a:pathLst>
              </a:custGeom>
              <a:solidFill>
                <a:srgbClr val="FFFFFF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11" name="Полилиния: фигура 51">
              <a:extLst>
                <a:ext uri="{FF2B5EF4-FFF2-40B4-BE49-F238E27FC236}">
                  <a16:creationId xmlns:a16="http://schemas.microsoft.com/office/drawing/2014/main" id="{3C3F053D-A6C5-4BA7-925C-ABC105E3F11C}"/>
                </a:ext>
              </a:extLst>
            </p:cNvPr>
            <p:cNvSpPr/>
            <p:nvPr/>
          </p:nvSpPr>
          <p:spPr>
            <a:xfrm>
              <a:off x="1261861" y="4530606"/>
              <a:ext cx="533976" cy="732581"/>
            </a:xfrm>
            <a:custGeom>
              <a:avLst/>
              <a:gdLst>
                <a:gd name="connsiteX0" fmla="*/ 317087 w 533976"/>
                <a:gd name="connsiteY0" fmla="*/ 732581 h 732581"/>
                <a:gd name="connsiteX1" fmla="*/ 278818 w 533976"/>
                <a:gd name="connsiteY1" fmla="*/ 732581 h 732581"/>
                <a:gd name="connsiteX2" fmla="*/ 24602 w 533976"/>
                <a:gd name="connsiteY2" fmla="*/ 707980 h 732581"/>
                <a:gd name="connsiteX3" fmla="*/ 32802 w 533976"/>
                <a:gd name="connsiteY3" fmla="*/ 680645 h 732581"/>
                <a:gd name="connsiteX4" fmla="*/ 281552 w 533976"/>
                <a:gd name="connsiteY4" fmla="*/ 705246 h 732581"/>
                <a:gd name="connsiteX5" fmla="*/ 347156 w 533976"/>
                <a:gd name="connsiteY5" fmla="*/ 705246 h 732581"/>
                <a:gd name="connsiteX6" fmla="*/ 388159 w 533976"/>
                <a:gd name="connsiteY6" fmla="*/ 702513 h 732581"/>
                <a:gd name="connsiteX7" fmla="*/ 448296 w 533976"/>
                <a:gd name="connsiteY7" fmla="*/ 639642 h 732581"/>
                <a:gd name="connsiteX8" fmla="*/ 500233 w 533976"/>
                <a:gd name="connsiteY8" fmla="*/ 333488 h 732581"/>
                <a:gd name="connsiteX9" fmla="*/ 437362 w 533976"/>
                <a:gd name="connsiteY9" fmla="*/ 297953 h 732581"/>
                <a:gd name="connsiteX10" fmla="*/ 437362 w 533976"/>
                <a:gd name="connsiteY10" fmla="*/ 297953 h 732581"/>
                <a:gd name="connsiteX11" fmla="*/ 273351 w 533976"/>
                <a:gd name="connsiteY11" fmla="*/ 297953 h 732581"/>
                <a:gd name="connsiteX12" fmla="*/ 281552 w 533976"/>
                <a:gd name="connsiteY12" fmla="*/ 278818 h 732581"/>
                <a:gd name="connsiteX13" fmla="*/ 284285 w 533976"/>
                <a:gd name="connsiteY13" fmla="*/ 41003 h 732581"/>
                <a:gd name="connsiteX14" fmla="*/ 246016 w 533976"/>
                <a:gd name="connsiteY14" fmla="*/ 27335 h 732581"/>
                <a:gd name="connsiteX15" fmla="*/ 237816 w 533976"/>
                <a:gd name="connsiteY15" fmla="*/ 32802 h 732581"/>
                <a:gd name="connsiteX16" fmla="*/ 218681 w 533976"/>
                <a:gd name="connsiteY16" fmla="*/ 68338 h 732581"/>
                <a:gd name="connsiteX17" fmla="*/ 213214 w 533976"/>
                <a:gd name="connsiteY17" fmla="*/ 101140 h 732581"/>
                <a:gd name="connsiteX18" fmla="*/ 207747 w 533976"/>
                <a:gd name="connsiteY18" fmla="*/ 136676 h 732581"/>
                <a:gd name="connsiteX19" fmla="*/ 13668 w 533976"/>
                <a:gd name="connsiteY19" fmla="*/ 360824 h 732581"/>
                <a:gd name="connsiteX20" fmla="*/ 0 w 533976"/>
                <a:gd name="connsiteY20" fmla="*/ 336222 h 732581"/>
                <a:gd name="connsiteX21" fmla="*/ 8201 w 533976"/>
                <a:gd name="connsiteY21" fmla="*/ 347156 h 732581"/>
                <a:gd name="connsiteX22" fmla="*/ 0 w 533976"/>
                <a:gd name="connsiteY22" fmla="*/ 336222 h 732581"/>
                <a:gd name="connsiteX23" fmla="*/ 183145 w 533976"/>
                <a:gd name="connsiteY23" fmla="*/ 128475 h 732581"/>
                <a:gd name="connsiteX24" fmla="*/ 188612 w 533976"/>
                <a:gd name="connsiteY24" fmla="*/ 95673 h 732581"/>
                <a:gd name="connsiteX25" fmla="*/ 194079 w 533976"/>
                <a:gd name="connsiteY25" fmla="*/ 60137 h 732581"/>
                <a:gd name="connsiteX26" fmla="*/ 218681 w 533976"/>
                <a:gd name="connsiteY26" fmla="*/ 13668 h 732581"/>
                <a:gd name="connsiteX27" fmla="*/ 246016 w 533976"/>
                <a:gd name="connsiteY27" fmla="*/ 0 h 732581"/>
                <a:gd name="connsiteX28" fmla="*/ 303420 w 533976"/>
                <a:gd name="connsiteY28" fmla="*/ 16401 h 732581"/>
                <a:gd name="connsiteX29" fmla="*/ 314354 w 533976"/>
                <a:gd name="connsiteY29" fmla="*/ 267884 h 732581"/>
                <a:gd name="connsiteX30" fmla="*/ 437362 w 533976"/>
                <a:gd name="connsiteY30" fmla="*/ 267884 h 732581"/>
                <a:gd name="connsiteX31" fmla="*/ 524834 w 533976"/>
                <a:gd name="connsiteY31" fmla="*/ 322555 h 732581"/>
                <a:gd name="connsiteX32" fmla="*/ 470164 w 533976"/>
                <a:gd name="connsiteY32" fmla="*/ 650576 h 732581"/>
                <a:gd name="connsiteX33" fmla="*/ 393626 w 533976"/>
                <a:gd name="connsiteY33" fmla="*/ 727114 h 732581"/>
                <a:gd name="connsiteX34" fmla="*/ 344423 w 533976"/>
                <a:gd name="connsiteY34" fmla="*/ 732581 h 732581"/>
                <a:gd name="connsiteX35" fmla="*/ 317087 w 533976"/>
                <a:gd name="connsiteY35" fmla="*/ 732581 h 73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33976" h="732581">
                  <a:moveTo>
                    <a:pt x="317087" y="732581"/>
                  </a:moveTo>
                  <a:cubicBezTo>
                    <a:pt x="303420" y="732581"/>
                    <a:pt x="292486" y="732581"/>
                    <a:pt x="278818" y="732581"/>
                  </a:cubicBezTo>
                  <a:cubicBezTo>
                    <a:pt x="265151" y="732581"/>
                    <a:pt x="87472" y="724381"/>
                    <a:pt x="24602" y="707980"/>
                  </a:cubicBezTo>
                  <a:lnTo>
                    <a:pt x="32802" y="680645"/>
                  </a:lnTo>
                  <a:cubicBezTo>
                    <a:pt x="90206" y="697046"/>
                    <a:pt x="259684" y="705246"/>
                    <a:pt x="281552" y="705246"/>
                  </a:cubicBezTo>
                  <a:cubicBezTo>
                    <a:pt x="303420" y="705246"/>
                    <a:pt x="325288" y="705246"/>
                    <a:pt x="347156" y="705246"/>
                  </a:cubicBezTo>
                  <a:cubicBezTo>
                    <a:pt x="366291" y="705246"/>
                    <a:pt x="382692" y="702513"/>
                    <a:pt x="388159" y="702513"/>
                  </a:cubicBezTo>
                  <a:cubicBezTo>
                    <a:pt x="407293" y="697046"/>
                    <a:pt x="429161" y="675178"/>
                    <a:pt x="448296" y="639642"/>
                  </a:cubicBezTo>
                  <a:cubicBezTo>
                    <a:pt x="497499" y="549436"/>
                    <a:pt x="522101" y="399093"/>
                    <a:pt x="500233" y="333488"/>
                  </a:cubicBezTo>
                  <a:cubicBezTo>
                    <a:pt x="492032" y="306153"/>
                    <a:pt x="456497" y="297953"/>
                    <a:pt x="437362" y="297953"/>
                  </a:cubicBezTo>
                  <a:cubicBezTo>
                    <a:pt x="437362" y="297953"/>
                    <a:pt x="437362" y="297953"/>
                    <a:pt x="437362" y="297953"/>
                  </a:cubicBezTo>
                  <a:lnTo>
                    <a:pt x="273351" y="297953"/>
                  </a:lnTo>
                  <a:lnTo>
                    <a:pt x="281552" y="278818"/>
                  </a:lnTo>
                  <a:cubicBezTo>
                    <a:pt x="289752" y="256950"/>
                    <a:pt x="325288" y="71071"/>
                    <a:pt x="284285" y="41003"/>
                  </a:cubicBezTo>
                  <a:cubicBezTo>
                    <a:pt x="270618" y="27335"/>
                    <a:pt x="265151" y="27335"/>
                    <a:pt x="246016" y="27335"/>
                  </a:cubicBezTo>
                  <a:cubicBezTo>
                    <a:pt x="243283" y="27335"/>
                    <a:pt x="240549" y="27335"/>
                    <a:pt x="237816" y="32802"/>
                  </a:cubicBezTo>
                  <a:cubicBezTo>
                    <a:pt x="229615" y="41003"/>
                    <a:pt x="224148" y="54670"/>
                    <a:pt x="218681" y="68338"/>
                  </a:cubicBezTo>
                  <a:cubicBezTo>
                    <a:pt x="215947" y="73805"/>
                    <a:pt x="215947" y="87472"/>
                    <a:pt x="213214" y="101140"/>
                  </a:cubicBezTo>
                  <a:cubicBezTo>
                    <a:pt x="210480" y="114807"/>
                    <a:pt x="210480" y="128475"/>
                    <a:pt x="207747" y="136676"/>
                  </a:cubicBezTo>
                  <a:cubicBezTo>
                    <a:pt x="177678" y="246016"/>
                    <a:pt x="13668" y="358090"/>
                    <a:pt x="13668" y="360824"/>
                  </a:cubicBezTo>
                  <a:lnTo>
                    <a:pt x="0" y="336222"/>
                  </a:lnTo>
                  <a:lnTo>
                    <a:pt x="8201" y="347156"/>
                  </a:lnTo>
                  <a:lnTo>
                    <a:pt x="0" y="336222"/>
                  </a:lnTo>
                  <a:cubicBezTo>
                    <a:pt x="2734" y="336222"/>
                    <a:pt x="155810" y="226882"/>
                    <a:pt x="183145" y="128475"/>
                  </a:cubicBezTo>
                  <a:cubicBezTo>
                    <a:pt x="185879" y="123008"/>
                    <a:pt x="185879" y="109340"/>
                    <a:pt x="188612" y="95673"/>
                  </a:cubicBezTo>
                  <a:cubicBezTo>
                    <a:pt x="191346" y="82005"/>
                    <a:pt x="191346" y="68338"/>
                    <a:pt x="194079" y="60137"/>
                  </a:cubicBezTo>
                  <a:cubicBezTo>
                    <a:pt x="199546" y="41003"/>
                    <a:pt x="207747" y="27335"/>
                    <a:pt x="218681" y="13668"/>
                  </a:cubicBezTo>
                  <a:cubicBezTo>
                    <a:pt x="226882" y="5467"/>
                    <a:pt x="235082" y="0"/>
                    <a:pt x="246016" y="0"/>
                  </a:cubicBezTo>
                  <a:cubicBezTo>
                    <a:pt x="270618" y="0"/>
                    <a:pt x="281552" y="0"/>
                    <a:pt x="303420" y="16401"/>
                  </a:cubicBezTo>
                  <a:cubicBezTo>
                    <a:pt x="355357" y="54670"/>
                    <a:pt x="328022" y="210480"/>
                    <a:pt x="314354" y="267884"/>
                  </a:cubicBezTo>
                  <a:lnTo>
                    <a:pt x="437362" y="267884"/>
                  </a:lnTo>
                  <a:cubicBezTo>
                    <a:pt x="470164" y="267884"/>
                    <a:pt x="513900" y="284285"/>
                    <a:pt x="524834" y="322555"/>
                  </a:cubicBezTo>
                  <a:cubicBezTo>
                    <a:pt x="549436" y="396359"/>
                    <a:pt x="522101" y="554903"/>
                    <a:pt x="470164" y="650576"/>
                  </a:cubicBezTo>
                  <a:cubicBezTo>
                    <a:pt x="445563" y="694312"/>
                    <a:pt x="420961" y="718914"/>
                    <a:pt x="393626" y="727114"/>
                  </a:cubicBezTo>
                  <a:cubicBezTo>
                    <a:pt x="382692" y="729848"/>
                    <a:pt x="360824" y="732581"/>
                    <a:pt x="344423" y="732581"/>
                  </a:cubicBezTo>
                  <a:cubicBezTo>
                    <a:pt x="336222" y="732581"/>
                    <a:pt x="325288" y="732581"/>
                    <a:pt x="317087" y="732581"/>
                  </a:cubicBez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2" name="Группа 274">
            <a:extLst>
              <a:ext uri="{FF2B5EF4-FFF2-40B4-BE49-F238E27FC236}">
                <a16:creationId xmlns:a16="http://schemas.microsoft.com/office/drawing/2014/main" id="{9F4D1A37-EFCE-4B8B-8046-57E65301C263}"/>
              </a:ext>
            </a:extLst>
          </p:cNvPr>
          <p:cNvGrpSpPr>
            <a:grpSpLocks noChangeAspect="1"/>
          </p:cNvGrpSpPr>
          <p:nvPr/>
        </p:nvGrpSpPr>
        <p:grpSpPr>
          <a:xfrm>
            <a:off x="7605528" y="5572932"/>
            <a:ext cx="393052" cy="420979"/>
            <a:chOff x="5581651" y="2116137"/>
            <a:chExt cx="893762" cy="957263"/>
          </a:xfrm>
        </p:grpSpPr>
        <p:sp>
          <p:nvSpPr>
            <p:cNvPr id="113" name="Rectangle 175">
              <a:extLst>
                <a:ext uri="{FF2B5EF4-FFF2-40B4-BE49-F238E27FC236}">
                  <a16:creationId xmlns:a16="http://schemas.microsoft.com/office/drawing/2014/main" id="{A867FD42-B6B6-4224-966D-509AB8950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878137"/>
              <a:ext cx="115887" cy="1158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" name="Rectangle 176">
              <a:extLst>
                <a:ext uri="{FF2B5EF4-FFF2-40B4-BE49-F238E27FC236}">
                  <a16:creationId xmlns:a16="http://schemas.microsoft.com/office/drawing/2014/main" id="{7EC32440-D807-411E-84A9-EA86F36CE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1" y="2878137"/>
              <a:ext cx="115887" cy="1158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" name="Rectangle 177">
              <a:extLst>
                <a:ext uri="{FF2B5EF4-FFF2-40B4-BE49-F238E27FC236}">
                  <a16:creationId xmlns:a16="http://schemas.microsoft.com/office/drawing/2014/main" id="{524DC825-369C-4953-B72D-50B154645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711450"/>
              <a:ext cx="115887" cy="1238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" name="Freeform 8">
              <a:extLst>
                <a:ext uri="{FF2B5EF4-FFF2-40B4-BE49-F238E27FC236}">
                  <a16:creationId xmlns:a16="http://schemas.microsoft.com/office/drawing/2014/main" id="{18E4BAC6-D90B-4373-BCCC-5B3517DF93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1651" y="2609850"/>
              <a:ext cx="468312" cy="463550"/>
            </a:xfrm>
            <a:custGeom>
              <a:avLst/>
              <a:gdLst>
                <a:gd name="T0" fmla="*/ 24 w 65"/>
                <a:gd name="T1" fmla="*/ 57 h 64"/>
                <a:gd name="T2" fmla="*/ 21 w 65"/>
                <a:gd name="T3" fmla="*/ 56 h 64"/>
                <a:gd name="T4" fmla="*/ 13 w 65"/>
                <a:gd name="T5" fmla="*/ 59 h 64"/>
                <a:gd name="T6" fmla="*/ 6 w 65"/>
                <a:gd name="T7" fmla="*/ 48 h 64"/>
                <a:gd name="T8" fmla="*/ 7 w 65"/>
                <a:gd name="T9" fmla="*/ 41 h 64"/>
                <a:gd name="T10" fmla="*/ 0 w 65"/>
                <a:gd name="T11" fmla="*/ 38 h 64"/>
                <a:gd name="T12" fmla="*/ 1 w 65"/>
                <a:gd name="T13" fmla="*/ 25 h 64"/>
                <a:gd name="T14" fmla="*/ 7 w 65"/>
                <a:gd name="T15" fmla="*/ 23 h 64"/>
                <a:gd name="T16" fmla="*/ 5 w 65"/>
                <a:gd name="T17" fmla="*/ 16 h 64"/>
                <a:gd name="T18" fmla="*/ 13 w 65"/>
                <a:gd name="T19" fmla="*/ 6 h 64"/>
                <a:gd name="T20" fmla="*/ 20 w 65"/>
                <a:gd name="T21" fmla="*/ 9 h 64"/>
                <a:gd name="T22" fmla="*/ 24 w 65"/>
                <a:gd name="T23" fmla="*/ 2 h 64"/>
                <a:gd name="T24" fmla="*/ 39 w 65"/>
                <a:gd name="T25" fmla="*/ 0 h 64"/>
                <a:gd name="T26" fmla="*/ 42 w 65"/>
                <a:gd name="T27" fmla="*/ 7 h 64"/>
                <a:gd name="T28" fmla="*/ 49 w 65"/>
                <a:gd name="T29" fmla="*/ 6 h 64"/>
                <a:gd name="T30" fmla="*/ 60 w 65"/>
                <a:gd name="T31" fmla="*/ 14 h 64"/>
                <a:gd name="T32" fmla="*/ 57 w 65"/>
                <a:gd name="T33" fmla="*/ 21 h 64"/>
                <a:gd name="T34" fmla="*/ 58 w 65"/>
                <a:gd name="T35" fmla="*/ 24 h 64"/>
                <a:gd name="T36" fmla="*/ 65 w 65"/>
                <a:gd name="T37" fmla="*/ 27 h 64"/>
                <a:gd name="T38" fmla="*/ 64 w 65"/>
                <a:gd name="T39" fmla="*/ 40 h 64"/>
                <a:gd name="T40" fmla="*/ 57 w 65"/>
                <a:gd name="T41" fmla="*/ 44 h 64"/>
                <a:gd name="T42" fmla="*/ 59 w 65"/>
                <a:gd name="T43" fmla="*/ 51 h 64"/>
                <a:gd name="T44" fmla="*/ 49 w 65"/>
                <a:gd name="T45" fmla="*/ 59 h 64"/>
                <a:gd name="T46" fmla="*/ 42 w 65"/>
                <a:gd name="T47" fmla="*/ 57 h 64"/>
                <a:gd name="T48" fmla="*/ 41 w 65"/>
                <a:gd name="T49" fmla="*/ 63 h 64"/>
                <a:gd name="T50" fmla="*/ 27 w 65"/>
                <a:gd name="T51" fmla="*/ 64 h 64"/>
                <a:gd name="T52" fmla="*/ 38 w 65"/>
                <a:gd name="T53" fmla="*/ 55 h 64"/>
                <a:gd name="T54" fmla="*/ 41 w 65"/>
                <a:gd name="T55" fmla="*/ 53 h 64"/>
                <a:gd name="T56" fmla="*/ 46 w 65"/>
                <a:gd name="T57" fmla="*/ 52 h 64"/>
                <a:gd name="T58" fmla="*/ 55 w 65"/>
                <a:gd name="T59" fmla="*/ 49 h 64"/>
                <a:gd name="T60" fmla="*/ 52 w 65"/>
                <a:gd name="T61" fmla="*/ 43 h 64"/>
                <a:gd name="T62" fmla="*/ 56 w 65"/>
                <a:gd name="T63" fmla="*/ 37 h 64"/>
                <a:gd name="T64" fmla="*/ 61 w 65"/>
                <a:gd name="T65" fmla="*/ 29 h 64"/>
                <a:gd name="T66" fmla="*/ 55 w 65"/>
                <a:gd name="T67" fmla="*/ 27 h 64"/>
                <a:gd name="T68" fmla="*/ 53 w 65"/>
                <a:gd name="T69" fmla="*/ 21 h 64"/>
                <a:gd name="T70" fmla="*/ 56 w 65"/>
                <a:gd name="T71" fmla="*/ 15 h 64"/>
                <a:gd name="T72" fmla="*/ 46 w 65"/>
                <a:gd name="T73" fmla="*/ 13 h 64"/>
                <a:gd name="T74" fmla="*/ 39 w 65"/>
                <a:gd name="T75" fmla="*/ 11 h 64"/>
                <a:gd name="T76" fmla="*/ 37 w 65"/>
                <a:gd name="T77" fmla="*/ 4 h 64"/>
                <a:gd name="T78" fmla="*/ 27 w 65"/>
                <a:gd name="T79" fmla="*/ 9 h 64"/>
                <a:gd name="T80" fmla="*/ 21 w 65"/>
                <a:gd name="T81" fmla="*/ 13 h 64"/>
                <a:gd name="T82" fmla="*/ 15 w 65"/>
                <a:gd name="T83" fmla="*/ 10 h 64"/>
                <a:gd name="T84" fmla="*/ 13 w 65"/>
                <a:gd name="T85" fmla="*/ 19 h 64"/>
                <a:gd name="T86" fmla="*/ 11 w 65"/>
                <a:gd name="T87" fmla="*/ 25 h 64"/>
                <a:gd name="T88" fmla="*/ 9 w 65"/>
                <a:gd name="T89" fmla="*/ 28 h 64"/>
                <a:gd name="T90" fmla="*/ 4 w 65"/>
                <a:gd name="T91" fmla="*/ 36 h 64"/>
                <a:gd name="T92" fmla="*/ 11 w 65"/>
                <a:gd name="T93" fmla="*/ 38 h 64"/>
                <a:gd name="T94" fmla="*/ 13 w 65"/>
                <a:gd name="T95" fmla="*/ 45 h 64"/>
                <a:gd name="T96" fmla="*/ 15 w 65"/>
                <a:gd name="T97" fmla="*/ 55 h 64"/>
                <a:gd name="T98" fmla="*/ 21 w 65"/>
                <a:gd name="T99" fmla="*/ 52 h 64"/>
                <a:gd name="T100" fmla="*/ 26 w 65"/>
                <a:gd name="T101" fmla="*/ 54 h 64"/>
                <a:gd name="T102" fmla="*/ 28 w 65"/>
                <a:gd name="T103" fmla="*/ 60 h 64"/>
                <a:gd name="T104" fmla="*/ 38 w 65"/>
                <a:gd name="T105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" h="64">
                  <a:moveTo>
                    <a:pt x="25" y="63"/>
                  </a:move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5" y="50"/>
                    <a:pt x="5" y="49"/>
                    <a:pt x="6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8" y="43"/>
                    <a:pt x="8" y="42"/>
                    <a:pt x="7" y="41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1" y="25"/>
                    <a:pt x="1" y="25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4"/>
                    <a:pt x="6" y="1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5" y="5"/>
                    <a:pt x="16" y="6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1"/>
                    <a:pt x="25" y="0"/>
                    <a:pt x="2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1" y="1"/>
                    <a:pt x="41" y="2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8"/>
                    <a:pt x="44" y="8"/>
                    <a:pt x="45" y="9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0" y="5"/>
                    <a:pt x="51" y="5"/>
                    <a:pt x="52" y="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5"/>
                    <a:pt x="60" y="16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5" y="25"/>
                    <a:pt x="65" y="26"/>
                    <a:pt x="65" y="2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9"/>
                    <a:pt x="65" y="40"/>
                    <a:pt x="64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7" y="43"/>
                    <a:pt x="57" y="4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9"/>
                    <a:pt x="60" y="50"/>
                    <a:pt x="59" y="51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9"/>
                    <a:pt x="50" y="59"/>
                    <a:pt x="49" y="59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4" y="56"/>
                    <a:pt x="43" y="56"/>
                    <a:pt x="42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0" y="64"/>
                    <a:pt x="40" y="64"/>
                    <a:pt x="39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64"/>
                    <a:pt x="25" y="64"/>
                    <a:pt x="25" y="63"/>
                  </a:cubicBezTo>
                  <a:close/>
                  <a:moveTo>
                    <a:pt x="38" y="55"/>
                  </a:moveTo>
                  <a:cubicBezTo>
                    <a:pt x="38" y="55"/>
                    <a:pt x="38" y="54"/>
                    <a:pt x="39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2" y="53"/>
                    <a:pt x="43" y="52"/>
                    <a:pt x="44" y="52"/>
                  </a:cubicBezTo>
                  <a:cubicBezTo>
                    <a:pt x="44" y="51"/>
                    <a:pt x="45" y="51"/>
                    <a:pt x="46" y="5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2" y="44"/>
                    <a:pt x="52" y="43"/>
                  </a:cubicBezTo>
                  <a:cubicBezTo>
                    <a:pt x="54" y="41"/>
                    <a:pt x="54" y="40"/>
                    <a:pt x="55" y="38"/>
                  </a:cubicBezTo>
                  <a:cubicBezTo>
                    <a:pt x="55" y="37"/>
                    <a:pt x="55" y="37"/>
                    <a:pt x="56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5" y="27"/>
                    <a:pt x="55" y="27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3" y="22"/>
                    <a:pt x="53" y="21"/>
                  </a:cubicBezTo>
                  <a:cubicBezTo>
                    <a:pt x="52" y="21"/>
                    <a:pt x="52" y="20"/>
                    <a:pt x="53" y="1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3"/>
                    <a:pt x="45" y="13"/>
                    <a:pt x="44" y="13"/>
                  </a:cubicBezTo>
                  <a:cubicBezTo>
                    <a:pt x="42" y="12"/>
                    <a:pt x="41" y="11"/>
                    <a:pt x="39" y="11"/>
                  </a:cubicBezTo>
                  <a:cubicBezTo>
                    <a:pt x="38" y="11"/>
                    <a:pt x="38" y="10"/>
                    <a:pt x="38" y="9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10"/>
                    <a:pt x="27" y="11"/>
                    <a:pt x="26" y="11"/>
                  </a:cubicBezTo>
                  <a:cubicBezTo>
                    <a:pt x="24" y="11"/>
                    <a:pt x="23" y="12"/>
                    <a:pt x="21" y="13"/>
                  </a:cubicBezTo>
                  <a:cubicBezTo>
                    <a:pt x="21" y="13"/>
                    <a:pt x="20" y="13"/>
                    <a:pt x="19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20"/>
                    <a:pt x="13" y="21"/>
                    <a:pt x="13" y="21"/>
                  </a:cubicBezTo>
                  <a:cubicBezTo>
                    <a:pt x="12" y="22"/>
                    <a:pt x="12" y="24"/>
                    <a:pt x="11" y="25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8"/>
                    <a:pt x="9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37"/>
                    <a:pt x="10" y="37"/>
                    <a:pt x="11" y="38"/>
                  </a:cubicBezTo>
                  <a:cubicBezTo>
                    <a:pt x="11" y="40"/>
                    <a:pt x="12" y="41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20" y="51"/>
                    <a:pt x="21" y="51"/>
                    <a:pt x="21" y="52"/>
                  </a:cubicBezTo>
                  <a:cubicBezTo>
                    <a:pt x="22" y="52"/>
                    <a:pt x="24" y="53"/>
                    <a:pt x="25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5"/>
                    <a:pt x="28" y="55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7" y="60"/>
                    <a:pt x="37" y="60"/>
                    <a:pt x="37" y="60"/>
                  </a:cubicBezTo>
                  <a:lnTo>
                    <a:pt x="38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" name="Freeform 9">
              <a:extLst>
                <a:ext uri="{FF2B5EF4-FFF2-40B4-BE49-F238E27FC236}">
                  <a16:creationId xmlns:a16="http://schemas.microsoft.com/office/drawing/2014/main" id="{7484FA5D-CDF9-4E86-A066-83FD3C7B55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6113" y="2747962"/>
              <a:ext cx="179387" cy="188912"/>
            </a:xfrm>
            <a:custGeom>
              <a:avLst/>
              <a:gdLst>
                <a:gd name="T0" fmla="*/ 0 w 25"/>
                <a:gd name="T1" fmla="*/ 13 h 26"/>
                <a:gd name="T2" fmla="*/ 13 w 25"/>
                <a:gd name="T3" fmla="*/ 0 h 26"/>
                <a:gd name="T4" fmla="*/ 13 w 25"/>
                <a:gd name="T5" fmla="*/ 0 h 26"/>
                <a:gd name="T6" fmla="*/ 25 w 25"/>
                <a:gd name="T7" fmla="*/ 13 h 26"/>
                <a:gd name="T8" fmla="*/ 13 w 25"/>
                <a:gd name="T9" fmla="*/ 26 h 26"/>
                <a:gd name="T10" fmla="*/ 0 w 25"/>
                <a:gd name="T11" fmla="*/ 13 h 26"/>
                <a:gd name="T12" fmla="*/ 4 w 25"/>
                <a:gd name="T13" fmla="*/ 13 h 26"/>
                <a:gd name="T14" fmla="*/ 13 w 25"/>
                <a:gd name="T15" fmla="*/ 22 h 26"/>
                <a:gd name="T16" fmla="*/ 21 w 25"/>
                <a:gd name="T17" fmla="*/ 13 h 26"/>
                <a:gd name="T18" fmla="*/ 13 w 25"/>
                <a:gd name="T19" fmla="*/ 4 h 26"/>
                <a:gd name="T20" fmla="*/ 4 w 25"/>
                <a:gd name="T2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26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6"/>
                    <a:pt x="25" y="13"/>
                  </a:cubicBezTo>
                  <a:cubicBezTo>
                    <a:pt x="25" y="20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  <a:moveTo>
                    <a:pt x="4" y="13"/>
                  </a:moveTo>
                  <a:cubicBezTo>
                    <a:pt x="4" y="18"/>
                    <a:pt x="8" y="22"/>
                    <a:pt x="13" y="22"/>
                  </a:cubicBezTo>
                  <a:cubicBezTo>
                    <a:pt x="17" y="22"/>
                    <a:pt x="21" y="18"/>
                    <a:pt x="21" y="13"/>
                  </a:cubicBezTo>
                  <a:cubicBezTo>
                    <a:pt x="21" y="8"/>
                    <a:pt x="17" y="4"/>
                    <a:pt x="13" y="4"/>
                  </a:cubicBezTo>
                  <a:cubicBezTo>
                    <a:pt x="8" y="4"/>
                    <a:pt x="4" y="8"/>
                    <a:pt x="4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" name="Freeform 10">
              <a:extLst>
                <a:ext uri="{FF2B5EF4-FFF2-40B4-BE49-F238E27FC236}">
                  <a16:creationId xmlns:a16="http://schemas.microsoft.com/office/drawing/2014/main" id="{A1164069-8F22-4943-86D6-088D3D52B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1" y="2398712"/>
              <a:ext cx="114300" cy="284162"/>
            </a:xfrm>
            <a:custGeom>
              <a:avLst/>
              <a:gdLst>
                <a:gd name="T0" fmla="*/ 11 w 16"/>
                <a:gd name="T1" fmla="*/ 31 h 39"/>
                <a:gd name="T2" fmla="*/ 10 w 16"/>
                <a:gd name="T3" fmla="*/ 31 h 39"/>
                <a:gd name="T4" fmla="*/ 4 w 16"/>
                <a:gd name="T5" fmla="*/ 31 h 39"/>
                <a:gd name="T6" fmla="*/ 3 w 16"/>
                <a:gd name="T7" fmla="*/ 38 h 39"/>
                <a:gd name="T8" fmla="*/ 0 w 16"/>
                <a:gd name="T9" fmla="*/ 39 h 39"/>
                <a:gd name="T10" fmla="*/ 0 w 16"/>
                <a:gd name="T11" fmla="*/ 0 h 39"/>
                <a:gd name="T12" fmla="*/ 16 w 16"/>
                <a:gd name="T13" fmla="*/ 0 h 39"/>
                <a:gd name="T14" fmla="*/ 16 w 16"/>
                <a:gd name="T15" fmla="*/ 31 h 39"/>
                <a:gd name="T16" fmla="*/ 11 w 16"/>
                <a:gd name="T17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9">
                  <a:moveTo>
                    <a:pt x="11" y="31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7" y="31"/>
                    <a:pt x="4" y="31"/>
                    <a:pt x="4" y="3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1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1"/>
                    <a:pt x="13" y="31"/>
                    <a:pt x="11" y="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" name="Freeform 11">
              <a:extLst>
                <a:ext uri="{FF2B5EF4-FFF2-40B4-BE49-F238E27FC236}">
                  <a16:creationId xmlns:a16="http://schemas.microsoft.com/office/drawing/2014/main" id="{BD1AD7DB-1060-43D7-8B8D-2F677AAB7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2551112"/>
              <a:ext cx="115887" cy="442912"/>
            </a:xfrm>
            <a:custGeom>
              <a:avLst/>
              <a:gdLst>
                <a:gd name="T0" fmla="*/ 7 w 16"/>
                <a:gd name="T1" fmla="*/ 58 h 61"/>
                <a:gd name="T2" fmla="*/ 3 w 16"/>
                <a:gd name="T3" fmla="*/ 52 h 61"/>
                <a:gd name="T4" fmla="*/ 5 w 16"/>
                <a:gd name="T5" fmla="*/ 47 h 61"/>
                <a:gd name="T6" fmla="*/ 12 w 16"/>
                <a:gd name="T7" fmla="*/ 46 h 61"/>
                <a:gd name="T8" fmla="*/ 12 w 16"/>
                <a:gd name="T9" fmla="*/ 35 h 61"/>
                <a:gd name="T10" fmla="*/ 6 w 16"/>
                <a:gd name="T11" fmla="*/ 34 h 61"/>
                <a:gd name="T12" fmla="*/ 3 w 16"/>
                <a:gd name="T13" fmla="*/ 29 h 61"/>
                <a:gd name="T14" fmla="*/ 7 w 16"/>
                <a:gd name="T15" fmla="*/ 23 h 61"/>
                <a:gd name="T16" fmla="*/ 0 w 16"/>
                <a:gd name="T17" fmla="*/ 15 h 61"/>
                <a:gd name="T18" fmla="*/ 0 w 16"/>
                <a:gd name="T19" fmla="*/ 0 h 61"/>
                <a:gd name="T20" fmla="*/ 16 w 16"/>
                <a:gd name="T21" fmla="*/ 0 h 61"/>
                <a:gd name="T22" fmla="*/ 16 w 16"/>
                <a:gd name="T23" fmla="*/ 61 h 61"/>
                <a:gd name="T24" fmla="*/ 3 w 16"/>
                <a:gd name="T25" fmla="*/ 61 h 61"/>
                <a:gd name="T26" fmla="*/ 7 w 16"/>
                <a:gd name="T27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61">
                  <a:moveTo>
                    <a:pt x="7" y="58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4" y="50"/>
                    <a:pt x="5" y="49"/>
                    <a:pt x="5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2"/>
                    <a:pt x="4" y="30"/>
                    <a:pt x="3" y="2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3" y="61"/>
                    <a:pt x="3" y="61"/>
                    <a:pt x="3" y="61"/>
                  </a:cubicBezTo>
                  <a:lnTo>
                    <a:pt x="7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" name="Freeform 27">
              <a:extLst>
                <a:ext uri="{FF2B5EF4-FFF2-40B4-BE49-F238E27FC236}">
                  <a16:creationId xmlns:a16="http://schemas.microsoft.com/office/drawing/2014/main" id="{7BF483F7-49D0-4CCD-B322-B400B5C08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838" y="2116137"/>
              <a:ext cx="604837" cy="485775"/>
            </a:xfrm>
            <a:custGeom>
              <a:avLst/>
              <a:gdLst>
                <a:gd name="T0" fmla="*/ 227 w 381"/>
                <a:gd name="T1" fmla="*/ 201 h 306"/>
                <a:gd name="T2" fmla="*/ 14 w 381"/>
                <a:gd name="T3" fmla="*/ 0 h 306"/>
                <a:gd name="T4" fmla="*/ 0 w 381"/>
                <a:gd name="T5" fmla="*/ 14 h 306"/>
                <a:gd name="T6" fmla="*/ 213 w 381"/>
                <a:gd name="T7" fmla="*/ 215 h 306"/>
                <a:gd name="T8" fmla="*/ 218 w 381"/>
                <a:gd name="T9" fmla="*/ 206 h 306"/>
                <a:gd name="T10" fmla="*/ 213 w 381"/>
                <a:gd name="T11" fmla="*/ 215 h 306"/>
                <a:gd name="T12" fmla="*/ 372 w 381"/>
                <a:gd name="T13" fmla="*/ 306 h 306"/>
                <a:gd name="T14" fmla="*/ 381 w 381"/>
                <a:gd name="T15" fmla="*/ 288 h 306"/>
                <a:gd name="T16" fmla="*/ 227 w 381"/>
                <a:gd name="T17" fmla="*/ 20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06">
                  <a:moveTo>
                    <a:pt x="227" y="201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213" y="215"/>
                  </a:lnTo>
                  <a:lnTo>
                    <a:pt x="218" y="206"/>
                  </a:lnTo>
                  <a:lnTo>
                    <a:pt x="213" y="215"/>
                  </a:lnTo>
                  <a:lnTo>
                    <a:pt x="372" y="306"/>
                  </a:lnTo>
                  <a:lnTo>
                    <a:pt x="381" y="288"/>
                  </a:lnTo>
                  <a:lnTo>
                    <a:pt x="227" y="201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" name="Freeform 28">
              <a:extLst>
                <a:ext uri="{FF2B5EF4-FFF2-40B4-BE49-F238E27FC236}">
                  <a16:creationId xmlns:a16="http://schemas.microsoft.com/office/drawing/2014/main" id="{AF953151-4A10-41D0-AE2A-4F9336C03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6" y="2471737"/>
              <a:ext cx="173037" cy="146050"/>
            </a:xfrm>
            <a:custGeom>
              <a:avLst/>
              <a:gdLst>
                <a:gd name="T0" fmla="*/ 0 w 109"/>
                <a:gd name="T1" fmla="*/ 92 h 92"/>
                <a:gd name="T2" fmla="*/ 109 w 109"/>
                <a:gd name="T3" fmla="*/ 92 h 92"/>
                <a:gd name="T4" fmla="*/ 50 w 109"/>
                <a:gd name="T5" fmla="*/ 0 h 92"/>
                <a:gd name="T6" fmla="*/ 0 w 109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2">
                  <a:moveTo>
                    <a:pt x="0" y="92"/>
                  </a:moveTo>
                  <a:lnTo>
                    <a:pt x="109" y="92"/>
                  </a:lnTo>
                  <a:lnTo>
                    <a:pt x="5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22" name="Группа 183">
            <a:extLst>
              <a:ext uri="{FF2B5EF4-FFF2-40B4-BE49-F238E27FC236}">
                <a16:creationId xmlns:a16="http://schemas.microsoft.com/office/drawing/2014/main" id="{E8837740-6570-45B9-8ED8-A0C7807D1115}"/>
              </a:ext>
            </a:extLst>
          </p:cNvPr>
          <p:cNvGrpSpPr>
            <a:grpSpLocks noChangeAspect="1"/>
          </p:cNvGrpSpPr>
          <p:nvPr/>
        </p:nvGrpSpPr>
        <p:grpSpPr>
          <a:xfrm>
            <a:off x="840717" y="3553839"/>
            <a:ext cx="355147" cy="288497"/>
            <a:chOff x="4792534" y="1334729"/>
            <a:chExt cx="1019794" cy="828412"/>
          </a:xfrm>
          <a:solidFill>
            <a:srgbClr val="FFFFFF"/>
          </a:solidFill>
        </p:grpSpPr>
        <p:sp>
          <p:nvSpPr>
            <p:cNvPr id="123" name="Полилиния: фигура 41">
              <a:extLst>
                <a:ext uri="{FF2B5EF4-FFF2-40B4-BE49-F238E27FC236}">
                  <a16:creationId xmlns:a16="http://schemas.microsoft.com/office/drawing/2014/main" id="{313141F1-5EEA-4D20-9DBD-68CCED863F1E}"/>
                </a:ext>
              </a:extLst>
            </p:cNvPr>
            <p:cNvSpPr/>
            <p:nvPr/>
          </p:nvSpPr>
          <p:spPr>
            <a:xfrm>
              <a:off x="4792534" y="1334729"/>
              <a:ext cx="1019794" cy="773731"/>
            </a:xfrm>
            <a:custGeom>
              <a:avLst/>
              <a:gdLst>
                <a:gd name="connsiteX0" fmla="*/ 1006125 w 1019794"/>
                <a:gd name="connsiteY0" fmla="*/ 773732 h 773731"/>
                <a:gd name="connsiteX1" fmla="*/ 874891 w 1019794"/>
                <a:gd name="connsiteY1" fmla="*/ 773732 h 773731"/>
                <a:gd name="connsiteX2" fmla="*/ 874891 w 1019794"/>
                <a:gd name="connsiteY2" fmla="*/ 746392 h 773731"/>
                <a:gd name="connsiteX3" fmla="*/ 992455 w 1019794"/>
                <a:gd name="connsiteY3" fmla="*/ 746392 h 773731"/>
                <a:gd name="connsiteX4" fmla="*/ 992455 w 1019794"/>
                <a:gd name="connsiteY4" fmla="*/ 27340 h 773731"/>
                <a:gd name="connsiteX5" fmla="*/ 27340 w 1019794"/>
                <a:gd name="connsiteY5" fmla="*/ 27340 h 773731"/>
                <a:gd name="connsiteX6" fmla="*/ 27340 w 1019794"/>
                <a:gd name="connsiteY6" fmla="*/ 746392 h 773731"/>
                <a:gd name="connsiteX7" fmla="*/ 153106 w 1019794"/>
                <a:gd name="connsiteY7" fmla="*/ 746392 h 773731"/>
                <a:gd name="connsiteX8" fmla="*/ 153106 w 1019794"/>
                <a:gd name="connsiteY8" fmla="*/ 773732 h 773731"/>
                <a:gd name="connsiteX9" fmla="*/ 13670 w 1019794"/>
                <a:gd name="connsiteY9" fmla="*/ 773732 h 773731"/>
                <a:gd name="connsiteX10" fmla="*/ 0 w 1019794"/>
                <a:gd name="connsiteY10" fmla="*/ 760062 h 773731"/>
                <a:gd name="connsiteX11" fmla="*/ 0 w 1019794"/>
                <a:gd name="connsiteY11" fmla="*/ 13670 h 773731"/>
                <a:gd name="connsiteX12" fmla="*/ 13670 w 1019794"/>
                <a:gd name="connsiteY12" fmla="*/ 0 h 773731"/>
                <a:gd name="connsiteX13" fmla="*/ 1006125 w 1019794"/>
                <a:gd name="connsiteY13" fmla="*/ 0 h 773731"/>
                <a:gd name="connsiteX14" fmla="*/ 1019795 w 1019794"/>
                <a:gd name="connsiteY14" fmla="*/ 13670 h 773731"/>
                <a:gd name="connsiteX15" fmla="*/ 1019795 w 1019794"/>
                <a:gd name="connsiteY15" fmla="*/ 760062 h 773731"/>
                <a:gd name="connsiteX16" fmla="*/ 1006125 w 1019794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4" h="773731">
                  <a:moveTo>
                    <a:pt x="1006125" y="773732"/>
                  </a:moveTo>
                  <a:lnTo>
                    <a:pt x="874891" y="773732"/>
                  </a:lnTo>
                  <a:lnTo>
                    <a:pt x="87489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53106" y="746392"/>
                  </a:lnTo>
                  <a:lnTo>
                    <a:pt x="153106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42">
              <a:extLst>
                <a:ext uri="{FF2B5EF4-FFF2-40B4-BE49-F238E27FC236}">
                  <a16:creationId xmlns:a16="http://schemas.microsoft.com/office/drawing/2014/main" id="{B8BB05B9-976E-49EA-A95E-94743B22BA74}"/>
                </a:ext>
              </a:extLst>
            </p:cNvPr>
            <p:cNvSpPr/>
            <p:nvPr/>
          </p:nvSpPr>
          <p:spPr>
            <a:xfrm>
              <a:off x="5030395" y="2026440"/>
              <a:ext cx="262467" cy="82021"/>
            </a:xfrm>
            <a:custGeom>
              <a:avLst/>
              <a:gdLst>
                <a:gd name="connsiteX0" fmla="*/ 248797 w 262467"/>
                <a:gd name="connsiteY0" fmla="*/ 82021 h 82021"/>
                <a:gd name="connsiteX1" fmla="*/ 13670 w 262467"/>
                <a:gd name="connsiteY1" fmla="*/ 82021 h 82021"/>
                <a:gd name="connsiteX2" fmla="*/ 0 w 262467"/>
                <a:gd name="connsiteY2" fmla="*/ 68351 h 82021"/>
                <a:gd name="connsiteX3" fmla="*/ 0 w 262467"/>
                <a:gd name="connsiteY3" fmla="*/ 13670 h 82021"/>
                <a:gd name="connsiteX4" fmla="*/ 13670 w 262467"/>
                <a:gd name="connsiteY4" fmla="*/ 0 h 82021"/>
                <a:gd name="connsiteX5" fmla="*/ 248797 w 262467"/>
                <a:gd name="connsiteY5" fmla="*/ 0 h 82021"/>
                <a:gd name="connsiteX6" fmla="*/ 262467 w 262467"/>
                <a:gd name="connsiteY6" fmla="*/ 13670 h 82021"/>
                <a:gd name="connsiteX7" fmla="*/ 262467 w 262467"/>
                <a:gd name="connsiteY7" fmla="*/ 68351 h 82021"/>
                <a:gd name="connsiteX8" fmla="*/ 248797 w 262467"/>
                <a:gd name="connsiteY8" fmla="*/ 82021 h 82021"/>
                <a:gd name="connsiteX9" fmla="*/ 27340 w 262467"/>
                <a:gd name="connsiteY9" fmla="*/ 54681 h 82021"/>
                <a:gd name="connsiteX10" fmla="*/ 235127 w 262467"/>
                <a:gd name="connsiteY10" fmla="*/ 54681 h 82021"/>
                <a:gd name="connsiteX11" fmla="*/ 235127 w 262467"/>
                <a:gd name="connsiteY11" fmla="*/ 27340 h 82021"/>
                <a:gd name="connsiteX12" fmla="*/ 27340 w 262467"/>
                <a:gd name="connsiteY12" fmla="*/ 27340 h 82021"/>
                <a:gd name="connsiteX13" fmla="*/ 27340 w 262467"/>
                <a:gd name="connsiteY13" fmla="*/ 5468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2467" h="82021">
                  <a:moveTo>
                    <a:pt x="248797" y="82021"/>
                  </a:moveTo>
                  <a:lnTo>
                    <a:pt x="13670" y="82021"/>
                  </a:lnTo>
                  <a:cubicBezTo>
                    <a:pt x="5468" y="82021"/>
                    <a:pt x="0" y="76553"/>
                    <a:pt x="0" y="6835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48797" y="0"/>
                  </a:lnTo>
                  <a:cubicBezTo>
                    <a:pt x="256999" y="0"/>
                    <a:pt x="262467" y="5468"/>
                    <a:pt x="262467" y="13670"/>
                  </a:cubicBezTo>
                  <a:lnTo>
                    <a:pt x="262467" y="68351"/>
                  </a:lnTo>
                  <a:cubicBezTo>
                    <a:pt x="262467" y="76553"/>
                    <a:pt x="256999" y="82021"/>
                    <a:pt x="248797" y="82021"/>
                  </a:cubicBezTo>
                  <a:close/>
                  <a:moveTo>
                    <a:pt x="27340" y="54681"/>
                  </a:moveTo>
                  <a:lnTo>
                    <a:pt x="235127" y="54681"/>
                  </a:lnTo>
                  <a:lnTo>
                    <a:pt x="235127" y="27340"/>
                  </a:lnTo>
                  <a:lnTo>
                    <a:pt x="27340" y="27340"/>
                  </a:lnTo>
                  <a:lnTo>
                    <a:pt x="27340" y="5468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43">
              <a:extLst>
                <a:ext uri="{FF2B5EF4-FFF2-40B4-BE49-F238E27FC236}">
                  <a16:creationId xmlns:a16="http://schemas.microsoft.com/office/drawing/2014/main" id="{8BC19402-6B55-4F4F-BE2C-C407C695A4F7}"/>
                </a:ext>
              </a:extLst>
            </p:cNvPr>
            <p:cNvSpPr/>
            <p:nvPr/>
          </p:nvSpPr>
          <p:spPr>
            <a:xfrm>
              <a:off x="4989385" y="2081120"/>
              <a:ext cx="341754" cy="82021"/>
            </a:xfrm>
            <a:custGeom>
              <a:avLst/>
              <a:gdLst>
                <a:gd name="connsiteX0" fmla="*/ 27340 w 341754"/>
                <a:gd name="connsiteY0" fmla="*/ 82021 h 82021"/>
                <a:gd name="connsiteX1" fmla="*/ 0 w 341754"/>
                <a:gd name="connsiteY1" fmla="*/ 82021 h 82021"/>
                <a:gd name="connsiteX2" fmla="*/ 0 w 341754"/>
                <a:gd name="connsiteY2" fmla="*/ 35542 h 82021"/>
                <a:gd name="connsiteX3" fmla="*/ 35543 w 341754"/>
                <a:gd name="connsiteY3" fmla="*/ 0 h 82021"/>
                <a:gd name="connsiteX4" fmla="*/ 308946 w 341754"/>
                <a:gd name="connsiteY4" fmla="*/ 0 h 82021"/>
                <a:gd name="connsiteX5" fmla="*/ 341754 w 341754"/>
                <a:gd name="connsiteY5" fmla="*/ 32808 h 82021"/>
                <a:gd name="connsiteX6" fmla="*/ 341754 w 341754"/>
                <a:gd name="connsiteY6" fmla="*/ 82021 h 82021"/>
                <a:gd name="connsiteX7" fmla="*/ 314414 w 341754"/>
                <a:gd name="connsiteY7" fmla="*/ 82021 h 82021"/>
                <a:gd name="connsiteX8" fmla="*/ 314414 w 341754"/>
                <a:gd name="connsiteY8" fmla="*/ 32808 h 82021"/>
                <a:gd name="connsiteX9" fmla="*/ 308946 w 341754"/>
                <a:gd name="connsiteY9" fmla="*/ 27340 h 82021"/>
                <a:gd name="connsiteX10" fmla="*/ 35543 w 341754"/>
                <a:gd name="connsiteY10" fmla="*/ 27340 h 82021"/>
                <a:gd name="connsiteX11" fmla="*/ 27340 w 341754"/>
                <a:gd name="connsiteY11" fmla="*/ 35542 h 82021"/>
                <a:gd name="connsiteX12" fmla="*/ 27340 w 341754"/>
                <a:gd name="connsiteY12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754" h="82021">
                  <a:moveTo>
                    <a:pt x="27340" y="82021"/>
                  </a:moveTo>
                  <a:lnTo>
                    <a:pt x="0" y="82021"/>
                  </a:lnTo>
                  <a:lnTo>
                    <a:pt x="0" y="35542"/>
                  </a:lnTo>
                  <a:cubicBezTo>
                    <a:pt x="0" y="16404"/>
                    <a:pt x="16404" y="0"/>
                    <a:pt x="35543" y="0"/>
                  </a:cubicBezTo>
                  <a:lnTo>
                    <a:pt x="308946" y="0"/>
                  </a:lnTo>
                  <a:cubicBezTo>
                    <a:pt x="328084" y="0"/>
                    <a:pt x="341754" y="13670"/>
                    <a:pt x="341754" y="32808"/>
                  </a:cubicBezTo>
                  <a:lnTo>
                    <a:pt x="341754" y="82021"/>
                  </a:lnTo>
                  <a:lnTo>
                    <a:pt x="314414" y="82021"/>
                  </a:lnTo>
                  <a:lnTo>
                    <a:pt x="314414" y="32808"/>
                  </a:lnTo>
                  <a:cubicBezTo>
                    <a:pt x="314414" y="30074"/>
                    <a:pt x="311680" y="27340"/>
                    <a:pt x="308946" y="27340"/>
                  </a:cubicBezTo>
                  <a:lnTo>
                    <a:pt x="35543" y="27340"/>
                  </a:lnTo>
                  <a:cubicBezTo>
                    <a:pt x="30074" y="27340"/>
                    <a:pt x="27340" y="30074"/>
                    <a:pt x="27340" y="35542"/>
                  </a:cubicBezTo>
                  <a:lnTo>
                    <a:pt x="2734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44">
              <a:extLst>
                <a:ext uri="{FF2B5EF4-FFF2-40B4-BE49-F238E27FC236}">
                  <a16:creationId xmlns:a16="http://schemas.microsoft.com/office/drawing/2014/main" id="{29DE883C-378E-4A8C-A341-10870B19F26E}"/>
                </a:ext>
              </a:extLst>
            </p:cNvPr>
            <p:cNvSpPr/>
            <p:nvPr/>
          </p:nvSpPr>
          <p:spPr>
            <a:xfrm>
              <a:off x="5369415" y="2078386"/>
              <a:ext cx="240595" cy="84755"/>
            </a:xfrm>
            <a:custGeom>
              <a:avLst/>
              <a:gdLst>
                <a:gd name="connsiteX0" fmla="*/ 240595 w 240595"/>
                <a:gd name="connsiteY0" fmla="*/ 84755 h 84755"/>
                <a:gd name="connsiteX1" fmla="*/ 213255 w 240595"/>
                <a:gd name="connsiteY1" fmla="*/ 84755 h 84755"/>
                <a:gd name="connsiteX2" fmla="*/ 213255 w 240595"/>
                <a:gd name="connsiteY2" fmla="*/ 32808 h 84755"/>
                <a:gd name="connsiteX3" fmla="*/ 207787 w 240595"/>
                <a:gd name="connsiteY3" fmla="*/ 27340 h 84755"/>
                <a:gd name="connsiteX4" fmla="*/ 0 w 240595"/>
                <a:gd name="connsiteY4" fmla="*/ 27340 h 84755"/>
                <a:gd name="connsiteX5" fmla="*/ 0 w 240595"/>
                <a:gd name="connsiteY5" fmla="*/ 0 h 84755"/>
                <a:gd name="connsiteX6" fmla="*/ 207787 w 240595"/>
                <a:gd name="connsiteY6" fmla="*/ 0 h 84755"/>
                <a:gd name="connsiteX7" fmla="*/ 240595 w 240595"/>
                <a:gd name="connsiteY7" fmla="*/ 32808 h 84755"/>
                <a:gd name="connsiteX8" fmla="*/ 240595 w 240595"/>
                <a:gd name="connsiteY8" fmla="*/ 84755 h 8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595" h="84755">
                  <a:moveTo>
                    <a:pt x="240595" y="84755"/>
                  </a:moveTo>
                  <a:lnTo>
                    <a:pt x="213255" y="84755"/>
                  </a:lnTo>
                  <a:lnTo>
                    <a:pt x="213255" y="32808"/>
                  </a:lnTo>
                  <a:cubicBezTo>
                    <a:pt x="213255" y="30074"/>
                    <a:pt x="210521" y="27340"/>
                    <a:pt x="207787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ubicBezTo>
                    <a:pt x="226925" y="0"/>
                    <a:pt x="240595" y="13670"/>
                    <a:pt x="240595" y="32808"/>
                  </a:cubicBezTo>
                  <a:lnTo>
                    <a:pt x="240595" y="84755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45">
              <a:extLst>
                <a:ext uri="{FF2B5EF4-FFF2-40B4-BE49-F238E27FC236}">
                  <a16:creationId xmlns:a16="http://schemas.microsoft.com/office/drawing/2014/main" id="{50DD27D7-7048-4B61-9B73-EBC226F1DC19}"/>
                </a:ext>
              </a:extLst>
            </p:cNvPr>
            <p:cNvSpPr/>
            <p:nvPr/>
          </p:nvSpPr>
          <p:spPr>
            <a:xfrm>
              <a:off x="5320203" y="1922546"/>
              <a:ext cx="54680" cy="125765"/>
            </a:xfrm>
            <a:custGeom>
              <a:avLst/>
              <a:gdLst>
                <a:gd name="connsiteX0" fmla="*/ 24607 w 54680"/>
                <a:gd name="connsiteY0" fmla="*/ 125766 h 125765"/>
                <a:gd name="connsiteX1" fmla="*/ 0 w 54680"/>
                <a:gd name="connsiteY1" fmla="*/ 114829 h 125765"/>
                <a:gd name="connsiteX2" fmla="*/ 27340 w 54680"/>
                <a:gd name="connsiteY2" fmla="*/ 0 h 125765"/>
                <a:gd name="connsiteX3" fmla="*/ 54681 w 54680"/>
                <a:gd name="connsiteY3" fmla="*/ 2734 h 125765"/>
                <a:gd name="connsiteX4" fmla="*/ 24607 w 54680"/>
                <a:gd name="connsiteY4" fmla="*/ 125766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0" h="125765">
                  <a:moveTo>
                    <a:pt x="24607" y="125766"/>
                  </a:moveTo>
                  <a:lnTo>
                    <a:pt x="0" y="114829"/>
                  </a:lnTo>
                  <a:cubicBezTo>
                    <a:pt x="0" y="114829"/>
                    <a:pt x="19139" y="73819"/>
                    <a:pt x="27340" y="0"/>
                  </a:cubicBezTo>
                  <a:lnTo>
                    <a:pt x="54681" y="2734"/>
                  </a:lnTo>
                  <a:cubicBezTo>
                    <a:pt x="43745" y="79287"/>
                    <a:pt x="24607" y="123032"/>
                    <a:pt x="24607" y="12576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46">
              <a:extLst>
                <a:ext uri="{FF2B5EF4-FFF2-40B4-BE49-F238E27FC236}">
                  <a16:creationId xmlns:a16="http://schemas.microsoft.com/office/drawing/2014/main" id="{DFEB648D-7285-465A-9684-717085443F90}"/>
                </a:ext>
              </a:extLst>
            </p:cNvPr>
            <p:cNvSpPr/>
            <p:nvPr/>
          </p:nvSpPr>
          <p:spPr>
            <a:xfrm>
              <a:off x="5082342" y="1660079"/>
              <a:ext cx="123031" cy="123031"/>
            </a:xfrm>
            <a:custGeom>
              <a:avLst/>
              <a:gdLst>
                <a:gd name="connsiteX0" fmla="*/ 27340 w 123031"/>
                <a:gd name="connsiteY0" fmla="*/ 123032 h 123031"/>
                <a:gd name="connsiteX1" fmla="*/ 0 w 123031"/>
                <a:gd name="connsiteY1" fmla="*/ 114829 h 123031"/>
                <a:gd name="connsiteX2" fmla="*/ 109361 w 123031"/>
                <a:gd name="connsiteY2" fmla="*/ 0 h 123031"/>
                <a:gd name="connsiteX3" fmla="*/ 123032 w 123031"/>
                <a:gd name="connsiteY3" fmla="*/ 24606 h 123031"/>
                <a:gd name="connsiteX4" fmla="*/ 27340 w 123031"/>
                <a:gd name="connsiteY4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" h="123031">
                  <a:moveTo>
                    <a:pt x="27340" y="123032"/>
                  </a:moveTo>
                  <a:lnTo>
                    <a:pt x="0" y="114829"/>
                  </a:lnTo>
                  <a:cubicBezTo>
                    <a:pt x="0" y="112095"/>
                    <a:pt x="19138" y="49213"/>
                    <a:pt x="109361" y="0"/>
                  </a:cubicBezTo>
                  <a:lnTo>
                    <a:pt x="123032" y="24606"/>
                  </a:lnTo>
                  <a:cubicBezTo>
                    <a:pt x="43745" y="68351"/>
                    <a:pt x="27340" y="123032"/>
                    <a:pt x="27340" y="1230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48">
              <a:extLst>
                <a:ext uri="{FF2B5EF4-FFF2-40B4-BE49-F238E27FC236}">
                  <a16:creationId xmlns:a16="http://schemas.microsoft.com/office/drawing/2014/main" id="{58C4AF56-0AB4-44DD-9299-DA45B4D6B7A9}"/>
                </a:ext>
              </a:extLst>
            </p:cNvPr>
            <p:cNvSpPr/>
            <p:nvPr/>
          </p:nvSpPr>
          <p:spPr>
            <a:xfrm>
              <a:off x="5489030" y="1867866"/>
              <a:ext cx="101842" cy="235127"/>
            </a:xfrm>
            <a:custGeom>
              <a:avLst/>
              <a:gdLst>
                <a:gd name="connsiteX0" fmla="*/ 77236 w 101842"/>
                <a:gd name="connsiteY0" fmla="*/ 235127 h 235127"/>
                <a:gd name="connsiteX1" fmla="*/ 74502 w 101842"/>
                <a:gd name="connsiteY1" fmla="*/ 232393 h 235127"/>
                <a:gd name="connsiteX2" fmla="*/ 17088 w 101842"/>
                <a:gd name="connsiteY2" fmla="*/ 128500 h 235127"/>
                <a:gd name="connsiteX3" fmla="*/ 684 w 101842"/>
                <a:gd name="connsiteY3" fmla="*/ 0 h 235127"/>
                <a:gd name="connsiteX4" fmla="*/ 28024 w 101842"/>
                <a:gd name="connsiteY4" fmla="*/ 2734 h 235127"/>
                <a:gd name="connsiteX5" fmla="*/ 44428 w 101842"/>
                <a:gd name="connsiteY5" fmla="*/ 120298 h 235127"/>
                <a:gd name="connsiteX6" fmla="*/ 99109 w 101842"/>
                <a:gd name="connsiteY6" fmla="*/ 215989 h 235127"/>
                <a:gd name="connsiteX7" fmla="*/ 101843 w 101842"/>
                <a:gd name="connsiteY7" fmla="*/ 218723 h 235127"/>
                <a:gd name="connsiteX8" fmla="*/ 77236 w 101842"/>
                <a:gd name="connsiteY8" fmla="*/ 235127 h 23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842" h="235127">
                  <a:moveTo>
                    <a:pt x="77236" y="235127"/>
                  </a:moveTo>
                  <a:lnTo>
                    <a:pt x="74502" y="232393"/>
                  </a:lnTo>
                  <a:cubicBezTo>
                    <a:pt x="58098" y="210521"/>
                    <a:pt x="28024" y="166776"/>
                    <a:pt x="17088" y="128500"/>
                  </a:cubicBezTo>
                  <a:cubicBezTo>
                    <a:pt x="3417" y="87489"/>
                    <a:pt x="-2051" y="43745"/>
                    <a:pt x="684" y="0"/>
                  </a:cubicBezTo>
                  <a:lnTo>
                    <a:pt x="28024" y="2734"/>
                  </a:lnTo>
                  <a:cubicBezTo>
                    <a:pt x="25290" y="43745"/>
                    <a:pt x="30758" y="82021"/>
                    <a:pt x="44428" y="120298"/>
                  </a:cubicBezTo>
                  <a:cubicBezTo>
                    <a:pt x="55364" y="155840"/>
                    <a:pt x="82705" y="194117"/>
                    <a:pt x="99109" y="215989"/>
                  </a:cubicBezTo>
                  <a:lnTo>
                    <a:pt x="101843" y="218723"/>
                  </a:lnTo>
                  <a:lnTo>
                    <a:pt x="77236" y="2351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49">
              <a:extLst>
                <a:ext uri="{FF2B5EF4-FFF2-40B4-BE49-F238E27FC236}">
                  <a16:creationId xmlns:a16="http://schemas.microsoft.com/office/drawing/2014/main" id="{DBE3B3B7-CC10-4844-BC6E-94D791BD99BE}"/>
                </a:ext>
              </a:extLst>
            </p:cNvPr>
            <p:cNvSpPr/>
            <p:nvPr/>
          </p:nvSpPr>
          <p:spPr>
            <a:xfrm>
              <a:off x="5361213" y="1614917"/>
              <a:ext cx="188259" cy="179129"/>
            </a:xfrm>
            <a:custGeom>
              <a:avLst/>
              <a:gdLst>
                <a:gd name="connsiteX0" fmla="*/ 153106 w 188259"/>
                <a:gd name="connsiteY0" fmla="*/ 179130 h 179129"/>
                <a:gd name="connsiteX1" fmla="*/ 136702 w 188259"/>
                <a:gd name="connsiteY1" fmla="*/ 157257 h 179129"/>
                <a:gd name="connsiteX2" fmla="*/ 155840 w 188259"/>
                <a:gd name="connsiteY2" fmla="*/ 135385 h 179129"/>
                <a:gd name="connsiteX3" fmla="*/ 153106 w 188259"/>
                <a:gd name="connsiteY3" fmla="*/ 69768 h 179129"/>
                <a:gd name="connsiteX4" fmla="*/ 90223 w 188259"/>
                <a:gd name="connsiteY4" fmla="*/ 28758 h 179129"/>
                <a:gd name="connsiteX5" fmla="*/ 16404 w 188259"/>
                <a:gd name="connsiteY5" fmla="*/ 45162 h 179129"/>
                <a:gd name="connsiteX6" fmla="*/ 0 w 188259"/>
                <a:gd name="connsiteY6" fmla="*/ 23290 h 179129"/>
                <a:gd name="connsiteX7" fmla="*/ 95691 w 188259"/>
                <a:gd name="connsiteY7" fmla="*/ 1417 h 179129"/>
                <a:gd name="connsiteX8" fmla="*/ 177712 w 188259"/>
                <a:gd name="connsiteY8" fmla="*/ 58832 h 179129"/>
                <a:gd name="connsiteX9" fmla="*/ 180446 w 188259"/>
                <a:gd name="connsiteY9" fmla="*/ 146321 h 179129"/>
                <a:gd name="connsiteX10" fmla="*/ 153106 w 188259"/>
                <a:gd name="connsiteY10" fmla="*/ 179130 h 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59" h="179129">
                  <a:moveTo>
                    <a:pt x="153106" y="179130"/>
                  </a:moveTo>
                  <a:lnTo>
                    <a:pt x="136702" y="157257"/>
                  </a:lnTo>
                  <a:cubicBezTo>
                    <a:pt x="144904" y="151789"/>
                    <a:pt x="153106" y="146321"/>
                    <a:pt x="155840" y="135385"/>
                  </a:cubicBezTo>
                  <a:cubicBezTo>
                    <a:pt x="166776" y="102577"/>
                    <a:pt x="158574" y="80704"/>
                    <a:pt x="153106" y="69768"/>
                  </a:cubicBezTo>
                  <a:cubicBezTo>
                    <a:pt x="142170" y="47896"/>
                    <a:pt x="120298" y="31492"/>
                    <a:pt x="90223" y="28758"/>
                  </a:cubicBezTo>
                  <a:cubicBezTo>
                    <a:pt x="46479" y="23290"/>
                    <a:pt x="16404" y="45162"/>
                    <a:pt x="16404" y="45162"/>
                  </a:cubicBezTo>
                  <a:lnTo>
                    <a:pt x="0" y="23290"/>
                  </a:lnTo>
                  <a:cubicBezTo>
                    <a:pt x="2734" y="23290"/>
                    <a:pt x="41011" y="-6785"/>
                    <a:pt x="95691" y="1417"/>
                  </a:cubicBezTo>
                  <a:cubicBezTo>
                    <a:pt x="133968" y="6885"/>
                    <a:pt x="164042" y="26024"/>
                    <a:pt x="177712" y="58832"/>
                  </a:cubicBezTo>
                  <a:cubicBezTo>
                    <a:pt x="183181" y="69768"/>
                    <a:pt x="196851" y="102577"/>
                    <a:pt x="180446" y="146321"/>
                  </a:cubicBezTo>
                  <a:cubicBezTo>
                    <a:pt x="174979" y="162725"/>
                    <a:pt x="161308" y="173662"/>
                    <a:pt x="153106" y="179130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50">
              <a:extLst>
                <a:ext uri="{FF2B5EF4-FFF2-40B4-BE49-F238E27FC236}">
                  <a16:creationId xmlns:a16="http://schemas.microsoft.com/office/drawing/2014/main" id="{1CBCF2DD-4B91-4F82-A3A6-E031E73600E3}"/>
                </a:ext>
              </a:extLst>
            </p:cNvPr>
            <p:cNvSpPr/>
            <p:nvPr/>
          </p:nvSpPr>
          <p:spPr>
            <a:xfrm>
              <a:off x="5424096" y="1763972"/>
              <a:ext cx="153106" cy="103893"/>
            </a:xfrm>
            <a:custGeom>
              <a:avLst/>
              <a:gdLst>
                <a:gd name="connsiteX0" fmla="*/ 101159 w 153106"/>
                <a:gd name="connsiteY0" fmla="*/ 103893 h 103893"/>
                <a:gd name="connsiteX1" fmla="*/ 0 w 153106"/>
                <a:gd name="connsiteY1" fmla="*/ 103893 h 103893"/>
                <a:gd name="connsiteX2" fmla="*/ 0 w 153106"/>
                <a:gd name="connsiteY2" fmla="*/ 76553 h 103893"/>
                <a:gd name="connsiteX3" fmla="*/ 101159 w 153106"/>
                <a:gd name="connsiteY3" fmla="*/ 76553 h 103893"/>
                <a:gd name="connsiteX4" fmla="*/ 125766 w 153106"/>
                <a:gd name="connsiteY4" fmla="*/ 51947 h 103893"/>
                <a:gd name="connsiteX5" fmla="*/ 101159 w 153106"/>
                <a:gd name="connsiteY5" fmla="*/ 27340 h 103893"/>
                <a:gd name="connsiteX6" fmla="*/ 5468 w 153106"/>
                <a:gd name="connsiteY6" fmla="*/ 27340 h 103893"/>
                <a:gd name="connsiteX7" fmla="*/ 5468 w 153106"/>
                <a:gd name="connsiteY7" fmla="*/ 0 h 103893"/>
                <a:gd name="connsiteX8" fmla="*/ 101159 w 153106"/>
                <a:gd name="connsiteY8" fmla="*/ 0 h 103893"/>
                <a:gd name="connsiteX9" fmla="*/ 153106 w 153106"/>
                <a:gd name="connsiteY9" fmla="*/ 51947 h 103893"/>
                <a:gd name="connsiteX10" fmla="*/ 101159 w 153106"/>
                <a:gd name="connsiteY10" fmla="*/ 103893 h 1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03893">
                  <a:moveTo>
                    <a:pt x="101159" y="103893"/>
                  </a:moveTo>
                  <a:lnTo>
                    <a:pt x="0" y="103893"/>
                  </a:lnTo>
                  <a:lnTo>
                    <a:pt x="0" y="76553"/>
                  </a:lnTo>
                  <a:lnTo>
                    <a:pt x="101159" y="76553"/>
                  </a:lnTo>
                  <a:cubicBezTo>
                    <a:pt x="114829" y="76553"/>
                    <a:pt x="125766" y="65617"/>
                    <a:pt x="125766" y="51947"/>
                  </a:cubicBezTo>
                  <a:cubicBezTo>
                    <a:pt x="125766" y="38276"/>
                    <a:pt x="114829" y="27340"/>
                    <a:pt x="101159" y="27340"/>
                  </a:cubicBezTo>
                  <a:lnTo>
                    <a:pt x="5468" y="27340"/>
                  </a:lnTo>
                  <a:lnTo>
                    <a:pt x="5468" y="0"/>
                  </a:lnTo>
                  <a:lnTo>
                    <a:pt x="101159" y="0"/>
                  </a:lnTo>
                  <a:cubicBezTo>
                    <a:pt x="128500" y="0"/>
                    <a:pt x="153106" y="21872"/>
                    <a:pt x="153106" y="51947"/>
                  </a:cubicBezTo>
                  <a:cubicBezTo>
                    <a:pt x="153106" y="82021"/>
                    <a:pt x="128500" y="103893"/>
                    <a:pt x="101159" y="10389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51">
              <a:extLst>
                <a:ext uri="{FF2B5EF4-FFF2-40B4-BE49-F238E27FC236}">
                  <a16:creationId xmlns:a16="http://schemas.microsoft.com/office/drawing/2014/main" id="{81B158B2-85EA-4BAD-8E45-C0C543E9F664}"/>
                </a:ext>
              </a:extLst>
            </p:cNvPr>
            <p:cNvSpPr/>
            <p:nvPr/>
          </p:nvSpPr>
          <p:spPr>
            <a:xfrm>
              <a:off x="5011257" y="1599930"/>
              <a:ext cx="389177" cy="448381"/>
            </a:xfrm>
            <a:custGeom>
              <a:avLst/>
              <a:gdLst>
                <a:gd name="connsiteX0" fmla="*/ 68351 w 389177"/>
                <a:gd name="connsiteY0" fmla="*/ 448382 h 448381"/>
                <a:gd name="connsiteX1" fmla="*/ 43744 w 389177"/>
                <a:gd name="connsiteY1" fmla="*/ 434712 h 448381"/>
                <a:gd name="connsiteX2" fmla="*/ 46479 w 389177"/>
                <a:gd name="connsiteY2" fmla="*/ 369095 h 448381"/>
                <a:gd name="connsiteX3" fmla="*/ 8202 w 389177"/>
                <a:gd name="connsiteY3" fmla="*/ 330818 h 448381"/>
                <a:gd name="connsiteX4" fmla="*/ 0 w 389177"/>
                <a:gd name="connsiteY4" fmla="*/ 317148 h 448381"/>
                <a:gd name="connsiteX5" fmla="*/ 2734 w 389177"/>
                <a:gd name="connsiteY5" fmla="*/ 136702 h 448381"/>
                <a:gd name="connsiteX6" fmla="*/ 2734 w 389177"/>
                <a:gd name="connsiteY6" fmla="*/ 131234 h 448381"/>
                <a:gd name="connsiteX7" fmla="*/ 57414 w 389177"/>
                <a:gd name="connsiteY7" fmla="*/ 54681 h 448381"/>
                <a:gd name="connsiteX8" fmla="*/ 196850 w 389177"/>
                <a:gd name="connsiteY8" fmla="*/ 0 h 448381"/>
                <a:gd name="connsiteX9" fmla="*/ 328084 w 389177"/>
                <a:gd name="connsiteY9" fmla="*/ 62883 h 448381"/>
                <a:gd name="connsiteX10" fmla="*/ 303478 w 389177"/>
                <a:gd name="connsiteY10" fmla="*/ 95691 h 448381"/>
                <a:gd name="connsiteX11" fmla="*/ 289807 w 389177"/>
                <a:gd name="connsiteY11" fmla="*/ 109361 h 448381"/>
                <a:gd name="connsiteX12" fmla="*/ 311680 w 389177"/>
                <a:gd name="connsiteY12" fmla="*/ 128500 h 448381"/>
                <a:gd name="connsiteX13" fmla="*/ 374563 w 389177"/>
                <a:gd name="connsiteY13" fmla="*/ 191382 h 448381"/>
                <a:gd name="connsiteX14" fmla="*/ 385499 w 389177"/>
                <a:gd name="connsiteY14" fmla="*/ 259733 h 448381"/>
                <a:gd name="connsiteX15" fmla="*/ 325350 w 389177"/>
                <a:gd name="connsiteY15" fmla="*/ 303478 h 448381"/>
                <a:gd name="connsiteX16" fmla="*/ 303478 w 389177"/>
                <a:gd name="connsiteY16" fmla="*/ 292542 h 448381"/>
                <a:gd name="connsiteX17" fmla="*/ 287074 w 389177"/>
                <a:gd name="connsiteY17" fmla="*/ 281606 h 448381"/>
                <a:gd name="connsiteX18" fmla="*/ 265201 w 389177"/>
                <a:gd name="connsiteY18" fmla="*/ 276138 h 448381"/>
                <a:gd name="connsiteX19" fmla="*/ 281605 w 389177"/>
                <a:gd name="connsiteY19" fmla="*/ 306212 h 448381"/>
                <a:gd name="connsiteX20" fmla="*/ 287074 w 389177"/>
                <a:gd name="connsiteY20" fmla="*/ 358159 h 448381"/>
                <a:gd name="connsiteX21" fmla="*/ 267935 w 389177"/>
                <a:gd name="connsiteY21" fmla="*/ 380031 h 448381"/>
                <a:gd name="connsiteX22" fmla="*/ 256999 w 389177"/>
                <a:gd name="connsiteY22" fmla="*/ 390967 h 448381"/>
                <a:gd name="connsiteX23" fmla="*/ 248797 w 389177"/>
                <a:gd name="connsiteY23" fmla="*/ 437446 h 448381"/>
                <a:gd name="connsiteX24" fmla="*/ 221457 w 389177"/>
                <a:gd name="connsiteY24" fmla="*/ 440180 h 448381"/>
                <a:gd name="connsiteX25" fmla="*/ 237861 w 389177"/>
                <a:gd name="connsiteY25" fmla="*/ 374563 h 448381"/>
                <a:gd name="connsiteX26" fmla="*/ 254265 w 389177"/>
                <a:gd name="connsiteY26" fmla="*/ 360893 h 448381"/>
                <a:gd name="connsiteX27" fmla="*/ 262467 w 389177"/>
                <a:gd name="connsiteY27" fmla="*/ 349956 h 448381"/>
                <a:gd name="connsiteX28" fmla="*/ 256999 w 389177"/>
                <a:gd name="connsiteY28" fmla="*/ 319882 h 448381"/>
                <a:gd name="connsiteX29" fmla="*/ 240595 w 389177"/>
                <a:gd name="connsiteY29" fmla="*/ 292542 h 448381"/>
                <a:gd name="connsiteX30" fmla="*/ 232393 w 389177"/>
                <a:gd name="connsiteY30" fmla="*/ 265201 h 448381"/>
                <a:gd name="connsiteX31" fmla="*/ 298010 w 389177"/>
                <a:gd name="connsiteY31" fmla="*/ 262467 h 448381"/>
                <a:gd name="connsiteX32" fmla="*/ 319882 w 389177"/>
                <a:gd name="connsiteY32" fmla="*/ 276138 h 448381"/>
                <a:gd name="connsiteX33" fmla="*/ 328084 w 389177"/>
                <a:gd name="connsiteY33" fmla="*/ 281606 h 448381"/>
                <a:gd name="connsiteX34" fmla="*/ 360893 w 389177"/>
                <a:gd name="connsiteY34" fmla="*/ 256999 h 448381"/>
                <a:gd name="connsiteX35" fmla="*/ 352690 w 389177"/>
                <a:gd name="connsiteY35" fmla="*/ 210521 h 448381"/>
                <a:gd name="connsiteX36" fmla="*/ 300744 w 389177"/>
                <a:gd name="connsiteY36" fmla="*/ 158574 h 448381"/>
                <a:gd name="connsiteX37" fmla="*/ 267935 w 389177"/>
                <a:gd name="connsiteY37" fmla="*/ 114829 h 448381"/>
                <a:gd name="connsiteX38" fmla="*/ 292542 w 389177"/>
                <a:gd name="connsiteY38" fmla="*/ 79287 h 448381"/>
                <a:gd name="connsiteX39" fmla="*/ 303478 w 389177"/>
                <a:gd name="connsiteY39" fmla="*/ 68351 h 448381"/>
                <a:gd name="connsiteX40" fmla="*/ 199584 w 389177"/>
                <a:gd name="connsiteY40" fmla="*/ 30074 h 448381"/>
                <a:gd name="connsiteX41" fmla="*/ 199584 w 389177"/>
                <a:gd name="connsiteY41" fmla="*/ 30074 h 448381"/>
                <a:gd name="connsiteX42" fmla="*/ 82021 w 389177"/>
                <a:gd name="connsiteY42" fmla="*/ 76553 h 448381"/>
                <a:gd name="connsiteX43" fmla="*/ 35542 w 389177"/>
                <a:gd name="connsiteY43" fmla="*/ 142170 h 448381"/>
                <a:gd name="connsiteX44" fmla="*/ 32808 w 389177"/>
                <a:gd name="connsiteY44" fmla="*/ 311680 h 448381"/>
                <a:gd name="connsiteX45" fmla="*/ 76553 w 389177"/>
                <a:gd name="connsiteY45" fmla="*/ 358159 h 448381"/>
                <a:gd name="connsiteX46" fmla="*/ 68351 w 389177"/>
                <a:gd name="connsiteY46" fmla="*/ 448382 h 4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89177" h="448381">
                  <a:moveTo>
                    <a:pt x="68351" y="448382"/>
                  </a:moveTo>
                  <a:lnTo>
                    <a:pt x="43744" y="434712"/>
                  </a:lnTo>
                  <a:cubicBezTo>
                    <a:pt x="46479" y="431978"/>
                    <a:pt x="60149" y="399169"/>
                    <a:pt x="46479" y="369095"/>
                  </a:cubicBezTo>
                  <a:cubicBezTo>
                    <a:pt x="35542" y="347222"/>
                    <a:pt x="16404" y="336286"/>
                    <a:pt x="8202" y="330818"/>
                  </a:cubicBezTo>
                  <a:cubicBezTo>
                    <a:pt x="2734" y="328084"/>
                    <a:pt x="0" y="322616"/>
                    <a:pt x="0" y="317148"/>
                  </a:cubicBezTo>
                  <a:lnTo>
                    <a:pt x="2734" y="136702"/>
                  </a:lnTo>
                  <a:cubicBezTo>
                    <a:pt x="2734" y="133968"/>
                    <a:pt x="2734" y="133968"/>
                    <a:pt x="2734" y="131234"/>
                  </a:cubicBezTo>
                  <a:cubicBezTo>
                    <a:pt x="13670" y="101159"/>
                    <a:pt x="32808" y="73819"/>
                    <a:pt x="57414" y="54681"/>
                  </a:cubicBezTo>
                  <a:cubicBezTo>
                    <a:pt x="76553" y="38276"/>
                    <a:pt x="125765" y="0"/>
                    <a:pt x="196850" y="0"/>
                  </a:cubicBezTo>
                  <a:cubicBezTo>
                    <a:pt x="251531" y="0"/>
                    <a:pt x="325350" y="24606"/>
                    <a:pt x="328084" y="62883"/>
                  </a:cubicBezTo>
                  <a:cubicBezTo>
                    <a:pt x="328084" y="79287"/>
                    <a:pt x="314414" y="90223"/>
                    <a:pt x="303478" y="95691"/>
                  </a:cubicBezTo>
                  <a:cubicBezTo>
                    <a:pt x="295275" y="101159"/>
                    <a:pt x="289807" y="106627"/>
                    <a:pt x="289807" y="109361"/>
                  </a:cubicBezTo>
                  <a:cubicBezTo>
                    <a:pt x="289807" y="114829"/>
                    <a:pt x="300744" y="120298"/>
                    <a:pt x="311680" y="128500"/>
                  </a:cubicBezTo>
                  <a:cubicBezTo>
                    <a:pt x="330818" y="139436"/>
                    <a:pt x="355425" y="158574"/>
                    <a:pt x="374563" y="191382"/>
                  </a:cubicBezTo>
                  <a:cubicBezTo>
                    <a:pt x="380031" y="205053"/>
                    <a:pt x="396435" y="229659"/>
                    <a:pt x="385499" y="259733"/>
                  </a:cubicBezTo>
                  <a:cubicBezTo>
                    <a:pt x="374563" y="287074"/>
                    <a:pt x="347222" y="306212"/>
                    <a:pt x="325350" y="303478"/>
                  </a:cubicBezTo>
                  <a:cubicBezTo>
                    <a:pt x="314414" y="303478"/>
                    <a:pt x="308946" y="298010"/>
                    <a:pt x="303478" y="292542"/>
                  </a:cubicBezTo>
                  <a:cubicBezTo>
                    <a:pt x="300744" y="289808"/>
                    <a:pt x="295275" y="287074"/>
                    <a:pt x="287074" y="281606"/>
                  </a:cubicBezTo>
                  <a:cubicBezTo>
                    <a:pt x="278872" y="278872"/>
                    <a:pt x="273404" y="276138"/>
                    <a:pt x="265201" y="276138"/>
                  </a:cubicBezTo>
                  <a:cubicBezTo>
                    <a:pt x="270669" y="281606"/>
                    <a:pt x="276137" y="292542"/>
                    <a:pt x="281605" y="306212"/>
                  </a:cubicBezTo>
                  <a:cubicBezTo>
                    <a:pt x="287074" y="319882"/>
                    <a:pt x="295275" y="339020"/>
                    <a:pt x="287074" y="358159"/>
                  </a:cubicBezTo>
                  <a:cubicBezTo>
                    <a:pt x="281605" y="371829"/>
                    <a:pt x="273404" y="377297"/>
                    <a:pt x="267935" y="380031"/>
                  </a:cubicBezTo>
                  <a:cubicBezTo>
                    <a:pt x="265201" y="382765"/>
                    <a:pt x="259733" y="385499"/>
                    <a:pt x="256999" y="390967"/>
                  </a:cubicBezTo>
                  <a:cubicBezTo>
                    <a:pt x="248797" y="401903"/>
                    <a:pt x="246063" y="415573"/>
                    <a:pt x="248797" y="437446"/>
                  </a:cubicBezTo>
                  <a:lnTo>
                    <a:pt x="221457" y="440180"/>
                  </a:lnTo>
                  <a:cubicBezTo>
                    <a:pt x="218723" y="412839"/>
                    <a:pt x="224191" y="388233"/>
                    <a:pt x="237861" y="374563"/>
                  </a:cubicBezTo>
                  <a:cubicBezTo>
                    <a:pt x="243329" y="366361"/>
                    <a:pt x="248797" y="363627"/>
                    <a:pt x="254265" y="360893"/>
                  </a:cubicBezTo>
                  <a:cubicBezTo>
                    <a:pt x="259733" y="358159"/>
                    <a:pt x="262467" y="355425"/>
                    <a:pt x="262467" y="349956"/>
                  </a:cubicBezTo>
                  <a:cubicBezTo>
                    <a:pt x="265201" y="341754"/>
                    <a:pt x="259733" y="330818"/>
                    <a:pt x="256999" y="319882"/>
                  </a:cubicBezTo>
                  <a:cubicBezTo>
                    <a:pt x="251531" y="306212"/>
                    <a:pt x="246063" y="298010"/>
                    <a:pt x="240595" y="292542"/>
                  </a:cubicBezTo>
                  <a:cubicBezTo>
                    <a:pt x="235127" y="284340"/>
                    <a:pt x="226925" y="276138"/>
                    <a:pt x="232393" y="265201"/>
                  </a:cubicBezTo>
                  <a:cubicBezTo>
                    <a:pt x="246063" y="240595"/>
                    <a:pt x="295275" y="262467"/>
                    <a:pt x="298010" y="262467"/>
                  </a:cubicBezTo>
                  <a:cubicBezTo>
                    <a:pt x="308946" y="267935"/>
                    <a:pt x="317148" y="273404"/>
                    <a:pt x="319882" y="276138"/>
                  </a:cubicBezTo>
                  <a:cubicBezTo>
                    <a:pt x="325350" y="278872"/>
                    <a:pt x="325350" y="281606"/>
                    <a:pt x="328084" y="281606"/>
                  </a:cubicBezTo>
                  <a:cubicBezTo>
                    <a:pt x="339020" y="281606"/>
                    <a:pt x="355425" y="270669"/>
                    <a:pt x="360893" y="256999"/>
                  </a:cubicBezTo>
                  <a:cubicBezTo>
                    <a:pt x="366361" y="240595"/>
                    <a:pt x="358158" y="221457"/>
                    <a:pt x="352690" y="210521"/>
                  </a:cubicBezTo>
                  <a:cubicBezTo>
                    <a:pt x="339020" y="183180"/>
                    <a:pt x="317148" y="169510"/>
                    <a:pt x="300744" y="158574"/>
                  </a:cubicBezTo>
                  <a:cubicBezTo>
                    <a:pt x="284340" y="147638"/>
                    <a:pt x="265201" y="136702"/>
                    <a:pt x="267935" y="114829"/>
                  </a:cubicBezTo>
                  <a:cubicBezTo>
                    <a:pt x="267935" y="95691"/>
                    <a:pt x="284340" y="87489"/>
                    <a:pt x="292542" y="79287"/>
                  </a:cubicBezTo>
                  <a:cubicBezTo>
                    <a:pt x="298010" y="76553"/>
                    <a:pt x="303478" y="71085"/>
                    <a:pt x="303478" y="68351"/>
                  </a:cubicBezTo>
                  <a:cubicBezTo>
                    <a:pt x="303478" y="57415"/>
                    <a:pt x="254265" y="32808"/>
                    <a:pt x="199584" y="30074"/>
                  </a:cubicBezTo>
                  <a:cubicBezTo>
                    <a:pt x="199584" y="30074"/>
                    <a:pt x="199584" y="30074"/>
                    <a:pt x="199584" y="30074"/>
                  </a:cubicBezTo>
                  <a:cubicBezTo>
                    <a:pt x="139436" y="30074"/>
                    <a:pt x="95691" y="62883"/>
                    <a:pt x="82021" y="76553"/>
                  </a:cubicBezTo>
                  <a:cubicBezTo>
                    <a:pt x="62882" y="95691"/>
                    <a:pt x="46479" y="117563"/>
                    <a:pt x="35542" y="142170"/>
                  </a:cubicBezTo>
                  <a:lnTo>
                    <a:pt x="32808" y="311680"/>
                  </a:lnTo>
                  <a:cubicBezTo>
                    <a:pt x="46479" y="319882"/>
                    <a:pt x="65617" y="333552"/>
                    <a:pt x="76553" y="358159"/>
                  </a:cubicBezTo>
                  <a:cubicBezTo>
                    <a:pt x="92957" y="399169"/>
                    <a:pt x="73819" y="440180"/>
                    <a:pt x="68351" y="44838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52">
              <a:extLst>
                <a:ext uri="{FF2B5EF4-FFF2-40B4-BE49-F238E27FC236}">
                  <a16:creationId xmlns:a16="http://schemas.microsoft.com/office/drawing/2014/main" id="{0F737DF1-57C6-47F3-BA13-B97916212F5B}"/>
                </a:ext>
              </a:extLst>
            </p:cNvPr>
            <p:cNvSpPr/>
            <p:nvPr/>
          </p:nvSpPr>
          <p:spPr>
            <a:xfrm>
              <a:off x="4926502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34" name="Рисунок 18">
              <a:extLst>
                <a:ext uri="{FF2B5EF4-FFF2-40B4-BE49-F238E27FC236}">
                  <a16:creationId xmlns:a16="http://schemas.microsoft.com/office/drawing/2014/main" id="{5231D5A6-916C-4014-BAFC-DFB1B6CCE7D9}"/>
                </a:ext>
              </a:extLst>
            </p:cNvPr>
            <p:cNvGrpSpPr/>
            <p:nvPr/>
          </p:nvGrpSpPr>
          <p:grpSpPr>
            <a:xfrm>
              <a:off x="4923768" y="1411282"/>
              <a:ext cx="281605" cy="60148"/>
              <a:chOff x="4923768" y="1411282"/>
              <a:chExt cx="281605" cy="60148"/>
            </a:xfrm>
            <a:grpFill/>
          </p:grpSpPr>
          <p:sp>
            <p:nvSpPr>
              <p:cNvPr id="135" name="Полилиния: фигура 54">
                <a:extLst>
                  <a:ext uri="{FF2B5EF4-FFF2-40B4-BE49-F238E27FC236}">
                    <a16:creationId xmlns:a16="http://schemas.microsoft.com/office/drawing/2014/main" id="{72774B4A-D46B-4F69-8649-F71B4F31205C}"/>
                  </a:ext>
                </a:extLst>
              </p:cNvPr>
              <p:cNvSpPr/>
              <p:nvPr/>
            </p:nvSpPr>
            <p:spPr>
              <a:xfrm>
                <a:off x="5033129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6" name="Полилиния: фигура 55">
                <a:extLst>
                  <a:ext uri="{FF2B5EF4-FFF2-40B4-BE49-F238E27FC236}">
                    <a16:creationId xmlns:a16="http://schemas.microsoft.com/office/drawing/2014/main" id="{D0FEC498-E7B9-4A5E-8C1F-1B25A3D7FF4D}"/>
                  </a:ext>
                </a:extLst>
              </p:cNvPr>
              <p:cNvSpPr/>
              <p:nvPr/>
            </p:nvSpPr>
            <p:spPr>
              <a:xfrm>
                <a:off x="5142491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7" name="Полилиния: фигура 56">
                <a:extLst>
                  <a:ext uri="{FF2B5EF4-FFF2-40B4-BE49-F238E27FC236}">
                    <a16:creationId xmlns:a16="http://schemas.microsoft.com/office/drawing/2014/main" id="{114AF24C-F1C5-4025-A4BD-4F2CF18F06B1}"/>
                  </a:ext>
                </a:extLst>
              </p:cNvPr>
              <p:cNvSpPr/>
              <p:nvPr/>
            </p:nvSpPr>
            <p:spPr>
              <a:xfrm>
                <a:off x="4923768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38" name="Группа 195">
            <a:extLst>
              <a:ext uri="{FF2B5EF4-FFF2-40B4-BE49-F238E27FC236}">
                <a16:creationId xmlns:a16="http://schemas.microsoft.com/office/drawing/2014/main" id="{5B1E7C58-D2F1-4FFA-B013-F613C776775F}"/>
              </a:ext>
            </a:extLst>
          </p:cNvPr>
          <p:cNvGrpSpPr>
            <a:grpSpLocks noChangeAspect="1"/>
          </p:cNvGrpSpPr>
          <p:nvPr/>
        </p:nvGrpSpPr>
        <p:grpSpPr>
          <a:xfrm>
            <a:off x="848967" y="4467435"/>
            <a:ext cx="330562" cy="318441"/>
            <a:chOff x="1502079" y="2071721"/>
            <a:chExt cx="820210" cy="790135"/>
          </a:xfrm>
          <a:solidFill>
            <a:srgbClr val="FFFFFF"/>
          </a:solidFill>
        </p:grpSpPr>
        <p:sp>
          <p:nvSpPr>
            <p:cNvPr id="139" name="Полилиния: фигура 119">
              <a:extLst>
                <a:ext uri="{FF2B5EF4-FFF2-40B4-BE49-F238E27FC236}">
                  <a16:creationId xmlns:a16="http://schemas.microsoft.com/office/drawing/2014/main" id="{148E161B-A907-4591-B488-C6E99754F197}"/>
                </a:ext>
              </a:extLst>
            </p:cNvPr>
            <p:cNvSpPr/>
            <p:nvPr/>
          </p:nvSpPr>
          <p:spPr>
            <a:xfrm>
              <a:off x="2084428" y="2353327"/>
              <a:ext cx="142169" cy="153105"/>
            </a:xfrm>
            <a:custGeom>
              <a:avLst/>
              <a:gdLst>
                <a:gd name="connsiteX0" fmla="*/ 142170 w 142169"/>
                <a:gd name="connsiteY0" fmla="*/ 153106 h 153105"/>
                <a:gd name="connsiteX1" fmla="*/ 0 w 142169"/>
                <a:gd name="connsiteY1" fmla="*/ 76553 h 153105"/>
                <a:gd name="connsiteX2" fmla="*/ 142170 w 142169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169" h="153105">
                  <a:moveTo>
                    <a:pt x="142170" y="153106"/>
                  </a:moveTo>
                  <a:lnTo>
                    <a:pt x="0" y="76553"/>
                  </a:lnTo>
                  <a:lnTo>
                    <a:pt x="142170" y="0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120">
              <a:extLst>
                <a:ext uri="{FF2B5EF4-FFF2-40B4-BE49-F238E27FC236}">
                  <a16:creationId xmlns:a16="http://schemas.microsoft.com/office/drawing/2014/main" id="{608C3A8C-467D-4280-9726-9591B1783F1E}"/>
                </a:ext>
              </a:extLst>
            </p:cNvPr>
            <p:cNvSpPr/>
            <p:nvPr/>
          </p:nvSpPr>
          <p:spPr>
            <a:xfrm>
              <a:off x="1532153" y="2082658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8 h 120297"/>
                <a:gd name="connsiteX3" fmla="*/ 0 w 125765"/>
                <a:gd name="connsiteY3" fmla="*/ 120298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8"/>
                  </a:lnTo>
                  <a:lnTo>
                    <a:pt x="0" y="12029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1" name="Полилиния: фигура 121">
              <a:extLst>
                <a:ext uri="{FF2B5EF4-FFF2-40B4-BE49-F238E27FC236}">
                  <a16:creationId xmlns:a16="http://schemas.microsoft.com/office/drawing/2014/main" id="{66888101-EE97-4145-8C9C-385F64DFB304}"/>
                </a:ext>
              </a:extLst>
            </p:cNvPr>
            <p:cNvSpPr/>
            <p:nvPr/>
          </p:nvSpPr>
          <p:spPr>
            <a:xfrm>
              <a:off x="1819227" y="2708751"/>
              <a:ext cx="139435" cy="153105"/>
            </a:xfrm>
            <a:custGeom>
              <a:avLst/>
              <a:gdLst>
                <a:gd name="connsiteX0" fmla="*/ 0 w 139435"/>
                <a:gd name="connsiteY0" fmla="*/ 153106 h 153105"/>
                <a:gd name="connsiteX1" fmla="*/ 139436 w 139435"/>
                <a:gd name="connsiteY1" fmla="*/ 76553 h 153105"/>
                <a:gd name="connsiteX2" fmla="*/ 0 w 139435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435" h="153105">
                  <a:moveTo>
                    <a:pt x="0" y="153106"/>
                  </a:moveTo>
                  <a:lnTo>
                    <a:pt x="139436" y="765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22">
              <a:extLst>
                <a:ext uri="{FF2B5EF4-FFF2-40B4-BE49-F238E27FC236}">
                  <a16:creationId xmlns:a16="http://schemas.microsoft.com/office/drawing/2014/main" id="{72FB8347-7CE7-4BC8-B06E-342BE663652C}"/>
                </a:ext>
              </a:extLst>
            </p:cNvPr>
            <p:cNvSpPr/>
            <p:nvPr/>
          </p:nvSpPr>
          <p:spPr>
            <a:xfrm>
              <a:off x="2002407" y="2725156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7 h 120297"/>
                <a:gd name="connsiteX3" fmla="*/ 0 w 125765"/>
                <a:gd name="connsiteY3" fmla="*/ 120297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7"/>
                  </a:lnTo>
                  <a:lnTo>
                    <a:pt x="0" y="120297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23">
              <a:extLst>
                <a:ext uri="{FF2B5EF4-FFF2-40B4-BE49-F238E27FC236}">
                  <a16:creationId xmlns:a16="http://schemas.microsoft.com/office/drawing/2014/main" id="{8E553DAF-22BC-4B2A-9F4A-387453C08568}"/>
                </a:ext>
              </a:extLst>
            </p:cNvPr>
            <p:cNvSpPr/>
            <p:nvPr/>
          </p:nvSpPr>
          <p:spPr>
            <a:xfrm>
              <a:off x="1726270" y="2071721"/>
              <a:ext cx="153105" cy="147637"/>
            </a:xfrm>
            <a:custGeom>
              <a:avLst/>
              <a:gdLst>
                <a:gd name="connsiteX0" fmla="*/ 153106 w 153105"/>
                <a:gd name="connsiteY0" fmla="*/ 147638 h 147637"/>
                <a:gd name="connsiteX1" fmla="*/ 0 w 153105"/>
                <a:gd name="connsiteY1" fmla="*/ 147638 h 147637"/>
                <a:gd name="connsiteX2" fmla="*/ 0 w 153105"/>
                <a:gd name="connsiteY2" fmla="*/ 0 h 147637"/>
                <a:gd name="connsiteX3" fmla="*/ 153106 w 153105"/>
                <a:gd name="connsiteY3" fmla="*/ 0 h 147637"/>
                <a:gd name="connsiteX4" fmla="*/ 153106 w 153105"/>
                <a:gd name="connsiteY4" fmla="*/ 147638 h 147637"/>
                <a:gd name="connsiteX5" fmla="*/ 27340 w 153105"/>
                <a:gd name="connsiteY5" fmla="*/ 120298 h 147637"/>
                <a:gd name="connsiteX6" fmla="*/ 125766 w 153105"/>
                <a:gd name="connsiteY6" fmla="*/ 120298 h 147637"/>
                <a:gd name="connsiteX7" fmla="*/ 125766 w 153105"/>
                <a:gd name="connsiteY7" fmla="*/ 27340 h 147637"/>
                <a:gd name="connsiteX8" fmla="*/ 27340 w 153105"/>
                <a:gd name="connsiteY8" fmla="*/ 27340 h 147637"/>
                <a:gd name="connsiteX9" fmla="*/ 27340 w 153105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5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27340" y="120298"/>
                  </a:moveTo>
                  <a:lnTo>
                    <a:pt x="125766" y="120298"/>
                  </a:lnTo>
                  <a:lnTo>
                    <a:pt x="125766" y="27340"/>
                  </a:lnTo>
                  <a:lnTo>
                    <a:pt x="27340" y="27340"/>
                  </a:lnTo>
                  <a:lnTo>
                    <a:pt x="27340" y="12029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124">
              <a:extLst>
                <a:ext uri="{FF2B5EF4-FFF2-40B4-BE49-F238E27FC236}">
                  <a16:creationId xmlns:a16="http://schemas.microsoft.com/office/drawing/2014/main" id="{9E437E52-3A98-42E0-B37E-0652D4441E6D}"/>
                </a:ext>
              </a:extLst>
            </p:cNvPr>
            <p:cNvSpPr/>
            <p:nvPr/>
          </p:nvSpPr>
          <p:spPr>
            <a:xfrm>
              <a:off x="2169183" y="2711485"/>
              <a:ext cx="153106" cy="147637"/>
            </a:xfrm>
            <a:custGeom>
              <a:avLst/>
              <a:gdLst>
                <a:gd name="connsiteX0" fmla="*/ 153106 w 153106"/>
                <a:gd name="connsiteY0" fmla="*/ 147638 h 147637"/>
                <a:gd name="connsiteX1" fmla="*/ 0 w 153106"/>
                <a:gd name="connsiteY1" fmla="*/ 147638 h 147637"/>
                <a:gd name="connsiteX2" fmla="*/ 0 w 153106"/>
                <a:gd name="connsiteY2" fmla="*/ 0 h 147637"/>
                <a:gd name="connsiteX3" fmla="*/ 153106 w 153106"/>
                <a:gd name="connsiteY3" fmla="*/ 0 h 147637"/>
                <a:gd name="connsiteX4" fmla="*/ 153106 w 153106"/>
                <a:gd name="connsiteY4" fmla="*/ 147638 h 147637"/>
                <a:gd name="connsiteX5" fmla="*/ 30074 w 153106"/>
                <a:gd name="connsiteY5" fmla="*/ 120298 h 147637"/>
                <a:gd name="connsiteX6" fmla="*/ 128500 w 153106"/>
                <a:gd name="connsiteY6" fmla="*/ 120298 h 147637"/>
                <a:gd name="connsiteX7" fmla="*/ 128500 w 153106"/>
                <a:gd name="connsiteY7" fmla="*/ 27340 h 147637"/>
                <a:gd name="connsiteX8" fmla="*/ 30074 w 153106"/>
                <a:gd name="connsiteY8" fmla="*/ 27340 h 147637"/>
                <a:gd name="connsiteX9" fmla="*/ 30074 w 153106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30074" y="120298"/>
                  </a:moveTo>
                  <a:lnTo>
                    <a:pt x="128500" y="120298"/>
                  </a:lnTo>
                  <a:lnTo>
                    <a:pt x="128500" y="27340"/>
                  </a:lnTo>
                  <a:lnTo>
                    <a:pt x="30074" y="27340"/>
                  </a:lnTo>
                  <a:lnTo>
                    <a:pt x="30074" y="12029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45" name="Рисунок 12">
              <a:extLst>
                <a:ext uri="{FF2B5EF4-FFF2-40B4-BE49-F238E27FC236}">
                  <a16:creationId xmlns:a16="http://schemas.microsoft.com/office/drawing/2014/main" id="{F5DB4E61-2F72-439E-91B9-F3A2B2191F99}"/>
                </a:ext>
              </a:extLst>
            </p:cNvPr>
            <p:cNvGrpSpPr/>
            <p:nvPr/>
          </p:nvGrpSpPr>
          <p:grpSpPr>
            <a:xfrm>
              <a:off x="1636046" y="2249434"/>
              <a:ext cx="418307" cy="415573"/>
              <a:chOff x="1636046" y="2249434"/>
              <a:chExt cx="418307" cy="415573"/>
            </a:xfrm>
            <a:grpFill/>
          </p:grpSpPr>
          <p:sp>
            <p:nvSpPr>
              <p:cNvPr id="146" name="Полилиния: фигура 126">
                <a:extLst>
                  <a:ext uri="{FF2B5EF4-FFF2-40B4-BE49-F238E27FC236}">
                    <a16:creationId xmlns:a16="http://schemas.microsoft.com/office/drawing/2014/main" id="{271B5B45-E257-4DD4-85CC-A4036244FA96}"/>
                  </a:ext>
                </a:extLst>
              </p:cNvPr>
              <p:cNvSpPr/>
              <p:nvPr/>
            </p:nvSpPr>
            <p:spPr>
              <a:xfrm>
                <a:off x="1636046" y="2249434"/>
                <a:ext cx="418307" cy="415573"/>
              </a:xfrm>
              <a:custGeom>
                <a:avLst/>
                <a:gdLst>
                  <a:gd name="connsiteX0" fmla="*/ 251531 w 418307"/>
                  <a:gd name="connsiteY0" fmla="*/ 415573 h 415573"/>
                  <a:gd name="connsiteX1" fmla="*/ 174978 w 418307"/>
                  <a:gd name="connsiteY1" fmla="*/ 415573 h 415573"/>
                  <a:gd name="connsiteX2" fmla="*/ 161308 w 418307"/>
                  <a:gd name="connsiteY2" fmla="*/ 404637 h 415573"/>
                  <a:gd name="connsiteX3" fmla="*/ 155840 w 418307"/>
                  <a:gd name="connsiteY3" fmla="*/ 369095 h 415573"/>
                  <a:gd name="connsiteX4" fmla="*/ 150372 w 418307"/>
                  <a:gd name="connsiteY4" fmla="*/ 366361 h 415573"/>
                  <a:gd name="connsiteX5" fmla="*/ 133968 w 418307"/>
                  <a:gd name="connsiteY5" fmla="*/ 360893 h 415573"/>
                  <a:gd name="connsiteX6" fmla="*/ 103893 w 418307"/>
                  <a:gd name="connsiteY6" fmla="*/ 380031 h 415573"/>
                  <a:gd name="connsiteX7" fmla="*/ 87489 w 418307"/>
                  <a:gd name="connsiteY7" fmla="*/ 377297 h 415573"/>
                  <a:gd name="connsiteX8" fmla="*/ 38276 w 418307"/>
                  <a:gd name="connsiteY8" fmla="*/ 328084 h 415573"/>
                  <a:gd name="connsiteX9" fmla="*/ 35542 w 418307"/>
                  <a:gd name="connsiteY9" fmla="*/ 311680 h 415573"/>
                  <a:gd name="connsiteX10" fmla="*/ 54681 w 418307"/>
                  <a:gd name="connsiteY10" fmla="*/ 284340 h 415573"/>
                  <a:gd name="connsiteX11" fmla="*/ 46479 w 418307"/>
                  <a:gd name="connsiteY11" fmla="*/ 265201 h 415573"/>
                  <a:gd name="connsiteX12" fmla="*/ 10936 w 418307"/>
                  <a:gd name="connsiteY12" fmla="*/ 259733 h 415573"/>
                  <a:gd name="connsiteX13" fmla="*/ 0 w 418307"/>
                  <a:gd name="connsiteY13" fmla="*/ 246063 h 415573"/>
                  <a:gd name="connsiteX14" fmla="*/ 0 w 418307"/>
                  <a:gd name="connsiteY14" fmla="*/ 174978 h 415573"/>
                  <a:gd name="connsiteX15" fmla="*/ 10936 w 418307"/>
                  <a:gd name="connsiteY15" fmla="*/ 161308 h 415573"/>
                  <a:gd name="connsiteX16" fmla="*/ 46479 w 418307"/>
                  <a:gd name="connsiteY16" fmla="*/ 155840 h 415573"/>
                  <a:gd name="connsiteX17" fmla="*/ 49213 w 418307"/>
                  <a:gd name="connsiteY17" fmla="*/ 150372 h 415573"/>
                  <a:gd name="connsiteX18" fmla="*/ 54681 w 418307"/>
                  <a:gd name="connsiteY18" fmla="*/ 133968 h 415573"/>
                  <a:gd name="connsiteX19" fmla="*/ 35542 w 418307"/>
                  <a:gd name="connsiteY19" fmla="*/ 103893 h 415573"/>
                  <a:gd name="connsiteX20" fmla="*/ 38276 w 418307"/>
                  <a:gd name="connsiteY20" fmla="*/ 87489 h 415573"/>
                  <a:gd name="connsiteX21" fmla="*/ 87489 w 418307"/>
                  <a:gd name="connsiteY21" fmla="*/ 38277 h 415573"/>
                  <a:gd name="connsiteX22" fmla="*/ 103893 w 418307"/>
                  <a:gd name="connsiteY22" fmla="*/ 35542 h 415573"/>
                  <a:gd name="connsiteX23" fmla="*/ 131234 w 418307"/>
                  <a:gd name="connsiteY23" fmla="*/ 54681 h 415573"/>
                  <a:gd name="connsiteX24" fmla="*/ 150372 w 418307"/>
                  <a:gd name="connsiteY24" fmla="*/ 46479 h 415573"/>
                  <a:gd name="connsiteX25" fmla="*/ 155840 w 418307"/>
                  <a:gd name="connsiteY25" fmla="*/ 10936 h 415573"/>
                  <a:gd name="connsiteX26" fmla="*/ 169510 w 418307"/>
                  <a:gd name="connsiteY26" fmla="*/ 0 h 415573"/>
                  <a:gd name="connsiteX27" fmla="*/ 248797 w 418307"/>
                  <a:gd name="connsiteY27" fmla="*/ 0 h 415573"/>
                  <a:gd name="connsiteX28" fmla="*/ 262467 w 418307"/>
                  <a:gd name="connsiteY28" fmla="*/ 10936 h 415573"/>
                  <a:gd name="connsiteX29" fmla="*/ 267935 w 418307"/>
                  <a:gd name="connsiteY29" fmla="*/ 46479 h 415573"/>
                  <a:gd name="connsiteX30" fmla="*/ 287074 w 418307"/>
                  <a:gd name="connsiteY30" fmla="*/ 54681 h 415573"/>
                  <a:gd name="connsiteX31" fmla="*/ 314414 w 418307"/>
                  <a:gd name="connsiteY31" fmla="*/ 35542 h 415573"/>
                  <a:gd name="connsiteX32" fmla="*/ 330818 w 418307"/>
                  <a:gd name="connsiteY32" fmla="*/ 38277 h 415573"/>
                  <a:gd name="connsiteX33" fmla="*/ 380031 w 418307"/>
                  <a:gd name="connsiteY33" fmla="*/ 87489 h 415573"/>
                  <a:gd name="connsiteX34" fmla="*/ 382765 w 418307"/>
                  <a:gd name="connsiteY34" fmla="*/ 103893 h 415573"/>
                  <a:gd name="connsiteX35" fmla="*/ 363627 w 418307"/>
                  <a:gd name="connsiteY35" fmla="*/ 133968 h 415573"/>
                  <a:gd name="connsiteX36" fmla="*/ 369095 w 418307"/>
                  <a:gd name="connsiteY36" fmla="*/ 147638 h 415573"/>
                  <a:gd name="connsiteX37" fmla="*/ 371829 w 418307"/>
                  <a:gd name="connsiteY37" fmla="*/ 153106 h 415573"/>
                  <a:gd name="connsiteX38" fmla="*/ 407371 w 418307"/>
                  <a:gd name="connsiteY38" fmla="*/ 158574 h 415573"/>
                  <a:gd name="connsiteX39" fmla="*/ 418307 w 418307"/>
                  <a:gd name="connsiteY39" fmla="*/ 172244 h 415573"/>
                  <a:gd name="connsiteX40" fmla="*/ 418307 w 418307"/>
                  <a:gd name="connsiteY40" fmla="*/ 243329 h 415573"/>
                  <a:gd name="connsiteX41" fmla="*/ 407371 w 418307"/>
                  <a:gd name="connsiteY41" fmla="*/ 256999 h 415573"/>
                  <a:gd name="connsiteX42" fmla="*/ 371829 w 418307"/>
                  <a:gd name="connsiteY42" fmla="*/ 262467 h 415573"/>
                  <a:gd name="connsiteX43" fmla="*/ 363627 w 418307"/>
                  <a:gd name="connsiteY43" fmla="*/ 281606 h 415573"/>
                  <a:gd name="connsiteX44" fmla="*/ 382765 w 418307"/>
                  <a:gd name="connsiteY44" fmla="*/ 308946 h 415573"/>
                  <a:gd name="connsiteX45" fmla="*/ 380031 w 418307"/>
                  <a:gd name="connsiteY45" fmla="*/ 325350 h 415573"/>
                  <a:gd name="connsiteX46" fmla="*/ 330818 w 418307"/>
                  <a:gd name="connsiteY46" fmla="*/ 374563 h 415573"/>
                  <a:gd name="connsiteX47" fmla="*/ 314414 w 418307"/>
                  <a:gd name="connsiteY47" fmla="*/ 377297 h 415573"/>
                  <a:gd name="connsiteX48" fmla="*/ 289808 w 418307"/>
                  <a:gd name="connsiteY48" fmla="*/ 360893 h 415573"/>
                  <a:gd name="connsiteX49" fmla="*/ 273403 w 418307"/>
                  <a:gd name="connsiteY49" fmla="*/ 366361 h 415573"/>
                  <a:gd name="connsiteX50" fmla="*/ 267935 w 418307"/>
                  <a:gd name="connsiteY50" fmla="*/ 369095 h 415573"/>
                  <a:gd name="connsiteX51" fmla="*/ 265201 w 418307"/>
                  <a:gd name="connsiteY51" fmla="*/ 404637 h 415573"/>
                  <a:gd name="connsiteX52" fmla="*/ 251531 w 418307"/>
                  <a:gd name="connsiteY52" fmla="*/ 415573 h 415573"/>
                  <a:gd name="connsiteX53" fmla="*/ 188648 w 418307"/>
                  <a:gd name="connsiteY53" fmla="*/ 388233 h 415573"/>
                  <a:gd name="connsiteX54" fmla="*/ 240595 w 418307"/>
                  <a:gd name="connsiteY54" fmla="*/ 388233 h 415573"/>
                  <a:gd name="connsiteX55" fmla="*/ 246063 w 418307"/>
                  <a:gd name="connsiteY55" fmla="*/ 358159 h 415573"/>
                  <a:gd name="connsiteX56" fmla="*/ 254265 w 418307"/>
                  <a:gd name="connsiteY56" fmla="*/ 347222 h 415573"/>
                  <a:gd name="connsiteX57" fmla="*/ 265201 w 418307"/>
                  <a:gd name="connsiteY57" fmla="*/ 341754 h 415573"/>
                  <a:gd name="connsiteX58" fmla="*/ 287074 w 418307"/>
                  <a:gd name="connsiteY58" fmla="*/ 333552 h 415573"/>
                  <a:gd name="connsiteX59" fmla="*/ 300744 w 418307"/>
                  <a:gd name="connsiteY59" fmla="*/ 333552 h 415573"/>
                  <a:gd name="connsiteX60" fmla="*/ 328084 w 418307"/>
                  <a:gd name="connsiteY60" fmla="*/ 352690 h 415573"/>
                  <a:gd name="connsiteX61" fmla="*/ 360893 w 418307"/>
                  <a:gd name="connsiteY61" fmla="*/ 319882 h 415573"/>
                  <a:gd name="connsiteX62" fmla="*/ 341754 w 418307"/>
                  <a:gd name="connsiteY62" fmla="*/ 292542 h 415573"/>
                  <a:gd name="connsiteX63" fmla="*/ 341754 w 418307"/>
                  <a:gd name="connsiteY63" fmla="*/ 276138 h 415573"/>
                  <a:gd name="connsiteX64" fmla="*/ 355425 w 418307"/>
                  <a:gd name="connsiteY64" fmla="*/ 246063 h 415573"/>
                  <a:gd name="connsiteX65" fmla="*/ 366361 w 418307"/>
                  <a:gd name="connsiteY65" fmla="*/ 235127 h 415573"/>
                  <a:gd name="connsiteX66" fmla="*/ 399169 w 418307"/>
                  <a:gd name="connsiteY66" fmla="*/ 229659 h 415573"/>
                  <a:gd name="connsiteX67" fmla="*/ 399169 w 418307"/>
                  <a:gd name="connsiteY67" fmla="*/ 183180 h 415573"/>
                  <a:gd name="connsiteX68" fmla="*/ 366361 w 418307"/>
                  <a:gd name="connsiteY68" fmla="*/ 177712 h 415573"/>
                  <a:gd name="connsiteX69" fmla="*/ 355425 w 418307"/>
                  <a:gd name="connsiteY69" fmla="*/ 169510 h 415573"/>
                  <a:gd name="connsiteX70" fmla="*/ 349956 w 418307"/>
                  <a:gd name="connsiteY70" fmla="*/ 158574 h 415573"/>
                  <a:gd name="connsiteX71" fmla="*/ 341754 w 418307"/>
                  <a:gd name="connsiteY71" fmla="*/ 136702 h 415573"/>
                  <a:gd name="connsiteX72" fmla="*/ 341754 w 418307"/>
                  <a:gd name="connsiteY72" fmla="*/ 123032 h 415573"/>
                  <a:gd name="connsiteX73" fmla="*/ 360893 w 418307"/>
                  <a:gd name="connsiteY73" fmla="*/ 95691 h 415573"/>
                  <a:gd name="connsiteX74" fmla="*/ 328084 w 418307"/>
                  <a:gd name="connsiteY74" fmla="*/ 62883 h 415573"/>
                  <a:gd name="connsiteX75" fmla="*/ 300744 w 418307"/>
                  <a:gd name="connsiteY75" fmla="*/ 82021 h 415573"/>
                  <a:gd name="connsiteX76" fmla="*/ 284340 w 418307"/>
                  <a:gd name="connsiteY76" fmla="*/ 82021 h 415573"/>
                  <a:gd name="connsiteX77" fmla="*/ 254265 w 418307"/>
                  <a:gd name="connsiteY77" fmla="*/ 68351 h 415573"/>
                  <a:gd name="connsiteX78" fmla="*/ 243329 w 418307"/>
                  <a:gd name="connsiteY78" fmla="*/ 57415 h 415573"/>
                  <a:gd name="connsiteX79" fmla="*/ 237861 w 418307"/>
                  <a:gd name="connsiteY79" fmla="*/ 27340 h 415573"/>
                  <a:gd name="connsiteX80" fmla="*/ 183180 w 418307"/>
                  <a:gd name="connsiteY80" fmla="*/ 27340 h 415573"/>
                  <a:gd name="connsiteX81" fmla="*/ 183180 w 418307"/>
                  <a:gd name="connsiteY81" fmla="*/ 62883 h 415573"/>
                  <a:gd name="connsiteX82" fmla="*/ 172244 w 418307"/>
                  <a:gd name="connsiteY82" fmla="*/ 73819 h 415573"/>
                  <a:gd name="connsiteX83" fmla="*/ 142170 w 418307"/>
                  <a:gd name="connsiteY83" fmla="*/ 87489 h 415573"/>
                  <a:gd name="connsiteX84" fmla="*/ 125766 w 418307"/>
                  <a:gd name="connsiteY84" fmla="*/ 87489 h 415573"/>
                  <a:gd name="connsiteX85" fmla="*/ 98425 w 418307"/>
                  <a:gd name="connsiteY85" fmla="*/ 68351 h 415573"/>
                  <a:gd name="connsiteX86" fmla="*/ 65617 w 418307"/>
                  <a:gd name="connsiteY86" fmla="*/ 101159 h 415573"/>
                  <a:gd name="connsiteX87" fmla="*/ 84755 w 418307"/>
                  <a:gd name="connsiteY87" fmla="*/ 128500 h 415573"/>
                  <a:gd name="connsiteX88" fmla="*/ 84755 w 418307"/>
                  <a:gd name="connsiteY88" fmla="*/ 142170 h 415573"/>
                  <a:gd name="connsiteX89" fmla="*/ 73819 w 418307"/>
                  <a:gd name="connsiteY89" fmla="*/ 164042 h 415573"/>
                  <a:gd name="connsiteX90" fmla="*/ 73819 w 418307"/>
                  <a:gd name="connsiteY90" fmla="*/ 172244 h 415573"/>
                  <a:gd name="connsiteX91" fmla="*/ 62883 w 418307"/>
                  <a:gd name="connsiteY91" fmla="*/ 180446 h 415573"/>
                  <a:gd name="connsiteX92" fmla="*/ 30074 w 418307"/>
                  <a:gd name="connsiteY92" fmla="*/ 185914 h 415573"/>
                  <a:gd name="connsiteX93" fmla="*/ 30074 w 418307"/>
                  <a:gd name="connsiteY93" fmla="*/ 232393 h 415573"/>
                  <a:gd name="connsiteX94" fmla="*/ 62883 w 418307"/>
                  <a:gd name="connsiteY94" fmla="*/ 237861 h 415573"/>
                  <a:gd name="connsiteX95" fmla="*/ 73819 w 418307"/>
                  <a:gd name="connsiteY95" fmla="*/ 248797 h 415573"/>
                  <a:gd name="connsiteX96" fmla="*/ 87489 w 418307"/>
                  <a:gd name="connsiteY96" fmla="*/ 278872 h 415573"/>
                  <a:gd name="connsiteX97" fmla="*/ 87489 w 418307"/>
                  <a:gd name="connsiteY97" fmla="*/ 295276 h 415573"/>
                  <a:gd name="connsiteX98" fmla="*/ 68351 w 418307"/>
                  <a:gd name="connsiteY98" fmla="*/ 322616 h 415573"/>
                  <a:gd name="connsiteX99" fmla="*/ 101159 w 418307"/>
                  <a:gd name="connsiteY99" fmla="*/ 355425 h 415573"/>
                  <a:gd name="connsiteX100" fmla="*/ 128500 w 418307"/>
                  <a:gd name="connsiteY100" fmla="*/ 336286 h 415573"/>
                  <a:gd name="connsiteX101" fmla="*/ 142170 w 418307"/>
                  <a:gd name="connsiteY101" fmla="*/ 336286 h 415573"/>
                  <a:gd name="connsiteX102" fmla="*/ 164042 w 418307"/>
                  <a:gd name="connsiteY102" fmla="*/ 344488 h 415573"/>
                  <a:gd name="connsiteX103" fmla="*/ 174978 w 418307"/>
                  <a:gd name="connsiteY103" fmla="*/ 349956 h 415573"/>
                  <a:gd name="connsiteX104" fmla="*/ 183180 w 418307"/>
                  <a:gd name="connsiteY104" fmla="*/ 360893 h 415573"/>
                  <a:gd name="connsiteX105" fmla="*/ 188648 w 418307"/>
                  <a:gd name="connsiteY105" fmla="*/ 388233 h 415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18307" h="415573">
                    <a:moveTo>
                      <a:pt x="251531" y="415573"/>
                    </a:moveTo>
                    <a:lnTo>
                      <a:pt x="174978" y="415573"/>
                    </a:lnTo>
                    <a:cubicBezTo>
                      <a:pt x="169510" y="415573"/>
                      <a:pt x="161308" y="410105"/>
                      <a:pt x="161308" y="404637"/>
                    </a:cubicBezTo>
                    <a:lnTo>
                      <a:pt x="155840" y="369095"/>
                    </a:lnTo>
                    <a:lnTo>
                      <a:pt x="150372" y="366361"/>
                    </a:lnTo>
                    <a:cubicBezTo>
                      <a:pt x="144904" y="363627"/>
                      <a:pt x="139436" y="360893"/>
                      <a:pt x="133968" y="360893"/>
                    </a:cubicBezTo>
                    <a:lnTo>
                      <a:pt x="103893" y="380031"/>
                    </a:lnTo>
                    <a:cubicBezTo>
                      <a:pt x="98425" y="382765"/>
                      <a:pt x="90223" y="382765"/>
                      <a:pt x="87489" y="377297"/>
                    </a:cubicBezTo>
                    <a:lnTo>
                      <a:pt x="38276" y="328084"/>
                    </a:lnTo>
                    <a:cubicBezTo>
                      <a:pt x="32808" y="322616"/>
                      <a:pt x="32808" y="317148"/>
                      <a:pt x="35542" y="311680"/>
                    </a:cubicBezTo>
                    <a:lnTo>
                      <a:pt x="54681" y="284340"/>
                    </a:lnTo>
                    <a:cubicBezTo>
                      <a:pt x="51947" y="278872"/>
                      <a:pt x="49213" y="270669"/>
                      <a:pt x="46479" y="265201"/>
                    </a:cubicBezTo>
                    <a:lnTo>
                      <a:pt x="10936" y="259733"/>
                    </a:lnTo>
                    <a:cubicBezTo>
                      <a:pt x="5468" y="259733"/>
                      <a:pt x="0" y="254265"/>
                      <a:pt x="0" y="246063"/>
                    </a:cubicBezTo>
                    <a:lnTo>
                      <a:pt x="0" y="174978"/>
                    </a:lnTo>
                    <a:cubicBezTo>
                      <a:pt x="0" y="169510"/>
                      <a:pt x="5468" y="161308"/>
                      <a:pt x="10936" y="161308"/>
                    </a:cubicBezTo>
                    <a:lnTo>
                      <a:pt x="46479" y="155840"/>
                    </a:lnTo>
                    <a:lnTo>
                      <a:pt x="49213" y="150372"/>
                    </a:lnTo>
                    <a:cubicBezTo>
                      <a:pt x="51947" y="144904"/>
                      <a:pt x="54681" y="139436"/>
                      <a:pt x="54681" y="133968"/>
                    </a:cubicBezTo>
                    <a:lnTo>
                      <a:pt x="35542" y="103893"/>
                    </a:lnTo>
                    <a:cubicBezTo>
                      <a:pt x="32808" y="98425"/>
                      <a:pt x="32808" y="90223"/>
                      <a:pt x="38276" y="87489"/>
                    </a:cubicBezTo>
                    <a:lnTo>
                      <a:pt x="87489" y="38277"/>
                    </a:lnTo>
                    <a:cubicBezTo>
                      <a:pt x="92957" y="32808"/>
                      <a:pt x="98425" y="32808"/>
                      <a:pt x="103893" y="35542"/>
                    </a:cubicBezTo>
                    <a:lnTo>
                      <a:pt x="131234" y="54681"/>
                    </a:lnTo>
                    <a:cubicBezTo>
                      <a:pt x="136702" y="51947"/>
                      <a:pt x="144904" y="49213"/>
                      <a:pt x="150372" y="46479"/>
                    </a:cubicBezTo>
                    <a:lnTo>
                      <a:pt x="155840" y="10936"/>
                    </a:lnTo>
                    <a:cubicBezTo>
                      <a:pt x="155840" y="5468"/>
                      <a:pt x="161308" y="0"/>
                      <a:pt x="169510" y="0"/>
                    </a:cubicBezTo>
                    <a:lnTo>
                      <a:pt x="248797" y="0"/>
                    </a:lnTo>
                    <a:cubicBezTo>
                      <a:pt x="254265" y="0"/>
                      <a:pt x="262467" y="5468"/>
                      <a:pt x="262467" y="10936"/>
                    </a:cubicBezTo>
                    <a:lnTo>
                      <a:pt x="267935" y="46479"/>
                    </a:lnTo>
                    <a:cubicBezTo>
                      <a:pt x="276138" y="49213"/>
                      <a:pt x="281606" y="51947"/>
                      <a:pt x="287074" y="54681"/>
                    </a:cubicBezTo>
                    <a:lnTo>
                      <a:pt x="314414" y="35542"/>
                    </a:lnTo>
                    <a:cubicBezTo>
                      <a:pt x="319882" y="32808"/>
                      <a:pt x="328084" y="32808"/>
                      <a:pt x="330818" y="38277"/>
                    </a:cubicBezTo>
                    <a:lnTo>
                      <a:pt x="380031" y="87489"/>
                    </a:lnTo>
                    <a:cubicBezTo>
                      <a:pt x="385499" y="92957"/>
                      <a:pt x="385499" y="98425"/>
                      <a:pt x="382765" y="103893"/>
                    </a:cubicBezTo>
                    <a:lnTo>
                      <a:pt x="363627" y="133968"/>
                    </a:lnTo>
                    <a:cubicBezTo>
                      <a:pt x="366361" y="139436"/>
                      <a:pt x="369095" y="144904"/>
                      <a:pt x="369095" y="147638"/>
                    </a:cubicBezTo>
                    <a:lnTo>
                      <a:pt x="371829" y="153106"/>
                    </a:lnTo>
                    <a:lnTo>
                      <a:pt x="407371" y="158574"/>
                    </a:lnTo>
                    <a:cubicBezTo>
                      <a:pt x="412839" y="158574"/>
                      <a:pt x="418307" y="164042"/>
                      <a:pt x="418307" y="172244"/>
                    </a:cubicBezTo>
                    <a:lnTo>
                      <a:pt x="418307" y="243329"/>
                    </a:lnTo>
                    <a:cubicBezTo>
                      <a:pt x="418307" y="248797"/>
                      <a:pt x="412839" y="256999"/>
                      <a:pt x="407371" y="256999"/>
                    </a:cubicBezTo>
                    <a:lnTo>
                      <a:pt x="371829" y="262467"/>
                    </a:lnTo>
                    <a:cubicBezTo>
                      <a:pt x="369095" y="270669"/>
                      <a:pt x="366361" y="276138"/>
                      <a:pt x="363627" y="281606"/>
                    </a:cubicBezTo>
                    <a:lnTo>
                      <a:pt x="382765" y="308946"/>
                    </a:lnTo>
                    <a:cubicBezTo>
                      <a:pt x="385499" y="314414"/>
                      <a:pt x="385499" y="322616"/>
                      <a:pt x="380031" y="325350"/>
                    </a:cubicBezTo>
                    <a:lnTo>
                      <a:pt x="330818" y="374563"/>
                    </a:lnTo>
                    <a:cubicBezTo>
                      <a:pt x="325350" y="380031"/>
                      <a:pt x="319882" y="380031"/>
                      <a:pt x="314414" y="377297"/>
                    </a:cubicBezTo>
                    <a:lnTo>
                      <a:pt x="289808" y="360893"/>
                    </a:lnTo>
                    <a:cubicBezTo>
                      <a:pt x="284340" y="363627"/>
                      <a:pt x="278872" y="366361"/>
                      <a:pt x="273403" y="366361"/>
                    </a:cubicBezTo>
                    <a:lnTo>
                      <a:pt x="267935" y="369095"/>
                    </a:lnTo>
                    <a:lnTo>
                      <a:pt x="265201" y="404637"/>
                    </a:lnTo>
                    <a:cubicBezTo>
                      <a:pt x="265201" y="410105"/>
                      <a:pt x="259733" y="415573"/>
                      <a:pt x="251531" y="415573"/>
                    </a:cubicBezTo>
                    <a:close/>
                    <a:moveTo>
                      <a:pt x="188648" y="388233"/>
                    </a:moveTo>
                    <a:lnTo>
                      <a:pt x="240595" y="388233"/>
                    </a:lnTo>
                    <a:lnTo>
                      <a:pt x="246063" y="358159"/>
                    </a:lnTo>
                    <a:cubicBezTo>
                      <a:pt x="246063" y="352690"/>
                      <a:pt x="248797" y="349956"/>
                      <a:pt x="254265" y="347222"/>
                    </a:cubicBezTo>
                    <a:lnTo>
                      <a:pt x="265201" y="341754"/>
                    </a:lnTo>
                    <a:cubicBezTo>
                      <a:pt x="273403" y="339020"/>
                      <a:pt x="278872" y="336286"/>
                      <a:pt x="287074" y="333552"/>
                    </a:cubicBezTo>
                    <a:cubicBezTo>
                      <a:pt x="292542" y="330818"/>
                      <a:pt x="298010" y="330818"/>
                      <a:pt x="300744" y="333552"/>
                    </a:cubicBezTo>
                    <a:lnTo>
                      <a:pt x="328084" y="352690"/>
                    </a:lnTo>
                    <a:lnTo>
                      <a:pt x="360893" y="319882"/>
                    </a:lnTo>
                    <a:lnTo>
                      <a:pt x="341754" y="292542"/>
                    </a:lnTo>
                    <a:cubicBezTo>
                      <a:pt x="339020" y="287074"/>
                      <a:pt x="339020" y="281606"/>
                      <a:pt x="341754" y="276138"/>
                    </a:cubicBezTo>
                    <a:cubicBezTo>
                      <a:pt x="347222" y="267935"/>
                      <a:pt x="349956" y="256999"/>
                      <a:pt x="355425" y="246063"/>
                    </a:cubicBezTo>
                    <a:cubicBezTo>
                      <a:pt x="358159" y="240595"/>
                      <a:pt x="360893" y="237861"/>
                      <a:pt x="366361" y="235127"/>
                    </a:cubicBezTo>
                    <a:lnTo>
                      <a:pt x="399169" y="229659"/>
                    </a:lnTo>
                    <a:lnTo>
                      <a:pt x="399169" y="183180"/>
                    </a:lnTo>
                    <a:lnTo>
                      <a:pt x="366361" y="177712"/>
                    </a:lnTo>
                    <a:cubicBezTo>
                      <a:pt x="360893" y="177712"/>
                      <a:pt x="358159" y="174978"/>
                      <a:pt x="355425" y="169510"/>
                    </a:cubicBezTo>
                    <a:lnTo>
                      <a:pt x="349956" y="158574"/>
                    </a:lnTo>
                    <a:cubicBezTo>
                      <a:pt x="347222" y="150372"/>
                      <a:pt x="344488" y="144904"/>
                      <a:pt x="341754" y="136702"/>
                    </a:cubicBezTo>
                    <a:cubicBezTo>
                      <a:pt x="339020" y="131234"/>
                      <a:pt x="339020" y="125766"/>
                      <a:pt x="341754" y="123032"/>
                    </a:cubicBezTo>
                    <a:lnTo>
                      <a:pt x="360893" y="95691"/>
                    </a:lnTo>
                    <a:lnTo>
                      <a:pt x="328084" y="62883"/>
                    </a:lnTo>
                    <a:lnTo>
                      <a:pt x="300744" y="82021"/>
                    </a:lnTo>
                    <a:cubicBezTo>
                      <a:pt x="295276" y="84755"/>
                      <a:pt x="289808" y="84755"/>
                      <a:pt x="284340" y="82021"/>
                    </a:cubicBezTo>
                    <a:cubicBezTo>
                      <a:pt x="276138" y="76553"/>
                      <a:pt x="265201" y="71085"/>
                      <a:pt x="254265" y="68351"/>
                    </a:cubicBezTo>
                    <a:cubicBezTo>
                      <a:pt x="248797" y="65617"/>
                      <a:pt x="246063" y="62883"/>
                      <a:pt x="243329" y="57415"/>
                    </a:cubicBezTo>
                    <a:lnTo>
                      <a:pt x="237861" y="27340"/>
                    </a:lnTo>
                    <a:lnTo>
                      <a:pt x="183180" y="27340"/>
                    </a:lnTo>
                    <a:lnTo>
                      <a:pt x="183180" y="62883"/>
                    </a:lnTo>
                    <a:cubicBezTo>
                      <a:pt x="183180" y="68351"/>
                      <a:pt x="177712" y="73819"/>
                      <a:pt x="172244" y="73819"/>
                    </a:cubicBezTo>
                    <a:cubicBezTo>
                      <a:pt x="161308" y="76553"/>
                      <a:pt x="153106" y="79287"/>
                      <a:pt x="142170" y="87489"/>
                    </a:cubicBezTo>
                    <a:cubicBezTo>
                      <a:pt x="136702" y="90223"/>
                      <a:pt x="131234" y="90223"/>
                      <a:pt x="125766" y="87489"/>
                    </a:cubicBezTo>
                    <a:lnTo>
                      <a:pt x="98425" y="68351"/>
                    </a:lnTo>
                    <a:lnTo>
                      <a:pt x="65617" y="101159"/>
                    </a:lnTo>
                    <a:lnTo>
                      <a:pt x="84755" y="128500"/>
                    </a:lnTo>
                    <a:cubicBezTo>
                      <a:pt x="87489" y="133968"/>
                      <a:pt x="87489" y="136702"/>
                      <a:pt x="84755" y="142170"/>
                    </a:cubicBezTo>
                    <a:cubicBezTo>
                      <a:pt x="82021" y="147638"/>
                      <a:pt x="79287" y="155840"/>
                      <a:pt x="73819" y="164042"/>
                    </a:cubicBezTo>
                    <a:lnTo>
                      <a:pt x="73819" y="172244"/>
                    </a:lnTo>
                    <a:cubicBezTo>
                      <a:pt x="71085" y="177712"/>
                      <a:pt x="68351" y="180446"/>
                      <a:pt x="62883" y="180446"/>
                    </a:cubicBezTo>
                    <a:lnTo>
                      <a:pt x="30074" y="185914"/>
                    </a:lnTo>
                    <a:lnTo>
                      <a:pt x="30074" y="232393"/>
                    </a:lnTo>
                    <a:lnTo>
                      <a:pt x="62883" y="237861"/>
                    </a:lnTo>
                    <a:cubicBezTo>
                      <a:pt x="68351" y="237861"/>
                      <a:pt x="73819" y="243329"/>
                      <a:pt x="73819" y="248797"/>
                    </a:cubicBezTo>
                    <a:cubicBezTo>
                      <a:pt x="76553" y="259733"/>
                      <a:pt x="79287" y="267935"/>
                      <a:pt x="87489" y="278872"/>
                    </a:cubicBezTo>
                    <a:cubicBezTo>
                      <a:pt x="90223" y="284340"/>
                      <a:pt x="90223" y="289808"/>
                      <a:pt x="87489" y="295276"/>
                    </a:cubicBezTo>
                    <a:lnTo>
                      <a:pt x="68351" y="322616"/>
                    </a:lnTo>
                    <a:lnTo>
                      <a:pt x="101159" y="355425"/>
                    </a:lnTo>
                    <a:lnTo>
                      <a:pt x="128500" y="336286"/>
                    </a:lnTo>
                    <a:cubicBezTo>
                      <a:pt x="131234" y="333552"/>
                      <a:pt x="136702" y="333552"/>
                      <a:pt x="142170" y="336286"/>
                    </a:cubicBezTo>
                    <a:cubicBezTo>
                      <a:pt x="147638" y="339020"/>
                      <a:pt x="155840" y="341754"/>
                      <a:pt x="164042" y="344488"/>
                    </a:cubicBezTo>
                    <a:lnTo>
                      <a:pt x="174978" y="349956"/>
                    </a:lnTo>
                    <a:cubicBezTo>
                      <a:pt x="180446" y="352690"/>
                      <a:pt x="183180" y="355425"/>
                      <a:pt x="183180" y="360893"/>
                    </a:cubicBezTo>
                    <a:lnTo>
                      <a:pt x="188648" y="388233"/>
                    </a:lnTo>
                    <a:close/>
                  </a:path>
                </a:pathLst>
              </a:custGeom>
              <a:grpFill/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7" name="Полилиния: фигура 127">
                <a:extLst>
                  <a:ext uri="{FF2B5EF4-FFF2-40B4-BE49-F238E27FC236}">
                    <a16:creationId xmlns:a16="http://schemas.microsoft.com/office/drawing/2014/main" id="{1147135B-4197-470A-B6C0-04EF37DC9FE0}"/>
                  </a:ext>
                </a:extLst>
              </p:cNvPr>
              <p:cNvSpPr/>
              <p:nvPr/>
            </p:nvSpPr>
            <p:spPr>
              <a:xfrm>
                <a:off x="1767280" y="2369731"/>
                <a:ext cx="164042" cy="169510"/>
              </a:xfrm>
              <a:custGeom>
                <a:avLst/>
                <a:gdLst>
                  <a:gd name="connsiteX0" fmla="*/ 82021 w 164042"/>
                  <a:gd name="connsiteY0" fmla="*/ 169510 h 169510"/>
                  <a:gd name="connsiteX1" fmla="*/ 0 w 164042"/>
                  <a:gd name="connsiteY1" fmla="*/ 84755 h 169510"/>
                  <a:gd name="connsiteX2" fmla="*/ 82021 w 164042"/>
                  <a:gd name="connsiteY2" fmla="*/ 0 h 169510"/>
                  <a:gd name="connsiteX3" fmla="*/ 82021 w 164042"/>
                  <a:gd name="connsiteY3" fmla="*/ 0 h 169510"/>
                  <a:gd name="connsiteX4" fmla="*/ 164042 w 164042"/>
                  <a:gd name="connsiteY4" fmla="*/ 84755 h 169510"/>
                  <a:gd name="connsiteX5" fmla="*/ 82021 w 164042"/>
                  <a:gd name="connsiteY5" fmla="*/ 169510 h 169510"/>
                  <a:gd name="connsiteX6" fmla="*/ 82021 w 164042"/>
                  <a:gd name="connsiteY6" fmla="*/ 30075 h 169510"/>
                  <a:gd name="connsiteX7" fmla="*/ 27340 w 164042"/>
                  <a:gd name="connsiteY7" fmla="*/ 87489 h 169510"/>
                  <a:gd name="connsiteX8" fmla="*/ 82021 w 164042"/>
                  <a:gd name="connsiteY8" fmla="*/ 144904 h 169510"/>
                  <a:gd name="connsiteX9" fmla="*/ 136702 w 164042"/>
                  <a:gd name="connsiteY9" fmla="*/ 87489 h 169510"/>
                  <a:gd name="connsiteX10" fmla="*/ 82021 w 164042"/>
                  <a:gd name="connsiteY10" fmla="*/ 30075 h 16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042" h="169510">
                    <a:moveTo>
                      <a:pt x="82021" y="169510"/>
                    </a:moveTo>
                    <a:cubicBezTo>
                      <a:pt x="35542" y="169510"/>
                      <a:pt x="0" y="131234"/>
                      <a:pt x="0" y="84755"/>
                    </a:cubicBezTo>
                    <a:cubicBezTo>
                      <a:pt x="0" y="38277"/>
                      <a:pt x="38276" y="2734"/>
                      <a:pt x="82021" y="0"/>
                    </a:cubicBezTo>
                    <a:cubicBezTo>
                      <a:pt x="82021" y="0"/>
                      <a:pt x="82021" y="0"/>
                      <a:pt x="82021" y="0"/>
                    </a:cubicBezTo>
                    <a:cubicBezTo>
                      <a:pt x="128500" y="0"/>
                      <a:pt x="164042" y="38277"/>
                      <a:pt x="164042" y="84755"/>
                    </a:cubicBezTo>
                    <a:cubicBezTo>
                      <a:pt x="164042" y="131234"/>
                      <a:pt x="128500" y="169510"/>
                      <a:pt x="82021" y="169510"/>
                    </a:cubicBezTo>
                    <a:close/>
                    <a:moveTo>
                      <a:pt x="82021" y="30075"/>
                    </a:moveTo>
                    <a:cubicBezTo>
                      <a:pt x="51947" y="30075"/>
                      <a:pt x="27340" y="54681"/>
                      <a:pt x="27340" y="87489"/>
                    </a:cubicBezTo>
                    <a:cubicBezTo>
                      <a:pt x="27340" y="117564"/>
                      <a:pt x="51947" y="142170"/>
                      <a:pt x="82021" y="144904"/>
                    </a:cubicBezTo>
                    <a:cubicBezTo>
                      <a:pt x="112095" y="144904"/>
                      <a:pt x="136702" y="120298"/>
                      <a:pt x="136702" y="87489"/>
                    </a:cubicBezTo>
                    <a:cubicBezTo>
                      <a:pt x="139436" y="57415"/>
                      <a:pt x="114829" y="30075"/>
                      <a:pt x="82021" y="30075"/>
                    </a:cubicBezTo>
                    <a:close/>
                  </a:path>
                </a:pathLst>
              </a:custGeom>
              <a:grpFill/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48" name="Полилиния: фигура 128">
              <a:extLst>
                <a:ext uri="{FF2B5EF4-FFF2-40B4-BE49-F238E27FC236}">
                  <a16:creationId xmlns:a16="http://schemas.microsoft.com/office/drawing/2014/main" id="{946C2857-7420-40BC-BEEB-86CF94DFC987}"/>
                </a:ext>
              </a:extLst>
            </p:cNvPr>
            <p:cNvSpPr/>
            <p:nvPr/>
          </p:nvSpPr>
          <p:spPr>
            <a:xfrm>
              <a:off x="1939524" y="2129136"/>
              <a:ext cx="377296" cy="314414"/>
            </a:xfrm>
            <a:custGeom>
              <a:avLst/>
              <a:gdLst>
                <a:gd name="connsiteX0" fmla="*/ 377297 w 377296"/>
                <a:gd name="connsiteY0" fmla="*/ 314414 h 314414"/>
                <a:gd name="connsiteX1" fmla="*/ 246063 w 377296"/>
                <a:gd name="connsiteY1" fmla="*/ 314414 h 314414"/>
                <a:gd name="connsiteX2" fmla="*/ 246063 w 377296"/>
                <a:gd name="connsiteY2" fmla="*/ 287074 h 314414"/>
                <a:gd name="connsiteX3" fmla="*/ 349956 w 377296"/>
                <a:gd name="connsiteY3" fmla="*/ 287074 h 314414"/>
                <a:gd name="connsiteX4" fmla="*/ 349956 w 377296"/>
                <a:gd name="connsiteY4" fmla="*/ 27340 h 314414"/>
                <a:gd name="connsiteX5" fmla="*/ 0 w 377296"/>
                <a:gd name="connsiteY5" fmla="*/ 27340 h 314414"/>
                <a:gd name="connsiteX6" fmla="*/ 0 w 377296"/>
                <a:gd name="connsiteY6" fmla="*/ 0 h 314414"/>
                <a:gd name="connsiteX7" fmla="*/ 377297 w 377296"/>
                <a:gd name="connsiteY7" fmla="*/ 0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7296" h="314414">
                  <a:moveTo>
                    <a:pt x="377297" y="314414"/>
                  </a:moveTo>
                  <a:lnTo>
                    <a:pt x="246063" y="314414"/>
                  </a:lnTo>
                  <a:lnTo>
                    <a:pt x="246063" y="287074"/>
                  </a:lnTo>
                  <a:lnTo>
                    <a:pt x="349956" y="287074"/>
                  </a:lnTo>
                  <a:lnTo>
                    <a:pt x="34995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77297" y="0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129">
              <a:extLst>
                <a:ext uri="{FF2B5EF4-FFF2-40B4-BE49-F238E27FC236}">
                  <a16:creationId xmlns:a16="http://schemas.microsoft.com/office/drawing/2014/main" id="{53C2992C-3CD0-47A0-978B-BFFF995667F5}"/>
                </a:ext>
              </a:extLst>
            </p:cNvPr>
            <p:cNvSpPr/>
            <p:nvPr/>
          </p:nvSpPr>
          <p:spPr>
            <a:xfrm>
              <a:off x="1502079" y="2479093"/>
              <a:ext cx="339020" cy="314414"/>
            </a:xfrm>
            <a:custGeom>
              <a:avLst/>
              <a:gdLst>
                <a:gd name="connsiteX0" fmla="*/ 339020 w 339020"/>
                <a:gd name="connsiteY0" fmla="*/ 314414 h 314414"/>
                <a:gd name="connsiteX1" fmla="*/ 0 w 339020"/>
                <a:gd name="connsiteY1" fmla="*/ 314414 h 314414"/>
                <a:gd name="connsiteX2" fmla="*/ 0 w 339020"/>
                <a:gd name="connsiteY2" fmla="*/ 0 h 314414"/>
                <a:gd name="connsiteX3" fmla="*/ 98425 w 339020"/>
                <a:gd name="connsiteY3" fmla="*/ 0 h 314414"/>
                <a:gd name="connsiteX4" fmla="*/ 98425 w 339020"/>
                <a:gd name="connsiteY4" fmla="*/ 27340 h 314414"/>
                <a:gd name="connsiteX5" fmla="*/ 27340 w 339020"/>
                <a:gd name="connsiteY5" fmla="*/ 27340 h 314414"/>
                <a:gd name="connsiteX6" fmla="*/ 27340 w 339020"/>
                <a:gd name="connsiteY6" fmla="*/ 287074 h 314414"/>
                <a:gd name="connsiteX7" fmla="*/ 339020 w 339020"/>
                <a:gd name="connsiteY7" fmla="*/ 287074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020" h="314414">
                  <a:moveTo>
                    <a:pt x="339020" y="314414"/>
                  </a:moveTo>
                  <a:lnTo>
                    <a:pt x="0" y="314414"/>
                  </a:lnTo>
                  <a:lnTo>
                    <a:pt x="0" y="0"/>
                  </a:lnTo>
                  <a:lnTo>
                    <a:pt x="98425" y="0"/>
                  </a:lnTo>
                  <a:lnTo>
                    <a:pt x="98425" y="27340"/>
                  </a:lnTo>
                  <a:lnTo>
                    <a:pt x="27340" y="27340"/>
                  </a:lnTo>
                  <a:lnTo>
                    <a:pt x="27340" y="287074"/>
                  </a:lnTo>
                  <a:lnTo>
                    <a:pt x="339020" y="287074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50" name="Rectangle 266">
            <a:extLst>
              <a:ext uri="{FF2B5EF4-FFF2-40B4-BE49-F238E27FC236}">
                <a16:creationId xmlns:a16="http://schemas.microsoft.com/office/drawing/2014/main" id="{8B8CC000-E90C-42B0-9DF2-8141633682E5}"/>
              </a:ext>
            </a:extLst>
          </p:cNvPr>
          <p:cNvSpPr/>
          <p:nvPr/>
        </p:nvSpPr>
        <p:spPr>
          <a:xfrm>
            <a:off x="1350557" y="5256504"/>
            <a:ext cx="141361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Аудит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контроля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качества</a:t>
            </a:r>
          </a:p>
        </p:txBody>
      </p:sp>
      <p:grpSp>
        <p:nvGrpSpPr>
          <p:cNvPr id="151" name="Группа 226">
            <a:extLst>
              <a:ext uri="{FF2B5EF4-FFF2-40B4-BE49-F238E27FC236}">
                <a16:creationId xmlns:a16="http://schemas.microsoft.com/office/drawing/2014/main" id="{8F9289EC-DC4C-4CF0-8E17-47FF12512D5D}"/>
              </a:ext>
            </a:extLst>
          </p:cNvPr>
          <p:cNvGrpSpPr>
            <a:grpSpLocks noChangeAspect="1"/>
          </p:cNvGrpSpPr>
          <p:nvPr/>
        </p:nvGrpSpPr>
        <p:grpSpPr>
          <a:xfrm>
            <a:off x="842952" y="5386564"/>
            <a:ext cx="309506" cy="346054"/>
            <a:chOff x="10241463" y="2945681"/>
            <a:chExt cx="751897" cy="840683"/>
          </a:xfrm>
          <a:solidFill>
            <a:srgbClr val="FFFFFF"/>
          </a:solidFill>
        </p:grpSpPr>
        <p:sp>
          <p:nvSpPr>
            <p:cNvPr id="152" name="Полилиния: фигура 227">
              <a:extLst>
                <a:ext uri="{FF2B5EF4-FFF2-40B4-BE49-F238E27FC236}">
                  <a16:creationId xmlns:a16="http://schemas.microsoft.com/office/drawing/2014/main" id="{9D3D9B68-D60E-4BA0-B204-F24B9B5DB4C5}"/>
                </a:ext>
              </a:extLst>
            </p:cNvPr>
            <p:cNvSpPr/>
            <p:nvPr/>
          </p:nvSpPr>
          <p:spPr>
            <a:xfrm>
              <a:off x="10241463" y="2945681"/>
              <a:ext cx="663113" cy="840683"/>
            </a:xfrm>
            <a:custGeom>
              <a:avLst/>
              <a:gdLst>
                <a:gd name="connsiteX0" fmla="*/ 274679 w 663113"/>
                <a:gd name="connsiteY0" fmla="*/ 840684 h 840683"/>
                <a:gd name="connsiteX1" fmla="*/ 13873 w 663113"/>
                <a:gd name="connsiteY1" fmla="*/ 840684 h 840683"/>
                <a:gd name="connsiteX2" fmla="*/ 0 w 663113"/>
                <a:gd name="connsiteY2" fmla="*/ 826811 h 840683"/>
                <a:gd name="connsiteX3" fmla="*/ 0 w 663113"/>
                <a:gd name="connsiteY3" fmla="*/ 13873 h 840683"/>
                <a:gd name="connsiteX4" fmla="*/ 13873 w 663113"/>
                <a:gd name="connsiteY4" fmla="*/ 0 h 840683"/>
                <a:gd name="connsiteX5" fmla="*/ 649241 w 663113"/>
                <a:gd name="connsiteY5" fmla="*/ 0 h 840683"/>
                <a:gd name="connsiteX6" fmla="*/ 663113 w 663113"/>
                <a:gd name="connsiteY6" fmla="*/ 13873 h 840683"/>
                <a:gd name="connsiteX7" fmla="*/ 663113 w 663113"/>
                <a:gd name="connsiteY7" fmla="*/ 91560 h 840683"/>
                <a:gd name="connsiteX8" fmla="*/ 635368 w 663113"/>
                <a:gd name="connsiteY8" fmla="*/ 91560 h 840683"/>
                <a:gd name="connsiteX9" fmla="*/ 635368 w 663113"/>
                <a:gd name="connsiteY9" fmla="*/ 27745 h 840683"/>
                <a:gd name="connsiteX10" fmla="*/ 27745 w 663113"/>
                <a:gd name="connsiteY10" fmla="*/ 27745 h 840683"/>
                <a:gd name="connsiteX11" fmla="*/ 27745 w 663113"/>
                <a:gd name="connsiteY11" fmla="*/ 812938 h 840683"/>
                <a:gd name="connsiteX12" fmla="*/ 274679 w 663113"/>
                <a:gd name="connsiteY12" fmla="*/ 812938 h 840683"/>
                <a:gd name="connsiteX13" fmla="*/ 274679 w 663113"/>
                <a:gd name="connsiteY13" fmla="*/ 840684 h 840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3113" h="840683">
                  <a:moveTo>
                    <a:pt x="274679" y="840684"/>
                  </a:moveTo>
                  <a:lnTo>
                    <a:pt x="13873" y="840684"/>
                  </a:lnTo>
                  <a:cubicBezTo>
                    <a:pt x="5549" y="840684"/>
                    <a:pt x="0" y="832360"/>
                    <a:pt x="0" y="826811"/>
                  </a:cubicBezTo>
                  <a:lnTo>
                    <a:pt x="0" y="13873"/>
                  </a:lnTo>
                  <a:cubicBezTo>
                    <a:pt x="0" y="5549"/>
                    <a:pt x="5549" y="0"/>
                    <a:pt x="13873" y="0"/>
                  </a:cubicBezTo>
                  <a:lnTo>
                    <a:pt x="649241" y="0"/>
                  </a:lnTo>
                  <a:cubicBezTo>
                    <a:pt x="657564" y="0"/>
                    <a:pt x="663113" y="5549"/>
                    <a:pt x="663113" y="13873"/>
                  </a:cubicBezTo>
                  <a:lnTo>
                    <a:pt x="663113" y="91560"/>
                  </a:lnTo>
                  <a:lnTo>
                    <a:pt x="635368" y="91560"/>
                  </a:lnTo>
                  <a:lnTo>
                    <a:pt x="635368" y="27745"/>
                  </a:lnTo>
                  <a:lnTo>
                    <a:pt x="27745" y="27745"/>
                  </a:lnTo>
                  <a:lnTo>
                    <a:pt x="27745" y="812938"/>
                  </a:lnTo>
                  <a:lnTo>
                    <a:pt x="274679" y="812938"/>
                  </a:lnTo>
                  <a:lnTo>
                    <a:pt x="274679" y="840684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228">
              <a:extLst>
                <a:ext uri="{FF2B5EF4-FFF2-40B4-BE49-F238E27FC236}">
                  <a16:creationId xmlns:a16="http://schemas.microsoft.com/office/drawing/2014/main" id="{8919031C-CF52-4049-B30E-BE8865AA8464}"/>
                </a:ext>
              </a:extLst>
            </p:cNvPr>
            <p:cNvSpPr/>
            <p:nvPr/>
          </p:nvSpPr>
          <p:spPr>
            <a:xfrm>
              <a:off x="10813016" y="3636539"/>
              <a:ext cx="91559" cy="149824"/>
            </a:xfrm>
            <a:custGeom>
              <a:avLst/>
              <a:gdLst>
                <a:gd name="connsiteX0" fmla="*/ 77687 w 91559"/>
                <a:gd name="connsiteY0" fmla="*/ 149825 h 149824"/>
                <a:gd name="connsiteX1" fmla="*/ 0 w 91559"/>
                <a:gd name="connsiteY1" fmla="*/ 149825 h 149824"/>
                <a:gd name="connsiteX2" fmla="*/ 0 w 91559"/>
                <a:gd name="connsiteY2" fmla="*/ 122079 h 149824"/>
                <a:gd name="connsiteX3" fmla="*/ 63814 w 91559"/>
                <a:gd name="connsiteY3" fmla="*/ 122079 h 149824"/>
                <a:gd name="connsiteX4" fmla="*/ 63814 w 91559"/>
                <a:gd name="connsiteY4" fmla="*/ 0 h 149824"/>
                <a:gd name="connsiteX5" fmla="*/ 91560 w 91559"/>
                <a:gd name="connsiteY5" fmla="*/ 0 h 149824"/>
                <a:gd name="connsiteX6" fmla="*/ 91560 w 91559"/>
                <a:gd name="connsiteY6" fmla="*/ 135952 h 149824"/>
                <a:gd name="connsiteX7" fmla="*/ 77687 w 91559"/>
                <a:gd name="connsiteY7" fmla="*/ 149825 h 14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559" h="149824">
                  <a:moveTo>
                    <a:pt x="77687" y="149825"/>
                  </a:moveTo>
                  <a:lnTo>
                    <a:pt x="0" y="149825"/>
                  </a:lnTo>
                  <a:lnTo>
                    <a:pt x="0" y="122079"/>
                  </a:lnTo>
                  <a:lnTo>
                    <a:pt x="63814" y="122079"/>
                  </a:lnTo>
                  <a:lnTo>
                    <a:pt x="63814" y="0"/>
                  </a:lnTo>
                  <a:lnTo>
                    <a:pt x="91560" y="0"/>
                  </a:lnTo>
                  <a:lnTo>
                    <a:pt x="91560" y="135952"/>
                  </a:lnTo>
                  <a:cubicBezTo>
                    <a:pt x="91560" y="141501"/>
                    <a:pt x="86011" y="149825"/>
                    <a:pt x="77687" y="149825"/>
                  </a:cubicBez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4" name="Рисунок 5">
              <a:extLst>
                <a:ext uri="{FF2B5EF4-FFF2-40B4-BE49-F238E27FC236}">
                  <a16:creationId xmlns:a16="http://schemas.microsoft.com/office/drawing/2014/main" id="{1C801EAB-0F76-4D2A-BC36-B3EF6330AC37}"/>
                </a:ext>
              </a:extLst>
            </p:cNvPr>
            <p:cNvGrpSpPr/>
            <p:nvPr/>
          </p:nvGrpSpPr>
          <p:grpSpPr>
            <a:xfrm>
              <a:off x="10577181" y="3717001"/>
              <a:ext cx="180344" cy="63814"/>
              <a:chOff x="10577181" y="3717001"/>
              <a:chExt cx="180344" cy="63814"/>
            </a:xfrm>
            <a:grpFill/>
          </p:grpSpPr>
          <p:sp>
            <p:nvSpPr>
              <p:cNvPr id="155" name="Полилиния: фигура 236">
                <a:extLst>
                  <a:ext uri="{FF2B5EF4-FFF2-40B4-BE49-F238E27FC236}">
                    <a16:creationId xmlns:a16="http://schemas.microsoft.com/office/drawing/2014/main" id="{3EC5EF42-B22D-42B4-AE47-7FDCBE5F5203}"/>
                  </a:ext>
                </a:extLst>
              </p:cNvPr>
              <p:cNvSpPr/>
              <p:nvPr/>
            </p:nvSpPr>
            <p:spPr>
              <a:xfrm>
                <a:off x="10577181" y="3717001"/>
                <a:ext cx="66588" cy="63814"/>
              </a:xfrm>
              <a:custGeom>
                <a:avLst/>
                <a:gdLst>
                  <a:gd name="connsiteX0" fmla="*/ 0 w 66588"/>
                  <a:gd name="connsiteY0" fmla="*/ 0 h 63814"/>
                  <a:gd name="connsiteX1" fmla="*/ 66589 w 66588"/>
                  <a:gd name="connsiteY1" fmla="*/ 0 h 63814"/>
                  <a:gd name="connsiteX2" fmla="*/ 66589 w 66588"/>
                  <a:gd name="connsiteY2" fmla="*/ 63814 h 63814"/>
                  <a:gd name="connsiteX3" fmla="*/ 0 w 66588"/>
                  <a:gd name="connsiteY3" fmla="*/ 63814 h 6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588" h="63814">
                    <a:moveTo>
                      <a:pt x="0" y="0"/>
                    </a:moveTo>
                    <a:lnTo>
                      <a:pt x="66589" y="0"/>
                    </a:lnTo>
                    <a:lnTo>
                      <a:pt x="66589" y="63814"/>
                    </a:lnTo>
                    <a:lnTo>
                      <a:pt x="0" y="63814"/>
                    </a:ln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6" name="Полилиния: фигура 237">
                <a:extLst>
                  <a:ext uri="{FF2B5EF4-FFF2-40B4-BE49-F238E27FC236}">
                    <a16:creationId xmlns:a16="http://schemas.microsoft.com/office/drawing/2014/main" id="{ABABD512-6350-4935-AF53-C1405DF39B75}"/>
                  </a:ext>
                </a:extLst>
              </p:cNvPr>
              <p:cNvSpPr/>
              <p:nvPr/>
            </p:nvSpPr>
            <p:spPr>
              <a:xfrm>
                <a:off x="10690937" y="3717001"/>
                <a:ext cx="66588" cy="63814"/>
              </a:xfrm>
              <a:custGeom>
                <a:avLst/>
                <a:gdLst>
                  <a:gd name="connsiteX0" fmla="*/ 0 w 66588"/>
                  <a:gd name="connsiteY0" fmla="*/ 0 h 63814"/>
                  <a:gd name="connsiteX1" fmla="*/ 66589 w 66588"/>
                  <a:gd name="connsiteY1" fmla="*/ 0 h 63814"/>
                  <a:gd name="connsiteX2" fmla="*/ 66589 w 66588"/>
                  <a:gd name="connsiteY2" fmla="*/ 63814 h 63814"/>
                  <a:gd name="connsiteX3" fmla="*/ 0 w 66588"/>
                  <a:gd name="connsiteY3" fmla="*/ 63814 h 6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588" h="63814">
                    <a:moveTo>
                      <a:pt x="0" y="0"/>
                    </a:moveTo>
                    <a:lnTo>
                      <a:pt x="66589" y="0"/>
                    </a:lnTo>
                    <a:lnTo>
                      <a:pt x="66589" y="63814"/>
                    </a:lnTo>
                    <a:lnTo>
                      <a:pt x="0" y="63814"/>
                    </a:ln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57" name="Рисунок 5">
              <a:extLst>
                <a:ext uri="{FF2B5EF4-FFF2-40B4-BE49-F238E27FC236}">
                  <a16:creationId xmlns:a16="http://schemas.microsoft.com/office/drawing/2014/main" id="{E8D81D4A-2F95-42C5-B8EB-32ECEDBBADD0}"/>
                </a:ext>
              </a:extLst>
            </p:cNvPr>
            <p:cNvGrpSpPr/>
            <p:nvPr/>
          </p:nvGrpSpPr>
          <p:grpSpPr>
            <a:xfrm>
              <a:off x="10539031" y="3072221"/>
              <a:ext cx="454329" cy="553220"/>
              <a:chOff x="10539031" y="3072221"/>
              <a:chExt cx="454329" cy="553220"/>
            </a:xfrm>
            <a:grpFill/>
          </p:grpSpPr>
          <p:sp>
            <p:nvSpPr>
              <p:cNvPr id="158" name="Полилиния: фигура 234">
                <a:extLst>
                  <a:ext uri="{FF2B5EF4-FFF2-40B4-BE49-F238E27FC236}">
                    <a16:creationId xmlns:a16="http://schemas.microsoft.com/office/drawing/2014/main" id="{A2D556BE-AD3D-4208-AB25-C425A89CB3FB}"/>
                  </a:ext>
                </a:extLst>
              </p:cNvPr>
              <p:cNvSpPr/>
              <p:nvPr/>
            </p:nvSpPr>
            <p:spPr>
              <a:xfrm>
                <a:off x="10539031" y="3072221"/>
                <a:ext cx="454329" cy="553220"/>
              </a:xfrm>
              <a:custGeom>
                <a:avLst/>
                <a:gdLst>
                  <a:gd name="connsiteX0" fmla="*/ 451555 w 454329"/>
                  <a:gd name="connsiteY0" fmla="*/ 461661 h 553220"/>
                  <a:gd name="connsiteX1" fmla="*/ 368319 w 454329"/>
                  <a:gd name="connsiteY1" fmla="*/ 317385 h 553220"/>
                  <a:gd name="connsiteX2" fmla="*/ 371094 w 454329"/>
                  <a:gd name="connsiteY2" fmla="*/ 317385 h 553220"/>
                  <a:gd name="connsiteX3" fmla="*/ 379417 w 454329"/>
                  <a:gd name="connsiteY3" fmla="*/ 306287 h 553220"/>
                  <a:gd name="connsiteX4" fmla="*/ 379417 w 454329"/>
                  <a:gd name="connsiteY4" fmla="*/ 250796 h 553220"/>
                  <a:gd name="connsiteX5" fmla="*/ 415486 w 454329"/>
                  <a:gd name="connsiteY5" fmla="*/ 206404 h 553220"/>
                  <a:gd name="connsiteX6" fmla="*/ 415486 w 454329"/>
                  <a:gd name="connsiteY6" fmla="*/ 189757 h 553220"/>
                  <a:gd name="connsiteX7" fmla="*/ 382192 w 454329"/>
                  <a:gd name="connsiteY7" fmla="*/ 145364 h 553220"/>
                  <a:gd name="connsiteX8" fmla="*/ 387741 w 454329"/>
                  <a:gd name="connsiteY8" fmla="*/ 87099 h 553220"/>
                  <a:gd name="connsiteX9" fmla="*/ 379417 w 454329"/>
                  <a:gd name="connsiteY9" fmla="*/ 73226 h 553220"/>
                  <a:gd name="connsiteX10" fmla="*/ 326701 w 454329"/>
                  <a:gd name="connsiteY10" fmla="*/ 56579 h 553220"/>
                  <a:gd name="connsiteX11" fmla="*/ 296181 w 454329"/>
                  <a:gd name="connsiteY11" fmla="*/ 9412 h 553220"/>
                  <a:gd name="connsiteX12" fmla="*/ 282309 w 454329"/>
                  <a:gd name="connsiteY12" fmla="*/ 3863 h 553220"/>
                  <a:gd name="connsiteX13" fmla="*/ 229593 w 454329"/>
                  <a:gd name="connsiteY13" fmla="*/ 23285 h 553220"/>
                  <a:gd name="connsiteX14" fmla="*/ 179651 w 454329"/>
                  <a:gd name="connsiteY14" fmla="*/ 1088 h 553220"/>
                  <a:gd name="connsiteX15" fmla="*/ 165778 w 454329"/>
                  <a:gd name="connsiteY15" fmla="*/ 6638 h 553220"/>
                  <a:gd name="connsiteX16" fmla="*/ 135259 w 454329"/>
                  <a:gd name="connsiteY16" fmla="*/ 53805 h 553220"/>
                  <a:gd name="connsiteX17" fmla="*/ 79768 w 454329"/>
                  <a:gd name="connsiteY17" fmla="*/ 67677 h 553220"/>
                  <a:gd name="connsiteX18" fmla="*/ 71444 w 454329"/>
                  <a:gd name="connsiteY18" fmla="*/ 78775 h 553220"/>
                  <a:gd name="connsiteX19" fmla="*/ 71444 w 454329"/>
                  <a:gd name="connsiteY19" fmla="*/ 134266 h 553220"/>
                  <a:gd name="connsiteX20" fmla="*/ 35375 w 454329"/>
                  <a:gd name="connsiteY20" fmla="*/ 178659 h 553220"/>
                  <a:gd name="connsiteX21" fmla="*/ 35375 w 454329"/>
                  <a:gd name="connsiteY21" fmla="*/ 192531 h 553220"/>
                  <a:gd name="connsiteX22" fmla="*/ 68670 w 454329"/>
                  <a:gd name="connsiteY22" fmla="*/ 236924 h 553220"/>
                  <a:gd name="connsiteX23" fmla="*/ 65895 w 454329"/>
                  <a:gd name="connsiteY23" fmla="*/ 295189 h 553220"/>
                  <a:gd name="connsiteX24" fmla="*/ 74219 w 454329"/>
                  <a:gd name="connsiteY24" fmla="*/ 309062 h 553220"/>
                  <a:gd name="connsiteX25" fmla="*/ 85317 w 454329"/>
                  <a:gd name="connsiteY25" fmla="*/ 311836 h 553220"/>
                  <a:gd name="connsiteX26" fmla="*/ 2081 w 454329"/>
                  <a:gd name="connsiteY26" fmla="*/ 461661 h 553220"/>
                  <a:gd name="connsiteX27" fmla="*/ 2081 w 454329"/>
                  <a:gd name="connsiteY27" fmla="*/ 472759 h 553220"/>
                  <a:gd name="connsiteX28" fmla="*/ 10405 w 454329"/>
                  <a:gd name="connsiteY28" fmla="*/ 478308 h 553220"/>
                  <a:gd name="connsiteX29" fmla="*/ 85317 w 454329"/>
                  <a:gd name="connsiteY29" fmla="*/ 486632 h 553220"/>
                  <a:gd name="connsiteX30" fmla="*/ 129709 w 454329"/>
                  <a:gd name="connsiteY30" fmla="*/ 547672 h 553220"/>
                  <a:gd name="connsiteX31" fmla="*/ 140808 w 454329"/>
                  <a:gd name="connsiteY31" fmla="*/ 553221 h 553220"/>
                  <a:gd name="connsiteX32" fmla="*/ 140808 w 454329"/>
                  <a:gd name="connsiteY32" fmla="*/ 553221 h 553220"/>
                  <a:gd name="connsiteX33" fmla="*/ 151906 w 454329"/>
                  <a:gd name="connsiteY33" fmla="*/ 547672 h 553220"/>
                  <a:gd name="connsiteX34" fmla="*/ 229593 w 454329"/>
                  <a:gd name="connsiteY34" fmla="*/ 411719 h 553220"/>
                  <a:gd name="connsiteX35" fmla="*/ 304505 w 454329"/>
                  <a:gd name="connsiteY35" fmla="*/ 547672 h 553220"/>
                  <a:gd name="connsiteX36" fmla="*/ 315603 w 454329"/>
                  <a:gd name="connsiteY36" fmla="*/ 553221 h 553220"/>
                  <a:gd name="connsiteX37" fmla="*/ 315603 w 454329"/>
                  <a:gd name="connsiteY37" fmla="*/ 550446 h 553220"/>
                  <a:gd name="connsiteX38" fmla="*/ 315603 w 454329"/>
                  <a:gd name="connsiteY38" fmla="*/ 550446 h 553220"/>
                  <a:gd name="connsiteX39" fmla="*/ 315603 w 454329"/>
                  <a:gd name="connsiteY39" fmla="*/ 550446 h 553220"/>
                  <a:gd name="connsiteX40" fmla="*/ 315603 w 454329"/>
                  <a:gd name="connsiteY40" fmla="*/ 550446 h 553220"/>
                  <a:gd name="connsiteX41" fmla="*/ 315603 w 454329"/>
                  <a:gd name="connsiteY41" fmla="*/ 553221 h 553220"/>
                  <a:gd name="connsiteX42" fmla="*/ 315603 w 454329"/>
                  <a:gd name="connsiteY42" fmla="*/ 553221 h 553220"/>
                  <a:gd name="connsiteX43" fmla="*/ 326701 w 454329"/>
                  <a:gd name="connsiteY43" fmla="*/ 547672 h 553220"/>
                  <a:gd name="connsiteX44" fmla="*/ 371094 w 454329"/>
                  <a:gd name="connsiteY44" fmla="*/ 486632 h 553220"/>
                  <a:gd name="connsiteX45" fmla="*/ 446006 w 454329"/>
                  <a:gd name="connsiteY45" fmla="*/ 478308 h 553220"/>
                  <a:gd name="connsiteX46" fmla="*/ 454330 w 454329"/>
                  <a:gd name="connsiteY46" fmla="*/ 472759 h 553220"/>
                  <a:gd name="connsiteX47" fmla="*/ 451555 w 454329"/>
                  <a:gd name="connsiteY47" fmla="*/ 461661 h 553220"/>
                  <a:gd name="connsiteX48" fmla="*/ 90866 w 454329"/>
                  <a:gd name="connsiteY48" fmla="*/ 228600 h 553220"/>
                  <a:gd name="connsiteX49" fmla="*/ 60346 w 454329"/>
                  <a:gd name="connsiteY49" fmla="*/ 186982 h 553220"/>
                  <a:gd name="connsiteX50" fmla="*/ 93641 w 454329"/>
                  <a:gd name="connsiteY50" fmla="*/ 148139 h 553220"/>
                  <a:gd name="connsiteX51" fmla="*/ 96415 w 454329"/>
                  <a:gd name="connsiteY51" fmla="*/ 139815 h 553220"/>
                  <a:gd name="connsiteX52" fmla="*/ 96415 w 454329"/>
                  <a:gd name="connsiteY52" fmla="*/ 89874 h 553220"/>
                  <a:gd name="connsiteX53" fmla="*/ 143582 w 454329"/>
                  <a:gd name="connsiteY53" fmla="*/ 76001 h 553220"/>
                  <a:gd name="connsiteX54" fmla="*/ 149131 w 454329"/>
                  <a:gd name="connsiteY54" fmla="*/ 70452 h 553220"/>
                  <a:gd name="connsiteX55" fmla="*/ 176877 w 454329"/>
                  <a:gd name="connsiteY55" fmla="*/ 28834 h 553220"/>
                  <a:gd name="connsiteX56" fmla="*/ 221269 w 454329"/>
                  <a:gd name="connsiteY56" fmla="*/ 48256 h 553220"/>
                  <a:gd name="connsiteX57" fmla="*/ 229593 w 454329"/>
                  <a:gd name="connsiteY57" fmla="*/ 48256 h 553220"/>
                  <a:gd name="connsiteX58" fmla="*/ 276760 w 454329"/>
                  <a:gd name="connsiteY58" fmla="*/ 31608 h 553220"/>
                  <a:gd name="connsiteX59" fmla="*/ 304505 w 454329"/>
                  <a:gd name="connsiteY59" fmla="*/ 76001 h 553220"/>
                  <a:gd name="connsiteX60" fmla="*/ 310054 w 454329"/>
                  <a:gd name="connsiteY60" fmla="*/ 81550 h 553220"/>
                  <a:gd name="connsiteX61" fmla="*/ 359996 w 454329"/>
                  <a:gd name="connsiteY61" fmla="*/ 95423 h 553220"/>
                  <a:gd name="connsiteX62" fmla="*/ 354447 w 454329"/>
                  <a:gd name="connsiteY62" fmla="*/ 148139 h 553220"/>
                  <a:gd name="connsiteX63" fmla="*/ 357221 w 454329"/>
                  <a:gd name="connsiteY63" fmla="*/ 156462 h 553220"/>
                  <a:gd name="connsiteX64" fmla="*/ 387741 w 454329"/>
                  <a:gd name="connsiteY64" fmla="*/ 198080 h 553220"/>
                  <a:gd name="connsiteX65" fmla="*/ 357221 w 454329"/>
                  <a:gd name="connsiteY65" fmla="*/ 234149 h 553220"/>
                  <a:gd name="connsiteX66" fmla="*/ 354447 w 454329"/>
                  <a:gd name="connsiteY66" fmla="*/ 242473 h 553220"/>
                  <a:gd name="connsiteX67" fmla="*/ 354447 w 454329"/>
                  <a:gd name="connsiteY67" fmla="*/ 292414 h 553220"/>
                  <a:gd name="connsiteX68" fmla="*/ 312829 w 454329"/>
                  <a:gd name="connsiteY68" fmla="*/ 306287 h 553220"/>
                  <a:gd name="connsiteX69" fmla="*/ 307280 w 454329"/>
                  <a:gd name="connsiteY69" fmla="*/ 306287 h 553220"/>
                  <a:gd name="connsiteX70" fmla="*/ 301731 w 454329"/>
                  <a:gd name="connsiteY70" fmla="*/ 311836 h 553220"/>
                  <a:gd name="connsiteX71" fmla="*/ 273985 w 454329"/>
                  <a:gd name="connsiteY71" fmla="*/ 353454 h 553220"/>
                  <a:gd name="connsiteX72" fmla="*/ 251789 w 454329"/>
                  <a:gd name="connsiteY72" fmla="*/ 345131 h 553220"/>
                  <a:gd name="connsiteX73" fmla="*/ 246240 w 454329"/>
                  <a:gd name="connsiteY73" fmla="*/ 342356 h 553220"/>
                  <a:gd name="connsiteX74" fmla="*/ 224044 w 454329"/>
                  <a:gd name="connsiteY74" fmla="*/ 334032 h 553220"/>
                  <a:gd name="connsiteX75" fmla="*/ 215720 w 454329"/>
                  <a:gd name="connsiteY75" fmla="*/ 334032 h 553220"/>
                  <a:gd name="connsiteX76" fmla="*/ 168553 w 454329"/>
                  <a:gd name="connsiteY76" fmla="*/ 350680 h 553220"/>
                  <a:gd name="connsiteX77" fmla="*/ 140808 w 454329"/>
                  <a:gd name="connsiteY77" fmla="*/ 306287 h 553220"/>
                  <a:gd name="connsiteX78" fmla="*/ 132484 w 454329"/>
                  <a:gd name="connsiteY78" fmla="*/ 300738 h 553220"/>
                  <a:gd name="connsiteX79" fmla="*/ 101964 w 454329"/>
                  <a:gd name="connsiteY79" fmla="*/ 292414 h 553220"/>
                  <a:gd name="connsiteX80" fmla="*/ 101964 w 454329"/>
                  <a:gd name="connsiteY80" fmla="*/ 292414 h 553220"/>
                  <a:gd name="connsiteX81" fmla="*/ 90866 w 454329"/>
                  <a:gd name="connsiteY81" fmla="*/ 286865 h 553220"/>
                  <a:gd name="connsiteX82" fmla="*/ 93641 w 454329"/>
                  <a:gd name="connsiteY82" fmla="*/ 234149 h 553220"/>
                  <a:gd name="connsiteX83" fmla="*/ 90866 w 454329"/>
                  <a:gd name="connsiteY83" fmla="*/ 228600 h 553220"/>
                  <a:gd name="connsiteX84" fmla="*/ 126935 w 454329"/>
                  <a:gd name="connsiteY84" fmla="*/ 322934 h 553220"/>
                  <a:gd name="connsiteX85" fmla="*/ 157455 w 454329"/>
                  <a:gd name="connsiteY85" fmla="*/ 370101 h 553220"/>
                  <a:gd name="connsiteX86" fmla="*/ 171327 w 454329"/>
                  <a:gd name="connsiteY86" fmla="*/ 375650 h 553220"/>
                  <a:gd name="connsiteX87" fmla="*/ 224044 w 454329"/>
                  <a:gd name="connsiteY87" fmla="*/ 356229 h 553220"/>
                  <a:gd name="connsiteX88" fmla="*/ 229593 w 454329"/>
                  <a:gd name="connsiteY88" fmla="*/ 359003 h 553220"/>
                  <a:gd name="connsiteX89" fmla="*/ 140808 w 454329"/>
                  <a:gd name="connsiteY89" fmla="*/ 517152 h 553220"/>
                  <a:gd name="connsiteX90" fmla="*/ 104739 w 454329"/>
                  <a:gd name="connsiteY90" fmla="*/ 464436 h 553220"/>
                  <a:gd name="connsiteX91" fmla="*/ 96415 w 454329"/>
                  <a:gd name="connsiteY91" fmla="*/ 458886 h 553220"/>
                  <a:gd name="connsiteX92" fmla="*/ 29826 w 454329"/>
                  <a:gd name="connsiteY92" fmla="*/ 456112 h 553220"/>
                  <a:gd name="connsiteX93" fmla="*/ 107513 w 454329"/>
                  <a:gd name="connsiteY93" fmla="*/ 317385 h 553220"/>
                  <a:gd name="connsiteX94" fmla="*/ 126935 w 454329"/>
                  <a:gd name="connsiteY94" fmla="*/ 322934 h 553220"/>
                  <a:gd name="connsiteX95" fmla="*/ 249014 w 454329"/>
                  <a:gd name="connsiteY95" fmla="*/ 370101 h 553220"/>
                  <a:gd name="connsiteX96" fmla="*/ 271211 w 454329"/>
                  <a:gd name="connsiteY96" fmla="*/ 378425 h 553220"/>
                  <a:gd name="connsiteX97" fmla="*/ 271211 w 454329"/>
                  <a:gd name="connsiteY97" fmla="*/ 378425 h 553220"/>
                  <a:gd name="connsiteX98" fmla="*/ 271211 w 454329"/>
                  <a:gd name="connsiteY98" fmla="*/ 378425 h 553220"/>
                  <a:gd name="connsiteX99" fmla="*/ 271211 w 454329"/>
                  <a:gd name="connsiteY99" fmla="*/ 378425 h 553220"/>
                  <a:gd name="connsiteX100" fmla="*/ 276760 w 454329"/>
                  <a:gd name="connsiteY100" fmla="*/ 378425 h 553220"/>
                  <a:gd name="connsiteX101" fmla="*/ 279534 w 454329"/>
                  <a:gd name="connsiteY101" fmla="*/ 378425 h 553220"/>
                  <a:gd name="connsiteX102" fmla="*/ 279534 w 454329"/>
                  <a:gd name="connsiteY102" fmla="*/ 378425 h 553220"/>
                  <a:gd name="connsiteX103" fmla="*/ 285083 w 454329"/>
                  <a:gd name="connsiteY103" fmla="*/ 372876 h 553220"/>
                  <a:gd name="connsiteX104" fmla="*/ 315603 w 454329"/>
                  <a:gd name="connsiteY104" fmla="*/ 325709 h 553220"/>
                  <a:gd name="connsiteX105" fmla="*/ 321152 w 454329"/>
                  <a:gd name="connsiteY105" fmla="*/ 325709 h 553220"/>
                  <a:gd name="connsiteX106" fmla="*/ 343349 w 454329"/>
                  <a:gd name="connsiteY106" fmla="*/ 320160 h 553220"/>
                  <a:gd name="connsiteX107" fmla="*/ 418261 w 454329"/>
                  <a:gd name="connsiteY107" fmla="*/ 456112 h 553220"/>
                  <a:gd name="connsiteX108" fmla="*/ 354447 w 454329"/>
                  <a:gd name="connsiteY108" fmla="*/ 461661 h 553220"/>
                  <a:gd name="connsiteX109" fmla="*/ 346123 w 454329"/>
                  <a:gd name="connsiteY109" fmla="*/ 467210 h 553220"/>
                  <a:gd name="connsiteX110" fmla="*/ 312829 w 454329"/>
                  <a:gd name="connsiteY110" fmla="*/ 519926 h 553220"/>
                  <a:gd name="connsiteX111" fmla="*/ 237916 w 454329"/>
                  <a:gd name="connsiteY111" fmla="*/ 389523 h 553220"/>
                  <a:gd name="connsiteX112" fmla="*/ 249014 w 454329"/>
                  <a:gd name="connsiteY112" fmla="*/ 370101 h 553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454329" h="553220">
                    <a:moveTo>
                      <a:pt x="451555" y="461661"/>
                    </a:moveTo>
                    <a:lnTo>
                      <a:pt x="368319" y="317385"/>
                    </a:lnTo>
                    <a:lnTo>
                      <a:pt x="371094" y="317385"/>
                    </a:lnTo>
                    <a:cubicBezTo>
                      <a:pt x="376643" y="314611"/>
                      <a:pt x="379417" y="311836"/>
                      <a:pt x="379417" y="306287"/>
                    </a:cubicBezTo>
                    <a:lnTo>
                      <a:pt x="379417" y="250796"/>
                    </a:lnTo>
                    <a:lnTo>
                      <a:pt x="415486" y="206404"/>
                    </a:lnTo>
                    <a:cubicBezTo>
                      <a:pt x="418261" y="200855"/>
                      <a:pt x="418261" y="195306"/>
                      <a:pt x="415486" y="189757"/>
                    </a:cubicBezTo>
                    <a:lnTo>
                      <a:pt x="382192" y="145364"/>
                    </a:lnTo>
                    <a:lnTo>
                      <a:pt x="387741" y="87099"/>
                    </a:lnTo>
                    <a:cubicBezTo>
                      <a:pt x="387741" y="81550"/>
                      <a:pt x="384967" y="76001"/>
                      <a:pt x="379417" y="73226"/>
                    </a:cubicBezTo>
                    <a:lnTo>
                      <a:pt x="326701" y="56579"/>
                    </a:lnTo>
                    <a:lnTo>
                      <a:pt x="296181" y="9412"/>
                    </a:lnTo>
                    <a:cubicBezTo>
                      <a:pt x="293407" y="3863"/>
                      <a:pt x="287858" y="1088"/>
                      <a:pt x="282309" y="3863"/>
                    </a:cubicBezTo>
                    <a:lnTo>
                      <a:pt x="229593" y="23285"/>
                    </a:lnTo>
                    <a:lnTo>
                      <a:pt x="179651" y="1088"/>
                    </a:lnTo>
                    <a:cubicBezTo>
                      <a:pt x="174102" y="-1686"/>
                      <a:pt x="168553" y="1088"/>
                      <a:pt x="165778" y="6638"/>
                    </a:cubicBezTo>
                    <a:lnTo>
                      <a:pt x="135259" y="53805"/>
                    </a:lnTo>
                    <a:lnTo>
                      <a:pt x="79768" y="67677"/>
                    </a:lnTo>
                    <a:cubicBezTo>
                      <a:pt x="74219" y="70452"/>
                      <a:pt x="71444" y="73226"/>
                      <a:pt x="71444" y="78775"/>
                    </a:cubicBezTo>
                    <a:lnTo>
                      <a:pt x="71444" y="134266"/>
                    </a:lnTo>
                    <a:lnTo>
                      <a:pt x="35375" y="178659"/>
                    </a:lnTo>
                    <a:cubicBezTo>
                      <a:pt x="32601" y="184208"/>
                      <a:pt x="32601" y="189757"/>
                      <a:pt x="35375" y="192531"/>
                    </a:cubicBezTo>
                    <a:lnTo>
                      <a:pt x="68670" y="236924"/>
                    </a:lnTo>
                    <a:lnTo>
                      <a:pt x="65895" y="295189"/>
                    </a:lnTo>
                    <a:cubicBezTo>
                      <a:pt x="65895" y="300738"/>
                      <a:pt x="68670" y="306287"/>
                      <a:pt x="74219" y="309062"/>
                    </a:cubicBezTo>
                    <a:lnTo>
                      <a:pt x="85317" y="311836"/>
                    </a:lnTo>
                    <a:lnTo>
                      <a:pt x="2081" y="461661"/>
                    </a:lnTo>
                    <a:cubicBezTo>
                      <a:pt x="-694" y="464436"/>
                      <a:pt x="-694" y="469985"/>
                      <a:pt x="2081" y="472759"/>
                    </a:cubicBezTo>
                    <a:cubicBezTo>
                      <a:pt x="4855" y="475534"/>
                      <a:pt x="7630" y="478308"/>
                      <a:pt x="10405" y="478308"/>
                    </a:cubicBezTo>
                    <a:lnTo>
                      <a:pt x="85317" y="486632"/>
                    </a:lnTo>
                    <a:lnTo>
                      <a:pt x="129709" y="547672"/>
                    </a:lnTo>
                    <a:cubicBezTo>
                      <a:pt x="132484" y="550446"/>
                      <a:pt x="135259" y="553221"/>
                      <a:pt x="140808" y="553221"/>
                    </a:cubicBezTo>
                    <a:lnTo>
                      <a:pt x="140808" y="553221"/>
                    </a:lnTo>
                    <a:cubicBezTo>
                      <a:pt x="143582" y="553221"/>
                      <a:pt x="149131" y="550446"/>
                      <a:pt x="151906" y="547672"/>
                    </a:cubicBezTo>
                    <a:lnTo>
                      <a:pt x="229593" y="411719"/>
                    </a:lnTo>
                    <a:lnTo>
                      <a:pt x="304505" y="547672"/>
                    </a:lnTo>
                    <a:cubicBezTo>
                      <a:pt x="307280" y="550446"/>
                      <a:pt x="310054" y="553221"/>
                      <a:pt x="315603" y="553221"/>
                    </a:cubicBezTo>
                    <a:lnTo>
                      <a:pt x="315603" y="550446"/>
                    </a:lnTo>
                    <a:lnTo>
                      <a:pt x="315603" y="550446"/>
                    </a:lnTo>
                    <a:lnTo>
                      <a:pt x="315603" y="550446"/>
                    </a:lnTo>
                    <a:lnTo>
                      <a:pt x="315603" y="550446"/>
                    </a:lnTo>
                    <a:lnTo>
                      <a:pt x="315603" y="553221"/>
                    </a:lnTo>
                    <a:lnTo>
                      <a:pt x="315603" y="553221"/>
                    </a:lnTo>
                    <a:cubicBezTo>
                      <a:pt x="318378" y="553221"/>
                      <a:pt x="323927" y="550446"/>
                      <a:pt x="326701" y="547672"/>
                    </a:cubicBezTo>
                    <a:lnTo>
                      <a:pt x="371094" y="486632"/>
                    </a:lnTo>
                    <a:lnTo>
                      <a:pt x="446006" y="478308"/>
                    </a:lnTo>
                    <a:cubicBezTo>
                      <a:pt x="448781" y="478308"/>
                      <a:pt x="454330" y="475534"/>
                      <a:pt x="454330" y="472759"/>
                    </a:cubicBezTo>
                    <a:cubicBezTo>
                      <a:pt x="451555" y="469985"/>
                      <a:pt x="451555" y="464436"/>
                      <a:pt x="451555" y="461661"/>
                    </a:cubicBezTo>
                    <a:close/>
                    <a:moveTo>
                      <a:pt x="90866" y="228600"/>
                    </a:moveTo>
                    <a:lnTo>
                      <a:pt x="60346" y="186982"/>
                    </a:lnTo>
                    <a:lnTo>
                      <a:pt x="93641" y="148139"/>
                    </a:lnTo>
                    <a:cubicBezTo>
                      <a:pt x="96415" y="145364"/>
                      <a:pt x="96415" y="142590"/>
                      <a:pt x="96415" y="139815"/>
                    </a:cubicBezTo>
                    <a:lnTo>
                      <a:pt x="96415" y="89874"/>
                    </a:lnTo>
                    <a:lnTo>
                      <a:pt x="143582" y="76001"/>
                    </a:lnTo>
                    <a:cubicBezTo>
                      <a:pt x="146357" y="76001"/>
                      <a:pt x="149131" y="73226"/>
                      <a:pt x="149131" y="70452"/>
                    </a:cubicBezTo>
                    <a:lnTo>
                      <a:pt x="176877" y="28834"/>
                    </a:lnTo>
                    <a:lnTo>
                      <a:pt x="221269" y="48256"/>
                    </a:lnTo>
                    <a:cubicBezTo>
                      <a:pt x="224044" y="48256"/>
                      <a:pt x="226818" y="48256"/>
                      <a:pt x="229593" y="48256"/>
                    </a:cubicBezTo>
                    <a:lnTo>
                      <a:pt x="276760" y="31608"/>
                    </a:lnTo>
                    <a:lnTo>
                      <a:pt x="304505" y="76001"/>
                    </a:lnTo>
                    <a:cubicBezTo>
                      <a:pt x="307280" y="78775"/>
                      <a:pt x="307280" y="81550"/>
                      <a:pt x="310054" y="81550"/>
                    </a:cubicBezTo>
                    <a:lnTo>
                      <a:pt x="359996" y="95423"/>
                    </a:lnTo>
                    <a:lnTo>
                      <a:pt x="354447" y="148139"/>
                    </a:lnTo>
                    <a:cubicBezTo>
                      <a:pt x="354447" y="150913"/>
                      <a:pt x="354447" y="153688"/>
                      <a:pt x="357221" y="156462"/>
                    </a:cubicBezTo>
                    <a:lnTo>
                      <a:pt x="387741" y="198080"/>
                    </a:lnTo>
                    <a:lnTo>
                      <a:pt x="357221" y="234149"/>
                    </a:lnTo>
                    <a:cubicBezTo>
                      <a:pt x="354447" y="236924"/>
                      <a:pt x="354447" y="239698"/>
                      <a:pt x="354447" y="242473"/>
                    </a:cubicBezTo>
                    <a:lnTo>
                      <a:pt x="354447" y="292414"/>
                    </a:lnTo>
                    <a:lnTo>
                      <a:pt x="312829" y="306287"/>
                    </a:lnTo>
                    <a:lnTo>
                      <a:pt x="307280" y="306287"/>
                    </a:lnTo>
                    <a:cubicBezTo>
                      <a:pt x="304505" y="306287"/>
                      <a:pt x="301731" y="309062"/>
                      <a:pt x="301731" y="311836"/>
                    </a:cubicBezTo>
                    <a:lnTo>
                      <a:pt x="273985" y="353454"/>
                    </a:lnTo>
                    <a:lnTo>
                      <a:pt x="251789" y="345131"/>
                    </a:lnTo>
                    <a:cubicBezTo>
                      <a:pt x="251789" y="345131"/>
                      <a:pt x="249014" y="342356"/>
                      <a:pt x="246240" y="342356"/>
                    </a:cubicBezTo>
                    <a:lnTo>
                      <a:pt x="224044" y="334032"/>
                    </a:lnTo>
                    <a:cubicBezTo>
                      <a:pt x="221269" y="334032"/>
                      <a:pt x="218495" y="334032"/>
                      <a:pt x="215720" y="334032"/>
                    </a:cubicBezTo>
                    <a:lnTo>
                      <a:pt x="168553" y="350680"/>
                    </a:lnTo>
                    <a:lnTo>
                      <a:pt x="140808" y="306287"/>
                    </a:lnTo>
                    <a:cubicBezTo>
                      <a:pt x="138033" y="303513"/>
                      <a:pt x="138033" y="300738"/>
                      <a:pt x="132484" y="300738"/>
                    </a:cubicBezTo>
                    <a:lnTo>
                      <a:pt x="101964" y="292414"/>
                    </a:lnTo>
                    <a:cubicBezTo>
                      <a:pt x="101964" y="292414"/>
                      <a:pt x="101964" y="292414"/>
                      <a:pt x="101964" y="292414"/>
                    </a:cubicBezTo>
                    <a:lnTo>
                      <a:pt x="90866" y="286865"/>
                    </a:lnTo>
                    <a:lnTo>
                      <a:pt x="93641" y="234149"/>
                    </a:lnTo>
                    <a:cubicBezTo>
                      <a:pt x="93641" y="234149"/>
                      <a:pt x="93641" y="228600"/>
                      <a:pt x="90866" y="228600"/>
                    </a:cubicBezTo>
                    <a:close/>
                    <a:moveTo>
                      <a:pt x="126935" y="322934"/>
                    </a:moveTo>
                    <a:lnTo>
                      <a:pt x="157455" y="370101"/>
                    </a:lnTo>
                    <a:cubicBezTo>
                      <a:pt x="160229" y="375650"/>
                      <a:pt x="165778" y="378425"/>
                      <a:pt x="171327" y="375650"/>
                    </a:cubicBezTo>
                    <a:lnTo>
                      <a:pt x="224044" y="356229"/>
                    </a:lnTo>
                    <a:lnTo>
                      <a:pt x="229593" y="359003"/>
                    </a:lnTo>
                    <a:lnTo>
                      <a:pt x="140808" y="517152"/>
                    </a:lnTo>
                    <a:lnTo>
                      <a:pt x="104739" y="464436"/>
                    </a:lnTo>
                    <a:cubicBezTo>
                      <a:pt x="101964" y="461661"/>
                      <a:pt x="99190" y="458886"/>
                      <a:pt x="96415" y="458886"/>
                    </a:cubicBezTo>
                    <a:lnTo>
                      <a:pt x="29826" y="456112"/>
                    </a:lnTo>
                    <a:lnTo>
                      <a:pt x="107513" y="317385"/>
                    </a:lnTo>
                    <a:lnTo>
                      <a:pt x="126935" y="322934"/>
                    </a:lnTo>
                    <a:close/>
                    <a:moveTo>
                      <a:pt x="249014" y="370101"/>
                    </a:moveTo>
                    <a:lnTo>
                      <a:pt x="271211" y="378425"/>
                    </a:lnTo>
                    <a:lnTo>
                      <a:pt x="271211" y="378425"/>
                    </a:lnTo>
                    <a:cubicBezTo>
                      <a:pt x="271211" y="378425"/>
                      <a:pt x="271211" y="378425"/>
                      <a:pt x="271211" y="378425"/>
                    </a:cubicBezTo>
                    <a:lnTo>
                      <a:pt x="271211" y="378425"/>
                    </a:lnTo>
                    <a:cubicBezTo>
                      <a:pt x="273985" y="378425"/>
                      <a:pt x="273985" y="378425"/>
                      <a:pt x="276760" y="378425"/>
                    </a:cubicBezTo>
                    <a:cubicBezTo>
                      <a:pt x="276760" y="378425"/>
                      <a:pt x="279534" y="378425"/>
                      <a:pt x="279534" y="378425"/>
                    </a:cubicBezTo>
                    <a:cubicBezTo>
                      <a:pt x="279534" y="378425"/>
                      <a:pt x="279534" y="378425"/>
                      <a:pt x="279534" y="378425"/>
                    </a:cubicBezTo>
                    <a:cubicBezTo>
                      <a:pt x="282309" y="378425"/>
                      <a:pt x="285083" y="375650"/>
                      <a:pt x="285083" y="372876"/>
                    </a:cubicBezTo>
                    <a:lnTo>
                      <a:pt x="315603" y="325709"/>
                    </a:lnTo>
                    <a:lnTo>
                      <a:pt x="321152" y="325709"/>
                    </a:lnTo>
                    <a:lnTo>
                      <a:pt x="343349" y="320160"/>
                    </a:lnTo>
                    <a:lnTo>
                      <a:pt x="418261" y="456112"/>
                    </a:lnTo>
                    <a:lnTo>
                      <a:pt x="354447" y="461661"/>
                    </a:lnTo>
                    <a:cubicBezTo>
                      <a:pt x="351672" y="461661"/>
                      <a:pt x="348898" y="464436"/>
                      <a:pt x="346123" y="467210"/>
                    </a:cubicBezTo>
                    <a:lnTo>
                      <a:pt x="312829" y="519926"/>
                    </a:lnTo>
                    <a:lnTo>
                      <a:pt x="237916" y="389523"/>
                    </a:lnTo>
                    <a:lnTo>
                      <a:pt x="249014" y="370101"/>
                    </a:ln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59" name="Полилиния: фигура 235">
                <a:extLst>
                  <a:ext uri="{FF2B5EF4-FFF2-40B4-BE49-F238E27FC236}">
                    <a16:creationId xmlns:a16="http://schemas.microsoft.com/office/drawing/2014/main" id="{0A0F6DB8-712D-4944-98AF-EE7E9F3E84A5}"/>
                  </a:ext>
                </a:extLst>
              </p:cNvPr>
              <p:cNvSpPr/>
              <p:nvPr/>
            </p:nvSpPr>
            <p:spPr>
              <a:xfrm>
                <a:off x="10665850" y="3156545"/>
                <a:ext cx="199882" cy="210864"/>
              </a:xfrm>
              <a:custGeom>
                <a:avLst/>
                <a:gdLst>
                  <a:gd name="connsiteX0" fmla="*/ 100000 w 199882"/>
                  <a:gd name="connsiteY0" fmla="*/ 210865 h 210864"/>
                  <a:gd name="connsiteX1" fmla="*/ 199883 w 199882"/>
                  <a:gd name="connsiteY1" fmla="*/ 105432 h 210864"/>
                  <a:gd name="connsiteX2" fmla="*/ 100000 w 199882"/>
                  <a:gd name="connsiteY2" fmla="*/ 0 h 210864"/>
                  <a:gd name="connsiteX3" fmla="*/ 117 w 199882"/>
                  <a:gd name="connsiteY3" fmla="*/ 105432 h 210864"/>
                  <a:gd name="connsiteX4" fmla="*/ 100000 w 199882"/>
                  <a:gd name="connsiteY4" fmla="*/ 210865 h 210864"/>
                  <a:gd name="connsiteX5" fmla="*/ 22313 w 199882"/>
                  <a:gd name="connsiteY5" fmla="*/ 108207 h 210864"/>
                  <a:gd name="connsiteX6" fmla="*/ 100000 w 199882"/>
                  <a:gd name="connsiteY6" fmla="*/ 27745 h 210864"/>
                  <a:gd name="connsiteX7" fmla="*/ 177687 w 199882"/>
                  <a:gd name="connsiteY7" fmla="*/ 108207 h 210864"/>
                  <a:gd name="connsiteX8" fmla="*/ 100000 w 199882"/>
                  <a:gd name="connsiteY8" fmla="*/ 188668 h 210864"/>
                  <a:gd name="connsiteX9" fmla="*/ 22313 w 199882"/>
                  <a:gd name="connsiteY9" fmla="*/ 108207 h 210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9882" h="210864">
                    <a:moveTo>
                      <a:pt x="100000" y="210865"/>
                    </a:moveTo>
                    <a:cubicBezTo>
                      <a:pt x="155490" y="210865"/>
                      <a:pt x="199883" y="163697"/>
                      <a:pt x="199883" y="105432"/>
                    </a:cubicBezTo>
                    <a:cubicBezTo>
                      <a:pt x="199883" y="47167"/>
                      <a:pt x="155490" y="0"/>
                      <a:pt x="100000" y="0"/>
                    </a:cubicBezTo>
                    <a:cubicBezTo>
                      <a:pt x="44509" y="0"/>
                      <a:pt x="117" y="47167"/>
                      <a:pt x="117" y="105432"/>
                    </a:cubicBezTo>
                    <a:cubicBezTo>
                      <a:pt x="-2658" y="163697"/>
                      <a:pt x="44509" y="210865"/>
                      <a:pt x="100000" y="210865"/>
                    </a:cubicBezTo>
                    <a:close/>
                    <a:moveTo>
                      <a:pt x="22313" y="108207"/>
                    </a:moveTo>
                    <a:cubicBezTo>
                      <a:pt x="22313" y="63814"/>
                      <a:pt x="55607" y="27745"/>
                      <a:pt x="100000" y="27745"/>
                    </a:cubicBezTo>
                    <a:cubicBezTo>
                      <a:pt x="141618" y="27745"/>
                      <a:pt x="177687" y="63814"/>
                      <a:pt x="177687" y="108207"/>
                    </a:cubicBezTo>
                    <a:cubicBezTo>
                      <a:pt x="177687" y="152599"/>
                      <a:pt x="144392" y="188668"/>
                      <a:pt x="100000" y="188668"/>
                    </a:cubicBezTo>
                    <a:cubicBezTo>
                      <a:pt x="55607" y="185894"/>
                      <a:pt x="22313" y="152599"/>
                      <a:pt x="22313" y="108207"/>
                    </a:cubicBez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60" name="Полилиния: фигура 231">
              <a:extLst>
                <a:ext uri="{FF2B5EF4-FFF2-40B4-BE49-F238E27FC236}">
                  <a16:creationId xmlns:a16="http://schemas.microsoft.com/office/drawing/2014/main" id="{CC739D3A-03AF-4530-88BD-F27F5463A734}"/>
                </a:ext>
              </a:extLst>
            </p:cNvPr>
            <p:cNvSpPr/>
            <p:nvPr/>
          </p:nvSpPr>
          <p:spPr>
            <a:xfrm>
              <a:off x="10319149" y="3248105"/>
              <a:ext cx="219188" cy="27745"/>
            </a:xfrm>
            <a:custGeom>
              <a:avLst/>
              <a:gdLst>
                <a:gd name="connsiteX0" fmla="*/ 0 w 219188"/>
                <a:gd name="connsiteY0" fmla="*/ 0 h 27745"/>
                <a:gd name="connsiteX1" fmla="*/ 219188 w 219188"/>
                <a:gd name="connsiteY1" fmla="*/ 0 h 27745"/>
                <a:gd name="connsiteX2" fmla="*/ 219188 w 219188"/>
                <a:gd name="connsiteY2" fmla="*/ 27745 h 27745"/>
                <a:gd name="connsiteX3" fmla="*/ 0 w 219188"/>
                <a:gd name="connsiteY3" fmla="*/ 27745 h 2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88" h="27745">
                  <a:moveTo>
                    <a:pt x="0" y="0"/>
                  </a:moveTo>
                  <a:lnTo>
                    <a:pt x="219188" y="0"/>
                  </a:lnTo>
                  <a:lnTo>
                    <a:pt x="219188" y="27745"/>
                  </a:lnTo>
                  <a:lnTo>
                    <a:pt x="0" y="27745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32">
              <a:extLst>
                <a:ext uri="{FF2B5EF4-FFF2-40B4-BE49-F238E27FC236}">
                  <a16:creationId xmlns:a16="http://schemas.microsoft.com/office/drawing/2014/main" id="{D5009A21-CD0F-413B-A6AF-A7A6E9A70858}"/>
                </a:ext>
              </a:extLst>
            </p:cNvPr>
            <p:cNvSpPr/>
            <p:nvPr/>
          </p:nvSpPr>
          <p:spPr>
            <a:xfrm>
              <a:off x="10319149" y="3162094"/>
              <a:ext cx="219188" cy="27745"/>
            </a:xfrm>
            <a:custGeom>
              <a:avLst/>
              <a:gdLst>
                <a:gd name="connsiteX0" fmla="*/ 0 w 219188"/>
                <a:gd name="connsiteY0" fmla="*/ 0 h 27745"/>
                <a:gd name="connsiteX1" fmla="*/ 219188 w 219188"/>
                <a:gd name="connsiteY1" fmla="*/ 0 h 27745"/>
                <a:gd name="connsiteX2" fmla="*/ 219188 w 219188"/>
                <a:gd name="connsiteY2" fmla="*/ 27745 h 27745"/>
                <a:gd name="connsiteX3" fmla="*/ 0 w 219188"/>
                <a:gd name="connsiteY3" fmla="*/ 27745 h 2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88" h="27745">
                  <a:moveTo>
                    <a:pt x="0" y="0"/>
                  </a:moveTo>
                  <a:lnTo>
                    <a:pt x="219188" y="0"/>
                  </a:lnTo>
                  <a:lnTo>
                    <a:pt x="219188" y="27745"/>
                  </a:lnTo>
                  <a:lnTo>
                    <a:pt x="0" y="27745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33">
              <a:extLst>
                <a:ext uri="{FF2B5EF4-FFF2-40B4-BE49-F238E27FC236}">
                  <a16:creationId xmlns:a16="http://schemas.microsoft.com/office/drawing/2014/main" id="{68D0862F-43AA-4CAE-803B-D34677AEA5B1}"/>
                </a:ext>
              </a:extLst>
            </p:cNvPr>
            <p:cNvSpPr/>
            <p:nvPr/>
          </p:nvSpPr>
          <p:spPr>
            <a:xfrm>
              <a:off x="10319149" y="3331341"/>
              <a:ext cx="219188" cy="27745"/>
            </a:xfrm>
            <a:custGeom>
              <a:avLst/>
              <a:gdLst>
                <a:gd name="connsiteX0" fmla="*/ 0 w 219188"/>
                <a:gd name="connsiteY0" fmla="*/ 0 h 27745"/>
                <a:gd name="connsiteX1" fmla="*/ 219188 w 219188"/>
                <a:gd name="connsiteY1" fmla="*/ 0 h 27745"/>
                <a:gd name="connsiteX2" fmla="*/ 219188 w 219188"/>
                <a:gd name="connsiteY2" fmla="*/ 27745 h 27745"/>
                <a:gd name="connsiteX3" fmla="*/ 0 w 219188"/>
                <a:gd name="connsiteY3" fmla="*/ 27745 h 2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88" h="27745">
                  <a:moveTo>
                    <a:pt x="0" y="0"/>
                  </a:moveTo>
                  <a:lnTo>
                    <a:pt x="219188" y="0"/>
                  </a:lnTo>
                  <a:lnTo>
                    <a:pt x="219188" y="27745"/>
                  </a:lnTo>
                  <a:lnTo>
                    <a:pt x="0" y="27745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3" name="Группа 215">
            <a:extLst>
              <a:ext uri="{FF2B5EF4-FFF2-40B4-BE49-F238E27FC236}">
                <a16:creationId xmlns:a16="http://schemas.microsoft.com/office/drawing/2014/main" id="{7D58643A-2117-4A55-9F42-B0EE226C7B61}"/>
              </a:ext>
            </a:extLst>
          </p:cNvPr>
          <p:cNvGrpSpPr>
            <a:grpSpLocks noChangeAspect="1"/>
          </p:cNvGrpSpPr>
          <p:nvPr/>
        </p:nvGrpSpPr>
        <p:grpSpPr>
          <a:xfrm>
            <a:off x="3416637" y="3548327"/>
            <a:ext cx="369030" cy="290303"/>
            <a:chOff x="9948925" y="4757741"/>
            <a:chExt cx="1025263" cy="806539"/>
          </a:xfrm>
          <a:solidFill>
            <a:srgbClr val="FFFFFF"/>
          </a:solidFill>
        </p:grpSpPr>
        <p:sp>
          <p:nvSpPr>
            <p:cNvPr id="164" name="Полилиния: фигура 131">
              <a:extLst>
                <a:ext uri="{FF2B5EF4-FFF2-40B4-BE49-F238E27FC236}">
                  <a16:creationId xmlns:a16="http://schemas.microsoft.com/office/drawing/2014/main" id="{A4B1B3B0-3CF8-4318-924C-138915262B39}"/>
                </a:ext>
              </a:extLst>
            </p:cNvPr>
            <p:cNvSpPr/>
            <p:nvPr/>
          </p:nvSpPr>
          <p:spPr>
            <a:xfrm>
              <a:off x="10670710" y="4913581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132">
              <a:extLst>
                <a:ext uri="{FF2B5EF4-FFF2-40B4-BE49-F238E27FC236}">
                  <a16:creationId xmlns:a16="http://schemas.microsoft.com/office/drawing/2014/main" id="{0D24265D-4145-4A1E-902F-9A0143539464}"/>
                </a:ext>
              </a:extLst>
            </p:cNvPr>
            <p:cNvSpPr/>
            <p:nvPr/>
          </p:nvSpPr>
          <p:spPr>
            <a:xfrm>
              <a:off x="10115701" y="5285409"/>
              <a:ext cx="144903" cy="144903"/>
            </a:xfrm>
            <a:custGeom>
              <a:avLst/>
              <a:gdLst>
                <a:gd name="connsiteX0" fmla="*/ 0 w 144903"/>
                <a:gd name="connsiteY0" fmla="*/ 0 h 144903"/>
                <a:gd name="connsiteX1" fmla="*/ 144903 w 144903"/>
                <a:gd name="connsiteY1" fmla="*/ 0 h 144903"/>
                <a:gd name="connsiteX2" fmla="*/ 144903 w 144903"/>
                <a:gd name="connsiteY2" fmla="*/ 144904 h 144903"/>
                <a:gd name="connsiteX3" fmla="*/ 0 w 144903"/>
                <a:gd name="connsiteY3" fmla="*/ 144904 h 14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903" h="144903">
                  <a:moveTo>
                    <a:pt x="0" y="0"/>
                  </a:moveTo>
                  <a:lnTo>
                    <a:pt x="144903" y="0"/>
                  </a:lnTo>
                  <a:lnTo>
                    <a:pt x="144903" y="144904"/>
                  </a:lnTo>
                  <a:lnTo>
                    <a:pt x="0" y="14490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66" name="Рисунок 18">
              <a:extLst>
                <a:ext uri="{FF2B5EF4-FFF2-40B4-BE49-F238E27FC236}">
                  <a16:creationId xmlns:a16="http://schemas.microsoft.com/office/drawing/2014/main" id="{1B3F30CB-833F-4457-AAD5-254DF8F09F22}"/>
                </a:ext>
              </a:extLst>
            </p:cNvPr>
            <p:cNvGrpSpPr/>
            <p:nvPr/>
          </p:nvGrpSpPr>
          <p:grpSpPr>
            <a:xfrm>
              <a:off x="9948925" y="5028410"/>
              <a:ext cx="705380" cy="166776"/>
              <a:chOff x="9948925" y="5028410"/>
              <a:chExt cx="705380" cy="166776"/>
            </a:xfrm>
            <a:grpFill/>
          </p:grpSpPr>
          <p:sp>
            <p:nvSpPr>
              <p:cNvPr id="167" name="Полилиния: фигура 134">
                <a:extLst>
                  <a:ext uri="{FF2B5EF4-FFF2-40B4-BE49-F238E27FC236}">
                    <a16:creationId xmlns:a16="http://schemas.microsoft.com/office/drawing/2014/main" id="{78690427-B53C-4559-8684-DC3A2156E520}"/>
                  </a:ext>
                </a:extLst>
              </p:cNvPr>
              <p:cNvSpPr/>
              <p:nvPr/>
            </p:nvSpPr>
            <p:spPr>
              <a:xfrm>
                <a:off x="9948925" y="5028410"/>
                <a:ext cx="166775" cy="166776"/>
              </a:xfrm>
              <a:custGeom>
                <a:avLst/>
                <a:gdLst>
                  <a:gd name="connsiteX0" fmla="*/ 166775 w 166775"/>
                  <a:gd name="connsiteY0" fmla="*/ 166776 h 166776"/>
                  <a:gd name="connsiteX1" fmla="*/ 0 w 166775"/>
                  <a:gd name="connsiteY1" fmla="*/ 166776 h 166776"/>
                  <a:gd name="connsiteX2" fmla="*/ 0 w 166775"/>
                  <a:gd name="connsiteY2" fmla="*/ 0 h 166776"/>
                  <a:gd name="connsiteX3" fmla="*/ 166775 w 166775"/>
                  <a:gd name="connsiteY3" fmla="*/ 0 h 166776"/>
                  <a:gd name="connsiteX4" fmla="*/ 166775 w 166775"/>
                  <a:gd name="connsiteY4" fmla="*/ 166776 h 166776"/>
                  <a:gd name="connsiteX5" fmla="*/ 27340 w 166775"/>
                  <a:gd name="connsiteY5" fmla="*/ 139436 h 166776"/>
                  <a:gd name="connsiteX6" fmla="*/ 139435 w 166775"/>
                  <a:gd name="connsiteY6" fmla="*/ 139436 h 166776"/>
                  <a:gd name="connsiteX7" fmla="*/ 139435 w 166775"/>
                  <a:gd name="connsiteY7" fmla="*/ 27340 h 166776"/>
                  <a:gd name="connsiteX8" fmla="*/ 27340 w 166775"/>
                  <a:gd name="connsiteY8" fmla="*/ 27340 h 166776"/>
                  <a:gd name="connsiteX9" fmla="*/ 27340 w 166775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5" h="166776">
                    <a:moveTo>
                      <a:pt x="166775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5" y="0"/>
                    </a:lnTo>
                    <a:lnTo>
                      <a:pt x="166775" y="166776"/>
                    </a:lnTo>
                    <a:close/>
                    <a:moveTo>
                      <a:pt x="27340" y="139436"/>
                    </a:moveTo>
                    <a:lnTo>
                      <a:pt x="139435" y="139436"/>
                    </a:lnTo>
                    <a:lnTo>
                      <a:pt x="139435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8" name="Полилиния: фигура 135">
                <a:extLst>
                  <a:ext uri="{FF2B5EF4-FFF2-40B4-BE49-F238E27FC236}">
                    <a16:creationId xmlns:a16="http://schemas.microsoft.com/office/drawing/2014/main" id="{FFE5A401-5D12-4B1E-8D53-DF12786B3C94}"/>
                  </a:ext>
                </a:extLst>
              </p:cNvPr>
              <p:cNvSpPr/>
              <p:nvPr/>
            </p:nvSpPr>
            <p:spPr>
              <a:xfrm>
                <a:off x="10148509" y="5069421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2021"/>
                      <a:pt x="500328" y="90223"/>
                      <a:pt x="492126" y="90223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69" name="Рисунок 18">
              <a:extLst>
                <a:ext uri="{FF2B5EF4-FFF2-40B4-BE49-F238E27FC236}">
                  <a16:creationId xmlns:a16="http://schemas.microsoft.com/office/drawing/2014/main" id="{C3F1628F-2E1E-4F86-B7C9-72BC26AD0328}"/>
                </a:ext>
              </a:extLst>
            </p:cNvPr>
            <p:cNvGrpSpPr/>
            <p:nvPr/>
          </p:nvGrpSpPr>
          <p:grpSpPr>
            <a:xfrm>
              <a:off x="10102030" y="4757741"/>
              <a:ext cx="705381" cy="166775"/>
              <a:chOff x="10102030" y="4757741"/>
              <a:chExt cx="705381" cy="166775"/>
            </a:xfrm>
            <a:grpFill/>
          </p:grpSpPr>
          <p:sp>
            <p:nvSpPr>
              <p:cNvPr id="170" name="Полилиния: фигура 137">
                <a:extLst>
                  <a:ext uri="{FF2B5EF4-FFF2-40B4-BE49-F238E27FC236}">
                    <a16:creationId xmlns:a16="http://schemas.microsoft.com/office/drawing/2014/main" id="{5AA75DC8-D1DB-4B5C-AB4D-5A9E3633EDFC}"/>
                  </a:ext>
                </a:extLst>
              </p:cNvPr>
              <p:cNvSpPr/>
              <p:nvPr/>
            </p:nvSpPr>
            <p:spPr>
              <a:xfrm>
                <a:off x="10102030" y="4757741"/>
                <a:ext cx="166776" cy="166775"/>
              </a:xfrm>
              <a:custGeom>
                <a:avLst/>
                <a:gdLst>
                  <a:gd name="connsiteX0" fmla="*/ 166776 w 166776"/>
                  <a:gd name="connsiteY0" fmla="*/ 166776 h 166775"/>
                  <a:gd name="connsiteX1" fmla="*/ 0 w 166776"/>
                  <a:gd name="connsiteY1" fmla="*/ 166776 h 166775"/>
                  <a:gd name="connsiteX2" fmla="*/ 0 w 166776"/>
                  <a:gd name="connsiteY2" fmla="*/ 0 h 166775"/>
                  <a:gd name="connsiteX3" fmla="*/ 166776 w 166776"/>
                  <a:gd name="connsiteY3" fmla="*/ 0 h 166775"/>
                  <a:gd name="connsiteX4" fmla="*/ 166776 w 166776"/>
                  <a:gd name="connsiteY4" fmla="*/ 166776 h 166775"/>
                  <a:gd name="connsiteX5" fmla="*/ 27340 w 166776"/>
                  <a:gd name="connsiteY5" fmla="*/ 139436 h 166775"/>
                  <a:gd name="connsiteX6" fmla="*/ 139436 w 166776"/>
                  <a:gd name="connsiteY6" fmla="*/ 139436 h 166775"/>
                  <a:gd name="connsiteX7" fmla="*/ 139436 w 166776"/>
                  <a:gd name="connsiteY7" fmla="*/ 27340 h 166775"/>
                  <a:gd name="connsiteX8" fmla="*/ 27340 w 166776"/>
                  <a:gd name="connsiteY8" fmla="*/ 27340 h 166775"/>
                  <a:gd name="connsiteX9" fmla="*/ 27340 w 166776"/>
                  <a:gd name="connsiteY9" fmla="*/ 139436 h 1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5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1" name="Полилиния: фигура 138">
                <a:extLst>
                  <a:ext uri="{FF2B5EF4-FFF2-40B4-BE49-F238E27FC236}">
                    <a16:creationId xmlns:a16="http://schemas.microsoft.com/office/drawing/2014/main" id="{B95AB075-D341-408F-98B5-BAD96BADA05F}"/>
                  </a:ext>
                </a:extLst>
              </p:cNvPr>
              <p:cNvSpPr/>
              <p:nvPr/>
            </p:nvSpPr>
            <p:spPr>
              <a:xfrm>
                <a:off x="10301615" y="4796017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4755"/>
                      <a:pt x="500328" y="90223"/>
                      <a:pt x="492126" y="90223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72" name="Полилиния: фигура 139">
              <a:extLst>
                <a:ext uri="{FF2B5EF4-FFF2-40B4-BE49-F238E27FC236}">
                  <a16:creationId xmlns:a16="http://schemas.microsoft.com/office/drawing/2014/main" id="{FA826570-FFA4-4FBB-9BEC-D63FFDA2A6C2}"/>
                </a:ext>
              </a:extLst>
            </p:cNvPr>
            <p:cNvSpPr/>
            <p:nvPr/>
          </p:nvSpPr>
          <p:spPr>
            <a:xfrm>
              <a:off x="10304349" y="5312749"/>
              <a:ext cx="349956" cy="90223"/>
            </a:xfrm>
            <a:custGeom>
              <a:avLst/>
              <a:gdLst>
                <a:gd name="connsiteX0" fmla="*/ 336286 w 349956"/>
                <a:gd name="connsiteY0" fmla="*/ 90223 h 90223"/>
                <a:gd name="connsiteX1" fmla="*/ 0 w 349956"/>
                <a:gd name="connsiteY1" fmla="*/ 90223 h 90223"/>
                <a:gd name="connsiteX2" fmla="*/ 0 w 349956"/>
                <a:gd name="connsiteY2" fmla="*/ 62883 h 90223"/>
                <a:gd name="connsiteX3" fmla="*/ 322616 w 349956"/>
                <a:gd name="connsiteY3" fmla="*/ 62883 h 90223"/>
                <a:gd name="connsiteX4" fmla="*/ 322616 w 349956"/>
                <a:gd name="connsiteY4" fmla="*/ 27340 h 90223"/>
                <a:gd name="connsiteX5" fmla="*/ 0 w 349956"/>
                <a:gd name="connsiteY5" fmla="*/ 27340 h 90223"/>
                <a:gd name="connsiteX6" fmla="*/ 0 w 349956"/>
                <a:gd name="connsiteY6" fmla="*/ 0 h 90223"/>
                <a:gd name="connsiteX7" fmla="*/ 336286 w 349956"/>
                <a:gd name="connsiteY7" fmla="*/ 0 h 90223"/>
                <a:gd name="connsiteX8" fmla="*/ 349956 w 349956"/>
                <a:gd name="connsiteY8" fmla="*/ 13670 h 90223"/>
                <a:gd name="connsiteX9" fmla="*/ 349956 w 349956"/>
                <a:gd name="connsiteY9" fmla="*/ 76553 h 90223"/>
                <a:gd name="connsiteX10" fmla="*/ 336286 w 349956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956" h="90223">
                  <a:moveTo>
                    <a:pt x="336286" y="90223"/>
                  </a:moveTo>
                  <a:lnTo>
                    <a:pt x="0" y="90223"/>
                  </a:lnTo>
                  <a:lnTo>
                    <a:pt x="0" y="62883"/>
                  </a:lnTo>
                  <a:lnTo>
                    <a:pt x="322616" y="62883"/>
                  </a:lnTo>
                  <a:lnTo>
                    <a:pt x="32261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36286" y="0"/>
                  </a:lnTo>
                  <a:cubicBezTo>
                    <a:pt x="344488" y="0"/>
                    <a:pt x="349956" y="5468"/>
                    <a:pt x="349956" y="13670"/>
                  </a:cubicBezTo>
                  <a:lnTo>
                    <a:pt x="349956" y="76553"/>
                  </a:lnTo>
                  <a:cubicBezTo>
                    <a:pt x="349956" y="82021"/>
                    <a:pt x="341754" y="90223"/>
                    <a:pt x="336286" y="9022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73" name="Рисунок 18">
              <a:extLst>
                <a:ext uri="{FF2B5EF4-FFF2-40B4-BE49-F238E27FC236}">
                  <a16:creationId xmlns:a16="http://schemas.microsoft.com/office/drawing/2014/main" id="{3AFAA00D-5E88-488F-AE8D-11C470C451AB}"/>
                </a:ext>
              </a:extLst>
            </p:cNvPr>
            <p:cNvGrpSpPr/>
            <p:nvPr/>
          </p:nvGrpSpPr>
          <p:grpSpPr>
            <a:xfrm>
              <a:off x="10298881" y="5148707"/>
              <a:ext cx="675307" cy="166776"/>
              <a:chOff x="10298881" y="5148707"/>
              <a:chExt cx="675307" cy="166776"/>
            </a:xfrm>
            <a:grpFill/>
          </p:grpSpPr>
          <p:sp>
            <p:nvSpPr>
              <p:cNvPr id="174" name="Полилиния: фигура 141">
                <a:extLst>
                  <a:ext uri="{FF2B5EF4-FFF2-40B4-BE49-F238E27FC236}">
                    <a16:creationId xmlns:a16="http://schemas.microsoft.com/office/drawing/2014/main" id="{D4D01ABA-7705-460C-A3BB-1B201A87767D}"/>
                  </a:ext>
                </a:extLst>
              </p:cNvPr>
              <p:cNvSpPr/>
              <p:nvPr/>
            </p:nvSpPr>
            <p:spPr>
              <a:xfrm>
                <a:off x="10807412" y="5148707"/>
                <a:ext cx="166776" cy="166776"/>
              </a:xfrm>
              <a:custGeom>
                <a:avLst/>
                <a:gdLst>
                  <a:gd name="connsiteX0" fmla="*/ 166776 w 166776"/>
                  <a:gd name="connsiteY0" fmla="*/ 166776 h 166776"/>
                  <a:gd name="connsiteX1" fmla="*/ 0 w 166776"/>
                  <a:gd name="connsiteY1" fmla="*/ 166776 h 166776"/>
                  <a:gd name="connsiteX2" fmla="*/ 0 w 166776"/>
                  <a:gd name="connsiteY2" fmla="*/ 0 h 166776"/>
                  <a:gd name="connsiteX3" fmla="*/ 166776 w 166776"/>
                  <a:gd name="connsiteY3" fmla="*/ 0 h 166776"/>
                  <a:gd name="connsiteX4" fmla="*/ 166776 w 166776"/>
                  <a:gd name="connsiteY4" fmla="*/ 166776 h 166776"/>
                  <a:gd name="connsiteX5" fmla="*/ 27340 w 166776"/>
                  <a:gd name="connsiteY5" fmla="*/ 139436 h 166776"/>
                  <a:gd name="connsiteX6" fmla="*/ 139436 w 166776"/>
                  <a:gd name="connsiteY6" fmla="*/ 139436 h 166776"/>
                  <a:gd name="connsiteX7" fmla="*/ 139436 w 166776"/>
                  <a:gd name="connsiteY7" fmla="*/ 27340 h 166776"/>
                  <a:gd name="connsiteX8" fmla="*/ 27340 w 166776"/>
                  <a:gd name="connsiteY8" fmla="*/ 27340 h 166776"/>
                  <a:gd name="connsiteX9" fmla="*/ 27340 w 166776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6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5" name="Полилиния: фигура 142">
                <a:extLst>
                  <a:ext uri="{FF2B5EF4-FFF2-40B4-BE49-F238E27FC236}">
                    <a16:creationId xmlns:a16="http://schemas.microsoft.com/office/drawing/2014/main" id="{6497DBB7-91B6-4E28-8965-67B8CBF6BB8A}"/>
                  </a:ext>
                </a:extLst>
              </p:cNvPr>
              <p:cNvSpPr/>
              <p:nvPr/>
            </p:nvSpPr>
            <p:spPr>
              <a:xfrm>
                <a:off x="10298881" y="5189718"/>
                <a:ext cx="475721" cy="90223"/>
              </a:xfrm>
              <a:custGeom>
                <a:avLst/>
                <a:gdLst>
                  <a:gd name="connsiteX0" fmla="*/ 475722 w 475721"/>
                  <a:gd name="connsiteY0" fmla="*/ 90223 h 90223"/>
                  <a:gd name="connsiteX1" fmla="*/ 13670 w 475721"/>
                  <a:gd name="connsiteY1" fmla="*/ 90223 h 90223"/>
                  <a:gd name="connsiteX2" fmla="*/ 0 w 475721"/>
                  <a:gd name="connsiteY2" fmla="*/ 76553 h 90223"/>
                  <a:gd name="connsiteX3" fmla="*/ 0 w 475721"/>
                  <a:gd name="connsiteY3" fmla="*/ 13670 h 90223"/>
                  <a:gd name="connsiteX4" fmla="*/ 13670 w 475721"/>
                  <a:gd name="connsiteY4" fmla="*/ 0 h 90223"/>
                  <a:gd name="connsiteX5" fmla="*/ 475722 w 475721"/>
                  <a:gd name="connsiteY5" fmla="*/ 0 h 90223"/>
                  <a:gd name="connsiteX6" fmla="*/ 475722 w 475721"/>
                  <a:gd name="connsiteY6" fmla="*/ 27340 h 90223"/>
                  <a:gd name="connsiteX7" fmla="*/ 27340 w 475721"/>
                  <a:gd name="connsiteY7" fmla="*/ 27340 h 90223"/>
                  <a:gd name="connsiteX8" fmla="*/ 27340 w 475721"/>
                  <a:gd name="connsiteY8" fmla="*/ 62883 h 90223"/>
                  <a:gd name="connsiteX9" fmla="*/ 475722 w 475721"/>
                  <a:gd name="connsiteY9" fmla="*/ 62883 h 90223"/>
                  <a:gd name="connsiteX10" fmla="*/ 475722 w 475721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5721" h="90223">
                    <a:moveTo>
                      <a:pt x="475722" y="90223"/>
                    </a:moveTo>
                    <a:lnTo>
                      <a:pt x="13670" y="90223"/>
                    </a:lnTo>
                    <a:cubicBezTo>
                      <a:pt x="5468" y="90223"/>
                      <a:pt x="0" y="84755"/>
                      <a:pt x="0" y="76553"/>
                    </a:cubicBezTo>
                    <a:lnTo>
                      <a:pt x="0" y="13670"/>
                    </a:lnTo>
                    <a:cubicBezTo>
                      <a:pt x="0" y="5468"/>
                      <a:pt x="5468" y="0"/>
                      <a:pt x="13670" y="0"/>
                    </a:cubicBezTo>
                    <a:lnTo>
                      <a:pt x="475722" y="0"/>
                    </a:lnTo>
                    <a:lnTo>
                      <a:pt x="475722" y="27340"/>
                    </a:lnTo>
                    <a:lnTo>
                      <a:pt x="27340" y="27340"/>
                    </a:lnTo>
                    <a:lnTo>
                      <a:pt x="27340" y="62883"/>
                    </a:lnTo>
                    <a:lnTo>
                      <a:pt x="475722" y="62883"/>
                    </a:lnTo>
                    <a:lnTo>
                      <a:pt x="475722" y="90223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76" name="Полилиния: фигура 143">
              <a:extLst>
                <a:ext uri="{FF2B5EF4-FFF2-40B4-BE49-F238E27FC236}">
                  <a16:creationId xmlns:a16="http://schemas.microsoft.com/office/drawing/2014/main" id="{F1B634B0-C49F-42EB-A756-7978E43A0AE0}"/>
                </a:ext>
              </a:extLst>
            </p:cNvPr>
            <p:cNvSpPr/>
            <p:nvPr/>
          </p:nvSpPr>
          <p:spPr>
            <a:xfrm>
              <a:off x="10304349" y="4938187"/>
              <a:ext cx="319881" cy="90223"/>
            </a:xfrm>
            <a:custGeom>
              <a:avLst/>
              <a:gdLst>
                <a:gd name="connsiteX0" fmla="*/ 319882 w 319881"/>
                <a:gd name="connsiteY0" fmla="*/ 90223 h 90223"/>
                <a:gd name="connsiteX1" fmla="*/ 13670 w 319881"/>
                <a:gd name="connsiteY1" fmla="*/ 90223 h 90223"/>
                <a:gd name="connsiteX2" fmla="*/ 0 w 319881"/>
                <a:gd name="connsiteY2" fmla="*/ 76553 h 90223"/>
                <a:gd name="connsiteX3" fmla="*/ 0 w 319881"/>
                <a:gd name="connsiteY3" fmla="*/ 13670 h 90223"/>
                <a:gd name="connsiteX4" fmla="*/ 13670 w 319881"/>
                <a:gd name="connsiteY4" fmla="*/ 0 h 90223"/>
                <a:gd name="connsiteX5" fmla="*/ 319882 w 319881"/>
                <a:gd name="connsiteY5" fmla="*/ 0 h 90223"/>
                <a:gd name="connsiteX6" fmla="*/ 319882 w 319881"/>
                <a:gd name="connsiteY6" fmla="*/ 27340 h 90223"/>
                <a:gd name="connsiteX7" fmla="*/ 27340 w 319881"/>
                <a:gd name="connsiteY7" fmla="*/ 27340 h 90223"/>
                <a:gd name="connsiteX8" fmla="*/ 27340 w 319881"/>
                <a:gd name="connsiteY8" fmla="*/ 62883 h 90223"/>
                <a:gd name="connsiteX9" fmla="*/ 319882 w 319881"/>
                <a:gd name="connsiteY9" fmla="*/ 62883 h 90223"/>
                <a:gd name="connsiteX10" fmla="*/ 319882 w 319881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1" h="90223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3"/>
                  </a:lnTo>
                  <a:lnTo>
                    <a:pt x="319882" y="62883"/>
                  </a:lnTo>
                  <a:lnTo>
                    <a:pt x="319882" y="9022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44">
              <a:extLst>
                <a:ext uri="{FF2B5EF4-FFF2-40B4-BE49-F238E27FC236}">
                  <a16:creationId xmlns:a16="http://schemas.microsoft.com/office/drawing/2014/main" id="{9A056FCE-EA50-4A21-A04E-48FC2836B48C}"/>
                </a:ext>
              </a:extLst>
            </p:cNvPr>
            <p:cNvSpPr/>
            <p:nvPr/>
          </p:nvSpPr>
          <p:spPr>
            <a:xfrm>
              <a:off x="10670710" y="5424845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45">
              <a:extLst>
                <a:ext uri="{FF2B5EF4-FFF2-40B4-BE49-F238E27FC236}">
                  <a16:creationId xmlns:a16="http://schemas.microsoft.com/office/drawing/2014/main" id="{60184693-9144-4978-92DC-A8C2246A6A4F}"/>
                </a:ext>
              </a:extLst>
            </p:cNvPr>
            <p:cNvSpPr/>
            <p:nvPr/>
          </p:nvSpPr>
          <p:spPr>
            <a:xfrm>
              <a:off x="10309817" y="5441249"/>
              <a:ext cx="319882" cy="90222"/>
            </a:xfrm>
            <a:custGeom>
              <a:avLst/>
              <a:gdLst>
                <a:gd name="connsiteX0" fmla="*/ 319882 w 319882"/>
                <a:gd name="connsiteY0" fmla="*/ 90223 h 90222"/>
                <a:gd name="connsiteX1" fmla="*/ 13670 w 319882"/>
                <a:gd name="connsiteY1" fmla="*/ 90223 h 90222"/>
                <a:gd name="connsiteX2" fmla="*/ 0 w 319882"/>
                <a:gd name="connsiteY2" fmla="*/ 76553 h 90222"/>
                <a:gd name="connsiteX3" fmla="*/ 0 w 319882"/>
                <a:gd name="connsiteY3" fmla="*/ 13670 h 90222"/>
                <a:gd name="connsiteX4" fmla="*/ 13670 w 319882"/>
                <a:gd name="connsiteY4" fmla="*/ 0 h 90222"/>
                <a:gd name="connsiteX5" fmla="*/ 319882 w 319882"/>
                <a:gd name="connsiteY5" fmla="*/ 0 h 90222"/>
                <a:gd name="connsiteX6" fmla="*/ 319882 w 319882"/>
                <a:gd name="connsiteY6" fmla="*/ 27340 h 90222"/>
                <a:gd name="connsiteX7" fmla="*/ 27340 w 319882"/>
                <a:gd name="connsiteY7" fmla="*/ 27340 h 90222"/>
                <a:gd name="connsiteX8" fmla="*/ 27340 w 319882"/>
                <a:gd name="connsiteY8" fmla="*/ 62882 h 90222"/>
                <a:gd name="connsiteX9" fmla="*/ 319882 w 319882"/>
                <a:gd name="connsiteY9" fmla="*/ 62882 h 90222"/>
                <a:gd name="connsiteX10" fmla="*/ 319882 w 319882"/>
                <a:gd name="connsiteY10" fmla="*/ 90223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2" h="90222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2"/>
                  </a:lnTo>
                  <a:lnTo>
                    <a:pt x="319882" y="62882"/>
                  </a:lnTo>
                  <a:lnTo>
                    <a:pt x="319882" y="9022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9" name="Группа 4">
            <a:extLst>
              <a:ext uri="{FF2B5EF4-FFF2-40B4-BE49-F238E27FC236}">
                <a16:creationId xmlns:a16="http://schemas.microsoft.com/office/drawing/2014/main" id="{3FDF8753-BC5C-495A-AC13-514C6BB54D91}"/>
              </a:ext>
            </a:extLst>
          </p:cNvPr>
          <p:cNvGrpSpPr>
            <a:grpSpLocks noChangeAspect="1"/>
          </p:cNvGrpSpPr>
          <p:nvPr/>
        </p:nvGrpSpPr>
        <p:grpSpPr>
          <a:xfrm>
            <a:off x="3308197" y="4504706"/>
            <a:ext cx="494164" cy="272507"/>
            <a:chOff x="6166426" y="1085342"/>
            <a:chExt cx="1206278" cy="665203"/>
          </a:xfrm>
        </p:grpSpPr>
        <p:grpSp>
          <p:nvGrpSpPr>
            <p:cNvPr id="180" name="Рисунок 3">
              <a:extLst>
                <a:ext uri="{FF2B5EF4-FFF2-40B4-BE49-F238E27FC236}">
                  <a16:creationId xmlns:a16="http://schemas.microsoft.com/office/drawing/2014/main" id="{0487C9C1-5DD3-43AB-9545-3D5C2F9E2C2B}"/>
                </a:ext>
              </a:extLst>
            </p:cNvPr>
            <p:cNvGrpSpPr/>
            <p:nvPr/>
          </p:nvGrpSpPr>
          <p:grpSpPr>
            <a:xfrm>
              <a:off x="6335114" y="1355880"/>
              <a:ext cx="919030" cy="133677"/>
              <a:chOff x="7394328" y="4700625"/>
              <a:chExt cx="919030" cy="133677"/>
            </a:xfrm>
            <a:solidFill>
              <a:srgbClr val="FFFFFF"/>
            </a:solidFill>
          </p:grpSpPr>
          <p:sp>
            <p:nvSpPr>
              <p:cNvPr id="181" name="Полилиния: фигура 195">
                <a:extLst>
                  <a:ext uri="{FF2B5EF4-FFF2-40B4-BE49-F238E27FC236}">
                    <a16:creationId xmlns:a16="http://schemas.microsoft.com/office/drawing/2014/main" id="{73C164A8-7B8D-4A44-B505-74E8BB9EA5FF}"/>
                  </a:ext>
                </a:extLst>
              </p:cNvPr>
              <p:cNvSpPr/>
              <p:nvPr/>
            </p:nvSpPr>
            <p:spPr>
              <a:xfrm>
                <a:off x="7394328" y="4703807"/>
                <a:ext cx="111397" cy="124128"/>
              </a:xfrm>
              <a:custGeom>
                <a:avLst/>
                <a:gdLst>
                  <a:gd name="connsiteX0" fmla="*/ 79570 w 111397"/>
                  <a:gd name="connsiteY0" fmla="*/ 6366 h 124128"/>
                  <a:gd name="connsiteX1" fmla="*/ 44559 w 111397"/>
                  <a:gd name="connsiteY1" fmla="*/ 0 h 124128"/>
                  <a:gd name="connsiteX2" fmla="*/ 31828 w 111397"/>
                  <a:gd name="connsiteY2" fmla="*/ 0 h 124128"/>
                  <a:gd name="connsiteX3" fmla="*/ 22280 w 111397"/>
                  <a:gd name="connsiteY3" fmla="*/ 0 h 124128"/>
                  <a:gd name="connsiteX4" fmla="*/ 0 w 111397"/>
                  <a:gd name="connsiteY4" fmla="*/ 0 h 124128"/>
                  <a:gd name="connsiteX5" fmla="*/ 0 w 111397"/>
                  <a:gd name="connsiteY5" fmla="*/ 124129 h 124128"/>
                  <a:gd name="connsiteX6" fmla="*/ 19097 w 111397"/>
                  <a:gd name="connsiteY6" fmla="*/ 124129 h 124128"/>
                  <a:gd name="connsiteX7" fmla="*/ 28645 w 111397"/>
                  <a:gd name="connsiteY7" fmla="*/ 124129 h 124128"/>
                  <a:gd name="connsiteX8" fmla="*/ 41376 w 111397"/>
                  <a:gd name="connsiteY8" fmla="*/ 124129 h 124128"/>
                  <a:gd name="connsiteX9" fmla="*/ 76387 w 111397"/>
                  <a:gd name="connsiteY9" fmla="*/ 117763 h 124128"/>
                  <a:gd name="connsiteX10" fmla="*/ 101849 w 111397"/>
                  <a:gd name="connsiteY10" fmla="*/ 92301 h 124128"/>
                  <a:gd name="connsiteX11" fmla="*/ 111398 w 111397"/>
                  <a:gd name="connsiteY11" fmla="*/ 60473 h 124128"/>
                  <a:gd name="connsiteX12" fmla="*/ 101849 w 111397"/>
                  <a:gd name="connsiteY12" fmla="*/ 28645 h 124128"/>
                  <a:gd name="connsiteX13" fmla="*/ 79570 w 111397"/>
                  <a:gd name="connsiteY13" fmla="*/ 6366 h 124128"/>
                  <a:gd name="connsiteX14" fmla="*/ 76387 w 111397"/>
                  <a:gd name="connsiteY14" fmla="*/ 79570 h 124128"/>
                  <a:gd name="connsiteX15" fmla="*/ 66839 w 111397"/>
                  <a:gd name="connsiteY15" fmla="*/ 89118 h 124128"/>
                  <a:gd name="connsiteX16" fmla="*/ 57290 w 111397"/>
                  <a:gd name="connsiteY16" fmla="*/ 95484 h 124128"/>
                  <a:gd name="connsiteX17" fmla="*/ 44559 w 111397"/>
                  <a:gd name="connsiteY17" fmla="*/ 98667 h 124128"/>
                  <a:gd name="connsiteX18" fmla="*/ 31828 w 111397"/>
                  <a:gd name="connsiteY18" fmla="*/ 98667 h 124128"/>
                  <a:gd name="connsiteX19" fmla="*/ 31828 w 111397"/>
                  <a:gd name="connsiteY19" fmla="*/ 25462 h 124128"/>
                  <a:gd name="connsiteX20" fmla="*/ 44559 w 111397"/>
                  <a:gd name="connsiteY20" fmla="*/ 25462 h 124128"/>
                  <a:gd name="connsiteX21" fmla="*/ 57290 w 111397"/>
                  <a:gd name="connsiteY21" fmla="*/ 28645 h 124128"/>
                  <a:gd name="connsiteX22" fmla="*/ 70021 w 111397"/>
                  <a:gd name="connsiteY22" fmla="*/ 35011 h 124128"/>
                  <a:gd name="connsiteX23" fmla="*/ 79570 w 111397"/>
                  <a:gd name="connsiteY23" fmla="*/ 44559 h 124128"/>
                  <a:gd name="connsiteX24" fmla="*/ 82753 w 111397"/>
                  <a:gd name="connsiteY24" fmla="*/ 60473 h 124128"/>
                  <a:gd name="connsiteX25" fmla="*/ 76387 w 111397"/>
                  <a:gd name="connsiteY25" fmla="*/ 79570 h 12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11397" h="124128">
                    <a:moveTo>
                      <a:pt x="79570" y="6366"/>
                    </a:moveTo>
                    <a:cubicBezTo>
                      <a:pt x="70021" y="3183"/>
                      <a:pt x="60473" y="0"/>
                      <a:pt x="44559" y="0"/>
                    </a:cubicBezTo>
                    <a:lnTo>
                      <a:pt x="31828" y="0"/>
                    </a:lnTo>
                    <a:lnTo>
                      <a:pt x="22280" y="0"/>
                    </a:lnTo>
                    <a:lnTo>
                      <a:pt x="0" y="0"/>
                    </a:lnTo>
                    <a:lnTo>
                      <a:pt x="0" y="124129"/>
                    </a:lnTo>
                    <a:lnTo>
                      <a:pt x="19097" y="124129"/>
                    </a:lnTo>
                    <a:lnTo>
                      <a:pt x="28645" y="124129"/>
                    </a:lnTo>
                    <a:lnTo>
                      <a:pt x="41376" y="124129"/>
                    </a:lnTo>
                    <a:cubicBezTo>
                      <a:pt x="54107" y="124129"/>
                      <a:pt x="66839" y="120946"/>
                      <a:pt x="76387" y="117763"/>
                    </a:cubicBezTo>
                    <a:cubicBezTo>
                      <a:pt x="89118" y="111398"/>
                      <a:pt x="98666" y="101849"/>
                      <a:pt x="101849" y="92301"/>
                    </a:cubicBezTo>
                    <a:cubicBezTo>
                      <a:pt x="108215" y="82753"/>
                      <a:pt x="111398" y="73204"/>
                      <a:pt x="111398" y="60473"/>
                    </a:cubicBezTo>
                    <a:cubicBezTo>
                      <a:pt x="111398" y="47742"/>
                      <a:pt x="108215" y="38193"/>
                      <a:pt x="101849" y="28645"/>
                    </a:cubicBezTo>
                    <a:cubicBezTo>
                      <a:pt x="98666" y="19097"/>
                      <a:pt x="89118" y="12731"/>
                      <a:pt x="79570" y="6366"/>
                    </a:cubicBezTo>
                    <a:close/>
                    <a:moveTo>
                      <a:pt x="76387" y="79570"/>
                    </a:moveTo>
                    <a:cubicBezTo>
                      <a:pt x="73204" y="82753"/>
                      <a:pt x="73204" y="89118"/>
                      <a:pt x="66839" y="89118"/>
                    </a:cubicBezTo>
                    <a:cubicBezTo>
                      <a:pt x="66839" y="92301"/>
                      <a:pt x="63656" y="92301"/>
                      <a:pt x="57290" y="95484"/>
                    </a:cubicBezTo>
                    <a:cubicBezTo>
                      <a:pt x="54107" y="95484"/>
                      <a:pt x="47742" y="98667"/>
                      <a:pt x="44559" y="98667"/>
                    </a:cubicBezTo>
                    <a:lnTo>
                      <a:pt x="31828" y="98667"/>
                    </a:lnTo>
                    <a:lnTo>
                      <a:pt x="31828" y="25462"/>
                    </a:lnTo>
                    <a:lnTo>
                      <a:pt x="44559" y="25462"/>
                    </a:lnTo>
                    <a:cubicBezTo>
                      <a:pt x="47742" y="25462"/>
                      <a:pt x="54107" y="25462"/>
                      <a:pt x="57290" y="28645"/>
                    </a:cubicBezTo>
                    <a:cubicBezTo>
                      <a:pt x="60473" y="28645"/>
                      <a:pt x="66839" y="31828"/>
                      <a:pt x="70021" y="35011"/>
                    </a:cubicBezTo>
                    <a:cubicBezTo>
                      <a:pt x="73204" y="38193"/>
                      <a:pt x="76387" y="41376"/>
                      <a:pt x="79570" y="44559"/>
                    </a:cubicBezTo>
                    <a:cubicBezTo>
                      <a:pt x="82753" y="47742"/>
                      <a:pt x="82753" y="54107"/>
                      <a:pt x="82753" y="60473"/>
                    </a:cubicBezTo>
                    <a:cubicBezTo>
                      <a:pt x="79570" y="66839"/>
                      <a:pt x="79570" y="73204"/>
                      <a:pt x="76387" y="7957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2" name="Полилиния: фигура 196">
                <a:extLst>
                  <a:ext uri="{FF2B5EF4-FFF2-40B4-BE49-F238E27FC236}">
                    <a16:creationId xmlns:a16="http://schemas.microsoft.com/office/drawing/2014/main" id="{67622C7C-9102-496F-B7C6-79B702AAB38D}"/>
                  </a:ext>
                </a:extLst>
              </p:cNvPr>
              <p:cNvSpPr/>
              <p:nvPr/>
            </p:nvSpPr>
            <p:spPr>
              <a:xfrm>
                <a:off x="7524823" y="4703807"/>
                <a:ext cx="82752" cy="124128"/>
              </a:xfrm>
              <a:custGeom>
                <a:avLst/>
                <a:gdLst>
                  <a:gd name="connsiteX0" fmla="*/ 19097 w 82752"/>
                  <a:gd name="connsiteY0" fmla="*/ 0 h 124128"/>
                  <a:gd name="connsiteX1" fmla="*/ 0 w 82752"/>
                  <a:gd name="connsiteY1" fmla="*/ 0 h 124128"/>
                  <a:gd name="connsiteX2" fmla="*/ 0 w 82752"/>
                  <a:gd name="connsiteY2" fmla="*/ 124129 h 124128"/>
                  <a:gd name="connsiteX3" fmla="*/ 19097 w 82752"/>
                  <a:gd name="connsiteY3" fmla="*/ 124129 h 124128"/>
                  <a:gd name="connsiteX4" fmla="*/ 28645 w 82752"/>
                  <a:gd name="connsiteY4" fmla="*/ 124129 h 124128"/>
                  <a:gd name="connsiteX5" fmla="*/ 82753 w 82752"/>
                  <a:gd name="connsiteY5" fmla="*/ 124129 h 124128"/>
                  <a:gd name="connsiteX6" fmla="*/ 82753 w 82752"/>
                  <a:gd name="connsiteY6" fmla="*/ 98667 h 124128"/>
                  <a:gd name="connsiteX7" fmla="*/ 28645 w 82752"/>
                  <a:gd name="connsiteY7" fmla="*/ 98667 h 124128"/>
                  <a:gd name="connsiteX8" fmla="*/ 28645 w 82752"/>
                  <a:gd name="connsiteY8" fmla="*/ 70021 h 124128"/>
                  <a:gd name="connsiteX9" fmla="*/ 76387 w 82752"/>
                  <a:gd name="connsiteY9" fmla="*/ 70021 h 124128"/>
                  <a:gd name="connsiteX10" fmla="*/ 76387 w 82752"/>
                  <a:gd name="connsiteY10" fmla="*/ 47742 h 124128"/>
                  <a:gd name="connsiteX11" fmla="*/ 28645 w 82752"/>
                  <a:gd name="connsiteY11" fmla="*/ 47742 h 124128"/>
                  <a:gd name="connsiteX12" fmla="*/ 28645 w 82752"/>
                  <a:gd name="connsiteY12" fmla="*/ 25462 h 124128"/>
                  <a:gd name="connsiteX13" fmla="*/ 82753 w 82752"/>
                  <a:gd name="connsiteY13" fmla="*/ 25462 h 124128"/>
                  <a:gd name="connsiteX14" fmla="*/ 82753 w 82752"/>
                  <a:gd name="connsiteY14" fmla="*/ 0 h 124128"/>
                  <a:gd name="connsiteX15" fmla="*/ 28645 w 82752"/>
                  <a:gd name="connsiteY15" fmla="*/ 0 h 12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752" h="124128">
                    <a:moveTo>
                      <a:pt x="19097" y="0"/>
                    </a:moveTo>
                    <a:lnTo>
                      <a:pt x="0" y="0"/>
                    </a:lnTo>
                    <a:lnTo>
                      <a:pt x="0" y="124129"/>
                    </a:lnTo>
                    <a:lnTo>
                      <a:pt x="19097" y="124129"/>
                    </a:lnTo>
                    <a:lnTo>
                      <a:pt x="28645" y="124129"/>
                    </a:lnTo>
                    <a:lnTo>
                      <a:pt x="82753" y="124129"/>
                    </a:lnTo>
                    <a:lnTo>
                      <a:pt x="82753" y="98667"/>
                    </a:lnTo>
                    <a:lnTo>
                      <a:pt x="28645" y="98667"/>
                    </a:lnTo>
                    <a:lnTo>
                      <a:pt x="28645" y="70021"/>
                    </a:lnTo>
                    <a:lnTo>
                      <a:pt x="76387" y="70021"/>
                    </a:lnTo>
                    <a:lnTo>
                      <a:pt x="76387" y="47742"/>
                    </a:lnTo>
                    <a:lnTo>
                      <a:pt x="28645" y="47742"/>
                    </a:lnTo>
                    <a:lnTo>
                      <a:pt x="28645" y="25462"/>
                    </a:lnTo>
                    <a:lnTo>
                      <a:pt x="82753" y="25462"/>
                    </a:lnTo>
                    <a:lnTo>
                      <a:pt x="82753" y="0"/>
                    </a:lnTo>
                    <a:lnTo>
                      <a:pt x="286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3" name="Полилиния: фигура 197">
                <a:extLst>
                  <a:ext uri="{FF2B5EF4-FFF2-40B4-BE49-F238E27FC236}">
                    <a16:creationId xmlns:a16="http://schemas.microsoft.com/office/drawing/2014/main" id="{F4443BF0-CD0A-4414-A9BD-0485EE284D76}"/>
                  </a:ext>
                </a:extLst>
              </p:cNvPr>
              <p:cNvSpPr/>
              <p:nvPr/>
            </p:nvSpPr>
            <p:spPr>
              <a:xfrm>
                <a:off x="7617124" y="4703807"/>
                <a:ext cx="130494" cy="130494"/>
              </a:xfrm>
              <a:custGeom>
                <a:avLst/>
                <a:gdLst>
                  <a:gd name="connsiteX0" fmla="*/ 63656 w 130494"/>
                  <a:gd name="connsiteY0" fmla="*/ 73204 h 130494"/>
                  <a:gd name="connsiteX1" fmla="*/ 35011 w 130494"/>
                  <a:gd name="connsiteY1" fmla="*/ 0 h 130494"/>
                  <a:gd name="connsiteX2" fmla="*/ 0 w 130494"/>
                  <a:gd name="connsiteY2" fmla="*/ 0 h 130494"/>
                  <a:gd name="connsiteX3" fmla="*/ 63656 w 130494"/>
                  <a:gd name="connsiteY3" fmla="*/ 130494 h 130494"/>
                  <a:gd name="connsiteX4" fmla="*/ 130494 w 130494"/>
                  <a:gd name="connsiteY4" fmla="*/ 0 h 130494"/>
                  <a:gd name="connsiteX5" fmla="*/ 95484 w 130494"/>
                  <a:gd name="connsiteY5" fmla="*/ 0 h 13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494" h="130494">
                    <a:moveTo>
                      <a:pt x="63656" y="73204"/>
                    </a:moveTo>
                    <a:lnTo>
                      <a:pt x="35011" y="0"/>
                    </a:lnTo>
                    <a:lnTo>
                      <a:pt x="0" y="0"/>
                    </a:lnTo>
                    <a:lnTo>
                      <a:pt x="63656" y="130494"/>
                    </a:lnTo>
                    <a:lnTo>
                      <a:pt x="130494" y="0"/>
                    </a:lnTo>
                    <a:lnTo>
                      <a:pt x="95484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4" name="Полилиния: фигура 198">
                <a:extLst>
                  <a:ext uri="{FF2B5EF4-FFF2-40B4-BE49-F238E27FC236}">
                    <a16:creationId xmlns:a16="http://schemas.microsoft.com/office/drawing/2014/main" id="{8519F8DA-ED53-4992-8165-1F18825561DE}"/>
                  </a:ext>
                </a:extLst>
              </p:cNvPr>
              <p:cNvSpPr/>
              <p:nvPr/>
            </p:nvSpPr>
            <p:spPr>
              <a:xfrm>
                <a:off x="7964048" y="4700625"/>
                <a:ext cx="133677" cy="127311"/>
              </a:xfrm>
              <a:custGeom>
                <a:avLst/>
                <a:gdLst>
                  <a:gd name="connsiteX0" fmla="*/ 111398 w 133677"/>
                  <a:gd name="connsiteY0" fmla="*/ 19097 h 127311"/>
                  <a:gd name="connsiteX1" fmla="*/ 89118 w 133677"/>
                  <a:gd name="connsiteY1" fmla="*/ 6366 h 127311"/>
                  <a:gd name="connsiteX2" fmla="*/ 66839 w 133677"/>
                  <a:gd name="connsiteY2" fmla="*/ 0 h 127311"/>
                  <a:gd name="connsiteX3" fmla="*/ 41376 w 133677"/>
                  <a:gd name="connsiteY3" fmla="*/ 3183 h 127311"/>
                  <a:gd name="connsiteX4" fmla="*/ 19097 w 133677"/>
                  <a:gd name="connsiteY4" fmla="*/ 15914 h 127311"/>
                  <a:gd name="connsiteX5" fmla="*/ 6366 w 133677"/>
                  <a:gd name="connsiteY5" fmla="*/ 35011 h 127311"/>
                  <a:gd name="connsiteX6" fmla="*/ 0 w 133677"/>
                  <a:gd name="connsiteY6" fmla="*/ 60473 h 127311"/>
                  <a:gd name="connsiteX7" fmla="*/ 6366 w 133677"/>
                  <a:gd name="connsiteY7" fmla="*/ 85935 h 127311"/>
                  <a:gd name="connsiteX8" fmla="*/ 19097 w 133677"/>
                  <a:gd name="connsiteY8" fmla="*/ 108215 h 127311"/>
                  <a:gd name="connsiteX9" fmla="*/ 41376 w 133677"/>
                  <a:gd name="connsiteY9" fmla="*/ 120946 h 127311"/>
                  <a:gd name="connsiteX10" fmla="*/ 66839 w 133677"/>
                  <a:gd name="connsiteY10" fmla="*/ 127312 h 127311"/>
                  <a:gd name="connsiteX11" fmla="*/ 92301 w 133677"/>
                  <a:gd name="connsiteY11" fmla="*/ 120946 h 127311"/>
                  <a:gd name="connsiteX12" fmla="*/ 114580 w 133677"/>
                  <a:gd name="connsiteY12" fmla="*/ 108215 h 127311"/>
                  <a:gd name="connsiteX13" fmla="*/ 127312 w 133677"/>
                  <a:gd name="connsiteY13" fmla="*/ 85935 h 127311"/>
                  <a:gd name="connsiteX14" fmla="*/ 133677 w 133677"/>
                  <a:gd name="connsiteY14" fmla="*/ 60473 h 127311"/>
                  <a:gd name="connsiteX15" fmla="*/ 127312 w 133677"/>
                  <a:gd name="connsiteY15" fmla="*/ 35011 h 127311"/>
                  <a:gd name="connsiteX16" fmla="*/ 111398 w 133677"/>
                  <a:gd name="connsiteY16" fmla="*/ 19097 h 127311"/>
                  <a:gd name="connsiteX17" fmla="*/ 95484 w 133677"/>
                  <a:gd name="connsiteY17" fmla="*/ 82753 h 127311"/>
                  <a:gd name="connsiteX18" fmla="*/ 82752 w 133677"/>
                  <a:gd name="connsiteY18" fmla="*/ 95484 h 127311"/>
                  <a:gd name="connsiteX19" fmla="*/ 63656 w 133677"/>
                  <a:gd name="connsiteY19" fmla="*/ 98667 h 127311"/>
                  <a:gd name="connsiteX20" fmla="*/ 44559 w 133677"/>
                  <a:gd name="connsiteY20" fmla="*/ 95484 h 127311"/>
                  <a:gd name="connsiteX21" fmla="*/ 31828 w 133677"/>
                  <a:gd name="connsiteY21" fmla="*/ 82753 h 127311"/>
                  <a:gd name="connsiteX22" fmla="*/ 28645 w 133677"/>
                  <a:gd name="connsiteY22" fmla="*/ 63656 h 127311"/>
                  <a:gd name="connsiteX23" fmla="*/ 31828 w 133677"/>
                  <a:gd name="connsiteY23" fmla="*/ 44559 h 127311"/>
                  <a:gd name="connsiteX24" fmla="*/ 44559 w 133677"/>
                  <a:gd name="connsiteY24" fmla="*/ 31828 h 127311"/>
                  <a:gd name="connsiteX25" fmla="*/ 63656 w 133677"/>
                  <a:gd name="connsiteY25" fmla="*/ 28645 h 127311"/>
                  <a:gd name="connsiteX26" fmla="*/ 82752 w 133677"/>
                  <a:gd name="connsiteY26" fmla="*/ 31828 h 127311"/>
                  <a:gd name="connsiteX27" fmla="*/ 95484 w 133677"/>
                  <a:gd name="connsiteY27" fmla="*/ 44559 h 127311"/>
                  <a:gd name="connsiteX28" fmla="*/ 98666 w 133677"/>
                  <a:gd name="connsiteY28" fmla="*/ 63656 h 127311"/>
                  <a:gd name="connsiteX29" fmla="*/ 95484 w 133677"/>
                  <a:gd name="connsiteY29" fmla="*/ 82753 h 127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3677" h="127311">
                    <a:moveTo>
                      <a:pt x="111398" y="19097"/>
                    </a:moveTo>
                    <a:cubicBezTo>
                      <a:pt x="105032" y="12731"/>
                      <a:pt x="98666" y="9548"/>
                      <a:pt x="89118" y="6366"/>
                    </a:cubicBezTo>
                    <a:cubicBezTo>
                      <a:pt x="82752" y="3183"/>
                      <a:pt x="76387" y="0"/>
                      <a:pt x="66839" y="0"/>
                    </a:cubicBezTo>
                    <a:cubicBezTo>
                      <a:pt x="57290" y="0"/>
                      <a:pt x="47742" y="0"/>
                      <a:pt x="41376" y="3183"/>
                    </a:cubicBezTo>
                    <a:cubicBezTo>
                      <a:pt x="31828" y="6366"/>
                      <a:pt x="25462" y="9548"/>
                      <a:pt x="19097" y="15914"/>
                    </a:cubicBezTo>
                    <a:cubicBezTo>
                      <a:pt x="12731" y="22280"/>
                      <a:pt x="9548" y="28645"/>
                      <a:pt x="6366" y="35011"/>
                    </a:cubicBezTo>
                    <a:cubicBezTo>
                      <a:pt x="3183" y="41376"/>
                      <a:pt x="0" y="50925"/>
                      <a:pt x="0" y="60473"/>
                    </a:cubicBezTo>
                    <a:cubicBezTo>
                      <a:pt x="0" y="70021"/>
                      <a:pt x="3183" y="79570"/>
                      <a:pt x="6366" y="85935"/>
                    </a:cubicBezTo>
                    <a:cubicBezTo>
                      <a:pt x="9548" y="95484"/>
                      <a:pt x="12731" y="101849"/>
                      <a:pt x="19097" y="108215"/>
                    </a:cubicBezTo>
                    <a:cubicBezTo>
                      <a:pt x="25462" y="114580"/>
                      <a:pt x="31828" y="117763"/>
                      <a:pt x="41376" y="120946"/>
                    </a:cubicBezTo>
                    <a:cubicBezTo>
                      <a:pt x="50925" y="124129"/>
                      <a:pt x="57290" y="127312"/>
                      <a:pt x="66839" y="127312"/>
                    </a:cubicBezTo>
                    <a:cubicBezTo>
                      <a:pt x="76387" y="127312"/>
                      <a:pt x="85935" y="124129"/>
                      <a:pt x="92301" y="120946"/>
                    </a:cubicBezTo>
                    <a:cubicBezTo>
                      <a:pt x="101849" y="117763"/>
                      <a:pt x="108215" y="114580"/>
                      <a:pt x="114580" y="108215"/>
                    </a:cubicBezTo>
                    <a:cubicBezTo>
                      <a:pt x="120946" y="101849"/>
                      <a:pt x="124129" y="95484"/>
                      <a:pt x="127312" y="85935"/>
                    </a:cubicBezTo>
                    <a:cubicBezTo>
                      <a:pt x="130494" y="76387"/>
                      <a:pt x="133677" y="70021"/>
                      <a:pt x="133677" y="60473"/>
                    </a:cubicBezTo>
                    <a:cubicBezTo>
                      <a:pt x="133677" y="50925"/>
                      <a:pt x="130494" y="41376"/>
                      <a:pt x="127312" y="35011"/>
                    </a:cubicBezTo>
                    <a:cubicBezTo>
                      <a:pt x="124129" y="31828"/>
                      <a:pt x="117763" y="22280"/>
                      <a:pt x="111398" y="19097"/>
                    </a:cubicBezTo>
                    <a:close/>
                    <a:moveTo>
                      <a:pt x="95484" y="82753"/>
                    </a:moveTo>
                    <a:cubicBezTo>
                      <a:pt x="92301" y="89118"/>
                      <a:pt x="89118" y="92301"/>
                      <a:pt x="82752" y="95484"/>
                    </a:cubicBezTo>
                    <a:cubicBezTo>
                      <a:pt x="76387" y="98667"/>
                      <a:pt x="70021" y="98667"/>
                      <a:pt x="63656" y="98667"/>
                    </a:cubicBezTo>
                    <a:cubicBezTo>
                      <a:pt x="57290" y="98667"/>
                      <a:pt x="50925" y="98667"/>
                      <a:pt x="44559" y="95484"/>
                    </a:cubicBezTo>
                    <a:cubicBezTo>
                      <a:pt x="38193" y="92301"/>
                      <a:pt x="35011" y="89118"/>
                      <a:pt x="31828" y="82753"/>
                    </a:cubicBezTo>
                    <a:cubicBezTo>
                      <a:pt x="28645" y="76387"/>
                      <a:pt x="28645" y="70021"/>
                      <a:pt x="28645" y="63656"/>
                    </a:cubicBezTo>
                    <a:cubicBezTo>
                      <a:pt x="28645" y="57290"/>
                      <a:pt x="28645" y="50925"/>
                      <a:pt x="31828" y="44559"/>
                    </a:cubicBezTo>
                    <a:cubicBezTo>
                      <a:pt x="35011" y="38193"/>
                      <a:pt x="38193" y="35011"/>
                      <a:pt x="44559" y="31828"/>
                    </a:cubicBezTo>
                    <a:cubicBezTo>
                      <a:pt x="50925" y="28645"/>
                      <a:pt x="57290" y="28645"/>
                      <a:pt x="63656" y="28645"/>
                    </a:cubicBezTo>
                    <a:cubicBezTo>
                      <a:pt x="70021" y="28645"/>
                      <a:pt x="76387" y="28645"/>
                      <a:pt x="82752" y="31828"/>
                    </a:cubicBezTo>
                    <a:cubicBezTo>
                      <a:pt x="89118" y="35011"/>
                      <a:pt x="92301" y="38193"/>
                      <a:pt x="95484" y="44559"/>
                    </a:cubicBezTo>
                    <a:cubicBezTo>
                      <a:pt x="98666" y="50925"/>
                      <a:pt x="98666" y="57290"/>
                      <a:pt x="98666" y="63656"/>
                    </a:cubicBezTo>
                    <a:cubicBezTo>
                      <a:pt x="98666" y="73204"/>
                      <a:pt x="98666" y="79570"/>
                      <a:pt x="95484" y="827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5" name="Полилиния: фигура 199">
                <a:extLst>
                  <a:ext uri="{FF2B5EF4-FFF2-40B4-BE49-F238E27FC236}">
                    <a16:creationId xmlns:a16="http://schemas.microsoft.com/office/drawing/2014/main" id="{85E882F9-6E59-4DE6-AE8A-E9A4AC3843EA}"/>
                  </a:ext>
                </a:extLst>
              </p:cNvPr>
              <p:cNvSpPr/>
              <p:nvPr/>
            </p:nvSpPr>
            <p:spPr>
              <a:xfrm>
                <a:off x="8113639" y="4700625"/>
                <a:ext cx="89118" cy="127311"/>
              </a:xfrm>
              <a:custGeom>
                <a:avLst/>
                <a:gdLst>
                  <a:gd name="connsiteX0" fmla="*/ 70021 w 89118"/>
                  <a:gd name="connsiteY0" fmla="*/ 6366 h 127311"/>
                  <a:gd name="connsiteX1" fmla="*/ 44559 w 89118"/>
                  <a:gd name="connsiteY1" fmla="*/ 0 h 127311"/>
                  <a:gd name="connsiteX2" fmla="*/ 31828 w 89118"/>
                  <a:gd name="connsiteY2" fmla="*/ 0 h 127311"/>
                  <a:gd name="connsiteX3" fmla="*/ 19097 w 89118"/>
                  <a:gd name="connsiteY3" fmla="*/ 0 h 127311"/>
                  <a:gd name="connsiteX4" fmla="*/ 0 w 89118"/>
                  <a:gd name="connsiteY4" fmla="*/ 0 h 127311"/>
                  <a:gd name="connsiteX5" fmla="*/ 0 w 89118"/>
                  <a:gd name="connsiteY5" fmla="*/ 127312 h 127311"/>
                  <a:gd name="connsiteX6" fmla="*/ 28645 w 89118"/>
                  <a:gd name="connsiteY6" fmla="*/ 127312 h 127311"/>
                  <a:gd name="connsiteX7" fmla="*/ 28645 w 89118"/>
                  <a:gd name="connsiteY7" fmla="*/ 85935 h 127311"/>
                  <a:gd name="connsiteX8" fmla="*/ 41376 w 89118"/>
                  <a:gd name="connsiteY8" fmla="*/ 85935 h 127311"/>
                  <a:gd name="connsiteX9" fmla="*/ 66839 w 89118"/>
                  <a:gd name="connsiteY9" fmla="*/ 79570 h 127311"/>
                  <a:gd name="connsiteX10" fmla="*/ 82753 w 89118"/>
                  <a:gd name="connsiteY10" fmla="*/ 66839 h 127311"/>
                  <a:gd name="connsiteX11" fmla="*/ 89118 w 89118"/>
                  <a:gd name="connsiteY11" fmla="*/ 44559 h 127311"/>
                  <a:gd name="connsiteX12" fmla="*/ 82753 w 89118"/>
                  <a:gd name="connsiteY12" fmla="*/ 22280 h 127311"/>
                  <a:gd name="connsiteX13" fmla="*/ 70021 w 89118"/>
                  <a:gd name="connsiteY13" fmla="*/ 6366 h 127311"/>
                  <a:gd name="connsiteX14" fmla="*/ 57290 w 89118"/>
                  <a:gd name="connsiteY14" fmla="*/ 54107 h 127311"/>
                  <a:gd name="connsiteX15" fmla="*/ 44559 w 89118"/>
                  <a:gd name="connsiteY15" fmla="*/ 57290 h 127311"/>
                  <a:gd name="connsiteX16" fmla="*/ 31828 w 89118"/>
                  <a:gd name="connsiteY16" fmla="*/ 57290 h 127311"/>
                  <a:gd name="connsiteX17" fmla="*/ 31828 w 89118"/>
                  <a:gd name="connsiteY17" fmla="*/ 25462 h 127311"/>
                  <a:gd name="connsiteX18" fmla="*/ 44559 w 89118"/>
                  <a:gd name="connsiteY18" fmla="*/ 25462 h 127311"/>
                  <a:gd name="connsiteX19" fmla="*/ 57290 w 89118"/>
                  <a:gd name="connsiteY19" fmla="*/ 28645 h 127311"/>
                  <a:gd name="connsiteX20" fmla="*/ 63656 w 89118"/>
                  <a:gd name="connsiteY20" fmla="*/ 41376 h 127311"/>
                  <a:gd name="connsiteX21" fmla="*/ 57290 w 89118"/>
                  <a:gd name="connsiteY21" fmla="*/ 54107 h 127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9118" h="127311">
                    <a:moveTo>
                      <a:pt x="70021" y="6366"/>
                    </a:moveTo>
                    <a:cubicBezTo>
                      <a:pt x="63656" y="3183"/>
                      <a:pt x="54107" y="0"/>
                      <a:pt x="44559" y="0"/>
                    </a:cubicBezTo>
                    <a:lnTo>
                      <a:pt x="31828" y="0"/>
                    </a:lnTo>
                    <a:lnTo>
                      <a:pt x="19097" y="0"/>
                    </a:lnTo>
                    <a:lnTo>
                      <a:pt x="0" y="0"/>
                    </a:lnTo>
                    <a:lnTo>
                      <a:pt x="0" y="127312"/>
                    </a:lnTo>
                    <a:lnTo>
                      <a:pt x="28645" y="127312"/>
                    </a:lnTo>
                    <a:lnTo>
                      <a:pt x="28645" y="85935"/>
                    </a:lnTo>
                    <a:lnTo>
                      <a:pt x="41376" y="85935"/>
                    </a:lnTo>
                    <a:cubicBezTo>
                      <a:pt x="50925" y="85935"/>
                      <a:pt x="60473" y="82753"/>
                      <a:pt x="66839" y="79570"/>
                    </a:cubicBezTo>
                    <a:cubicBezTo>
                      <a:pt x="73204" y="76387"/>
                      <a:pt x="79570" y="73204"/>
                      <a:pt x="82753" y="66839"/>
                    </a:cubicBezTo>
                    <a:cubicBezTo>
                      <a:pt x="85935" y="60473"/>
                      <a:pt x="89118" y="54107"/>
                      <a:pt x="89118" y="44559"/>
                    </a:cubicBezTo>
                    <a:cubicBezTo>
                      <a:pt x="89118" y="35011"/>
                      <a:pt x="85935" y="28645"/>
                      <a:pt x="82753" y="22280"/>
                    </a:cubicBezTo>
                    <a:cubicBezTo>
                      <a:pt x="82753" y="15914"/>
                      <a:pt x="76387" y="9548"/>
                      <a:pt x="70021" y="6366"/>
                    </a:cubicBezTo>
                    <a:close/>
                    <a:moveTo>
                      <a:pt x="57290" y="54107"/>
                    </a:moveTo>
                    <a:cubicBezTo>
                      <a:pt x="54107" y="57290"/>
                      <a:pt x="47742" y="57290"/>
                      <a:pt x="44559" y="57290"/>
                    </a:cubicBezTo>
                    <a:lnTo>
                      <a:pt x="31828" y="57290"/>
                    </a:lnTo>
                    <a:lnTo>
                      <a:pt x="31828" y="25462"/>
                    </a:lnTo>
                    <a:lnTo>
                      <a:pt x="44559" y="25462"/>
                    </a:lnTo>
                    <a:cubicBezTo>
                      <a:pt x="50925" y="25462"/>
                      <a:pt x="54107" y="25462"/>
                      <a:pt x="57290" y="28645"/>
                    </a:cubicBezTo>
                    <a:cubicBezTo>
                      <a:pt x="60473" y="31828"/>
                      <a:pt x="63656" y="35011"/>
                      <a:pt x="63656" y="41376"/>
                    </a:cubicBezTo>
                    <a:cubicBezTo>
                      <a:pt x="63656" y="47742"/>
                      <a:pt x="60473" y="50925"/>
                      <a:pt x="57290" y="541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6" name="Полилиния: фигура 200">
                <a:extLst>
                  <a:ext uri="{FF2B5EF4-FFF2-40B4-BE49-F238E27FC236}">
                    <a16:creationId xmlns:a16="http://schemas.microsoft.com/office/drawing/2014/main" id="{233A6E22-13B7-4E7F-AFCA-90A52F2BEE01}"/>
                  </a:ext>
                </a:extLst>
              </p:cNvPr>
              <p:cNvSpPr/>
              <p:nvPr/>
            </p:nvSpPr>
            <p:spPr>
              <a:xfrm>
                <a:off x="8212305" y="4700625"/>
                <a:ext cx="101053" cy="127311"/>
              </a:xfrm>
              <a:custGeom>
                <a:avLst/>
                <a:gdLst>
                  <a:gd name="connsiteX0" fmla="*/ 98666 w 101053"/>
                  <a:gd name="connsiteY0" fmla="*/ 76387 h 127311"/>
                  <a:gd name="connsiteX1" fmla="*/ 92301 w 101053"/>
                  <a:gd name="connsiteY1" fmla="*/ 66839 h 127311"/>
                  <a:gd name="connsiteX2" fmla="*/ 82752 w 101053"/>
                  <a:gd name="connsiteY2" fmla="*/ 60473 h 127311"/>
                  <a:gd name="connsiteX3" fmla="*/ 70021 w 101053"/>
                  <a:gd name="connsiteY3" fmla="*/ 54107 h 127311"/>
                  <a:gd name="connsiteX4" fmla="*/ 54107 w 101053"/>
                  <a:gd name="connsiteY4" fmla="*/ 47742 h 127311"/>
                  <a:gd name="connsiteX5" fmla="*/ 44559 w 101053"/>
                  <a:gd name="connsiteY5" fmla="*/ 41376 h 127311"/>
                  <a:gd name="connsiteX6" fmla="*/ 41376 w 101053"/>
                  <a:gd name="connsiteY6" fmla="*/ 35011 h 127311"/>
                  <a:gd name="connsiteX7" fmla="*/ 44559 w 101053"/>
                  <a:gd name="connsiteY7" fmla="*/ 28645 h 127311"/>
                  <a:gd name="connsiteX8" fmla="*/ 54107 w 101053"/>
                  <a:gd name="connsiteY8" fmla="*/ 25462 h 127311"/>
                  <a:gd name="connsiteX9" fmla="*/ 63656 w 101053"/>
                  <a:gd name="connsiteY9" fmla="*/ 28645 h 127311"/>
                  <a:gd name="connsiteX10" fmla="*/ 70021 w 101053"/>
                  <a:gd name="connsiteY10" fmla="*/ 35011 h 127311"/>
                  <a:gd name="connsiteX11" fmla="*/ 76387 w 101053"/>
                  <a:gd name="connsiteY11" fmla="*/ 41376 h 127311"/>
                  <a:gd name="connsiteX12" fmla="*/ 98666 w 101053"/>
                  <a:gd name="connsiteY12" fmla="*/ 28645 h 127311"/>
                  <a:gd name="connsiteX13" fmla="*/ 89118 w 101053"/>
                  <a:gd name="connsiteY13" fmla="*/ 15914 h 127311"/>
                  <a:gd name="connsiteX14" fmla="*/ 73204 w 101053"/>
                  <a:gd name="connsiteY14" fmla="*/ 6366 h 127311"/>
                  <a:gd name="connsiteX15" fmla="*/ 54107 w 101053"/>
                  <a:gd name="connsiteY15" fmla="*/ 0 h 127311"/>
                  <a:gd name="connsiteX16" fmla="*/ 31828 w 101053"/>
                  <a:gd name="connsiteY16" fmla="*/ 3183 h 127311"/>
                  <a:gd name="connsiteX17" fmla="*/ 15914 w 101053"/>
                  <a:gd name="connsiteY17" fmla="*/ 15914 h 127311"/>
                  <a:gd name="connsiteX18" fmla="*/ 9548 w 101053"/>
                  <a:gd name="connsiteY18" fmla="*/ 35011 h 127311"/>
                  <a:gd name="connsiteX19" fmla="*/ 12731 w 101053"/>
                  <a:gd name="connsiteY19" fmla="*/ 50925 h 127311"/>
                  <a:gd name="connsiteX20" fmla="*/ 22280 w 101053"/>
                  <a:gd name="connsiteY20" fmla="*/ 60473 h 127311"/>
                  <a:gd name="connsiteX21" fmla="*/ 31828 w 101053"/>
                  <a:gd name="connsiteY21" fmla="*/ 66839 h 127311"/>
                  <a:gd name="connsiteX22" fmla="*/ 41376 w 101053"/>
                  <a:gd name="connsiteY22" fmla="*/ 70021 h 127311"/>
                  <a:gd name="connsiteX23" fmla="*/ 57290 w 101053"/>
                  <a:gd name="connsiteY23" fmla="*/ 76387 h 127311"/>
                  <a:gd name="connsiteX24" fmla="*/ 63656 w 101053"/>
                  <a:gd name="connsiteY24" fmla="*/ 82753 h 127311"/>
                  <a:gd name="connsiteX25" fmla="*/ 66839 w 101053"/>
                  <a:gd name="connsiteY25" fmla="*/ 89118 h 127311"/>
                  <a:gd name="connsiteX26" fmla="*/ 63656 w 101053"/>
                  <a:gd name="connsiteY26" fmla="*/ 98667 h 127311"/>
                  <a:gd name="connsiteX27" fmla="*/ 54107 w 101053"/>
                  <a:gd name="connsiteY27" fmla="*/ 101849 h 127311"/>
                  <a:gd name="connsiteX28" fmla="*/ 41376 w 101053"/>
                  <a:gd name="connsiteY28" fmla="*/ 98667 h 127311"/>
                  <a:gd name="connsiteX29" fmla="*/ 31828 w 101053"/>
                  <a:gd name="connsiteY29" fmla="*/ 92301 h 127311"/>
                  <a:gd name="connsiteX30" fmla="*/ 22280 w 101053"/>
                  <a:gd name="connsiteY30" fmla="*/ 79570 h 127311"/>
                  <a:gd name="connsiteX31" fmla="*/ 0 w 101053"/>
                  <a:gd name="connsiteY31" fmla="*/ 95484 h 127311"/>
                  <a:gd name="connsiteX32" fmla="*/ 12731 w 101053"/>
                  <a:gd name="connsiteY32" fmla="*/ 111398 h 127311"/>
                  <a:gd name="connsiteX33" fmla="*/ 31828 w 101053"/>
                  <a:gd name="connsiteY33" fmla="*/ 124129 h 127311"/>
                  <a:gd name="connsiteX34" fmla="*/ 54107 w 101053"/>
                  <a:gd name="connsiteY34" fmla="*/ 127312 h 127311"/>
                  <a:gd name="connsiteX35" fmla="*/ 70021 w 101053"/>
                  <a:gd name="connsiteY35" fmla="*/ 124129 h 127311"/>
                  <a:gd name="connsiteX36" fmla="*/ 85935 w 101053"/>
                  <a:gd name="connsiteY36" fmla="*/ 117763 h 127311"/>
                  <a:gd name="connsiteX37" fmla="*/ 95484 w 101053"/>
                  <a:gd name="connsiteY37" fmla="*/ 105032 h 127311"/>
                  <a:gd name="connsiteX38" fmla="*/ 98666 w 101053"/>
                  <a:gd name="connsiteY38" fmla="*/ 89118 h 127311"/>
                  <a:gd name="connsiteX39" fmla="*/ 98666 w 101053"/>
                  <a:gd name="connsiteY39" fmla="*/ 76387 h 127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1053" h="127311">
                    <a:moveTo>
                      <a:pt x="98666" y="76387"/>
                    </a:moveTo>
                    <a:cubicBezTo>
                      <a:pt x="95484" y="73204"/>
                      <a:pt x="95484" y="70021"/>
                      <a:pt x="92301" y="66839"/>
                    </a:cubicBezTo>
                    <a:cubicBezTo>
                      <a:pt x="89118" y="63656"/>
                      <a:pt x="85935" y="60473"/>
                      <a:pt x="82752" y="60473"/>
                    </a:cubicBezTo>
                    <a:cubicBezTo>
                      <a:pt x="79570" y="57290"/>
                      <a:pt x="76387" y="57290"/>
                      <a:pt x="70021" y="54107"/>
                    </a:cubicBezTo>
                    <a:cubicBezTo>
                      <a:pt x="63656" y="50925"/>
                      <a:pt x="60473" y="50925"/>
                      <a:pt x="54107" y="47742"/>
                    </a:cubicBezTo>
                    <a:cubicBezTo>
                      <a:pt x="50925" y="44559"/>
                      <a:pt x="47742" y="44559"/>
                      <a:pt x="44559" y="41376"/>
                    </a:cubicBezTo>
                    <a:cubicBezTo>
                      <a:pt x="41376" y="38193"/>
                      <a:pt x="41376" y="38193"/>
                      <a:pt x="41376" y="35011"/>
                    </a:cubicBezTo>
                    <a:cubicBezTo>
                      <a:pt x="41376" y="31828"/>
                      <a:pt x="41376" y="28645"/>
                      <a:pt x="44559" y="28645"/>
                    </a:cubicBezTo>
                    <a:cubicBezTo>
                      <a:pt x="47742" y="25462"/>
                      <a:pt x="50925" y="25462"/>
                      <a:pt x="54107" y="25462"/>
                    </a:cubicBezTo>
                    <a:cubicBezTo>
                      <a:pt x="57290" y="25462"/>
                      <a:pt x="60473" y="25462"/>
                      <a:pt x="63656" y="28645"/>
                    </a:cubicBezTo>
                    <a:cubicBezTo>
                      <a:pt x="66839" y="28645"/>
                      <a:pt x="70021" y="31828"/>
                      <a:pt x="70021" y="35011"/>
                    </a:cubicBezTo>
                    <a:cubicBezTo>
                      <a:pt x="73204" y="38193"/>
                      <a:pt x="73204" y="38193"/>
                      <a:pt x="76387" y="41376"/>
                    </a:cubicBezTo>
                    <a:lnTo>
                      <a:pt x="98666" y="28645"/>
                    </a:lnTo>
                    <a:cubicBezTo>
                      <a:pt x="95484" y="25462"/>
                      <a:pt x="92301" y="19097"/>
                      <a:pt x="89118" y="15914"/>
                    </a:cubicBezTo>
                    <a:cubicBezTo>
                      <a:pt x="85935" y="12731"/>
                      <a:pt x="79570" y="9548"/>
                      <a:pt x="73204" y="6366"/>
                    </a:cubicBezTo>
                    <a:cubicBezTo>
                      <a:pt x="70021" y="0"/>
                      <a:pt x="63656" y="0"/>
                      <a:pt x="54107" y="0"/>
                    </a:cubicBezTo>
                    <a:cubicBezTo>
                      <a:pt x="44559" y="0"/>
                      <a:pt x="38194" y="0"/>
                      <a:pt x="31828" y="3183"/>
                    </a:cubicBezTo>
                    <a:cubicBezTo>
                      <a:pt x="25462" y="6366"/>
                      <a:pt x="19097" y="9548"/>
                      <a:pt x="15914" y="15914"/>
                    </a:cubicBezTo>
                    <a:cubicBezTo>
                      <a:pt x="12731" y="22280"/>
                      <a:pt x="9548" y="28645"/>
                      <a:pt x="9548" y="35011"/>
                    </a:cubicBezTo>
                    <a:cubicBezTo>
                      <a:pt x="9548" y="41376"/>
                      <a:pt x="9548" y="47742"/>
                      <a:pt x="12731" y="50925"/>
                    </a:cubicBezTo>
                    <a:cubicBezTo>
                      <a:pt x="15914" y="54107"/>
                      <a:pt x="19097" y="57290"/>
                      <a:pt x="22280" y="60473"/>
                    </a:cubicBezTo>
                    <a:cubicBezTo>
                      <a:pt x="25462" y="63656"/>
                      <a:pt x="28645" y="66839"/>
                      <a:pt x="31828" y="66839"/>
                    </a:cubicBezTo>
                    <a:cubicBezTo>
                      <a:pt x="35011" y="66839"/>
                      <a:pt x="38194" y="70021"/>
                      <a:pt x="41376" y="70021"/>
                    </a:cubicBezTo>
                    <a:cubicBezTo>
                      <a:pt x="47742" y="73204"/>
                      <a:pt x="50925" y="73204"/>
                      <a:pt x="57290" y="76387"/>
                    </a:cubicBezTo>
                    <a:cubicBezTo>
                      <a:pt x="60473" y="79570"/>
                      <a:pt x="63656" y="79570"/>
                      <a:pt x="63656" y="82753"/>
                    </a:cubicBezTo>
                    <a:cubicBezTo>
                      <a:pt x="66839" y="85935"/>
                      <a:pt x="66839" y="85935"/>
                      <a:pt x="66839" y="89118"/>
                    </a:cubicBezTo>
                    <a:cubicBezTo>
                      <a:pt x="66839" y="92301"/>
                      <a:pt x="66839" y="95484"/>
                      <a:pt x="63656" y="98667"/>
                    </a:cubicBezTo>
                    <a:cubicBezTo>
                      <a:pt x="60473" y="101849"/>
                      <a:pt x="57290" y="101849"/>
                      <a:pt x="54107" y="101849"/>
                    </a:cubicBezTo>
                    <a:cubicBezTo>
                      <a:pt x="50925" y="101849"/>
                      <a:pt x="44559" y="101849"/>
                      <a:pt x="41376" y="98667"/>
                    </a:cubicBezTo>
                    <a:cubicBezTo>
                      <a:pt x="38194" y="95484"/>
                      <a:pt x="35011" y="95484"/>
                      <a:pt x="31828" y="92301"/>
                    </a:cubicBezTo>
                    <a:cubicBezTo>
                      <a:pt x="28645" y="89118"/>
                      <a:pt x="25462" y="85935"/>
                      <a:pt x="22280" y="79570"/>
                    </a:cubicBezTo>
                    <a:lnTo>
                      <a:pt x="0" y="95484"/>
                    </a:lnTo>
                    <a:cubicBezTo>
                      <a:pt x="3183" y="101849"/>
                      <a:pt x="6366" y="108215"/>
                      <a:pt x="12731" y="111398"/>
                    </a:cubicBezTo>
                    <a:cubicBezTo>
                      <a:pt x="19097" y="117763"/>
                      <a:pt x="22280" y="120946"/>
                      <a:pt x="31828" y="124129"/>
                    </a:cubicBezTo>
                    <a:cubicBezTo>
                      <a:pt x="41376" y="127312"/>
                      <a:pt x="44559" y="127312"/>
                      <a:pt x="54107" y="127312"/>
                    </a:cubicBezTo>
                    <a:cubicBezTo>
                      <a:pt x="60473" y="127312"/>
                      <a:pt x="66839" y="127312"/>
                      <a:pt x="70021" y="124129"/>
                    </a:cubicBezTo>
                    <a:cubicBezTo>
                      <a:pt x="76387" y="120946"/>
                      <a:pt x="79570" y="120946"/>
                      <a:pt x="85935" y="117763"/>
                    </a:cubicBezTo>
                    <a:cubicBezTo>
                      <a:pt x="89118" y="114580"/>
                      <a:pt x="92301" y="111398"/>
                      <a:pt x="95484" y="105032"/>
                    </a:cubicBezTo>
                    <a:cubicBezTo>
                      <a:pt x="98666" y="98667"/>
                      <a:pt x="98666" y="95484"/>
                      <a:pt x="98666" y="89118"/>
                    </a:cubicBezTo>
                    <a:cubicBezTo>
                      <a:pt x="101849" y="85935"/>
                      <a:pt x="101849" y="82753"/>
                      <a:pt x="98666" y="763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87" name="Полилиния: фигура 190">
              <a:extLst>
                <a:ext uri="{FF2B5EF4-FFF2-40B4-BE49-F238E27FC236}">
                  <a16:creationId xmlns:a16="http://schemas.microsoft.com/office/drawing/2014/main" id="{C9FEE544-ECFB-4768-8442-2072CD769D7B}"/>
                </a:ext>
              </a:extLst>
            </p:cNvPr>
            <p:cNvSpPr/>
            <p:nvPr/>
          </p:nvSpPr>
          <p:spPr>
            <a:xfrm>
              <a:off x="6166426" y="1085342"/>
              <a:ext cx="677934" cy="665203"/>
            </a:xfrm>
            <a:custGeom>
              <a:avLst/>
              <a:gdLst>
                <a:gd name="connsiteX0" fmla="*/ 340559 w 677934"/>
                <a:gd name="connsiteY0" fmla="*/ 0 h 665203"/>
                <a:gd name="connsiteX1" fmla="*/ 346924 w 677934"/>
                <a:gd name="connsiteY1" fmla="*/ 0 h 665203"/>
                <a:gd name="connsiteX2" fmla="*/ 407397 w 677934"/>
                <a:gd name="connsiteY2" fmla="*/ 0 h 665203"/>
                <a:gd name="connsiteX3" fmla="*/ 416945 w 677934"/>
                <a:gd name="connsiteY3" fmla="*/ 73204 h 665203"/>
                <a:gd name="connsiteX4" fmla="*/ 474236 w 677934"/>
                <a:gd name="connsiteY4" fmla="*/ 98667 h 665203"/>
                <a:gd name="connsiteX5" fmla="*/ 534709 w 677934"/>
                <a:gd name="connsiteY5" fmla="*/ 57290 h 665203"/>
                <a:gd name="connsiteX6" fmla="*/ 620644 w 677934"/>
                <a:gd name="connsiteY6" fmla="*/ 143226 h 665203"/>
                <a:gd name="connsiteX7" fmla="*/ 579268 w 677934"/>
                <a:gd name="connsiteY7" fmla="*/ 203699 h 665203"/>
                <a:gd name="connsiteX8" fmla="*/ 604730 w 677934"/>
                <a:gd name="connsiteY8" fmla="*/ 260989 h 665203"/>
                <a:gd name="connsiteX9" fmla="*/ 677934 w 677934"/>
                <a:gd name="connsiteY9" fmla="*/ 273720 h 665203"/>
                <a:gd name="connsiteX10" fmla="*/ 677934 w 677934"/>
                <a:gd name="connsiteY10" fmla="*/ 394666 h 665203"/>
                <a:gd name="connsiteX11" fmla="*/ 601547 w 677934"/>
                <a:gd name="connsiteY11" fmla="*/ 404214 h 665203"/>
                <a:gd name="connsiteX12" fmla="*/ 576085 w 677934"/>
                <a:gd name="connsiteY12" fmla="*/ 461505 h 665203"/>
                <a:gd name="connsiteX13" fmla="*/ 617461 w 677934"/>
                <a:gd name="connsiteY13" fmla="*/ 521978 h 665203"/>
                <a:gd name="connsiteX14" fmla="*/ 531526 w 677934"/>
                <a:gd name="connsiteY14" fmla="*/ 607913 h 665203"/>
                <a:gd name="connsiteX15" fmla="*/ 471053 w 677934"/>
                <a:gd name="connsiteY15" fmla="*/ 566537 h 665203"/>
                <a:gd name="connsiteX16" fmla="*/ 413763 w 677934"/>
                <a:gd name="connsiteY16" fmla="*/ 591999 h 665203"/>
                <a:gd name="connsiteX17" fmla="*/ 404214 w 677934"/>
                <a:gd name="connsiteY17" fmla="*/ 665203 h 665203"/>
                <a:gd name="connsiteX18" fmla="*/ 343741 w 677934"/>
                <a:gd name="connsiteY18" fmla="*/ 665203 h 665203"/>
                <a:gd name="connsiteX19" fmla="*/ 270537 w 677934"/>
                <a:gd name="connsiteY19" fmla="*/ 665203 h 665203"/>
                <a:gd name="connsiteX20" fmla="*/ 260989 w 677934"/>
                <a:gd name="connsiteY20" fmla="*/ 591999 h 665203"/>
                <a:gd name="connsiteX21" fmla="*/ 203699 w 677934"/>
                <a:gd name="connsiteY21" fmla="*/ 566537 h 665203"/>
                <a:gd name="connsiteX22" fmla="*/ 143226 w 677934"/>
                <a:gd name="connsiteY22" fmla="*/ 607913 h 665203"/>
                <a:gd name="connsiteX23" fmla="*/ 57290 w 677934"/>
                <a:gd name="connsiteY23" fmla="*/ 521978 h 665203"/>
                <a:gd name="connsiteX24" fmla="*/ 101849 w 677934"/>
                <a:gd name="connsiteY24" fmla="*/ 461505 h 665203"/>
                <a:gd name="connsiteX25" fmla="*/ 76387 w 677934"/>
                <a:gd name="connsiteY25" fmla="*/ 404214 h 665203"/>
                <a:gd name="connsiteX26" fmla="*/ 0 w 677934"/>
                <a:gd name="connsiteY26" fmla="*/ 394666 h 665203"/>
                <a:gd name="connsiteX27" fmla="*/ 0 w 677934"/>
                <a:gd name="connsiteY27" fmla="*/ 273720 h 665203"/>
                <a:gd name="connsiteX28" fmla="*/ 73204 w 677934"/>
                <a:gd name="connsiteY28" fmla="*/ 260989 h 665203"/>
                <a:gd name="connsiteX29" fmla="*/ 98666 w 677934"/>
                <a:gd name="connsiteY29" fmla="*/ 203699 h 665203"/>
                <a:gd name="connsiteX30" fmla="*/ 57290 w 677934"/>
                <a:gd name="connsiteY30" fmla="*/ 143226 h 665203"/>
                <a:gd name="connsiteX31" fmla="*/ 143226 w 677934"/>
                <a:gd name="connsiteY31" fmla="*/ 57290 h 665203"/>
                <a:gd name="connsiteX32" fmla="*/ 203699 w 677934"/>
                <a:gd name="connsiteY32" fmla="*/ 98667 h 665203"/>
                <a:gd name="connsiteX33" fmla="*/ 260989 w 677934"/>
                <a:gd name="connsiteY33" fmla="*/ 73204 h 665203"/>
                <a:gd name="connsiteX34" fmla="*/ 270537 w 677934"/>
                <a:gd name="connsiteY34" fmla="*/ 0 h 665203"/>
                <a:gd name="connsiteX35" fmla="*/ 340559 w 677934"/>
                <a:gd name="connsiteY35" fmla="*/ 0 h 66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77934" h="665203">
                  <a:moveTo>
                    <a:pt x="340559" y="0"/>
                  </a:moveTo>
                  <a:cubicBezTo>
                    <a:pt x="343741" y="0"/>
                    <a:pt x="343741" y="0"/>
                    <a:pt x="346924" y="0"/>
                  </a:cubicBezTo>
                  <a:cubicBezTo>
                    <a:pt x="378752" y="0"/>
                    <a:pt x="407397" y="0"/>
                    <a:pt x="407397" y="0"/>
                  </a:cubicBezTo>
                  <a:lnTo>
                    <a:pt x="416945" y="73204"/>
                  </a:lnTo>
                  <a:cubicBezTo>
                    <a:pt x="439225" y="79570"/>
                    <a:pt x="455139" y="85935"/>
                    <a:pt x="474236" y="98667"/>
                  </a:cubicBezTo>
                  <a:lnTo>
                    <a:pt x="534709" y="57290"/>
                  </a:lnTo>
                  <a:lnTo>
                    <a:pt x="620644" y="143226"/>
                  </a:lnTo>
                  <a:lnTo>
                    <a:pt x="579268" y="203699"/>
                  </a:lnTo>
                  <a:cubicBezTo>
                    <a:pt x="588816" y="219613"/>
                    <a:pt x="595182" y="241892"/>
                    <a:pt x="604730" y="260989"/>
                  </a:cubicBezTo>
                  <a:lnTo>
                    <a:pt x="677934" y="273720"/>
                  </a:lnTo>
                  <a:lnTo>
                    <a:pt x="677934" y="394666"/>
                  </a:lnTo>
                  <a:lnTo>
                    <a:pt x="601547" y="404214"/>
                  </a:lnTo>
                  <a:cubicBezTo>
                    <a:pt x="595182" y="426494"/>
                    <a:pt x="588816" y="442408"/>
                    <a:pt x="576085" y="461505"/>
                  </a:cubicBezTo>
                  <a:lnTo>
                    <a:pt x="617461" y="521978"/>
                  </a:lnTo>
                  <a:lnTo>
                    <a:pt x="531526" y="607913"/>
                  </a:lnTo>
                  <a:lnTo>
                    <a:pt x="471053" y="566537"/>
                  </a:lnTo>
                  <a:cubicBezTo>
                    <a:pt x="455139" y="576085"/>
                    <a:pt x="432859" y="582451"/>
                    <a:pt x="413763" y="591999"/>
                  </a:cubicBezTo>
                  <a:lnTo>
                    <a:pt x="404214" y="665203"/>
                  </a:lnTo>
                  <a:cubicBezTo>
                    <a:pt x="404214" y="665203"/>
                    <a:pt x="375569" y="665203"/>
                    <a:pt x="343741" y="665203"/>
                  </a:cubicBezTo>
                  <a:cubicBezTo>
                    <a:pt x="311913" y="665203"/>
                    <a:pt x="270537" y="665203"/>
                    <a:pt x="270537" y="665203"/>
                  </a:cubicBezTo>
                  <a:lnTo>
                    <a:pt x="260989" y="591999"/>
                  </a:lnTo>
                  <a:cubicBezTo>
                    <a:pt x="241892" y="582451"/>
                    <a:pt x="219613" y="576085"/>
                    <a:pt x="203699" y="566537"/>
                  </a:cubicBezTo>
                  <a:lnTo>
                    <a:pt x="143226" y="607913"/>
                  </a:lnTo>
                  <a:lnTo>
                    <a:pt x="57290" y="521978"/>
                  </a:lnTo>
                  <a:lnTo>
                    <a:pt x="101849" y="461505"/>
                  </a:lnTo>
                  <a:cubicBezTo>
                    <a:pt x="89118" y="442408"/>
                    <a:pt x="82753" y="426494"/>
                    <a:pt x="76387" y="404214"/>
                  </a:cubicBezTo>
                  <a:lnTo>
                    <a:pt x="0" y="394666"/>
                  </a:lnTo>
                  <a:lnTo>
                    <a:pt x="0" y="273720"/>
                  </a:lnTo>
                  <a:lnTo>
                    <a:pt x="73204" y="260989"/>
                  </a:lnTo>
                  <a:cubicBezTo>
                    <a:pt x="82753" y="241892"/>
                    <a:pt x="89118" y="219613"/>
                    <a:pt x="98666" y="203699"/>
                  </a:cubicBezTo>
                  <a:lnTo>
                    <a:pt x="57290" y="143226"/>
                  </a:lnTo>
                  <a:lnTo>
                    <a:pt x="143226" y="57290"/>
                  </a:lnTo>
                  <a:lnTo>
                    <a:pt x="203699" y="98667"/>
                  </a:lnTo>
                  <a:cubicBezTo>
                    <a:pt x="222795" y="85935"/>
                    <a:pt x="238709" y="79570"/>
                    <a:pt x="260989" y="73204"/>
                  </a:cubicBezTo>
                  <a:lnTo>
                    <a:pt x="270537" y="0"/>
                  </a:lnTo>
                  <a:cubicBezTo>
                    <a:pt x="270537" y="0"/>
                    <a:pt x="305548" y="0"/>
                    <a:pt x="340559" y="0"/>
                  </a:cubicBez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8" name="Рисунок 3">
              <a:extLst>
                <a:ext uri="{FF2B5EF4-FFF2-40B4-BE49-F238E27FC236}">
                  <a16:creationId xmlns:a16="http://schemas.microsoft.com/office/drawing/2014/main" id="{33DC0015-B08C-4129-A485-704ECB70271D}"/>
                </a:ext>
              </a:extLst>
            </p:cNvPr>
            <p:cNvGrpSpPr/>
            <p:nvPr/>
          </p:nvGrpSpPr>
          <p:grpSpPr>
            <a:xfrm>
              <a:off x="6828447" y="1088525"/>
              <a:ext cx="544257" cy="658837"/>
              <a:chOff x="7887661" y="4433270"/>
              <a:chExt cx="544257" cy="658837"/>
            </a:xfrm>
            <a:noFill/>
          </p:grpSpPr>
          <p:sp>
            <p:nvSpPr>
              <p:cNvPr id="189" name="Полилиния: фигура 193">
                <a:extLst>
                  <a:ext uri="{FF2B5EF4-FFF2-40B4-BE49-F238E27FC236}">
                    <a16:creationId xmlns:a16="http://schemas.microsoft.com/office/drawing/2014/main" id="{E1EA90E3-6477-4B8E-B3ED-C0569E7B6604}"/>
                  </a:ext>
                </a:extLst>
              </p:cNvPr>
              <p:cNvSpPr/>
              <p:nvPr/>
            </p:nvSpPr>
            <p:spPr>
              <a:xfrm>
                <a:off x="7887661" y="4433270"/>
                <a:ext cx="544257" cy="499698"/>
              </a:xfrm>
              <a:custGeom>
                <a:avLst/>
                <a:gdLst>
                  <a:gd name="connsiteX0" fmla="*/ 0 w 544257"/>
                  <a:gd name="connsiteY0" fmla="*/ 152774 h 499698"/>
                  <a:gd name="connsiteX1" fmla="*/ 41376 w 544257"/>
                  <a:gd name="connsiteY1" fmla="*/ 114580 h 499698"/>
                  <a:gd name="connsiteX2" fmla="*/ 25462 w 544257"/>
                  <a:gd name="connsiteY2" fmla="*/ 44559 h 499698"/>
                  <a:gd name="connsiteX3" fmla="*/ 136860 w 544257"/>
                  <a:gd name="connsiteY3" fmla="*/ 0 h 499698"/>
                  <a:gd name="connsiteX4" fmla="*/ 178236 w 544257"/>
                  <a:gd name="connsiteY4" fmla="*/ 63656 h 499698"/>
                  <a:gd name="connsiteX5" fmla="*/ 241892 w 544257"/>
                  <a:gd name="connsiteY5" fmla="*/ 63656 h 499698"/>
                  <a:gd name="connsiteX6" fmla="*/ 280086 w 544257"/>
                  <a:gd name="connsiteY6" fmla="*/ 0 h 499698"/>
                  <a:gd name="connsiteX7" fmla="*/ 343741 w 544257"/>
                  <a:gd name="connsiteY7" fmla="*/ 25462 h 499698"/>
                  <a:gd name="connsiteX8" fmla="*/ 350107 w 544257"/>
                  <a:gd name="connsiteY8" fmla="*/ 28645 h 499698"/>
                  <a:gd name="connsiteX9" fmla="*/ 404214 w 544257"/>
                  <a:gd name="connsiteY9" fmla="*/ 50925 h 499698"/>
                  <a:gd name="connsiteX10" fmla="*/ 385118 w 544257"/>
                  <a:gd name="connsiteY10" fmla="*/ 124129 h 499698"/>
                  <a:gd name="connsiteX11" fmla="*/ 426494 w 544257"/>
                  <a:gd name="connsiteY11" fmla="*/ 168688 h 499698"/>
                  <a:gd name="connsiteX12" fmla="*/ 499698 w 544257"/>
                  <a:gd name="connsiteY12" fmla="*/ 155957 h 499698"/>
                  <a:gd name="connsiteX13" fmla="*/ 544257 w 544257"/>
                  <a:gd name="connsiteY13" fmla="*/ 267354 h 499698"/>
                  <a:gd name="connsiteX14" fmla="*/ 480601 w 544257"/>
                  <a:gd name="connsiteY14" fmla="*/ 305548 h 499698"/>
                  <a:gd name="connsiteX15" fmla="*/ 480601 w 544257"/>
                  <a:gd name="connsiteY15" fmla="*/ 369204 h 499698"/>
                  <a:gd name="connsiteX16" fmla="*/ 544257 w 544257"/>
                  <a:gd name="connsiteY16" fmla="*/ 410580 h 499698"/>
                  <a:gd name="connsiteX17" fmla="*/ 506064 w 544257"/>
                  <a:gd name="connsiteY17" fmla="*/ 499698 h 4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4257" h="499698">
                    <a:moveTo>
                      <a:pt x="0" y="152774"/>
                    </a:moveTo>
                    <a:cubicBezTo>
                      <a:pt x="12731" y="140043"/>
                      <a:pt x="28645" y="127312"/>
                      <a:pt x="41376" y="114580"/>
                    </a:cubicBezTo>
                    <a:lnTo>
                      <a:pt x="25462" y="44559"/>
                    </a:lnTo>
                    <a:lnTo>
                      <a:pt x="136860" y="0"/>
                    </a:lnTo>
                    <a:lnTo>
                      <a:pt x="178236" y="63656"/>
                    </a:lnTo>
                    <a:cubicBezTo>
                      <a:pt x="200516" y="60473"/>
                      <a:pt x="219613" y="60473"/>
                      <a:pt x="241892" y="63656"/>
                    </a:cubicBezTo>
                    <a:lnTo>
                      <a:pt x="280086" y="0"/>
                    </a:lnTo>
                    <a:cubicBezTo>
                      <a:pt x="280086" y="0"/>
                      <a:pt x="311913" y="12731"/>
                      <a:pt x="343741" y="25462"/>
                    </a:cubicBezTo>
                    <a:cubicBezTo>
                      <a:pt x="346924" y="25462"/>
                      <a:pt x="346924" y="28645"/>
                      <a:pt x="350107" y="28645"/>
                    </a:cubicBezTo>
                    <a:cubicBezTo>
                      <a:pt x="375569" y="38193"/>
                      <a:pt x="404214" y="50925"/>
                      <a:pt x="404214" y="50925"/>
                    </a:cubicBezTo>
                    <a:lnTo>
                      <a:pt x="385118" y="124129"/>
                    </a:lnTo>
                    <a:cubicBezTo>
                      <a:pt x="401032" y="136860"/>
                      <a:pt x="413763" y="149591"/>
                      <a:pt x="426494" y="168688"/>
                    </a:cubicBezTo>
                    <a:lnTo>
                      <a:pt x="499698" y="155957"/>
                    </a:lnTo>
                    <a:lnTo>
                      <a:pt x="544257" y="267354"/>
                    </a:lnTo>
                    <a:lnTo>
                      <a:pt x="480601" y="305548"/>
                    </a:lnTo>
                    <a:cubicBezTo>
                      <a:pt x="480601" y="324645"/>
                      <a:pt x="480601" y="346924"/>
                      <a:pt x="480601" y="369204"/>
                    </a:cubicBezTo>
                    <a:lnTo>
                      <a:pt x="544257" y="410580"/>
                    </a:lnTo>
                    <a:cubicBezTo>
                      <a:pt x="544257" y="410580"/>
                      <a:pt x="521978" y="464687"/>
                      <a:pt x="506064" y="499698"/>
                    </a:cubicBezTo>
                  </a:path>
                </a:pathLst>
              </a:custGeom>
              <a:grp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0" name="Полилиния: фигура 194">
                <a:extLst>
                  <a:ext uri="{FF2B5EF4-FFF2-40B4-BE49-F238E27FC236}">
                    <a16:creationId xmlns:a16="http://schemas.microsoft.com/office/drawing/2014/main" id="{B52F6288-B4B1-4E66-9A82-87F421C45A75}"/>
                  </a:ext>
                </a:extLst>
              </p:cNvPr>
              <p:cNvSpPr/>
              <p:nvPr/>
            </p:nvSpPr>
            <p:spPr>
              <a:xfrm>
                <a:off x="7890843" y="4932968"/>
                <a:ext cx="353289" cy="159139"/>
              </a:xfrm>
              <a:custGeom>
                <a:avLst/>
                <a:gdLst>
                  <a:gd name="connsiteX0" fmla="*/ 353290 w 353289"/>
                  <a:gd name="connsiteY0" fmla="*/ 130494 h 159139"/>
                  <a:gd name="connsiteX1" fmla="*/ 280086 w 353289"/>
                  <a:gd name="connsiteY1" fmla="*/ 159140 h 159139"/>
                  <a:gd name="connsiteX2" fmla="*/ 238709 w 353289"/>
                  <a:gd name="connsiteY2" fmla="*/ 95484 h 159139"/>
                  <a:gd name="connsiteX3" fmla="*/ 175053 w 353289"/>
                  <a:gd name="connsiteY3" fmla="*/ 95484 h 159139"/>
                  <a:gd name="connsiteX4" fmla="*/ 136860 w 353289"/>
                  <a:gd name="connsiteY4" fmla="*/ 159140 h 159139"/>
                  <a:gd name="connsiteX5" fmla="*/ 82753 w 353289"/>
                  <a:gd name="connsiteY5" fmla="*/ 136860 h 159139"/>
                  <a:gd name="connsiteX6" fmla="*/ 15914 w 353289"/>
                  <a:gd name="connsiteY6" fmla="*/ 108215 h 159139"/>
                  <a:gd name="connsiteX7" fmla="*/ 35011 w 353289"/>
                  <a:gd name="connsiteY7" fmla="*/ 35011 h 159139"/>
                  <a:gd name="connsiteX8" fmla="*/ 0 w 353289"/>
                  <a:gd name="connsiteY8" fmla="*/ 0 h 159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3289" h="159139">
                    <a:moveTo>
                      <a:pt x="353290" y="130494"/>
                    </a:moveTo>
                    <a:cubicBezTo>
                      <a:pt x="321462" y="143226"/>
                      <a:pt x="280086" y="159140"/>
                      <a:pt x="280086" y="159140"/>
                    </a:cubicBezTo>
                    <a:lnTo>
                      <a:pt x="238709" y="95484"/>
                    </a:lnTo>
                    <a:cubicBezTo>
                      <a:pt x="219612" y="95484"/>
                      <a:pt x="197333" y="95484"/>
                      <a:pt x="175053" y="95484"/>
                    </a:cubicBezTo>
                    <a:lnTo>
                      <a:pt x="136860" y="159140"/>
                    </a:lnTo>
                    <a:cubicBezTo>
                      <a:pt x="136860" y="159140"/>
                      <a:pt x="108215" y="146408"/>
                      <a:pt x="82753" y="136860"/>
                    </a:cubicBezTo>
                    <a:cubicBezTo>
                      <a:pt x="50925" y="124129"/>
                      <a:pt x="15914" y="108215"/>
                      <a:pt x="15914" y="108215"/>
                    </a:cubicBezTo>
                    <a:lnTo>
                      <a:pt x="35011" y="35011"/>
                    </a:lnTo>
                    <a:cubicBezTo>
                      <a:pt x="25462" y="22280"/>
                      <a:pt x="12731" y="9548"/>
                      <a:pt x="0" y="0"/>
                    </a:cubicBezTo>
                  </a:path>
                </a:pathLst>
              </a:custGeom>
              <a:grp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1" name="Полилиния: фигура 192">
              <a:extLst>
                <a:ext uri="{FF2B5EF4-FFF2-40B4-BE49-F238E27FC236}">
                  <a16:creationId xmlns:a16="http://schemas.microsoft.com/office/drawing/2014/main" id="{878BC4EF-8EDE-42E6-8951-D03C01928660}"/>
                </a:ext>
              </a:extLst>
            </p:cNvPr>
            <p:cNvSpPr/>
            <p:nvPr/>
          </p:nvSpPr>
          <p:spPr>
            <a:xfrm>
              <a:off x="7238566" y="1629376"/>
              <a:ext cx="74455" cy="74455"/>
            </a:xfrm>
            <a:custGeom>
              <a:avLst/>
              <a:gdLst>
                <a:gd name="connsiteX0" fmla="*/ 0 w 65604"/>
                <a:gd name="connsiteY0" fmla="*/ 0 h 65604"/>
                <a:gd name="connsiteX1" fmla="*/ 65604 w 65604"/>
                <a:gd name="connsiteY1" fmla="*/ 0 h 65604"/>
                <a:gd name="connsiteX2" fmla="*/ 65604 w 65604"/>
                <a:gd name="connsiteY2" fmla="*/ 65604 h 65604"/>
                <a:gd name="connsiteX3" fmla="*/ 0 w 65604"/>
                <a:gd name="connsiteY3" fmla="*/ 65604 h 6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04" h="65604">
                  <a:moveTo>
                    <a:pt x="0" y="0"/>
                  </a:moveTo>
                  <a:lnTo>
                    <a:pt x="65604" y="0"/>
                  </a:lnTo>
                  <a:lnTo>
                    <a:pt x="65604" y="65604"/>
                  </a:lnTo>
                  <a:lnTo>
                    <a:pt x="0" y="65604"/>
                  </a:lnTo>
                  <a:close/>
                </a:path>
              </a:pathLst>
            </a:custGeom>
            <a:solidFill>
              <a:srgbClr val="FFFFFF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92" name="Rectangle 12">
            <a:extLst>
              <a:ext uri="{FF2B5EF4-FFF2-40B4-BE49-F238E27FC236}">
                <a16:creationId xmlns:a16="http://schemas.microsoft.com/office/drawing/2014/main" id="{1557CAAF-0260-48F1-9A1D-4F1071805B25}"/>
              </a:ext>
            </a:extLst>
          </p:cNvPr>
          <p:cNvSpPr/>
          <p:nvPr/>
        </p:nvSpPr>
        <p:spPr bwMode="auto">
          <a:xfrm>
            <a:off x="3170166" y="5147868"/>
            <a:ext cx="3006393" cy="884702"/>
          </a:xfrm>
          <a:prstGeom prst="roundRect">
            <a:avLst>
              <a:gd name="adj" fmla="val 12450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93" name="Rectangle 185">
            <a:extLst>
              <a:ext uri="{FF2B5EF4-FFF2-40B4-BE49-F238E27FC236}">
                <a16:creationId xmlns:a16="http://schemas.microsoft.com/office/drawing/2014/main" id="{5B85B2CF-4534-4272-8211-679D299BD87E}"/>
              </a:ext>
            </a:extLst>
          </p:cNvPr>
          <p:cNvSpPr/>
          <p:nvPr/>
        </p:nvSpPr>
        <p:spPr>
          <a:xfrm>
            <a:off x="3942655" y="5256504"/>
            <a:ext cx="207552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 по внедрению </a:t>
            </a:r>
            <a:r>
              <a:rPr lang="en-US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AI</a:t>
            </a:r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</a:p>
          <a:p>
            <a:pPr lvl="0"/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процессы качества</a:t>
            </a:r>
          </a:p>
        </p:txBody>
      </p:sp>
      <p:grpSp>
        <p:nvGrpSpPr>
          <p:cNvPr id="194" name="Группа 217">
            <a:extLst>
              <a:ext uri="{FF2B5EF4-FFF2-40B4-BE49-F238E27FC236}">
                <a16:creationId xmlns:a16="http://schemas.microsoft.com/office/drawing/2014/main" id="{2163AFFC-66D0-492C-9892-AC237E8F2A4B}"/>
              </a:ext>
            </a:extLst>
          </p:cNvPr>
          <p:cNvGrpSpPr>
            <a:grpSpLocks noChangeAspect="1"/>
          </p:cNvGrpSpPr>
          <p:nvPr/>
        </p:nvGrpSpPr>
        <p:grpSpPr>
          <a:xfrm>
            <a:off x="3339261" y="5382000"/>
            <a:ext cx="414531" cy="342834"/>
            <a:chOff x="6618869" y="4801485"/>
            <a:chExt cx="869423" cy="719050"/>
          </a:xfrm>
          <a:solidFill>
            <a:srgbClr val="FFFFFF"/>
          </a:solidFill>
        </p:grpSpPr>
        <p:sp>
          <p:nvSpPr>
            <p:cNvPr id="195" name="Полилиния: фигура 116">
              <a:extLst>
                <a:ext uri="{FF2B5EF4-FFF2-40B4-BE49-F238E27FC236}">
                  <a16:creationId xmlns:a16="http://schemas.microsoft.com/office/drawing/2014/main" id="{F89449AF-F02F-4417-A7C9-F8A81D0217C9}"/>
                </a:ext>
              </a:extLst>
            </p:cNvPr>
            <p:cNvSpPr/>
            <p:nvPr/>
          </p:nvSpPr>
          <p:spPr>
            <a:xfrm>
              <a:off x="7089124" y="5411175"/>
              <a:ext cx="330818" cy="95691"/>
            </a:xfrm>
            <a:custGeom>
              <a:avLst/>
              <a:gdLst>
                <a:gd name="connsiteX0" fmla="*/ 317148 w 330818"/>
                <a:gd name="connsiteY0" fmla="*/ 95691 h 95691"/>
                <a:gd name="connsiteX1" fmla="*/ 0 w 330818"/>
                <a:gd name="connsiteY1" fmla="*/ 95691 h 95691"/>
                <a:gd name="connsiteX2" fmla="*/ 0 w 330818"/>
                <a:gd name="connsiteY2" fmla="*/ 68351 h 95691"/>
                <a:gd name="connsiteX3" fmla="*/ 303478 w 330818"/>
                <a:gd name="connsiteY3" fmla="*/ 68351 h 95691"/>
                <a:gd name="connsiteX4" fmla="*/ 303478 w 330818"/>
                <a:gd name="connsiteY4" fmla="*/ 0 h 95691"/>
                <a:gd name="connsiteX5" fmla="*/ 330818 w 330818"/>
                <a:gd name="connsiteY5" fmla="*/ 0 h 95691"/>
                <a:gd name="connsiteX6" fmla="*/ 330818 w 330818"/>
                <a:gd name="connsiteY6" fmla="*/ 82021 h 95691"/>
                <a:gd name="connsiteX7" fmla="*/ 317148 w 330818"/>
                <a:gd name="connsiteY7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818" h="95691">
                  <a:moveTo>
                    <a:pt x="317148" y="95691"/>
                  </a:moveTo>
                  <a:lnTo>
                    <a:pt x="0" y="95691"/>
                  </a:lnTo>
                  <a:lnTo>
                    <a:pt x="0" y="68351"/>
                  </a:lnTo>
                  <a:lnTo>
                    <a:pt x="303478" y="68351"/>
                  </a:lnTo>
                  <a:lnTo>
                    <a:pt x="303478" y="0"/>
                  </a:lnTo>
                  <a:lnTo>
                    <a:pt x="330818" y="0"/>
                  </a:lnTo>
                  <a:lnTo>
                    <a:pt x="330818" y="82021"/>
                  </a:lnTo>
                  <a:cubicBezTo>
                    <a:pt x="330818" y="90223"/>
                    <a:pt x="325350" y="95691"/>
                    <a:pt x="317148" y="95691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117">
              <a:extLst>
                <a:ext uri="{FF2B5EF4-FFF2-40B4-BE49-F238E27FC236}">
                  <a16:creationId xmlns:a16="http://schemas.microsoft.com/office/drawing/2014/main" id="{F4003B7C-9190-45EE-91F5-34F27EF1A4B4}"/>
                </a:ext>
              </a:extLst>
            </p:cNvPr>
            <p:cNvSpPr/>
            <p:nvPr/>
          </p:nvSpPr>
          <p:spPr>
            <a:xfrm>
              <a:off x="6627072" y="5400239"/>
              <a:ext cx="164042" cy="106627"/>
            </a:xfrm>
            <a:custGeom>
              <a:avLst/>
              <a:gdLst>
                <a:gd name="connsiteX0" fmla="*/ 164042 w 164042"/>
                <a:gd name="connsiteY0" fmla="*/ 106627 h 106627"/>
                <a:gd name="connsiteX1" fmla="*/ 13670 w 164042"/>
                <a:gd name="connsiteY1" fmla="*/ 106627 h 106627"/>
                <a:gd name="connsiteX2" fmla="*/ 0 w 164042"/>
                <a:gd name="connsiteY2" fmla="*/ 92957 h 106627"/>
                <a:gd name="connsiteX3" fmla="*/ 0 w 164042"/>
                <a:gd name="connsiteY3" fmla="*/ 0 h 106627"/>
                <a:gd name="connsiteX4" fmla="*/ 27340 w 164042"/>
                <a:gd name="connsiteY4" fmla="*/ 0 h 106627"/>
                <a:gd name="connsiteX5" fmla="*/ 27340 w 164042"/>
                <a:gd name="connsiteY5" fmla="*/ 79287 h 106627"/>
                <a:gd name="connsiteX6" fmla="*/ 164042 w 164042"/>
                <a:gd name="connsiteY6" fmla="*/ 79287 h 106627"/>
                <a:gd name="connsiteX7" fmla="*/ 164042 w 164042"/>
                <a:gd name="connsiteY7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42" h="106627">
                  <a:moveTo>
                    <a:pt x="164042" y="106627"/>
                  </a:moveTo>
                  <a:lnTo>
                    <a:pt x="13670" y="106627"/>
                  </a:lnTo>
                  <a:cubicBezTo>
                    <a:pt x="5468" y="106627"/>
                    <a:pt x="0" y="101159"/>
                    <a:pt x="0" y="92957"/>
                  </a:cubicBezTo>
                  <a:lnTo>
                    <a:pt x="0" y="0"/>
                  </a:lnTo>
                  <a:lnTo>
                    <a:pt x="27340" y="0"/>
                  </a:lnTo>
                  <a:lnTo>
                    <a:pt x="27340" y="79287"/>
                  </a:lnTo>
                  <a:lnTo>
                    <a:pt x="164042" y="79287"/>
                  </a:lnTo>
                  <a:lnTo>
                    <a:pt x="164042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Полилиния: фигура 118">
              <a:extLst>
                <a:ext uri="{FF2B5EF4-FFF2-40B4-BE49-F238E27FC236}">
                  <a16:creationId xmlns:a16="http://schemas.microsoft.com/office/drawing/2014/main" id="{438A16B8-0825-4451-81CF-F5839EDAE3D3}"/>
                </a:ext>
              </a:extLst>
            </p:cNvPr>
            <p:cNvSpPr/>
            <p:nvPr/>
          </p:nvSpPr>
          <p:spPr>
            <a:xfrm>
              <a:off x="6627072" y="4804219"/>
              <a:ext cx="153106" cy="360892"/>
            </a:xfrm>
            <a:custGeom>
              <a:avLst/>
              <a:gdLst>
                <a:gd name="connsiteX0" fmla="*/ 27340 w 153106"/>
                <a:gd name="connsiteY0" fmla="*/ 360893 h 360892"/>
                <a:gd name="connsiteX1" fmla="*/ 0 w 153106"/>
                <a:gd name="connsiteY1" fmla="*/ 360893 h 360892"/>
                <a:gd name="connsiteX2" fmla="*/ 0 w 153106"/>
                <a:gd name="connsiteY2" fmla="*/ 13670 h 360892"/>
                <a:gd name="connsiteX3" fmla="*/ 13670 w 153106"/>
                <a:gd name="connsiteY3" fmla="*/ 0 h 360892"/>
                <a:gd name="connsiteX4" fmla="*/ 153106 w 153106"/>
                <a:gd name="connsiteY4" fmla="*/ 0 h 360892"/>
                <a:gd name="connsiteX5" fmla="*/ 153106 w 153106"/>
                <a:gd name="connsiteY5" fmla="*/ 27340 h 360892"/>
                <a:gd name="connsiteX6" fmla="*/ 27340 w 153106"/>
                <a:gd name="connsiteY6" fmla="*/ 27340 h 360892"/>
                <a:gd name="connsiteX7" fmla="*/ 27340 w 153106"/>
                <a:gd name="connsiteY7" fmla="*/ 360893 h 36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106" h="360892">
                  <a:moveTo>
                    <a:pt x="27340" y="360893"/>
                  </a:moveTo>
                  <a:lnTo>
                    <a:pt x="0" y="360893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53106" y="0"/>
                  </a:lnTo>
                  <a:lnTo>
                    <a:pt x="153106" y="27340"/>
                  </a:lnTo>
                  <a:lnTo>
                    <a:pt x="27340" y="27340"/>
                  </a:lnTo>
                  <a:lnTo>
                    <a:pt x="27340" y="36089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119">
              <a:extLst>
                <a:ext uri="{FF2B5EF4-FFF2-40B4-BE49-F238E27FC236}">
                  <a16:creationId xmlns:a16="http://schemas.microsoft.com/office/drawing/2014/main" id="{6CB0FAC1-09E1-437F-B1EA-5D8808276897}"/>
                </a:ext>
              </a:extLst>
            </p:cNvPr>
            <p:cNvSpPr/>
            <p:nvPr/>
          </p:nvSpPr>
          <p:spPr>
            <a:xfrm>
              <a:off x="6985230" y="4804219"/>
              <a:ext cx="421041" cy="27340"/>
            </a:xfrm>
            <a:custGeom>
              <a:avLst/>
              <a:gdLst>
                <a:gd name="connsiteX0" fmla="*/ 0 w 421041"/>
                <a:gd name="connsiteY0" fmla="*/ 0 h 27340"/>
                <a:gd name="connsiteX1" fmla="*/ 421041 w 421041"/>
                <a:gd name="connsiteY1" fmla="*/ 0 h 27340"/>
                <a:gd name="connsiteX2" fmla="*/ 421041 w 421041"/>
                <a:gd name="connsiteY2" fmla="*/ 27340 h 27340"/>
                <a:gd name="connsiteX3" fmla="*/ 0 w 42104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041" h="27340">
                  <a:moveTo>
                    <a:pt x="0" y="0"/>
                  </a:moveTo>
                  <a:lnTo>
                    <a:pt x="421041" y="0"/>
                  </a:lnTo>
                  <a:lnTo>
                    <a:pt x="421041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120">
              <a:extLst>
                <a:ext uri="{FF2B5EF4-FFF2-40B4-BE49-F238E27FC236}">
                  <a16:creationId xmlns:a16="http://schemas.microsoft.com/office/drawing/2014/main" id="{B1922F30-2CF9-4167-AD93-5C4742C8C29A}"/>
                </a:ext>
              </a:extLst>
            </p:cNvPr>
            <p:cNvSpPr/>
            <p:nvPr/>
          </p:nvSpPr>
          <p:spPr>
            <a:xfrm>
              <a:off x="6818454" y="5296345"/>
              <a:ext cx="221457" cy="224190"/>
            </a:xfrm>
            <a:custGeom>
              <a:avLst/>
              <a:gdLst>
                <a:gd name="connsiteX0" fmla="*/ 221457 w 221457"/>
                <a:gd name="connsiteY0" fmla="*/ 224191 h 224190"/>
                <a:gd name="connsiteX1" fmla="*/ 0 w 221457"/>
                <a:gd name="connsiteY1" fmla="*/ 224191 h 224190"/>
                <a:gd name="connsiteX2" fmla="*/ 0 w 221457"/>
                <a:gd name="connsiteY2" fmla="*/ 0 h 224190"/>
                <a:gd name="connsiteX3" fmla="*/ 221457 w 221457"/>
                <a:gd name="connsiteY3" fmla="*/ 0 h 224190"/>
                <a:gd name="connsiteX4" fmla="*/ 221457 w 221457"/>
                <a:gd name="connsiteY4" fmla="*/ 224191 h 224190"/>
                <a:gd name="connsiteX5" fmla="*/ 27340 w 221457"/>
                <a:gd name="connsiteY5" fmla="*/ 196850 h 224190"/>
                <a:gd name="connsiteX6" fmla="*/ 194117 w 221457"/>
                <a:gd name="connsiteY6" fmla="*/ 196850 h 224190"/>
                <a:gd name="connsiteX7" fmla="*/ 194117 w 221457"/>
                <a:gd name="connsiteY7" fmla="*/ 27340 h 224190"/>
                <a:gd name="connsiteX8" fmla="*/ 27340 w 221457"/>
                <a:gd name="connsiteY8" fmla="*/ 27340 h 224190"/>
                <a:gd name="connsiteX9" fmla="*/ 27340 w 221457"/>
                <a:gd name="connsiteY9" fmla="*/ 196850 h 22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457" h="224190">
                  <a:moveTo>
                    <a:pt x="221457" y="224191"/>
                  </a:moveTo>
                  <a:lnTo>
                    <a:pt x="0" y="224191"/>
                  </a:lnTo>
                  <a:lnTo>
                    <a:pt x="0" y="0"/>
                  </a:lnTo>
                  <a:lnTo>
                    <a:pt x="221457" y="0"/>
                  </a:lnTo>
                  <a:lnTo>
                    <a:pt x="221457" y="224191"/>
                  </a:lnTo>
                  <a:close/>
                  <a:moveTo>
                    <a:pt x="27340" y="196850"/>
                  </a:moveTo>
                  <a:lnTo>
                    <a:pt x="194117" y="19685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9685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121">
              <a:extLst>
                <a:ext uri="{FF2B5EF4-FFF2-40B4-BE49-F238E27FC236}">
                  <a16:creationId xmlns:a16="http://schemas.microsoft.com/office/drawing/2014/main" id="{C37AAFBE-EF7A-44C0-B70F-4F7C3B9CFEB1}"/>
                </a:ext>
              </a:extLst>
            </p:cNvPr>
            <p:cNvSpPr/>
            <p:nvPr/>
          </p:nvSpPr>
          <p:spPr>
            <a:xfrm>
              <a:off x="6618869" y="5206122"/>
              <a:ext cx="150371" cy="153106"/>
            </a:xfrm>
            <a:custGeom>
              <a:avLst/>
              <a:gdLst>
                <a:gd name="connsiteX0" fmla="*/ 150372 w 150371"/>
                <a:gd name="connsiteY0" fmla="*/ 153106 h 153106"/>
                <a:gd name="connsiteX1" fmla="*/ 0 w 150371"/>
                <a:gd name="connsiteY1" fmla="*/ 153106 h 153106"/>
                <a:gd name="connsiteX2" fmla="*/ 0 w 150371"/>
                <a:gd name="connsiteY2" fmla="*/ 0 h 153106"/>
                <a:gd name="connsiteX3" fmla="*/ 150372 w 150371"/>
                <a:gd name="connsiteY3" fmla="*/ 0 h 153106"/>
                <a:gd name="connsiteX4" fmla="*/ 150372 w 150371"/>
                <a:gd name="connsiteY4" fmla="*/ 153106 h 153106"/>
                <a:gd name="connsiteX5" fmla="*/ 27340 w 150371"/>
                <a:gd name="connsiteY5" fmla="*/ 125766 h 153106"/>
                <a:gd name="connsiteX6" fmla="*/ 123032 w 150371"/>
                <a:gd name="connsiteY6" fmla="*/ 125766 h 153106"/>
                <a:gd name="connsiteX7" fmla="*/ 123032 w 150371"/>
                <a:gd name="connsiteY7" fmla="*/ 27340 h 153106"/>
                <a:gd name="connsiteX8" fmla="*/ 27340 w 150371"/>
                <a:gd name="connsiteY8" fmla="*/ 27340 h 153106"/>
                <a:gd name="connsiteX9" fmla="*/ 27340 w 150371"/>
                <a:gd name="connsiteY9" fmla="*/ 12576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3106">
                  <a:moveTo>
                    <a:pt x="150372" y="153106"/>
                  </a:moveTo>
                  <a:lnTo>
                    <a:pt x="0" y="153106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3106"/>
                  </a:lnTo>
                  <a:close/>
                  <a:moveTo>
                    <a:pt x="27340" y="125766"/>
                  </a:moveTo>
                  <a:lnTo>
                    <a:pt x="123032" y="125766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576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22">
              <a:extLst>
                <a:ext uri="{FF2B5EF4-FFF2-40B4-BE49-F238E27FC236}">
                  <a16:creationId xmlns:a16="http://schemas.microsoft.com/office/drawing/2014/main" id="{4AD1501F-4CDA-45DE-9777-B1E27ACD3240}"/>
                </a:ext>
              </a:extLst>
            </p:cNvPr>
            <p:cNvSpPr/>
            <p:nvPr/>
          </p:nvSpPr>
          <p:spPr>
            <a:xfrm>
              <a:off x="6996166" y="5099495"/>
              <a:ext cx="150371" cy="150371"/>
            </a:xfrm>
            <a:custGeom>
              <a:avLst/>
              <a:gdLst>
                <a:gd name="connsiteX0" fmla="*/ 150372 w 150371"/>
                <a:gd name="connsiteY0" fmla="*/ 150372 h 150371"/>
                <a:gd name="connsiteX1" fmla="*/ 0 w 150371"/>
                <a:gd name="connsiteY1" fmla="*/ 150372 h 150371"/>
                <a:gd name="connsiteX2" fmla="*/ 0 w 150371"/>
                <a:gd name="connsiteY2" fmla="*/ 0 h 150371"/>
                <a:gd name="connsiteX3" fmla="*/ 150372 w 150371"/>
                <a:gd name="connsiteY3" fmla="*/ 0 h 150371"/>
                <a:gd name="connsiteX4" fmla="*/ 150372 w 150371"/>
                <a:gd name="connsiteY4" fmla="*/ 150372 h 150371"/>
                <a:gd name="connsiteX5" fmla="*/ 27340 w 150371"/>
                <a:gd name="connsiteY5" fmla="*/ 123032 h 150371"/>
                <a:gd name="connsiteX6" fmla="*/ 123032 w 150371"/>
                <a:gd name="connsiteY6" fmla="*/ 123032 h 150371"/>
                <a:gd name="connsiteX7" fmla="*/ 123032 w 150371"/>
                <a:gd name="connsiteY7" fmla="*/ 27340 h 150371"/>
                <a:gd name="connsiteX8" fmla="*/ 27340 w 150371"/>
                <a:gd name="connsiteY8" fmla="*/ 27340 h 150371"/>
                <a:gd name="connsiteX9" fmla="*/ 27340 w 150371"/>
                <a:gd name="connsiteY9" fmla="*/ 123032 h 1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0371">
                  <a:moveTo>
                    <a:pt x="150372" y="150372"/>
                  </a:moveTo>
                  <a:lnTo>
                    <a:pt x="0" y="150372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0372"/>
                  </a:lnTo>
                  <a:close/>
                  <a:moveTo>
                    <a:pt x="27340" y="123032"/>
                  </a:moveTo>
                  <a:lnTo>
                    <a:pt x="123032" y="123032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303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123">
              <a:extLst>
                <a:ext uri="{FF2B5EF4-FFF2-40B4-BE49-F238E27FC236}">
                  <a16:creationId xmlns:a16="http://schemas.microsoft.com/office/drawing/2014/main" id="{72FDAC11-CAD8-455B-A169-8E30CBA7A388}"/>
                </a:ext>
              </a:extLst>
            </p:cNvPr>
            <p:cNvSpPr/>
            <p:nvPr/>
          </p:nvSpPr>
          <p:spPr>
            <a:xfrm>
              <a:off x="6821188" y="4801485"/>
              <a:ext cx="120297" cy="123031"/>
            </a:xfrm>
            <a:custGeom>
              <a:avLst/>
              <a:gdLst>
                <a:gd name="connsiteX0" fmla="*/ 120297 w 120297"/>
                <a:gd name="connsiteY0" fmla="*/ 0 h 123031"/>
                <a:gd name="connsiteX1" fmla="*/ 0 w 120297"/>
                <a:gd name="connsiteY1" fmla="*/ 0 h 123031"/>
                <a:gd name="connsiteX2" fmla="*/ 0 w 120297"/>
                <a:gd name="connsiteY2" fmla="*/ 123032 h 123031"/>
                <a:gd name="connsiteX3" fmla="*/ 120297 w 120297"/>
                <a:gd name="connsiteY3" fmla="*/ 123032 h 123031"/>
                <a:gd name="connsiteX4" fmla="*/ 120297 w 120297"/>
                <a:gd name="connsiteY4" fmla="*/ 0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97" h="123031">
                  <a:moveTo>
                    <a:pt x="120297" y="0"/>
                  </a:moveTo>
                  <a:lnTo>
                    <a:pt x="0" y="0"/>
                  </a:lnTo>
                  <a:lnTo>
                    <a:pt x="0" y="123032"/>
                  </a:lnTo>
                  <a:lnTo>
                    <a:pt x="120297" y="123032"/>
                  </a:lnTo>
                  <a:lnTo>
                    <a:pt x="120297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24">
              <a:extLst>
                <a:ext uri="{FF2B5EF4-FFF2-40B4-BE49-F238E27FC236}">
                  <a16:creationId xmlns:a16="http://schemas.microsoft.com/office/drawing/2014/main" id="{A26686E3-82E2-4274-8399-B23C383F108B}"/>
                </a:ext>
              </a:extLst>
            </p:cNvPr>
            <p:cNvSpPr/>
            <p:nvPr/>
          </p:nvSpPr>
          <p:spPr>
            <a:xfrm>
              <a:off x="6698157" y="5044814"/>
              <a:ext cx="87489" cy="90222"/>
            </a:xfrm>
            <a:custGeom>
              <a:avLst/>
              <a:gdLst>
                <a:gd name="connsiteX0" fmla="*/ 87489 w 87489"/>
                <a:gd name="connsiteY0" fmla="*/ 0 h 90222"/>
                <a:gd name="connsiteX1" fmla="*/ 0 w 87489"/>
                <a:gd name="connsiteY1" fmla="*/ 0 h 90222"/>
                <a:gd name="connsiteX2" fmla="*/ 0 w 87489"/>
                <a:gd name="connsiteY2" fmla="*/ 90223 h 90222"/>
                <a:gd name="connsiteX3" fmla="*/ 87489 w 87489"/>
                <a:gd name="connsiteY3" fmla="*/ 90223 h 90222"/>
                <a:gd name="connsiteX4" fmla="*/ 87489 w 87489"/>
                <a:gd name="connsiteY4" fmla="*/ 0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89" h="90222">
                  <a:moveTo>
                    <a:pt x="87489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87489" y="90223"/>
                  </a:lnTo>
                  <a:lnTo>
                    <a:pt x="87489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25">
              <a:extLst>
                <a:ext uri="{FF2B5EF4-FFF2-40B4-BE49-F238E27FC236}">
                  <a16:creationId xmlns:a16="http://schemas.microsoft.com/office/drawing/2014/main" id="{B75A2796-F95F-4E75-800D-7B79CF52F803}"/>
                </a:ext>
              </a:extLst>
            </p:cNvPr>
            <p:cNvSpPr/>
            <p:nvPr/>
          </p:nvSpPr>
          <p:spPr>
            <a:xfrm>
              <a:off x="6837592" y="5151442"/>
              <a:ext cx="90223" cy="90223"/>
            </a:xfrm>
            <a:custGeom>
              <a:avLst/>
              <a:gdLst>
                <a:gd name="connsiteX0" fmla="*/ 90223 w 90223"/>
                <a:gd name="connsiteY0" fmla="*/ 0 h 90223"/>
                <a:gd name="connsiteX1" fmla="*/ 0 w 90223"/>
                <a:gd name="connsiteY1" fmla="*/ 0 h 90223"/>
                <a:gd name="connsiteX2" fmla="*/ 0 w 90223"/>
                <a:gd name="connsiteY2" fmla="*/ 90223 h 90223"/>
                <a:gd name="connsiteX3" fmla="*/ 90223 w 90223"/>
                <a:gd name="connsiteY3" fmla="*/ 90223 h 90223"/>
                <a:gd name="connsiteX4" fmla="*/ 90223 w 90223"/>
                <a:gd name="connsiteY4" fmla="*/ 0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23" h="90223">
                  <a:moveTo>
                    <a:pt x="90223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90223" y="90223"/>
                  </a:lnTo>
                  <a:lnTo>
                    <a:pt x="90223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126">
              <a:extLst>
                <a:ext uri="{FF2B5EF4-FFF2-40B4-BE49-F238E27FC236}">
                  <a16:creationId xmlns:a16="http://schemas.microsoft.com/office/drawing/2014/main" id="{0CAF3A81-51BB-4DF8-AF5A-6AB63C76A149}"/>
                </a:ext>
              </a:extLst>
            </p:cNvPr>
            <p:cNvSpPr/>
            <p:nvPr/>
          </p:nvSpPr>
          <p:spPr>
            <a:xfrm>
              <a:off x="6834858" y="4998335"/>
              <a:ext cx="92957" cy="90223"/>
            </a:xfrm>
            <a:custGeom>
              <a:avLst/>
              <a:gdLst>
                <a:gd name="connsiteX0" fmla="*/ 92957 w 92957"/>
                <a:gd name="connsiteY0" fmla="*/ 90223 h 90223"/>
                <a:gd name="connsiteX1" fmla="*/ 0 w 92957"/>
                <a:gd name="connsiteY1" fmla="*/ 90223 h 90223"/>
                <a:gd name="connsiteX2" fmla="*/ 0 w 92957"/>
                <a:gd name="connsiteY2" fmla="*/ 0 h 90223"/>
                <a:gd name="connsiteX3" fmla="*/ 92957 w 92957"/>
                <a:gd name="connsiteY3" fmla="*/ 0 h 90223"/>
                <a:gd name="connsiteX4" fmla="*/ 92957 w 92957"/>
                <a:gd name="connsiteY4" fmla="*/ 90223 h 90223"/>
                <a:gd name="connsiteX5" fmla="*/ 24606 w 92957"/>
                <a:gd name="connsiteY5" fmla="*/ 62883 h 90223"/>
                <a:gd name="connsiteX6" fmla="*/ 62883 w 92957"/>
                <a:gd name="connsiteY6" fmla="*/ 62883 h 90223"/>
                <a:gd name="connsiteX7" fmla="*/ 62883 w 92957"/>
                <a:gd name="connsiteY7" fmla="*/ 27340 h 90223"/>
                <a:gd name="connsiteX8" fmla="*/ 24606 w 92957"/>
                <a:gd name="connsiteY8" fmla="*/ 27340 h 90223"/>
                <a:gd name="connsiteX9" fmla="*/ 24606 w 92957"/>
                <a:gd name="connsiteY9" fmla="*/ 6288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957" h="90223">
                  <a:moveTo>
                    <a:pt x="92957" y="90223"/>
                  </a:moveTo>
                  <a:lnTo>
                    <a:pt x="0" y="90223"/>
                  </a:lnTo>
                  <a:lnTo>
                    <a:pt x="0" y="0"/>
                  </a:lnTo>
                  <a:lnTo>
                    <a:pt x="92957" y="0"/>
                  </a:lnTo>
                  <a:lnTo>
                    <a:pt x="92957" y="90223"/>
                  </a:lnTo>
                  <a:close/>
                  <a:moveTo>
                    <a:pt x="24606" y="62883"/>
                  </a:moveTo>
                  <a:lnTo>
                    <a:pt x="62883" y="62883"/>
                  </a:lnTo>
                  <a:lnTo>
                    <a:pt x="62883" y="27340"/>
                  </a:lnTo>
                  <a:lnTo>
                    <a:pt x="24606" y="27340"/>
                  </a:lnTo>
                  <a:lnTo>
                    <a:pt x="24606" y="6288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06" name="Рисунок 18">
              <a:extLst>
                <a:ext uri="{FF2B5EF4-FFF2-40B4-BE49-F238E27FC236}">
                  <a16:creationId xmlns:a16="http://schemas.microsoft.com/office/drawing/2014/main" id="{99902F87-369F-4D93-85A0-645571C90A88}"/>
                </a:ext>
              </a:extLst>
            </p:cNvPr>
            <p:cNvGrpSpPr/>
            <p:nvPr/>
          </p:nvGrpSpPr>
          <p:grpSpPr>
            <a:xfrm>
              <a:off x="7212155" y="4894442"/>
              <a:ext cx="276137" cy="470253"/>
              <a:chOff x="7212155" y="4894442"/>
              <a:chExt cx="276137" cy="470253"/>
            </a:xfrm>
            <a:grpFill/>
          </p:grpSpPr>
          <p:sp>
            <p:nvSpPr>
              <p:cNvPr id="207" name="Полилиния: фигура 128">
                <a:extLst>
                  <a:ext uri="{FF2B5EF4-FFF2-40B4-BE49-F238E27FC236}">
                    <a16:creationId xmlns:a16="http://schemas.microsoft.com/office/drawing/2014/main" id="{B4EAF2C2-CE06-40C8-9B5F-5FF4ECC1CEF5}"/>
                  </a:ext>
                </a:extLst>
              </p:cNvPr>
              <p:cNvSpPr/>
              <p:nvPr/>
            </p:nvSpPr>
            <p:spPr>
              <a:xfrm>
                <a:off x="7212155" y="4894442"/>
                <a:ext cx="276137" cy="470253"/>
              </a:xfrm>
              <a:custGeom>
                <a:avLst/>
                <a:gdLst>
                  <a:gd name="connsiteX0" fmla="*/ 276137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4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4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4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7 w 276137"/>
                  <a:gd name="connsiteY27" fmla="*/ 0 h 470253"/>
                  <a:gd name="connsiteX28" fmla="*/ 276137 w 276137"/>
                  <a:gd name="connsiteY28" fmla="*/ 27340 h 470253"/>
                  <a:gd name="connsiteX29" fmla="*/ 207786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7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4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4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4" y="169510"/>
                    </a:lnTo>
                    <a:cubicBezTo>
                      <a:pt x="60149" y="164042"/>
                      <a:pt x="62882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4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7" y="0"/>
                    </a:lnTo>
                    <a:lnTo>
                      <a:pt x="276137" y="27340"/>
                    </a:lnTo>
                    <a:lnTo>
                      <a:pt x="207786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4904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08" name="Полилиния: фигура 129">
                <a:extLst>
                  <a:ext uri="{FF2B5EF4-FFF2-40B4-BE49-F238E27FC236}">
                    <a16:creationId xmlns:a16="http://schemas.microsoft.com/office/drawing/2014/main" id="{408474E3-D7F1-49E6-BE3B-4A5C6A8AD5E2}"/>
                  </a:ext>
                </a:extLst>
              </p:cNvPr>
              <p:cNvSpPr/>
              <p:nvPr/>
            </p:nvSpPr>
            <p:spPr>
              <a:xfrm>
                <a:off x="7357059" y="5028410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8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88648"/>
                      <a:pt x="106628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: Top Corners Rounded 91">
            <a:extLst>
              <a:ext uri="{FF2B5EF4-FFF2-40B4-BE49-F238E27FC236}">
                <a16:creationId xmlns:a16="http://schemas.microsoft.com/office/drawing/2014/main" id="{14A15517-BF29-4F16-AF95-0A7E09DD0FE0}"/>
              </a:ext>
            </a:extLst>
          </p:cNvPr>
          <p:cNvSpPr/>
          <p:nvPr/>
        </p:nvSpPr>
        <p:spPr>
          <a:xfrm rot="10800000">
            <a:off x="9521516" y="3928990"/>
            <a:ext cx="2169864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: Top Corners Rounded 90">
            <a:extLst>
              <a:ext uri="{FF2B5EF4-FFF2-40B4-BE49-F238E27FC236}">
                <a16:creationId xmlns:a16="http://schemas.microsoft.com/office/drawing/2014/main" id="{C4635E1E-6764-4833-88A3-235CF2B3DC4C}"/>
              </a:ext>
            </a:extLst>
          </p:cNvPr>
          <p:cNvSpPr/>
          <p:nvPr/>
        </p:nvSpPr>
        <p:spPr>
          <a:xfrm rot="10800000">
            <a:off x="7253107" y="3928989"/>
            <a:ext cx="2192068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: Top Corners Rounded 89">
            <a:extLst>
              <a:ext uri="{FF2B5EF4-FFF2-40B4-BE49-F238E27FC236}">
                <a16:creationId xmlns:a16="http://schemas.microsoft.com/office/drawing/2014/main" id="{F5C7856F-C584-4295-992D-12D249FA2257}"/>
              </a:ext>
            </a:extLst>
          </p:cNvPr>
          <p:cNvSpPr/>
          <p:nvPr/>
        </p:nvSpPr>
        <p:spPr>
          <a:xfrm rot="10800000">
            <a:off x="4995686" y="3928989"/>
            <a:ext cx="2183563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: Top Corners Rounded 88">
            <a:extLst>
              <a:ext uri="{FF2B5EF4-FFF2-40B4-BE49-F238E27FC236}">
                <a16:creationId xmlns:a16="http://schemas.microsoft.com/office/drawing/2014/main" id="{4F98F4C8-B633-48E5-A5C5-86100929BCDA}"/>
              </a:ext>
            </a:extLst>
          </p:cNvPr>
          <p:cNvSpPr/>
          <p:nvPr/>
        </p:nvSpPr>
        <p:spPr>
          <a:xfrm rot="10800000">
            <a:off x="2751148" y="3928990"/>
            <a:ext cx="2169864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: Top Corners Rounded 87">
            <a:extLst>
              <a:ext uri="{FF2B5EF4-FFF2-40B4-BE49-F238E27FC236}">
                <a16:creationId xmlns:a16="http://schemas.microsoft.com/office/drawing/2014/main" id="{0B05C0D8-5F6D-491C-BCA7-0CB5B96A536A}"/>
              </a:ext>
            </a:extLst>
          </p:cNvPr>
          <p:cNvSpPr/>
          <p:nvPr/>
        </p:nvSpPr>
        <p:spPr>
          <a:xfrm rot="10800000">
            <a:off x="498903" y="3928990"/>
            <a:ext cx="2169864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2">
            <a:extLst>
              <a:ext uri="{FF2B5EF4-FFF2-40B4-BE49-F238E27FC236}">
                <a16:creationId xmlns:a16="http://schemas.microsoft.com/office/drawing/2014/main" id="{422A4B4F-8675-4C31-AEED-D4D65E84EE79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Обзор процесса аудита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5D86269C-12AC-42AF-B47D-E9F3F2D9681A}"/>
              </a:ext>
            </a:extLst>
          </p:cNvPr>
          <p:cNvSpPr txBox="1"/>
          <p:nvPr/>
        </p:nvSpPr>
        <p:spPr>
          <a:xfrm>
            <a:off x="590444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Старт</a:t>
            </a:r>
          </a:p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проекта</a:t>
            </a:r>
            <a:endParaRPr lang="ko-KR" altLang="en-US" sz="120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0E474253-3408-4F46-B9A9-38BA06E1F04B}"/>
              </a:ext>
            </a:extLst>
          </p:cNvPr>
          <p:cNvSpPr txBox="1"/>
          <p:nvPr/>
        </p:nvSpPr>
        <p:spPr>
          <a:xfrm>
            <a:off x="590444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1</a:t>
            </a:r>
            <a:endParaRPr lang="ko-KR" altLang="en-US" sz="1200" b="1" dirty="0">
              <a:solidFill>
                <a:srgbClr val="7D70EF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701CB514-C64C-49A0-B2EB-1E553288E7CD}"/>
              </a:ext>
            </a:extLst>
          </p:cNvPr>
          <p:cNvSpPr txBox="1"/>
          <p:nvPr/>
        </p:nvSpPr>
        <p:spPr>
          <a:xfrm>
            <a:off x="1708441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&lt;1 недели</a:t>
            </a:r>
            <a:endParaRPr lang="ko-KR" altLang="en-US" sz="1050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Rectangle: Rounded Corners 19">
            <a:extLst>
              <a:ext uri="{FF2B5EF4-FFF2-40B4-BE49-F238E27FC236}">
                <a16:creationId xmlns:a16="http://schemas.microsoft.com/office/drawing/2014/main" id="{E850ED27-A26F-4E8E-AAA2-DD5FCD3B015D}"/>
              </a:ext>
            </a:extLst>
          </p:cNvPr>
          <p:cNvSpPr/>
          <p:nvPr/>
        </p:nvSpPr>
        <p:spPr bwMode="auto">
          <a:xfrm>
            <a:off x="501535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30" name="TextBox 60">
            <a:extLst>
              <a:ext uri="{FF2B5EF4-FFF2-40B4-BE49-F238E27FC236}">
                <a16:creationId xmlns:a16="http://schemas.microsoft.com/office/drawing/2014/main" id="{ED2DB692-32A1-45A2-AFBB-E8F71B805D3D}"/>
              </a:ext>
            </a:extLst>
          </p:cNvPr>
          <p:cNvSpPr txBox="1"/>
          <p:nvPr/>
        </p:nvSpPr>
        <p:spPr>
          <a:xfrm>
            <a:off x="590444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F58E240E-A641-41C0-8280-F9193DE67A9A}"/>
              </a:ext>
            </a:extLst>
          </p:cNvPr>
          <p:cNvSpPr txBox="1"/>
          <p:nvPr/>
        </p:nvSpPr>
        <p:spPr>
          <a:xfrm>
            <a:off x="9614998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Подготовка отчета</a:t>
            </a:r>
            <a:endParaRPr lang="ko-KR" altLang="en-US" sz="120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0CAAF6D5-329B-4FBC-A56A-175B8C301FA2}"/>
              </a:ext>
            </a:extLst>
          </p:cNvPr>
          <p:cNvSpPr txBox="1"/>
          <p:nvPr/>
        </p:nvSpPr>
        <p:spPr>
          <a:xfrm>
            <a:off x="9614998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5</a:t>
            </a:r>
            <a:endParaRPr lang="ko-KR" altLang="en-US" sz="1200" b="1" dirty="0">
              <a:solidFill>
                <a:srgbClr val="8F0D6B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DFFBA93E-4964-484D-928D-806FB768DAE3}"/>
              </a:ext>
            </a:extLst>
          </p:cNvPr>
          <p:cNvSpPr txBox="1"/>
          <p:nvPr/>
        </p:nvSpPr>
        <p:spPr>
          <a:xfrm>
            <a:off x="10718335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 неделя</a:t>
            </a:r>
          </a:p>
        </p:txBody>
      </p:sp>
      <p:sp>
        <p:nvSpPr>
          <p:cNvPr id="34" name="Rectangle: Rounded Corners 21">
            <a:extLst>
              <a:ext uri="{FF2B5EF4-FFF2-40B4-BE49-F238E27FC236}">
                <a16:creationId xmlns:a16="http://schemas.microsoft.com/office/drawing/2014/main" id="{6203400E-BF0F-4741-96C8-97F49FDEDDA0}"/>
              </a:ext>
            </a:extLst>
          </p:cNvPr>
          <p:cNvSpPr/>
          <p:nvPr/>
        </p:nvSpPr>
        <p:spPr bwMode="auto">
          <a:xfrm>
            <a:off x="9511429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B7E5901E-B606-4895-A685-19EAF2783B19}"/>
              </a:ext>
            </a:extLst>
          </p:cNvPr>
          <p:cNvSpPr txBox="1"/>
          <p:nvPr/>
        </p:nvSpPr>
        <p:spPr>
          <a:xfrm>
            <a:off x="7367761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Верификация результата</a:t>
            </a:r>
            <a:endParaRPr lang="ko-KR" altLang="en-US" sz="120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D2E19A19-C242-45CB-9E4E-74C9136A1F5F}"/>
              </a:ext>
            </a:extLst>
          </p:cNvPr>
          <p:cNvSpPr txBox="1"/>
          <p:nvPr/>
        </p:nvSpPr>
        <p:spPr>
          <a:xfrm>
            <a:off x="7367761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4</a:t>
            </a:r>
            <a:endParaRPr lang="ko-KR" altLang="en-US" sz="1200" b="1" dirty="0">
              <a:solidFill>
                <a:srgbClr val="8F0D6B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2D0D4992-450E-49B9-AEBA-0FAD17CD3AA7}"/>
              </a:ext>
            </a:extLst>
          </p:cNvPr>
          <p:cNvSpPr txBox="1"/>
          <p:nvPr/>
        </p:nvSpPr>
        <p:spPr>
          <a:xfrm>
            <a:off x="8465861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 неделя</a:t>
            </a:r>
          </a:p>
        </p:txBody>
      </p:sp>
      <p:sp>
        <p:nvSpPr>
          <p:cNvPr id="38" name="Rectangle: Rounded Corners 29">
            <a:extLst>
              <a:ext uri="{FF2B5EF4-FFF2-40B4-BE49-F238E27FC236}">
                <a16:creationId xmlns:a16="http://schemas.microsoft.com/office/drawing/2014/main" id="{43FABB5C-F37F-4D3C-AD4E-87961E6CD330}"/>
              </a:ext>
            </a:extLst>
          </p:cNvPr>
          <p:cNvSpPr/>
          <p:nvPr/>
        </p:nvSpPr>
        <p:spPr bwMode="auto">
          <a:xfrm>
            <a:off x="7258955" y="1380576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E5F2DBB5-1D1C-44AD-B7D2-F4067BA2714C}"/>
              </a:ext>
            </a:extLst>
          </p:cNvPr>
          <p:cNvSpPr txBox="1"/>
          <p:nvPr/>
        </p:nvSpPr>
        <p:spPr>
          <a:xfrm>
            <a:off x="5112645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Проведение исследования</a:t>
            </a:r>
            <a:endParaRPr lang="ko-KR" altLang="en-US" sz="120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828FF52A-AB22-4BE6-8C6C-CDB299A847CA}"/>
              </a:ext>
            </a:extLst>
          </p:cNvPr>
          <p:cNvSpPr txBox="1"/>
          <p:nvPr/>
        </p:nvSpPr>
        <p:spPr>
          <a:xfrm>
            <a:off x="5112645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3</a:t>
            </a:r>
            <a:endParaRPr lang="ko-KR" altLang="en-US" sz="1200" b="1" dirty="0">
              <a:solidFill>
                <a:srgbClr val="7D70EF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1" name="TextBox 36">
            <a:extLst>
              <a:ext uri="{FF2B5EF4-FFF2-40B4-BE49-F238E27FC236}">
                <a16:creationId xmlns:a16="http://schemas.microsoft.com/office/drawing/2014/main" id="{803EA528-1036-4ABC-9E15-E96E641187E6}"/>
              </a:ext>
            </a:extLst>
          </p:cNvPr>
          <p:cNvSpPr txBox="1"/>
          <p:nvPr/>
        </p:nvSpPr>
        <p:spPr>
          <a:xfrm>
            <a:off x="6213387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1-2 недели</a:t>
            </a:r>
          </a:p>
        </p:txBody>
      </p:sp>
      <p:sp>
        <p:nvSpPr>
          <p:cNvPr id="42" name="Rectangle: Rounded Corners 37">
            <a:extLst>
              <a:ext uri="{FF2B5EF4-FFF2-40B4-BE49-F238E27FC236}">
                <a16:creationId xmlns:a16="http://schemas.microsoft.com/office/drawing/2014/main" id="{E5BA38F0-9338-415B-A2B6-F5BEEF539B8C}"/>
              </a:ext>
            </a:extLst>
          </p:cNvPr>
          <p:cNvSpPr/>
          <p:nvPr/>
        </p:nvSpPr>
        <p:spPr bwMode="auto">
          <a:xfrm>
            <a:off x="5006481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43" name="TextBox 38">
            <a:extLst>
              <a:ext uri="{FF2B5EF4-FFF2-40B4-BE49-F238E27FC236}">
                <a16:creationId xmlns:a16="http://schemas.microsoft.com/office/drawing/2014/main" id="{62C970C7-9A2D-4227-A36F-941D92A830B9}"/>
              </a:ext>
            </a:extLst>
          </p:cNvPr>
          <p:cNvSpPr txBox="1"/>
          <p:nvPr/>
        </p:nvSpPr>
        <p:spPr>
          <a:xfrm>
            <a:off x="2891040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Сбор информации</a:t>
            </a:r>
          </a:p>
        </p:txBody>
      </p:sp>
      <p:sp>
        <p:nvSpPr>
          <p:cNvPr id="44" name="TextBox 39">
            <a:extLst>
              <a:ext uri="{FF2B5EF4-FFF2-40B4-BE49-F238E27FC236}">
                <a16:creationId xmlns:a16="http://schemas.microsoft.com/office/drawing/2014/main" id="{28471AEA-5F7D-47D9-B7FD-86D4E06D21AD}"/>
              </a:ext>
            </a:extLst>
          </p:cNvPr>
          <p:cNvSpPr txBox="1"/>
          <p:nvPr/>
        </p:nvSpPr>
        <p:spPr>
          <a:xfrm>
            <a:off x="2891040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2</a:t>
            </a:r>
            <a:endParaRPr lang="ko-KR" altLang="en-US" sz="1200" b="1" dirty="0">
              <a:solidFill>
                <a:srgbClr val="7D70EF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5" name="TextBox 40">
            <a:extLst>
              <a:ext uri="{FF2B5EF4-FFF2-40B4-BE49-F238E27FC236}">
                <a16:creationId xmlns:a16="http://schemas.microsoft.com/office/drawing/2014/main" id="{0AE1464D-43D9-40BE-ADFB-9E8BC8F81033}"/>
              </a:ext>
            </a:extLst>
          </p:cNvPr>
          <p:cNvSpPr txBox="1"/>
          <p:nvPr/>
        </p:nvSpPr>
        <p:spPr>
          <a:xfrm>
            <a:off x="3878533" y="1511775"/>
            <a:ext cx="1045567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1,5-2 недели</a:t>
            </a:r>
          </a:p>
        </p:txBody>
      </p:sp>
      <p:sp>
        <p:nvSpPr>
          <p:cNvPr id="46" name="Rectangle: Rounded Corners 41">
            <a:extLst>
              <a:ext uri="{FF2B5EF4-FFF2-40B4-BE49-F238E27FC236}">
                <a16:creationId xmlns:a16="http://schemas.microsoft.com/office/drawing/2014/main" id="{A01C82CB-3A44-4C55-A721-75693725768A}"/>
              </a:ext>
            </a:extLst>
          </p:cNvPr>
          <p:cNvSpPr/>
          <p:nvPr/>
        </p:nvSpPr>
        <p:spPr bwMode="auto">
          <a:xfrm>
            <a:off x="2754008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47" name="TextBox 58">
            <a:extLst>
              <a:ext uri="{FF2B5EF4-FFF2-40B4-BE49-F238E27FC236}">
                <a16:creationId xmlns:a16="http://schemas.microsoft.com/office/drawing/2014/main" id="{A5E49B9F-DF4E-4F48-809E-FFBB6DFCCBC7}"/>
              </a:ext>
            </a:extLst>
          </p:cNvPr>
          <p:cNvSpPr txBox="1"/>
          <p:nvPr/>
        </p:nvSpPr>
        <p:spPr bwMode="auto">
          <a:xfrm>
            <a:off x="618606" y="2446893"/>
            <a:ext cx="1935949" cy="1015663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marR="0" lvl="0" indent="-171450" defTabSz="914377" fontAlgn="auto">
              <a:lnSpc>
                <a:spcPts val="1200"/>
              </a:lnSpc>
              <a:spcBef>
                <a:spcPts val="600"/>
              </a:spcBef>
              <a:buClrTx/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Установочная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встреча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defTabSz="914377" fontAlgn="auto">
              <a:lnSpc>
                <a:spcPts val="1200"/>
              </a:lnSpc>
              <a:spcBef>
                <a:spcPts val="600"/>
              </a:spcBef>
              <a:buClrTx/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Составление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расписания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defTabSz="914377" fontAlgn="auto">
              <a:lnSpc>
                <a:spcPts val="1200"/>
              </a:lnSpc>
              <a:spcBef>
                <a:spcPts val="600"/>
              </a:spcBef>
              <a:buClrTx/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апрос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доступов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артефактов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8" name="TextBox 61">
            <a:extLst>
              <a:ext uri="{FF2B5EF4-FFF2-40B4-BE49-F238E27FC236}">
                <a16:creationId xmlns:a16="http://schemas.microsoft.com/office/drawing/2014/main" id="{93E1A41F-055A-406F-AE7A-10FB2F7A084F}"/>
              </a:ext>
            </a:extLst>
          </p:cNvPr>
          <p:cNvSpPr txBox="1"/>
          <p:nvPr/>
        </p:nvSpPr>
        <p:spPr bwMode="auto">
          <a:xfrm>
            <a:off x="590444" y="4461260"/>
            <a:ext cx="1935949" cy="994055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Перечень работ (SOW)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Дорожная карта ассесмента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Список контактных лиц </a:t>
            </a:r>
          </a:p>
        </p:txBody>
      </p:sp>
      <p:sp>
        <p:nvSpPr>
          <p:cNvPr id="49" name="TextBox 64">
            <a:extLst>
              <a:ext uri="{FF2B5EF4-FFF2-40B4-BE49-F238E27FC236}">
                <a16:creationId xmlns:a16="http://schemas.microsoft.com/office/drawing/2014/main" id="{D4A794D7-24A0-4CEB-9B53-A110878DF935}"/>
              </a:ext>
            </a:extLst>
          </p:cNvPr>
          <p:cNvSpPr txBox="1"/>
          <p:nvPr/>
        </p:nvSpPr>
        <p:spPr bwMode="auto">
          <a:xfrm>
            <a:off x="2840996" y="2446893"/>
            <a:ext cx="1935953" cy="1092607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Сессии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вопросов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ответов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Выписки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о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дефектах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Техническое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ревью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Работа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в shadow</a:t>
            </a:r>
          </a:p>
        </p:txBody>
      </p:sp>
      <p:sp>
        <p:nvSpPr>
          <p:cNvPr id="50" name="TextBox 65">
            <a:extLst>
              <a:ext uri="{FF2B5EF4-FFF2-40B4-BE49-F238E27FC236}">
                <a16:creationId xmlns:a16="http://schemas.microsoft.com/office/drawing/2014/main" id="{9EAA813E-DE16-4EB6-82F1-287A3070F281}"/>
              </a:ext>
            </a:extLst>
          </p:cNvPr>
          <p:cNvSpPr txBox="1"/>
          <p:nvPr/>
        </p:nvSpPr>
        <p:spPr bwMode="auto">
          <a:xfrm>
            <a:off x="5112645" y="2446893"/>
            <a:ext cx="1935949" cy="1092607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Анализ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результатов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(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дефектов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артефактов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)</a:t>
            </a: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Еженедельные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деливери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/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аккаунт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менеджерами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1" name="TextBox 66">
            <a:extLst>
              <a:ext uri="{FF2B5EF4-FFF2-40B4-BE49-F238E27FC236}">
                <a16:creationId xmlns:a16="http://schemas.microsoft.com/office/drawing/2014/main" id="{826F5728-CDC3-406B-BC95-AFC11F39102B}"/>
              </a:ext>
            </a:extLst>
          </p:cNvPr>
          <p:cNvSpPr txBox="1"/>
          <p:nvPr/>
        </p:nvSpPr>
        <p:spPr bwMode="auto">
          <a:xfrm>
            <a:off x="7368962" y="2446893"/>
            <a:ext cx="1951280" cy="1169551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stakeholders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Дополнительные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точечные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ревью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Еженедельные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встречи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деливери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/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аккаунт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менеджерами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2" name="TextBox 67">
            <a:extLst>
              <a:ext uri="{FF2B5EF4-FFF2-40B4-BE49-F238E27FC236}">
                <a16:creationId xmlns:a16="http://schemas.microsoft.com/office/drawing/2014/main" id="{FFFE3A03-783F-4344-BEAC-F2C55A2DE154}"/>
              </a:ext>
            </a:extLst>
          </p:cNvPr>
          <p:cNvSpPr txBox="1"/>
          <p:nvPr/>
        </p:nvSpPr>
        <p:spPr bwMode="auto">
          <a:xfrm>
            <a:off x="9601013" y="2446893"/>
            <a:ext cx="1946646" cy="1169551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Подготовка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отч</a:t>
            </a: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та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Еженедельные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встречи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деливери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/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аккаунт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менеджерами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редварительная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демонстрация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заказчику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3" name="TextBox 68">
            <a:extLst>
              <a:ext uri="{FF2B5EF4-FFF2-40B4-BE49-F238E27FC236}">
                <a16:creationId xmlns:a16="http://schemas.microsoft.com/office/drawing/2014/main" id="{26175269-79D0-41C0-8278-D8EC293CDEA5}"/>
              </a:ext>
            </a:extLst>
          </p:cNvPr>
          <p:cNvSpPr txBox="1"/>
          <p:nvPr/>
        </p:nvSpPr>
        <p:spPr>
          <a:xfrm>
            <a:off x="2891040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4" name="TextBox 69">
            <a:extLst>
              <a:ext uri="{FF2B5EF4-FFF2-40B4-BE49-F238E27FC236}">
                <a16:creationId xmlns:a16="http://schemas.microsoft.com/office/drawing/2014/main" id="{9D4B8C9E-C737-4933-B861-3676BCA18C98}"/>
              </a:ext>
            </a:extLst>
          </p:cNvPr>
          <p:cNvSpPr txBox="1"/>
          <p:nvPr/>
        </p:nvSpPr>
        <p:spPr bwMode="auto">
          <a:xfrm>
            <a:off x="2891040" y="4461260"/>
            <a:ext cx="1935949" cy="532390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Опросник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Список  выводов </a:t>
            </a:r>
          </a:p>
        </p:txBody>
      </p:sp>
      <p:sp>
        <p:nvSpPr>
          <p:cNvPr id="55" name="TextBox 70">
            <a:extLst>
              <a:ext uri="{FF2B5EF4-FFF2-40B4-BE49-F238E27FC236}">
                <a16:creationId xmlns:a16="http://schemas.microsoft.com/office/drawing/2014/main" id="{733AF518-23E6-4927-8424-FBD259D8F766}"/>
              </a:ext>
            </a:extLst>
          </p:cNvPr>
          <p:cNvSpPr txBox="1"/>
          <p:nvPr/>
        </p:nvSpPr>
        <p:spPr>
          <a:xfrm>
            <a:off x="5166959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6" name="TextBox 71">
            <a:extLst>
              <a:ext uri="{FF2B5EF4-FFF2-40B4-BE49-F238E27FC236}">
                <a16:creationId xmlns:a16="http://schemas.microsoft.com/office/drawing/2014/main" id="{1C297564-3161-41AC-A9D7-087A2ECA113A}"/>
              </a:ext>
            </a:extLst>
          </p:cNvPr>
          <p:cNvSpPr txBox="1"/>
          <p:nvPr/>
        </p:nvSpPr>
        <p:spPr bwMode="auto">
          <a:xfrm>
            <a:off x="5166959" y="4461260"/>
            <a:ext cx="1935949" cy="577274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Начальные тестовая стратегия и тактические рекомендации</a:t>
            </a:r>
          </a:p>
        </p:txBody>
      </p:sp>
      <p:sp>
        <p:nvSpPr>
          <p:cNvPr id="57" name="TextBox 72">
            <a:extLst>
              <a:ext uri="{FF2B5EF4-FFF2-40B4-BE49-F238E27FC236}">
                <a16:creationId xmlns:a16="http://schemas.microsoft.com/office/drawing/2014/main" id="{C043B7CC-1786-421F-B43A-42802CE89CE7}"/>
              </a:ext>
            </a:extLst>
          </p:cNvPr>
          <p:cNvSpPr txBox="1"/>
          <p:nvPr/>
        </p:nvSpPr>
        <p:spPr>
          <a:xfrm>
            <a:off x="7413165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8" name="TextBox 73">
            <a:extLst>
              <a:ext uri="{FF2B5EF4-FFF2-40B4-BE49-F238E27FC236}">
                <a16:creationId xmlns:a16="http://schemas.microsoft.com/office/drawing/2014/main" id="{7E7CC9E3-38A8-4DDF-8BD5-6F406B48EAC9}"/>
              </a:ext>
            </a:extLst>
          </p:cNvPr>
          <p:cNvSpPr txBox="1"/>
          <p:nvPr/>
        </p:nvSpPr>
        <p:spPr bwMode="auto">
          <a:xfrm>
            <a:off x="7413165" y="4461260"/>
            <a:ext cx="1935949" cy="1026115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Уточненный список выводов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Тестовая стратегия и тактические рекомендации </a:t>
            </a:r>
          </a:p>
        </p:txBody>
      </p:sp>
      <p:sp>
        <p:nvSpPr>
          <p:cNvPr id="59" name="TextBox 74">
            <a:extLst>
              <a:ext uri="{FF2B5EF4-FFF2-40B4-BE49-F238E27FC236}">
                <a16:creationId xmlns:a16="http://schemas.microsoft.com/office/drawing/2014/main" id="{E686E557-E575-4183-9E5B-2358F73058FC}"/>
              </a:ext>
            </a:extLst>
          </p:cNvPr>
          <p:cNvSpPr txBox="1"/>
          <p:nvPr/>
        </p:nvSpPr>
        <p:spPr>
          <a:xfrm>
            <a:off x="9614998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0" name="TextBox 75">
            <a:extLst>
              <a:ext uri="{FF2B5EF4-FFF2-40B4-BE49-F238E27FC236}">
                <a16:creationId xmlns:a16="http://schemas.microsoft.com/office/drawing/2014/main" id="{0F6709C7-6B36-4097-98E1-240F25C48D71}"/>
              </a:ext>
            </a:extLst>
          </p:cNvPr>
          <p:cNvSpPr txBox="1"/>
          <p:nvPr/>
        </p:nvSpPr>
        <p:spPr bwMode="auto">
          <a:xfrm>
            <a:off x="9614998" y="4461260"/>
            <a:ext cx="1935949" cy="532390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Итоговый отчет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Summary deck</a:t>
            </a:r>
          </a:p>
        </p:txBody>
      </p:sp>
      <p:sp>
        <p:nvSpPr>
          <p:cNvPr id="61" name="Rectangle 1702">
            <a:extLst>
              <a:ext uri="{FF2B5EF4-FFF2-40B4-BE49-F238E27FC236}">
                <a16:creationId xmlns:a16="http://schemas.microsoft.com/office/drawing/2014/main" id="{4C3ADBC8-3CB8-48D2-B5F6-09B139AEC5F7}"/>
              </a:ext>
            </a:extLst>
          </p:cNvPr>
          <p:cNvSpPr/>
          <p:nvPr/>
        </p:nvSpPr>
        <p:spPr>
          <a:xfrm>
            <a:off x="605708" y="1099952"/>
            <a:ext cx="10980000" cy="3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cxnSp>
        <p:nvCxnSpPr>
          <p:cNvPr id="62" name="Straight Connector 1703">
            <a:extLst>
              <a:ext uri="{FF2B5EF4-FFF2-40B4-BE49-F238E27FC236}">
                <a16:creationId xmlns:a16="http://schemas.microsoft.com/office/drawing/2014/main" id="{14590FC0-E96B-4FAC-AFEA-DD7782195A1C}"/>
              </a:ext>
            </a:extLst>
          </p:cNvPr>
          <p:cNvCxnSpPr>
            <a:cxnSpLocks/>
          </p:cNvCxnSpPr>
          <p:nvPr/>
        </p:nvCxnSpPr>
        <p:spPr>
          <a:xfrm flipH="1" flipV="1">
            <a:off x="3802268" y="1207067"/>
            <a:ext cx="0" cy="180000"/>
          </a:xfrm>
          <a:prstGeom prst="line">
            <a:avLst/>
          </a:prstGeom>
          <a:ln w="31750">
            <a:solidFill>
              <a:srgbClr val="7D70EF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3" name="Straight Connector 1704">
            <a:extLst>
              <a:ext uri="{FF2B5EF4-FFF2-40B4-BE49-F238E27FC236}">
                <a16:creationId xmlns:a16="http://schemas.microsoft.com/office/drawing/2014/main" id="{EB1A833B-58BE-4D4D-BD27-2E8A909704B7}"/>
              </a:ext>
            </a:extLst>
          </p:cNvPr>
          <p:cNvCxnSpPr>
            <a:cxnSpLocks/>
          </p:cNvCxnSpPr>
          <p:nvPr/>
        </p:nvCxnSpPr>
        <p:spPr>
          <a:xfrm flipV="1">
            <a:off x="6049764" y="1227610"/>
            <a:ext cx="0" cy="180000"/>
          </a:xfrm>
          <a:prstGeom prst="line">
            <a:avLst/>
          </a:prstGeom>
          <a:ln w="31750">
            <a:solidFill>
              <a:srgbClr val="7D70EF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4" name="Straight Connector 1705">
            <a:extLst>
              <a:ext uri="{FF2B5EF4-FFF2-40B4-BE49-F238E27FC236}">
                <a16:creationId xmlns:a16="http://schemas.microsoft.com/office/drawing/2014/main" id="{D6387443-82AD-4D40-AC56-3A47C2C908FE}"/>
              </a:ext>
            </a:extLst>
          </p:cNvPr>
          <p:cNvCxnSpPr>
            <a:cxnSpLocks/>
          </p:cNvCxnSpPr>
          <p:nvPr/>
        </p:nvCxnSpPr>
        <p:spPr>
          <a:xfrm flipV="1">
            <a:off x="8333080" y="1195868"/>
            <a:ext cx="0" cy="180000"/>
          </a:xfrm>
          <a:prstGeom prst="line">
            <a:avLst/>
          </a:prstGeom>
          <a:ln w="31750">
            <a:solidFill>
              <a:srgbClr val="8F0D6B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5" name="Straight Connector 1706">
            <a:extLst>
              <a:ext uri="{FF2B5EF4-FFF2-40B4-BE49-F238E27FC236}">
                <a16:creationId xmlns:a16="http://schemas.microsoft.com/office/drawing/2014/main" id="{2EFD8040-12B7-40C9-9445-7CE92B05D155}"/>
              </a:ext>
            </a:extLst>
          </p:cNvPr>
          <p:cNvCxnSpPr>
            <a:cxnSpLocks/>
          </p:cNvCxnSpPr>
          <p:nvPr/>
        </p:nvCxnSpPr>
        <p:spPr>
          <a:xfrm flipV="1">
            <a:off x="10596045" y="1227421"/>
            <a:ext cx="1" cy="180000"/>
          </a:xfrm>
          <a:prstGeom prst="line">
            <a:avLst/>
          </a:prstGeom>
          <a:ln w="31750">
            <a:solidFill>
              <a:srgbClr val="8F0D6B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6" name="Straight Connector 1707">
            <a:extLst>
              <a:ext uri="{FF2B5EF4-FFF2-40B4-BE49-F238E27FC236}">
                <a16:creationId xmlns:a16="http://schemas.microsoft.com/office/drawing/2014/main" id="{104F86E1-AA2F-4352-8708-FDEA978D06CC}"/>
              </a:ext>
            </a:extLst>
          </p:cNvPr>
          <p:cNvCxnSpPr>
            <a:cxnSpLocks/>
          </p:cNvCxnSpPr>
          <p:nvPr/>
        </p:nvCxnSpPr>
        <p:spPr>
          <a:xfrm flipV="1">
            <a:off x="1589485" y="1195867"/>
            <a:ext cx="0" cy="180000"/>
          </a:xfrm>
          <a:prstGeom prst="line">
            <a:avLst/>
          </a:prstGeom>
          <a:ln w="31750">
            <a:solidFill>
              <a:srgbClr val="7D70EF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67" name="Oval 1708">
            <a:extLst>
              <a:ext uri="{FF2B5EF4-FFF2-40B4-BE49-F238E27FC236}">
                <a16:creationId xmlns:a16="http://schemas.microsoft.com/office/drawing/2014/main" id="{7FD00CF5-439C-4372-BB09-3392AE92B6D7}"/>
              </a:ext>
            </a:extLst>
          </p:cNvPr>
          <p:cNvSpPr>
            <a:spLocks noChangeAspect="1"/>
          </p:cNvSpPr>
          <p:nvPr/>
        </p:nvSpPr>
        <p:spPr>
          <a:xfrm>
            <a:off x="1475184" y="999728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8" name="Oval 1709">
            <a:extLst>
              <a:ext uri="{FF2B5EF4-FFF2-40B4-BE49-F238E27FC236}">
                <a16:creationId xmlns:a16="http://schemas.microsoft.com/office/drawing/2014/main" id="{ED6BE827-39E3-4225-B5D1-6F764E3A1811}"/>
              </a:ext>
            </a:extLst>
          </p:cNvPr>
          <p:cNvSpPr>
            <a:spLocks noChangeAspect="1"/>
          </p:cNvSpPr>
          <p:nvPr/>
        </p:nvSpPr>
        <p:spPr>
          <a:xfrm flipH="1">
            <a:off x="10476640" y="999369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9" name="Oval 1710">
            <a:extLst>
              <a:ext uri="{FF2B5EF4-FFF2-40B4-BE49-F238E27FC236}">
                <a16:creationId xmlns:a16="http://schemas.microsoft.com/office/drawing/2014/main" id="{8D70EBBD-F9B2-4726-A6E8-D6E85D50C016}"/>
              </a:ext>
            </a:extLst>
          </p:cNvPr>
          <p:cNvSpPr>
            <a:spLocks noChangeAspect="1"/>
          </p:cNvSpPr>
          <p:nvPr/>
        </p:nvSpPr>
        <p:spPr>
          <a:xfrm flipH="1">
            <a:off x="8215451" y="999728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0" name="Oval 1711">
            <a:extLst>
              <a:ext uri="{FF2B5EF4-FFF2-40B4-BE49-F238E27FC236}">
                <a16:creationId xmlns:a16="http://schemas.microsoft.com/office/drawing/2014/main" id="{937A0921-C15A-4C5D-AD4D-782ED7FE0CCE}"/>
              </a:ext>
            </a:extLst>
          </p:cNvPr>
          <p:cNvSpPr>
            <a:spLocks noChangeAspect="1"/>
          </p:cNvSpPr>
          <p:nvPr/>
        </p:nvSpPr>
        <p:spPr>
          <a:xfrm flipH="1">
            <a:off x="5942687" y="999728"/>
            <a:ext cx="228600" cy="228600"/>
          </a:xfrm>
          <a:prstGeom prst="ellipse">
            <a:avLst/>
          </a:prstGeom>
          <a:solidFill>
            <a:srgbClr val="ACC4FE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1" name="Oval 1712">
            <a:extLst>
              <a:ext uri="{FF2B5EF4-FFF2-40B4-BE49-F238E27FC236}">
                <a16:creationId xmlns:a16="http://schemas.microsoft.com/office/drawing/2014/main" id="{2922D11A-BBB3-4FFD-8C4F-9840CE43EA4A}"/>
              </a:ext>
            </a:extLst>
          </p:cNvPr>
          <p:cNvSpPr>
            <a:spLocks noChangeAspect="1"/>
          </p:cNvSpPr>
          <p:nvPr/>
        </p:nvSpPr>
        <p:spPr>
          <a:xfrm flipH="1">
            <a:off x="3678815" y="999728"/>
            <a:ext cx="228600" cy="228600"/>
          </a:xfrm>
          <a:prstGeom prst="ellipse">
            <a:avLst/>
          </a:prstGeom>
          <a:solidFill>
            <a:srgbClr val="DDB6D3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Разработка </a:t>
            </a:r>
          </a:p>
          <a:p>
            <a:r>
              <a:rPr lang="ru-RU"/>
              <a:t>стратегии тестирования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D36B44E7-43C8-4670-8252-713C51DC5769}"/>
              </a:ext>
            </a:extLst>
          </p:cNvPr>
          <p:cNvSpPr/>
          <p:nvPr userDrawn="1"/>
        </p:nvSpPr>
        <p:spPr>
          <a:xfrm rot="16200000">
            <a:off x="6571920" y="1170000"/>
            <a:ext cx="6858000" cy="45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1" name="Рисунок 17">
            <a:extLst>
              <a:ext uri="{FF2B5EF4-FFF2-40B4-BE49-F238E27FC236}">
                <a16:creationId xmlns:a16="http://schemas.microsoft.com/office/drawing/2014/main" id="{366DAFCF-A079-304B-BAC4-EBD313905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5569" y="887759"/>
            <a:ext cx="8703160" cy="5109982"/>
          </a:xfrm>
          <a:prstGeom prst="rect">
            <a:avLst/>
          </a:prstGeom>
          <a:effectLst>
            <a:outerShdw blurRad="646912" dist="269972" dir="5400000" sx="98000" sy="98000" algn="ctr" rotWithShape="0">
              <a:srgbClr val="000000">
                <a:alpha val="30000"/>
              </a:srgbClr>
            </a:outerShdw>
          </a:effectLst>
        </p:spPr>
      </p:pic>
      <p:sp>
        <p:nvSpPr>
          <p:cNvPr id="22" name="Title 8">
            <a:extLst>
              <a:ext uri="{FF2B5EF4-FFF2-40B4-BE49-F238E27FC236}">
                <a16:creationId xmlns:a16="http://schemas.microsoft.com/office/drawing/2014/main" id="{533995B3-8C92-C752-D804-E15104456BC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Тестовая стратегия в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Agile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9BEA4420-372D-44FB-8528-BEFC6723842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E3539180-5C11-4F3C-98A2-E4C6A6578B4F}"/>
              </a:ext>
            </a:extLst>
          </p:cNvPr>
          <p:cNvSpPr>
            <a:spLocks noGrp="1"/>
          </p:cNvSpPr>
          <p:nvPr/>
        </p:nvSpPr>
        <p:spPr>
          <a:xfrm>
            <a:off x="515939" y="1485022"/>
            <a:ext cx="4984529" cy="4715753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7F456482-5E66-455E-B214-D67DD11D2AB9}"/>
              </a:ext>
            </a:extLst>
          </p:cNvPr>
          <p:cNvSpPr>
            <a:spLocks noGrp="1"/>
          </p:cNvSpPr>
          <p:nvPr/>
        </p:nvSpPr>
        <p:spPr>
          <a:xfrm>
            <a:off x="6765999" y="1263743"/>
            <a:ext cx="6542299" cy="4151312"/>
          </a:xfrm>
        </p:spPr>
      </p:sp>
      <p:pic>
        <p:nvPicPr>
          <p:cNvPr id="26" name="Picture Placeholder 1291330628">
            <a:extLst>
              <a:ext uri="{FF2B5EF4-FFF2-40B4-BE49-F238E27FC236}">
                <a16:creationId xmlns:a16="http://schemas.microsoft.com/office/drawing/2014/main" id="{05CCCC96-0325-A578-DB1B-CCFB1687F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" t="831" r="2769" b="-1"/>
          <a:stretch/>
        </p:blipFill>
        <p:spPr bwMode="auto">
          <a:xfrm>
            <a:off x="6759018" y="2108863"/>
            <a:ext cx="4584581" cy="2640273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7" name="Rectangle 22">
            <a:extLst>
              <a:ext uri="{FF2B5EF4-FFF2-40B4-BE49-F238E27FC236}">
                <a16:creationId xmlns:a16="http://schemas.microsoft.com/office/drawing/2014/main" id="{33CEB426-D3BC-267E-E572-1C2259D6BC99}"/>
              </a:ext>
            </a:extLst>
          </p:cNvPr>
          <p:cNvSpPr/>
          <p:nvPr/>
        </p:nvSpPr>
        <p:spPr>
          <a:xfrm>
            <a:off x="6759018" y="1204653"/>
            <a:ext cx="6617617" cy="4178199"/>
          </a:xfrm>
          <a:prstGeom prst="rect">
            <a:avLst/>
          </a:prstGeom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000000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Placeholder 1291330628">
            <a:extLst>
              <a:ext uri="{FF2B5EF4-FFF2-40B4-BE49-F238E27FC236}">
                <a16:creationId xmlns:a16="http://schemas.microsoft.com/office/drawing/2014/main" id="{72494144-05D4-F809-3780-C16AF646C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" t="831" r="2769" b="-1"/>
          <a:stretch/>
        </p:blipFill>
        <p:spPr bwMode="auto">
          <a:xfrm>
            <a:off x="6981782" y="1779604"/>
            <a:ext cx="5302396" cy="296953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9" name="Rectangle 23">
            <a:extLst>
              <a:ext uri="{FF2B5EF4-FFF2-40B4-BE49-F238E27FC236}">
                <a16:creationId xmlns:a16="http://schemas.microsoft.com/office/drawing/2014/main" id="{12432CE1-F886-00DC-FC8C-0922F9E7E45B}"/>
              </a:ext>
            </a:extLst>
          </p:cNvPr>
          <p:cNvSpPr/>
          <p:nvPr/>
        </p:nvSpPr>
        <p:spPr>
          <a:xfrm>
            <a:off x="585661" y="1079670"/>
            <a:ext cx="4984531" cy="1596506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03F49E80-1160-911C-1B93-5A70878EC465}"/>
              </a:ext>
            </a:extLst>
          </p:cNvPr>
          <p:cNvSpPr txBox="1"/>
          <p:nvPr/>
        </p:nvSpPr>
        <p:spPr>
          <a:xfrm>
            <a:off x="814122" y="1204653"/>
            <a:ext cx="31432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564"/>
              </a:spcBef>
              <a:buFont typeface="Stape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+mn-lt"/>
              </a:rPr>
              <a:t>Большой и скучный документ</a:t>
            </a:r>
          </a:p>
          <a:p>
            <a:pPr marL="285750" indent="-285750">
              <a:spcBef>
                <a:spcPts val="564"/>
              </a:spcBef>
              <a:buFont typeface="Stape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+mn-lt"/>
              </a:rPr>
              <a:t>Документ, который пишут один раз, а потом про него забывают</a:t>
            </a:r>
          </a:p>
          <a:p>
            <a:pPr marL="285750" indent="-285750">
              <a:spcBef>
                <a:spcPts val="564"/>
              </a:spcBef>
              <a:buFont typeface="Stape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+mn-lt"/>
              </a:rPr>
              <a:t>Что-то такое согласовывали на старте проекта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911E67D5-E1BE-627B-6399-4C7204477611}"/>
              </a:ext>
            </a:extLst>
          </p:cNvPr>
          <p:cNvSpPr/>
          <p:nvPr/>
        </p:nvSpPr>
        <p:spPr>
          <a:xfrm>
            <a:off x="585661" y="3204594"/>
            <a:ext cx="4984531" cy="2507389"/>
          </a:xfrm>
          <a:prstGeom prst="rect">
            <a:avLst/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9DD0170A-9DAE-E5C8-BCE3-FE9CECE080AC}"/>
              </a:ext>
            </a:extLst>
          </p:cNvPr>
          <p:cNvSpPr txBox="1"/>
          <p:nvPr/>
        </p:nvSpPr>
        <p:spPr>
          <a:xfrm>
            <a:off x="814122" y="3465708"/>
            <a:ext cx="314325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552"/>
              </a:spcBef>
              <a:buFont typeface="Stapel" panose="020B0604020202020204" pitchFamily="34" charset="0"/>
              <a:buChar char="•"/>
            </a:pPr>
            <a:r>
              <a:rPr lang="ru-RU" sz="1250" dirty="0">
                <a:solidFill>
                  <a:srgbClr val="FFFFFF"/>
                </a:solidFill>
                <a:latin typeface="+mn-lt"/>
              </a:rPr>
              <a:t>Живой и актуальный документ</a:t>
            </a:r>
          </a:p>
          <a:p>
            <a:pPr marL="285750" indent="-285750">
              <a:spcBef>
                <a:spcPts val="552"/>
              </a:spcBef>
              <a:buFont typeface="Stapel" panose="020B0604020202020204" pitchFamily="34" charset="0"/>
              <a:buChar char="•"/>
            </a:pPr>
            <a:r>
              <a:rPr lang="ru-RU" sz="1250" dirty="0">
                <a:solidFill>
                  <a:srgbClr val="FFFFFF"/>
                </a:solidFill>
                <a:latin typeface="+mn-lt"/>
              </a:rPr>
              <a:t>Странички на КВ</a:t>
            </a:r>
          </a:p>
          <a:p>
            <a:pPr marL="285750" indent="-285750">
              <a:spcBef>
                <a:spcPts val="552"/>
              </a:spcBef>
              <a:buFont typeface="Stapel" panose="020B0604020202020204" pitchFamily="34" charset="0"/>
              <a:buChar char="•"/>
            </a:pPr>
            <a:r>
              <a:rPr lang="ru-RU" sz="1250" dirty="0">
                <a:solidFill>
                  <a:srgbClr val="FFFFFF"/>
                </a:solidFill>
                <a:latin typeface="+mn-lt"/>
              </a:rPr>
              <a:t>Мост между заказчиком</a:t>
            </a:r>
            <a:r>
              <a:rPr lang="en-US" sz="1250" dirty="0">
                <a:solidFill>
                  <a:srgbClr val="FFFFFF"/>
                </a:solidFill>
                <a:latin typeface="+mn-lt"/>
              </a:rPr>
              <a:t> </a:t>
            </a:r>
            <a:r>
              <a:rPr lang="ru-RU" sz="1250" dirty="0">
                <a:solidFill>
                  <a:srgbClr val="FFFFFF"/>
                </a:solidFill>
                <a:latin typeface="+mn-lt"/>
              </a:rPr>
              <a:t>и нами</a:t>
            </a:r>
          </a:p>
          <a:p>
            <a:pPr marL="285750" indent="-285750">
              <a:spcBef>
                <a:spcPts val="552"/>
              </a:spcBef>
              <a:buFont typeface="Stapel" panose="020B0604020202020204" pitchFamily="34" charset="0"/>
              <a:buChar char="•"/>
            </a:pPr>
            <a:r>
              <a:rPr lang="ru-RU" sz="1250" dirty="0">
                <a:solidFill>
                  <a:srgbClr val="FFFFFF"/>
                </a:solidFill>
                <a:latin typeface="+mn-lt"/>
              </a:rPr>
              <a:t>Общий язык общения заказчика с нами</a:t>
            </a:r>
          </a:p>
          <a:p>
            <a:pPr marL="285750" indent="-285750">
              <a:spcBef>
                <a:spcPts val="552"/>
              </a:spcBef>
              <a:buFont typeface="Stapel" panose="020B0604020202020204" pitchFamily="34" charset="0"/>
              <a:buChar char="•"/>
            </a:pPr>
            <a:r>
              <a:rPr lang="ru-RU" sz="1250" dirty="0">
                <a:solidFill>
                  <a:srgbClr val="FFFFFF"/>
                </a:solidFill>
                <a:latin typeface="+mn-lt"/>
              </a:rPr>
              <a:t>Инструкция по передаче знаний</a:t>
            </a:r>
          </a:p>
          <a:p>
            <a:pPr marL="285750" indent="-285750">
              <a:spcBef>
                <a:spcPts val="552"/>
              </a:spcBef>
              <a:buFont typeface="Stapel" panose="020B0604020202020204" pitchFamily="34" charset="0"/>
              <a:buChar char="•"/>
            </a:pPr>
            <a:r>
              <a:rPr lang="ru-RU" sz="1250" dirty="0">
                <a:solidFill>
                  <a:srgbClr val="FFFFFF"/>
                </a:solidFill>
                <a:latin typeface="+mn-lt"/>
              </a:rPr>
              <a:t>Актуальная справочная база</a:t>
            </a:r>
          </a:p>
        </p:txBody>
      </p:sp>
      <p:cxnSp>
        <p:nvCxnSpPr>
          <p:cNvPr id="33" name="Straight Arrow Connector 27">
            <a:extLst>
              <a:ext uri="{FF2B5EF4-FFF2-40B4-BE49-F238E27FC236}">
                <a16:creationId xmlns:a16="http://schemas.microsoft.com/office/drawing/2014/main" id="{1858D9CE-188E-421D-28F9-BD42F6DBC22D}"/>
              </a:ext>
            </a:extLst>
          </p:cNvPr>
          <p:cNvCxnSpPr/>
          <p:nvPr/>
        </p:nvCxnSpPr>
        <p:spPr>
          <a:xfrm>
            <a:off x="1817676" y="2732665"/>
            <a:ext cx="0" cy="454121"/>
          </a:xfrm>
          <a:prstGeom prst="straightConnector1">
            <a:avLst/>
          </a:prstGeom>
          <a:ln w="635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34" name="Straight Arrow Connector 28">
            <a:extLst>
              <a:ext uri="{FF2B5EF4-FFF2-40B4-BE49-F238E27FC236}">
                <a16:creationId xmlns:a16="http://schemas.microsoft.com/office/drawing/2014/main" id="{3A4DB0FA-23EB-E8F9-CF33-6A0AC54B0012}"/>
              </a:ext>
            </a:extLst>
          </p:cNvPr>
          <p:cNvCxnSpPr/>
          <p:nvPr/>
        </p:nvCxnSpPr>
        <p:spPr>
          <a:xfrm>
            <a:off x="2803704" y="2732665"/>
            <a:ext cx="0" cy="454121"/>
          </a:xfrm>
          <a:prstGeom prst="straightConnector1">
            <a:avLst/>
          </a:prstGeom>
          <a:ln w="635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35" name="Straight Arrow Connector 29">
            <a:extLst>
              <a:ext uri="{FF2B5EF4-FFF2-40B4-BE49-F238E27FC236}">
                <a16:creationId xmlns:a16="http://schemas.microsoft.com/office/drawing/2014/main" id="{F1C60794-5341-9420-3BE3-262B4132E435}"/>
              </a:ext>
            </a:extLst>
          </p:cNvPr>
          <p:cNvCxnSpPr/>
          <p:nvPr/>
        </p:nvCxnSpPr>
        <p:spPr>
          <a:xfrm>
            <a:off x="3789732" y="2729702"/>
            <a:ext cx="0" cy="454121"/>
          </a:xfrm>
          <a:prstGeom prst="straightConnector1">
            <a:avLst/>
          </a:prstGeom>
          <a:ln w="635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grpSp>
        <p:nvGrpSpPr>
          <p:cNvPr id="36" name="Group 30">
            <a:extLst>
              <a:ext uri="{FF2B5EF4-FFF2-40B4-BE49-F238E27FC236}">
                <a16:creationId xmlns:a16="http://schemas.microsoft.com/office/drawing/2014/main" id="{C1E135B0-6328-BBB9-9EFF-964AE23FCC0A}"/>
              </a:ext>
            </a:extLst>
          </p:cNvPr>
          <p:cNvGrpSpPr>
            <a:grpSpLocks noChangeAspect="1"/>
          </p:cNvGrpSpPr>
          <p:nvPr/>
        </p:nvGrpSpPr>
        <p:grpSpPr>
          <a:xfrm>
            <a:off x="4314890" y="3969636"/>
            <a:ext cx="780037" cy="693995"/>
            <a:chOff x="8356641" y="4727916"/>
            <a:chExt cx="943845" cy="839733"/>
          </a:xfrm>
          <a:solidFill>
            <a:srgbClr val="FFFFFF"/>
          </a:solidFill>
        </p:grpSpPr>
        <p:grpSp>
          <p:nvGrpSpPr>
            <p:cNvPr id="37" name="Рисунок 14">
              <a:extLst>
                <a:ext uri="{FF2B5EF4-FFF2-40B4-BE49-F238E27FC236}">
                  <a16:creationId xmlns:a16="http://schemas.microsoft.com/office/drawing/2014/main" id="{BF1AECF2-F666-A924-01E2-67A30C2106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56641" y="4727916"/>
              <a:ext cx="943845" cy="834266"/>
              <a:chOff x="8356641" y="4727916"/>
              <a:chExt cx="943845" cy="834266"/>
            </a:xfrm>
            <a:grpFill/>
          </p:grpSpPr>
          <p:grpSp>
            <p:nvGrpSpPr>
              <p:cNvPr id="38" name="Рисунок 14">
                <a:extLst>
                  <a:ext uri="{FF2B5EF4-FFF2-40B4-BE49-F238E27FC236}">
                    <a16:creationId xmlns:a16="http://schemas.microsoft.com/office/drawing/2014/main" id="{E483441B-B7AA-6C9B-8798-D6B9FB9472F2}"/>
                  </a:ext>
                </a:extLst>
              </p:cNvPr>
              <p:cNvGrpSpPr/>
              <p:nvPr/>
            </p:nvGrpSpPr>
            <p:grpSpPr>
              <a:xfrm>
                <a:off x="8356641" y="4784623"/>
                <a:ext cx="623963" cy="777559"/>
                <a:chOff x="8356641" y="4784623"/>
                <a:chExt cx="623963" cy="777559"/>
              </a:xfrm>
              <a:grpFill/>
            </p:grpSpPr>
            <p:sp>
              <p:nvSpPr>
                <p:cNvPr id="39" name="Полилиния: фигура 133">
                  <a:extLst>
                    <a:ext uri="{FF2B5EF4-FFF2-40B4-BE49-F238E27FC236}">
                      <a16:creationId xmlns:a16="http://schemas.microsoft.com/office/drawing/2014/main" id="{6568EAE2-B5A9-BE56-6705-B4138F923C54}"/>
                    </a:ext>
                  </a:extLst>
                </p:cNvPr>
                <p:cNvSpPr/>
                <p:nvPr/>
              </p:nvSpPr>
              <p:spPr>
                <a:xfrm>
                  <a:off x="8356641" y="4818414"/>
                  <a:ext cx="433049" cy="612534"/>
                </a:xfrm>
                <a:custGeom>
                  <a:avLst/>
                  <a:gdLst>
                    <a:gd name="connsiteX0" fmla="*/ 28413 w 433049"/>
                    <a:gd name="connsiteY0" fmla="*/ 612534 h 612534"/>
                    <a:gd name="connsiteX1" fmla="*/ 1073 w 433049"/>
                    <a:gd name="connsiteY1" fmla="*/ 484035 h 612534"/>
                    <a:gd name="connsiteX2" fmla="*/ 22945 w 433049"/>
                    <a:gd name="connsiteY2" fmla="*/ 402014 h 612534"/>
                    <a:gd name="connsiteX3" fmla="*/ 28413 w 433049"/>
                    <a:gd name="connsiteY3" fmla="*/ 388344 h 612534"/>
                    <a:gd name="connsiteX4" fmla="*/ 44817 w 433049"/>
                    <a:gd name="connsiteY4" fmla="*/ 339131 h 612534"/>
                    <a:gd name="connsiteX5" fmla="*/ 104966 w 433049"/>
                    <a:gd name="connsiteY5" fmla="*/ 136813 h 612534"/>
                    <a:gd name="connsiteX6" fmla="*/ 121370 w 433049"/>
                    <a:gd name="connsiteY6" fmla="*/ 128610 h 612534"/>
                    <a:gd name="connsiteX7" fmla="*/ 126838 w 433049"/>
                    <a:gd name="connsiteY7" fmla="*/ 128610 h 612534"/>
                    <a:gd name="connsiteX8" fmla="*/ 178785 w 433049"/>
                    <a:gd name="connsiteY8" fmla="*/ 150483 h 612534"/>
                    <a:gd name="connsiteX9" fmla="*/ 197923 w 433049"/>
                    <a:gd name="connsiteY9" fmla="*/ 218834 h 612534"/>
                    <a:gd name="connsiteX10" fmla="*/ 197923 w 433049"/>
                    <a:gd name="connsiteY10" fmla="*/ 221568 h 612534"/>
                    <a:gd name="connsiteX11" fmla="*/ 189721 w 433049"/>
                    <a:gd name="connsiteY11" fmla="*/ 268046 h 612534"/>
                    <a:gd name="connsiteX12" fmla="*/ 178785 w 433049"/>
                    <a:gd name="connsiteY12" fmla="*/ 300855 h 612534"/>
                    <a:gd name="connsiteX13" fmla="*/ 315487 w 433049"/>
                    <a:gd name="connsiteY13" fmla="*/ 52057 h 612534"/>
                    <a:gd name="connsiteX14" fmla="*/ 348295 w 433049"/>
                    <a:gd name="connsiteY14" fmla="*/ 8313 h 612534"/>
                    <a:gd name="connsiteX15" fmla="*/ 392039 w 433049"/>
                    <a:gd name="connsiteY15" fmla="*/ 2845 h 612534"/>
                    <a:gd name="connsiteX16" fmla="*/ 433050 w 433049"/>
                    <a:gd name="connsiteY16" fmla="*/ 52057 h 612534"/>
                    <a:gd name="connsiteX17" fmla="*/ 433050 w 433049"/>
                    <a:gd name="connsiteY17" fmla="*/ 68462 h 612534"/>
                    <a:gd name="connsiteX18" fmla="*/ 430316 w 433049"/>
                    <a:gd name="connsiteY18" fmla="*/ 73930 h 612534"/>
                    <a:gd name="connsiteX19" fmla="*/ 299082 w 433049"/>
                    <a:gd name="connsiteY19" fmla="*/ 325461 h 612534"/>
                    <a:gd name="connsiteX20" fmla="*/ 274476 w 433049"/>
                    <a:gd name="connsiteY20" fmla="*/ 311791 h 612534"/>
                    <a:gd name="connsiteX21" fmla="*/ 405709 w 433049"/>
                    <a:gd name="connsiteY21" fmla="*/ 65727 h 612534"/>
                    <a:gd name="connsiteX22" fmla="*/ 405709 w 433049"/>
                    <a:gd name="connsiteY22" fmla="*/ 54791 h 612534"/>
                    <a:gd name="connsiteX23" fmla="*/ 383837 w 433049"/>
                    <a:gd name="connsiteY23" fmla="*/ 30185 h 612534"/>
                    <a:gd name="connsiteX24" fmla="*/ 361965 w 433049"/>
                    <a:gd name="connsiteY24" fmla="*/ 32919 h 612534"/>
                    <a:gd name="connsiteX25" fmla="*/ 340093 w 433049"/>
                    <a:gd name="connsiteY25" fmla="*/ 60259 h 612534"/>
                    <a:gd name="connsiteX26" fmla="*/ 340093 w 433049"/>
                    <a:gd name="connsiteY26" fmla="*/ 62994 h 612534"/>
                    <a:gd name="connsiteX27" fmla="*/ 170583 w 433049"/>
                    <a:gd name="connsiteY27" fmla="*/ 369205 h 612534"/>
                    <a:gd name="connsiteX28" fmla="*/ 162380 w 433049"/>
                    <a:gd name="connsiteY28" fmla="*/ 374673 h 612534"/>
                    <a:gd name="connsiteX29" fmla="*/ 151444 w 433049"/>
                    <a:gd name="connsiteY29" fmla="*/ 374673 h 612534"/>
                    <a:gd name="connsiteX30" fmla="*/ 140508 w 433049"/>
                    <a:gd name="connsiteY30" fmla="*/ 369205 h 612534"/>
                    <a:gd name="connsiteX31" fmla="*/ 135040 w 433049"/>
                    <a:gd name="connsiteY31" fmla="*/ 355535 h 612534"/>
                    <a:gd name="connsiteX32" fmla="*/ 159646 w 433049"/>
                    <a:gd name="connsiteY32" fmla="*/ 262578 h 612534"/>
                    <a:gd name="connsiteX33" fmla="*/ 167849 w 433049"/>
                    <a:gd name="connsiteY33" fmla="*/ 224302 h 612534"/>
                    <a:gd name="connsiteX34" fmla="*/ 167849 w 433049"/>
                    <a:gd name="connsiteY34" fmla="*/ 221568 h 612534"/>
                    <a:gd name="connsiteX35" fmla="*/ 154179 w 433049"/>
                    <a:gd name="connsiteY35" fmla="*/ 169621 h 612534"/>
                    <a:gd name="connsiteX36" fmla="*/ 126838 w 433049"/>
                    <a:gd name="connsiteY36" fmla="*/ 155951 h 612534"/>
                    <a:gd name="connsiteX37" fmla="*/ 69423 w 433049"/>
                    <a:gd name="connsiteY37" fmla="*/ 347333 h 612534"/>
                    <a:gd name="connsiteX38" fmla="*/ 50285 w 433049"/>
                    <a:gd name="connsiteY38" fmla="*/ 399280 h 612534"/>
                    <a:gd name="connsiteX39" fmla="*/ 44817 w 433049"/>
                    <a:gd name="connsiteY39" fmla="*/ 415684 h 612534"/>
                    <a:gd name="connsiteX40" fmla="*/ 25679 w 433049"/>
                    <a:gd name="connsiteY40" fmla="*/ 489503 h 612534"/>
                    <a:gd name="connsiteX41" fmla="*/ 50285 w 433049"/>
                    <a:gd name="connsiteY41" fmla="*/ 601598 h 612534"/>
                    <a:gd name="connsiteX42" fmla="*/ 28413 w 433049"/>
                    <a:gd name="connsiteY42" fmla="*/ 612534 h 6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433049" h="612534">
                      <a:moveTo>
                        <a:pt x="28413" y="612534"/>
                      </a:moveTo>
                      <a:cubicBezTo>
                        <a:pt x="12009" y="585194"/>
                        <a:pt x="-4395" y="541450"/>
                        <a:pt x="1073" y="484035"/>
                      </a:cubicBezTo>
                      <a:cubicBezTo>
                        <a:pt x="3807" y="448492"/>
                        <a:pt x="14743" y="421152"/>
                        <a:pt x="22945" y="402014"/>
                      </a:cubicBezTo>
                      <a:cubicBezTo>
                        <a:pt x="25679" y="396546"/>
                        <a:pt x="28413" y="391078"/>
                        <a:pt x="28413" y="388344"/>
                      </a:cubicBezTo>
                      <a:cubicBezTo>
                        <a:pt x="33881" y="371940"/>
                        <a:pt x="44817" y="344599"/>
                        <a:pt x="44817" y="339131"/>
                      </a:cubicBezTo>
                      <a:lnTo>
                        <a:pt x="104966" y="136813"/>
                      </a:lnTo>
                      <a:cubicBezTo>
                        <a:pt x="107700" y="131345"/>
                        <a:pt x="113168" y="125877"/>
                        <a:pt x="121370" y="128610"/>
                      </a:cubicBezTo>
                      <a:cubicBezTo>
                        <a:pt x="121370" y="128610"/>
                        <a:pt x="124104" y="128610"/>
                        <a:pt x="126838" y="128610"/>
                      </a:cubicBezTo>
                      <a:cubicBezTo>
                        <a:pt x="137774" y="128610"/>
                        <a:pt x="162380" y="131345"/>
                        <a:pt x="178785" y="150483"/>
                      </a:cubicBezTo>
                      <a:cubicBezTo>
                        <a:pt x="197923" y="172355"/>
                        <a:pt x="197923" y="205163"/>
                        <a:pt x="197923" y="218834"/>
                      </a:cubicBezTo>
                      <a:lnTo>
                        <a:pt x="197923" y="221568"/>
                      </a:lnTo>
                      <a:cubicBezTo>
                        <a:pt x="197923" y="240706"/>
                        <a:pt x="192455" y="254376"/>
                        <a:pt x="189721" y="268046"/>
                      </a:cubicBezTo>
                      <a:cubicBezTo>
                        <a:pt x="186987" y="278982"/>
                        <a:pt x="181519" y="289919"/>
                        <a:pt x="178785" y="300855"/>
                      </a:cubicBezTo>
                      <a:lnTo>
                        <a:pt x="315487" y="52057"/>
                      </a:lnTo>
                      <a:cubicBezTo>
                        <a:pt x="320955" y="32919"/>
                        <a:pt x="331891" y="16515"/>
                        <a:pt x="348295" y="8313"/>
                      </a:cubicBezTo>
                      <a:cubicBezTo>
                        <a:pt x="361965" y="111"/>
                        <a:pt x="378369" y="-2623"/>
                        <a:pt x="392039" y="2845"/>
                      </a:cubicBezTo>
                      <a:cubicBezTo>
                        <a:pt x="411178" y="8313"/>
                        <a:pt x="427582" y="27451"/>
                        <a:pt x="433050" y="52057"/>
                      </a:cubicBezTo>
                      <a:lnTo>
                        <a:pt x="433050" y="68462"/>
                      </a:lnTo>
                      <a:cubicBezTo>
                        <a:pt x="433050" y="71196"/>
                        <a:pt x="433050" y="73930"/>
                        <a:pt x="430316" y="73930"/>
                      </a:cubicBezTo>
                      <a:lnTo>
                        <a:pt x="299082" y="325461"/>
                      </a:lnTo>
                      <a:lnTo>
                        <a:pt x="274476" y="311791"/>
                      </a:lnTo>
                      <a:lnTo>
                        <a:pt x="405709" y="65727"/>
                      </a:lnTo>
                      <a:lnTo>
                        <a:pt x="405709" y="54791"/>
                      </a:lnTo>
                      <a:cubicBezTo>
                        <a:pt x="402976" y="43856"/>
                        <a:pt x="394773" y="32919"/>
                        <a:pt x="383837" y="30185"/>
                      </a:cubicBezTo>
                      <a:cubicBezTo>
                        <a:pt x="378369" y="27451"/>
                        <a:pt x="370167" y="30185"/>
                        <a:pt x="361965" y="32919"/>
                      </a:cubicBezTo>
                      <a:cubicBezTo>
                        <a:pt x="351029" y="38387"/>
                        <a:pt x="342827" y="49324"/>
                        <a:pt x="340093" y="60259"/>
                      </a:cubicBezTo>
                      <a:cubicBezTo>
                        <a:pt x="340093" y="60259"/>
                        <a:pt x="340093" y="62994"/>
                        <a:pt x="340093" y="62994"/>
                      </a:cubicBezTo>
                      <a:lnTo>
                        <a:pt x="170583" y="369205"/>
                      </a:lnTo>
                      <a:cubicBezTo>
                        <a:pt x="167849" y="371940"/>
                        <a:pt x="165115" y="374673"/>
                        <a:pt x="162380" y="374673"/>
                      </a:cubicBezTo>
                      <a:cubicBezTo>
                        <a:pt x="159646" y="374673"/>
                        <a:pt x="154179" y="374673"/>
                        <a:pt x="151444" y="374673"/>
                      </a:cubicBezTo>
                      <a:lnTo>
                        <a:pt x="140508" y="369205"/>
                      </a:lnTo>
                      <a:cubicBezTo>
                        <a:pt x="135040" y="366471"/>
                        <a:pt x="132306" y="361003"/>
                        <a:pt x="135040" y="355535"/>
                      </a:cubicBezTo>
                      <a:cubicBezTo>
                        <a:pt x="143243" y="322727"/>
                        <a:pt x="151444" y="292652"/>
                        <a:pt x="159646" y="262578"/>
                      </a:cubicBezTo>
                      <a:cubicBezTo>
                        <a:pt x="165115" y="248908"/>
                        <a:pt x="167849" y="237972"/>
                        <a:pt x="167849" y="224302"/>
                      </a:cubicBezTo>
                      <a:lnTo>
                        <a:pt x="167849" y="221568"/>
                      </a:lnTo>
                      <a:cubicBezTo>
                        <a:pt x="167849" y="210631"/>
                        <a:pt x="167849" y="186025"/>
                        <a:pt x="154179" y="169621"/>
                      </a:cubicBezTo>
                      <a:cubicBezTo>
                        <a:pt x="145976" y="158685"/>
                        <a:pt x="135040" y="158685"/>
                        <a:pt x="126838" y="155951"/>
                      </a:cubicBezTo>
                      <a:lnTo>
                        <a:pt x="69423" y="347333"/>
                      </a:lnTo>
                      <a:cubicBezTo>
                        <a:pt x="69423" y="352801"/>
                        <a:pt x="58487" y="380141"/>
                        <a:pt x="50285" y="399280"/>
                      </a:cubicBezTo>
                      <a:cubicBezTo>
                        <a:pt x="47551" y="402014"/>
                        <a:pt x="47551" y="407482"/>
                        <a:pt x="44817" y="415684"/>
                      </a:cubicBezTo>
                      <a:cubicBezTo>
                        <a:pt x="36615" y="434822"/>
                        <a:pt x="28413" y="456694"/>
                        <a:pt x="25679" y="489503"/>
                      </a:cubicBezTo>
                      <a:cubicBezTo>
                        <a:pt x="22945" y="538715"/>
                        <a:pt x="36615" y="576992"/>
                        <a:pt x="50285" y="601598"/>
                      </a:cubicBezTo>
                      <a:lnTo>
                        <a:pt x="28413" y="612534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0" name="Полилиния: фигура 134">
                  <a:extLst>
                    <a:ext uri="{FF2B5EF4-FFF2-40B4-BE49-F238E27FC236}">
                      <a16:creationId xmlns:a16="http://schemas.microsoft.com/office/drawing/2014/main" id="{A91B0BDF-5819-F269-3BD1-C96E17369366}"/>
                    </a:ext>
                  </a:extLst>
                </p:cNvPr>
                <p:cNvSpPr/>
                <p:nvPr/>
              </p:nvSpPr>
              <p:spPr>
                <a:xfrm>
                  <a:off x="8710404" y="4784623"/>
                  <a:ext cx="198486" cy="400262"/>
                </a:xfrm>
                <a:custGeom>
                  <a:avLst/>
                  <a:gdLst>
                    <a:gd name="connsiteX0" fmla="*/ 24606 w 198486"/>
                    <a:gd name="connsiteY0" fmla="*/ 400262 h 400262"/>
                    <a:gd name="connsiteX1" fmla="*/ 0 w 198486"/>
                    <a:gd name="connsiteY1" fmla="*/ 386592 h 400262"/>
                    <a:gd name="connsiteX2" fmla="*/ 169510 w 198486"/>
                    <a:gd name="connsiteY2" fmla="*/ 66710 h 400262"/>
                    <a:gd name="connsiteX3" fmla="*/ 172245 w 198486"/>
                    <a:gd name="connsiteY3" fmla="*/ 47572 h 400262"/>
                    <a:gd name="connsiteX4" fmla="*/ 155840 w 198486"/>
                    <a:gd name="connsiteY4" fmla="*/ 28434 h 400262"/>
                    <a:gd name="connsiteX5" fmla="*/ 117564 w 198486"/>
                    <a:gd name="connsiteY5" fmla="*/ 31168 h 400262"/>
                    <a:gd name="connsiteX6" fmla="*/ 92957 w 198486"/>
                    <a:gd name="connsiteY6" fmla="*/ 72178 h 400262"/>
                    <a:gd name="connsiteX7" fmla="*/ 68351 w 198486"/>
                    <a:gd name="connsiteY7" fmla="*/ 115923 h 400262"/>
                    <a:gd name="connsiteX8" fmla="*/ 43745 w 198486"/>
                    <a:gd name="connsiteY8" fmla="*/ 102253 h 400262"/>
                    <a:gd name="connsiteX9" fmla="*/ 68351 w 198486"/>
                    <a:gd name="connsiteY9" fmla="*/ 61242 h 400262"/>
                    <a:gd name="connsiteX10" fmla="*/ 92957 w 198486"/>
                    <a:gd name="connsiteY10" fmla="*/ 17498 h 400262"/>
                    <a:gd name="connsiteX11" fmla="*/ 95691 w 198486"/>
                    <a:gd name="connsiteY11" fmla="*/ 14764 h 400262"/>
                    <a:gd name="connsiteX12" fmla="*/ 166776 w 198486"/>
                    <a:gd name="connsiteY12" fmla="*/ 6562 h 400262"/>
                    <a:gd name="connsiteX13" fmla="*/ 196851 w 198486"/>
                    <a:gd name="connsiteY13" fmla="*/ 42104 h 400262"/>
                    <a:gd name="connsiteX14" fmla="*/ 191382 w 198486"/>
                    <a:gd name="connsiteY14" fmla="*/ 80380 h 400262"/>
                    <a:gd name="connsiteX15" fmla="*/ 24606 w 198486"/>
                    <a:gd name="connsiteY15" fmla="*/ 400262 h 400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486" h="400262">
                      <a:moveTo>
                        <a:pt x="24606" y="400262"/>
                      </a:moveTo>
                      <a:lnTo>
                        <a:pt x="0" y="386592"/>
                      </a:lnTo>
                      <a:lnTo>
                        <a:pt x="169510" y="66710"/>
                      </a:lnTo>
                      <a:cubicBezTo>
                        <a:pt x="172245" y="61242"/>
                        <a:pt x="174978" y="55774"/>
                        <a:pt x="172245" y="47572"/>
                      </a:cubicBezTo>
                      <a:cubicBezTo>
                        <a:pt x="169510" y="39370"/>
                        <a:pt x="161308" y="31168"/>
                        <a:pt x="155840" y="28434"/>
                      </a:cubicBezTo>
                      <a:cubicBezTo>
                        <a:pt x="144904" y="22966"/>
                        <a:pt x="128500" y="22966"/>
                        <a:pt x="117564" y="31168"/>
                      </a:cubicBezTo>
                      <a:cubicBezTo>
                        <a:pt x="112096" y="42104"/>
                        <a:pt x="103894" y="55774"/>
                        <a:pt x="92957" y="72178"/>
                      </a:cubicBezTo>
                      <a:cubicBezTo>
                        <a:pt x="84755" y="88583"/>
                        <a:pt x="73819" y="104987"/>
                        <a:pt x="68351" y="115923"/>
                      </a:cubicBezTo>
                      <a:lnTo>
                        <a:pt x="43745" y="102253"/>
                      </a:lnTo>
                      <a:cubicBezTo>
                        <a:pt x="49213" y="91317"/>
                        <a:pt x="57415" y="74912"/>
                        <a:pt x="68351" y="61242"/>
                      </a:cubicBezTo>
                      <a:cubicBezTo>
                        <a:pt x="76553" y="44838"/>
                        <a:pt x="87489" y="28434"/>
                        <a:pt x="92957" y="17498"/>
                      </a:cubicBezTo>
                      <a:cubicBezTo>
                        <a:pt x="92957" y="17498"/>
                        <a:pt x="95691" y="14764"/>
                        <a:pt x="95691" y="14764"/>
                      </a:cubicBezTo>
                      <a:cubicBezTo>
                        <a:pt x="114830" y="-1641"/>
                        <a:pt x="142170" y="-4374"/>
                        <a:pt x="166776" y="6562"/>
                      </a:cubicBezTo>
                      <a:cubicBezTo>
                        <a:pt x="180446" y="14764"/>
                        <a:pt x="191382" y="28434"/>
                        <a:pt x="196851" y="42104"/>
                      </a:cubicBezTo>
                      <a:cubicBezTo>
                        <a:pt x="199585" y="55774"/>
                        <a:pt x="199585" y="69445"/>
                        <a:pt x="191382" y="80380"/>
                      </a:cubicBezTo>
                      <a:lnTo>
                        <a:pt x="24606" y="400262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1" name="Полилиния: фигура 135">
                  <a:extLst>
                    <a:ext uri="{FF2B5EF4-FFF2-40B4-BE49-F238E27FC236}">
                      <a16:creationId xmlns:a16="http://schemas.microsoft.com/office/drawing/2014/main" id="{D66E180E-2FF1-E835-D6FF-E1558A58C194}"/>
                    </a:ext>
                  </a:extLst>
                </p:cNvPr>
                <p:cNvSpPr/>
                <p:nvPr/>
              </p:nvSpPr>
              <p:spPr>
                <a:xfrm>
                  <a:off x="8778755" y="4883048"/>
                  <a:ext cx="190167" cy="375656"/>
                </a:xfrm>
                <a:custGeom>
                  <a:avLst/>
                  <a:gdLst>
                    <a:gd name="connsiteX0" fmla="*/ 24606 w 190167"/>
                    <a:gd name="connsiteY0" fmla="*/ 375656 h 375656"/>
                    <a:gd name="connsiteX1" fmla="*/ 0 w 190167"/>
                    <a:gd name="connsiteY1" fmla="*/ 361986 h 375656"/>
                    <a:gd name="connsiteX2" fmla="*/ 155840 w 190167"/>
                    <a:gd name="connsiteY2" fmla="*/ 69444 h 375656"/>
                    <a:gd name="connsiteX3" fmla="*/ 161308 w 190167"/>
                    <a:gd name="connsiteY3" fmla="*/ 47572 h 375656"/>
                    <a:gd name="connsiteX4" fmla="*/ 144904 w 190167"/>
                    <a:gd name="connsiteY4" fmla="*/ 28434 h 375656"/>
                    <a:gd name="connsiteX5" fmla="*/ 106627 w 190167"/>
                    <a:gd name="connsiteY5" fmla="*/ 31168 h 375656"/>
                    <a:gd name="connsiteX6" fmla="*/ 90224 w 190167"/>
                    <a:gd name="connsiteY6" fmla="*/ 58508 h 375656"/>
                    <a:gd name="connsiteX7" fmla="*/ 73819 w 190167"/>
                    <a:gd name="connsiteY7" fmla="*/ 85849 h 375656"/>
                    <a:gd name="connsiteX8" fmla="*/ 49213 w 190167"/>
                    <a:gd name="connsiteY8" fmla="*/ 72178 h 375656"/>
                    <a:gd name="connsiteX9" fmla="*/ 68351 w 190167"/>
                    <a:gd name="connsiteY9" fmla="*/ 44838 h 375656"/>
                    <a:gd name="connsiteX10" fmla="*/ 84755 w 190167"/>
                    <a:gd name="connsiteY10" fmla="*/ 17498 h 375656"/>
                    <a:gd name="connsiteX11" fmla="*/ 87489 w 190167"/>
                    <a:gd name="connsiteY11" fmla="*/ 14764 h 375656"/>
                    <a:gd name="connsiteX12" fmla="*/ 158574 w 190167"/>
                    <a:gd name="connsiteY12" fmla="*/ 6562 h 375656"/>
                    <a:gd name="connsiteX13" fmla="*/ 188648 w 190167"/>
                    <a:gd name="connsiteY13" fmla="*/ 42104 h 375656"/>
                    <a:gd name="connsiteX14" fmla="*/ 180446 w 190167"/>
                    <a:gd name="connsiteY14" fmla="*/ 85849 h 375656"/>
                    <a:gd name="connsiteX15" fmla="*/ 24606 w 190167"/>
                    <a:gd name="connsiteY15" fmla="*/ 375656 h 37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0167" h="375656">
                      <a:moveTo>
                        <a:pt x="24606" y="375656"/>
                      </a:moveTo>
                      <a:lnTo>
                        <a:pt x="0" y="361986"/>
                      </a:lnTo>
                      <a:lnTo>
                        <a:pt x="155840" y="69444"/>
                      </a:lnTo>
                      <a:cubicBezTo>
                        <a:pt x="161308" y="61243"/>
                        <a:pt x="161308" y="53040"/>
                        <a:pt x="161308" y="47572"/>
                      </a:cubicBezTo>
                      <a:cubicBezTo>
                        <a:pt x="158574" y="39370"/>
                        <a:pt x="153106" y="33902"/>
                        <a:pt x="144904" y="28434"/>
                      </a:cubicBezTo>
                      <a:cubicBezTo>
                        <a:pt x="133968" y="22966"/>
                        <a:pt x="117564" y="22966"/>
                        <a:pt x="106627" y="31168"/>
                      </a:cubicBezTo>
                      <a:cubicBezTo>
                        <a:pt x="101160" y="39370"/>
                        <a:pt x="95691" y="50306"/>
                        <a:pt x="90224" y="58508"/>
                      </a:cubicBezTo>
                      <a:cubicBezTo>
                        <a:pt x="84755" y="66711"/>
                        <a:pt x="79287" y="74913"/>
                        <a:pt x="73819" y="85849"/>
                      </a:cubicBezTo>
                      <a:lnTo>
                        <a:pt x="49213" y="72178"/>
                      </a:lnTo>
                      <a:cubicBezTo>
                        <a:pt x="54681" y="61243"/>
                        <a:pt x="62883" y="53040"/>
                        <a:pt x="68351" y="44838"/>
                      </a:cubicBezTo>
                      <a:cubicBezTo>
                        <a:pt x="73819" y="36636"/>
                        <a:pt x="79287" y="28434"/>
                        <a:pt x="84755" y="17498"/>
                      </a:cubicBezTo>
                      <a:cubicBezTo>
                        <a:pt x="84755" y="17498"/>
                        <a:pt x="87489" y="14764"/>
                        <a:pt x="87489" y="14764"/>
                      </a:cubicBezTo>
                      <a:cubicBezTo>
                        <a:pt x="106627" y="-1640"/>
                        <a:pt x="133968" y="-4375"/>
                        <a:pt x="158574" y="6562"/>
                      </a:cubicBezTo>
                      <a:cubicBezTo>
                        <a:pt x="172245" y="14764"/>
                        <a:pt x="183181" y="28434"/>
                        <a:pt x="188648" y="42104"/>
                      </a:cubicBezTo>
                      <a:cubicBezTo>
                        <a:pt x="191382" y="50306"/>
                        <a:pt x="191382" y="66711"/>
                        <a:pt x="180446" y="85849"/>
                      </a:cubicBezTo>
                      <a:lnTo>
                        <a:pt x="24606" y="375656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2" name="Полилиния: фигура 136">
                  <a:extLst>
                    <a:ext uri="{FF2B5EF4-FFF2-40B4-BE49-F238E27FC236}">
                      <a16:creationId xmlns:a16="http://schemas.microsoft.com/office/drawing/2014/main" id="{60EA6C29-A7E3-E74C-95F8-128F8F110EE8}"/>
                    </a:ext>
                  </a:extLst>
                </p:cNvPr>
                <p:cNvSpPr/>
                <p:nvPr/>
              </p:nvSpPr>
              <p:spPr>
                <a:xfrm>
                  <a:off x="8688532" y="5026206"/>
                  <a:ext cx="292072" cy="535976"/>
                </a:xfrm>
                <a:custGeom>
                  <a:avLst/>
                  <a:gdLst>
                    <a:gd name="connsiteX0" fmla="*/ 10936 w 292072"/>
                    <a:gd name="connsiteY0" fmla="*/ 535976 h 535976"/>
                    <a:gd name="connsiteX1" fmla="*/ 0 w 292072"/>
                    <a:gd name="connsiteY1" fmla="*/ 511370 h 535976"/>
                    <a:gd name="connsiteX2" fmla="*/ 41011 w 292072"/>
                    <a:gd name="connsiteY2" fmla="*/ 484030 h 535976"/>
                    <a:gd name="connsiteX3" fmla="*/ 62882 w 292072"/>
                    <a:gd name="connsiteY3" fmla="*/ 453955 h 535976"/>
                    <a:gd name="connsiteX4" fmla="*/ 98425 w 292072"/>
                    <a:gd name="connsiteY4" fmla="*/ 388339 h 535976"/>
                    <a:gd name="connsiteX5" fmla="*/ 164042 w 292072"/>
                    <a:gd name="connsiteY5" fmla="*/ 259839 h 535976"/>
                    <a:gd name="connsiteX6" fmla="*/ 265201 w 292072"/>
                    <a:gd name="connsiteY6" fmla="*/ 65723 h 535976"/>
                    <a:gd name="connsiteX7" fmla="*/ 251531 w 292072"/>
                    <a:gd name="connsiteY7" fmla="*/ 30180 h 535976"/>
                    <a:gd name="connsiteX8" fmla="*/ 215989 w 292072"/>
                    <a:gd name="connsiteY8" fmla="*/ 38382 h 535976"/>
                    <a:gd name="connsiteX9" fmla="*/ 202318 w 292072"/>
                    <a:gd name="connsiteY9" fmla="*/ 62988 h 535976"/>
                    <a:gd name="connsiteX10" fmla="*/ 185914 w 292072"/>
                    <a:gd name="connsiteY10" fmla="*/ 93063 h 535976"/>
                    <a:gd name="connsiteX11" fmla="*/ 161308 w 292072"/>
                    <a:gd name="connsiteY11" fmla="*/ 79393 h 535976"/>
                    <a:gd name="connsiteX12" fmla="*/ 174978 w 292072"/>
                    <a:gd name="connsiteY12" fmla="*/ 52052 h 535976"/>
                    <a:gd name="connsiteX13" fmla="*/ 191382 w 292072"/>
                    <a:gd name="connsiteY13" fmla="*/ 21978 h 535976"/>
                    <a:gd name="connsiteX14" fmla="*/ 194117 w 292072"/>
                    <a:gd name="connsiteY14" fmla="*/ 19244 h 535976"/>
                    <a:gd name="connsiteX15" fmla="*/ 262467 w 292072"/>
                    <a:gd name="connsiteY15" fmla="*/ 5574 h 535976"/>
                    <a:gd name="connsiteX16" fmla="*/ 287074 w 292072"/>
                    <a:gd name="connsiteY16" fmla="*/ 76659 h 535976"/>
                    <a:gd name="connsiteX17" fmla="*/ 185914 w 292072"/>
                    <a:gd name="connsiteY17" fmla="*/ 270775 h 535976"/>
                    <a:gd name="connsiteX18" fmla="*/ 120297 w 292072"/>
                    <a:gd name="connsiteY18" fmla="*/ 399275 h 535976"/>
                    <a:gd name="connsiteX19" fmla="*/ 82021 w 292072"/>
                    <a:gd name="connsiteY19" fmla="*/ 467626 h 535976"/>
                    <a:gd name="connsiteX20" fmla="*/ 54681 w 292072"/>
                    <a:gd name="connsiteY20" fmla="*/ 500434 h 535976"/>
                    <a:gd name="connsiteX21" fmla="*/ 10936 w 292072"/>
                    <a:gd name="connsiteY21" fmla="*/ 535976 h 5359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2072" h="535976">
                      <a:moveTo>
                        <a:pt x="10936" y="535976"/>
                      </a:moveTo>
                      <a:lnTo>
                        <a:pt x="0" y="511370"/>
                      </a:lnTo>
                      <a:cubicBezTo>
                        <a:pt x="16404" y="503168"/>
                        <a:pt x="30075" y="494966"/>
                        <a:pt x="41011" y="484030"/>
                      </a:cubicBezTo>
                      <a:cubicBezTo>
                        <a:pt x="51946" y="473093"/>
                        <a:pt x="57415" y="464892"/>
                        <a:pt x="62882" y="453955"/>
                      </a:cubicBezTo>
                      <a:cubicBezTo>
                        <a:pt x="71085" y="440285"/>
                        <a:pt x="84755" y="418413"/>
                        <a:pt x="98425" y="388339"/>
                      </a:cubicBezTo>
                      <a:cubicBezTo>
                        <a:pt x="123032" y="344594"/>
                        <a:pt x="142169" y="300850"/>
                        <a:pt x="164042" y="259839"/>
                      </a:cubicBezTo>
                      <a:cubicBezTo>
                        <a:pt x="196850" y="194222"/>
                        <a:pt x="229659" y="131339"/>
                        <a:pt x="265201" y="65723"/>
                      </a:cubicBezTo>
                      <a:cubicBezTo>
                        <a:pt x="270669" y="52052"/>
                        <a:pt x="259733" y="35648"/>
                        <a:pt x="251531" y="30180"/>
                      </a:cubicBezTo>
                      <a:cubicBezTo>
                        <a:pt x="237860" y="21978"/>
                        <a:pt x="224190" y="32914"/>
                        <a:pt x="215989" y="38382"/>
                      </a:cubicBezTo>
                      <a:cubicBezTo>
                        <a:pt x="210520" y="46584"/>
                        <a:pt x="207787" y="54787"/>
                        <a:pt x="202318" y="62988"/>
                      </a:cubicBezTo>
                      <a:cubicBezTo>
                        <a:pt x="196850" y="71191"/>
                        <a:pt x="194117" y="82127"/>
                        <a:pt x="185914" y="93063"/>
                      </a:cubicBezTo>
                      <a:lnTo>
                        <a:pt x="161308" y="79393"/>
                      </a:lnTo>
                      <a:cubicBezTo>
                        <a:pt x="166776" y="68457"/>
                        <a:pt x="172244" y="60255"/>
                        <a:pt x="174978" y="52052"/>
                      </a:cubicBezTo>
                      <a:cubicBezTo>
                        <a:pt x="180446" y="43850"/>
                        <a:pt x="183180" y="32914"/>
                        <a:pt x="191382" y="21978"/>
                      </a:cubicBezTo>
                      <a:cubicBezTo>
                        <a:pt x="191382" y="21978"/>
                        <a:pt x="194117" y="19244"/>
                        <a:pt x="194117" y="19244"/>
                      </a:cubicBezTo>
                      <a:cubicBezTo>
                        <a:pt x="215989" y="106"/>
                        <a:pt x="240595" y="-5362"/>
                        <a:pt x="262467" y="5574"/>
                      </a:cubicBezTo>
                      <a:cubicBezTo>
                        <a:pt x="284339" y="19244"/>
                        <a:pt x="300744" y="49318"/>
                        <a:pt x="287074" y="76659"/>
                      </a:cubicBezTo>
                      <a:cubicBezTo>
                        <a:pt x="251531" y="145009"/>
                        <a:pt x="218723" y="205158"/>
                        <a:pt x="185914" y="270775"/>
                      </a:cubicBezTo>
                      <a:cubicBezTo>
                        <a:pt x="164042" y="311786"/>
                        <a:pt x="142169" y="355530"/>
                        <a:pt x="120297" y="399275"/>
                      </a:cubicBezTo>
                      <a:cubicBezTo>
                        <a:pt x="103893" y="429349"/>
                        <a:pt x="92957" y="453955"/>
                        <a:pt x="82021" y="467626"/>
                      </a:cubicBezTo>
                      <a:cubicBezTo>
                        <a:pt x="76553" y="475828"/>
                        <a:pt x="68351" y="489498"/>
                        <a:pt x="54681" y="500434"/>
                      </a:cubicBezTo>
                      <a:cubicBezTo>
                        <a:pt x="46478" y="516838"/>
                        <a:pt x="30075" y="527774"/>
                        <a:pt x="10936" y="535976"/>
                      </a:cubicBez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43" name="Рисунок 14">
                <a:extLst>
                  <a:ext uri="{FF2B5EF4-FFF2-40B4-BE49-F238E27FC236}">
                    <a16:creationId xmlns:a16="http://schemas.microsoft.com/office/drawing/2014/main" id="{77243CBA-2670-BB3A-4F5C-70F58156CCBF}"/>
                  </a:ext>
                </a:extLst>
              </p:cNvPr>
              <p:cNvGrpSpPr/>
              <p:nvPr/>
            </p:nvGrpSpPr>
            <p:grpSpPr>
              <a:xfrm>
                <a:off x="8836170" y="4727916"/>
                <a:ext cx="464316" cy="795989"/>
                <a:chOff x="8836170" y="4727916"/>
                <a:chExt cx="464316" cy="795989"/>
              </a:xfrm>
              <a:grpFill/>
            </p:grpSpPr>
            <p:sp>
              <p:nvSpPr>
                <p:cNvPr id="44" name="Полилиния: фигура 138">
                  <a:extLst>
                    <a:ext uri="{FF2B5EF4-FFF2-40B4-BE49-F238E27FC236}">
                      <a16:creationId xmlns:a16="http://schemas.microsoft.com/office/drawing/2014/main" id="{0504BA4E-6413-984B-26E8-5AD67E5B4DF3}"/>
                    </a:ext>
                  </a:extLst>
                </p:cNvPr>
                <p:cNvSpPr/>
                <p:nvPr/>
              </p:nvSpPr>
              <p:spPr>
                <a:xfrm>
                  <a:off x="8945531" y="4791185"/>
                  <a:ext cx="354955" cy="661636"/>
                </a:xfrm>
                <a:custGeom>
                  <a:avLst/>
                  <a:gdLst>
                    <a:gd name="connsiteX0" fmla="*/ 300744 w 354955"/>
                    <a:gd name="connsiteY0" fmla="*/ 661636 h 661636"/>
                    <a:gd name="connsiteX1" fmla="*/ 278872 w 354955"/>
                    <a:gd name="connsiteY1" fmla="*/ 645232 h 661636"/>
                    <a:gd name="connsiteX2" fmla="*/ 325350 w 354955"/>
                    <a:gd name="connsiteY2" fmla="*/ 538605 h 661636"/>
                    <a:gd name="connsiteX3" fmla="*/ 319882 w 354955"/>
                    <a:gd name="connsiteY3" fmla="*/ 462052 h 661636"/>
                    <a:gd name="connsiteX4" fmla="*/ 317148 w 354955"/>
                    <a:gd name="connsiteY4" fmla="*/ 445648 h 661636"/>
                    <a:gd name="connsiteX5" fmla="*/ 308946 w 354955"/>
                    <a:gd name="connsiteY5" fmla="*/ 393701 h 661636"/>
                    <a:gd name="connsiteX6" fmla="*/ 289808 w 354955"/>
                    <a:gd name="connsiteY6" fmla="*/ 194117 h 661636"/>
                    <a:gd name="connsiteX7" fmla="*/ 262467 w 354955"/>
                    <a:gd name="connsiteY7" fmla="*/ 202318 h 661636"/>
                    <a:gd name="connsiteX8" fmla="*/ 237861 w 354955"/>
                    <a:gd name="connsiteY8" fmla="*/ 254265 h 661636"/>
                    <a:gd name="connsiteX9" fmla="*/ 237861 w 354955"/>
                    <a:gd name="connsiteY9" fmla="*/ 292542 h 661636"/>
                    <a:gd name="connsiteX10" fmla="*/ 246063 w 354955"/>
                    <a:gd name="connsiteY10" fmla="*/ 390967 h 661636"/>
                    <a:gd name="connsiteX11" fmla="*/ 237861 w 354955"/>
                    <a:gd name="connsiteY11" fmla="*/ 404637 h 661636"/>
                    <a:gd name="connsiteX12" fmla="*/ 226925 w 354955"/>
                    <a:gd name="connsiteY12" fmla="*/ 407371 h 661636"/>
                    <a:gd name="connsiteX13" fmla="*/ 215989 w 354955"/>
                    <a:gd name="connsiteY13" fmla="*/ 407371 h 661636"/>
                    <a:gd name="connsiteX14" fmla="*/ 207787 w 354955"/>
                    <a:gd name="connsiteY14" fmla="*/ 399169 h 661636"/>
                    <a:gd name="connsiteX15" fmla="*/ 98425 w 354955"/>
                    <a:gd name="connsiteY15" fmla="*/ 68351 h 661636"/>
                    <a:gd name="connsiteX16" fmla="*/ 98425 w 354955"/>
                    <a:gd name="connsiteY16" fmla="*/ 65617 h 661636"/>
                    <a:gd name="connsiteX17" fmla="*/ 82021 w 354955"/>
                    <a:gd name="connsiteY17" fmla="*/ 32808 h 661636"/>
                    <a:gd name="connsiteX18" fmla="*/ 60149 w 354955"/>
                    <a:gd name="connsiteY18" fmla="*/ 24606 h 661636"/>
                    <a:gd name="connsiteX19" fmla="*/ 32809 w 354955"/>
                    <a:gd name="connsiteY19" fmla="*/ 49213 h 661636"/>
                    <a:gd name="connsiteX20" fmla="*/ 30075 w 354955"/>
                    <a:gd name="connsiteY20" fmla="*/ 57415 h 661636"/>
                    <a:gd name="connsiteX21" fmla="*/ 112096 w 354955"/>
                    <a:gd name="connsiteY21" fmla="*/ 325350 h 661636"/>
                    <a:gd name="connsiteX22" fmla="*/ 84755 w 354955"/>
                    <a:gd name="connsiteY22" fmla="*/ 333552 h 661636"/>
                    <a:gd name="connsiteX23" fmla="*/ 0 w 354955"/>
                    <a:gd name="connsiteY23" fmla="*/ 62883 h 661636"/>
                    <a:gd name="connsiteX24" fmla="*/ 0 w 354955"/>
                    <a:gd name="connsiteY24" fmla="*/ 57415 h 661636"/>
                    <a:gd name="connsiteX25" fmla="*/ 2734 w 354955"/>
                    <a:gd name="connsiteY25" fmla="*/ 43745 h 661636"/>
                    <a:gd name="connsiteX26" fmla="*/ 51946 w 354955"/>
                    <a:gd name="connsiteY26" fmla="*/ 0 h 661636"/>
                    <a:gd name="connsiteX27" fmla="*/ 92957 w 354955"/>
                    <a:gd name="connsiteY27" fmla="*/ 13670 h 661636"/>
                    <a:gd name="connsiteX28" fmla="*/ 117563 w 354955"/>
                    <a:gd name="connsiteY28" fmla="*/ 62883 h 661636"/>
                    <a:gd name="connsiteX29" fmla="*/ 207787 w 354955"/>
                    <a:gd name="connsiteY29" fmla="*/ 333552 h 661636"/>
                    <a:gd name="connsiteX30" fmla="*/ 205053 w 354955"/>
                    <a:gd name="connsiteY30" fmla="*/ 303478 h 661636"/>
                    <a:gd name="connsiteX31" fmla="*/ 205053 w 354955"/>
                    <a:gd name="connsiteY31" fmla="*/ 254265 h 661636"/>
                    <a:gd name="connsiteX32" fmla="*/ 240595 w 354955"/>
                    <a:gd name="connsiteY32" fmla="*/ 185914 h 661636"/>
                    <a:gd name="connsiteX33" fmla="*/ 295275 w 354955"/>
                    <a:gd name="connsiteY33" fmla="*/ 174978 h 661636"/>
                    <a:gd name="connsiteX34" fmla="*/ 300744 w 354955"/>
                    <a:gd name="connsiteY34" fmla="*/ 174978 h 661636"/>
                    <a:gd name="connsiteX35" fmla="*/ 300744 w 354955"/>
                    <a:gd name="connsiteY35" fmla="*/ 174978 h 661636"/>
                    <a:gd name="connsiteX36" fmla="*/ 300744 w 354955"/>
                    <a:gd name="connsiteY36" fmla="*/ 174978 h 661636"/>
                    <a:gd name="connsiteX37" fmla="*/ 314414 w 354955"/>
                    <a:gd name="connsiteY37" fmla="*/ 185914 h 661636"/>
                    <a:gd name="connsiteX38" fmla="*/ 336286 w 354955"/>
                    <a:gd name="connsiteY38" fmla="*/ 396435 h 661636"/>
                    <a:gd name="connsiteX39" fmla="*/ 344489 w 354955"/>
                    <a:gd name="connsiteY39" fmla="*/ 445648 h 661636"/>
                    <a:gd name="connsiteX40" fmla="*/ 347223 w 354955"/>
                    <a:gd name="connsiteY40" fmla="*/ 462052 h 661636"/>
                    <a:gd name="connsiteX41" fmla="*/ 352690 w 354955"/>
                    <a:gd name="connsiteY41" fmla="*/ 546807 h 661636"/>
                    <a:gd name="connsiteX42" fmla="*/ 300744 w 354955"/>
                    <a:gd name="connsiteY42" fmla="*/ 661636 h 661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354955" h="661636">
                      <a:moveTo>
                        <a:pt x="300744" y="661636"/>
                      </a:moveTo>
                      <a:lnTo>
                        <a:pt x="278872" y="645232"/>
                      </a:lnTo>
                      <a:cubicBezTo>
                        <a:pt x="295275" y="623360"/>
                        <a:pt x="319882" y="587817"/>
                        <a:pt x="325350" y="538605"/>
                      </a:cubicBezTo>
                      <a:cubicBezTo>
                        <a:pt x="328084" y="505796"/>
                        <a:pt x="325350" y="481190"/>
                        <a:pt x="319882" y="462052"/>
                      </a:cubicBezTo>
                      <a:cubicBezTo>
                        <a:pt x="319882" y="456584"/>
                        <a:pt x="317148" y="451116"/>
                        <a:pt x="317148" y="445648"/>
                      </a:cubicBezTo>
                      <a:cubicBezTo>
                        <a:pt x="314414" y="429243"/>
                        <a:pt x="308946" y="399169"/>
                        <a:pt x="308946" y="393701"/>
                      </a:cubicBezTo>
                      <a:lnTo>
                        <a:pt x="289808" y="194117"/>
                      </a:lnTo>
                      <a:cubicBezTo>
                        <a:pt x="281605" y="194117"/>
                        <a:pt x="270669" y="194117"/>
                        <a:pt x="262467" y="202318"/>
                      </a:cubicBezTo>
                      <a:cubicBezTo>
                        <a:pt x="246063" y="215989"/>
                        <a:pt x="240595" y="243329"/>
                        <a:pt x="237861" y="254265"/>
                      </a:cubicBezTo>
                      <a:cubicBezTo>
                        <a:pt x="235127" y="270669"/>
                        <a:pt x="235127" y="278871"/>
                        <a:pt x="237861" y="292542"/>
                      </a:cubicBezTo>
                      <a:cubicBezTo>
                        <a:pt x="243329" y="325350"/>
                        <a:pt x="246063" y="358159"/>
                        <a:pt x="246063" y="390967"/>
                      </a:cubicBezTo>
                      <a:cubicBezTo>
                        <a:pt x="246063" y="396435"/>
                        <a:pt x="243329" y="401903"/>
                        <a:pt x="237861" y="404637"/>
                      </a:cubicBezTo>
                      <a:lnTo>
                        <a:pt x="226925" y="407371"/>
                      </a:lnTo>
                      <a:cubicBezTo>
                        <a:pt x="224191" y="407371"/>
                        <a:pt x="218723" y="407371"/>
                        <a:pt x="215989" y="407371"/>
                      </a:cubicBezTo>
                      <a:cubicBezTo>
                        <a:pt x="213254" y="404637"/>
                        <a:pt x="210521" y="401903"/>
                        <a:pt x="207787" y="399169"/>
                      </a:cubicBezTo>
                      <a:lnTo>
                        <a:pt x="98425" y="68351"/>
                      </a:lnTo>
                      <a:cubicBezTo>
                        <a:pt x="98425" y="68351"/>
                        <a:pt x="98425" y="65617"/>
                        <a:pt x="98425" y="65617"/>
                      </a:cubicBezTo>
                      <a:cubicBezTo>
                        <a:pt x="98425" y="51946"/>
                        <a:pt x="92957" y="41011"/>
                        <a:pt x="82021" y="32808"/>
                      </a:cubicBezTo>
                      <a:cubicBezTo>
                        <a:pt x="76553" y="27340"/>
                        <a:pt x="68351" y="24606"/>
                        <a:pt x="60149" y="24606"/>
                      </a:cubicBezTo>
                      <a:cubicBezTo>
                        <a:pt x="49212" y="24606"/>
                        <a:pt x="38276" y="35543"/>
                        <a:pt x="32809" y="49213"/>
                      </a:cubicBezTo>
                      <a:lnTo>
                        <a:pt x="30075" y="57415"/>
                      </a:lnTo>
                      <a:lnTo>
                        <a:pt x="112096" y="325350"/>
                      </a:lnTo>
                      <a:lnTo>
                        <a:pt x="84755" y="333552"/>
                      </a:lnTo>
                      <a:lnTo>
                        <a:pt x="0" y="62883"/>
                      </a:lnTo>
                      <a:cubicBezTo>
                        <a:pt x="0" y="60149"/>
                        <a:pt x="0" y="57415"/>
                        <a:pt x="0" y="57415"/>
                      </a:cubicBezTo>
                      <a:lnTo>
                        <a:pt x="2734" y="43745"/>
                      </a:lnTo>
                      <a:cubicBezTo>
                        <a:pt x="13670" y="19138"/>
                        <a:pt x="30075" y="2734"/>
                        <a:pt x="51946" y="0"/>
                      </a:cubicBezTo>
                      <a:cubicBezTo>
                        <a:pt x="65617" y="0"/>
                        <a:pt x="82021" y="2734"/>
                        <a:pt x="92957" y="13670"/>
                      </a:cubicBezTo>
                      <a:cubicBezTo>
                        <a:pt x="106627" y="24606"/>
                        <a:pt x="117563" y="43745"/>
                        <a:pt x="117563" y="62883"/>
                      </a:cubicBezTo>
                      <a:lnTo>
                        <a:pt x="207787" y="333552"/>
                      </a:lnTo>
                      <a:cubicBezTo>
                        <a:pt x="207787" y="322616"/>
                        <a:pt x="205053" y="311680"/>
                        <a:pt x="205053" y="303478"/>
                      </a:cubicBezTo>
                      <a:cubicBezTo>
                        <a:pt x="202318" y="287074"/>
                        <a:pt x="199584" y="273403"/>
                        <a:pt x="205053" y="254265"/>
                      </a:cubicBezTo>
                      <a:cubicBezTo>
                        <a:pt x="207787" y="240595"/>
                        <a:pt x="215989" y="205053"/>
                        <a:pt x="240595" y="185914"/>
                      </a:cubicBezTo>
                      <a:cubicBezTo>
                        <a:pt x="259733" y="169510"/>
                        <a:pt x="281605" y="172244"/>
                        <a:pt x="295275" y="174978"/>
                      </a:cubicBezTo>
                      <a:cubicBezTo>
                        <a:pt x="298010" y="174978"/>
                        <a:pt x="298010" y="174978"/>
                        <a:pt x="300744" y="174978"/>
                      </a:cubicBezTo>
                      <a:lnTo>
                        <a:pt x="300744" y="174978"/>
                      </a:lnTo>
                      <a:lnTo>
                        <a:pt x="300744" y="174978"/>
                      </a:lnTo>
                      <a:cubicBezTo>
                        <a:pt x="308946" y="174978"/>
                        <a:pt x="314414" y="180446"/>
                        <a:pt x="314414" y="185914"/>
                      </a:cubicBezTo>
                      <a:lnTo>
                        <a:pt x="336286" y="396435"/>
                      </a:lnTo>
                      <a:cubicBezTo>
                        <a:pt x="336286" y="401903"/>
                        <a:pt x="341754" y="431977"/>
                        <a:pt x="344489" y="445648"/>
                      </a:cubicBezTo>
                      <a:cubicBezTo>
                        <a:pt x="344489" y="451116"/>
                        <a:pt x="347223" y="456584"/>
                        <a:pt x="347223" y="462052"/>
                      </a:cubicBezTo>
                      <a:cubicBezTo>
                        <a:pt x="352690" y="481190"/>
                        <a:pt x="358159" y="508531"/>
                        <a:pt x="352690" y="546807"/>
                      </a:cubicBezTo>
                      <a:cubicBezTo>
                        <a:pt x="344489" y="596020"/>
                        <a:pt x="319882" y="637030"/>
                        <a:pt x="300744" y="661636"/>
                      </a:cubicBez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5" name="Полилиния: фигура 139">
                  <a:extLst>
                    <a:ext uri="{FF2B5EF4-FFF2-40B4-BE49-F238E27FC236}">
                      <a16:creationId xmlns:a16="http://schemas.microsoft.com/office/drawing/2014/main" id="{71FFB6E7-7AD4-11CC-2DD8-8EC937DAF7E7}"/>
                    </a:ext>
                  </a:extLst>
                </p:cNvPr>
                <p:cNvSpPr/>
                <p:nvPr/>
              </p:nvSpPr>
              <p:spPr>
                <a:xfrm>
                  <a:off x="8844372" y="4727916"/>
                  <a:ext cx="133968" cy="131619"/>
                </a:xfrm>
                <a:custGeom>
                  <a:avLst/>
                  <a:gdLst>
                    <a:gd name="connsiteX0" fmla="*/ 106628 w 133968"/>
                    <a:gd name="connsiteY0" fmla="*/ 131619 h 131619"/>
                    <a:gd name="connsiteX1" fmla="*/ 90224 w 133968"/>
                    <a:gd name="connsiteY1" fmla="*/ 85141 h 131619"/>
                    <a:gd name="connsiteX2" fmla="*/ 73819 w 133968"/>
                    <a:gd name="connsiteY2" fmla="*/ 41396 h 131619"/>
                    <a:gd name="connsiteX3" fmla="*/ 38277 w 133968"/>
                    <a:gd name="connsiteY3" fmla="*/ 30460 h 131619"/>
                    <a:gd name="connsiteX4" fmla="*/ 21873 w 133968"/>
                    <a:gd name="connsiteY4" fmla="*/ 41396 h 131619"/>
                    <a:gd name="connsiteX5" fmla="*/ 0 w 133968"/>
                    <a:gd name="connsiteY5" fmla="*/ 24992 h 131619"/>
                    <a:gd name="connsiteX6" fmla="*/ 30075 w 133968"/>
                    <a:gd name="connsiteY6" fmla="*/ 3120 h 131619"/>
                    <a:gd name="connsiteX7" fmla="*/ 98425 w 133968"/>
                    <a:gd name="connsiteY7" fmla="*/ 24992 h 131619"/>
                    <a:gd name="connsiteX8" fmla="*/ 101160 w 133968"/>
                    <a:gd name="connsiteY8" fmla="*/ 27726 h 131619"/>
                    <a:gd name="connsiteX9" fmla="*/ 117564 w 133968"/>
                    <a:gd name="connsiteY9" fmla="*/ 74205 h 131619"/>
                    <a:gd name="connsiteX10" fmla="*/ 133968 w 133968"/>
                    <a:gd name="connsiteY10" fmla="*/ 120683 h 131619"/>
                    <a:gd name="connsiteX11" fmla="*/ 106628 w 133968"/>
                    <a:gd name="connsiteY11" fmla="*/ 131619 h 131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3968" h="131619">
                      <a:moveTo>
                        <a:pt x="106628" y="131619"/>
                      </a:moveTo>
                      <a:cubicBezTo>
                        <a:pt x="101160" y="120683"/>
                        <a:pt x="95691" y="101545"/>
                        <a:pt x="90224" y="85141"/>
                      </a:cubicBezTo>
                      <a:cubicBezTo>
                        <a:pt x="84755" y="68737"/>
                        <a:pt x="79288" y="52333"/>
                        <a:pt x="73819" y="41396"/>
                      </a:cubicBezTo>
                      <a:cubicBezTo>
                        <a:pt x="65617" y="30460"/>
                        <a:pt x="49213" y="27726"/>
                        <a:pt x="38277" y="30460"/>
                      </a:cubicBezTo>
                      <a:cubicBezTo>
                        <a:pt x="32809" y="33194"/>
                        <a:pt x="24607" y="35928"/>
                        <a:pt x="21873" y="41396"/>
                      </a:cubicBezTo>
                      <a:lnTo>
                        <a:pt x="0" y="24992"/>
                      </a:lnTo>
                      <a:cubicBezTo>
                        <a:pt x="8203" y="14056"/>
                        <a:pt x="19139" y="8588"/>
                        <a:pt x="30075" y="3120"/>
                      </a:cubicBezTo>
                      <a:cubicBezTo>
                        <a:pt x="54681" y="-5082"/>
                        <a:pt x="82021" y="3120"/>
                        <a:pt x="98425" y="24992"/>
                      </a:cubicBezTo>
                      <a:cubicBezTo>
                        <a:pt x="98425" y="24992"/>
                        <a:pt x="101160" y="27726"/>
                        <a:pt x="101160" y="27726"/>
                      </a:cubicBezTo>
                      <a:cubicBezTo>
                        <a:pt x="106628" y="38662"/>
                        <a:pt x="112096" y="57801"/>
                        <a:pt x="117564" y="74205"/>
                      </a:cubicBezTo>
                      <a:cubicBezTo>
                        <a:pt x="123032" y="90609"/>
                        <a:pt x="128500" y="109747"/>
                        <a:pt x="133968" y="120683"/>
                      </a:cubicBezTo>
                      <a:lnTo>
                        <a:pt x="106628" y="131619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6" name="Полилиния: фигура 140">
                  <a:extLst>
                    <a:ext uri="{FF2B5EF4-FFF2-40B4-BE49-F238E27FC236}">
                      <a16:creationId xmlns:a16="http://schemas.microsoft.com/office/drawing/2014/main" id="{CA6B2050-43E1-D822-8296-ECC5721E1C81}"/>
                    </a:ext>
                  </a:extLst>
                </p:cNvPr>
                <p:cNvSpPr/>
                <p:nvPr/>
              </p:nvSpPr>
              <p:spPr>
                <a:xfrm>
                  <a:off x="8836170" y="5395406"/>
                  <a:ext cx="92956" cy="128499"/>
                </a:xfrm>
                <a:custGeom>
                  <a:avLst/>
                  <a:gdLst>
                    <a:gd name="connsiteX0" fmla="*/ 76553 w 92956"/>
                    <a:gd name="connsiteY0" fmla="*/ 128500 h 128499"/>
                    <a:gd name="connsiteX1" fmla="*/ 32809 w 92956"/>
                    <a:gd name="connsiteY1" fmla="*/ 87489 h 128499"/>
                    <a:gd name="connsiteX2" fmla="*/ 13670 w 92956"/>
                    <a:gd name="connsiteY2" fmla="*/ 49212 h 128499"/>
                    <a:gd name="connsiteX3" fmla="*/ 0 w 92956"/>
                    <a:gd name="connsiteY3" fmla="*/ 8202 h 128499"/>
                    <a:gd name="connsiteX4" fmla="*/ 27340 w 92956"/>
                    <a:gd name="connsiteY4" fmla="*/ 0 h 128499"/>
                    <a:gd name="connsiteX5" fmla="*/ 41011 w 92956"/>
                    <a:gd name="connsiteY5" fmla="*/ 38276 h 128499"/>
                    <a:gd name="connsiteX6" fmla="*/ 57415 w 92956"/>
                    <a:gd name="connsiteY6" fmla="*/ 71085 h 128499"/>
                    <a:gd name="connsiteX7" fmla="*/ 92957 w 92956"/>
                    <a:gd name="connsiteY7" fmla="*/ 106627 h 128499"/>
                    <a:gd name="connsiteX8" fmla="*/ 76553 w 92956"/>
                    <a:gd name="connsiteY8" fmla="*/ 128500 h 128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2956" h="128499">
                      <a:moveTo>
                        <a:pt x="76553" y="128500"/>
                      </a:moveTo>
                      <a:cubicBezTo>
                        <a:pt x="60149" y="117563"/>
                        <a:pt x="46479" y="103893"/>
                        <a:pt x="32809" y="87489"/>
                      </a:cubicBezTo>
                      <a:cubicBezTo>
                        <a:pt x="21872" y="73819"/>
                        <a:pt x="16404" y="60149"/>
                        <a:pt x="13670" y="49212"/>
                      </a:cubicBezTo>
                      <a:cubicBezTo>
                        <a:pt x="10936" y="38276"/>
                        <a:pt x="5468" y="27340"/>
                        <a:pt x="0" y="8202"/>
                      </a:cubicBezTo>
                      <a:lnTo>
                        <a:pt x="27340" y="0"/>
                      </a:lnTo>
                      <a:cubicBezTo>
                        <a:pt x="32809" y="16404"/>
                        <a:pt x="35542" y="30074"/>
                        <a:pt x="41011" y="38276"/>
                      </a:cubicBezTo>
                      <a:cubicBezTo>
                        <a:pt x="43745" y="46478"/>
                        <a:pt x="49212" y="57414"/>
                        <a:pt x="57415" y="71085"/>
                      </a:cubicBezTo>
                      <a:cubicBezTo>
                        <a:pt x="68351" y="84755"/>
                        <a:pt x="79287" y="95691"/>
                        <a:pt x="92957" y="106627"/>
                      </a:cubicBezTo>
                      <a:lnTo>
                        <a:pt x="76553" y="128500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47" name="Полилиния: фигура 169">
              <a:extLst>
                <a:ext uri="{FF2B5EF4-FFF2-40B4-BE49-F238E27FC236}">
                  <a16:creationId xmlns:a16="http://schemas.microsoft.com/office/drawing/2014/main" id="{45FA4CDA-5846-0FAB-200C-4A8DBDB073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80745" y="550203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: фигура 170">
              <a:extLst>
                <a:ext uri="{FF2B5EF4-FFF2-40B4-BE49-F238E27FC236}">
                  <a16:creationId xmlns:a16="http://schemas.microsoft.com/office/drawing/2014/main" id="{35BD4D61-17FD-7900-25A0-1957D5B4AF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7373" y="550203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6 w 65616"/>
                <a:gd name="connsiteY1" fmla="*/ 0 h 65616"/>
                <a:gd name="connsiteX2" fmla="*/ 65616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6" y="0"/>
                  </a:lnTo>
                  <a:lnTo>
                    <a:pt x="65616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D5A2120B-36FB-48DE-BDEB-191F023D3B6C}"/>
              </a:ext>
            </a:extLst>
          </p:cNvPr>
          <p:cNvSpPr/>
          <p:nvPr/>
        </p:nvSpPr>
        <p:spPr bwMode="auto">
          <a:xfrm>
            <a:off x="3179119" y="5355048"/>
            <a:ext cx="3042091" cy="650596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CE5DE45F-72DD-4FBD-A8FB-30FD8D3B9376}"/>
              </a:ext>
            </a:extLst>
          </p:cNvPr>
          <p:cNvSpPr/>
          <p:nvPr/>
        </p:nvSpPr>
        <p:spPr bwMode="auto">
          <a:xfrm>
            <a:off x="578069" y="3228138"/>
            <a:ext cx="2510878" cy="650596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95FF59F0-2FF3-4635-854C-BD3FEF551B32}"/>
              </a:ext>
            </a:extLst>
          </p:cNvPr>
          <p:cNvSpPr/>
          <p:nvPr/>
        </p:nvSpPr>
        <p:spPr bwMode="auto">
          <a:xfrm>
            <a:off x="3180063" y="3228138"/>
            <a:ext cx="3041148" cy="641263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4CD85E73-74F8-4509-9250-5E5422FFEACF}"/>
              </a:ext>
            </a:extLst>
          </p:cNvPr>
          <p:cNvSpPr/>
          <p:nvPr/>
        </p:nvSpPr>
        <p:spPr bwMode="auto">
          <a:xfrm>
            <a:off x="578069" y="3958605"/>
            <a:ext cx="2510878" cy="586103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65">
            <a:extLst>
              <a:ext uri="{FF2B5EF4-FFF2-40B4-BE49-F238E27FC236}">
                <a16:creationId xmlns:a16="http://schemas.microsoft.com/office/drawing/2014/main" id="{31F511CE-E979-41CC-99F6-0A71C8357122}"/>
              </a:ext>
            </a:extLst>
          </p:cNvPr>
          <p:cNvSpPr/>
          <p:nvPr/>
        </p:nvSpPr>
        <p:spPr>
          <a:xfrm>
            <a:off x="8451624" y="4719390"/>
            <a:ext cx="34969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Единое понимание</a:t>
            </a:r>
            <a:b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подходов, инструментов тестирования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и приоритетов проекта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25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стратегии тестирования</a:t>
            </a:r>
          </a:p>
        </p:txBody>
      </p:sp>
      <p:sp>
        <p:nvSpPr>
          <p:cNvPr id="26" name="Rectangle: Rounded Corners 9">
            <a:extLst>
              <a:ext uri="{FF2B5EF4-FFF2-40B4-BE49-F238E27FC236}">
                <a16:creationId xmlns:a16="http://schemas.microsoft.com/office/drawing/2014/main" id="{AA61F46C-2541-46B4-9721-8B3E3C88849F}"/>
              </a:ext>
            </a:extLst>
          </p:cNvPr>
          <p:cNvSpPr/>
          <p:nvPr/>
        </p:nvSpPr>
        <p:spPr>
          <a:xfrm>
            <a:off x="544273" y="1168249"/>
            <a:ext cx="11103453" cy="1431530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691E1028-F78E-47A9-81C9-EDF76CEFA14E}"/>
              </a:ext>
            </a:extLst>
          </p:cNvPr>
          <p:cNvSpPr txBox="1"/>
          <p:nvPr/>
        </p:nvSpPr>
        <p:spPr>
          <a:xfrm>
            <a:off x="526330" y="860841"/>
            <a:ext cx="2682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56FDE138-EB5D-4C3F-81BC-723A5CC23716}"/>
              </a:ext>
            </a:extLst>
          </p:cNvPr>
          <p:cNvSpPr/>
          <p:nvPr/>
        </p:nvSpPr>
        <p:spPr>
          <a:xfrm>
            <a:off x="1021962" y="1331617"/>
            <a:ext cx="1863751" cy="1077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четкий унифицированный воспроизводимый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 тестирования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предсказуемыми результатами</a:t>
            </a: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D3E19C69-8132-4A0C-9FBD-521ECFE194C6}"/>
              </a:ext>
            </a:extLst>
          </p:cNvPr>
          <p:cNvSpPr/>
          <p:nvPr/>
        </p:nvSpPr>
        <p:spPr>
          <a:xfrm>
            <a:off x="3033629" y="1331617"/>
            <a:ext cx="1827365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Создать основу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для непрерывного совершенствования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QA-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процессов</a:t>
            </a:r>
          </a:p>
        </p:txBody>
      </p:sp>
      <p:sp>
        <p:nvSpPr>
          <p:cNvPr id="30" name="Rectangle 15">
            <a:extLst>
              <a:ext uri="{FF2B5EF4-FFF2-40B4-BE49-F238E27FC236}">
                <a16:creationId xmlns:a16="http://schemas.microsoft.com/office/drawing/2014/main" id="{ED5A914A-483B-4C44-B73F-EB90DCCEE1E1}"/>
              </a:ext>
            </a:extLst>
          </p:cNvPr>
          <p:cNvSpPr/>
          <p:nvPr/>
        </p:nvSpPr>
        <p:spPr>
          <a:xfrm>
            <a:off x="4955153" y="1331617"/>
            <a:ext cx="1647521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единое понимание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QA-командой приоритетов проекта/продукта</a:t>
            </a:r>
          </a:p>
        </p:txBody>
      </p:sp>
      <p:sp>
        <p:nvSpPr>
          <p:cNvPr id="31" name="Rectangle 16">
            <a:extLst>
              <a:ext uri="{FF2B5EF4-FFF2-40B4-BE49-F238E27FC236}">
                <a16:creationId xmlns:a16="http://schemas.microsoft.com/office/drawing/2014/main" id="{1E9DE71B-F90F-4930-AF37-675805829CAE}"/>
              </a:ext>
            </a:extLst>
          </p:cNvPr>
          <p:cNvSpPr/>
          <p:nvPr/>
        </p:nvSpPr>
        <p:spPr>
          <a:xfrm>
            <a:off x="6760027" y="1331617"/>
            <a:ext cx="1647520" cy="1077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необходимые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подходы,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инструменты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артефакты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32" name="Rectangle 17">
            <a:extLst>
              <a:ext uri="{FF2B5EF4-FFF2-40B4-BE49-F238E27FC236}">
                <a16:creationId xmlns:a16="http://schemas.microsoft.com/office/drawing/2014/main" id="{248A4971-A993-408C-B323-26C3069A0C04}"/>
              </a:ext>
            </a:extLst>
          </p:cNvPr>
          <p:cNvSpPr/>
          <p:nvPr/>
        </p:nvSpPr>
        <p:spPr>
          <a:xfrm>
            <a:off x="8406421" y="1331617"/>
            <a:ext cx="1712132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критерии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успешности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выполнения проекта/продукта</a:t>
            </a:r>
          </a:p>
        </p:txBody>
      </p:sp>
      <p:sp>
        <p:nvSpPr>
          <p:cNvPr id="33" name="Rectangle 18">
            <a:extLst>
              <a:ext uri="{FF2B5EF4-FFF2-40B4-BE49-F238E27FC236}">
                <a16:creationId xmlns:a16="http://schemas.microsoft.com/office/drawing/2014/main" id="{B4834D56-401F-4BBD-A511-44AB8F86B78C}"/>
              </a:ext>
            </a:extLst>
          </p:cNvPr>
          <p:cNvSpPr/>
          <p:nvPr/>
        </p:nvSpPr>
        <p:spPr>
          <a:xfrm>
            <a:off x="10116455" y="1331617"/>
            <a:ext cx="1587263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Обеспечить эффективное распределение ресурсов тестирования</a:t>
            </a: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05C1DE39-FE12-4FAF-8B9E-91233EFC7D1C}"/>
              </a:ext>
            </a:extLst>
          </p:cNvPr>
          <p:cNvSpPr txBox="1"/>
          <p:nvPr/>
        </p:nvSpPr>
        <p:spPr>
          <a:xfrm>
            <a:off x="526330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Стратегия определяет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A28F4FBB-FE2A-4C39-BADC-C3F85C5CAC30}"/>
              </a:ext>
            </a:extLst>
          </p:cNvPr>
          <p:cNvSpPr txBox="1"/>
          <p:nvPr/>
        </p:nvSpPr>
        <p:spPr>
          <a:xfrm>
            <a:off x="7491587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grpSp>
        <p:nvGrpSpPr>
          <p:cNvPr id="36" name="Группа 101">
            <a:extLst>
              <a:ext uri="{FF2B5EF4-FFF2-40B4-BE49-F238E27FC236}">
                <a16:creationId xmlns:a16="http://schemas.microsoft.com/office/drawing/2014/main" id="{6CECF41F-1313-4A63-82DD-A3670BE44710}"/>
              </a:ext>
            </a:extLst>
          </p:cNvPr>
          <p:cNvGrpSpPr>
            <a:grpSpLocks noChangeAspect="1"/>
          </p:cNvGrpSpPr>
          <p:nvPr/>
        </p:nvGrpSpPr>
        <p:grpSpPr>
          <a:xfrm>
            <a:off x="855823" y="1392769"/>
            <a:ext cx="86027" cy="173846"/>
            <a:chOff x="709299" y="904822"/>
            <a:chExt cx="432256" cy="873515"/>
          </a:xfrm>
        </p:grpSpPr>
        <p:sp>
          <p:nvSpPr>
            <p:cNvPr id="37" name="Полилиния: фигура 499">
              <a:extLst>
                <a:ext uri="{FF2B5EF4-FFF2-40B4-BE49-F238E27FC236}">
                  <a16:creationId xmlns:a16="http://schemas.microsoft.com/office/drawing/2014/main" id="{956AAB12-21DC-40D8-8C3A-27B1B2DBF72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38" name="Рисунок 476">
              <a:extLst>
                <a:ext uri="{FF2B5EF4-FFF2-40B4-BE49-F238E27FC236}">
                  <a16:creationId xmlns:a16="http://schemas.microsoft.com/office/drawing/2014/main" id="{3E6596F2-ABF9-438D-8BCF-3541C5033F7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FFFFFF"/>
            </a:solidFill>
          </p:grpSpPr>
          <p:sp>
            <p:nvSpPr>
              <p:cNvPr id="39" name="Полилиния: фигура 501">
                <a:extLst>
                  <a:ext uri="{FF2B5EF4-FFF2-40B4-BE49-F238E27FC236}">
                    <a16:creationId xmlns:a16="http://schemas.microsoft.com/office/drawing/2014/main" id="{365BC67F-068F-4FD0-B1DE-1085F346E29D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502">
                <a:extLst>
                  <a:ext uri="{FF2B5EF4-FFF2-40B4-BE49-F238E27FC236}">
                    <a16:creationId xmlns:a16="http://schemas.microsoft.com/office/drawing/2014/main" id="{AC279EF5-6C88-406A-A860-4897CC8C8C38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" name="Группа 102">
            <a:extLst>
              <a:ext uri="{FF2B5EF4-FFF2-40B4-BE49-F238E27FC236}">
                <a16:creationId xmlns:a16="http://schemas.microsoft.com/office/drawing/2014/main" id="{5C748D65-237D-451D-9DCE-14786B18F9A6}"/>
              </a:ext>
            </a:extLst>
          </p:cNvPr>
          <p:cNvGrpSpPr>
            <a:grpSpLocks noChangeAspect="1"/>
          </p:cNvGrpSpPr>
          <p:nvPr/>
        </p:nvGrpSpPr>
        <p:grpSpPr>
          <a:xfrm>
            <a:off x="2873870" y="1412722"/>
            <a:ext cx="139209" cy="162814"/>
            <a:chOff x="1571161" y="904822"/>
            <a:chExt cx="749659" cy="876775"/>
          </a:xfrm>
        </p:grpSpPr>
        <p:sp>
          <p:nvSpPr>
            <p:cNvPr id="42" name="Полилиния: фигура 504">
              <a:extLst>
                <a:ext uri="{FF2B5EF4-FFF2-40B4-BE49-F238E27FC236}">
                  <a16:creationId xmlns:a16="http://schemas.microsoft.com/office/drawing/2014/main" id="{4FE19686-9773-409E-8AB6-3093C56F17B9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3" name="Рисунок 481">
              <a:extLst>
                <a:ext uri="{FF2B5EF4-FFF2-40B4-BE49-F238E27FC236}">
                  <a16:creationId xmlns:a16="http://schemas.microsoft.com/office/drawing/2014/main" id="{05B0D46F-FA28-4C14-8F6D-D2B93D7C4902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FFFFFF"/>
            </a:solidFill>
          </p:grpSpPr>
          <p:sp>
            <p:nvSpPr>
              <p:cNvPr id="44" name="Полилиния: фигура 506">
                <a:extLst>
                  <a:ext uri="{FF2B5EF4-FFF2-40B4-BE49-F238E27FC236}">
                    <a16:creationId xmlns:a16="http://schemas.microsoft.com/office/drawing/2014/main" id="{1F7602AC-6700-4F76-B3D9-13CC4DF1BE3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507">
                <a:extLst>
                  <a:ext uri="{FF2B5EF4-FFF2-40B4-BE49-F238E27FC236}">
                    <a16:creationId xmlns:a16="http://schemas.microsoft.com/office/drawing/2014/main" id="{104081EC-A3EC-4BAF-8F7E-9143ACC3C6A1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" name="Группа 103">
            <a:extLst>
              <a:ext uri="{FF2B5EF4-FFF2-40B4-BE49-F238E27FC236}">
                <a16:creationId xmlns:a16="http://schemas.microsoft.com/office/drawing/2014/main" id="{3D558282-4351-4FAD-979B-4E39F5B3CA77}"/>
              </a:ext>
            </a:extLst>
          </p:cNvPr>
          <p:cNvGrpSpPr>
            <a:grpSpLocks noChangeAspect="1"/>
          </p:cNvGrpSpPr>
          <p:nvPr/>
        </p:nvGrpSpPr>
        <p:grpSpPr>
          <a:xfrm>
            <a:off x="4755752" y="1405142"/>
            <a:ext cx="129837" cy="176477"/>
            <a:chOff x="2784188" y="876468"/>
            <a:chExt cx="671434" cy="912628"/>
          </a:xfrm>
        </p:grpSpPr>
        <p:sp>
          <p:nvSpPr>
            <p:cNvPr id="47" name="Полилиния: фигура 509">
              <a:extLst>
                <a:ext uri="{FF2B5EF4-FFF2-40B4-BE49-F238E27FC236}">
                  <a16:creationId xmlns:a16="http://schemas.microsoft.com/office/drawing/2014/main" id="{88E9B49E-AF44-43DF-AEA4-E9B502B5EE76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8" name="Полилиния: фигура 510">
              <a:extLst>
                <a:ext uri="{FF2B5EF4-FFF2-40B4-BE49-F238E27FC236}">
                  <a16:creationId xmlns:a16="http://schemas.microsoft.com/office/drawing/2014/main" id="{ABD168FC-5197-4A43-B706-A435F4D93023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FFFFFF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49" name="Группа 104">
            <a:extLst>
              <a:ext uri="{FF2B5EF4-FFF2-40B4-BE49-F238E27FC236}">
                <a16:creationId xmlns:a16="http://schemas.microsoft.com/office/drawing/2014/main" id="{F1F244A8-80CD-4393-ABB3-B65C2CB0D6D8}"/>
              </a:ext>
            </a:extLst>
          </p:cNvPr>
          <p:cNvGrpSpPr>
            <a:grpSpLocks noChangeAspect="1"/>
          </p:cNvGrpSpPr>
          <p:nvPr/>
        </p:nvGrpSpPr>
        <p:grpSpPr>
          <a:xfrm>
            <a:off x="6579947" y="1416487"/>
            <a:ext cx="154417" cy="165132"/>
            <a:chOff x="3862546" y="921118"/>
            <a:chExt cx="798550" cy="853959"/>
          </a:xfrm>
        </p:grpSpPr>
        <p:sp>
          <p:nvSpPr>
            <p:cNvPr id="50" name="Полилиния: фигура 76">
              <a:extLst>
                <a:ext uri="{FF2B5EF4-FFF2-40B4-BE49-F238E27FC236}">
                  <a16:creationId xmlns:a16="http://schemas.microsoft.com/office/drawing/2014/main" id="{47F20D21-0E6E-4F4D-8673-D2CCCACF81EC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51" name="Рисунок 485">
              <a:extLst>
                <a:ext uri="{FF2B5EF4-FFF2-40B4-BE49-F238E27FC236}">
                  <a16:creationId xmlns:a16="http://schemas.microsoft.com/office/drawing/2014/main" id="{7A33BBBB-7DD6-4360-9B8F-642EF253B4EB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FFFFFF"/>
            </a:solidFill>
          </p:grpSpPr>
          <p:sp>
            <p:nvSpPr>
              <p:cNvPr id="52" name="Полилиния: фигура 78">
                <a:extLst>
                  <a:ext uri="{FF2B5EF4-FFF2-40B4-BE49-F238E27FC236}">
                    <a16:creationId xmlns:a16="http://schemas.microsoft.com/office/drawing/2014/main" id="{4C152417-AE4B-4863-B2E5-CE28F3230F30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79">
                <a:extLst>
                  <a:ext uri="{FF2B5EF4-FFF2-40B4-BE49-F238E27FC236}">
                    <a16:creationId xmlns:a16="http://schemas.microsoft.com/office/drawing/2014/main" id="{899A5550-6CB8-4DBB-B8BA-6B4D5BD3F590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" name="Группа 105">
            <a:extLst>
              <a:ext uri="{FF2B5EF4-FFF2-40B4-BE49-F238E27FC236}">
                <a16:creationId xmlns:a16="http://schemas.microsoft.com/office/drawing/2014/main" id="{928B1318-06D2-4483-BBFC-CCFCECB00231}"/>
              </a:ext>
            </a:extLst>
          </p:cNvPr>
          <p:cNvGrpSpPr>
            <a:grpSpLocks noChangeAspect="1"/>
          </p:cNvGrpSpPr>
          <p:nvPr/>
        </p:nvGrpSpPr>
        <p:grpSpPr>
          <a:xfrm>
            <a:off x="8239196" y="1420974"/>
            <a:ext cx="134248" cy="170805"/>
            <a:chOff x="5133962" y="904822"/>
            <a:chExt cx="694248" cy="883294"/>
          </a:xfrm>
        </p:grpSpPr>
        <p:sp>
          <p:nvSpPr>
            <p:cNvPr id="55" name="Полилиния: фигура 81">
              <a:extLst>
                <a:ext uri="{FF2B5EF4-FFF2-40B4-BE49-F238E27FC236}">
                  <a16:creationId xmlns:a16="http://schemas.microsoft.com/office/drawing/2014/main" id="{5E68F1FF-FA5C-4D56-B09C-289349C0E56F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6" name="Полилиния: фигура 82">
              <a:extLst>
                <a:ext uri="{FF2B5EF4-FFF2-40B4-BE49-F238E27FC236}">
                  <a16:creationId xmlns:a16="http://schemas.microsoft.com/office/drawing/2014/main" id="{20F1460B-0608-415A-B00E-39A037B0A7AC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solidFill>
              <a:srgbClr val="FFFFFF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7" name="Полилиния: фигура 83">
              <a:extLst>
                <a:ext uri="{FF2B5EF4-FFF2-40B4-BE49-F238E27FC236}">
                  <a16:creationId xmlns:a16="http://schemas.microsoft.com/office/drawing/2014/main" id="{782A63AB-487D-474C-9216-F819674C17BF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58" name="Группа 106">
            <a:extLst>
              <a:ext uri="{FF2B5EF4-FFF2-40B4-BE49-F238E27FC236}">
                <a16:creationId xmlns:a16="http://schemas.microsoft.com/office/drawing/2014/main" id="{C9E5EB26-121C-4A9B-87EF-6059BD1CFCB5}"/>
              </a:ext>
            </a:extLst>
          </p:cNvPr>
          <p:cNvGrpSpPr>
            <a:grpSpLocks noChangeAspect="1"/>
          </p:cNvGrpSpPr>
          <p:nvPr/>
        </p:nvGrpSpPr>
        <p:grpSpPr>
          <a:xfrm>
            <a:off x="9960595" y="1425461"/>
            <a:ext cx="135510" cy="168914"/>
            <a:chOff x="6275002" y="904822"/>
            <a:chExt cx="700768" cy="873515"/>
          </a:xfrm>
        </p:grpSpPr>
        <p:sp>
          <p:nvSpPr>
            <p:cNvPr id="59" name="Полилиния: фигура 85">
              <a:extLst>
                <a:ext uri="{FF2B5EF4-FFF2-40B4-BE49-F238E27FC236}">
                  <a16:creationId xmlns:a16="http://schemas.microsoft.com/office/drawing/2014/main" id="{A1A5DD3B-6306-4189-BC11-3AE07B9A17DC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solidFill>
              <a:srgbClr val="000000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0" name="Полилиния: фигура 86">
              <a:extLst>
                <a:ext uri="{FF2B5EF4-FFF2-40B4-BE49-F238E27FC236}">
                  <a16:creationId xmlns:a16="http://schemas.microsoft.com/office/drawing/2014/main" id="{B2ABDDFA-770B-4E68-8B34-AD68288B38F7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FFFFFF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1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3620074"/>
            <a:ext cx="413412" cy="187038"/>
            <a:chOff x="10329863" y="3142398"/>
            <a:chExt cx="817563" cy="369887"/>
          </a:xfrm>
        </p:grpSpPr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3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4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5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4410666"/>
            <a:ext cx="413412" cy="187038"/>
            <a:chOff x="10329863" y="3142398"/>
            <a:chExt cx="817563" cy="369887"/>
          </a:xfrm>
        </p:grpSpPr>
        <p:sp>
          <p:nvSpPr>
            <p:cNvPr id="66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7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8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9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5268225"/>
            <a:ext cx="413412" cy="187038"/>
            <a:chOff x="10329863" y="3142398"/>
            <a:chExt cx="817563" cy="369887"/>
          </a:xfrm>
        </p:grpSpPr>
        <p:sp>
          <p:nvSpPr>
            <p:cNvPr id="70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1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2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01AA94D3-8148-45A9-B7B4-F5212B4161DC}"/>
              </a:ext>
            </a:extLst>
          </p:cNvPr>
          <p:cNvSpPr txBox="1">
            <a:spLocks/>
          </p:cNvSpPr>
          <p:nvPr/>
        </p:nvSpPr>
        <p:spPr>
          <a:xfrm>
            <a:off x="8451624" y="3233584"/>
            <a:ext cx="3672648" cy="6463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500"/>
              </a:lnSpc>
              <a:buClr>
                <a:srgbClr val="7D70EF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Четкое представление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 b="0">
                <a:solidFill>
                  <a:srgbClr val="000000"/>
                </a:solidFill>
                <a:latin typeface="Stapel"/>
              </a:rPr>
              <a:t>о состоянии проекта в любой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 b="0">
                <a:solidFill>
                  <a:srgbClr val="000000"/>
                </a:solidFill>
                <a:latin typeface="Stapel"/>
              </a:rPr>
              <a:t>момент времени</a:t>
            </a:r>
          </a:p>
        </p:txBody>
      </p:sp>
      <p:sp>
        <p:nvSpPr>
          <p:cNvPr id="74" name="Rectangle 64">
            <a:extLst>
              <a:ext uri="{FF2B5EF4-FFF2-40B4-BE49-F238E27FC236}">
                <a16:creationId xmlns:a16="http://schemas.microsoft.com/office/drawing/2014/main" id="{25149BAC-C3F1-4275-80EE-3E6C3592D122}"/>
              </a:ext>
            </a:extLst>
          </p:cNvPr>
          <p:cNvSpPr/>
          <p:nvPr/>
        </p:nvSpPr>
        <p:spPr>
          <a:xfrm>
            <a:off x="8451624" y="5572932"/>
            <a:ext cx="304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Эффективное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распределение ресурсов</a:t>
            </a:r>
          </a:p>
        </p:txBody>
      </p:sp>
      <p:sp>
        <p:nvSpPr>
          <p:cNvPr id="75" name="Rectangle 66">
            <a:extLst>
              <a:ext uri="{FF2B5EF4-FFF2-40B4-BE49-F238E27FC236}">
                <a16:creationId xmlns:a16="http://schemas.microsoft.com/office/drawing/2014/main" id="{4A23773E-18BF-4748-878B-56EAF005CC47}"/>
              </a:ext>
            </a:extLst>
          </p:cNvPr>
          <p:cNvSpPr/>
          <p:nvPr/>
        </p:nvSpPr>
        <p:spPr>
          <a:xfrm>
            <a:off x="8451624" y="4051605"/>
            <a:ext cx="3358040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Предсказуемые</a:t>
            </a:r>
            <a:b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результаты</a:t>
            </a:r>
          </a:p>
        </p:txBody>
      </p:sp>
      <p:sp>
        <p:nvSpPr>
          <p:cNvPr id="76" name="Rectangle 121">
            <a:extLst>
              <a:ext uri="{FF2B5EF4-FFF2-40B4-BE49-F238E27FC236}">
                <a16:creationId xmlns:a16="http://schemas.microsoft.com/office/drawing/2014/main" id="{5468F63B-E83F-465D-BCF7-F70D9093084A}"/>
              </a:ext>
            </a:extLst>
          </p:cNvPr>
          <p:cNvSpPr/>
          <p:nvPr/>
        </p:nvSpPr>
        <p:spPr>
          <a:xfrm>
            <a:off x="1323322" y="3337993"/>
            <a:ext cx="134299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Границы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работ</a:t>
            </a:r>
          </a:p>
        </p:txBody>
      </p:sp>
      <p:grpSp>
        <p:nvGrpSpPr>
          <p:cNvPr id="77" name="Группа 214">
            <a:extLst>
              <a:ext uri="{FF2B5EF4-FFF2-40B4-BE49-F238E27FC236}">
                <a16:creationId xmlns:a16="http://schemas.microsoft.com/office/drawing/2014/main" id="{442180C2-4CC3-452D-9D94-C13A4B53DDA5}"/>
              </a:ext>
            </a:extLst>
          </p:cNvPr>
          <p:cNvGrpSpPr>
            <a:grpSpLocks noChangeAspect="1"/>
          </p:cNvGrpSpPr>
          <p:nvPr/>
        </p:nvGrpSpPr>
        <p:grpSpPr>
          <a:xfrm>
            <a:off x="7583563" y="4790139"/>
            <a:ext cx="499766" cy="497310"/>
            <a:chOff x="4834161" y="2791079"/>
            <a:chExt cx="1112752" cy="1107284"/>
          </a:xfrm>
        </p:grpSpPr>
        <p:sp>
          <p:nvSpPr>
            <p:cNvPr id="78" name="Полилиния: фигура 43">
              <a:extLst>
                <a:ext uri="{FF2B5EF4-FFF2-40B4-BE49-F238E27FC236}">
                  <a16:creationId xmlns:a16="http://schemas.microsoft.com/office/drawing/2014/main" id="{9C635148-CA03-4F61-8B00-BF0977DC25AB}"/>
                </a:ext>
              </a:extLst>
            </p:cNvPr>
            <p:cNvSpPr/>
            <p:nvPr/>
          </p:nvSpPr>
          <p:spPr>
            <a:xfrm>
              <a:off x="5345425" y="324766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: фигура 44">
              <a:extLst>
                <a:ext uri="{FF2B5EF4-FFF2-40B4-BE49-F238E27FC236}">
                  <a16:creationId xmlns:a16="http://schemas.microsoft.com/office/drawing/2014/main" id="{3EF2E56C-3739-49F3-9108-3536C48BBF91}"/>
                </a:ext>
              </a:extLst>
            </p:cNvPr>
            <p:cNvSpPr/>
            <p:nvPr/>
          </p:nvSpPr>
          <p:spPr>
            <a:xfrm>
              <a:off x="5345425" y="3357024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solidFill>
              <a:srgbClr val="8F0D6B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: фигура 71">
              <a:extLst>
                <a:ext uri="{FF2B5EF4-FFF2-40B4-BE49-F238E27FC236}">
                  <a16:creationId xmlns:a16="http://schemas.microsoft.com/office/drawing/2014/main" id="{82077EC8-295A-432A-AC75-60B05773215C}"/>
                </a:ext>
              </a:extLst>
            </p:cNvPr>
            <p:cNvSpPr/>
            <p:nvPr/>
          </p:nvSpPr>
          <p:spPr>
            <a:xfrm>
              <a:off x="4947497" y="3470360"/>
              <a:ext cx="208040" cy="206546"/>
            </a:xfrm>
            <a:custGeom>
              <a:avLst/>
              <a:gdLst>
                <a:gd name="connsiteX0" fmla="*/ 102653 w 208040"/>
                <a:gd name="connsiteY0" fmla="*/ 206546 h 206546"/>
                <a:gd name="connsiteX1" fmla="*/ 61643 w 208040"/>
                <a:gd name="connsiteY1" fmla="*/ 198344 h 206546"/>
                <a:gd name="connsiteX2" fmla="*/ 6962 w 208040"/>
                <a:gd name="connsiteY2" fmla="*/ 140930 h 206546"/>
                <a:gd name="connsiteX3" fmla="*/ 9696 w 208040"/>
                <a:gd name="connsiteY3" fmla="*/ 61643 h 206546"/>
                <a:gd name="connsiteX4" fmla="*/ 67111 w 208040"/>
                <a:gd name="connsiteY4" fmla="*/ 6962 h 206546"/>
                <a:gd name="connsiteX5" fmla="*/ 146398 w 208040"/>
                <a:gd name="connsiteY5" fmla="*/ 9696 h 206546"/>
                <a:gd name="connsiteX6" fmla="*/ 201079 w 208040"/>
                <a:gd name="connsiteY6" fmla="*/ 67111 h 206546"/>
                <a:gd name="connsiteX7" fmla="*/ 201079 w 208040"/>
                <a:gd name="connsiteY7" fmla="*/ 67111 h 206546"/>
                <a:gd name="connsiteX8" fmla="*/ 198344 w 208040"/>
                <a:gd name="connsiteY8" fmla="*/ 146398 h 206546"/>
                <a:gd name="connsiteX9" fmla="*/ 140929 w 208040"/>
                <a:gd name="connsiteY9" fmla="*/ 201078 h 206546"/>
                <a:gd name="connsiteX10" fmla="*/ 102653 w 208040"/>
                <a:gd name="connsiteY10" fmla="*/ 206546 h 206546"/>
                <a:gd name="connsiteX11" fmla="*/ 102653 w 208040"/>
                <a:gd name="connsiteY11" fmla="*/ 23366 h 206546"/>
                <a:gd name="connsiteX12" fmla="*/ 75313 w 208040"/>
                <a:gd name="connsiteY12" fmla="*/ 28834 h 206546"/>
                <a:gd name="connsiteX13" fmla="*/ 31568 w 208040"/>
                <a:gd name="connsiteY13" fmla="*/ 69845 h 206546"/>
                <a:gd name="connsiteX14" fmla="*/ 31568 w 208040"/>
                <a:gd name="connsiteY14" fmla="*/ 127260 h 206546"/>
                <a:gd name="connsiteX15" fmla="*/ 129993 w 208040"/>
                <a:gd name="connsiteY15" fmla="*/ 171004 h 206546"/>
                <a:gd name="connsiteX16" fmla="*/ 173738 w 208040"/>
                <a:gd name="connsiteY16" fmla="*/ 129994 h 206546"/>
                <a:gd name="connsiteX17" fmla="*/ 173738 w 208040"/>
                <a:gd name="connsiteY17" fmla="*/ 72579 h 206546"/>
                <a:gd name="connsiteX18" fmla="*/ 132728 w 208040"/>
                <a:gd name="connsiteY18" fmla="*/ 28834 h 206546"/>
                <a:gd name="connsiteX19" fmla="*/ 102653 w 208040"/>
                <a:gd name="connsiteY19" fmla="*/ 23366 h 206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8040" h="206546">
                  <a:moveTo>
                    <a:pt x="102653" y="206546"/>
                  </a:moveTo>
                  <a:cubicBezTo>
                    <a:pt x="88983" y="206546"/>
                    <a:pt x="75313" y="203812"/>
                    <a:pt x="61643" y="198344"/>
                  </a:cubicBezTo>
                  <a:cubicBezTo>
                    <a:pt x="37036" y="187408"/>
                    <a:pt x="17898" y="165536"/>
                    <a:pt x="6962" y="140930"/>
                  </a:cubicBezTo>
                  <a:cubicBezTo>
                    <a:pt x="-3974" y="116323"/>
                    <a:pt x="-1240" y="86249"/>
                    <a:pt x="9696" y="61643"/>
                  </a:cubicBezTo>
                  <a:cubicBezTo>
                    <a:pt x="20632" y="37036"/>
                    <a:pt x="42504" y="17898"/>
                    <a:pt x="67111" y="6962"/>
                  </a:cubicBezTo>
                  <a:cubicBezTo>
                    <a:pt x="91717" y="-3974"/>
                    <a:pt x="121791" y="-1240"/>
                    <a:pt x="146398" y="9696"/>
                  </a:cubicBezTo>
                  <a:cubicBezTo>
                    <a:pt x="171004" y="20632"/>
                    <a:pt x="190142" y="42504"/>
                    <a:pt x="201079" y="67111"/>
                  </a:cubicBezTo>
                  <a:lnTo>
                    <a:pt x="201079" y="67111"/>
                  </a:lnTo>
                  <a:cubicBezTo>
                    <a:pt x="212015" y="91717"/>
                    <a:pt x="209280" y="121791"/>
                    <a:pt x="198344" y="146398"/>
                  </a:cubicBezTo>
                  <a:cubicBezTo>
                    <a:pt x="187408" y="171004"/>
                    <a:pt x="165536" y="190142"/>
                    <a:pt x="140929" y="201078"/>
                  </a:cubicBezTo>
                  <a:cubicBezTo>
                    <a:pt x="127259" y="203812"/>
                    <a:pt x="113589" y="206546"/>
                    <a:pt x="102653" y="206546"/>
                  </a:cubicBezTo>
                  <a:close/>
                  <a:moveTo>
                    <a:pt x="102653" y="23366"/>
                  </a:moveTo>
                  <a:cubicBezTo>
                    <a:pt x="94451" y="23366"/>
                    <a:pt x="83515" y="26100"/>
                    <a:pt x="75313" y="28834"/>
                  </a:cubicBezTo>
                  <a:cubicBezTo>
                    <a:pt x="56175" y="37036"/>
                    <a:pt x="39770" y="50707"/>
                    <a:pt x="31568" y="69845"/>
                  </a:cubicBezTo>
                  <a:cubicBezTo>
                    <a:pt x="23366" y="88983"/>
                    <a:pt x="23366" y="110855"/>
                    <a:pt x="31568" y="127260"/>
                  </a:cubicBezTo>
                  <a:cubicBezTo>
                    <a:pt x="47972" y="165536"/>
                    <a:pt x="91717" y="187408"/>
                    <a:pt x="129993" y="171004"/>
                  </a:cubicBezTo>
                  <a:cubicBezTo>
                    <a:pt x="149132" y="162802"/>
                    <a:pt x="165536" y="149132"/>
                    <a:pt x="173738" y="129994"/>
                  </a:cubicBezTo>
                  <a:cubicBezTo>
                    <a:pt x="181940" y="110855"/>
                    <a:pt x="181940" y="88983"/>
                    <a:pt x="173738" y="72579"/>
                  </a:cubicBezTo>
                  <a:cubicBezTo>
                    <a:pt x="165536" y="53441"/>
                    <a:pt x="151866" y="37036"/>
                    <a:pt x="132728" y="28834"/>
                  </a:cubicBezTo>
                  <a:cubicBezTo>
                    <a:pt x="121791" y="26100"/>
                    <a:pt x="110855" y="23366"/>
                    <a:pt x="102653" y="23366"/>
                  </a:cubicBez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: фигура 72">
              <a:extLst>
                <a:ext uri="{FF2B5EF4-FFF2-40B4-BE49-F238E27FC236}">
                  <a16:creationId xmlns:a16="http://schemas.microsoft.com/office/drawing/2014/main" id="{AE7C5392-2E27-4564-8081-8D625C9F8B95}"/>
                </a:ext>
              </a:extLst>
            </p:cNvPr>
            <p:cNvSpPr/>
            <p:nvPr/>
          </p:nvSpPr>
          <p:spPr>
            <a:xfrm>
              <a:off x="5588755" y="3466386"/>
              <a:ext cx="207786" cy="207786"/>
            </a:xfrm>
            <a:custGeom>
              <a:avLst/>
              <a:gdLst>
                <a:gd name="connsiteX0" fmla="*/ 103893 w 207786"/>
                <a:gd name="connsiteY0" fmla="*/ 207787 h 207786"/>
                <a:gd name="connsiteX1" fmla="*/ 0 w 207786"/>
                <a:gd name="connsiteY1" fmla="*/ 103893 h 207786"/>
                <a:gd name="connsiteX2" fmla="*/ 103893 w 207786"/>
                <a:gd name="connsiteY2" fmla="*/ 0 h 207786"/>
                <a:gd name="connsiteX3" fmla="*/ 207787 w 207786"/>
                <a:gd name="connsiteY3" fmla="*/ 103893 h 207786"/>
                <a:gd name="connsiteX4" fmla="*/ 103893 w 207786"/>
                <a:gd name="connsiteY4" fmla="*/ 207787 h 207786"/>
                <a:gd name="connsiteX5" fmla="*/ 103893 w 207786"/>
                <a:gd name="connsiteY5" fmla="*/ 27340 h 207786"/>
                <a:gd name="connsiteX6" fmla="*/ 27340 w 207786"/>
                <a:gd name="connsiteY6" fmla="*/ 103893 h 207786"/>
                <a:gd name="connsiteX7" fmla="*/ 103893 w 207786"/>
                <a:gd name="connsiteY7" fmla="*/ 180446 h 207786"/>
                <a:gd name="connsiteX8" fmla="*/ 180447 w 207786"/>
                <a:gd name="connsiteY8" fmla="*/ 103893 h 207786"/>
                <a:gd name="connsiteX9" fmla="*/ 103893 w 207786"/>
                <a:gd name="connsiteY9" fmla="*/ 27340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7786" h="207786">
                  <a:moveTo>
                    <a:pt x="103893" y="207787"/>
                  </a:moveTo>
                  <a:cubicBezTo>
                    <a:pt x="46479" y="207787"/>
                    <a:pt x="0" y="161308"/>
                    <a:pt x="0" y="103893"/>
                  </a:cubicBezTo>
                  <a:cubicBezTo>
                    <a:pt x="0" y="46479"/>
                    <a:pt x="46479" y="0"/>
                    <a:pt x="103893" y="0"/>
                  </a:cubicBezTo>
                  <a:cubicBezTo>
                    <a:pt x="161308" y="0"/>
                    <a:pt x="207787" y="46479"/>
                    <a:pt x="207787" y="103893"/>
                  </a:cubicBezTo>
                  <a:cubicBezTo>
                    <a:pt x="207787" y="161308"/>
                    <a:pt x="161308" y="207787"/>
                    <a:pt x="103893" y="207787"/>
                  </a:cubicBezTo>
                  <a:close/>
                  <a:moveTo>
                    <a:pt x="103893" y="27340"/>
                  </a:moveTo>
                  <a:cubicBezTo>
                    <a:pt x="62883" y="27340"/>
                    <a:pt x="27340" y="62883"/>
                    <a:pt x="27340" y="103893"/>
                  </a:cubicBezTo>
                  <a:cubicBezTo>
                    <a:pt x="27340" y="144904"/>
                    <a:pt x="62883" y="180446"/>
                    <a:pt x="103893" y="180446"/>
                  </a:cubicBezTo>
                  <a:cubicBezTo>
                    <a:pt x="144904" y="180446"/>
                    <a:pt x="180447" y="144904"/>
                    <a:pt x="180447" y="103893"/>
                  </a:cubicBezTo>
                  <a:cubicBezTo>
                    <a:pt x="180447" y="62883"/>
                    <a:pt x="144904" y="27340"/>
                    <a:pt x="103893" y="27340"/>
                  </a:cubicBez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: фигура 73">
              <a:extLst>
                <a:ext uri="{FF2B5EF4-FFF2-40B4-BE49-F238E27FC236}">
                  <a16:creationId xmlns:a16="http://schemas.microsoft.com/office/drawing/2014/main" id="{59919D81-544D-4B3F-A9D1-C527154A25A4}"/>
                </a:ext>
              </a:extLst>
            </p:cNvPr>
            <p:cNvSpPr/>
            <p:nvPr/>
          </p:nvSpPr>
          <p:spPr>
            <a:xfrm>
              <a:off x="5279808" y="3466386"/>
              <a:ext cx="207786" cy="207786"/>
            </a:xfrm>
            <a:custGeom>
              <a:avLst/>
              <a:gdLst>
                <a:gd name="connsiteX0" fmla="*/ 103893 w 207786"/>
                <a:gd name="connsiteY0" fmla="*/ 207787 h 207786"/>
                <a:gd name="connsiteX1" fmla="*/ 0 w 207786"/>
                <a:gd name="connsiteY1" fmla="*/ 103893 h 207786"/>
                <a:gd name="connsiteX2" fmla="*/ 103893 w 207786"/>
                <a:gd name="connsiteY2" fmla="*/ 0 h 207786"/>
                <a:gd name="connsiteX3" fmla="*/ 207787 w 207786"/>
                <a:gd name="connsiteY3" fmla="*/ 103893 h 207786"/>
                <a:gd name="connsiteX4" fmla="*/ 103893 w 207786"/>
                <a:gd name="connsiteY4" fmla="*/ 207787 h 207786"/>
                <a:gd name="connsiteX5" fmla="*/ 103893 w 207786"/>
                <a:gd name="connsiteY5" fmla="*/ 27340 h 207786"/>
                <a:gd name="connsiteX6" fmla="*/ 27340 w 207786"/>
                <a:gd name="connsiteY6" fmla="*/ 103893 h 207786"/>
                <a:gd name="connsiteX7" fmla="*/ 103893 w 207786"/>
                <a:gd name="connsiteY7" fmla="*/ 180446 h 207786"/>
                <a:gd name="connsiteX8" fmla="*/ 180447 w 207786"/>
                <a:gd name="connsiteY8" fmla="*/ 103893 h 207786"/>
                <a:gd name="connsiteX9" fmla="*/ 103893 w 207786"/>
                <a:gd name="connsiteY9" fmla="*/ 27340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7786" h="207786">
                  <a:moveTo>
                    <a:pt x="103893" y="207787"/>
                  </a:moveTo>
                  <a:cubicBezTo>
                    <a:pt x="46479" y="207787"/>
                    <a:pt x="0" y="161308"/>
                    <a:pt x="0" y="103893"/>
                  </a:cubicBezTo>
                  <a:cubicBezTo>
                    <a:pt x="0" y="46479"/>
                    <a:pt x="46479" y="0"/>
                    <a:pt x="103893" y="0"/>
                  </a:cubicBezTo>
                  <a:cubicBezTo>
                    <a:pt x="161308" y="0"/>
                    <a:pt x="207787" y="46479"/>
                    <a:pt x="207787" y="103893"/>
                  </a:cubicBezTo>
                  <a:cubicBezTo>
                    <a:pt x="207787" y="161308"/>
                    <a:pt x="161308" y="207787"/>
                    <a:pt x="103893" y="207787"/>
                  </a:cubicBezTo>
                  <a:close/>
                  <a:moveTo>
                    <a:pt x="103893" y="27340"/>
                  </a:moveTo>
                  <a:cubicBezTo>
                    <a:pt x="62883" y="27340"/>
                    <a:pt x="27340" y="62883"/>
                    <a:pt x="27340" y="103893"/>
                  </a:cubicBezTo>
                  <a:cubicBezTo>
                    <a:pt x="27340" y="144904"/>
                    <a:pt x="62883" y="180446"/>
                    <a:pt x="103893" y="180446"/>
                  </a:cubicBezTo>
                  <a:cubicBezTo>
                    <a:pt x="144904" y="180446"/>
                    <a:pt x="180447" y="144904"/>
                    <a:pt x="180447" y="103893"/>
                  </a:cubicBezTo>
                  <a:cubicBezTo>
                    <a:pt x="180447" y="62883"/>
                    <a:pt x="144904" y="27340"/>
                    <a:pt x="103893" y="27340"/>
                  </a:cubicBez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83" name="Рисунок 16">
              <a:extLst>
                <a:ext uri="{FF2B5EF4-FFF2-40B4-BE49-F238E27FC236}">
                  <a16:creationId xmlns:a16="http://schemas.microsoft.com/office/drawing/2014/main" id="{D9FC7353-3839-47E9-8FD1-0504FBBFC242}"/>
                </a:ext>
              </a:extLst>
            </p:cNvPr>
            <p:cNvGrpSpPr/>
            <p:nvPr/>
          </p:nvGrpSpPr>
          <p:grpSpPr>
            <a:xfrm>
              <a:off x="5567604" y="3267310"/>
              <a:ext cx="146896" cy="141498"/>
              <a:chOff x="5567604" y="3267310"/>
              <a:chExt cx="146896" cy="141498"/>
            </a:xfrm>
            <a:solidFill>
              <a:srgbClr val="000000"/>
            </a:solidFill>
          </p:grpSpPr>
          <p:sp>
            <p:nvSpPr>
              <p:cNvPr id="84" name="Полилиния: фигура 75">
                <a:extLst>
                  <a:ext uri="{FF2B5EF4-FFF2-40B4-BE49-F238E27FC236}">
                    <a16:creationId xmlns:a16="http://schemas.microsoft.com/office/drawing/2014/main" id="{5912D5D5-2AFE-42D1-9A1B-29665FD948DB}"/>
                  </a:ext>
                </a:extLst>
              </p:cNvPr>
              <p:cNvSpPr/>
              <p:nvPr/>
            </p:nvSpPr>
            <p:spPr>
              <a:xfrm rot="2604694">
                <a:off x="5567604" y="3267310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3 w 65613"/>
                  <a:gd name="connsiteY1" fmla="*/ 0 h 62879"/>
                  <a:gd name="connsiteX2" fmla="*/ 65613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3" y="0"/>
                    </a:lnTo>
                    <a:lnTo>
                      <a:pt x="65613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FFFFFF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5" name="Полилиния: фигура 76">
                <a:extLst>
                  <a:ext uri="{FF2B5EF4-FFF2-40B4-BE49-F238E27FC236}">
                    <a16:creationId xmlns:a16="http://schemas.microsoft.com/office/drawing/2014/main" id="{480D12C2-B8A5-4C26-9A41-6F2D7E3DB4D4}"/>
                  </a:ext>
                </a:extLst>
              </p:cNvPr>
              <p:cNvSpPr/>
              <p:nvPr/>
            </p:nvSpPr>
            <p:spPr>
              <a:xfrm rot="2604694">
                <a:off x="5648887" y="3345929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3 w 65613"/>
                  <a:gd name="connsiteY1" fmla="*/ 0 h 62879"/>
                  <a:gd name="connsiteX2" fmla="*/ 65613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3" y="0"/>
                    </a:lnTo>
                    <a:lnTo>
                      <a:pt x="65613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FFFFFF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86" name="Рисунок 16">
              <a:extLst>
                <a:ext uri="{FF2B5EF4-FFF2-40B4-BE49-F238E27FC236}">
                  <a16:creationId xmlns:a16="http://schemas.microsoft.com/office/drawing/2014/main" id="{EAA3012B-A6A0-4D49-B116-721FCA54EE9B}"/>
                </a:ext>
              </a:extLst>
            </p:cNvPr>
            <p:cNvGrpSpPr/>
            <p:nvPr/>
          </p:nvGrpSpPr>
          <p:grpSpPr>
            <a:xfrm>
              <a:off x="5053932" y="3267619"/>
              <a:ext cx="147414" cy="142308"/>
              <a:chOff x="5053932" y="3267619"/>
              <a:chExt cx="147414" cy="142308"/>
            </a:xfrm>
            <a:solidFill>
              <a:srgbClr val="000000"/>
            </a:solidFill>
          </p:grpSpPr>
          <p:sp>
            <p:nvSpPr>
              <p:cNvPr id="87" name="Полилиния: фигура 78">
                <a:extLst>
                  <a:ext uri="{FF2B5EF4-FFF2-40B4-BE49-F238E27FC236}">
                    <a16:creationId xmlns:a16="http://schemas.microsoft.com/office/drawing/2014/main" id="{EFB9B621-B7A1-464F-A0F7-6FEC28FD8893}"/>
                  </a:ext>
                </a:extLst>
              </p:cNvPr>
              <p:cNvSpPr/>
              <p:nvPr/>
            </p:nvSpPr>
            <p:spPr>
              <a:xfrm rot="8195307">
                <a:off x="5135733" y="3267619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4 w 65613"/>
                  <a:gd name="connsiteY1" fmla="*/ 0 h 62879"/>
                  <a:gd name="connsiteX2" fmla="*/ 65614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4" y="0"/>
                    </a:lnTo>
                    <a:lnTo>
                      <a:pt x="65614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FFFFFF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8" name="Полилиния: фигура 79">
                <a:extLst>
                  <a:ext uri="{FF2B5EF4-FFF2-40B4-BE49-F238E27FC236}">
                    <a16:creationId xmlns:a16="http://schemas.microsoft.com/office/drawing/2014/main" id="{9F243C2B-0749-458E-8310-E0B7D252EC07}"/>
                  </a:ext>
                </a:extLst>
              </p:cNvPr>
              <p:cNvSpPr/>
              <p:nvPr/>
            </p:nvSpPr>
            <p:spPr>
              <a:xfrm rot="8195307">
                <a:off x="5053932" y="3347048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4 w 65613"/>
                  <a:gd name="connsiteY1" fmla="*/ 0 h 62879"/>
                  <a:gd name="connsiteX2" fmla="*/ 65614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4" y="0"/>
                    </a:lnTo>
                    <a:lnTo>
                      <a:pt x="65614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FFFFFF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89" name="Полилиния: фигура 80">
              <a:extLst>
                <a:ext uri="{FF2B5EF4-FFF2-40B4-BE49-F238E27FC236}">
                  <a16:creationId xmlns:a16="http://schemas.microsoft.com/office/drawing/2014/main" id="{F443F129-76C4-4E6D-A3D7-F3C29CE137DB}"/>
                </a:ext>
              </a:extLst>
            </p:cNvPr>
            <p:cNvSpPr/>
            <p:nvPr/>
          </p:nvSpPr>
          <p:spPr>
            <a:xfrm>
              <a:off x="4834161" y="3712449"/>
              <a:ext cx="328084" cy="185914"/>
            </a:xfrm>
            <a:custGeom>
              <a:avLst/>
              <a:gdLst>
                <a:gd name="connsiteX0" fmla="*/ 27340 w 328084"/>
                <a:gd name="connsiteY0" fmla="*/ 185914 h 185914"/>
                <a:gd name="connsiteX1" fmla="*/ 0 w 328084"/>
                <a:gd name="connsiteY1" fmla="*/ 185914 h 185914"/>
                <a:gd name="connsiteX2" fmla="*/ 2734 w 328084"/>
                <a:gd name="connsiteY2" fmla="*/ 95691 h 185914"/>
                <a:gd name="connsiteX3" fmla="*/ 38277 w 328084"/>
                <a:gd name="connsiteY3" fmla="*/ 24606 h 185914"/>
                <a:gd name="connsiteX4" fmla="*/ 191383 w 328084"/>
                <a:gd name="connsiteY4" fmla="*/ 0 h 185914"/>
                <a:gd name="connsiteX5" fmla="*/ 248797 w 328084"/>
                <a:gd name="connsiteY5" fmla="*/ 0 h 185914"/>
                <a:gd name="connsiteX6" fmla="*/ 328084 w 328084"/>
                <a:gd name="connsiteY6" fmla="*/ 16404 h 185914"/>
                <a:gd name="connsiteX7" fmla="*/ 314414 w 328084"/>
                <a:gd name="connsiteY7" fmla="*/ 41011 h 185914"/>
                <a:gd name="connsiteX8" fmla="*/ 248797 w 328084"/>
                <a:gd name="connsiteY8" fmla="*/ 27340 h 185914"/>
                <a:gd name="connsiteX9" fmla="*/ 191383 w 328084"/>
                <a:gd name="connsiteY9" fmla="*/ 27340 h 185914"/>
                <a:gd name="connsiteX10" fmla="*/ 57415 w 328084"/>
                <a:gd name="connsiteY10" fmla="*/ 43745 h 185914"/>
                <a:gd name="connsiteX11" fmla="*/ 30074 w 328084"/>
                <a:gd name="connsiteY11" fmla="*/ 95691 h 185914"/>
                <a:gd name="connsiteX12" fmla="*/ 27340 w 328084"/>
                <a:gd name="connsiteY12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8084" h="185914">
                  <a:moveTo>
                    <a:pt x="27340" y="185914"/>
                  </a:moveTo>
                  <a:lnTo>
                    <a:pt x="0" y="185914"/>
                  </a:lnTo>
                  <a:lnTo>
                    <a:pt x="2734" y="95691"/>
                  </a:lnTo>
                  <a:cubicBezTo>
                    <a:pt x="2734" y="82021"/>
                    <a:pt x="10936" y="49213"/>
                    <a:pt x="38277" y="24606"/>
                  </a:cubicBezTo>
                  <a:cubicBezTo>
                    <a:pt x="68351" y="0"/>
                    <a:pt x="112095" y="0"/>
                    <a:pt x="191383" y="0"/>
                  </a:cubicBezTo>
                  <a:cubicBezTo>
                    <a:pt x="207787" y="0"/>
                    <a:pt x="229659" y="0"/>
                    <a:pt x="248797" y="0"/>
                  </a:cubicBezTo>
                  <a:cubicBezTo>
                    <a:pt x="281606" y="0"/>
                    <a:pt x="308946" y="5468"/>
                    <a:pt x="328084" y="16404"/>
                  </a:cubicBezTo>
                  <a:lnTo>
                    <a:pt x="314414" y="41011"/>
                  </a:lnTo>
                  <a:cubicBezTo>
                    <a:pt x="298010" y="32808"/>
                    <a:pt x="276138" y="27340"/>
                    <a:pt x="248797" y="27340"/>
                  </a:cubicBezTo>
                  <a:cubicBezTo>
                    <a:pt x="226925" y="27340"/>
                    <a:pt x="207787" y="27340"/>
                    <a:pt x="191383" y="27340"/>
                  </a:cubicBezTo>
                  <a:cubicBezTo>
                    <a:pt x="117563" y="27340"/>
                    <a:pt x="79287" y="24606"/>
                    <a:pt x="57415" y="43745"/>
                  </a:cubicBezTo>
                  <a:cubicBezTo>
                    <a:pt x="35543" y="62883"/>
                    <a:pt x="32809" y="87489"/>
                    <a:pt x="30074" y="95691"/>
                  </a:cubicBezTo>
                  <a:lnTo>
                    <a:pt x="27340" y="185914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81">
              <a:extLst>
                <a:ext uri="{FF2B5EF4-FFF2-40B4-BE49-F238E27FC236}">
                  <a16:creationId xmlns:a16="http://schemas.microsoft.com/office/drawing/2014/main" id="{D6AC3FC1-D029-444E-A603-C3BF7C446608}"/>
                </a:ext>
              </a:extLst>
            </p:cNvPr>
            <p:cNvSpPr/>
            <p:nvPr/>
          </p:nvSpPr>
          <p:spPr>
            <a:xfrm>
              <a:off x="5416510" y="3712449"/>
              <a:ext cx="155840" cy="185914"/>
            </a:xfrm>
            <a:custGeom>
              <a:avLst/>
              <a:gdLst>
                <a:gd name="connsiteX0" fmla="*/ 155840 w 155840"/>
                <a:gd name="connsiteY0" fmla="*/ 185914 h 185914"/>
                <a:gd name="connsiteX1" fmla="*/ 128500 w 155840"/>
                <a:gd name="connsiteY1" fmla="*/ 185914 h 185914"/>
                <a:gd name="connsiteX2" fmla="*/ 128500 w 155840"/>
                <a:gd name="connsiteY2" fmla="*/ 161308 h 185914"/>
                <a:gd name="connsiteX3" fmla="*/ 128500 w 155840"/>
                <a:gd name="connsiteY3" fmla="*/ 109361 h 185914"/>
                <a:gd name="connsiteX4" fmla="*/ 106628 w 155840"/>
                <a:gd name="connsiteY4" fmla="*/ 49213 h 185914"/>
                <a:gd name="connsiteX5" fmla="*/ 30075 w 155840"/>
                <a:gd name="connsiteY5" fmla="*/ 27340 h 185914"/>
                <a:gd name="connsiteX6" fmla="*/ 0 w 155840"/>
                <a:gd name="connsiteY6" fmla="*/ 27340 h 185914"/>
                <a:gd name="connsiteX7" fmla="*/ 0 w 155840"/>
                <a:gd name="connsiteY7" fmla="*/ 0 h 185914"/>
                <a:gd name="connsiteX8" fmla="*/ 30075 w 155840"/>
                <a:gd name="connsiteY8" fmla="*/ 0 h 185914"/>
                <a:gd name="connsiteX9" fmla="*/ 125766 w 155840"/>
                <a:gd name="connsiteY9" fmla="*/ 30074 h 185914"/>
                <a:gd name="connsiteX10" fmla="*/ 155840 w 155840"/>
                <a:gd name="connsiteY10" fmla="*/ 109361 h 185914"/>
                <a:gd name="connsiteX11" fmla="*/ 155840 w 155840"/>
                <a:gd name="connsiteY11" fmla="*/ 161308 h 185914"/>
                <a:gd name="connsiteX12" fmla="*/ 155840 w 155840"/>
                <a:gd name="connsiteY12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840" h="185914">
                  <a:moveTo>
                    <a:pt x="155840" y="185914"/>
                  </a:moveTo>
                  <a:lnTo>
                    <a:pt x="128500" y="185914"/>
                  </a:lnTo>
                  <a:lnTo>
                    <a:pt x="128500" y="161308"/>
                  </a:lnTo>
                  <a:lnTo>
                    <a:pt x="128500" y="109361"/>
                  </a:lnTo>
                  <a:cubicBezTo>
                    <a:pt x="128500" y="92957"/>
                    <a:pt x="123032" y="65617"/>
                    <a:pt x="106628" y="49213"/>
                  </a:cubicBezTo>
                  <a:cubicBezTo>
                    <a:pt x="95691" y="38277"/>
                    <a:pt x="73819" y="27340"/>
                    <a:pt x="30075" y="27340"/>
                  </a:cubicBezTo>
                  <a:cubicBezTo>
                    <a:pt x="19139" y="27340"/>
                    <a:pt x="10936" y="27340"/>
                    <a:pt x="0" y="27340"/>
                  </a:cubicBezTo>
                  <a:lnTo>
                    <a:pt x="0" y="0"/>
                  </a:lnTo>
                  <a:cubicBezTo>
                    <a:pt x="8202" y="0"/>
                    <a:pt x="19139" y="0"/>
                    <a:pt x="30075" y="0"/>
                  </a:cubicBezTo>
                  <a:cubicBezTo>
                    <a:pt x="73819" y="0"/>
                    <a:pt x="106628" y="10936"/>
                    <a:pt x="125766" y="30074"/>
                  </a:cubicBezTo>
                  <a:cubicBezTo>
                    <a:pt x="153106" y="57415"/>
                    <a:pt x="155840" y="101159"/>
                    <a:pt x="155840" y="109361"/>
                  </a:cubicBezTo>
                  <a:lnTo>
                    <a:pt x="155840" y="161308"/>
                  </a:lnTo>
                  <a:lnTo>
                    <a:pt x="155840" y="185914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82">
              <a:extLst>
                <a:ext uri="{FF2B5EF4-FFF2-40B4-BE49-F238E27FC236}">
                  <a16:creationId xmlns:a16="http://schemas.microsoft.com/office/drawing/2014/main" id="{3EC8A6F3-5623-425E-AB68-4FD28CD75836}"/>
                </a:ext>
              </a:extLst>
            </p:cNvPr>
            <p:cNvSpPr/>
            <p:nvPr/>
          </p:nvSpPr>
          <p:spPr>
            <a:xfrm>
              <a:off x="5197787" y="3712449"/>
              <a:ext cx="161308" cy="185914"/>
            </a:xfrm>
            <a:custGeom>
              <a:avLst/>
              <a:gdLst>
                <a:gd name="connsiteX0" fmla="*/ 27340 w 161308"/>
                <a:gd name="connsiteY0" fmla="*/ 185914 h 185914"/>
                <a:gd name="connsiteX1" fmla="*/ 0 w 161308"/>
                <a:gd name="connsiteY1" fmla="*/ 185914 h 185914"/>
                <a:gd name="connsiteX2" fmla="*/ 2734 w 161308"/>
                <a:gd name="connsiteY2" fmla="*/ 95691 h 185914"/>
                <a:gd name="connsiteX3" fmla="*/ 38277 w 161308"/>
                <a:gd name="connsiteY3" fmla="*/ 24606 h 185914"/>
                <a:gd name="connsiteX4" fmla="*/ 161308 w 161308"/>
                <a:gd name="connsiteY4" fmla="*/ 0 h 185914"/>
                <a:gd name="connsiteX5" fmla="*/ 161308 w 161308"/>
                <a:gd name="connsiteY5" fmla="*/ 27340 h 185914"/>
                <a:gd name="connsiteX6" fmla="*/ 57415 w 161308"/>
                <a:gd name="connsiteY6" fmla="*/ 43745 h 185914"/>
                <a:gd name="connsiteX7" fmla="*/ 30075 w 161308"/>
                <a:gd name="connsiteY7" fmla="*/ 95691 h 185914"/>
                <a:gd name="connsiteX8" fmla="*/ 27340 w 161308"/>
                <a:gd name="connsiteY8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8" h="185914">
                  <a:moveTo>
                    <a:pt x="27340" y="185914"/>
                  </a:moveTo>
                  <a:lnTo>
                    <a:pt x="0" y="185914"/>
                  </a:lnTo>
                  <a:lnTo>
                    <a:pt x="2734" y="95691"/>
                  </a:lnTo>
                  <a:cubicBezTo>
                    <a:pt x="2734" y="82021"/>
                    <a:pt x="10936" y="49213"/>
                    <a:pt x="38277" y="24606"/>
                  </a:cubicBezTo>
                  <a:cubicBezTo>
                    <a:pt x="65617" y="2734"/>
                    <a:pt x="106628" y="0"/>
                    <a:pt x="161308" y="0"/>
                  </a:cubicBezTo>
                  <a:lnTo>
                    <a:pt x="161308" y="27340"/>
                  </a:lnTo>
                  <a:cubicBezTo>
                    <a:pt x="103893" y="27340"/>
                    <a:pt x="76553" y="30074"/>
                    <a:pt x="57415" y="43745"/>
                  </a:cubicBezTo>
                  <a:cubicBezTo>
                    <a:pt x="35543" y="62883"/>
                    <a:pt x="30075" y="87489"/>
                    <a:pt x="30075" y="95691"/>
                  </a:cubicBezTo>
                  <a:lnTo>
                    <a:pt x="27340" y="185914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83">
              <a:extLst>
                <a:ext uri="{FF2B5EF4-FFF2-40B4-BE49-F238E27FC236}">
                  <a16:creationId xmlns:a16="http://schemas.microsoft.com/office/drawing/2014/main" id="{02E9535A-B9DF-4A6C-9E0E-661F77924AF7}"/>
                </a:ext>
              </a:extLst>
            </p:cNvPr>
            <p:cNvSpPr/>
            <p:nvPr/>
          </p:nvSpPr>
          <p:spPr>
            <a:xfrm>
              <a:off x="5607893" y="3709715"/>
              <a:ext cx="339020" cy="188648"/>
            </a:xfrm>
            <a:custGeom>
              <a:avLst/>
              <a:gdLst>
                <a:gd name="connsiteX0" fmla="*/ 336286 w 339020"/>
                <a:gd name="connsiteY0" fmla="*/ 188648 h 188648"/>
                <a:gd name="connsiteX1" fmla="*/ 308946 w 339020"/>
                <a:gd name="connsiteY1" fmla="*/ 188648 h 188648"/>
                <a:gd name="connsiteX2" fmla="*/ 308946 w 339020"/>
                <a:gd name="connsiteY2" fmla="*/ 164042 h 188648"/>
                <a:gd name="connsiteX3" fmla="*/ 308946 w 339020"/>
                <a:gd name="connsiteY3" fmla="*/ 112095 h 188648"/>
                <a:gd name="connsiteX4" fmla="*/ 287074 w 339020"/>
                <a:gd name="connsiteY4" fmla="*/ 51947 h 188648"/>
                <a:gd name="connsiteX5" fmla="*/ 210521 w 339020"/>
                <a:gd name="connsiteY5" fmla="*/ 30074 h 188648"/>
                <a:gd name="connsiteX6" fmla="*/ 153106 w 339020"/>
                <a:gd name="connsiteY6" fmla="*/ 30074 h 188648"/>
                <a:gd name="connsiteX7" fmla="*/ 19139 w 339020"/>
                <a:gd name="connsiteY7" fmla="*/ 46479 h 188648"/>
                <a:gd name="connsiteX8" fmla="*/ 0 w 339020"/>
                <a:gd name="connsiteY8" fmla="*/ 27340 h 188648"/>
                <a:gd name="connsiteX9" fmla="*/ 2734 w 339020"/>
                <a:gd name="connsiteY9" fmla="*/ 24606 h 188648"/>
                <a:gd name="connsiteX10" fmla="*/ 155840 w 339020"/>
                <a:gd name="connsiteY10" fmla="*/ 0 h 188648"/>
                <a:gd name="connsiteX11" fmla="*/ 213255 w 339020"/>
                <a:gd name="connsiteY11" fmla="*/ 0 h 188648"/>
                <a:gd name="connsiteX12" fmla="*/ 308946 w 339020"/>
                <a:gd name="connsiteY12" fmla="*/ 30074 h 188648"/>
                <a:gd name="connsiteX13" fmla="*/ 339021 w 339020"/>
                <a:gd name="connsiteY13" fmla="*/ 109361 h 188648"/>
                <a:gd name="connsiteX14" fmla="*/ 339021 w 339020"/>
                <a:gd name="connsiteY14" fmla="*/ 161308 h 188648"/>
                <a:gd name="connsiteX15" fmla="*/ 336286 w 339020"/>
                <a:gd name="connsiteY15" fmla="*/ 188648 h 18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39020" h="188648">
                  <a:moveTo>
                    <a:pt x="336286" y="188648"/>
                  </a:moveTo>
                  <a:lnTo>
                    <a:pt x="308946" y="188648"/>
                  </a:lnTo>
                  <a:lnTo>
                    <a:pt x="308946" y="164042"/>
                  </a:lnTo>
                  <a:cubicBezTo>
                    <a:pt x="308946" y="147638"/>
                    <a:pt x="308946" y="133968"/>
                    <a:pt x="308946" y="112095"/>
                  </a:cubicBezTo>
                  <a:cubicBezTo>
                    <a:pt x="308946" y="95691"/>
                    <a:pt x="303478" y="68351"/>
                    <a:pt x="287074" y="51947"/>
                  </a:cubicBezTo>
                  <a:cubicBezTo>
                    <a:pt x="276138" y="41011"/>
                    <a:pt x="254265" y="30074"/>
                    <a:pt x="210521" y="30074"/>
                  </a:cubicBezTo>
                  <a:cubicBezTo>
                    <a:pt x="188649" y="30074"/>
                    <a:pt x="169511" y="30074"/>
                    <a:pt x="153106" y="30074"/>
                  </a:cubicBezTo>
                  <a:cubicBezTo>
                    <a:pt x="79287" y="30074"/>
                    <a:pt x="41011" y="27340"/>
                    <a:pt x="19139" y="46479"/>
                  </a:cubicBezTo>
                  <a:lnTo>
                    <a:pt x="0" y="27340"/>
                  </a:lnTo>
                  <a:lnTo>
                    <a:pt x="2734" y="24606"/>
                  </a:lnTo>
                  <a:cubicBezTo>
                    <a:pt x="32809" y="0"/>
                    <a:pt x="76553" y="0"/>
                    <a:pt x="155840" y="0"/>
                  </a:cubicBezTo>
                  <a:cubicBezTo>
                    <a:pt x="172244" y="0"/>
                    <a:pt x="194117" y="0"/>
                    <a:pt x="213255" y="0"/>
                  </a:cubicBezTo>
                  <a:cubicBezTo>
                    <a:pt x="257000" y="0"/>
                    <a:pt x="289808" y="10936"/>
                    <a:pt x="308946" y="30074"/>
                  </a:cubicBezTo>
                  <a:cubicBezTo>
                    <a:pt x="336286" y="57415"/>
                    <a:pt x="339021" y="101159"/>
                    <a:pt x="339021" y="109361"/>
                  </a:cubicBezTo>
                  <a:cubicBezTo>
                    <a:pt x="339021" y="131234"/>
                    <a:pt x="339021" y="144904"/>
                    <a:pt x="339021" y="161308"/>
                  </a:cubicBezTo>
                  <a:lnTo>
                    <a:pt x="336286" y="188648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84">
              <a:extLst>
                <a:ext uri="{FF2B5EF4-FFF2-40B4-BE49-F238E27FC236}">
                  <a16:creationId xmlns:a16="http://schemas.microsoft.com/office/drawing/2014/main" id="{6BC3DA8D-2F54-4576-9B50-23DDA4A3CE87}"/>
                </a:ext>
              </a:extLst>
            </p:cNvPr>
            <p:cNvSpPr/>
            <p:nvPr/>
          </p:nvSpPr>
          <p:spPr>
            <a:xfrm>
              <a:off x="5146374" y="2791079"/>
              <a:ext cx="468012" cy="446724"/>
            </a:xfrm>
            <a:custGeom>
              <a:avLst/>
              <a:gdLst>
                <a:gd name="connsiteX0" fmla="*/ 111563 w 468012"/>
                <a:gd name="connsiteY0" fmla="*/ 445648 h 446724"/>
                <a:gd name="connsiteX1" fmla="*/ 92424 w 468012"/>
                <a:gd name="connsiteY1" fmla="*/ 440180 h 446724"/>
                <a:gd name="connsiteX2" fmla="*/ 78754 w 468012"/>
                <a:gd name="connsiteY2" fmla="*/ 407371 h 446724"/>
                <a:gd name="connsiteX3" fmla="*/ 97892 w 468012"/>
                <a:gd name="connsiteY3" fmla="*/ 289808 h 446724"/>
                <a:gd name="connsiteX4" fmla="*/ 95158 w 468012"/>
                <a:gd name="connsiteY4" fmla="*/ 284340 h 446724"/>
                <a:gd name="connsiteX5" fmla="*/ 10403 w 468012"/>
                <a:gd name="connsiteY5" fmla="*/ 199585 h 446724"/>
                <a:gd name="connsiteX6" fmla="*/ 2201 w 468012"/>
                <a:gd name="connsiteY6" fmla="*/ 166776 h 446724"/>
                <a:gd name="connsiteX7" fmla="*/ 29542 w 468012"/>
                <a:gd name="connsiteY7" fmla="*/ 144904 h 446724"/>
                <a:gd name="connsiteX8" fmla="*/ 147105 w 468012"/>
                <a:gd name="connsiteY8" fmla="*/ 128500 h 446724"/>
                <a:gd name="connsiteX9" fmla="*/ 152573 w 468012"/>
                <a:gd name="connsiteY9" fmla="*/ 125766 h 446724"/>
                <a:gd name="connsiteX10" fmla="*/ 204520 w 468012"/>
                <a:gd name="connsiteY10" fmla="*/ 19138 h 446724"/>
                <a:gd name="connsiteX11" fmla="*/ 234594 w 468012"/>
                <a:gd name="connsiteY11" fmla="*/ 0 h 446724"/>
                <a:gd name="connsiteX12" fmla="*/ 234594 w 468012"/>
                <a:gd name="connsiteY12" fmla="*/ 0 h 446724"/>
                <a:gd name="connsiteX13" fmla="*/ 264668 w 468012"/>
                <a:gd name="connsiteY13" fmla="*/ 19138 h 446724"/>
                <a:gd name="connsiteX14" fmla="*/ 264668 w 468012"/>
                <a:gd name="connsiteY14" fmla="*/ 19138 h 446724"/>
                <a:gd name="connsiteX15" fmla="*/ 316615 w 468012"/>
                <a:gd name="connsiteY15" fmla="*/ 125766 h 446724"/>
                <a:gd name="connsiteX16" fmla="*/ 322083 w 468012"/>
                <a:gd name="connsiteY16" fmla="*/ 128500 h 446724"/>
                <a:gd name="connsiteX17" fmla="*/ 439647 w 468012"/>
                <a:gd name="connsiteY17" fmla="*/ 144904 h 446724"/>
                <a:gd name="connsiteX18" fmla="*/ 466987 w 468012"/>
                <a:gd name="connsiteY18" fmla="*/ 166776 h 446724"/>
                <a:gd name="connsiteX19" fmla="*/ 458785 w 468012"/>
                <a:gd name="connsiteY19" fmla="*/ 199585 h 446724"/>
                <a:gd name="connsiteX20" fmla="*/ 374030 w 468012"/>
                <a:gd name="connsiteY20" fmla="*/ 284340 h 446724"/>
                <a:gd name="connsiteX21" fmla="*/ 371296 w 468012"/>
                <a:gd name="connsiteY21" fmla="*/ 289808 h 446724"/>
                <a:gd name="connsiteX22" fmla="*/ 390434 w 468012"/>
                <a:gd name="connsiteY22" fmla="*/ 407371 h 446724"/>
                <a:gd name="connsiteX23" fmla="*/ 376764 w 468012"/>
                <a:gd name="connsiteY23" fmla="*/ 440180 h 446724"/>
                <a:gd name="connsiteX24" fmla="*/ 341221 w 468012"/>
                <a:gd name="connsiteY24" fmla="*/ 442914 h 446724"/>
                <a:gd name="connsiteX25" fmla="*/ 234594 w 468012"/>
                <a:gd name="connsiteY25" fmla="*/ 388233 h 446724"/>
                <a:gd name="connsiteX26" fmla="*/ 229126 w 468012"/>
                <a:gd name="connsiteY26" fmla="*/ 388233 h 446724"/>
                <a:gd name="connsiteX27" fmla="*/ 122499 w 468012"/>
                <a:gd name="connsiteY27" fmla="*/ 442914 h 446724"/>
                <a:gd name="connsiteX28" fmla="*/ 111563 w 468012"/>
                <a:gd name="connsiteY28" fmla="*/ 445648 h 446724"/>
                <a:gd name="connsiteX29" fmla="*/ 234594 w 468012"/>
                <a:gd name="connsiteY29" fmla="*/ 24606 h 446724"/>
                <a:gd name="connsiteX30" fmla="*/ 234594 w 468012"/>
                <a:gd name="connsiteY30" fmla="*/ 24606 h 446724"/>
                <a:gd name="connsiteX31" fmla="*/ 229126 w 468012"/>
                <a:gd name="connsiteY31" fmla="*/ 27340 h 446724"/>
                <a:gd name="connsiteX32" fmla="*/ 177179 w 468012"/>
                <a:gd name="connsiteY32" fmla="*/ 133968 h 446724"/>
                <a:gd name="connsiteX33" fmla="*/ 152573 w 468012"/>
                <a:gd name="connsiteY33" fmla="*/ 153106 h 446724"/>
                <a:gd name="connsiteX34" fmla="*/ 35010 w 468012"/>
                <a:gd name="connsiteY34" fmla="*/ 169510 h 446724"/>
                <a:gd name="connsiteX35" fmla="*/ 29542 w 468012"/>
                <a:gd name="connsiteY35" fmla="*/ 172244 h 446724"/>
                <a:gd name="connsiteX36" fmla="*/ 32275 w 468012"/>
                <a:gd name="connsiteY36" fmla="*/ 177712 h 446724"/>
                <a:gd name="connsiteX37" fmla="*/ 117031 w 468012"/>
                <a:gd name="connsiteY37" fmla="*/ 262467 h 446724"/>
                <a:gd name="connsiteX38" fmla="*/ 127967 w 468012"/>
                <a:gd name="connsiteY38" fmla="*/ 292542 h 446724"/>
                <a:gd name="connsiteX39" fmla="*/ 108828 w 468012"/>
                <a:gd name="connsiteY39" fmla="*/ 410105 h 446724"/>
                <a:gd name="connsiteX40" fmla="*/ 111563 w 468012"/>
                <a:gd name="connsiteY40" fmla="*/ 415573 h 446724"/>
                <a:gd name="connsiteX41" fmla="*/ 117031 w 468012"/>
                <a:gd name="connsiteY41" fmla="*/ 415573 h 446724"/>
                <a:gd name="connsiteX42" fmla="*/ 223658 w 468012"/>
                <a:gd name="connsiteY42" fmla="*/ 360893 h 446724"/>
                <a:gd name="connsiteX43" fmla="*/ 253732 w 468012"/>
                <a:gd name="connsiteY43" fmla="*/ 360893 h 446724"/>
                <a:gd name="connsiteX44" fmla="*/ 360360 w 468012"/>
                <a:gd name="connsiteY44" fmla="*/ 415573 h 446724"/>
                <a:gd name="connsiteX45" fmla="*/ 365828 w 468012"/>
                <a:gd name="connsiteY45" fmla="*/ 415573 h 446724"/>
                <a:gd name="connsiteX46" fmla="*/ 368562 w 468012"/>
                <a:gd name="connsiteY46" fmla="*/ 410105 h 446724"/>
                <a:gd name="connsiteX47" fmla="*/ 349424 w 468012"/>
                <a:gd name="connsiteY47" fmla="*/ 292542 h 446724"/>
                <a:gd name="connsiteX48" fmla="*/ 357626 w 468012"/>
                <a:gd name="connsiteY48" fmla="*/ 262467 h 446724"/>
                <a:gd name="connsiteX49" fmla="*/ 442381 w 468012"/>
                <a:gd name="connsiteY49" fmla="*/ 177712 h 446724"/>
                <a:gd name="connsiteX50" fmla="*/ 445115 w 468012"/>
                <a:gd name="connsiteY50" fmla="*/ 172244 h 446724"/>
                <a:gd name="connsiteX51" fmla="*/ 439647 w 468012"/>
                <a:gd name="connsiteY51" fmla="*/ 169510 h 446724"/>
                <a:gd name="connsiteX52" fmla="*/ 322083 w 468012"/>
                <a:gd name="connsiteY52" fmla="*/ 153106 h 446724"/>
                <a:gd name="connsiteX53" fmla="*/ 297477 w 468012"/>
                <a:gd name="connsiteY53" fmla="*/ 133968 h 446724"/>
                <a:gd name="connsiteX54" fmla="*/ 245530 w 468012"/>
                <a:gd name="connsiteY54" fmla="*/ 27340 h 446724"/>
                <a:gd name="connsiteX55" fmla="*/ 234594 w 468012"/>
                <a:gd name="connsiteY55" fmla="*/ 24606 h 446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468012" h="446724">
                  <a:moveTo>
                    <a:pt x="111563" y="445648"/>
                  </a:moveTo>
                  <a:cubicBezTo>
                    <a:pt x="103360" y="445648"/>
                    <a:pt x="97892" y="442914"/>
                    <a:pt x="92424" y="440180"/>
                  </a:cubicBezTo>
                  <a:cubicBezTo>
                    <a:pt x="81488" y="431978"/>
                    <a:pt x="76020" y="421041"/>
                    <a:pt x="78754" y="407371"/>
                  </a:cubicBezTo>
                  <a:lnTo>
                    <a:pt x="97892" y="289808"/>
                  </a:lnTo>
                  <a:cubicBezTo>
                    <a:pt x="97892" y="287074"/>
                    <a:pt x="97892" y="287074"/>
                    <a:pt x="95158" y="284340"/>
                  </a:cubicBezTo>
                  <a:lnTo>
                    <a:pt x="10403" y="199585"/>
                  </a:lnTo>
                  <a:cubicBezTo>
                    <a:pt x="2201" y="191383"/>
                    <a:pt x="-3267" y="177712"/>
                    <a:pt x="2201" y="166776"/>
                  </a:cubicBezTo>
                  <a:cubicBezTo>
                    <a:pt x="4935" y="155840"/>
                    <a:pt x="15871" y="144904"/>
                    <a:pt x="29542" y="144904"/>
                  </a:cubicBezTo>
                  <a:lnTo>
                    <a:pt x="147105" y="128500"/>
                  </a:lnTo>
                  <a:cubicBezTo>
                    <a:pt x="149839" y="128500"/>
                    <a:pt x="149839" y="125766"/>
                    <a:pt x="152573" y="125766"/>
                  </a:cubicBezTo>
                  <a:lnTo>
                    <a:pt x="204520" y="19138"/>
                  </a:lnTo>
                  <a:cubicBezTo>
                    <a:pt x="209988" y="8202"/>
                    <a:pt x="220924" y="0"/>
                    <a:pt x="234594" y="0"/>
                  </a:cubicBezTo>
                  <a:cubicBezTo>
                    <a:pt x="234594" y="0"/>
                    <a:pt x="234594" y="0"/>
                    <a:pt x="234594" y="0"/>
                  </a:cubicBezTo>
                  <a:cubicBezTo>
                    <a:pt x="248264" y="0"/>
                    <a:pt x="259200" y="8202"/>
                    <a:pt x="264668" y="19138"/>
                  </a:cubicBezTo>
                  <a:lnTo>
                    <a:pt x="264668" y="19138"/>
                  </a:lnTo>
                  <a:lnTo>
                    <a:pt x="316615" y="125766"/>
                  </a:lnTo>
                  <a:cubicBezTo>
                    <a:pt x="316615" y="128500"/>
                    <a:pt x="319349" y="128500"/>
                    <a:pt x="322083" y="128500"/>
                  </a:cubicBezTo>
                  <a:lnTo>
                    <a:pt x="439647" y="144904"/>
                  </a:lnTo>
                  <a:cubicBezTo>
                    <a:pt x="453317" y="147638"/>
                    <a:pt x="461519" y="155840"/>
                    <a:pt x="466987" y="166776"/>
                  </a:cubicBezTo>
                  <a:cubicBezTo>
                    <a:pt x="469721" y="177712"/>
                    <a:pt x="466987" y="191383"/>
                    <a:pt x="458785" y="199585"/>
                  </a:cubicBezTo>
                  <a:lnTo>
                    <a:pt x="374030" y="284340"/>
                  </a:lnTo>
                  <a:cubicBezTo>
                    <a:pt x="371296" y="284340"/>
                    <a:pt x="371296" y="287074"/>
                    <a:pt x="371296" y="289808"/>
                  </a:cubicBezTo>
                  <a:lnTo>
                    <a:pt x="390434" y="407371"/>
                  </a:lnTo>
                  <a:cubicBezTo>
                    <a:pt x="393168" y="421041"/>
                    <a:pt x="387700" y="431978"/>
                    <a:pt x="376764" y="440180"/>
                  </a:cubicBezTo>
                  <a:cubicBezTo>
                    <a:pt x="365828" y="448382"/>
                    <a:pt x="352157" y="448382"/>
                    <a:pt x="341221" y="442914"/>
                  </a:cubicBezTo>
                  <a:lnTo>
                    <a:pt x="234594" y="388233"/>
                  </a:lnTo>
                  <a:cubicBezTo>
                    <a:pt x="231860" y="388233"/>
                    <a:pt x="231860" y="388233"/>
                    <a:pt x="229126" y="388233"/>
                  </a:cubicBezTo>
                  <a:lnTo>
                    <a:pt x="122499" y="442914"/>
                  </a:lnTo>
                  <a:cubicBezTo>
                    <a:pt x="122499" y="445648"/>
                    <a:pt x="117031" y="445648"/>
                    <a:pt x="111563" y="445648"/>
                  </a:cubicBezTo>
                  <a:close/>
                  <a:moveTo>
                    <a:pt x="234594" y="24606"/>
                  </a:moveTo>
                  <a:cubicBezTo>
                    <a:pt x="234594" y="24606"/>
                    <a:pt x="234594" y="24606"/>
                    <a:pt x="234594" y="24606"/>
                  </a:cubicBezTo>
                  <a:cubicBezTo>
                    <a:pt x="231860" y="24606"/>
                    <a:pt x="231860" y="24606"/>
                    <a:pt x="229126" y="27340"/>
                  </a:cubicBezTo>
                  <a:lnTo>
                    <a:pt x="177179" y="133968"/>
                  </a:lnTo>
                  <a:cubicBezTo>
                    <a:pt x="171711" y="144904"/>
                    <a:pt x="163509" y="150372"/>
                    <a:pt x="152573" y="153106"/>
                  </a:cubicBezTo>
                  <a:lnTo>
                    <a:pt x="35010" y="169510"/>
                  </a:lnTo>
                  <a:cubicBezTo>
                    <a:pt x="32275" y="169510"/>
                    <a:pt x="29542" y="172244"/>
                    <a:pt x="29542" y="172244"/>
                  </a:cubicBezTo>
                  <a:cubicBezTo>
                    <a:pt x="29542" y="172244"/>
                    <a:pt x="29542" y="174978"/>
                    <a:pt x="32275" y="177712"/>
                  </a:cubicBezTo>
                  <a:lnTo>
                    <a:pt x="117031" y="262467"/>
                  </a:lnTo>
                  <a:cubicBezTo>
                    <a:pt x="125233" y="270669"/>
                    <a:pt x="127967" y="281606"/>
                    <a:pt x="127967" y="292542"/>
                  </a:cubicBezTo>
                  <a:lnTo>
                    <a:pt x="108828" y="410105"/>
                  </a:lnTo>
                  <a:cubicBezTo>
                    <a:pt x="108828" y="412839"/>
                    <a:pt x="108828" y="415573"/>
                    <a:pt x="111563" y="415573"/>
                  </a:cubicBezTo>
                  <a:cubicBezTo>
                    <a:pt x="111563" y="415573"/>
                    <a:pt x="114296" y="418307"/>
                    <a:pt x="117031" y="415573"/>
                  </a:cubicBezTo>
                  <a:lnTo>
                    <a:pt x="223658" y="360893"/>
                  </a:lnTo>
                  <a:cubicBezTo>
                    <a:pt x="234594" y="355425"/>
                    <a:pt x="245530" y="355425"/>
                    <a:pt x="253732" y="360893"/>
                  </a:cubicBezTo>
                  <a:lnTo>
                    <a:pt x="360360" y="415573"/>
                  </a:lnTo>
                  <a:cubicBezTo>
                    <a:pt x="363094" y="418307"/>
                    <a:pt x="365828" y="415573"/>
                    <a:pt x="365828" y="415573"/>
                  </a:cubicBezTo>
                  <a:cubicBezTo>
                    <a:pt x="365828" y="415573"/>
                    <a:pt x="368562" y="412839"/>
                    <a:pt x="368562" y="410105"/>
                  </a:cubicBezTo>
                  <a:lnTo>
                    <a:pt x="349424" y="292542"/>
                  </a:lnTo>
                  <a:cubicBezTo>
                    <a:pt x="346689" y="281606"/>
                    <a:pt x="352157" y="270669"/>
                    <a:pt x="357626" y="262467"/>
                  </a:cubicBezTo>
                  <a:lnTo>
                    <a:pt x="442381" y="177712"/>
                  </a:lnTo>
                  <a:cubicBezTo>
                    <a:pt x="445115" y="174978"/>
                    <a:pt x="445115" y="172244"/>
                    <a:pt x="445115" y="172244"/>
                  </a:cubicBezTo>
                  <a:cubicBezTo>
                    <a:pt x="445115" y="172244"/>
                    <a:pt x="442381" y="169510"/>
                    <a:pt x="439647" y="169510"/>
                  </a:cubicBezTo>
                  <a:lnTo>
                    <a:pt x="322083" y="153106"/>
                  </a:lnTo>
                  <a:cubicBezTo>
                    <a:pt x="311147" y="150372"/>
                    <a:pt x="302945" y="144904"/>
                    <a:pt x="297477" y="133968"/>
                  </a:cubicBezTo>
                  <a:lnTo>
                    <a:pt x="245530" y="27340"/>
                  </a:lnTo>
                  <a:cubicBezTo>
                    <a:pt x="240062" y="24606"/>
                    <a:pt x="237328" y="24606"/>
                    <a:pt x="234594" y="24606"/>
                  </a:cubicBezTo>
                  <a:close/>
                </a:path>
              </a:pathLst>
            </a:custGeom>
            <a:solidFill>
              <a:srgbClr val="8F0D6B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4" name="Группа 304">
            <a:extLst>
              <a:ext uri="{FF2B5EF4-FFF2-40B4-BE49-F238E27FC236}">
                <a16:creationId xmlns:a16="http://schemas.microsoft.com/office/drawing/2014/main" id="{11654F3B-EA06-4581-81D5-9AF7B644AC1B}"/>
              </a:ext>
            </a:extLst>
          </p:cNvPr>
          <p:cNvGrpSpPr>
            <a:grpSpLocks noChangeAspect="1"/>
          </p:cNvGrpSpPr>
          <p:nvPr/>
        </p:nvGrpSpPr>
        <p:grpSpPr>
          <a:xfrm>
            <a:off x="7598660" y="3383791"/>
            <a:ext cx="469573" cy="425787"/>
            <a:chOff x="7982234" y="1037660"/>
            <a:chExt cx="1000958" cy="907622"/>
          </a:xfrm>
        </p:grpSpPr>
        <p:sp>
          <p:nvSpPr>
            <p:cNvPr id="95" name="Полилиния: фигура 225">
              <a:extLst>
                <a:ext uri="{FF2B5EF4-FFF2-40B4-BE49-F238E27FC236}">
                  <a16:creationId xmlns:a16="http://schemas.microsoft.com/office/drawing/2014/main" id="{3DAD5A5C-3B94-42D4-941E-CA18655645FF}"/>
                </a:ext>
              </a:extLst>
            </p:cNvPr>
            <p:cNvSpPr/>
            <p:nvPr/>
          </p:nvSpPr>
          <p:spPr>
            <a:xfrm>
              <a:off x="7982234" y="1401353"/>
              <a:ext cx="173799" cy="173800"/>
            </a:xfrm>
            <a:custGeom>
              <a:avLst/>
              <a:gdLst>
                <a:gd name="connsiteX0" fmla="*/ 86900 w 173799"/>
                <a:gd name="connsiteY0" fmla="*/ 173800 h 173800"/>
                <a:gd name="connsiteX1" fmla="*/ 0 w 173799"/>
                <a:gd name="connsiteY1" fmla="*/ 86900 h 173800"/>
                <a:gd name="connsiteX2" fmla="*/ 86900 w 173799"/>
                <a:gd name="connsiteY2" fmla="*/ 0 h 173800"/>
                <a:gd name="connsiteX3" fmla="*/ 173800 w 173799"/>
                <a:gd name="connsiteY3" fmla="*/ 86900 h 173800"/>
                <a:gd name="connsiteX4" fmla="*/ 86900 w 173799"/>
                <a:gd name="connsiteY4" fmla="*/ 173800 h 173800"/>
                <a:gd name="connsiteX5" fmla="*/ 86900 w 173799"/>
                <a:gd name="connsiteY5" fmla="*/ 35404 h 173800"/>
                <a:gd name="connsiteX6" fmla="*/ 32185 w 173799"/>
                <a:gd name="connsiteY6" fmla="*/ 90119 h 173800"/>
                <a:gd name="connsiteX7" fmla="*/ 86900 w 173799"/>
                <a:gd name="connsiteY7" fmla="*/ 144833 h 173800"/>
                <a:gd name="connsiteX8" fmla="*/ 141615 w 173799"/>
                <a:gd name="connsiteY8" fmla="*/ 90119 h 173800"/>
                <a:gd name="connsiteX9" fmla="*/ 86900 w 173799"/>
                <a:gd name="connsiteY9" fmla="*/ 35404 h 17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799" h="173800">
                  <a:moveTo>
                    <a:pt x="86900" y="173800"/>
                  </a:moveTo>
                  <a:cubicBezTo>
                    <a:pt x="38622" y="173800"/>
                    <a:pt x="0" y="135178"/>
                    <a:pt x="0" y="86900"/>
                  </a:cubicBezTo>
                  <a:cubicBezTo>
                    <a:pt x="0" y="38622"/>
                    <a:pt x="38622" y="0"/>
                    <a:pt x="86900" y="0"/>
                  </a:cubicBezTo>
                  <a:cubicBezTo>
                    <a:pt x="135178" y="0"/>
                    <a:pt x="173800" y="38622"/>
                    <a:pt x="173800" y="86900"/>
                  </a:cubicBezTo>
                  <a:cubicBezTo>
                    <a:pt x="173800" y="135178"/>
                    <a:pt x="135178" y="173800"/>
                    <a:pt x="86900" y="173800"/>
                  </a:cubicBezTo>
                  <a:close/>
                  <a:moveTo>
                    <a:pt x="86900" y="35404"/>
                  </a:moveTo>
                  <a:cubicBezTo>
                    <a:pt x="57933" y="35404"/>
                    <a:pt x="32185" y="57933"/>
                    <a:pt x="32185" y="90119"/>
                  </a:cubicBezTo>
                  <a:cubicBezTo>
                    <a:pt x="32185" y="119085"/>
                    <a:pt x="54715" y="144833"/>
                    <a:pt x="86900" y="144833"/>
                  </a:cubicBezTo>
                  <a:cubicBezTo>
                    <a:pt x="115866" y="144833"/>
                    <a:pt x="141615" y="122304"/>
                    <a:pt x="141615" y="90119"/>
                  </a:cubicBezTo>
                  <a:cubicBezTo>
                    <a:pt x="141615" y="57933"/>
                    <a:pt x="115866" y="35404"/>
                    <a:pt x="86900" y="35404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226">
              <a:extLst>
                <a:ext uri="{FF2B5EF4-FFF2-40B4-BE49-F238E27FC236}">
                  <a16:creationId xmlns:a16="http://schemas.microsoft.com/office/drawing/2014/main" id="{16D06678-66CA-4D5C-A55C-CE373B09B946}"/>
                </a:ext>
              </a:extLst>
            </p:cNvPr>
            <p:cNvSpPr/>
            <p:nvPr/>
          </p:nvSpPr>
          <p:spPr>
            <a:xfrm>
              <a:off x="8390985" y="1401353"/>
              <a:ext cx="173799" cy="173800"/>
            </a:xfrm>
            <a:custGeom>
              <a:avLst/>
              <a:gdLst>
                <a:gd name="connsiteX0" fmla="*/ 86900 w 173799"/>
                <a:gd name="connsiteY0" fmla="*/ 173800 h 173800"/>
                <a:gd name="connsiteX1" fmla="*/ 0 w 173799"/>
                <a:gd name="connsiteY1" fmla="*/ 86900 h 173800"/>
                <a:gd name="connsiteX2" fmla="*/ 86900 w 173799"/>
                <a:gd name="connsiteY2" fmla="*/ 0 h 173800"/>
                <a:gd name="connsiteX3" fmla="*/ 173800 w 173799"/>
                <a:gd name="connsiteY3" fmla="*/ 86900 h 173800"/>
                <a:gd name="connsiteX4" fmla="*/ 86900 w 173799"/>
                <a:gd name="connsiteY4" fmla="*/ 173800 h 173800"/>
                <a:gd name="connsiteX5" fmla="*/ 86900 w 173799"/>
                <a:gd name="connsiteY5" fmla="*/ 35404 h 173800"/>
                <a:gd name="connsiteX6" fmla="*/ 32185 w 173799"/>
                <a:gd name="connsiteY6" fmla="*/ 90119 h 173800"/>
                <a:gd name="connsiteX7" fmla="*/ 86900 w 173799"/>
                <a:gd name="connsiteY7" fmla="*/ 144833 h 173800"/>
                <a:gd name="connsiteX8" fmla="*/ 141615 w 173799"/>
                <a:gd name="connsiteY8" fmla="*/ 90119 h 173800"/>
                <a:gd name="connsiteX9" fmla="*/ 86900 w 173799"/>
                <a:gd name="connsiteY9" fmla="*/ 35404 h 17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799" h="173800">
                  <a:moveTo>
                    <a:pt x="86900" y="173800"/>
                  </a:moveTo>
                  <a:cubicBezTo>
                    <a:pt x="38622" y="173800"/>
                    <a:pt x="0" y="135178"/>
                    <a:pt x="0" y="86900"/>
                  </a:cubicBezTo>
                  <a:cubicBezTo>
                    <a:pt x="0" y="38622"/>
                    <a:pt x="38622" y="0"/>
                    <a:pt x="86900" y="0"/>
                  </a:cubicBezTo>
                  <a:cubicBezTo>
                    <a:pt x="135178" y="0"/>
                    <a:pt x="173800" y="38622"/>
                    <a:pt x="173800" y="86900"/>
                  </a:cubicBezTo>
                  <a:cubicBezTo>
                    <a:pt x="173800" y="135178"/>
                    <a:pt x="131959" y="173800"/>
                    <a:pt x="86900" y="173800"/>
                  </a:cubicBezTo>
                  <a:close/>
                  <a:moveTo>
                    <a:pt x="86900" y="35404"/>
                  </a:moveTo>
                  <a:cubicBezTo>
                    <a:pt x="57933" y="35404"/>
                    <a:pt x="32185" y="57933"/>
                    <a:pt x="32185" y="90119"/>
                  </a:cubicBezTo>
                  <a:cubicBezTo>
                    <a:pt x="32185" y="119085"/>
                    <a:pt x="54715" y="144833"/>
                    <a:pt x="86900" y="144833"/>
                  </a:cubicBezTo>
                  <a:cubicBezTo>
                    <a:pt x="115866" y="144833"/>
                    <a:pt x="141615" y="122304"/>
                    <a:pt x="141615" y="90119"/>
                  </a:cubicBezTo>
                  <a:cubicBezTo>
                    <a:pt x="138396" y="57933"/>
                    <a:pt x="115866" y="35404"/>
                    <a:pt x="86900" y="35404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227">
              <a:extLst>
                <a:ext uri="{FF2B5EF4-FFF2-40B4-BE49-F238E27FC236}">
                  <a16:creationId xmlns:a16="http://schemas.microsoft.com/office/drawing/2014/main" id="{310A5078-4A34-408D-BE5F-DFA9F13F010B}"/>
                </a:ext>
              </a:extLst>
            </p:cNvPr>
            <p:cNvSpPr/>
            <p:nvPr/>
          </p:nvSpPr>
          <p:spPr>
            <a:xfrm>
              <a:off x="8809393" y="1401353"/>
              <a:ext cx="173799" cy="173800"/>
            </a:xfrm>
            <a:custGeom>
              <a:avLst/>
              <a:gdLst>
                <a:gd name="connsiteX0" fmla="*/ 86900 w 173799"/>
                <a:gd name="connsiteY0" fmla="*/ 173800 h 173800"/>
                <a:gd name="connsiteX1" fmla="*/ 0 w 173799"/>
                <a:gd name="connsiteY1" fmla="*/ 86900 h 173800"/>
                <a:gd name="connsiteX2" fmla="*/ 86900 w 173799"/>
                <a:gd name="connsiteY2" fmla="*/ 0 h 173800"/>
                <a:gd name="connsiteX3" fmla="*/ 173800 w 173799"/>
                <a:gd name="connsiteY3" fmla="*/ 86900 h 173800"/>
                <a:gd name="connsiteX4" fmla="*/ 86900 w 173799"/>
                <a:gd name="connsiteY4" fmla="*/ 173800 h 173800"/>
                <a:gd name="connsiteX5" fmla="*/ 86900 w 173799"/>
                <a:gd name="connsiteY5" fmla="*/ 35404 h 173800"/>
                <a:gd name="connsiteX6" fmla="*/ 32185 w 173799"/>
                <a:gd name="connsiteY6" fmla="*/ 90119 h 173800"/>
                <a:gd name="connsiteX7" fmla="*/ 86900 w 173799"/>
                <a:gd name="connsiteY7" fmla="*/ 144833 h 173800"/>
                <a:gd name="connsiteX8" fmla="*/ 141615 w 173799"/>
                <a:gd name="connsiteY8" fmla="*/ 90119 h 173800"/>
                <a:gd name="connsiteX9" fmla="*/ 86900 w 173799"/>
                <a:gd name="connsiteY9" fmla="*/ 35404 h 17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799" h="173800">
                  <a:moveTo>
                    <a:pt x="86900" y="173800"/>
                  </a:moveTo>
                  <a:cubicBezTo>
                    <a:pt x="38622" y="173800"/>
                    <a:pt x="0" y="135178"/>
                    <a:pt x="0" y="86900"/>
                  </a:cubicBezTo>
                  <a:cubicBezTo>
                    <a:pt x="0" y="38622"/>
                    <a:pt x="38622" y="0"/>
                    <a:pt x="86900" y="0"/>
                  </a:cubicBezTo>
                  <a:cubicBezTo>
                    <a:pt x="135178" y="0"/>
                    <a:pt x="173800" y="38622"/>
                    <a:pt x="173800" y="86900"/>
                  </a:cubicBezTo>
                  <a:cubicBezTo>
                    <a:pt x="173800" y="135178"/>
                    <a:pt x="135178" y="173800"/>
                    <a:pt x="86900" y="173800"/>
                  </a:cubicBezTo>
                  <a:close/>
                  <a:moveTo>
                    <a:pt x="86900" y="35404"/>
                  </a:moveTo>
                  <a:cubicBezTo>
                    <a:pt x="57933" y="35404"/>
                    <a:pt x="32185" y="57933"/>
                    <a:pt x="32185" y="90119"/>
                  </a:cubicBezTo>
                  <a:cubicBezTo>
                    <a:pt x="32185" y="119085"/>
                    <a:pt x="54715" y="144833"/>
                    <a:pt x="86900" y="144833"/>
                  </a:cubicBezTo>
                  <a:cubicBezTo>
                    <a:pt x="115866" y="144833"/>
                    <a:pt x="141615" y="122304"/>
                    <a:pt x="141615" y="90119"/>
                  </a:cubicBezTo>
                  <a:cubicBezTo>
                    <a:pt x="141615" y="57933"/>
                    <a:pt x="119085" y="35404"/>
                    <a:pt x="86900" y="35404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228">
              <a:extLst>
                <a:ext uri="{FF2B5EF4-FFF2-40B4-BE49-F238E27FC236}">
                  <a16:creationId xmlns:a16="http://schemas.microsoft.com/office/drawing/2014/main" id="{5CA7EEDD-C99B-44E9-B725-C63DC00978DB}"/>
                </a:ext>
              </a:extLst>
            </p:cNvPr>
            <p:cNvSpPr/>
            <p:nvPr/>
          </p:nvSpPr>
          <p:spPr>
            <a:xfrm>
              <a:off x="8242934" y="1330545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229">
              <a:extLst>
                <a:ext uri="{FF2B5EF4-FFF2-40B4-BE49-F238E27FC236}">
                  <a16:creationId xmlns:a16="http://schemas.microsoft.com/office/drawing/2014/main" id="{E4F53A5D-D117-4738-BD98-1CD1ADBDAC81}"/>
                </a:ext>
              </a:extLst>
            </p:cNvPr>
            <p:cNvSpPr/>
            <p:nvPr/>
          </p:nvSpPr>
          <p:spPr>
            <a:xfrm>
              <a:off x="8242934" y="1243645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230">
              <a:extLst>
                <a:ext uri="{FF2B5EF4-FFF2-40B4-BE49-F238E27FC236}">
                  <a16:creationId xmlns:a16="http://schemas.microsoft.com/office/drawing/2014/main" id="{F4719D90-CD69-4830-9FF8-8546F63131B0}"/>
                </a:ext>
              </a:extLst>
            </p:cNvPr>
            <p:cNvSpPr/>
            <p:nvPr/>
          </p:nvSpPr>
          <p:spPr>
            <a:xfrm>
              <a:off x="8242934" y="1411008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231">
              <a:extLst>
                <a:ext uri="{FF2B5EF4-FFF2-40B4-BE49-F238E27FC236}">
                  <a16:creationId xmlns:a16="http://schemas.microsoft.com/office/drawing/2014/main" id="{0121CDD7-566C-4F7B-BD18-9B4210263347}"/>
                </a:ext>
              </a:extLst>
            </p:cNvPr>
            <p:cNvSpPr/>
            <p:nvPr/>
          </p:nvSpPr>
          <p:spPr>
            <a:xfrm>
              <a:off x="8139941" y="1472160"/>
              <a:ext cx="260699" cy="32185"/>
            </a:xfrm>
            <a:custGeom>
              <a:avLst/>
              <a:gdLst>
                <a:gd name="connsiteX0" fmla="*/ 0 w 260699"/>
                <a:gd name="connsiteY0" fmla="*/ 0 h 32185"/>
                <a:gd name="connsiteX1" fmla="*/ 260700 w 260699"/>
                <a:gd name="connsiteY1" fmla="*/ 0 h 32185"/>
                <a:gd name="connsiteX2" fmla="*/ 260700 w 260699"/>
                <a:gd name="connsiteY2" fmla="*/ 32185 h 32185"/>
                <a:gd name="connsiteX3" fmla="*/ 0 w 260699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0699" h="32185">
                  <a:moveTo>
                    <a:pt x="0" y="0"/>
                  </a:moveTo>
                  <a:lnTo>
                    <a:pt x="260700" y="0"/>
                  </a:lnTo>
                  <a:lnTo>
                    <a:pt x="260700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232">
              <a:extLst>
                <a:ext uri="{FF2B5EF4-FFF2-40B4-BE49-F238E27FC236}">
                  <a16:creationId xmlns:a16="http://schemas.microsoft.com/office/drawing/2014/main" id="{EE1B17AF-B478-411D-8A96-B13DADF97B8A}"/>
                </a:ext>
              </a:extLst>
            </p:cNvPr>
            <p:cNvSpPr/>
            <p:nvPr/>
          </p:nvSpPr>
          <p:spPr>
            <a:xfrm>
              <a:off x="8545474" y="1472160"/>
              <a:ext cx="280010" cy="32185"/>
            </a:xfrm>
            <a:custGeom>
              <a:avLst/>
              <a:gdLst>
                <a:gd name="connsiteX0" fmla="*/ 0 w 280010"/>
                <a:gd name="connsiteY0" fmla="*/ 0 h 32185"/>
                <a:gd name="connsiteX1" fmla="*/ 280011 w 280010"/>
                <a:gd name="connsiteY1" fmla="*/ 0 h 32185"/>
                <a:gd name="connsiteX2" fmla="*/ 280011 w 280010"/>
                <a:gd name="connsiteY2" fmla="*/ 32185 h 32185"/>
                <a:gd name="connsiteX3" fmla="*/ 0 w 280010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010" h="32185">
                  <a:moveTo>
                    <a:pt x="0" y="0"/>
                  </a:moveTo>
                  <a:lnTo>
                    <a:pt x="280011" y="0"/>
                  </a:lnTo>
                  <a:lnTo>
                    <a:pt x="280011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233">
              <a:extLst>
                <a:ext uri="{FF2B5EF4-FFF2-40B4-BE49-F238E27FC236}">
                  <a16:creationId xmlns:a16="http://schemas.microsoft.com/office/drawing/2014/main" id="{6E4A926F-644D-48FB-AF2A-1E8345C425EC}"/>
                </a:ext>
              </a:extLst>
            </p:cNvPr>
            <p:cNvSpPr/>
            <p:nvPr/>
          </p:nvSpPr>
          <p:spPr>
            <a:xfrm>
              <a:off x="8674215" y="1610556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234">
              <a:extLst>
                <a:ext uri="{FF2B5EF4-FFF2-40B4-BE49-F238E27FC236}">
                  <a16:creationId xmlns:a16="http://schemas.microsoft.com/office/drawing/2014/main" id="{2DFE5A24-9305-4F47-A83C-3844785A3277}"/>
                </a:ext>
              </a:extLst>
            </p:cNvPr>
            <p:cNvSpPr/>
            <p:nvPr/>
          </p:nvSpPr>
          <p:spPr>
            <a:xfrm>
              <a:off x="8674215" y="1523656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235">
              <a:extLst>
                <a:ext uri="{FF2B5EF4-FFF2-40B4-BE49-F238E27FC236}">
                  <a16:creationId xmlns:a16="http://schemas.microsoft.com/office/drawing/2014/main" id="{2C08B86D-773A-4651-B9E2-D9E2128731C5}"/>
                </a:ext>
              </a:extLst>
            </p:cNvPr>
            <p:cNvSpPr/>
            <p:nvPr/>
          </p:nvSpPr>
          <p:spPr>
            <a:xfrm>
              <a:off x="8674215" y="1687801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236">
              <a:extLst>
                <a:ext uri="{FF2B5EF4-FFF2-40B4-BE49-F238E27FC236}">
                  <a16:creationId xmlns:a16="http://schemas.microsoft.com/office/drawing/2014/main" id="{2773D70A-37FC-47B7-8A7E-31A2BBB0EE22}"/>
                </a:ext>
              </a:extLst>
            </p:cNvPr>
            <p:cNvSpPr/>
            <p:nvPr/>
          </p:nvSpPr>
          <p:spPr>
            <a:xfrm>
              <a:off x="8529382" y="1761827"/>
              <a:ext cx="341162" cy="183455"/>
            </a:xfrm>
            <a:custGeom>
              <a:avLst/>
              <a:gdLst>
                <a:gd name="connsiteX0" fmla="*/ 325070 w 341162"/>
                <a:gd name="connsiteY0" fmla="*/ 183456 h 183455"/>
                <a:gd name="connsiteX1" fmla="*/ 16093 w 341162"/>
                <a:gd name="connsiteY1" fmla="*/ 183456 h 183455"/>
                <a:gd name="connsiteX2" fmla="*/ 0 w 341162"/>
                <a:gd name="connsiteY2" fmla="*/ 167363 h 183455"/>
                <a:gd name="connsiteX3" fmla="*/ 0 w 341162"/>
                <a:gd name="connsiteY3" fmla="*/ 16093 h 183455"/>
                <a:gd name="connsiteX4" fmla="*/ 16093 w 341162"/>
                <a:gd name="connsiteY4" fmla="*/ 0 h 183455"/>
                <a:gd name="connsiteX5" fmla="*/ 325070 w 341162"/>
                <a:gd name="connsiteY5" fmla="*/ 0 h 183455"/>
                <a:gd name="connsiteX6" fmla="*/ 341163 w 341162"/>
                <a:gd name="connsiteY6" fmla="*/ 16093 h 183455"/>
                <a:gd name="connsiteX7" fmla="*/ 341163 w 341162"/>
                <a:gd name="connsiteY7" fmla="*/ 167363 h 183455"/>
                <a:gd name="connsiteX8" fmla="*/ 325070 w 341162"/>
                <a:gd name="connsiteY8" fmla="*/ 183456 h 183455"/>
                <a:gd name="connsiteX9" fmla="*/ 32185 w 341162"/>
                <a:gd name="connsiteY9" fmla="*/ 151270 h 183455"/>
                <a:gd name="connsiteX10" fmla="*/ 308977 w 341162"/>
                <a:gd name="connsiteY10" fmla="*/ 151270 h 183455"/>
                <a:gd name="connsiteX11" fmla="*/ 308977 w 341162"/>
                <a:gd name="connsiteY11" fmla="*/ 32185 h 183455"/>
                <a:gd name="connsiteX12" fmla="*/ 32185 w 341162"/>
                <a:gd name="connsiteY12" fmla="*/ 32185 h 183455"/>
                <a:gd name="connsiteX13" fmla="*/ 32185 w 341162"/>
                <a:gd name="connsiteY13" fmla="*/ 151270 h 18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162" h="183455">
                  <a:moveTo>
                    <a:pt x="325070" y="183456"/>
                  </a:moveTo>
                  <a:lnTo>
                    <a:pt x="16093" y="183456"/>
                  </a:lnTo>
                  <a:cubicBezTo>
                    <a:pt x="6437" y="183456"/>
                    <a:pt x="0" y="177019"/>
                    <a:pt x="0" y="167363"/>
                  </a:cubicBezTo>
                  <a:lnTo>
                    <a:pt x="0" y="16093"/>
                  </a:lnTo>
                  <a:cubicBezTo>
                    <a:pt x="0" y="6437"/>
                    <a:pt x="6437" y="0"/>
                    <a:pt x="16093" y="0"/>
                  </a:cubicBezTo>
                  <a:lnTo>
                    <a:pt x="325070" y="0"/>
                  </a:lnTo>
                  <a:cubicBezTo>
                    <a:pt x="334726" y="0"/>
                    <a:pt x="341163" y="6437"/>
                    <a:pt x="341163" y="16093"/>
                  </a:cubicBezTo>
                  <a:lnTo>
                    <a:pt x="341163" y="167363"/>
                  </a:lnTo>
                  <a:cubicBezTo>
                    <a:pt x="341163" y="177019"/>
                    <a:pt x="334726" y="183456"/>
                    <a:pt x="325070" y="183456"/>
                  </a:cubicBezTo>
                  <a:close/>
                  <a:moveTo>
                    <a:pt x="32185" y="151270"/>
                  </a:moveTo>
                  <a:lnTo>
                    <a:pt x="308977" y="151270"/>
                  </a:lnTo>
                  <a:lnTo>
                    <a:pt x="308977" y="32185"/>
                  </a:lnTo>
                  <a:lnTo>
                    <a:pt x="32185" y="32185"/>
                  </a:lnTo>
                  <a:lnTo>
                    <a:pt x="32185" y="151270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237">
              <a:extLst>
                <a:ext uri="{FF2B5EF4-FFF2-40B4-BE49-F238E27FC236}">
                  <a16:creationId xmlns:a16="http://schemas.microsoft.com/office/drawing/2014/main" id="{179E3C81-CAD0-427D-A737-5DA6582D9A6A}"/>
                </a:ext>
              </a:extLst>
            </p:cNvPr>
            <p:cNvSpPr/>
            <p:nvPr/>
          </p:nvSpPr>
          <p:spPr>
            <a:xfrm>
              <a:off x="8593752" y="1839071"/>
              <a:ext cx="125522" cy="32185"/>
            </a:xfrm>
            <a:custGeom>
              <a:avLst/>
              <a:gdLst>
                <a:gd name="connsiteX0" fmla="*/ 0 w 125522"/>
                <a:gd name="connsiteY0" fmla="*/ 0 h 32185"/>
                <a:gd name="connsiteX1" fmla="*/ 125522 w 125522"/>
                <a:gd name="connsiteY1" fmla="*/ 0 h 32185"/>
                <a:gd name="connsiteX2" fmla="*/ 125522 w 125522"/>
                <a:gd name="connsiteY2" fmla="*/ 32185 h 32185"/>
                <a:gd name="connsiteX3" fmla="*/ 0 w 125522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522" h="32185">
                  <a:moveTo>
                    <a:pt x="0" y="0"/>
                  </a:moveTo>
                  <a:lnTo>
                    <a:pt x="125522" y="0"/>
                  </a:lnTo>
                  <a:lnTo>
                    <a:pt x="125522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FFFFFF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238">
              <a:extLst>
                <a:ext uri="{FF2B5EF4-FFF2-40B4-BE49-F238E27FC236}">
                  <a16:creationId xmlns:a16="http://schemas.microsoft.com/office/drawing/2014/main" id="{18329B06-6DF7-4411-A9FC-7A06D1C6EF2E}"/>
                </a:ext>
              </a:extLst>
            </p:cNvPr>
            <p:cNvSpPr/>
            <p:nvPr/>
          </p:nvSpPr>
          <p:spPr>
            <a:xfrm>
              <a:off x="8082008" y="1037660"/>
              <a:ext cx="341162" cy="183455"/>
            </a:xfrm>
            <a:custGeom>
              <a:avLst/>
              <a:gdLst>
                <a:gd name="connsiteX0" fmla="*/ 325070 w 341162"/>
                <a:gd name="connsiteY0" fmla="*/ 183456 h 183455"/>
                <a:gd name="connsiteX1" fmla="*/ 16093 w 341162"/>
                <a:gd name="connsiteY1" fmla="*/ 183456 h 183455"/>
                <a:gd name="connsiteX2" fmla="*/ 0 w 341162"/>
                <a:gd name="connsiteY2" fmla="*/ 167363 h 183455"/>
                <a:gd name="connsiteX3" fmla="*/ 0 w 341162"/>
                <a:gd name="connsiteY3" fmla="*/ 16093 h 183455"/>
                <a:gd name="connsiteX4" fmla="*/ 16093 w 341162"/>
                <a:gd name="connsiteY4" fmla="*/ 0 h 183455"/>
                <a:gd name="connsiteX5" fmla="*/ 325070 w 341162"/>
                <a:gd name="connsiteY5" fmla="*/ 0 h 183455"/>
                <a:gd name="connsiteX6" fmla="*/ 341163 w 341162"/>
                <a:gd name="connsiteY6" fmla="*/ 16093 h 183455"/>
                <a:gd name="connsiteX7" fmla="*/ 341163 w 341162"/>
                <a:gd name="connsiteY7" fmla="*/ 167363 h 183455"/>
                <a:gd name="connsiteX8" fmla="*/ 325070 w 341162"/>
                <a:gd name="connsiteY8" fmla="*/ 183456 h 183455"/>
                <a:gd name="connsiteX9" fmla="*/ 32185 w 341162"/>
                <a:gd name="connsiteY9" fmla="*/ 151270 h 183455"/>
                <a:gd name="connsiteX10" fmla="*/ 308978 w 341162"/>
                <a:gd name="connsiteY10" fmla="*/ 151270 h 183455"/>
                <a:gd name="connsiteX11" fmla="*/ 308978 w 341162"/>
                <a:gd name="connsiteY11" fmla="*/ 32185 h 183455"/>
                <a:gd name="connsiteX12" fmla="*/ 32185 w 341162"/>
                <a:gd name="connsiteY12" fmla="*/ 32185 h 183455"/>
                <a:gd name="connsiteX13" fmla="*/ 32185 w 341162"/>
                <a:gd name="connsiteY13" fmla="*/ 151270 h 18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162" h="183455">
                  <a:moveTo>
                    <a:pt x="325070" y="183456"/>
                  </a:moveTo>
                  <a:lnTo>
                    <a:pt x="16093" y="183456"/>
                  </a:lnTo>
                  <a:cubicBezTo>
                    <a:pt x="6437" y="183456"/>
                    <a:pt x="0" y="177019"/>
                    <a:pt x="0" y="167363"/>
                  </a:cubicBezTo>
                  <a:lnTo>
                    <a:pt x="0" y="16093"/>
                  </a:lnTo>
                  <a:cubicBezTo>
                    <a:pt x="0" y="6437"/>
                    <a:pt x="6437" y="0"/>
                    <a:pt x="16093" y="0"/>
                  </a:cubicBezTo>
                  <a:lnTo>
                    <a:pt x="325070" y="0"/>
                  </a:lnTo>
                  <a:cubicBezTo>
                    <a:pt x="334726" y="0"/>
                    <a:pt x="341163" y="6437"/>
                    <a:pt x="341163" y="16093"/>
                  </a:cubicBezTo>
                  <a:lnTo>
                    <a:pt x="341163" y="167363"/>
                  </a:lnTo>
                  <a:cubicBezTo>
                    <a:pt x="341163" y="173800"/>
                    <a:pt x="334726" y="183456"/>
                    <a:pt x="325070" y="183456"/>
                  </a:cubicBezTo>
                  <a:close/>
                  <a:moveTo>
                    <a:pt x="32185" y="151270"/>
                  </a:moveTo>
                  <a:lnTo>
                    <a:pt x="308978" y="151270"/>
                  </a:lnTo>
                  <a:lnTo>
                    <a:pt x="308978" y="32185"/>
                  </a:lnTo>
                  <a:lnTo>
                    <a:pt x="32185" y="32185"/>
                  </a:lnTo>
                  <a:lnTo>
                    <a:pt x="32185" y="151270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239">
              <a:extLst>
                <a:ext uri="{FF2B5EF4-FFF2-40B4-BE49-F238E27FC236}">
                  <a16:creationId xmlns:a16="http://schemas.microsoft.com/office/drawing/2014/main" id="{BD03C15E-DF68-496F-AEF8-2D1D483246A1}"/>
                </a:ext>
              </a:extLst>
            </p:cNvPr>
            <p:cNvSpPr/>
            <p:nvPr/>
          </p:nvSpPr>
          <p:spPr>
            <a:xfrm>
              <a:off x="8297648" y="1098812"/>
              <a:ext cx="64370" cy="61151"/>
            </a:xfrm>
            <a:custGeom>
              <a:avLst/>
              <a:gdLst>
                <a:gd name="connsiteX0" fmla="*/ 0 w 64370"/>
                <a:gd name="connsiteY0" fmla="*/ 0 h 61151"/>
                <a:gd name="connsiteX1" fmla="*/ 64370 w 64370"/>
                <a:gd name="connsiteY1" fmla="*/ 0 h 61151"/>
                <a:gd name="connsiteX2" fmla="*/ 64370 w 64370"/>
                <a:gd name="connsiteY2" fmla="*/ 61152 h 61151"/>
                <a:gd name="connsiteX3" fmla="*/ 0 w 64370"/>
                <a:gd name="connsiteY3" fmla="*/ 61152 h 6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70" h="61151">
                  <a:moveTo>
                    <a:pt x="0" y="0"/>
                  </a:moveTo>
                  <a:lnTo>
                    <a:pt x="64370" y="0"/>
                  </a:lnTo>
                  <a:lnTo>
                    <a:pt x="64370" y="61152"/>
                  </a:lnTo>
                  <a:lnTo>
                    <a:pt x="0" y="61152"/>
                  </a:lnTo>
                  <a:close/>
                </a:path>
              </a:pathLst>
            </a:custGeom>
            <a:solidFill>
              <a:srgbClr val="FFFFFF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240">
              <a:extLst>
                <a:ext uri="{FF2B5EF4-FFF2-40B4-BE49-F238E27FC236}">
                  <a16:creationId xmlns:a16="http://schemas.microsoft.com/office/drawing/2014/main" id="{EBFA2B31-9FA2-4053-9649-38F3BFECDCE6}"/>
                </a:ext>
              </a:extLst>
            </p:cNvPr>
            <p:cNvSpPr/>
            <p:nvPr/>
          </p:nvSpPr>
          <p:spPr>
            <a:xfrm>
              <a:off x="8146378" y="1111686"/>
              <a:ext cx="125522" cy="32185"/>
            </a:xfrm>
            <a:custGeom>
              <a:avLst/>
              <a:gdLst>
                <a:gd name="connsiteX0" fmla="*/ 0 w 125522"/>
                <a:gd name="connsiteY0" fmla="*/ 0 h 32185"/>
                <a:gd name="connsiteX1" fmla="*/ 125522 w 125522"/>
                <a:gd name="connsiteY1" fmla="*/ 0 h 32185"/>
                <a:gd name="connsiteX2" fmla="*/ 125522 w 125522"/>
                <a:gd name="connsiteY2" fmla="*/ 32185 h 32185"/>
                <a:gd name="connsiteX3" fmla="*/ 0 w 125522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522" h="32185">
                  <a:moveTo>
                    <a:pt x="0" y="0"/>
                  </a:moveTo>
                  <a:lnTo>
                    <a:pt x="125522" y="0"/>
                  </a:lnTo>
                  <a:lnTo>
                    <a:pt x="125522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FFFFFF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299">
              <a:extLst>
                <a:ext uri="{FF2B5EF4-FFF2-40B4-BE49-F238E27FC236}">
                  <a16:creationId xmlns:a16="http://schemas.microsoft.com/office/drawing/2014/main" id="{D8018719-16CB-4A04-AA52-F47309669B69}"/>
                </a:ext>
              </a:extLst>
            </p:cNvPr>
            <p:cNvSpPr/>
            <p:nvPr/>
          </p:nvSpPr>
          <p:spPr>
            <a:xfrm>
              <a:off x="8745022" y="1822978"/>
              <a:ext cx="64370" cy="61151"/>
            </a:xfrm>
            <a:custGeom>
              <a:avLst/>
              <a:gdLst>
                <a:gd name="connsiteX0" fmla="*/ 0 w 64370"/>
                <a:gd name="connsiteY0" fmla="*/ 0 h 61151"/>
                <a:gd name="connsiteX1" fmla="*/ 64370 w 64370"/>
                <a:gd name="connsiteY1" fmla="*/ 0 h 61151"/>
                <a:gd name="connsiteX2" fmla="*/ 64370 w 64370"/>
                <a:gd name="connsiteY2" fmla="*/ 61152 h 61151"/>
                <a:gd name="connsiteX3" fmla="*/ 0 w 64370"/>
                <a:gd name="connsiteY3" fmla="*/ 61152 h 6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70" h="61151">
                  <a:moveTo>
                    <a:pt x="0" y="0"/>
                  </a:moveTo>
                  <a:lnTo>
                    <a:pt x="64370" y="0"/>
                  </a:lnTo>
                  <a:lnTo>
                    <a:pt x="64370" y="61152"/>
                  </a:lnTo>
                  <a:lnTo>
                    <a:pt x="0" y="61152"/>
                  </a:lnTo>
                  <a:close/>
                </a:path>
              </a:pathLst>
            </a:custGeom>
            <a:solidFill>
              <a:srgbClr val="FFFFFF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2" name="Группа 196">
            <a:extLst>
              <a:ext uri="{FF2B5EF4-FFF2-40B4-BE49-F238E27FC236}">
                <a16:creationId xmlns:a16="http://schemas.microsoft.com/office/drawing/2014/main" id="{7F42342C-3185-4782-929F-A12A6D31568F}"/>
              </a:ext>
            </a:extLst>
          </p:cNvPr>
          <p:cNvGrpSpPr>
            <a:grpSpLocks noChangeAspect="1"/>
          </p:cNvGrpSpPr>
          <p:nvPr/>
        </p:nvGrpSpPr>
        <p:grpSpPr>
          <a:xfrm>
            <a:off x="7650493" y="4110339"/>
            <a:ext cx="365907" cy="365907"/>
            <a:chOff x="3295605" y="2063519"/>
            <a:chExt cx="779200" cy="779200"/>
          </a:xfrm>
        </p:grpSpPr>
        <p:sp>
          <p:nvSpPr>
            <p:cNvPr id="113" name="Полилиния: фигура 130">
              <a:extLst>
                <a:ext uri="{FF2B5EF4-FFF2-40B4-BE49-F238E27FC236}">
                  <a16:creationId xmlns:a16="http://schemas.microsoft.com/office/drawing/2014/main" id="{A929351F-8F90-4CD1-B745-2839F88F301E}"/>
                </a:ext>
              </a:extLst>
            </p:cNvPr>
            <p:cNvSpPr/>
            <p:nvPr/>
          </p:nvSpPr>
          <p:spPr>
            <a:xfrm>
              <a:off x="3295605" y="2104530"/>
              <a:ext cx="727253" cy="738189"/>
            </a:xfrm>
            <a:custGeom>
              <a:avLst/>
              <a:gdLst>
                <a:gd name="connsiteX0" fmla="*/ 371829 w 727253"/>
                <a:gd name="connsiteY0" fmla="*/ 738189 h 738189"/>
                <a:gd name="connsiteX1" fmla="*/ 0 w 727253"/>
                <a:gd name="connsiteY1" fmla="*/ 369095 h 738189"/>
                <a:gd name="connsiteX2" fmla="*/ 369095 w 727253"/>
                <a:gd name="connsiteY2" fmla="*/ 0 h 738189"/>
                <a:gd name="connsiteX3" fmla="*/ 388233 w 727253"/>
                <a:gd name="connsiteY3" fmla="*/ 0 h 738189"/>
                <a:gd name="connsiteX4" fmla="*/ 388233 w 727253"/>
                <a:gd name="connsiteY4" fmla="*/ 27340 h 738189"/>
                <a:gd name="connsiteX5" fmla="*/ 371829 w 727253"/>
                <a:gd name="connsiteY5" fmla="*/ 27340 h 738189"/>
                <a:gd name="connsiteX6" fmla="*/ 27340 w 727253"/>
                <a:gd name="connsiteY6" fmla="*/ 369095 h 738189"/>
                <a:gd name="connsiteX7" fmla="*/ 369095 w 727253"/>
                <a:gd name="connsiteY7" fmla="*/ 710849 h 738189"/>
                <a:gd name="connsiteX8" fmla="*/ 699913 w 727253"/>
                <a:gd name="connsiteY8" fmla="*/ 459318 h 738189"/>
                <a:gd name="connsiteX9" fmla="*/ 727253 w 727253"/>
                <a:gd name="connsiteY9" fmla="*/ 467520 h 738189"/>
                <a:gd name="connsiteX10" fmla="*/ 371829 w 727253"/>
                <a:gd name="connsiteY10" fmla="*/ 738189 h 73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7253" h="738189">
                  <a:moveTo>
                    <a:pt x="371829" y="738189"/>
                  </a:moveTo>
                  <a:cubicBezTo>
                    <a:pt x="166776" y="738189"/>
                    <a:pt x="0" y="574147"/>
                    <a:pt x="0" y="369095"/>
                  </a:cubicBezTo>
                  <a:cubicBezTo>
                    <a:pt x="0" y="164042"/>
                    <a:pt x="166776" y="0"/>
                    <a:pt x="369095" y="0"/>
                  </a:cubicBezTo>
                  <a:cubicBezTo>
                    <a:pt x="374563" y="0"/>
                    <a:pt x="382765" y="0"/>
                    <a:pt x="388233" y="0"/>
                  </a:cubicBezTo>
                  <a:lnTo>
                    <a:pt x="388233" y="27340"/>
                  </a:lnTo>
                  <a:cubicBezTo>
                    <a:pt x="382765" y="27340"/>
                    <a:pt x="377297" y="27340"/>
                    <a:pt x="371829" y="27340"/>
                  </a:cubicBezTo>
                  <a:cubicBezTo>
                    <a:pt x="180446" y="27340"/>
                    <a:pt x="27340" y="180446"/>
                    <a:pt x="27340" y="369095"/>
                  </a:cubicBezTo>
                  <a:cubicBezTo>
                    <a:pt x="27340" y="557743"/>
                    <a:pt x="180446" y="710849"/>
                    <a:pt x="369095" y="710849"/>
                  </a:cubicBezTo>
                  <a:cubicBezTo>
                    <a:pt x="522201" y="710849"/>
                    <a:pt x="658902" y="606956"/>
                    <a:pt x="699913" y="459318"/>
                  </a:cubicBezTo>
                  <a:lnTo>
                    <a:pt x="727253" y="467520"/>
                  </a:lnTo>
                  <a:cubicBezTo>
                    <a:pt x="683509" y="626094"/>
                    <a:pt x="535871" y="738189"/>
                    <a:pt x="371829" y="738189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31">
              <a:extLst>
                <a:ext uri="{FF2B5EF4-FFF2-40B4-BE49-F238E27FC236}">
                  <a16:creationId xmlns:a16="http://schemas.microsoft.com/office/drawing/2014/main" id="{9C29D74E-89C3-4A0E-94C6-9F27BB5E48CE}"/>
                </a:ext>
              </a:extLst>
            </p:cNvPr>
            <p:cNvSpPr/>
            <p:nvPr/>
          </p:nvSpPr>
          <p:spPr>
            <a:xfrm>
              <a:off x="3415903" y="2222093"/>
              <a:ext cx="497594" cy="508530"/>
            </a:xfrm>
            <a:custGeom>
              <a:avLst/>
              <a:gdLst>
                <a:gd name="connsiteX0" fmla="*/ 254265 w 497594"/>
                <a:gd name="connsiteY0" fmla="*/ 508531 h 508530"/>
                <a:gd name="connsiteX1" fmla="*/ 0 w 497594"/>
                <a:gd name="connsiteY1" fmla="*/ 254265 h 508530"/>
                <a:gd name="connsiteX2" fmla="*/ 254265 w 497594"/>
                <a:gd name="connsiteY2" fmla="*/ 0 h 508530"/>
                <a:gd name="connsiteX3" fmla="*/ 265201 w 497594"/>
                <a:gd name="connsiteY3" fmla="*/ 0 h 508530"/>
                <a:gd name="connsiteX4" fmla="*/ 265201 w 497594"/>
                <a:gd name="connsiteY4" fmla="*/ 27340 h 508530"/>
                <a:gd name="connsiteX5" fmla="*/ 254265 w 497594"/>
                <a:gd name="connsiteY5" fmla="*/ 27340 h 508530"/>
                <a:gd name="connsiteX6" fmla="*/ 27340 w 497594"/>
                <a:gd name="connsiteY6" fmla="*/ 254265 h 508530"/>
                <a:gd name="connsiteX7" fmla="*/ 254265 w 497594"/>
                <a:gd name="connsiteY7" fmla="*/ 481190 h 508530"/>
                <a:gd name="connsiteX8" fmla="*/ 470254 w 497594"/>
                <a:gd name="connsiteY8" fmla="*/ 319882 h 508530"/>
                <a:gd name="connsiteX9" fmla="*/ 497594 w 497594"/>
                <a:gd name="connsiteY9" fmla="*/ 328084 h 508530"/>
                <a:gd name="connsiteX10" fmla="*/ 254265 w 497594"/>
                <a:gd name="connsiteY10" fmla="*/ 508531 h 50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7594" h="508530">
                  <a:moveTo>
                    <a:pt x="254265" y="508531"/>
                  </a:moveTo>
                  <a:cubicBezTo>
                    <a:pt x="114829" y="508531"/>
                    <a:pt x="0" y="393701"/>
                    <a:pt x="0" y="254265"/>
                  </a:cubicBezTo>
                  <a:cubicBezTo>
                    <a:pt x="0" y="114829"/>
                    <a:pt x="114829" y="0"/>
                    <a:pt x="254265" y="0"/>
                  </a:cubicBezTo>
                  <a:cubicBezTo>
                    <a:pt x="256999" y="0"/>
                    <a:pt x="262467" y="0"/>
                    <a:pt x="265201" y="0"/>
                  </a:cubicBezTo>
                  <a:lnTo>
                    <a:pt x="265201" y="27340"/>
                  </a:lnTo>
                  <a:cubicBezTo>
                    <a:pt x="262467" y="27340"/>
                    <a:pt x="256999" y="27340"/>
                    <a:pt x="254265" y="27340"/>
                  </a:cubicBezTo>
                  <a:cubicBezTo>
                    <a:pt x="128500" y="27340"/>
                    <a:pt x="27340" y="128500"/>
                    <a:pt x="27340" y="254265"/>
                  </a:cubicBezTo>
                  <a:cubicBezTo>
                    <a:pt x="27340" y="380031"/>
                    <a:pt x="128500" y="481190"/>
                    <a:pt x="254265" y="481190"/>
                  </a:cubicBezTo>
                  <a:cubicBezTo>
                    <a:pt x="352691" y="481190"/>
                    <a:pt x="442914" y="415573"/>
                    <a:pt x="470254" y="319882"/>
                  </a:cubicBezTo>
                  <a:lnTo>
                    <a:pt x="497594" y="328084"/>
                  </a:lnTo>
                  <a:cubicBezTo>
                    <a:pt x="464786" y="434711"/>
                    <a:pt x="363627" y="508531"/>
                    <a:pt x="254265" y="508531"/>
                  </a:cubicBez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32">
              <a:extLst>
                <a:ext uri="{FF2B5EF4-FFF2-40B4-BE49-F238E27FC236}">
                  <a16:creationId xmlns:a16="http://schemas.microsoft.com/office/drawing/2014/main" id="{5C2E0D0E-7CCB-4471-AC0C-3D843F71CA48}"/>
                </a:ext>
              </a:extLst>
            </p:cNvPr>
            <p:cNvSpPr/>
            <p:nvPr/>
          </p:nvSpPr>
          <p:spPr>
            <a:xfrm>
              <a:off x="3530732" y="2345125"/>
              <a:ext cx="270759" cy="273403"/>
            </a:xfrm>
            <a:custGeom>
              <a:avLst/>
              <a:gdLst>
                <a:gd name="connsiteX0" fmla="*/ 136702 w 270759"/>
                <a:gd name="connsiteY0" fmla="*/ 273403 h 273403"/>
                <a:gd name="connsiteX1" fmla="*/ 0 w 270759"/>
                <a:gd name="connsiteY1" fmla="*/ 136702 h 273403"/>
                <a:gd name="connsiteX2" fmla="*/ 136702 w 270759"/>
                <a:gd name="connsiteY2" fmla="*/ 0 h 273403"/>
                <a:gd name="connsiteX3" fmla="*/ 144904 w 270759"/>
                <a:gd name="connsiteY3" fmla="*/ 0 h 273403"/>
                <a:gd name="connsiteX4" fmla="*/ 142170 w 270759"/>
                <a:gd name="connsiteY4" fmla="*/ 27340 h 273403"/>
                <a:gd name="connsiteX5" fmla="*/ 133968 w 270759"/>
                <a:gd name="connsiteY5" fmla="*/ 27340 h 273403"/>
                <a:gd name="connsiteX6" fmla="*/ 24606 w 270759"/>
                <a:gd name="connsiteY6" fmla="*/ 136702 h 273403"/>
                <a:gd name="connsiteX7" fmla="*/ 133968 w 270759"/>
                <a:gd name="connsiteY7" fmla="*/ 246063 h 273403"/>
                <a:gd name="connsiteX8" fmla="*/ 243329 w 270759"/>
                <a:gd name="connsiteY8" fmla="*/ 136702 h 273403"/>
                <a:gd name="connsiteX9" fmla="*/ 243329 w 270759"/>
                <a:gd name="connsiteY9" fmla="*/ 123032 h 273403"/>
                <a:gd name="connsiteX10" fmla="*/ 270669 w 270759"/>
                <a:gd name="connsiteY10" fmla="*/ 120297 h 273403"/>
                <a:gd name="connsiteX11" fmla="*/ 270669 w 270759"/>
                <a:gd name="connsiteY11" fmla="*/ 136702 h 273403"/>
                <a:gd name="connsiteX12" fmla="*/ 136702 w 270759"/>
                <a:gd name="connsiteY12" fmla="*/ 273403 h 27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0759" h="273403">
                  <a:moveTo>
                    <a:pt x="136702" y="273403"/>
                  </a:moveTo>
                  <a:cubicBezTo>
                    <a:pt x="60149" y="273403"/>
                    <a:pt x="0" y="210521"/>
                    <a:pt x="0" y="136702"/>
                  </a:cubicBezTo>
                  <a:cubicBezTo>
                    <a:pt x="0" y="62883"/>
                    <a:pt x="62883" y="0"/>
                    <a:pt x="136702" y="0"/>
                  </a:cubicBezTo>
                  <a:cubicBezTo>
                    <a:pt x="139436" y="0"/>
                    <a:pt x="142170" y="0"/>
                    <a:pt x="144904" y="0"/>
                  </a:cubicBezTo>
                  <a:lnTo>
                    <a:pt x="142170" y="27340"/>
                  </a:lnTo>
                  <a:cubicBezTo>
                    <a:pt x="139436" y="27340"/>
                    <a:pt x="136702" y="27340"/>
                    <a:pt x="133968" y="27340"/>
                  </a:cubicBezTo>
                  <a:cubicBezTo>
                    <a:pt x="73819" y="27340"/>
                    <a:pt x="24606" y="76553"/>
                    <a:pt x="24606" y="136702"/>
                  </a:cubicBezTo>
                  <a:cubicBezTo>
                    <a:pt x="24606" y="196850"/>
                    <a:pt x="73819" y="246063"/>
                    <a:pt x="133968" y="246063"/>
                  </a:cubicBezTo>
                  <a:cubicBezTo>
                    <a:pt x="194116" y="246063"/>
                    <a:pt x="243329" y="196850"/>
                    <a:pt x="243329" y="136702"/>
                  </a:cubicBezTo>
                  <a:cubicBezTo>
                    <a:pt x="243329" y="131234"/>
                    <a:pt x="243329" y="128500"/>
                    <a:pt x="243329" y="123032"/>
                  </a:cubicBezTo>
                  <a:lnTo>
                    <a:pt x="270669" y="120297"/>
                  </a:lnTo>
                  <a:cubicBezTo>
                    <a:pt x="270669" y="125766"/>
                    <a:pt x="270669" y="131234"/>
                    <a:pt x="270669" y="136702"/>
                  </a:cubicBezTo>
                  <a:cubicBezTo>
                    <a:pt x="273403" y="213255"/>
                    <a:pt x="213255" y="273403"/>
                    <a:pt x="136702" y="273403"/>
                  </a:cubicBez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133">
              <a:extLst>
                <a:ext uri="{FF2B5EF4-FFF2-40B4-BE49-F238E27FC236}">
                  <a16:creationId xmlns:a16="http://schemas.microsoft.com/office/drawing/2014/main" id="{9FB22265-C520-4B2D-AA96-7E5029056D96}"/>
                </a:ext>
              </a:extLst>
            </p:cNvPr>
            <p:cNvSpPr/>
            <p:nvPr/>
          </p:nvSpPr>
          <p:spPr>
            <a:xfrm>
              <a:off x="3645562" y="2063519"/>
              <a:ext cx="429243" cy="434711"/>
            </a:xfrm>
            <a:custGeom>
              <a:avLst/>
              <a:gdLst>
                <a:gd name="connsiteX0" fmla="*/ 19138 w 429243"/>
                <a:gd name="connsiteY0" fmla="*/ 434712 h 434711"/>
                <a:gd name="connsiteX1" fmla="*/ 0 w 429243"/>
                <a:gd name="connsiteY1" fmla="*/ 415573 h 434711"/>
                <a:gd name="connsiteX2" fmla="*/ 180446 w 429243"/>
                <a:gd name="connsiteY2" fmla="*/ 232393 h 434711"/>
                <a:gd name="connsiteX3" fmla="*/ 164042 w 429243"/>
                <a:gd name="connsiteY3" fmla="*/ 136702 h 434711"/>
                <a:gd name="connsiteX4" fmla="*/ 298010 w 429243"/>
                <a:gd name="connsiteY4" fmla="*/ 0 h 434711"/>
                <a:gd name="connsiteX5" fmla="*/ 322616 w 429243"/>
                <a:gd name="connsiteY5" fmla="*/ 106627 h 434711"/>
                <a:gd name="connsiteX6" fmla="*/ 429243 w 429243"/>
                <a:gd name="connsiteY6" fmla="*/ 136702 h 434711"/>
                <a:gd name="connsiteX7" fmla="*/ 295276 w 429243"/>
                <a:gd name="connsiteY7" fmla="*/ 273403 h 434711"/>
                <a:gd name="connsiteX8" fmla="*/ 199584 w 429243"/>
                <a:gd name="connsiteY8" fmla="*/ 251531 h 434711"/>
                <a:gd name="connsiteX9" fmla="*/ 19138 w 429243"/>
                <a:gd name="connsiteY9" fmla="*/ 434712 h 434711"/>
                <a:gd name="connsiteX10" fmla="*/ 221457 w 429243"/>
                <a:gd name="connsiteY10" fmla="*/ 229659 h 434711"/>
                <a:gd name="connsiteX11" fmla="*/ 287074 w 429243"/>
                <a:gd name="connsiteY11" fmla="*/ 246063 h 434711"/>
                <a:gd name="connsiteX12" fmla="*/ 380031 w 429243"/>
                <a:gd name="connsiteY12" fmla="*/ 153106 h 434711"/>
                <a:gd name="connsiteX13" fmla="*/ 317148 w 429243"/>
                <a:gd name="connsiteY13" fmla="*/ 133968 h 434711"/>
                <a:gd name="connsiteX14" fmla="*/ 221457 w 429243"/>
                <a:gd name="connsiteY14" fmla="*/ 229659 h 434711"/>
                <a:gd name="connsiteX15" fmla="*/ 194116 w 429243"/>
                <a:gd name="connsiteY15" fmla="*/ 147638 h 434711"/>
                <a:gd name="connsiteX16" fmla="*/ 205053 w 429243"/>
                <a:gd name="connsiteY16" fmla="*/ 207787 h 434711"/>
                <a:gd name="connsiteX17" fmla="*/ 298010 w 429243"/>
                <a:gd name="connsiteY17" fmla="*/ 114829 h 434711"/>
                <a:gd name="connsiteX18" fmla="*/ 284339 w 429243"/>
                <a:gd name="connsiteY18" fmla="*/ 54681 h 434711"/>
                <a:gd name="connsiteX19" fmla="*/ 194116 w 429243"/>
                <a:gd name="connsiteY19" fmla="*/ 147638 h 43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9243" h="434711">
                  <a:moveTo>
                    <a:pt x="19138" y="434712"/>
                  </a:moveTo>
                  <a:lnTo>
                    <a:pt x="0" y="415573"/>
                  </a:lnTo>
                  <a:lnTo>
                    <a:pt x="180446" y="232393"/>
                  </a:lnTo>
                  <a:lnTo>
                    <a:pt x="164042" y="136702"/>
                  </a:lnTo>
                  <a:lnTo>
                    <a:pt x="298010" y="0"/>
                  </a:lnTo>
                  <a:lnTo>
                    <a:pt x="322616" y="106627"/>
                  </a:lnTo>
                  <a:lnTo>
                    <a:pt x="429243" y="136702"/>
                  </a:lnTo>
                  <a:lnTo>
                    <a:pt x="295276" y="273403"/>
                  </a:lnTo>
                  <a:lnTo>
                    <a:pt x="199584" y="251531"/>
                  </a:lnTo>
                  <a:lnTo>
                    <a:pt x="19138" y="434712"/>
                  </a:lnTo>
                  <a:close/>
                  <a:moveTo>
                    <a:pt x="221457" y="229659"/>
                  </a:moveTo>
                  <a:lnTo>
                    <a:pt x="287074" y="246063"/>
                  </a:lnTo>
                  <a:lnTo>
                    <a:pt x="380031" y="153106"/>
                  </a:lnTo>
                  <a:lnTo>
                    <a:pt x="317148" y="133968"/>
                  </a:lnTo>
                  <a:lnTo>
                    <a:pt x="221457" y="229659"/>
                  </a:lnTo>
                  <a:close/>
                  <a:moveTo>
                    <a:pt x="194116" y="147638"/>
                  </a:moveTo>
                  <a:lnTo>
                    <a:pt x="205053" y="207787"/>
                  </a:lnTo>
                  <a:lnTo>
                    <a:pt x="298010" y="114829"/>
                  </a:lnTo>
                  <a:lnTo>
                    <a:pt x="284339" y="54681"/>
                  </a:lnTo>
                  <a:lnTo>
                    <a:pt x="194116" y="14763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134">
              <a:extLst>
                <a:ext uri="{FF2B5EF4-FFF2-40B4-BE49-F238E27FC236}">
                  <a16:creationId xmlns:a16="http://schemas.microsoft.com/office/drawing/2014/main" id="{2D7BBB84-AE0C-4817-AEE1-D0EDD87E840B}"/>
                </a:ext>
              </a:extLst>
            </p:cNvPr>
            <p:cNvSpPr/>
            <p:nvPr/>
          </p:nvSpPr>
          <p:spPr>
            <a:xfrm>
              <a:off x="3872487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135">
              <a:extLst>
                <a:ext uri="{FF2B5EF4-FFF2-40B4-BE49-F238E27FC236}">
                  <a16:creationId xmlns:a16="http://schemas.microsoft.com/office/drawing/2014/main" id="{40F3EDCE-77F2-4FBF-B138-4C8C3206BB12}"/>
                </a:ext>
              </a:extLst>
            </p:cNvPr>
            <p:cNvSpPr/>
            <p:nvPr/>
          </p:nvSpPr>
          <p:spPr>
            <a:xfrm>
              <a:off x="3984582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9" name="Группа 3">
            <a:extLst>
              <a:ext uri="{FF2B5EF4-FFF2-40B4-BE49-F238E27FC236}">
                <a16:creationId xmlns:a16="http://schemas.microsoft.com/office/drawing/2014/main" id="{0EC235BD-849E-413F-90A2-9F9F108D4077}"/>
              </a:ext>
            </a:extLst>
          </p:cNvPr>
          <p:cNvGrpSpPr>
            <a:grpSpLocks noChangeAspect="1"/>
          </p:cNvGrpSpPr>
          <p:nvPr/>
        </p:nvGrpSpPr>
        <p:grpSpPr>
          <a:xfrm>
            <a:off x="7564145" y="5655722"/>
            <a:ext cx="441213" cy="344228"/>
            <a:chOff x="2805188" y="2782031"/>
            <a:chExt cx="1002040" cy="781777"/>
          </a:xfrm>
        </p:grpSpPr>
        <p:grpSp>
          <p:nvGrpSpPr>
            <p:cNvPr id="120" name="Группа 288">
              <a:extLst>
                <a:ext uri="{FF2B5EF4-FFF2-40B4-BE49-F238E27FC236}">
                  <a16:creationId xmlns:a16="http://schemas.microsoft.com/office/drawing/2014/main" id="{06C5309F-9B13-49B2-BCB7-681D712D3F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05188" y="2782031"/>
              <a:ext cx="1002040" cy="781777"/>
              <a:chOff x="2679064" y="2797769"/>
              <a:chExt cx="882925" cy="688845"/>
            </a:xfrm>
          </p:grpSpPr>
          <p:sp>
            <p:nvSpPr>
              <p:cNvPr id="121" name="Полилиния: фигура 251">
                <a:extLst>
                  <a:ext uri="{FF2B5EF4-FFF2-40B4-BE49-F238E27FC236}">
                    <a16:creationId xmlns:a16="http://schemas.microsoft.com/office/drawing/2014/main" id="{B4FF3684-F6B9-44C0-9EB3-C69757D1F524}"/>
                  </a:ext>
                </a:extLst>
              </p:cNvPr>
              <p:cNvSpPr/>
              <p:nvPr/>
            </p:nvSpPr>
            <p:spPr>
              <a:xfrm>
                <a:off x="2903213" y="3248799"/>
                <a:ext cx="76538" cy="237815"/>
              </a:xfrm>
              <a:custGeom>
                <a:avLst/>
                <a:gdLst>
                  <a:gd name="connsiteX0" fmla="*/ 76538 w 76538"/>
                  <a:gd name="connsiteY0" fmla="*/ 237816 h 237815"/>
                  <a:gd name="connsiteX1" fmla="*/ 0 w 76538"/>
                  <a:gd name="connsiteY1" fmla="*/ 237816 h 237815"/>
                  <a:gd name="connsiteX2" fmla="*/ 19135 w 76538"/>
                  <a:gd name="connsiteY2" fmla="*/ 0 h 237815"/>
                  <a:gd name="connsiteX3" fmla="*/ 60138 w 76538"/>
                  <a:gd name="connsiteY3" fmla="*/ 0 h 237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538" h="237815">
                    <a:moveTo>
                      <a:pt x="76538" y="237816"/>
                    </a:moveTo>
                    <a:lnTo>
                      <a:pt x="0" y="237816"/>
                    </a:lnTo>
                    <a:lnTo>
                      <a:pt x="19135" y="0"/>
                    </a:lnTo>
                    <a:lnTo>
                      <a:pt x="60138" y="0"/>
                    </a:lnTo>
                    <a:close/>
                  </a:path>
                </a:pathLst>
              </a:custGeom>
              <a:solidFill>
                <a:srgbClr val="8F0D6B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2" name="Полилиния: фигура 252">
                <a:extLst>
                  <a:ext uri="{FF2B5EF4-FFF2-40B4-BE49-F238E27FC236}">
                    <a16:creationId xmlns:a16="http://schemas.microsoft.com/office/drawing/2014/main" id="{E68BA2FA-4109-41D8-A404-6C0F2D69BAA4}"/>
                  </a:ext>
                </a:extLst>
              </p:cNvPr>
              <p:cNvSpPr/>
              <p:nvPr/>
            </p:nvSpPr>
            <p:spPr>
              <a:xfrm>
                <a:off x="2821207" y="2961780"/>
                <a:ext cx="240548" cy="240549"/>
              </a:xfrm>
              <a:custGeom>
                <a:avLst/>
                <a:gdLst>
                  <a:gd name="connsiteX0" fmla="*/ 120274 w 240548"/>
                  <a:gd name="connsiteY0" fmla="*/ 240549 h 240549"/>
                  <a:gd name="connsiteX1" fmla="*/ 0 w 240548"/>
                  <a:gd name="connsiteY1" fmla="*/ 120275 h 240549"/>
                  <a:gd name="connsiteX2" fmla="*/ 120274 w 240548"/>
                  <a:gd name="connsiteY2" fmla="*/ 0 h 240549"/>
                  <a:gd name="connsiteX3" fmla="*/ 240549 w 240548"/>
                  <a:gd name="connsiteY3" fmla="*/ 120275 h 240549"/>
                  <a:gd name="connsiteX4" fmla="*/ 120274 w 240548"/>
                  <a:gd name="connsiteY4" fmla="*/ 240549 h 240549"/>
                  <a:gd name="connsiteX5" fmla="*/ 120274 w 240548"/>
                  <a:gd name="connsiteY5" fmla="*/ 27335 h 240549"/>
                  <a:gd name="connsiteX6" fmla="*/ 27335 w 240548"/>
                  <a:gd name="connsiteY6" fmla="*/ 120275 h 240549"/>
                  <a:gd name="connsiteX7" fmla="*/ 120274 w 240548"/>
                  <a:gd name="connsiteY7" fmla="*/ 213214 h 240549"/>
                  <a:gd name="connsiteX8" fmla="*/ 213214 w 240548"/>
                  <a:gd name="connsiteY8" fmla="*/ 120275 h 240549"/>
                  <a:gd name="connsiteX9" fmla="*/ 120274 w 240548"/>
                  <a:gd name="connsiteY9" fmla="*/ 27335 h 240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0548" h="240549">
                    <a:moveTo>
                      <a:pt x="120274" y="240549"/>
                    </a:moveTo>
                    <a:cubicBezTo>
                      <a:pt x="54670" y="240549"/>
                      <a:pt x="0" y="185879"/>
                      <a:pt x="0" y="120275"/>
                    </a:cubicBezTo>
                    <a:cubicBezTo>
                      <a:pt x="0" y="54670"/>
                      <a:pt x="54670" y="0"/>
                      <a:pt x="120274" y="0"/>
                    </a:cubicBezTo>
                    <a:cubicBezTo>
                      <a:pt x="185879" y="0"/>
                      <a:pt x="240549" y="54670"/>
                      <a:pt x="240549" y="120275"/>
                    </a:cubicBezTo>
                    <a:cubicBezTo>
                      <a:pt x="240549" y="185879"/>
                      <a:pt x="185879" y="240549"/>
                      <a:pt x="120274" y="240549"/>
                    </a:cubicBezTo>
                    <a:close/>
                    <a:moveTo>
                      <a:pt x="120274" y="27335"/>
                    </a:moveTo>
                    <a:cubicBezTo>
                      <a:pt x="68338" y="27335"/>
                      <a:pt x="27335" y="68338"/>
                      <a:pt x="27335" y="120275"/>
                    </a:cubicBezTo>
                    <a:cubicBezTo>
                      <a:pt x="27335" y="172211"/>
                      <a:pt x="68338" y="213214"/>
                      <a:pt x="120274" y="213214"/>
                    </a:cubicBezTo>
                    <a:cubicBezTo>
                      <a:pt x="172211" y="213214"/>
                      <a:pt x="213214" y="172211"/>
                      <a:pt x="213214" y="120275"/>
                    </a:cubicBezTo>
                    <a:cubicBezTo>
                      <a:pt x="213214" y="68338"/>
                      <a:pt x="172211" y="27335"/>
                      <a:pt x="120274" y="2733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3" name="Полилиния: фигура 253">
                <a:extLst>
                  <a:ext uri="{FF2B5EF4-FFF2-40B4-BE49-F238E27FC236}">
                    <a16:creationId xmlns:a16="http://schemas.microsoft.com/office/drawing/2014/main" id="{CEA0E468-AB91-4878-8201-4856BAB042E2}"/>
                  </a:ext>
                </a:extLst>
              </p:cNvPr>
              <p:cNvSpPr/>
              <p:nvPr/>
            </p:nvSpPr>
            <p:spPr>
              <a:xfrm>
                <a:off x="3004353" y="3243332"/>
                <a:ext cx="202279" cy="240549"/>
              </a:xfrm>
              <a:custGeom>
                <a:avLst/>
                <a:gdLst>
                  <a:gd name="connsiteX0" fmla="*/ 202280 w 202279"/>
                  <a:gd name="connsiteY0" fmla="*/ 240549 h 240549"/>
                  <a:gd name="connsiteX1" fmla="*/ 174945 w 202279"/>
                  <a:gd name="connsiteY1" fmla="*/ 240549 h 240549"/>
                  <a:gd name="connsiteX2" fmla="*/ 174945 w 202279"/>
                  <a:gd name="connsiteY2" fmla="*/ 207747 h 240549"/>
                  <a:gd name="connsiteX3" fmla="*/ 174945 w 202279"/>
                  <a:gd name="connsiteY3" fmla="*/ 139409 h 240549"/>
                  <a:gd name="connsiteX4" fmla="*/ 144876 w 202279"/>
                  <a:gd name="connsiteY4" fmla="*/ 57404 h 240549"/>
                  <a:gd name="connsiteX5" fmla="*/ 41003 w 202279"/>
                  <a:gd name="connsiteY5" fmla="*/ 27335 h 240549"/>
                  <a:gd name="connsiteX6" fmla="*/ 0 w 202279"/>
                  <a:gd name="connsiteY6" fmla="*/ 27335 h 240549"/>
                  <a:gd name="connsiteX7" fmla="*/ 0 w 202279"/>
                  <a:gd name="connsiteY7" fmla="*/ 0 h 240549"/>
                  <a:gd name="connsiteX8" fmla="*/ 38269 w 202279"/>
                  <a:gd name="connsiteY8" fmla="*/ 0 h 240549"/>
                  <a:gd name="connsiteX9" fmla="*/ 161277 w 202279"/>
                  <a:gd name="connsiteY9" fmla="*/ 38269 h 240549"/>
                  <a:gd name="connsiteX10" fmla="*/ 199546 w 202279"/>
                  <a:gd name="connsiteY10" fmla="*/ 139409 h 240549"/>
                  <a:gd name="connsiteX11" fmla="*/ 199546 w 202279"/>
                  <a:gd name="connsiteY11" fmla="*/ 207747 h 240549"/>
                  <a:gd name="connsiteX12" fmla="*/ 202280 w 202279"/>
                  <a:gd name="connsiteY12" fmla="*/ 240549 h 240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2279" h="240549">
                    <a:moveTo>
                      <a:pt x="202280" y="240549"/>
                    </a:moveTo>
                    <a:lnTo>
                      <a:pt x="174945" y="240549"/>
                    </a:lnTo>
                    <a:lnTo>
                      <a:pt x="174945" y="207747"/>
                    </a:lnTo>
                    <a:cubicBezTo>
                      <a:pt x="174945" y="185879"/>
                      <a:pt x="174945" y="166744"/>
                      <a:pt x="174945" y="139409"/>
                    </a:cubicBezTo>
                    <a:cubicBezTo>
                      <a:pt x="174945" y="114808"/>
                      <a:pt x="166744" y="79272"/>
                      <a:pt x="144876" y="57404"/>
                    </a:cubicBezTo>
                    <a:cubicBezTo>
                      <a:pt x="131208" y="43736"/>
                      <a:pt x="101139" y="27335"/>
                      <a:pt x="41003" y="27335"/>
                    </a:cubicBezTo>
                    <a:cubicBezTo>
                      <a:pt x="27335" y="27335"/>
                      <a:pt x="13668" y="27335"/>
                      <a:pt x="0" y="27335"/>
                    </a:cubicBezTo>
                    <a:lnTo>
                      <a:pt x="0" y="0"/>
                    </a:lnTo>
                    <a:cubicBezTo>
                      <a:pt x="13668" y="0"/>
                      <a:pt x="24601" y="0"/>
                      <a:pt x="38269" y="0"/>
                    </a:cubicBezTo>
                    <a:cubicBezTo>
                      <a:pt x="95673" y="0"/>
                      <a:pt x="136676" y="13668"/>
                      <a:pt x="161277" y="38269"/>
                    </a:cubicBezTo>
                    <a:cubicBezTo>
                      <a:pt x="196812" y="73805"/>
                      <a:pt x="199546" y="128475"/>
                      <a:pt x="199546" y="139409"/>
                    </a:cubicBezTo>
                    <a:cubicBezTo>
                      <a:pt x="199546" y="166744"/>
                      <a:pt x="199546" y="185879"/>
                      <a:pt x="199546" y="207747"/>
                    </a:cubicBezTo>
                    <a:lnTo>
                      <a:pt x="202280" y="240549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4" name="Полилиния: фигура 254">
                <a:extLst>
                  <a:ext uri="{FF2B5EF4-FFF2-40B4-BE49-F238E27FC236}">
                    <a16:creationId xmlns:a16="http://schemas.microsoft.com/office/drawing/2014/main" id="{05556056-53F9-48D7-9F57-D649DBD5F97D}"/>
                  </a:ext>
                </a:extLst>
              </p:cNvPr>
              <p:cNvSpPr/>
              <p:nvPr/>
            </p:nvSpPr>
            <p:spPr>
              <a:xfrm>
                <a:off x="2679064" y="3243332"/>
                <a:ext cx="207747" cy="237815"/>
              </a:xfrm>
              <a:custGeom>
                <a:avLst/>
                <a:gdLst>
                  <a:gd name="connsiteX0" fmla="*/ 27335 w 207747"/>
                  <a:gd name="connsiteY0" fmla="*/ 237816 h 237815"/>
                  <a:gd name="connsiteX1" fmla="*/ 0 w 207747"/>
                  <a:gd name="connsiteY1" fmla="*/ 237816 h 237815"/>
                  <a:gd name="connsiteX2" fmla="*/ 2734 w 207747"/>
                  <a:gd name="connsiteY2" fmla="*/ 120275 h 237815"/>
                  <a:gd name="connsiteX3" fmla="*/ 49204 w 207747"/>
                  <a:gd name="connsiteY3" fmla="*/ 30069 h 237815"/>
                  <a:gd name="connsiteX4" fmla="*/ 207747 w 207747"/>
                  <a:gd name="connsiteY4" fmla="*/ 0 h 237815"/>
                  <a:gd name="connsiteX5" fmla="*/ 207747 w 207747"/>
                  <a:gd name="connsiteY5" fmla="*/ 27335 h 237815"/>
                  <a:gd name="connsiteX6" fmla="*/ 65605 w 207747"/>
                  <a:gd name="connsiteY6" fmla="*/ 51937 h 237815"/>
                  <a:gd name="connsiteX7" fmla="*/ 27335 w 207747"/>
                  <a:gd name="connsiteY7" fmla="*/ 123008 h 237815"/>
                  <a:gd name="connsiteX8" fmla="*/ 27335 w 207747"/>
                  <a:gd name="connsiteY8" fmla="*/ 237816 h 237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7747" h="237815">
                    <a:moveTo>
                      <a:pt x="27335" y="237816"/>
                    </a:moveTo>
                    <a:lnTo>
                      <a:pt x="0" y="237816"/>
                    </a:lnTo>
                    <a:lnTo>
                      <a:pt x="2734" y="120275"/>
                    </a:lnTo>
                    <a:cubicBezTo>
                      <a:pt x="5467" y="103873"/>
                      <a:pt x="10935" y="60137"/>
                      <a:pt x="49204" y="30069"/>
                    </a:cubicBezTo>
                    <a:cubicBezTo>
                      <a:pt x="84739" y="0"/>
                      <a:pt x="136676" y="0"/>
                      <a:pt x="207747" y="0"/>
                    </a:cubicBezTo>
                    <a:lnTo>
                      <a:pt x="207747" y="27335"/>
                    </a:lnTo>
                    <a:cubicBezTo>
                      <a:pt x="131209" y="27335"/>
                      <a:pt x="92940" y="30069"/>
                      <a:pt x="65605" y="51937"/>
                    </a:cubicBezTo>
                    <a:cubicBezTo>
                      <a:pt x="35536" y="76538"/>
                      <a:pt x="30069" y="112074"/>
                      <a:pt x="27335" y="123008"/>
                    </a:cubicBezTo>
                    <a:lnTo>
                      <a:pt x="27335" y="237816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5" name="Полилиния: фигура 255">
                <a:extLst>
                  <a:ext uri="{FF2B5EF4-FFF2-40B4-BE49-F238E27FC236}">
                    <a16:creationId xmlns:a16="http://schemas.microsoft.com/office/drawing/2014/main" id="{82E68D8D-6730-4E2F-85E0-E9A175AE42C7}"/>
                  </a:ext>
                </a:extLst>
              </p:cNvPr>
              <p:cNvSpPr/>
              <p:nvPr/>
            </p:nvSpPr>
            <p:spPr>
              <a:xfrm>
                <a:off x="2968817" y="2797769"/>
                <a:ext cx="593172" cy="524834"/>
              </a:xfrm>
              <a:custGeom>
                <a:avLst/>
                <a:gdLst>
                  <a:gd name="connsiteX0" fmla="*/ 579505 w 593172"/>
                  <a:gd name="connsiteY0" fmla="*/ 524834 h 524834"/>
                  <a:gd name="connsiteX1" fmla="*/ 325288 w 593172"/>
                  <a:gd name="connsiteY1" fmla="*/ 524834 h 524834"/>
                  <a:gd name="connsiteX2" fmla="*/ 325288 w 593172"/>
                  <a:gd name="connsiteY2" fmla="*/ 497499 h 524834"/>
                  <a:gd name="connsiteX3" fmla="*/ 565837 w 593172"/>
                  <a:gd name="connsiteY3" fmla="*/ 497499 h 524834"/>
                  <a:gd name="connsiteX4" fmla="*/ 565837 w 593172"/>
                  <a:gd name="connsiteY4" fmla="*/ 27335 h 524834"/>
                  <a:gd name="connsiteX5" fmla="*/ 27335 w 593172"/>
                  <a:gd name="connsiteY5" fmla="*/ 27335 h 524834"/>
                  <a:gd name="connsiteX6" fmla="*/ 27335 w 593172"/>
                  <a:gd name="connsiteY6" fmla="*/ 106607 h 524834"/>
                  <a:gd name="connsiteX7" fmla="*/ 0 w 593172"/>
                  <a:gd name="connsiteY7" fmla="*/ 106607 h 524834"/>
                  <a:gd name="connsiteX8" fmla="*/ 0 w 593172"/>
                  <a:gd name="connsiteY8" fmla="*/ 13668 h 524834"/>
                  <a:gd name="connsiteX9" fmla="*/ 13668 w 593172"/>
                  <a:gd name="connsiteY9" fmla="*/ 0 h 524834"/>
                  <a:gd name="connsiteX10" fmla="*/ 579505 w 593172"/>
                  <a:gd name="connsiteY10" fmla="*/ 0 h 524834"/>
                  <a:gd name="connsiteX11" fmla="*/ 593173 w 593172"/>
                  <a:gd name="connsiteY11" fmla="*/ 13668 h 524834"/>
                  <a:gd name="connsiteX12" fmla="*/ 593173 w 593172"/>
                  <a:gd name="connsiteY12" fmla="*/ 511167 h 524834"/>
                  <a:gd name="connsiteX13" fmla="*/ 579505 w 593172"/>
                  <a:gd name="connsiteY13" fmla="*/ 524834 h 52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3172" h="524834">
                    <a:moveTo>
                      <a:pt x="579505" y="524834"/>
                    </a:moveTo>
                    <a:lnTo>
                      <a:pt x="325288" y="524834"/>
                    </a:lnTo>
                    <a:lnTo>
                      <a:pt x="325288" y="497499"/>
                    </a:lnTo>
                    <a:lnTo>
                      <a:pt x="565837" y="497499"/>
                    </a:lnTo>
                    <a:lnTo>
                      <a:pt x="565837" y="27335"/>
                    </a:lnTo>
                    <a:lnTo>
                      <a:pt x="27335" y="27335"/>
                    </a:lnTo>
                    <a:lnTo>
                      <a:pt x="27335" y="106607"/>
                    </a:lnTo>
                    <a:lnTo>
                      <a:pt x="0" y="106607"/>
                    </a:lnTo>
                    <a:lnTo>
                      <a:pt x="0" y="13668"/>
                    </a:lnTo>
                    <a:cubicBezTo>
                      <a:pt x="0" y="5467"/>
                      <a:pt x="5467" y="0"/>
                      <a:pt x="13668" y="0"/>
                    </a:cubicBezTo>
                    <a:lnTo>
                      <a:pt x="579505" y="0"/>
                    </a:lnTo>
                    <a:cubicBezTo>
                      <a:pt x="587705" y="0"/>
                      <a:pt x="593173" y="5467"/>
                      <a:pt x="593173" y="13668"/>
                    </a:cubicBezTo>
                    <a:lnTo>
                      <a:pt x="593173" y="511167"/>
                    </a:lnTo>
                    <a:cubicBezTo>
                      <a:pt x="593173" y="519367"/>
                      <a:pt x="587705" y="524834"/>
                      <a:pt x="579505" y="524834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126" name="Рисунок 2">
                <a:extLst>
                  <a:ext uri="{FF2B5EF4-FFF2-40B4-BE49-F238E27FC236}">
                    <a16:creationId xmlns:a16="http://schemas.microsoft.com/office/drawing/2014/main" id="{2244CC30-CBC4-4CA7-9C30-AF146FEE4C49}"/>
                  </a:ext>
                </a:extLst>
              </p:cNvPr>
              <p:cNvGrpSpPr/>
              <p:nvPr/>
            </p:nvGrpSpPr>
            <p:grpSpPr>
              <a:xfrm>
                <a:off x="3091825" y="2898909"/>
                <a:ext cx="401826" cy="322554"/>
                <a:chOff x="11143322" y="1037488"/>
                <a:chExt cx="401826" cy="322554"/>
              </a:xfrm>
              <a:solidFill>
                <a:srgbClr val="FFFFFF"/>
              </a:solidFill>
            </p:grpSpPr>
            <p:sp>
              <p:nvSpPr>
                <p:cNvPr id="127" name="Полилиния: фигура 257">
                  <a:extLst>
                    <a:ext uri="{FF2B5EF4-FFF2-40B4-BE49-F238E27FC236}">
                      <a16:creationId xmlns:a16="http://schemas.microsoft.com/office/drawing/2014/main" id="{E89C4B77-CDD5-4600-B396-248405E4CC1C}"/>
                    </a:ext>
                  </a:extLst>
                </p:cNvPr>
                <p:cNvSpPr/>
                <p:nvPr/>
              </p:nvSpPr>
              <p:spPr>
                <a:xfrm>
                  <a:off x="11143322" y="1037488"/>
                  <a:ext cx="401826" cy="150343"/>
                </a:xfrm>
                <a:custGeom>
                  <a:avLst/>
                  <a:gdLst>
                    <a:gd name="connsiteX0" fmla="*/ 221415 w 401826"/>
                    <a:gd name="connsiteY0" fmla="*/ 150343 h 150343"/>
                    <a:gd name="connsiteX1" fmla="*/ 213214 w 401826"/>
                    <a:gd name="connsiteY1" fmla="*/ 147610 h 150343"/>
                    <a:gd name="connsiteX2" fmla="*/ 95673 w 401826"/>
                    <a:gd name="connsiteY2" fmla="*/ 71071 h 150343"/>
                    <a:gd name="connsiteX3" fmla="*/ 13668 w 401826"/>
                    <a:gd name="connsiteY3" fmla="*/ 112074 h 150343"/>
                    <a:gd name="connsiteX4" fmla="*/ 0 w 401826"/>
                    <a:gd name="connsiteY4" fmla="*/ 87472 h 150343"/>
                    <a:gd name="connsiteX5" fmla="*/ 90206 w 401826"/>
                    <a:gd name="connsiteY5" fmla="*/ 41003 h 150343"/>
                    <a:gd name="connsiteX6" fmla="*/ 103874 w 401826"/>
                    <a:gd name="connsiteY6" fmla="*/ 41003 h 150343"/>
                    <a:gd name="connsiteX7" fmla="*/ 221415 w 401826"/>
                    <a:gd name="connsiteY7" fmla="*/ 114808 h 150343"/>
                    <a:gd name="connsiteX8" fmla="*/ 385425 w 401826"/>
                    <a:gd name="connsiteY8" fmla="*/ 0 h 150343"/>
                    <a:gd name="connsiteX9" fmla="*/ 401827 w 401826"/>
                    <a:gd name="connsiteY9" fmla="*/ 21868 h 150343"/>
                    <a:gd name="connsiteX10" fmla="*/ 229615 w 401826"/>
                    <a:gd name="connsiteY10" fmla="*/ 142143 h 150343"/>
                    <a:gd name="connsiteX11" fmla="*/ 221415 w 401826"/>
                    <a:gd name="connsiteY11" fmla="*/ 150343 h 150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01826" h="150343">
                      <a:moveTo>
                        <a:pt x="221415" y="150343"/>
                      </a:moveTo>
                      <a:cubicBezTo>
                        <a:pt x="218681" y="150343"/>
                        <a:pt x="215947" y="150343"/>
                        <a:pt x="213214" y="147610"/>
                      </a:cubicBezTo>
                      <a:lnTo>
                        <a:pt x="95673" y="71071"/>
                      </a:lnTo>
                      <a:lnTo>
                        <a:pt x="13668" y="112074"/>
                      </a:lnTo>
                      <a:lnTo>
                        <a:pt x="0" y="87472"/>
                      </a:lnTo>
                      <a:lnTo>
                        <a:pt x="90206" y="41003"/>
                      </a:lnTo>
                      <a:cubicBezTo>
                        <a:pt x="95673" y="38269"/>
                        <a:pt x="98407" y="38269"/>
                        <a:pt x="103874" y="41003"/>
                      </a:cubicBezTo>
                      <a:lnTo>
                        <a:pt x="221415" y="114808"/>
                      </a:lnTo>
                      <a:lnTo>
                        <a:pt x="385425" y="0"/>
                      </a:lnTo>
                      <a:lnTo>
                        <a:pt x="401827" y="21868"/>
                      </a:lnTo>
                      <a:lnTo>
                        <a:pt x="229615" y="142143"/>
                      </a:lnTo>
                      <a:cubicBezTo>
                        <a:pt x="226882" y="150343"/>
                        <a:pt x="224148" y="150343"/>
                        <a:pt x="221415" y="150343"/>
                      </a:cubicBezTo>
                      <a:close/>
                    </a:path>
                  </a:pathLst>
                </a:custGeom>
                <a:solidFill>
                  <a:srgbClr val="8F0D6B"/>
                </a:solidFill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28" name="Полилиния: фигура 258">
                  <a:extLst>
                    <a:ext uri="{FF2B5EF4-FFF2-40B4-BE49-F238E27FC236}">
                      <a16:creationId xmlns:a16="http://schemas.microsoft.com/office/drawing/2014/main" id="{75907B45-83AC-4BD2-8133-59313E5DB121}"/>
                    </a:ext>
                  </a:extLst>
                </p:cNvPr>
                <p:cNvSpPr/>
                <p:nvPr/>
              </p:nvSpPr>
              <p:spPr>
                <a:xfrm>
                  <a:off x="11452209" y="1179631"/>
                  <a:ext cx="65604" cy="180411"/>
                </a:xfrm>
                <a:custGeom>
                  <a:avLst/>
                  <a:gdLst>
                    <a:gd name="connsiteX0" fmla="*/ 0 w 65604"/>
                    <a:gd name="connsiteY0" fmla="*/ 0 h 180411"/>
                    <a:gd name="connsiteX1" fmla="*/ 65604 w 65604"/>
                    <a:gd name="connsiteY1" fmla="*/ 0 h 180411"/>
                    <a:gd name="connsiteX2" fmla="*/ 65604 w 65604"/>
                    <a:gd name="connsiteY2" fmla="*/ 180412 h 180411"/>
                    <a:gd name="connsiteX3" fmla="*/ 0 w 65604"/>
                    <a:gd name="connsiteY3" fmla="*/ 180412 h 180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604" h="180411">
                      <a:moveTo>
                        <a:pt x="0" y="0"/>
                      </a:moveTo>
                      <a:lnTo>
                        <a:pt x="65604" y="0"/>
                      </a:lnTo>
                      <a:lnTo>
                        <a:pt x="65604" y="180412"/>
                      </a:lnTo>
                      <a:lnTo>
                        <a:pt x="0" y="1804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29" name="Полилиния: фигура 260">
                  <a:extLst>
                    <a:ext uri="{FF2B5EF4-FFF2-40B4-BE49-F238E27FC236}">
                      <a16:creationId xmlns:a16="http://schemas.microsoft.com/office/drawing/2014/main" id="{CDD841E6-B254-4579-9E2D-3659B433433E}"/>
                    </a:ext>
                  </a:extLst>
                </p:cNvPr>
                <p:cNvSpPr/>
                <p:nvPr/>
              </p:nvSpPr>
              <p:spPr>
                <a:xfrm>
                  <a:off x="11195259" y="1179631"/>
                  <a:ext cx="65604" cy="180411"/>
                </a:xfrm>
                <a:custGeom>
                  <a:avLst/>
                  <a:gdLst>
                    <a:gd name="connsiteX0" fmla="*/ 0 w 65604"/>
                    <a:gd name="connsiteY0" fmla="*/ 0 h 180411"/>
                    <a:gd name="connsiteX1" fmla="*/ 65604 w 65604"/>
                    <a:gd name="connsiteY1" fmla="*/ 0 h 180411"/>
                    <a:gd name="connsiteX2" fmla="*/ 65604 w 65604"/>
                    <a:gd name="connsiteY2" fmla="*/ 180412 h 180411"/>
                    <a:gd name="connsiteX3" fmla="*/ 0 w 65604"/>
                    <a:gd name="connsiteY3" fmla="*/ 180412 h 180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604" h="180411">
                      <a:moveTo>
                        <a:pt x="0" y="0"/>
                      </a:moveTo>
                      <a:lnTo>
                        <a:pt x="65604" y="0"/>
                      </a:lnTo>
                      <a:lnTo>
                        <a:pt x="65604" y="180412"/>
                      </a:lnTo>
                      <a:lnTo>
                        <a:pt x="0" y="1804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130" name="Полилиния: фигура 184">
              <a:extLst>
                <a:ext uri="{FF2B5EF4-FFF2-40B4-BE49-F238E27FC236}">
                  <a16:creationId xmlns:a16="http://schemas.microsoft.com/office/drawing/2014/main" id="{D424B995-C171-4A64-9034-AFBDB547D6E6}"/>
                </a:ext>
              </a:extLst>
            </p:cNvPr>
            <p:cNvSpPr/>
            <p:nvPr/>
          </p:nvSpPr>
          <p:spPr>
            <a:xfrm>
              <a:off x="3468790" y="3156102"/>
              <a:ext cx="107308" cy="107308"/>
            </a:xfrm>
            <a:custGeom>
              <a:avLst/>
              <a:gdLst>
                <a:gd name="connsiteX0" fmla="*/ 0 w 136675"/>
                <a:gd name="connsiteY0" fmla="*/ 0 h 136675"/>
                <a:gd name="connsiteX1" fmla="*/ 136676 w 136675"/>
                <a:gd name="connsiteY1" fmla="*/ 0 h 136675"/>
                <a:gd name="connsiteX2" fmla="*/ 136676 w 136675"/>
                <a:gd name="connsiteY2" fmla="*/ 136676 h 136675"/>
                <a:gd name="connsiteX3" fmla="*/ 0 w 136675"/>
                <a:gd name="connsiteY3" fmla="*/ 136676 h 13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675" h="136675">
                  <a:moveTo>
                    <a:pt x="0" y="0"/>
                  </a:moveTo>
                  <a:lnTo>
                    <a:pt x="136676" y="0"/>
                  </a:lnTo>
                  <a:lnTo>
                    <a:pt x="136676" y="136676"/>
                  </a:lnTo>
                  <a:lnTo>
                    <a:pt x="0" y="136676"/>
                  </a:lnTo>
                  <a:close/>
                </a:path>
              </a:pathLst>
            </a:custGeom>
            <a:solidFill>
              <a:srgbClr val="8F0D6B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31" name="Rectangle 244">
            <a:extLst>
              <a:ext uri="{FF2B5EF4-FFF2-40B4-BE49-F238E27FC236}">
                <a16:creationId xmlns:a16="http://schemas.microsoft.com/office/drawing/2014/main" id="{BBAECB3D-592B-4C89-A45C-0519F1D04766}"/>
              </a:ext>
            </a:extLst>
          </p:cNvPr>
          <p:cNvSpPr/>
          <p:nvPr/>
        </p:nvSpPr>
        <p:spPr>
          <a:xfrm>
            <a:off x="1313041" y="4027135"/>
            <a:ext cx="159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Подходы</a:t>
            </a:r>
            <a:r>
              <a:rPr lang="ru-RU" sz="1100" spc="30" dirty="0">
                <a:solidFill>
                  <a:srgbClr val="ACC4F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 тестированию</a:t>
            </a:r>
          </a:p>
        </p:txBody>
      </p:sp>
      <p:sp>
        <p:nvSpPr>
          <p:cNvPr id="132" name="Rectangle 12">
            <a:extLst>
              <a:ext uri="{FF2B5EF4-FFF2-40B4-BE49-F238E27FC236}">
                <a16:creationId xmlns:a16="http://schemas.microsoft.com/office/drawing/2014/main" id="{B64F4EFE-91CA-40ED-A7AD-EC4F52212E9D}"/>
              </a:ext>
            </a:extLst>
          </p:cNvPr>
          <p:cNvSpPr/>
          <p:nvPr/>
        </p:nvSpPr>
        <p:spPr bwMode="auto">
          <a:xfrm>
            <a:off x="578069" y="4624580"/>
            <a:ext cx="2510878" cy="650596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33" name="Rectangle 247">
            <a:extLst>
              <a:ext uri="{FF2B5EF4-FFF2-40B4-BE49-F238E27FC236}">
                <a16:creationId xmlns:a16="http://schemas.microsoft.com/office/drawing/2014/main" id="{27516B07-022D-4D95-A961-817D898436FD}"/>
              </a:ext>
            </a:extLst>
          </p:cNvPr>
          <p:cNvSpPr/>
          <p:nvPr/>
        </p:nvSpPr>
        <p:spPr>
          <a:xfrm>
            <a:off x="1317749" y="4734434"/>
            <a:ext cx="159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Фазы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134" name="Rectangle 249">
            <a:extLst>
              <a:ext uri="{FF2B5EF4-FFF2-40B4-BE49-F238E27FC236}">
                <a16:creationId xmlns:a16="http://schemas.microsoft.com/office/drawing/2014/main" id="{E84DEA1D-06CE-41E5-B3E1-9C5EEFFF663D}"/>
              </a:ext>
            </a:extLst>
          </p:cNvPr>
          <p:cNvSpPr/>
          <p:nvPr/>
        </p:nvSpPr>
        <p:spPr>
          <a:xfrm>
            <a:off x="3933431" y="5452876"/>
            <a:ext cx="215479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Процессы </a:t>
            </a:r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согласования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утверждения изменений</a:t>
            </a:r>
          </a:p>
        </p:txBody>
      </p:sp>
      <p:sp>
        <p:nvSpPr>
          <p:cNvPr id="135" name="Rectangle 12">
            <a:extLst>
              <a:ext uri="{FF2B5EF4-FFF2-40B4-BE49-F238E27FC236}">
                <a16:creationId xmlns:a16="http://schemas.microsoft.com/office/drawing/2014/main" id="{4BC763C8-C1EB-4B52-95E6-FEA3B6315029}"/>
              </a:ext>
            </a:extLst>
          </p:cNvPr>
          <p:cNvSpPr/>
          <p:nvPr/>
        </p:nvSpPr>
        <p:spPr bwMode="auto">
          <a:xfrm>
            <a:off x="578069" y="5355048"/>
            <a:ext cx="2510878" cy="650596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36" name="Rectangle 297">
            <a:extLst>
              <a:ext uri="{FF2B5EF4-FFF2-40B4-BE49-F238E27FC236}">
                <a16:creationId xmlns:a16="http://schemas.microsoft.com/office/drawing/2014/main" id="{244F4E6F-B178-4DF5-BF3F-5F6C442205BE}"/>
              </a:ext>
            </a:extLst>
          </p:cNvPr>
          <p:cNvSpPr/>
          <p:nvPr/>
        </p:nvSpPr>
        <p:spPr>
          <a:xfrm>
            <a:off x="1317749" y="5453580"/>
            <a:ext cx="159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Инструменты 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137" name="Rectangle 12">
            <a:extLst>
              <a:ext uri="{FF2B5EF4-FFF2-40B4-BE49-F238E27FC236}">
                <a16:creationId xmlns:a16="http://schemas.microsoft.com/office/drawing/2014/main" id="{5158A878-B232-4041-9965-6725DBA8DC55}"/>
              </a:ext>
            </a:extLst>
          </p:cNvPr>
          <p:cNvSpPr/>
          <p:nvPr/>
        </p:nvSpPr>
        <p:spPr bwMode="auto">
          <a:xfrm>
            <a:off x="3180063" y="4619794"/>
            <a:ext cx="3035359" cy="666871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38" name="Rectangle 299">
            <a:extLst>
              <a:ext uri="{FF2B5EF4-FFF2-40B4-BE49-F238E27FC236}">
                <a16:creationId xmlns:a16="http://schemas.microsoft.com/office/drawing/2014/main" id="{4123F7B6-EDA1-4A4C-96B1-4048AF3BFADF}"/>
              </a:ext>
            </a:extLst>
          </p:cNvPr>
          <p:cNvSpPr/>
          <p:nvPr/>
        </p:nvSpPr>
        <p:spPr>
          <a:xfrm>
            <a:off x="3933431" y="4634367"/>
            <a:ext cx="226939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Требования и процессы управления тестовой </a:t>
            </a:r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инфраструктурой</a:t>
            </a:r>
          </a:p>
        </p:txBody>
      </p:sp>
      <p:sp>
        <p:nvSpPr>
          <p:cNvPr id="139" name="Rectangle 301">
            <a:extLst>
              <a:ext uri="{FF2B5EF4-FFF2-40B4-BE49-F238E27FC236}">
                <a16:creationId xmlns:a16="http://schemas.microsoft.com/office/drawing/2014/main" id="{D883B4D7-9150-4BE1-85D7-4F23F28A11D4}"/>
              </a:ext>
            </a:extLst>
          </p:cNvPr>
          <p:cNvSpPr/>
          <p:nvPr/>
        </p:nvSpPr>
        <p:spPr>
          <a:xfrm>
            <a:off x="3933431" y="3318804"/>
            <a:ext cx="19575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Возможные </a:t>
            </a:r>
            <a:r>
              <a:rPr lang="ru-RU" sz="105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риски</a:t>
            </a:r>
            <a:r>
              <a:rPr lang="ru-RU" sz="105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план по их с снижению</a:t>
            </a:r>
          </a:p>
        </p:txBody>
      </p:sp>
      <p:sp>
        <p:nvSpPr>
          <p:cNvPr id="140" name="Rectangle 12">
            <a:extLst>
              <a:ext uri="{FF2B5EF4-FFF2-40B4-BE49-F238E27FC236}">
                <a16:creationId xmlns:a16="http://schemas.microsoft.com/office/drawing/2014/main" id="{B586B352-1BEB-49ED-928D-83D18494383D}"/>
              </a:ext>
            </a:extLst>
          </p:cNvPr>
          <p:cNvSpPr/>
          <p:nvPr/>
        </p:nvSpPr>
        <p:spPr bwMode="auto">
          <a:xfrm>
            <a:off x="3180062" y="3963563"/>
            <a:ext cx="3035359" cy="579248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41" name="Rectangle 303">
            <a:extLst>
              <a:ext uri="{FF2B5EF4-FFF2-40B4-BE49-F238E27FC236}">
                <a16:creationId xmlns:a16="http://schemas.microsoft.com/office/drawing/2014/main" id="{ECF05A25-ECAE-4688-B22A-0CAC5C133E5C}"/>
              </a:ext>
            </a:extLst>
          </p:cNvPr>
          <p:cNvSpPr/>
          <p:nvPr/>
        </p:nvSpPr>
        <p:spPr>
          <a:xfrm>
            <a:off x="3933431" y="4020740"/>
            <a:ext cx="21486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План управления </a:t>
            </a:r>
            <a:br>
              <a:rPr lang="ru-RU" sz="11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релизом</a:t>
            </a:r>
          </a:p>
        </p:txBody>
      </p:sp>
      <p:grpSp>
        <p:nvGrpSpPr>
          <p:cNvPr id="142" name="Группа 347">
            <a:extLst>
              <a:ext uri="{FF2B5EF4-FFF2-40B4-BE49-F238E27FC236}">
                <a16:creationId xmlns:a16="http://schemas.microsoft.com/office/drawing/2014/main" id="{4995F50B-CD12-44EF-B83F-35DAA5A24A50}"/>
              </a:ext>
            </a:extLst>
          </p:cNvPr>
          <p:cNvGrpSpPr>
            <a:grpSpLocks noChangeAspect="1"/>
          </p:cNvGrpSpPr>
          <p:nvPr/>
        </p:nvGrpSpPr>
        <p:grpSpPr>
          <a:xfrm>
            <a:off x="797081" y="5554254"/>
            <a:ext cx="378464" cy="289801"/>
            <a:chOff x="3729558" y="761244"/>
            <a:chExt cx="1185862" cy="908049"/>
          </a:xfrm>
          <a:solidFill>
            <a:srgbClr val="FFFFFF"/>
          </a:solidFill>
        </p:grpSpPr>
        <p:sp>
          <p:nvSpPr>
            <p:cNvPr id="143" name="Freeform 18">
              <a:extLst>
                <a:ext uri="{FF2B5EF4-FFF2-40B4-BE49-F238E27FC236}">
                  <a16:creationId xmlns:a16="http://schemas.microsoft.com/office/drawing/2014/main" id="{ADE6B1EE-1881-4E46-BE9A-D54F96820F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083" y="935869"/>
              <a:ext cx="750887" cy="287337"/>
            </a:xfrm>
            <a:custGeom>
              <a:avLst/>
              <a:gdLst>
                <a:gd name="T0" fmla="*/ 15 w 93"/>
                <a:gd name="T1" fmla="*/ 0 h 36"/>
                <a:gd name="T2" fmla="*/ 0 w 93"/>
                <a:gd name="T3" fmla="*/ 22 h 36"/>
                <a:gd name="T4" fmla="*/ 79 w 93"/>
                <a:gd name="T5" fmla="*/ 36 h 36"/>
                <a:gd name="T6" fmla="*/ 87 w 93"/>
                <a:gd name="T7" fmla="*/ 27 h 36"/>
                <a:gd name="T8" fmla="*/ 90 w 93"/>
                <a:gd name="T9" fmla="*/ 25 h 36"/>
                <a:gd name="T10" fmla="*/ 93 w 93"/>
                <a:gd name="T11" fmla="*/ 22 h 36"/>
                <a:gd name="T12" fmla="*/ 79 w 93"/>
                <a:gd name="T13" fmla="*/ 0 h 36"/>
                <a:gd name="T14" fmla="*/ 21 w 93"/>
                <a:gd name="T15" fmla="*/ 12 h 36"/>
                <a:gd name="T16" fmla="*/ 17 w 93"/>
                <a:gd name="T17" fmla="*/ 27 h 36"/>
                <a:gd name="T18" fmla="*/ 12 w 93"/>
                <a:gd name="T19" fmla="*/ 12 h 36"/>
                <a:gd name="T20" fmla="*/ 26 w 93"/>
                <a:gd name="T21" fmla="*/ 9 h 36"/>
                <a:gd name="T22" fmla="*/ 44 w 93"/>
                <a:gd name="T23" fmla="*/ 12 h 36"/>
                <a:gd name="T24" fmla="*/ 35 w 93"/>
                <a:gd name="T25" fmla="*/ 16 h 36"/>
                <a:gd name="T26" fmla="*/ 43 w 93"/>
                <a:gd name="T27" fmla="*/ 19 h 36"/>
                <a:gd name="T28" fmla="*/ 35 w 93"/>
                <a:gd name="T29" fmla="*/ 24 h 36"/>
                <a:gd name="T30" fmla="*/ 44 w 93"/>
                <a:gd name="T31" fmla="*/ 27 h 36"/>
                <a:gd name="T32" fmla="*/ 34 w 93"/>
                <a:gd name="T33" fmla="*/ 27 h 36"/>
                <a:gd name="T34" fmla="*/ 32 w 93"/>
                <a:gd name="T35" fmla="*/ 9 h 36"/>
                <a:gd name="T36" fmla="*/ 35 w 93"/>
                <a:gd name="T37" fmla="*/ 9 h 36"/>
                <a:gd name="T38" fmla="*/ 44 w 93"/>
                <a:gd name="T39" fmla="*/ 12 h 36"/>
                <a:gd name="T40" fmla="*/ 62 w 93"/>
                <a:gd name="T41" fmla="*/ 26 h 36"/>
                <a:gd name="T42" fmla="*/ 57 w 93"/>
                <a:gd name="T43" fmla="*/ 28 h 36"/>
                <a:gd name="T44" fmla="*/ 51 w 93"/>
                <a:gd name="T45" fmla="*/ 25 h 36"/>
                <a:gd name="T46" fmla="*/ 53 w 93"/>
                <a:gd name="T47" fmla="*/ 21 h 36"/>
                <a:gd name="T48" fmla="*/ 56 w 93"/>
                <a:gd name="T49" fmla="*/ 24 h 36"/>
                <a:gd name="T50" fmla="*/ 59 w 93"/>
                <a:gd name="T51" fmla="*/ 24 h 36"/>
                <a:gd name="T52" fmla="*/ 60 w 93"/>
                <a:gd name="T53" fmla="*/ 21 h 36"/>
                <a:gd name="T54" fmla="*/ 56 w 93"/>
                <a:gd name="T55" fmla="*/ 19 h 36"/>
                <a:gd name="T56" fmla="*/ 53 w 93"/>
                <a:gd name="T57" fmla="*/ 17 h 36"/>
                <a:gd name="T58" fmla="*/ 51 w 93"/>
                <a:gd name="T59" fmla="*/ 14 h 36"/>
                <a:gd name="T60" fmla="*/ 54 w 93"/>
                <a:gd name="T61" fmla="*/ 9 h 36"/>
                <a:gd name="T62" fmla="*/ 61 w 93"/>
                <a:gd name="T63" fmla="*/ 9 h 36"/>
                <a:gd name="T64" fmla="*/ 64 w 93"/>
                <a:gd name="T65" fmla="*/ 12 h 36"/>
                <a:gd name="T66" fmla="*/ 60 w 93"/>
                <a:gd name="T67" fmla="*/ 13 h 36"/>
                <a:gd name="T68" fmla="*/ 57 w 93"/>
                <a:gd name="T69" fmla="*/ 12 h 36"/>
                <a:gd name="T70" fmla="*/ 55 w 93"/>
                <a:gd name="T71" fmla="*/ 13 h 36"/>
                <a:gd name="T72" fmla="*/ 57 w 93"/>
                <a:gd name="T73" fmla="*/ 16 h 36"/>
                <a:gd name="T74" fmla="*/ 61 w 93"/>
                <a:gd name="T75" fmla="*/ 17 h 36"/>
                <a:gd name="T76" fmla="*/ 64 w 93"/>
                <a:gd name="T77" fmla="*/ 20 h 36"/>
                <a:gd name="T78" fmla="*/ 64 w 93"/>
                <a:gd name="T79" fmla="*/ 24 h 36"/>
                <a:gd name="T80" fmla="*/ 78 w 93"/>
                <a:gd name="T81" fmla="*/ 12 h 36"/>
                <a:gd name="T82" fmla="*/ 74 w 93"/>
                <a:gd name="T83" fmla="*/ 27 h 36"/>
                <a:gd name="T84" fmla="*/ 69 w 93"/>
                <a:gd name="T85" fmla="*/ 12 h 36"/>
                <a:gd name="T86" fmla="*/ 83 w 93"/>
                <a:gd name="T87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3" h="36">
                  <a:moveTo>
                    <a:pt x="7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0"/>
                    <a:pt x="7" y="36"/>
                    <a:pt x="15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82" y="36"/>
                    <a:pt x="85" y="35"/>
                    <a:pt x="87" y="34"/>
                  </a:cubicBezTo>
                  <a:cubicBezTo>
                    <a:pt x="87" y="31"/>
                    <a:pt x="87" y="29"/>
                    <a:pt x="87" y="27"/>
                  </a:cubicBezTo>
                  <a:cubicBezTo>
                    <a:pt x="87" y="27"/>
                    <a:pt x="87" y="26"/>
                    <a:pt x="87" y="26"/>
                  </a:cubicBezTo>
                  <a:cubicBezTo>
                    <a:pt x="87" y="25"/>
                    <a:pt x="89" y="24"/>
                    <a:pt x="90" y="25"/>
                  </a:cubicBezTo>
                  <a:cubicBezTo>
                    <a:pt x="91" y="26"/>
                    <a:pt x="91" y="27"/>
                    <a:pt x="92" y="27"/>
                  </a:cubicBezTo>
                  <a:cubicBezTo>
                    <a:pt x="93" y="26"/>
                    <a:pt x="93" y="24"/>
                    <a:pt x="93" y="22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7"/>
                    <a:pt x="87" y="0"/>
                    <a:pt x="79" y="0"/>
                  </a:cubicBezTo>
                  <a:close/>
                  <a:moveTo>
                    <a:pt x="26" y="12"/>
                  </a:moveTo>
                  <a:cubicBezTo>
                    <a:pt x="21" y="12"/>
                    <a:pt x="21" y="12"/>
                    <a:pt x="21" y="1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2"/>
                  </a:lnTo>
                  <a:close/>
                  <a:moveTo>
                    <a:pt x="44" y="12"/>
                  </a:moveTo>
                  <a:cubicBezTo>
                    <a:pt x="35" y="12"/>
                    <a:pt x="35" y="12"/>
                    <a:pt x="35" y="12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44" y="9"/>
                    <a:pt x="44" y="9"/>
                    <a:pt x="44" y="9"/>
                  </a:cubicBezTo>
                  <a:lnTo>
                    <a:pt x="44" y="12"/>
                  </a:lnTo>
                  <a:close/>
                  <a:moveTo>
                    <a:pt x="64" y="24"/>
                  </a:moveTo>
                  <a:cubicBezTo>
                    <a:pt x="63" y="25"/>
                    <a:pt x="63" y="26"/>
                    <a:pt x="62" y="26"/>
                  </a:cubicBezTo>
                  <a:cubicBezTo>
                    <a:pt x="62" y="27"/>
                    <a:pt x="61" y="27"/>
                    <a:pt x="60" y="27"/>
                  </a:cubicBezTo>
                  <a:cubicBezTo>
                    <a:pt x="59" y="28"/>
                    <a:pt x="58" y="28"/>
                    <a:pt x="57" y="28"/>
                  </a:cubicBezTo>
                  <a:cubicBezTo>
                    <a:pt x="56" y="28"/>
                    <a:pt x="55" y="27"/>
                    <a:pt x="54" y="27"/>
                  </a:cubicBezTo>
                  <a:cubicBezTo>
                    <a:pt x="53" y="27"/>
                    <a:pt x="52" y="26"/>
                    <a:pt x="51" y="25"/>
                  </a:cubicBezTo>
                  <a:cubicBezTo>
                    <a:pt x="51" y="25"/>
                    <a:pt x="50" y="24"/>
                    <a:pt x="50" y="23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2"/>
                    <a:pt x="53" y="22"/>
                    <a:pt x="54" y="23"/>
                  </a:cubicBezTo>
                  <a:cubicBezTo>
                    <a:pt x="54" y="23"/>
                    <a:pt x="55" y="24"/>
                    <a:pt x="56" y="24"/>
                  </a:cubicBezTo>
                  <a:cubicBezTo>
                    <a:pt x="56" y="24"/>
                    <a:pt x="57" y="24"/>
                    <a:pt x="57" y="24"/>
                  </a:cubicBezTo>
                  <a:cubicBezTo>
                    <a:pt x="58" y="24"/>
                    <a:pt x="59" y="24"/>
                    <a:pt x="59" y="24"/>
                  </a:cubicBezTo>
                  <a:cubicBezTo>
                    <a:pt x="60" y="23"/>
                    <a:pt x="60" y="23"/>
                    <a:pt x="60" y="22"/>
                  </a:cubicBezTo>
                  <a:cubicBezTo>
                    <a:pt x="60" y="22"/>
                    <a:pt x="60" y="21"/>
                    <a:pt x="60" y="21"/>
                  </a:cubicBezTo>
                  <a:cubicBezTo>
                    <a:pt x="59" y="21"/>
                    <a:pt x="59" y="20"/>
                    <a:pt x="58" y="20"/>
                  </a:cubicBezTo>
                  <a:cubicBezTo>
                    <a:pt x="58" y="20"/>
                    <a:pt x="57" y="19"/>
                    <a:pt x="56" y="19"/>
                  </a:cubicBezTo>
                  <a:cubicBezTo>
                    <a:pt x="56" y="19"/>
                    <a:pt x="55" y="19"/>
                    <a:pt x="54" y="18"/>
                  </a:cubicBezTo>
                  <a:cubicBezTo>
                    <a:pt x="54" y="18"/>
                    <a:pt x="53" y="18"/>
                    <a:pt x="53" y="17"/>
                  </a:cubicBezTo>
                  <a:cubicBezTo>
                    <a:pt x="52" y="17"/>
                    <a:pt x="52" y="16"/>
                    <a:pt x="51" y="16"/>
                  </a:cubicBezTo>
                  <a:cubicBezTo>
                    <a:pt x="51" y="15"/>
                    <a:pt x="51" y="14"/>
                    <a:pt x="51" y="14"/>
                  </a:cubicBezTo>
                  <a:cubicBezTo>
                    <a:pt x="51" y="13"/>
                    <a:pt x="51" y="12"/>
                    <a:pt x="52" y="11"/>
                  </a:cubicBezTo>
                  <a:cubicBezTo>
                    <a:pt x="52" y="10"/>
                    <a:pt x="53" y="10"/>
                    <a:pt x="54" y="9"/>
                  </a:cubicBezTo>
                  <a:cubicBezTo>
                    <a:pt x="55" y="9"/>
                    <a:pt x="56" y="9"/>
                    <a:pt x="57" y="9"/>
                  </a:cubicBezTo>
                  <a:cubicBezTo>
                    <a:pt x="59" y="9"/>
                    <a:pt x="60" y="9"/>
                    <a:pt x="61" y="9"/>
                  </a:cubicBezTo>
                  <a:cubicBezTo>
                    <a:pt x="61" y="9"/>
                    <a:pt x="62" y="10"/>
                    <a:pt x="63" y="11"/>
                  </a:cubicBezTo>
                  <a:cubicBezTo>
                    <a:pt x="63" y="11"/>
                    <a:pt x="64" y="12"/>
                    <a:pt x="64" y="12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0" y="13"/>
                    <a:pt x="60" y="13"/>
                  </a:cubicBezTo>
                  <a:cubicBezTo>
                    <a:pt x="60" y="13"/>
                    <a:pt x="59" y="12"/>
                    <a:pt x="59" y="12"/>
                  </a:cubicBezTo>
                  <a:cubicBezTo>
                    <a:pt x="58" y="12"/>
                    <a:pt x="58" y="12"/>
                    <a:pt x="57" y="12"/>
                  </a:cubicBezTo>
                  <a:cubicBezTo>
                    <a:pt x="57" y="12"/>
                    <a:pt x="56" y="12"/>
                    <a:pt x="56" y="12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4"/>
                    <a:pt x="55" y="14"/>
                    <a:pt x="55" y="15"/>
                  </a:cubicBezTo>
                  <a:cubicBezTo>
                    <a:pt x="56" y="15"/>
                    <a:pt x="56" y="15"/>
                    <a:pt x="57" y="16"/>
                  </a:cubicBezTo>
                  <a:cubicBezTo>
                    <a:pt x="58" y="16"/>
                    <a:pt x="58" y="16"/>
                    <a:pt x="59" y="16"/>
                  </a:cubicBezTo>
                  <a:cubicBezTo>
                    <a:pt x="60" y="17"/>
                    <a:pt x="61" y="17"/>
                    <a:pt x="61" y="17"/>
                  </a:cubicBezTo>
                  <a:cubicBezTo>
                    <a:pt x="62" y="18"/>
                    <a:pt x="62" y="18"/>
                    <a:pt x="63" y="18"/>
                  </a:cubicBezTo>
                  <a:cubicBezTo>
                    <a:pt x="63" y="19"/>
                    <a:pt x="64" y="19"/>
                    <a:pt x="64" y="20"/>
                  </a:cubicBezTo>
                  <a:cubicBezTo>
                    <a:pt x="64" y="21"/>
                    <a:pt x="64" y="21"/>
                    <a:pt x="64" y="22"/>
                  </a:cubicBezTo>
                  <a:cubicBezTo>
                    <a:pt x="64" y="23"/>
                    <a:pt x="64" y="24"/>
                    <a:pt x="64" y="24"/>
                  </a:cubicBezTo>
                  <a:close/>
                  <a:moveTo>
                    <a:pt x="83" y="12"/>
                  </a:moveTo>
                  <a:cubicBezTo>
                    <a:pt x="78" y="12"/>
                    <a:pt x="78" y="12"/>
                    <a:pt x="78" y="12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83" y="9"/>
                    <a:pt x="83" y="9"/>
                    <a:pt x="83" y="9"/>
                  </a:cubicBezTo>
                  <a:lnTo>
                    <a:pt x="8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144" name="Freeform 19">
              <a:extLst>
                <a:ext uri="{FF2B5EF4-FFF2-40B4-BE49-F238E27FC236}">
                  <a16:creationId xmlns:a16="http://schemas.microsoft.com/office/drawing/2014/main" id="{25D8024E-EF9D-4C30-9EC3-5D0050AE47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1883" y="1112081"/>
              <a:ext cx="363537" cy="557212"/>
            </a:xfrm>
            <a:custGeom>
              <a:avLst/>
              <a:gdLst>
                <a:gd name="T0" fmla="*/ 26 w 45"/>
                <a:gd name="T1" fmla="*/ 70 h 70"/>
                <a:gd name="T2" fmla="*/ 25 w 45"/>
                <a:gd name="T3" fmla="*/ 70 h 70"/>
                <a:gd name="T4" fmla="*/ 23 w 45"/>
                <a:gd name="T5" fmla="*/ 68 h 70"/>
                <a:gd name="T6" fmla="*/ 15 w 45"/>
                <a:gd name="T7" fmla="*/ 49 h 70"/>
                <a:gd name="T8" fmla="*/ 12 w 45"/>
                <a:gd name="T9" fmla="*/ 53 h 70"/>
                <a:gd name="T10" fmla="*/ 6 w 45"/>
                <a:gd name="T11" fmla="*/ 58 h 70"/>
                <a:gd name="T12" fmla="*/ 2 w 45"/>
                <a:gd name="T13" fmla="*/ 59 h 70"/>
                <a:gd name="T14" fmla="*/ 0 w 45"/>
                <a:gd name="T15" fmla="*/ 55 h 70"/>
                <a:gd name="T16" fmla="*/ 0 w 45"/>
                <a:gd name="T17" fmla="*/ 5 h 70"/>
                <a:gd name="T18" fmla="*/ 0 w 45"/>
                <a:gd name="T19" fmla="*/ 3 h 70"/>
                <a:gd name="T20" fmla="*/ 3 w 45"/>
                <a:gd name="T21" fmla="*/ 1 h 70"/>
                <a:gd name="T22" fmla="*/ 6 w 45"/>
                <a:gd name="T23" fmla="*/ 2 h 70"/>
                <a:gd name="T24" fmla="*/ 43 w 45"/>
                <a:gd name="T25" fmla="*/ 36 h 70"/>
                <a:gd name="T26" fmla="*/ 45 w 45"/>
                <a:gd name="T27" fmla="*/ 39 h 70"/>
                <a:gd name="T28" fmla="*/ 43 w 45"/>
                <a:gd name="T29" fmla="*/ 42 h 70"/>
                <a:gd name="T30" fmla="*/ 41 w 45"/>
                <a:gd name="T31" fmla="*/ 43 h 70"/>
                <a:gd name="T32" fmla="*/ 38 w 45"/>
                <a:gd name="T33" fmla="*/ 43 h 70"/>
                <a:gd name="T34" fmla="*/ 28 w 45"/>
                <a:gd name="T35" fmla="*/ 44 h 70"/>
                <a:gd name="T36" fmla="*/ 37 w 45"/>
                <a:gd name="T37" fmla="*/ 62 h 70"/>
                <a:gd name="T38" fmla="*/ 37 w 45"/>
                <a:gd name="T39" fmla="*/ 65 h 70"/>
                <a:gd name="T40" fmla="*/ 35 w 45"/>
                <a:gd name="T41" fmla="*/ 67 h 70"/>
                <a:gd name="T42" fmla="*/ 28 w 45"/>
                <a:gd name="T43" fmla="*/ 70 h 70"/>
                <a:gd name="T44" fmla="*/ 26 w 45"/>
                <a:gd name="T45" fmla="*/ 70 h 70"/>
                <a:gd name="T46" fmla="*/ 17 w 45"/>
                <a:gd name="T47" fmla="*/ 43 h 70"/>
                <a:gd name="T48" fmla="*/ 18 w 45"/>
                <a:gd name="T49" fmla="*/ 46 h 70"/>
                <a:gd name="T50" fmla="*/ 27 w 45"/>
                <a:gd name="T51" fmla="*/ 66 h 70"/>
                <a:gd name="T52" fmla="*/ 33 w 45"/>
                <a:gd name="T53" fmla="*/ 63 h 70"/>
                <a:gd name="T54" fmla="*/ 22 w 45"/>
                <a:gd name="T55" fmla="*/ 40 h 70"/>
                <a:gd name="T56" fmla="*/ 38 w 45"/>
                <a:gd name="T57" fmla="*/ 39 h 70"/>
                <a:gd name="T58" fmla="*/ 40 w 45"/>
                <a:gd name="T59" fmla="*/ 39 h 70"/>
                <a:gd name="T60" fmla="*/ 4 w 45"/>
                <a:gd name="T61" fmla="*/ 5 h 70"/>
                <a:gd name="T62" fmla="*/ 4 w 45"/>
                <a:gd name="T63" fmla="*/ 55 h 70"/>
                <a:gd name="T64" fmla="*/ 9 w 45"/>
                <a:gd name="T65" fmla="*/ 50 h 70"/>
                <a:gd name="T66" fmla="*/ 17 w 45"/>
                <a:gd name="T67" fmla="*/ 4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" h="70">
                  <a:moveTo>
                    <a:pt x="26" y="70"/>
                  </a:moveTo>
                  <a:cubicBezTo>
                    <a:pt x="26" y="70"/>
                    <a:pt x="26" y="70"/>
                    <a:pt x="25" y="70"/>
                  </a:cubicBezTo>
                  <a:cubicBezTo>
                    <a:pt x="24" y="69"/>
                    <a:pt x="24" y="69"/>
                    <a:pt x="23" y="68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0" y="54"/>
                    <a:pt x="8" y="56"/>
                    <a:pt x="6" y="58"/>
                  </a:cubicBezTo>
                  <a:cubicBezTo>
                    <a:pt x="5" y="59"/>
                    <a:pt x="4" y="59"/>
                    <a:pt x="2" y="59"/>
                  </a:cubicBezTo>
                  <a:cubicBezTo>
                    <a:pt x="1" y="58"/>
                    <a:pt x="0" y="57"/>
                    <a:pt x="0" y="5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4" y="0"/>
                    <a:pt x="5" y="1"/>
                    <a:pt x="6" y="2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4" y="37"/>
                    <a:pt x="45" y="38"/>
                    <a:pt x="45" y="39"/>
                  </a:cubicBezTo>
                  <a:cubicBezTo>
                    <a:pt x="45" y="40"/>
                    <a:pt x="44" y="41"/>
                    <a:pt x="43" y="42"/>
                  </a:cubicBezTo>
                  <a:cubicBezTo>
                    <a:pt x="43" y="42"/>
                    <a:pt x="42" y="42"/>
                    <a:pt x="41" y="43"/>
                  </a:cubicBezTo>
                  <a:cubicBezTo>
                    <a:pt x="40" y="43"/>
                    <a:pt x="39" y="43"/>
                    <a:pt x="38" y="43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37" y="63"/>
                    <a:pt x="37" y="64"/>
                    <a:pt x="37" y="65"/>
                  </a:cubicBezTo>
                  <a:cubicBezTo>
                    <a:pt x="36" y="65"/>
                    <a:pt x="36" y="66"/>
                    <a:pt x="35" y="67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28" y="70"/>
                    <a:pt x="27" y="70"/>
                    <a:pt x="26" y="70"/>
                  </a:cubicBezTo>
                  <a:close/>
                  <a:moveTo>
                    <a:pt x="17" y="43"/>
                  </a:moveTo>
                  <a:cubicBezTo>
                    <a:pt x="18" y="46"/>
                    <a:pt x="18" y="46"/>
                    <a:pt x="18" y="4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9" y="39"/>
                    <a:pt x="40" y="39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6" y="53"/>
                    <a:pt x="7" y="51"/>
                    <a:pt x="9" y="50"/>
                  </a:cubicBezTo>
                  <a:lnTo>
                    <a:pt x="17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" name="Freeform 20">
              <a:extLst>
                <a:ext uri="{FF2B5EF4-FFF2-40B4-BE49-F238E27FC236}">
                  <a16:creationId xmlns:a16="http://schemas.microsoft.com/office/drawing/2014/main" id="{5527A555-4C9F-4BBD-A98E-7C6C34C3E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558" y="761244"/>
              <a:ext cx="1008062" cy="892175"/>
            </a:xfrm>
            <a:custGeom>
              <a:avLst/>
              <a:gdLst>
                <a:gd name="T0" fmla="*/ 123 w 125"/>
                <a:gd name="T1" fmla="*/ 0 h 112"/>
                <a:gd name="T2" fmla="*/ 2 w 125"/>
                <a:gd name="T3" fmla="*/ 0 h 112"/>
                <a:gd name="T4" fmla="*/ 0 w 125"/>
                <a:gd name="T5" fmla="*/ 2 h 112"/>
                <a:gd name="T6" fmla="*/ 0 w 125"/>
                <a:gd name="T7" fmla="*/ 85 h 112"/>
                <a:gd name="T8" fmla="*/ 2 w 125"/>
                <a:gd name="T9" fmla="*/ 87 h 112"/>
                <a:gd name="T10" fmla="*/ 50 w 125"/>
                <a:gd name="T11" fmla="*/ 87 h 112"/>
                <a:gd name="T12" fmla="*/ 50 w 125"/>
                <a:gd name="T13" fmla="*/ 108 h 112"/>
                <a:gd name="T14" fmla="*/ 29 w 125"/>
                <a:gd name="T15" fmla="*/ 108 h 112"/>
                <a:gd name="T16" fmla="*/ 29 w 125"/>
                <a:gd name="T17" fmla="*/ 112 h 112"/>
                <a:gd name="T18" fmla="*/ 98 w 125"/>
                <a:gd name="T19" fmla="*/ 112 h 112"/>
                <a:gd name="T20" fmla="*/ 98 w 125"/>
                <a:gd name="T21" fmla="*/ 108 h 112"/>
                <a:gd name="T22" fmla="*/ 77 w 125"/>
                <a:gd name="T23" fmla="*/ 108 h 112"/>
                <a:gd name="T24" fmla="*/ 77 w 125"/>
                <a:gd name="T25" fmla="*/ 87 h 112"/>
                <a:gd name="T26" fmla="*/ 92 w 125"/>
                <a:gd name="T27" fmla="*/ 87 h 112"/>
                <a:gd name="T28" fmla="*/ 92 w 125"/>
                <a:gd name="T29" fmla="*/ 83 h 112"/>
                <a:gd name="T30" fmla="*/ 61 w 125"/>
                <a:gd name="T31" fmla="*/ 83 h 112"/>
                <a:gd name="T32" fmla="*/ 61 w 125"/>
                <a:gd name="T33" fmla="*/ 83 h 112"/>
                <a:gd name="T34" fmla="*/ 4 w 125"/>
                <a:gd name="T35" fmla="*/ 83 h 112"/>
                <a:gd name="T36" fmla="*/ 4 w 125"/>
                <a:gd name="T37" fmla="*/ 4 h 112"/>
                <a:gd name="T38" fmla="*/ 121 w 125"/>
                <a:gd name="T39" fmla="*/ 4 h 112"/>
                <a:gd name="T40" fmla="*/ 121 w 125"/>
                <a:gd name="T41" fmla="*/ 42 h 112"/>
                <a:gd name="T42" fmla="*/ 125 w 125"/>
                <a:gd name="T43" fmla="*/ 42 h 112"/>
                <a:gd name="T44" fmla="*/ 125 w 125"/>
                <a:gd name="T45" fmla="*/ 2 h 112"/>
                <a:gd name="T46" fmla="*/ 123 w 125"/>
                <a:gd name="T4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5" h="112">
                  <a:moveTo>
                    <a:pt x="1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1" y="87"/>
                    <a:pt x="2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92" y="87"/>
                    <a:pt x="92" y="87"/>
                    <a:pt x="92" y="87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21" y="42"/>
                    <a:pt x="121" y="42"/>
                    <a:pt x="121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4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46" name="Группа 218">
            <a:extLst>
              <a:ext uri="{FF2B5EF4-FFF2-40B4-BE49-F238E27FC236}">
                <a16:creationId xmlns:a16="http://schemas.microsoft.com/office/drawing/2014/main" id="{D7DCA5DE-7EDB-4E39-AA89-D682AA0BBC4F}"/>
              </a:ext>
            </a:extLst>
          </p:cNvPr>
          <p:cNvGrpSpPr>
            <a:grpSpLocks noChangeAspect="1"/>
          </p:cNvGrpSpPr>
          <p:nvPr/>
        </p:nvGrpSpPr>
        <p:grpSpPr>
          <a:xfrm>
            <a:off x="828138" y="4822833"/>
            <a:ext cx="316351" cy="246051"/>
            <a:chOff x="4858151" y="4806953"/>
            <a:chExt cx="885827" cy="688976"/>
          </a:xfrm>
          <a:solidFill>
            <a:srgbClr val="FFFFFF"/>
          </a:solidFill>
        </p:grpSpPr>
        <p:sp>
          <p:nvSpPr>
            <p:cNvPr id="147" name="Полилиния: фигура 109">
              <a:extLst>
                <a:ext uri="{FF2B5EF4-FFF2-40B4-BE49-F238E27FC236}">
                  <a16:creationId xmlns:a16="http://schemas.microsoft.com/office/drawing/2014/main" id="{3CE68F4E-DDF9-4F35-9C36-2DC36D7FB97A}"/>
                </a:ext>
              </a:extLst>
            </p:cNvPr>
            <p:cNvSpPr/>
            <p:nvPr/>
          </p:nvSpPr>
          <p:spPr>
            <a:xfrm>
              <a:off x="5555330" y="5312749"/>
              <a:ext cx="188648" cy="183180"/>
            </a:xfrm>
            <a:custGeom>
              <a:avLst/>
              <a:gdLst>
                <a:gd name="connsiteX0" fmla="*/ 188648 w 188648"/>
                <a:gd name="connsiteY0" fmla="*/ 183181 h 183180"/>
                <a:gd name="connsiteX1" fmla="*/ 0 w 188648"/>
                <a:gd name="connsiteY1" fmla="*/ 183181 h 183180"/>
                <a:gd name="connsiteX2" fmla="*/ 0 w 188648"/>
                <a:gd name="connsiteY2" fmla="*/ 0 h 183180"/>
                <a:gd name="connsiteX3" fmla="*/ 188648 w 188648"/>
                <a:gd name="connsiteY3" fmla="*/ 0 h 183180"/>
                <a:gd name="connsiteX4" fmla="*/ 188648 w 188648"/>
                <a:gd name="connsiteY4" fmla="*/ 183181 h 183180"/>
                <a:gd name="connsiteX5" fmla="*/ 27340 w 188648"/>
                <a:gd name="connsiteY5" fmla="*/ 155840 h 183180"/>
                <a:gd name="connsiteX6" fmla="*/ 161308 w 188648"/>
                <a:gd name="connsiteY6" fmla="*/ 155840 h 183180"/>
                <a:gd name="connsiteX7" fmla="*/ 161308 w 188648"/>
                <a:gd name="connsiteY7" fmla="*/ 27340 h 183180"/>
                <a:gd name="connsiteX8" fmla="*/ 27340 w 188648"/>
                <a:gd name="connsiteY8" fmla="*/ 27340 h 183180"/>
                <a:gd name="connsiteX9" fmla="*/ 27340 w 188648"/>
                <a:gd name="connsiteY9" fmla="*/ 155840 h 18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648" h="183180">
                  <a:moveTo>
                    <a:pt x="188648" y="183181"/>
                  </a:moveTo>
                  <a:lnTo>
                    <a:pt x="0" y="183181"/>
                  </a:lnTo>
                  <a:lnTo>
                    <a:pt x="0" y="0"/>
                  </a:lnTo>
                  <a:lnTo>
                    <a:pt x="188648" y="0"/>
                  </a:lnTo>
                  <a:lnTo>
                    <a:pt x="188648" y="183181"/>
                  </a:lnTo>
                  <a:close/>
                  <a:moveTo>
                    <a:pt x="27340" y="155840"/>
                  </a:moveTo>
                  <a:lnTo>
                    <a:pt x="161308" y="155840"/>
                  </a:lnTo>
                  <a:lnTo>
                    <a:pt x="161308" y="27340"/>
                  </a:lnTo>
                  <a:lnTo>
                    <a:pt x="27340" y="27340"/>
                  </a:lnTo>
                  <a:lnTo>
                    <a:pt x="2734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: фигура 110">
              <a:extLst>
                <a:ext uri="{FF2B5EF4-FFF2-40B4-BE49-F238E27FC236}">
                  <a16:creationId xmlns:a16="http://schemas.microsoft.com/office/drawing/2014/main" id="{0C9B5A58-E225-4E56-B39F-AD93B7DAF2A3}"/>
                </a:ext>
              </a:extLst>
            </p:cNvPr>
            <p:cNvSpPr/>
            <p:nvPr/>
          </p:nvSpPr>
          <p:spPr>
            <a:xfrm>
              <a:off x="5208108" y="5312749"/>
              <a:ext cx="188648" cy="183180"/>
            </a:xfrm>
            <a:custGeom>
              <a:avLst/>
              <a:gdLst>
                <a:gd name="connsiteX0" fmla="*/ 188648 w 188648"/>
                <a:gd name="connsiteY0" fmla="*/ 183181 h 183180"/>
                <a:gd name="connsiteX1" fmla="*/ 0 w 188648"/>
                <a:gd name="connsiteY1" fmla="*/ 183181 h 183180"/>
                <a:gd name="connsiteX2" fmla="*/ 0 w 188648"/>
                <a:gd name="connsiteY2" fmla="*/ 0 h 183180"/>
                <a:gd name="connsiteX3" fmla="*/ 188648 w 188648"/>
                <a:gd name="connsiteY3" fmla="*/ 0 h 183180"/>
                <a:gd name="connsiteX4" fmla="*/ 188648 w 188648"/>
                <a:gd name="connsiteY4" fmla="*/ 183181 h 183180"/>
                <a:gd name="connsiteX5" fmla="*/ 27340 w 188648"/>
                <a:gd name="connsiteY5" fmla="*/ 155840 h 183180"/>
                <a:gd name="connsiteX6" fmla="*/ 161308 w 188648"/>
                <a:gd name="connsiteY6" fmla="*/ 155840 h 183180"/>
                <a:gd name="connsiteX7" fmla="*/ 161308 w 188648"/>
                <a:gd name="connsiteY7" fmla="*/ 27340 h 183180"/>
                <a:gd name="connsiteX8" fmla="*/ 27340 w 188648"/>
                <a:gd name="connsiteY8" fmla="*/ 27340 h 183180"/>
                <a:gd name="connsiteX9" fmla="*/ 27340 w 188648"/>
                <a:gd name="connsiteY9" fmla="*/ 155840 h 18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648" h="183180">
                  <a:moveTo>
                    <a:pt x="188648" y="183181"/>
                  </a:moveTo>
                  <a:lnTo>
                    <a:pt x="0" y="183181"/>
                  </a:lnTo>
                  <a:lnTo>
                    <a:pt x="0" y="0"/>
                  </a:lnTo>
                  <a:lnTo>
                    <a:pt x="188648" y="0"/>
                  </a:lnTo>
                  <a:lnTo>
                    <a:pt x="188648" y="183181"/>
                  </a:lnTo>
                  <a:close/>
                  <a:moveTo>
                    <a:pt x="27340" y="155840"/>
                  </a:moveTo>
                  <a:lnTo>
                    <a:pt x="161308" y="155840"/>
                  </a:lnTo>
                  <a:lnTo>
                    <a:pt x="161308" y="27340"/>
                  </a:lnTo>
                  <a:lnTo>
                    <a:pt x="27340" y="27340"/>
                  </a:lnTo>
                  <a:lnTo>
                    <a:pt x="2734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111">
              <a:extLst>
                <a:ext uri="{FF2B5EF4-FFF2-40B4-BE49-F238E27FC236}">
                  <a16:creationId xmlns:a16="http://schemas.microsoft.com/office/drawing/2014/main" id="{A1A12AA0-E96D-40B9-BD35-BB2CFBBCD555}"/>
                </a:ext>
              </a:extLst>
            </p:cNvPr>
            <p:cNvSpPr/>
            <p:nvPr/>
          </p:nvSpPr>
          <p:spPr>
            <a:xfrm>
              <a:off x="4858151" y="5312749"/>
              <a:ext cx="188648" cy="183180"/>
            </a:xfrm>
            <a:custGeom>
              <a:avLst/>
              <a:gdLst>
                <a:gd name="connsiteX0" fmla="*/ 188648 w 188648"/>
                <a:gd name="connsiteY0" fmla="*/ 183181 h 183180"/>
                <a:gd name="connsiteX1" fmla="*/ 0 w 188648"/>
                <a:gd name="connsiteY1" fmla="*/ 183181 h 183180"/>
                <a:gd name="connsiteX2" fmla="*/ 0 w 188648"/>
                <a:gd name="connsiteY2" fmla="*/ 0 h 183180"/>
                <a:gd name="connsiteX3" fmla="*/ 188648 w 188648"/>
                <a:gd name="connsiteY3" fmla="*/ 0 h 183180"/>
                <a:gd name="connsiteX4" fmla="*/ 188648 w 188648"/>
                <a:gd name="connsiteY4" fmla="*/ 183181 h 183180"/>
                <a:gd name="connsiteX5" fmla="*/ 27340 w 188648"/>
                <a:gd name="connsiteY5" fmla="*/ 155840 h 183180"/>
                <a:gd name="connsiteX6" fmla="*/ 161308 w 188648"/>
                <a:gd name="connsiteY6" fmla="*/ 155840 h 183180"/>
                <a:gd name="connsiteX7" fmla="*/ 161308 w 188648"/>
                <a:gd name="connsiteY7" fmla="*/ 27340 h 183180"/>
                <a:gd name="connsiteX8" fmla="*/ 27340 w 188648"/>
                <a:gd name="connsiteY8" fmla="*/ 27340 h 183180"/>
                <a:gd name="connsiteX9" fmla="*/ 27340 w 188648"/>
                <a:gd name="connsiteY9" fmla="*/ 155840 h 18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648" h="183180">
                  <a:moveTo>
                    <a:pt x="188648" y="183181"/>
                  </a:moveTo>
                  <a:lnTo>
                    <a:pt x="0" y="183181"/>
                  </a:lnTo>
                  <a:lnTo>
                    <a:pt x="0" y="0"/>
                  </a:lnTo>
                  <a:lnTo>
                    <a:pt x="188648" y="0"/>
                  </a:lnTo>
                  <a:lnTo>
                    <a:pt x="188648" y="183181"/>
                  </a:lnTo>
                  <a:close/>
                  <a:moveTo>
                    <a:pt x="27340" y="155840"/>
                  </a:moveTo>
                  <a:lnTo>
                    <a:pt x="161308" y="155840"/>
                  </a:lnTo>
                  <a:lnTo>
                    <a:pt x="161308" y="27340"/>
                  </a:lnTo>
                  <a:lnTo>
                    <a:pt x="27340" y="27340"/>
                  </a:lnTo>
                  <a:lnTo>
                    <a:pt x="2734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: фигура 112">
              <a:extLst>
                <a:ext uri="{FF2B5EF4-FFF2-40B4-BE49-F238E27FC236}">
                  <a16:creationId xmlns:a16="http://schemas.microsoft.com/office/drawing/2014/main" id="{64CC0D05-6BA6-47DD-AB59-F8A13E903C99}"/>
                </a:ext>
              </a:extLst>
            </p:cNvPr>
            <p:cNvSpPr/>
            <p:nvPr/>
          </p:nvSpPr>
          <p:spPr>
            <a:xfrm>
              <a:off x="4937438" y="5126835"/>
              <a:ext cx="729987" cy="136701"/>
            </a:xfrm>
            <a:custGeom>
              <a:avLst/>
              <a:gdLst>
                <a:gd name="connsiteX0" fmla="*/ 729988 w 729987"/>
                <a:gd name="connsiteY0" fmla="*/ 136702 h 136701"/>
                <a:gd name="connsiteX1" fmla="*/ 702647 w 729987"/>
                <a:gd name="connsiteY1" fmla="*/ 136702 h 136701"/>
                <a:gd name="connsiteX2" fmla="*/ 702647 w 729987"/>
                <a:gd name="connsiteY2" fmla="*/ 27340 h 136701"/>
                <a:gd name="connsiteX3" fmla="*/ 27340 w 729987"/>
                <a:gd name="connsiteY3" fmla="*/ 27340 h 136701"/>
                <a:gd name="connsiteX4" fmla="*/ 27340 w 729987"/>
                <a:gd name="connsiteY4" fmla="*/ 136702 h 136701"/>
                <a:gd name="connsiteX5" fmla="*/ 0 w 729987"/>
                <a:gd name="connsiteY5" fmla="*/ 136702 h 136701"/>
                <a:gd name="connsiteX6" fmla="*/ 0 w 729987"/>
                <a:gd name="connsiteY6" fmla="*/ 13670 h 136701"/>
                <a:gd name="connsiteX7" fmla="*/ 13670 w 729987"/>
                <a:gd name="connsiteY7" fmla="*/ 0 h 136701"/>
                <a:gd name="connsiteX8" fmla="*/ 716318 w 729987"/>
                <a:gd name="connsiteY8" fmla="*/ 0 h 136701"/>
                <a:gd name="connsiteX9" fmla="*/ 729988 w 729987"/>
                <a:gd name="connsiteY9" fmla="*/ 13670 h 136701"/>
                <a:gd name="connsiteX10" fmla="*/ 729988 w 729987"/>
                <a:gd name="connsiteY10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987" h="136701">
                  <a:moveTo>
                    <a:pt x="729988" y="136702"/>
                  </a:moveTo>
                  <a:lnTo>
                    <a:pt x="702647" y="136702"/>
                  </a:lnTo>
                  <a:lnTo>
                    <a:pt x="702647" y="27340"/>
                  </a:lnTo>
                  <a:lnTo>
                    <a:pt x="27340" y="27340"/>
                  </a:lnTo>
                  <a:lnTo>
                    <a:pt x="27340" y="136702"/>
                  </a:lnTo>
                  <a:lnTo>
                    <a:pt x="0" y="136702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716318" y="0"/>
                  </a:lnTo>
                  <a:cubicBezTo>
                    <a:pt x="724519" y="0"/>
                    <a:pt x="729988" y="5468"/>
                    <a:pt x="729988" y="13670"/>
                  </a:cubicBezTo>
                  <a:lnTo>
                    <a:pt x="729988" y="13670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13">
              <a:extLst>
                <a:ext uri="{FF2B5EF4-FFF2-40B4-BE49-F238E27FC236}">
                  <a16:creationId xmlns:a16="http://schemas.microsoft.com/office/drawing/2014/main" id="{CBE1638B-556F-42E8-AE49-0B9FFE04E748}"/>
                </a:ext>
              </a:extLst>
            </p:cNvPr>
            <p:cNvSpPr/>
            <p:nvPr/>
          </p:nvSpPr>
          <p:spPr>
            <a:xfrm>
              <a:off x="5287394" y="5140505"/>
              <a:ext cx="27340" cy="123031"/>
            </a:xfrm>
            <a:custGeom>
              <a:avLst/>
              <a:gdLst>
                <a:gd name="connsiteX0" fmla="*/ 0 w 27340"/>
                <a:gd name="connsiteY0" fmla="*/ 0 h 123031"/>
                <a:gd name="connsiteX1" fmla="*/ 27340 w 27340"/>
                <a:gd name="connsiteY1" fmla="*/ 0 h 123031"/>
                <a:gd name="connsiteX2" fmla="*/ 27340 w 27340"/>
                <a:gd name="connsiteY2" fmla="*/ 123032 h 123031"/>
                <a:gd name="connsiteX3" fmla="*/ 0 w 27340"/>
                <a:gd name="connsiteY3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23031">
                  <a:moveTo>
                    <a:pt x="0" y="0"/>
                  </a:moveTo>
                  <a:lnTo>
                    <a:pt x="27340" y="0"/>
                  </a:lnTo>
                  <a:lnTo>
                    <a:pt x="27340" y="123032"/>
                  </a:lnTo>
                  <a:lnTo>
                    <a:pt x="0" y="12303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14">
              <a:extLst>
                <a:ext uri="{FF2B5EF4-FFF2-40B4-BE49-F238E27FC236}">
                  <a16:creationId xmlns:a16="http://schemas.microsoft.com/office/drawing/2014/main" id="{C30662A5-CDB6-44A3-A3C9-9356EF535346}"/>
                </a:ext>
              </a:extLst>
            </p:cNvPr>
            <p:cNvSpPr/>
            <p:nvPr/>
          </p:nvSpPr>
          <p:spPr>
            <a:xfrm>
              <a:off x="5287394" y="5003804"/>
              <a:ext cx="27340" cy="82021"/>
            </a:xfrm>
            <a:custGeom>
              <a:avLst/>
              <a:gdLst>
                <a:gd name="connsiteX0" fmla="*/ 0 w 27340"/>
                <a:gd name="connsiteY0" fmla="*/ 0 h 82021"/>
                <a:gd name="connsiteX1" fmla="*/ 27340 w 27340"/>
                <a:gd name="connsiteY1" fmla="*/ 0 h 82021"/>
                <a:gd name="connsiteX2" fmla="*/ 27340 w 27340"/>
                <a:gd name="connsiteY2" fmla="*/ 82021 h 82021"/>
                <a:gd name="connsiteX3" fmla="*/ 0 w 27340"/>
                <a:gd name="connsiteY3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82021">
                  <a:moveTo>
                    <a:pt x="0" y="0"/>
                  </a:moveTo>
                  <a:lnTo>
                    <a:pt x="27340" y="0"/>
                  </a:lnTo>
                  <a:lnTo>
                    <a:pt x="27340" y="82021"/>
                  </a:lnTo>
                  <a:lnTo>
                    <a:pt x="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15">
              <a:extLst>
                <a:ext uri="{FF2B5EF4-FFF2-40B4-BE49-F238E27FC236}">
                  <a16:creationId xmlns:a16="http://schemas.microsoft.com/office/drawing/2014/main" id="{5194D9E5-1826-4D7D-9D37-6C00A6377299}"/>
                </a:ext>
              </a:extLst>
            </p:cNvPr>
            <p:cNvSpPr/>
            <p:nvPr/>
          </p:nvSpPr>
          <p:spPr>
            <a:xfrm>
              <a:off x="5219044" y="4806953"/>
              <a:ext cx="164042" cy="155840"/>
            </a:xfrm>
            <a:custGeom>
              <a:avLst/>
              <a:gdLst>
                <a:gd name="connsiteX0" fmla="*/ 0 w 164042"/>
                <a:gd name="connsiteY0" fmla="*/ 0 h 155840"/>
                <a:gd name="connsiteX1" fmla="*/ 164042 w 164042"/>
                <a:gd name="connsiteY1" fmla="*/ 0 h 155840"/>
                <a:gd name="connsiteX2" fmla="*/ 164042 w 164042"/>
                <a:gd name="connsiteY2" fmla="*/ 155840 h 155840"/>
                <a:gd name="connsiteX3" fmla="*/ 0 w 164042"/>
                <a:gd name="connsiteY3" fmla="*/ 155840 h 155840"/>
                <a:gd name="connsiteX4" fmla="*/ 0 w 164042"/>
                <a:gd name="connsiteY4" fmla="*/ 0 h 155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042" h="155840">
                  <a:moveTo>
                    <a:pt x="0" y="0"/>
                  </a:moveTo>
                  <a:lnTo>
                    <a:pt x="164042" y="0"/>
                  </a:lnTo>
                  <a:lnTo>
                    <a:pt x="164042" y="155840"/>
                  </a:lnTo>
                  <a:lnTo>
                    <a:pt x="0" y="1558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4" name="Группа 209">
            <a:extLst>
              <a:ext uri="{FF2B5EF4-FFF2-40B4-BE49-F238E27FC236}">
                <a16:creationId xmlns:a16="http://schemas.microsoft.com/office/drawing/2014/main" id="{9FCEAD2A-7D8C-49DF-B891-4F589A5C72D2}"/>
              </a:ext>
            </a:extLst>
          </p:cNvPr>
          <p:cNvGrpSpPr>
            <a:grpSpLocks noChangeAspect="1"/>
          </p:cNvGrpSpPr>
          <p:nvPr/>
        </p:nvGrpSpPr>
        <p:grpSpPr>
          <a:xfrm>
            <a:off x="857682" y="4081187"/>
            <a:ext cx="257263" cy="289780"/>
            <a:chOff x="10160062" y="4767786"/>
            <a:chExt cx="735454" cy="828412"/>
          </a:xfrm>
          <a:solidFill>
            <a:srgbClr val="FFFFFF"/>
          </a:solidFill>
        </p:grpSpPr>
        <p:sp>
          <p:nvSpPr>
            <p:cNvPr id="155" name="Полилиния: фигура 164">
              <a:extLst>
                <a:ext uri="{FF2B5EF4-FFF2-40B4-BE49-F238E27FC236}">
                  <a16:creationId xmlns:a16="http://schemas.microsoft.com/office/drawing/2014/main" id="{1AA234CC-1D16-4350-8A58-16CA209FDBFC}"/>
                </a:ext>
              </a:extLst>
            </p:cNvPr>
            <p:cNvSpPr/>
            <p:nvPr/>
          </p:nvSpPr>
          <p:spPr>
            <a:xfrm>
              <a:off x="10160062" y="4767786"/>
              <a:ext cx="270669" cy="828412"/>
            </a:xfrm>
            <a:custGeom>
              <a:avLst/>
              <a:gdLst>
                <a:gd name="connsiteX0" fmla="*/ 270669 w 270669"/>
                <a:gd name="connsiteY0" fmla="*/ 828412 h 828412"/>
                <a:gd name="connsiteX1" fmla="*/ 13670 w 270669"/>
                <a:gd name="connsiteY1" fmla="*/ 828412 h 828412"/>
                <a:gd name="connsiteX2" fmla="*/ 0 w 270669"/>
                <a:gd name="connsiteY2" fmla="*/ 814742 h 828412"/>
                <a:gd name="connsiteX3" fmla="*/ 0 w 270669"/>
                <a:gd name="connsiteY3" fmla="*/ 13670 h 828412"/>
                <a:gd name="connsiteX4" fmla="*/ 13670 w 270669"/>
                <a:gd name="connsiteY4" fmla="*/ 0 h 828412"/>
                <a:gd name="connsiteX5" fmla="*/ 131234 w 270669"/>
                <a:gd name="connsiteY5" fmla="*/ 0 h 828412"/>
                <a:gd name="connsiteX6" fmla="*/ 131234 w 270669"/>
                <a:gd name="connsiteY6" fmla="*/ 27340 h 828412"/>
                <a:gd name="connsiteX7" fmla="*/ 27340 w 270669"/>
                <a:gd name="connsiteY7" fmla="*/ 27340 h 828412"/>
                <a:gd name="connsiteX8" fmla="*/ 27340 w 270669"/>
                <a:gd name="connsiteY8" fmla="*/ 801072 h 828412"/>
                <a:gd name="connsiteX9" fmla="*/ 270669 w 270669"/>
                <a:gd name="connsiteY9" fmla="*/ 801072 h 828412"/>
                <a:gd name="connsiteX10" fmla="*/ 270669 w 270669"/>
                <a:gd name="connsiteY10" fmla="*/ 828412 h 82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0669" h="828412">
                  <a:moveTo>
                    <a:pt x="270669" y="828412"/>
                  </a:moveTo>
                  <a:lnTo>
                    <a:pt x="13670" y="828412"/>
                  </a:lnTo>
                  <a:cubicBezTo>
                    <a:pt x="5468" y="828412"/>
                    <a:pt x="0" y="822944"/>
                    <a:pt x="0" y="81474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31234" y="0"/>
                  </a:lnTo>
                  <a:lnTo>
                    <a:pt x="131234" y="27340"/>
                  </a:lnTo>
                  <a:lnTo>
                    <a:pt x="27340" y="27340"/>
                  </a:lnTo>
                  <a:lnTo>
                    <a:pt x="27340" y="801072"/>
                  </a:lnTo>
                  <a:lnTo>
                    <a:pt x="270669" y="801072"/>
                  </a:lnTo>
                  <a:lnTo>
                    <a:pt x="270669" y="82841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165">
              <a:extLst>
                <a:ext uri="{FF2B5EF4-FFF2-40B4-BE49-F238E27FC236}">
                  <a16:creationId xmlns:a16="http://schemas.microsoft.com/office/drawing/2014/main" id="{972AB379-540D-4988-8237-D3DB09CBFDE8}"/>
                </a:ext>
              </a:extLst>
            </p:cNvPr>
            <p:cNvSpPr/>
            <p:nvPr/>
          </p:nvSpPr>
          <p:spPr>
            <a:xfrm>
              <a:off x="10406125" y="4767786"/>
              <a:ext cx="404637" cy="109361"/>
            </a:xfrm>
            <a:custGeom>
              <a:avLst/>
              <a:gdLst>
                <a:gd name="connsiteX0" fmla="*/ 404638 w 404637"/>
                <a:gd name="connsiteY0" fmla="*/ 109361 h 109361"/>
                <a:gd name="connsiteX1" fmla="*/ 377297 w 404637"/>
                <a:gd name="connsiteY1" fmla="*/ 109361 h 109361"/>
                <a:gd name="connsiteX2" fmla="*/ 377297 w 404637"/>
                <a:gd name="connsiteY2" fmla="*/ 27340 h 109361"/>
                <a:gd name="connsiteX3" fmla="*/ 0 w 404637"/>
                <a:gd name="connsiteY3" fmla="*/ 27340 h 109361"/>
                <a:gd name="connsiteX4" fmla="*/ 0 w 404637"/>
                <a:gd name="connsiteY4" fmla="*/ 0 h 109361"/>
                <a:gd name="connsiteX5" fmla="*/ 390968 w 404637"/>
                <a:gd name="connsiteY5" fmla="*/ 0 h 109361"/>
                <a:gd name="connsiteX6" fmla="*/ 404638 w 404637"/>
                <a:gd name="connsiteY6" fmla="*/ 13670 h 109361"/>
                <a:gd name="connsiteX7" fmla="*/ 404638 w 404637"/>
                <a:gd name="connsiteY7" fmla="*/ 109361 h 109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637" h="109361">
                  <a:moveTo>
                    <a:pt x="404638" y="109361"/>
                  </a:moveTo>
                  <a:lnTo>
                    <a:pt x="377297" y="109361"/>
                  </a:lnTo>
                  <a:lnTo>
                    <a:pt x="377297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90968" y="0"/>
                  </a:lnTo>
                  <a:cubicBezTo>
                    <a:pt x="399169" y="0"/>
                    <a:pt x="404638" y="5468"/>
                    <a:pt x="404638" y="13670"/>
                  </a:cubicBezTo>
                  <a:lnTo>
                    <a:pt x="404638" y="109361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166">
              <a:extLst>
                <a:ext uri="{FF2B5EF4-FFF2-40B4-BE49-F238E27FC236}">
                  <a16:creationId xmlns:a16="http://schemas.microsoft.com/office/drawing/2014/main" id="{D3D0F154-C716-43BB-AE73-8D62A8FFFACC}"/>
                </a:ext>
              </a:extLst>
            </p:cNvPr>
            <p:cNvSpPr/>
            <p:nvPr/>
          </p:nvSpPr>
          <p:spPr>
            <a:xfrm>
              <a:off x="10720539" y="5139615"/>
              <a:ext cx="90223" cy="456583"/>
            </a:xfrm>
            <a:custGeom>
              <a:avLst/>
              <a:gdLst>
                <a:gd name="connsiteX0" fmla="*/ 76553 w 90223"/>
                <a:gd name="connsiteY0" fmla="*/ 456584 h 456583"/>
                <a:gd name="connsiteX1" fmla="*/ 0 w 90223"/>
                <a:gd name="connsiteY1" fmla="*/ 456584 h 456583"/>
                <a:gd name="connsiteX2" fmla="*/ 0 w 90223"/>
                <a:gd name="connsiteY2" fmla="*/ 429243 h 456583"/>
                <a:gd name="connsiteX3" fmla="*/ 62883 w 90223"/>
                <a:gd name="connsiteY3" fmla="*/ 429243 h 456583"/>
                <a:gd name="connsiteX4" fmla="*/ 62883 w 90223"/>
                <a:gd name="connsiteY4" fmla="*/ 0 h 456583"/>
                <a:gd name="connsiteX5" fmla="*/ 90224 w 90223"/>
                <a:gd name="connsiteY5" fmla="*/ 0 h 456583"/>
                <a:gd name="connsiteX6" fmla="*/ 90224 w 90223"/>
                <a:gd name="connsiteY6" fmla="*/ 442914 h 456583"/>
                <a:gd name="connsiteX7" fmla="*/ 76553 w 90223"/>
                <a:gd name="connsiteY7" fmla="*/ 456584 h 45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223" h="456583">
                  <a:moveTo>
                    <a:pt x="76553" y="456584"/>
                  </a:moveTo>
                  <a:lnTo>
                    <a:pt x="0" y="456584"/>
                  </a:lnTo>
                  <a:lnTo>
                    <a:pt x="0" y="429243"/>
                  </a:lnTo>
                  <a:lnTo>
                    <a:pt x="62883" y="429243"/>
                  </a:lnTo>
                  <a:lnTo>
                    <a:pt x="62883" y="0"/>
                  </a:lnTo>
                  <a:lnTo>
                    <a:pt x="90224" y="0"/>
                  </a:lnTo>
                  <a:lnTo>
                    <a:pt x="90224" y="442914"/>
                  </a:lnTo>
                  <a:cubicBezTo>
                    <a:pt x="90224" y="451116"/>
                    <a:pt x="84755" y="456584"/>
                    <a:pt x="76553" y="456584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67">
              <a:extLst>
                <a:ext uri="{FF2B5EF4-FFF2-40B4-BE49-F238E27FC236}">
                  <a16:creationId xmlns:a16="http://schemas.microsoft.com/office/drawing/2014/main" id="{1A71EC31-2B45-414F-A11B-BFB03077817C}"/>
                </a:ext>
              </a:extLst>
            </p:cNvPr>
            <p:cNvSpPr/>
            <p:nvPr/>
          </p:nvSpPr>
          <p:spPr>
            <a:xfrm>
              <a:off x="10496348" y="5142349"/>
              <a:ext cx="188648" cy="27340"/>
            </a:xfrm>
            <a:custGeom>
              <a:avLst/>
              <a:gdLst>
                <a:gd name="connsiteX0" fmla="*/ 0 w 188648"/>
                <a:gd name="connsiteY0" fmla="*/ 0 h 27340"/>
                <a:gd name="connsiteX1" fmla="*/ 188649 w 188648"/>
                <a:gd name="connsiteY1" fmla="*/ 0 h 27340"/>
                <a:gd name="connsiteX2" fmla="*/ 188649 w 188648"/>
                <a:gd name="connsiteY2" fmla="*/ 27340 h 27340"/>
                <a:gd name="connsiteX3" fmla="*/ 0 w 18864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648" h="27340">
                  <a:moveTo>
                    <a:pt x="0" y="0"/>
                  </a:moveTo>
                  <a:lnTo>
                    <a:pt x="188649" y="0"/>
                  </a:lnTo>
                  <a:lnTo>
                    <a:pt x="188649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168">
              <a:extLst>
                <a:ext uri="{FF2B5EF4-FFF2-40B4-BE49-F238E27FC236}">
                  <a16:creationId xmlns:a16="http://schemas.microsoft.com/office/drawing/2014/main" id="{9351977E-5367-4CC7-8990-E276DCE30561}"/>
                </a:ext>
              </a:extLst>
            </p:cNvPr>
            <p:cNvSpPr/>
            <p:nvPr/>
          </p:nvSpPr>
          <p:spPr>
            <a:xfrm>
              <a:off x="10496348" y="4994711"/>
              <a:ext cx="188648" cy="27340"/>
            </a:xfrm>
            <a:custGeom>
              <a:avLst/>
              <a:gdLst>
                <a:gd name="connsiteX0" fmla="*/ 0 w 188648"/>
                <a:gd name="connsiteY0" fmla="*/ 0 h 27340"/>
                <a:gd name="connsiteX1" fmla="*/ 188649 w 188648"/>
                <a:gd name="connsiteY1" fmla="*/ 0 h 27340"/>
                <a:gd name="connsiteX2" fmla="*/ 188649 w 188648"/>
                <a:gd name="connsiteY2" fmla="*/ 27340 h 27340"/>
                <a:gd name="connsiteX3" fmla="*/ 0 w 18864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648" h="27340">
                  <a:moveTo>
                    <a:pt x="0" y="0"/>
                  </a:moveTo>
                  <a:lnTo>
                    <a:pt x="188649" y="0"/>
                  </a:lnTo>
                  <a:lnTo>
                    <a:pt x="188649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169">
              <a:extLst>
                <a:ext uri="{FF2B5EF4-FFF2-40B4-BE49-F238E27FC236}">
                  <a16:creationId xmlns:a16="http://schemas.microsoft.com/office/drawing/2014/main" id="{68FEA87B-BCBD-4848-91C1-111A6C29F91B}"/>
                </a:ext>
              </a:extLst>
            </p:cNvPr>
            <p:cNvSpPr/>
            <p:nvPr/>
          </p:nvSpPr>
          <p:spPr>
            <a:xfrm>
              <a:off x="10496348" y="5292721"/>
              <a:ext cx="188648" cy="27340"/>
            </a:xfrm>
            <a:custGeom>
              <a:avLst/>
              <a:gdLst>
                <a:gd name="connsiteX0" fmla="*/ 0 w 188648"/>
                <a:gd name="connsiteY0" fmla="*/ 0 h 27340"/>
                <a:gd name="connsiteX1" fmla="*/ 188649 w 188648"/>
                <a:gd name="connsiteY1" fmla="*/ 0 h 27340"/>
                <a:gd name="connsiteX2" fmla="*/ 188649 w 188648"/>
                <a:gd name="connsiteY2" fmla="*/ 27340 h 27340"/>
                <a:gd name="connsiteX3" fmla="*/ 0 w 18864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648" h="27340">
                  <a:moveTo>
                    <a:pt x="0" y="0"/>
                  </a:moveTo>
                  <a:lnTo>
                    <a:pt x="188649" y="0"/>
                  </a:lnTo>
                  <a:lnTo>
                    <a:pt x="188649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61" name="Рисунок 16">
              <a:extLst>
                <a:ext uri="{FF2B5EF4-FFF2-40B4-BE49-F238E27FC236}">
                  <a16:creationId xmlns:a16="http://schemas.microsoft.com/office/drawing/2014/main" id="{84883FBC-8F9C-4427-9785-C99C512239EE}"/>
                </a:ext>
              </a:extLst>
            </p:cNvPr>
            <p:cNvGrpSpPr/>
            <p:nvPr/>
          </p:nvGrpSpPr>
          <p:grpSpPr>
            <a:xfrm>
              <a:off x="10488146" y="5522380"/>
              <a:ext cx="180446" cy="62882"/>
              <a:chOff x="10488146" y="5522380"/>
              <a:chExt cx="180446" cy="62882"/>
            </a:xfrm>
            <a:grpFill/>
          </p:grpSpPr>
          <p:sp>
            <p:nvSpPr>
              <p:cNvPr id="162" name="Полилиния: фигура 171">
                <a:extLst>
                  <a:ext uri="{FF2B5EF4-FFF2-40B4-BE49-F238E27FC236}">
                    <a16:creationId xmlns:a16="http://schemas.microsoft.com/office/drawing/2014/main" id="{6AA463EC-BE14-4471-AB27-B2274E8EADA4}"/>
                  </a:ext>
                </a:extLst>
              </p:cNvPr>
              <p:cNvSpPr/>
              <p:nvPr/>
            </p:nvSpPr>
            <p:spPr>
              <a:xfrm>
                <a:off x="10488146" y="552238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3" name="Полилиния: фигура 172">
                <a:extLst>
                  <a:ext uri="{FF2B5EF4-FFF2-40B4-BE49-F238E27FC236}">
                    <a16:creationId xmlns:a16="http://schemas.microsoft.com/office/drawing/2014/main" id="{CFAD7196-3A48-4ECB-8A0E-831B0E77B8DC}"/>
                  </a:ext>
                </a:extLst>
              </p:cNvPr>
              <p:cNvSpPr/>
              <p:nvPr/>
            </p:nvSpPr>
            <p:spPr>
              <a:xfrm>
                <a:off x="10602976" y="552238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64" name="Полилиния: фигура 198">
              <a:extLst>
                <a:ext uri="{FF2B5EF4-FFF2-40B4-BE49-F238E27FC236}">
                  <a16:creationId xmlns:a16="http://schemas.microsoft.com/office/drawing/2014/main" id="{3357C9EC-6123-4D5A-803B-700579278CF0}"/>
                </a:ext>
              </a:extLst>
            </p:cNvPr>
            <p:cNvSpPr/>
            <p:nvPr/>
          </p:nvSpPr>
          <p:spPr>
            <a:xfrm>
              <a:off x="10288562" y="4929094"/>
              <a:ext cx="128499" cy="114829"/>
            </a:xfrm>
            <a:custGeom>
              <a:avLst/>
              <a:gdLst>
                <a:gd name="connsiteX0" fmla="*/ 60148 w 128499"/>
                <a:gd name="connsiteY0" fmla="*/ 114829 h 114829"/>
                <a:gd name="connsiteX1" fmla="*/ 49212 w 128499"/>
                <a:gd name="connsiteY1" fmla="*/ 109361 h 114829"/>
                <a:gd name="connsiteX2" fmla="*/ 0 w 128499"/>
                <a:gd name="connsiteY2" fmla="*/ 49213 h 114829"/>
                <a:gd name="connsiteX3" fmla="*/ 21872 w 128499"/>
                <a:gd name="connsiteY3" fmla="*/ 32808 h 114829"/>
                <a:gd name="connsiteX4" fmla="*/ 57415 w 128499"/>
                <a:gd name="connsiteY4" fmla="*/ 76553 h 114829"/>
                <a:gd name="connsiteX5" fmla="*/ 106627 w 128499"/>
                <a:gd name="connsiteY5" fmla="*/ 0 h 114829"/>
                <a:gd name="connsiteX6" fmla="*/ 128499 w 128499"/>
                <a:gd name="connsiteY6" fmla="*/ 13670 h 114829"/>
                <a:gd name="connsiteX7" fmla="*/ 68351 w 128499"/>
                <a:gd name="connsiteY7" fmla="*/ 103893 h 114829"/>
                <a:gd name="connsiteX8" fmla="*/ 60148 w 128499"/>
                <a:gd name="connsiteY8" fmla="*/ 114829 h 114829"/>
                <a:gd name="connsiteX9" fmla="*/ 60148 w 128499"/>
                <a:gd name="connsiteY9" fmla="*/ 114829 h 1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499" h="114829">
                  <a:moveTo>
                    <a:pt x="60148" y="114829"/>
                  </a:moveTo>
                  <a:cubicBezTo>
                    <a:pt x="54681" y="114829"/>
                    <a:pt x="51947" y="112096"/>
                    <a:pt x="49212" y="109361"/>
                  </a:cubicBezTo>
                  <a:lnTo>
                    <a:pt x="0" y="49213"/>
                  </a:lnTo>
                  <a:lnTo>
                    <a:pt x="21872" y="32808"/>
                  </a:lnTo>
                  <a:lnTo>
                    <a:pt x="57415" y="76553"/>
                  </a:lnTo>
                  <a:lnTo>
                    <a:pt x="106627" y="0"/>
                  </a:lnTo>
                  <a:lnTo>
                    <a:pt x="128499" y="13670"/>
                  </a:lnTo>
                  <a:lnTo>
                    <a:pt x="68351" y="103893"/>
                  </a:lnTo>
                  <a:cubicBezTo>
                    <a:pt x="68351" y="112096"/>
                    <a:pt x="62882" y="114829"/>
                    <a:pt x="60148" y="114829"/>
                  </a:cubicBezTo>
                  <a:cubicBezTo>
                    <a:pt x="60148" y="114829"/>
                    <a:pt x="60148" y="114829"/>
                    <a:pt x="60148" y="114829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199">
              <a:extLst>
                <a:ext uri="{FF2B5EF4-FFF2-40B4-BE49-F238E27FC236}">
                  <a16:creationId xmlns:a16="http://schemas.microsoft.com/office/drawing/2014/main" id="{AFD2ECA4-6396-45B8-82B6-D6BB60FB292C}"/>
                </a:ext>
              </a:extLst>
            </p:cNvPr>
            <p:cNvSpPr/>
            <p:nvPr/>
          </p:nvSpPr>
          <p:spPr>
            <a:xfrm>
              <a:off x="10288562" y="5084934"/>
              <a:ext cx="128499" cy="114829"/>
            </a:xfrm>
            <a:custGeom>
              <a:avLst/>
              <a:gdLst>
                <a:gd name="connsiteX0" fmla="*/ 60148 w 128499"/>
                <a:gd name="connsiteY0" fmla="*/ 114829 h 114829"/>
                <a:gd name="connsiteX1" fmla="*/ 49212 w 128499"/>
                <a:gd name="connsiteY1" fmla="*/ 109361 h 114829"/>
                <a:gd name="connsiteX2" fmla="*/ 0 w 128499"/>
                <a:gd name="connsiteY2" fmla="*/ 49213 h 114829"/>
                <a:gd name="connsiteX3" fmla="*/ 21872 w 128499"/>
                <a:gd name="connsiteY3" fmla="*/ 32808 h 114829"/>
                <a:gd name="connsiteX4" fmla="*/ 57415 w 128499"/>
                <a:gd name="connsiteY4" fmla="*/ 76553 h 114829"/>
                <a:gd name="connsiteX5" fmla="*/ 106627 w 128499"/>
                <a:gd name="connsiteY5" fmla="*/ 0 h 114829"/>
                <a:gd name="connsiteX6" fmla="*/ 128499 w 128499"/>
                <a:gd name="connsiteY6" fmla="*/ 13670 h 114829"/>
                <a:gd name="connsiteX7" fmla="*/ 68351 w 128499"/>
                <a:gd name="connsiteY7" fmla="*/ 103893 h 114829"/>
                <a:gd name="connsiteX8" fmla="*/ 60148 w 128499"/>
                <a:gd name="connsiteY8" fmla="*/ 114829 h 114829"/>
                <a:gd name="connsiteX9" fmla="*/ 60148 w 128499"/>
                <a:gd name="connsiteY9" fmla="*/ 114829 h 1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499" h="114829">
                  <a:moveTo>
                    <a:pt x="60148" y="114829"/>
                  </a:moveTo>
                  <a:cubicBezTo>
                    <a:pt x="54681" y="114829"/>
                    <a:pt x="51947" y="112096"/>
                    <a:pt x="49212" y="109361"/>
                  </a:cubicBezTo>
                  <a:lnTo>
                    <a:pt x="0" y="49213"/>
                  </a:lnTo>
                  <a:lnTo>
                    <a:pt x="21872" y="32808"/>
                  </a:lnTo>
                  <a:lnTo>
                    <a:pt x="57415" y="76553"/>
                  </a:lnTo>
                  <a:lnTo>
                    <a:pt x="106627" y="0"/>
                  </a:lnTo>
                  <a:lnTo>
                    <a:pt x="128499" y="13670"/>
                  </a:lnTo>
                  <a:lnTo>
                    <a:pt x="68351" y="103893"/>
                  </a:lnTo>
                  <a:cubicBezTo>
                    <a:pt x="68351" y="112096"/>
                    <a:pt x="62882" y="114829"/>
                    <a:pt x="60148" y="114829"/>
                  </a:cubicBezTo>
                  <a:cubicBezTo>
                    <a:pt x="60148" y="114829"/>
                    <a:pt x="60148" y="114829"/>
                    <a:pt x="60148" y="114829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200">
              <a:extLst>
                <a:ext uri="{FF2B5EF4-FFF2-40B4-BE49-F238E27FC236}">
                  <a16:creationId xmlns:a16="http://schemas.microsoft.com/office/drawing/2014/main" id="{7F081C45-7D12-40E6-B53B-D2C086DFE4BB}"/>
                </a:ext>
              </a:extLst>
            </p:cNvPr>
            <p:cNvSpPr/>
            <p:nvPr/>
          </p:nvSpPr>
          <p:spPr>
            <a:xfrm>
              <a:off x="10288562" y="5224370"/>
              <a:ext cx="128499" cy="114829"/>
            </a:xfrm>
            <a:custGeom>
              <a:avLst/>
              <a:gdLst>
                <a:gd name="connsiteX0" fmla="*/ 60148 w 128499"/>
                <a:gd name="connsiteY0" fmla="*/ 114829 h 114829"/>
                <a:gd name="connsiteX1" fmla="*/ 49212 w 128499"/>
                <a:gd name="connsiteY1" fmla="*/ 109361 h 114829"/>
                <a:gd name="connsiteX2" fmla="*/ 0 w 128499"/>
                <a:gd name="connsiteY2" fmla="*/ 49213 h 114829"/>
                <a:gd name="connsiteX3" fmla="*/ 21872 w 128499"/>
                <a:gd name="connsiteY3" fmla="*/ 32808 h 114829"/>
                <a:gd name="connsiteX4" fmla="*/ 57415 w 128499"/>
                <a:gd name="connsiteY4" fmla="*/ 76553 h 114829"/>
                <a:gd name="connsiteX5" fmla="*/ 106627 w 128499"/>
                <a:gd name="connsiteY5" fmla="*/ 0 h 114829"/>
                <a:gd name="connsiteX6" fmla="*/ 128499 w 128499"/>
                <a:gd name="connsiteY6" fmla="*/ 13670 h 114829"/>
                <a:gd name="connsiteX7" fmla="*/ 68351 w 128499"/>
                <a:gd name="connsiteY7" fmla="*/ 103893 h 114829"/>
                <a:gd name="connsiteX8" fmla="*/ 60148 w 128499"/>
                <a:gd name="connsiteY8" fmla="*/ 114829 h 114829"/>
                <a:gd name="connsiteX9" fmla="*/ 60148 w 128499"/>
                <a:gd name="connsiteY9" fmla="*/ 114829 h 1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499" h="114829">
                  <a:moveTo>
                    <a:pt x="60148" y="114829"/>
                  </a:moveTo>
                  <a:cubicBezTo>
                    <a:pt x="54681" y="114829"/>
                    <a:pt x="51947" y="112095"/>
                    <a:pt x="49212" y="109361"/>
                  </a:cubicBezTo>
                  <a:lnTo>
                    <a:pt x="0" y="49213"/>
                  </a:lnTo>
                  <a:lnTo>
                    <a:pt x="21872" y="32808"/>
                  </a:lnTo>
                  <a:lnTo>
                    <a:pt x="57415" y="76553"/>
                  </a:lnTo>
                  <a:lnTo>
                    <a:pt x="106627" y="0"/>
                  </a:lnTo>
                  <a:lnTo>
                    <a:pt x="128499" y="13670"/>
                  </a:lnTo>
                  <a:lnTo>
                    <a:pt x="68351" y="103893"/>
                  </a:lnTo>
                  <a:cubicBezTo>
                    <a:pt x="68351" y="112095"/>
                    <a:pt x="62882" y="114829"/>
                    <a:pt x="60148" y="114829"/>
                  </a:cubicBezTo>
                  <a:cubicBezTo>
                    <a:pt x="60148" y="114829"/>
                    <a:pt x="60148" y="114829"/>
                    <a:pt x="60148" y="114829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: фигура 201">
              <a:extLst>
                <a:ext uri="{FF2B5EF4-FFF2-40B4-BE49-F238E27FC236}">
                  <a16:creationId xmlns:a16="http://schemas.microsoft.com/office/drawing/2014/main" id="{BABAE237-BD4B-41D4-B86E-955278EFB591}"/>
                </a:ext>
              </a:extLst>
            </p:cNvPr>
            <p:cNvSpPr/>
            <p:nvPr/>
          </p:nvSpPr>
          <p:spPr>
            <a:xfrm>
              <a:off x="10422529" y="4899020"/>
              <a:ext cx="472987" cy="399169"/>
            </a:xfrm>
            <a:custGeom>
              <a:avLst/>
              <a:gdLst>
                <a:gd name="connsiteX0" fmla="*/ 84755 w 472987"/>
                <a:gd name="connsiteY0" fmla="*/ 380031 h 399169"/>
                <a:gd name="connsiteX1" fmla="*/ 0 w 472987"/>
                <a:gd name="connsiteY1" fmla="*/ 399169 h 399169"/>
                <a:gd name="connsiteX2" fmla="*/ 32809 w 472987"/>
                <a:gd name="connsiteY2" fmla="*/ 317148 h 399169"/>
                <a:gd name="connsiteX3" fmla="*/ 421041 w 472987"/>
                <a:gd name="connsiteY3" fmla="*/ 0 h 399169"/>
                <a:gd name="connsiteX4" fmla="*/ 472988 w 472987"/>
                <a:gd name="connsiteY4" fmla="*/ 65617 h 39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987" h="399169">
                  <a:moveTo>
                    <a:pt x="84755" y="380031"/>
                  </a:moveTo>
                  <a:lnTo>
                    <a:pt x="0" y="399169"/>
                  </a:lnTo>
                  <a:lnTo>
                    <a:pt x="32809" y="317148"/>
                  </a:lnTo>
                  <a:lnTo>
                    <a:pt x="421041" y="0"/>
                  </a:lnTo>
                  <a:lnTo>
                    <a:pt x="472988" y="65617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8" name="Группа 217">
            <a:extLst>
              <a:ext uri="{FF2B5EF4-FFF2-40B4-BE49-F238E27FC236}">
                <a16:creationId xmlns:a16="http://schemas.microsoft.com/office/drawing/2014/main" id="{64FCDD75-880D-4825-9C18-40EC18A1B96A}"/>
              </a:ext>
            </a:extLst>
          </p:cNvPr>
          <p:cNvGrpSpPr>
            <a:grpSpLocks noChangeAspect="1"/>
          </p:cNvGrpSpPr>
          <p:nvPr/>
        </p:nvGrpSpPr>
        <p:grpSpPr>
          <a:xfrm>
            <a:off x="3436504" y="4818495"/>
            <a:ext cx="312081" cy="258104"/>
            <a:chOff x="6618869" y="4801485"/>
            <a:chExt cx="869423" cy="719050"/>
          </a:xfrm>
          <a:solidFill>
            <a:srgbClr val="FFFFFF"/>
          </a:solidFill>
        </p:grpSpPr>
        <p:sp>
          <p:nvSpPr>
            <p:cNvPr id="169" name="Полилиния: фигура 116">
              <a:extLst>
                <a:ext uri="{FF2B5EF4-FFF2-40B4-BE49-F238E27FC236}">
                  <a16:creationId xmlns:a16="http://schemas.microsoft.com/office/drawing/2014/main" id="{84FEC719-EFD3-438E-817B-C1C75906322A}"/>
                </a:ext>
              </a:extLst>
            </p:cNvPr>
            <p:cNvSpPr/>
            <p:nvPr/>
          </p:nvSpPr>
          <p:spPr>
            <a:xfrm>
              <a:off x="7089124" y="5411175"/>
              <a:ext cx="330818" cy="95691"/>
            </a:xfrm>
            <a:custGeom>
              <a:avLst/>
              <a:gdLst>
                <a:gd name="connsiteX0" fmla="*/ 317148 w 330818"/>
                <a:gd name="connsiteY0" fmla="*/ 95691 h 95691"/>
                <a:gd name="connsiteX1" fmla="*/ 0 w 330818"/>
                <a:gd name="connsiteY1" fmla="*/ 95691 h 95691"/>
                <a:gd name="connsiteX2" fmla="*/ 0 w 330818"/>
                <a:gd name="connsiteY2" fmla="*/ 68351 h 95691"/>
                <a:gd name="connsiteX3" fmla="*/ 303478 w 330818"/>
                <a:gd name="connsiteY3" fmla="*/ 68351 h 95691"/>
                <a:gd name="connsiteX4" fmla="*/ 303478 w 330818"/>
                <a:gd name="connsiteY4" fmla="*/ 0 h 95691"/>
                <a:gd name="connsiteX5" fmla="*/ 330818 w 330818"/>
                <a:gd name="connsiteY5" fmla="*/ 0 h 95691"/>
                <a:gd name="connsiteX6" fmla="*/ 330818 w 330818"/>
                <a:gd name="connsiteY6" fmla="*/ 82021 h 95691"/>
                <a:gd name="connsiteX7" fmla="*/ 317148 w 330818"/>
                <a:gd name="connsiteY7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818" h="95691">
                  <a:moveTo>
                    <a:pt x="317148" y="95691"/>
                  </a:moveTo>
                  <a:lnTo>
                    <a:pt x="0" y="95691"/>
                  </a:lnTo>
                  <a:lnTo>
                    <a:pt x="0" y="68351"/>
                  </a:lnTo>
                  <a:lnTo>
                    <a:pt x="303478" y="68351"/>
                  </a:lnTo>
                  <a:lnTo>
                    <a:pt x="303478" y="0"/>
                  </a:lnTo>
                  <a:lnTo>
                    <a:pt x="330818" y="0"/>
                  </a:lnTo>
                  <a:lnTo>
                    <a:pt x="330818" y="82021"/>
                  </a:lnTo>
                  <a:cubicBezTo>
                    <a:pt x="330818" y="90223"/>
                    <a:pt x="325350" y="95691"/>
                    <a:pt x="317148" y="95691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117">
              <a:extLst>
                <a:ext uri="{FF2B5EF4-FFF2-40B4-BE49-F238E27FC236}">
                  <a16:creationId xmlns:a16="http://schemas.microsoft.com/office/drawing/2014/main" id="{263C3C2F-D625-4B34-8CA9-A1B7615F57FB}"/>
                </a:ext>
              </a:extLst>
            </p:cNvPr>
            <p:cNvSpPr/>
            <p:nvPr/>
          </p:nvSpPr>
          <p:spPr>
            <a:xfrm>
              <a:off x="6627072" y="5400239"/>
              <a:ext cx="164042" cy="106627"/>
            </a:xfrm>
            <a:custGeom>
              <a:avLst/>
              <a:gdLst>
                <a:gd name="connsiteX0" fmla="*/ 164042 w 164042"/>
                <a:gd name="connsiteY0" fmla="*/ 106627 h 106627"/>
                <a:gd name="connsiteX1" fmla="*/ 13670 w 164042"/>
                <a:gd name="connsiteY1" fmla="*/ 106627 h 106627"/>
                <a:gd name="connsiteX2" fmla="*/ 0 w 164042"/>
                <a:gd name="connsiteY2" fmla="*/ 92957 h 106627"/>
                <a:gd name="connsiteX3" fmla="*/ 0 w 164042"/>
                <a:gd name="connsiteY3" fmla="*/ 0 h 106627"/>
                <a:gd name="connsiteX4" fmla="*/ 27340 w 164042"/>
                <a:gd name="connsiteY4" fmla="*/ 0 h 106627"/>
                <a:gd name="connsiteX5" fmla="*/ 27340 w 164042"/>
                <a:gd name="connsiteY5" fmla="*/ 79287 h 106627"/>
                <a:gd name="connsiteX6" fmla="*/ 164042 w 164042"/>
                <a:gd name="connsiteY6" fmla="*/ 79287 h 106627"/>
                <a:gd name="connsiteX7" fmla="*/ 164042 w 164042"/>
                <a:gd name="connsiteY7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42" h="106627">
                  <a:moveTo>
                    <a:pt x="164042" y="106627"/>
                  </a:moveTo>
                  <a:lnTo>
                    <a:pt x="13670" y="106627"/>
                  </a:lnTo>
                  <a:cubicBezTo>
                    <a:pt x="5468" y="106627"/>
                    <a:pt x="0" y="101159"/>
                    <a:pt x="0" y="92957"/>
                  </a:cubicBezTo>
                  <a:lnTo>
                    <a:pt x="0" y="0"/>
                  </a:lnTo>
                  <a:lnTo>
                    <a:pt x="27340" y="0"/>
                  </a:lnTo>
                  <a:lnTo>
                    <a:pt x="27340" y="79287"/>
                  </a:lnTo>
                  <a:lnTo>
                    <a:pt x="164042" y="79287"/>
                  </a:lnTo>
                  <a:lnTo>
                    <a:pt x="164042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118">
              <a:extLst>
                <a:ext uri="{FF2B5EF4-FFF2-40B4-BE49-F238E27FC236}">
                  <a16:creationId xmlns:a16="http://schemas.microsoft.com/office/drawing/2014/main" id="{A09C4EF8-0082-469C-8C30-C91CBD44CFDE}"/>
                </a:ext>
              </a:extLst>
            </p:cNvPr>
            <p:cNvSpPr/>
            <p:nvPr/>
          </p:nvSpPr>
          <p:spPr>
            <a:xfrm>
              <a:off x="6627072" y="4804219"/>
              <a:ext cx="153106" cy="360892"/>
            </a:xfrm>
            <a:custGeom>
              <a:avLst/>
              <a:gdLst>
                <a:gd name="connsiteX0" fmla="*/ 27340 w 153106"/>
                <a:gd name="connsiteY0" fmla="*/ 360893 h 360892"/>
                <a:gd name="connsiteX1" fmla="*/ 0 w 153106"/>
                <a:gd name="connsiteY1" fmla="*/ 360893 h 360892"/>
                <a:gd name="connsiteX2" fmla="*/ 0 w 153106"/>
                <a:gd name="connsiteY2" fmla="*/ 13670 h 360892"/>
                <a:gd name="connsiteX3" fmla="*/ 13670 w 153106"/>
                <a:gd name="connsiteY3" fmla="*/ 0 h 360892"/>
                <a:gd name="connsiteX4" fmla="*/ 153106 w 153106"/>
                <a:gd name="connsiteY4" fmla="*/ 0 h 360892"/>
                <a:gd name="connsiteX5" fmla="*/ 153106 w 153106"/>
                <a:gd name="connsiteY5" fmla="*/ 27340 h 360892"/>
                <a:gd name="connsiteX6" fmla="*/ 27340 w 153106"/>
                <a:gd name="connsiteY6" fmla="*/ 27340 h 360892"/>
                <a:gd name="connsiteX7" fmla="*/ 27340 w 153106"/>
                <a:gd name="connsiteY7" fmla="*/ 360893 h 36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106" h="360892">
                  <a:moveTo>
                    <a:pt x="27340" y="360893"/>
                  </a:moveTo>
                  <a:lnTo>
                    <a:pt x="0" y="360893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53106" y="0"/>
                  </a:lnTo>
                  <a:lnTo>
                    <a:pt x="153106" y="27340"/>
                  </a:lnTo>
                  <a:lnTo>
                    <a:pt x="27340" y="27340"/>
                  </a:lnTo>
                  <a:lnTo>
                    <a:pt x="27340" y="36089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119">
              <a:extLst>
                <a:ext uri="{FF2B5EF4-FFF2-40B4-BE49-F238E27FC236}">
                  <a16:creationId xmlns:a16="http://schemas.microsoft.com/office/drawing/2014/main" id="{6E9FA919-568E-4E75-BCC9-3CFF71018D0E}"/>
                </a:ext>
              </a:extLst>
            </p:cNvPr>
            <p:cNvSpPr/>
            <p:nvPr/>
          </p:nvSpPr>
          <p:spPr>
            <a:xfrm>
              <a:off x="6985230" y="4804219"/>
              <a:ext cx="421041" cy="27340"/>
            </a:xfrm>
            <a:custGeom>
              <a:avLst/>
              <a:gdLst>
                <a:gd name="connsiteX0" fmla="*/ 0 w 421041"/>
                <a:gd name="connsiteY0" fmla="*/ 0 h 27340"/>
                <a:gd name="connsiteX1" fmla="*/ 421041 w 421041"/>
                <a:gd name="connsiteY1" fmla="*/ 0 h 27340"/>
                <a:gd name="connsiteX2" fmla="*/ 421041 w 421041"/>
                <a:gd name="connsiteY2" fmla="*/ 27340 h 27340"/>
                <a:gd name="connsiteX3" fmla="*/ 0 w 42104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041" h="27340">
                  <a:moveTo>
                    <a:pt x="0" y="0"/>
                  </a:moveTo>
                  <a:lnTo>
                    <a:pt x="421041" y="0"/>
                  </a:lnTo>
                  <a:lnTo>
                    <a:pt x="421041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20">
              <a:extLst>
                <a:ext uri="{FF2B5EF4-FFF2-40B4-BE49-F238E27FC236}">
                  <a16:creationId xmlns:a16="http://schemas.microsoft.com/office/drawing/2014/main" id="{8C19CD9D-BFB7-488C-9514-95CFCC768616}"/>
                </a:ext>
              </a:extLst>
            </p:cNvPr>
            <p:cNvSpPr/>
            <p:nvPr/>
          </p:nvSpPr>
          <p:spPr>
            <a:xfrm>
              <a:off x="6818454" y="5296345"/>
              <a:ext cx="221457" cy="224190"/>
            </a:xfrm>
            <a:custGeom>
              <a:avLst/>
              <a:gdLst>
                <a:gd name="connsiteX0" fmla="*/ 221457 w 221457"/>
                <a:gd name="connsiteY0" fmla="*/ 224191 h 224190"/>
                <a:gd name="connsiteX1" fmla="*/ 0 w 221457"/>
                <a:gd name="connsiteY1" fmla="*/ 224191 h 224190"/>
                <a:gd name="connsiteX2" fmla="*/ 0 w 221457"/>
                <a:gd name="connsiteY2" fmla="*/ 0 h 224190"/>
                <a:gd name="connsiteX3" fmla="*/ 221457 w 221457"/>
                <a:gd name="connsiteY3" fmla="*/ 0 h 224190"/>
                <a:gd name="connsiteX4" fmla="*/ 221457 w 221457"/>
                <a:gd name="connsiteY4" fmla="*/ 224191 h 224190"/>
                <a:gd name="connsiteX5" fmla="*/ 27340 w 221457"/>
                <a:gd name="connsiteY5" fmla="*/ 196850 h 224190"/>
                <a:gd name="connsiteX6" fmla="*/ 194117 w 221457"/>
                <a:gd name="connsiteY6" fmla="*/ 196850 h 224190"/>
                <a:gd name="connsiteX7" fmla="*/ 194117 w 221457"/>
                <a:gd name="connsiteY7" fmla="*/ 27340 h 224190"/>
                <a:gd name="connsiteX8" fmla="*/ 27340 w 221457"/>
                <a:gd name="connsiteY8" fmla="*/ 27340 h 224190"/>
                <a:gd name="connsiteX9" fmla="*/ 27340 w 221457"/>
                <a:gd name="connsiteY9" fmla="*/ 196850 h 22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457" h="224190">
                  <a:moveTo>
                    <a:pt x="221457" y="224191"/>
                  </a:moveTo>
                  <a:lnTo>
                    <a:pt x="0" y="224191"/>
                  </a:lnTo>
                  <a:lnTo>
                    <a:pt x="0" y="0"/>
                  </a:lnTo>
                  <a:lnTo>
                    <a:pt x="221457" y="0"/>
                  </a:lnTo>
                  <a:lnTo>
                    <a:pt x="221457" y="224191"/>
                  </a:lnTo>
                  <a:close/>
                  <a:moveTo>
                    <a:pt x="27340" y="196850"/>
                  </a:moveTo>
                  <a:lnTo>
                    <a:pt x="194117" y="19685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9685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21">
              <a:extLst>
                <a:ext uri="{FF2B5EF4-FFF2-40B4-BE49-F238E27FC236}">
                  <a16:creationId xmlns:a16="http://schemas.microsoft.com/office/drawing/2014/main" id="{E4D48892-010D-452E-9B2A-AECC3CA0A1F8}"/>
                </a:ext>
              </a:extLst>
            </p:cNvPr>
            <p:cNvSpPr/>
            <p:nvPr/>
          </p:nvSpPr>
          <p:spPr>
            <a:xfrm>
              <a:off x="6618869" y="5206122"/>
              <a:ext cx="150371" cy="153106"/>
            </a:xfrm>
            <a:custGeom>
              <a:avLst/>
              <a:gdLst>
                <a:gd name="connsiteX0" fmla="*/ 150372 w 150371"/>
                <a:gd name="connsiteY0" fmla="*/ 153106 h 153106"/>
                <a:gd name="connsiteX1" fmla="*/ 0 w 150371"/>
                <a:gd name="connsiteY1" fmla="*/ 153106 h 153106"/>
                <a:gd name="connsiteX2" fmla="*/ 0 w 150371"/>
                <a:gd name="connsiteY2" fmla="*/ 0 h 153106"/>
                <a:gd name="connsiteX3" fmla="*/ 150372 w 150371"/>
                <a:gd name="connsiteY3" fmla="*/ 0 h 153106"/>
                <a:gd name="connsiteX4" fmla="*/ 150372 w 150371"/>
                <a:gd name="connsiteY4" fmla="*/ 153106 h 153106"/>
                <a:gd name="connsiteX5" fmla="*/ 27340 w 150371"/>
                <a:gd name="connsiteY5" fmla="*/ 125766 h 153106"/>
                <a:gd name="connsiteX6" fmla="*/ 123032 w 150371"/>
                <a:gd name="connsiteY6" fmla="*/ 125766 h 153106"/>
                <a:gd name="connsiteX7" fmla="*/ 123032 w 150371"/>
                <a:gd name="connsiteY7" fmla="*/ 27340 h 153106"/>
                <a:gd name="connsiteX8" fmla="*/ 27340 w 150371"/>
                <a:gd name="connsiteY8" fmla="*/ 27340 h 153106"/>
                <a:gd name="connsiteX9" fmla="*/ 27340 w 150371"/>
                <a:gd name="connsiteY9" fmla="*/ 12576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3106">
                  <a:moveTo>
                    <a:pt x="150372" y="153106"/>
                  </a:moveTo>
                  <a:lnTo>
                    <a:pt x="0" y="153106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3106"/>
                  </a:lnTo>
                  <a:close/>
                  <a:moveTo>
                    <a:pt x="27340" y="125766"/>
                  </a:moveTo>
                  <a:lnTo>
                    <a:pt x="123032" y="125766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576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22">
              <a:extLst>
                <a:ext uri="{FF2B5EF4-FFF2-40B4-BE49-F238E27FC236}">
                  <a16:creationId xmlns:a16="http://schemas.microsoft.com/office/drawing/2014/main" id="{2072F86F-B908-4AB9-94C6-28A5DC203537}"/>
                </a:ext>
              </a:extLst>
            </p:cNvPr>
            <p:cNvSpPr/>
            <p:nvPr/>
          </p:nvSpPr>
          <p:spPr>
            <a:xfrm>
              <a:off x="6996166" y="5099495"/>
              <a:ext cx="150371" cy="150371"/>
            </a:xfrm>
            <a:custGeom>
              <a:avLst/>
              <a:gdLst>
                <a:gd name="connsiteX0" fmla="*/ 150372 w 150371"/>
                <a:gd name="connsiteY0" fmla="*/ 150372 h 150371"/>
                <a:gd name="connsiteX1" fmla="*/ 0 w 150371"/>
                <a:gd name="connsiteY1" fmla="*/ 150372 h 150371"/>
                <a:gd name="connsiteX2" fmla="*/ 0 w 150371"/>
                <a:gd name="connsiteY2" fmla="*/ 0 h 150371"/>
                <a:gd name="connsiteX3" fmla="*/ 150372 w 150371"/>
                <a:gd name="connsiteY3" fmla="*/ 0 h 150371"/>
                <a:gd name="connsiteX4" fmla="*/ 150372 w 150371"/>
                <a:gd name="connsiteY4" fmla="*/ 150372 h 150371"/>
                <a:gd name="connsiteX5" fmla="*/ 27340 w 150371"/>
                <a:gd name="connsiteY5" fmla="*/ 123032 h 150371"/>
                <a:gd name="connsiteX6" fmla="*/ 123032 w 150371"/>
                <a:gd name="connsiteY6" fmla="*/ 123032 h 150371"/>
                <a:gd name="connsiteX7" fmla="*/ 123032 w 150371"/>
                <a:gd name="connsiteY7" fmla="*/ 27340 h 150371"/>
                <a:gd name="connsiteX8" fmla="*/ 27340 w 150371"/>
                <a:gd name="connsiteY8" fmla="*/ 27340 h 150371"/>
                <a:gd name="connsiteX9" fmla="*/ 27340 w 150371"/>
                <a:gd name="connsiteY9" fmla="*/ 123032 h 1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0371">
                  <a:moveTo>
                    <a:pt x="150372" y="150372"/>
                  </a:moveTo>
                  <a:lnTo>
                    <a:pt x="0" y="150372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0372"/>
                  </a:lnTo>
                  <a:close/>
                  <a:moveTo>
                    <a:pt x="27340" y="123032"/>
                  </a:moveTo>
                  <a:lnTo>
                    <a:pt x="123032" y="123032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303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23">
              <a:extLst>
                <a:ext uri="{FF2B5EF4-FFF2-40B4-BE49-F238E27FC236}">
                  <a16:creationId xmlns:a16="http://schemas.microsoft.com/office/drawing/2014/main" id="{549EBCDB-72F4-48D6-9C1A-A4D8F6D4B46A}"/>
                </a:ext>
              </a:extLst>
            </p:cNvPr>
            <p:cNvSpPr/>
            <p:nvPr/>
          </p:nvSpPr>
          <p:spPr>
            <a:xfrm>
              <a:off x="6821188" y="4801485"/>
              <a:ext cx="120297" cy="123031"/>
            </a:xfrm>
            <a:custGeom>
              <a:avLst/>
              <a:gdLst>
                <a:gd name="connsiteX0" fmla="*/ 120297 w 120297"/>
                <a:gd name="connsiteY0" fmla="*/ 0 h 123031"/>
                <a:gd name="connsiteX1" fmla="*/ 0 w 120297"/>
                <a:gd name="connsiteY1" fmla="*/ 0 h 123031"/>
                <a:gd name="connsiteX2" fmla="*/ 0 w 120297"/>
                <a:gd name="connsiteY2" fmla="*/ 123032 h 123031"/>
                <a:gd name="connsiteX3" fmla="*/ 120297 w 120297"/>
                <a:gd name="connsiteY3" fmla="*/ 123032 h 123031"/>
                <a:gd name="connsiteX4" fmla="*/ 120297 w 120297"/>
                <a:gd name="connsiteY4" fmla="*/ 0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97" h="123031">
                  <a:moveTo>
                    <a:pt x="120297" y="0"/>
                  </a:moveTo>
                  <a:lnTo>
                    <a:pt x="0" y="0"/>
                  </a:lnTo>
                  <a:lnTo>
                    <a:pt x="0" y="123032"/>
                  </a:lnTo>
                  <a:lnTo>
                    <a:pt x="120297" y="123032"/>
                  </a:lnTo>
                  <a:lnTo>
                    <a:pt x="120297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24">
              <a:extLst>
                <a:ext uri="{FF2B5EF4-FFF2-40B4-BE49-F238E27FC236}">
                  <a16:creationId xmlns:a16="http://schemas.microsoft.com/office/drawing/2014/main" id="{ABEA8513-9429-41C4-A41C-E0F16E14BF9C}"/>
                </a:ext>
              </a:extLst>
            </p:cNvPr>
            <p:cNvSpPr/>
            <p:nvPr/>
          </p:nvSpPr>
          <p:spPr>
            <a:xfrm>
              <a:off x="6698157" y="5044814"/>
              <a:ext cx="87489" cy="90222"/>
            </a:xfrm>
            <a:custGeom>
              <a:avLst/>
              <a:gdLst>
                <a:gd name="connsiteX0" fmla="*/ 87489 w 87489"/>
                <a:gd name="connsiteY0" fmla="*/ 0 h 90222"/>
                <a:gd name="connsiteX1" fmla="*/ 0 w 87489"/>
                <a:gd name="connsiteY1" fmla="*/ 0 h 90222"/>
                <a:gd name="connsiteX2" fmla="*/ 0 w 87489"/>
                <a:gd name="connsiteY2" fmla="*/ 90223 h 90222"/>
                <a:gd name="connsiteX3" fmla="*/ 87489 w 87489"/>
                <a:gd name="connsiteY3" fmla="*/ 90223 h 90222"/>
                <a:gd name="connsiteX4" fmla="*/ 87489 w 87489"/>
                <a:gd name="connsiteY4" fmla="*/ 0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89" h="90222">
                  <a:moveTo>
                    <a:pt x="87489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87489" y="90223"/>
                  </a:lnTo>
                  <a:lnTo>
                    <a:pt x="87489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25">
              <a:extLst>
                <a:ext uri="{FF2B5EF4-FFF2-40B4-BE49-F238E27FC236}">
                  <a16:creationId xmlns:a16="http://schemas.microsoft.com/office/drawing/2014/main" id="{31F782C4-B29D-48B4-8AB9-56B719782A70}"/>
                </a:ext>
              </a:extLst>
            </p:cNvPr>
            <p:cNvSpPr/>
            <p:nvPr/>
          </p:nvSpPr>
          <p:spPr>
            <a:xfrm>
              <a:off x="6837592" y="5151442"/>
              <a:ext cx="90223" cy="90223"/>
            </a:xfrm>
            <a:custGeom>
              <a:avLst/>
              <a:gdLst>
                <a:gd name="connsiteX0" fmla="*/ 90223 w 90223"/>
                <a:gd name="connsiteY0" fmla="*/ 0 h 90223"/>
                <a:gd name="connsiteX1" fmla="*/ 0 w 90223"/>
                <a:gd name="connsiteY1" fmla="*/ 0 h 90223"/>
                <a:gd name="connsiteX2" fmla="*/ 0 w 90223"/>
                <a:gd name="connsiteY2" fmla="*/ 90223 h 90223"/>
                <a:gd name="connsiteX3" fmla="*/ 90223 w 90223"/>
                <a:gd name="connsiteY3" fmla="*/ 90223 h 90223"/>
                <a:gd name="connsiteX4" fmla="*/ 90223 w 90223"/>
                <a:gd name="connsiteY4" fmla="*/ 0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23" h="90223">
                  <a:moveTo>
                    <a:pt x="90223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90223" y="90223"/>
                  </a:lnTo>
                  <a:lnTo>
                    <a:pt x="90223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26">
              <a:extLst>
                <a:ext uri="{FF2B5EF4-FFF2-40B4-BE49-F238E27FC236}">
                  <a16:creationId xmlns:a16="http://schemas.microsoft.com/office/drawing/2014/main" id="{43C301AA-A4F8-4110-AD89-6A70EAE26574}"/>
                </a:ext>
              </a:extLst>
            </p:cNvPr>
            <p:cNvSpPr/>
            <p:nvPr/>
          </p:nvSpPr>
          <p:spPr>
            <a:xfrm>
              <a:off x="6834858" y="4998335"/>
              <a:ext cx="92957" cy="90223"/>
            </a:xfrm>
            <a:custGeom>
              <a:avLst/>
              <a:gdLst>
                <a:gd name="connsiteX0" fmla="*/ 92957 w 92957"/>
                <a:gd name="connsiteY0" fmla="*/ 90223 h 90223"/>
                <a:gd name="connsiteX1" fmla="*/ 0 w 92957"/>
                <a:gd name="connsiteY1" fmla="*/ 90223 h 90223"/>
                <a:gd name="connsiteX2" fmla="*/ 0 w 92957"/>
                <a:gd name="connsiteY2" fmla="*/ 0 h 90223"/>
                <a:gd name="connsiteX3" fmla="*/ 92957 w 92957"/>
                <a:gd name="connsiteY3" fmla="*/ 0 h 90223"/>
                <a:gd name="connsiteX4" fmla="*/ 92957 w 92957"/>
                <a:gd name="connsiteY4" fmla="*/ 90223 h 90223"/>
                <a:gd name="connsiteX5" fmla="*/ 24606 w 92957"/>
                <a:gd name="connsiteY5" fmla="*/ 62883 h 90223"/>
                <a:gd name="connsiteX6" fmla="*/ 62883 w 92957"/>
                <a:gd name="connsiteY6" fmla="*/ 62883 h 90223"/>
                <a:gd name="connsiteX7" fmla="*/ 62883 w 92957"/>
                <a:gd name="connsiteY7" fmla="*/ 27340 h 90223"/>
                <a:gd name="connsiteX8" fmla="*/ 24606 w 92957"/>
                <a:gd name="connsiteY8" fmla="*/ 27340 h 90223"/>
                <a:gd name="connsiteX9" fmla="*/ 24606 w 92957"/>
                <a:gd name="connsiteY9" fmla="*/ 6288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957" h="90223">
                  <a:moveTo>
                    <a:pt x="92957" y="90223"/>
                  </a:moveTo>
                  <a:lnTo>
                    <a:pt x="0" y="90223"/>
                  </a:lnTo>
                  <a:lnTo>
                    <a:pt x="0" y="0"/>
                  </a:lnTo>
                  <a:lnTo>
                    <a:pt x="92957" y="0"/>
                  </a:lnTo>
                  <a:lnTo>
                    <a:pt x="92957" y="90223"/>
                  </a:lnTo>
                  <a:close/>
                  <a:moveTo>
                    <a:pt x="24606" y="62883"/>
                  </a:moveTo>
                  <a:lnTo>
                    <a:pt x="62883" y="62883"/>
                  </a:lnTo>
                  <a:lnTo>
                    <a:pt x="62883" y="27340"/>
                  </a:lnTo>
                  <a:lnTo>
                    <a:pt x="24606" y="27340"/>
                  </a:lnTo>
                  <a:lnTo>
                    <a:pt x="24606" y="6288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0" name="Рисунок 18">
              <a:extLst>
                <a:ext uri="{FF2B5EF4-FFF2-40B4-BE49-F238E27FC236}">
                  <a16:creationId xmlns:a16="http://schemas.microsoft.com/office/drawing/2014/main" id="{9C127DC5-C146-4F46-850C-38333401BFCC}"/>
                </a:ext>
              </a:extLst>
            </p:cNvPr>
            <p:cNvGrpSpPr/>
            <p:nvPr/>
          </p:nvGrpSpPr>
          <p:grpSpPr>
            <a:xfrm>
              <a:off x="7212155" y="4894442"/>
              <a:ext cx="276137" cy="470253"/>
              <a:chOff x="7212155" y="4894442"/>
              <a:chExt cx="276137" cy="470253"/>
            </a:xfrm>
            <a:grpFill/>
          </p:grpSpPr>
          <p:sp>
            <p:nvSpPr>
              <p:cNvPr id="181" name="Полилиния: фигура 128">
                <a:extLst>
                  <a:ext uri="{FF2B5EF4-FFF2-40B4-BE49-F238E27FC236}">
                    <a16:creationId xmlns:a16="http://schemas.microsoft.com/office/drawing/2014/main" id="{50B719A5-8FA7-43CE-9A5F-33AD284C1659}"/>
                  </a:ext>
                </a:extLst>
              </p:cNvPr>
              <p:cNvSpPr/>
              <p:nvPr/>
            </p:nvSpPr>
            <p:spPr>
              <a:xfrm>
                <a:off x="7212155" y="4894442"/>
                <a:ext cx="276137" cy="470253"/>
              </a:xfrm>
              <a:custGeom>
                <a:avLst/>
                <a:gdLst>
                  <a:gd name="connsiteX0" fmla="*/ 276137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4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4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4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7 w 276137"/>
                  <a:gd name="connsiteY27" fmla="*/ 0 h 470253"/>
                  <a:gd name="connsiteX28" fmla="*/ 276137 w 276137"/>
                  <a:gd name="connsiteY28" fmla="*/ 27340 h 470253"/>
                  <a:gd name="connsiteX29" fmla="*/ 207786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7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4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4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4" y="169510"/>
                    </a:lnTo>
                    <a:cubicBezTo>
                      <a:pt x="60149" y="164042"/>
                      <a:pt x="62882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4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7" y="0"/>
                    </a:lnTo>
                    <a:lnTo>
                      <a:pt x="276137" y="27340"/>
                    </a:lnTo>
                    <a:lnTo>
                      <a:pt x="207786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4904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2" name="Полилиния: фигура 129">
                <a:extLst>
                  <a:ext uri="{FF2B5EF4-FFF2-40B4-BE49-F238E27FC236}">
                    <a16:creationId xmlns:a16="http://schemas.microsoft.com/office/drawing/2014/main" id="{381EF93F-7957-4990-A586-099AA58DD5EC}"/>
                  </a:ext>
                </a:extLst>
              </p:cNvPr>
              <p:cNvSpPr/>
              <p:nvPr/>
            </p:nvSpPr>
            <p:spPr>
              <a:xfrm>
                <a:off x="7357059" y="5028410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8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88648"/>
                      <a:pt x="106628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83" name="Группа 294">
            <a:extLst>
              <a:ext uri="{FF2B5EF4-FFF2-40B4-BE49-F238E27FC236}">
                <a16:creationId xmlns:a16="http://schemas.microsoft.com/office/drawing/2014/main" id="{B8190A79-5B86-4700-B172-50A447F8BCCD}"/>
              </a:ext>
            </a:extLst>
          </p:cNvPr>
          <p:cNvGrpSpPr>
            <a:grpSpLocks noChangeAspect="1"/>
          </p:cNvGrpSpPr>
          <p:nvPr/>
        </p:nvGrpSpPr>
        <p:grpSpPr>
          <a:xfrm>
            <a:off x="3408324" y="5502836"/>
            <a:ext cx="331897" cy="330965"/>
            <a:chOff x="5918834" y="4640676"/>
            <a:chExt cx="1201062" cy="1197688"/>
          </a:xfrm>
          <a:solidFill>
            <a:srgbClr val="FFFFFF"/>
          </a:solidFill>
        </p:grpSpPr>
        <p:sp>
          <p:nvSpPr>
            <p:cNvPr id="184" name="Полилиния: фигура 5">
              <a:extLst>
                <a:ext uri="{FF2B5EF4-FFF2-40B4-BE49-F238E27FC236}">
                  <a16:creationId xmlns:a16="http://schemas.microsoft.com/office/drawing/2014/main" id="{2EA08103-BE86-42F5-8E87-04B6ACCA9116}"/>
                </a:ext>
              </a:extLst>
            </p:cNvPr>
            <p:cNvSpPr/>
            <p:nvPr/>
          </p:nvSpPr>
          <p:spPr>
            <a:xfrm>
              <a:off x="6671185" y="4640676"/>
              <a:ext cx="448711" cy="377862"/>
            </a:xfrm>
            <a:custGeom>
              <a:avLst/>
              <a:gdLst>
                <a:gd name="connsiteX0" fmla="*/ 226043 w 448711"/>
                <a:gd name="connsiteY0" fmla="*/ 0 h 377862"/>
                <a:gd name="connsiteX1" fmla="*/ 448712 w 448711"/>
                <a:gd name="connsiteY1" fmla="*/ 374489 h 377862"/>
                <a:gd name="connsiteX2" fmla="*/ 0 w 448711"/>
                <a:gd name="connsiteY2" fmla="*/ 377862 h 377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8711" h="377862">
                  <a:moveTo>
                    <a:pt x="226043" y="0"/>
                  </a:moveTo>
                  <a:lnTo>
                    <a:pt x="448712" y="374489"/>
                  </a:lnTo>
                  <a:lnTo>
                    <a:pt x="0" y="377862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6">
              <a:extLst>
                <a:ext uri="{FF2B5EF4-FFF2-40B4-BE49-F238E27FC236}">
                  <a16:creationId xmlns:a16="http://schemas.microsoft.com/office/drawing/2014/main" id="{2422780B-C6E0-47BC-B79F-77AC6CDF5A9D}"/>
                </a:ext>
              </a:extLst>
            </p:cNvPr>
            <p:cNvSpPr/>
            <p:nvPr/>
          </p:nvSpPr>
          <p:spPr>
            <a:xfrm>
              <a:off x="5918834" y="4691282"/>
              <a:ext cx="330629" cy="320508"/>
            </a:xfrm>
            <a:custGeom>
              <a:avLst/>
              <a:gdLst>
                <a:gd name="connsiteX0" fmla="*/ 0 w 330629"/>
                <a:gd name="connsiteY0" fmla="*/ 0 h 320508"/>
                <a:gd name="connsiteX1" fmla="*/ 330630 w 330629"/>
                <a:gd name="connsiteY1" fmla="*/ 0 h 320508"/>
                <a:gd name="connsiteX2" fmla="*/ 330630 w 330629"/>
                <a:gd name="connsiteY2" fmla="*/ 320508 h 320508"/>
                <a:gd name="connsiteX3" fmla="*/ 0 w 330629"/>
                <a:gd name="connsiteY3" fmla="*/ 320508 h 320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629" h="320508">
                  <a:moveTo>
                    <a:pt x="0" y="0"/>
                  </a:moveTo>
                  <a:lnTo>
                    <a:pt x="330630" y="0"/>
                  </a:lnTo>
                  <a:lnTo>
                    <a:pt x="330630" y="320508"/>
                  </a:lnTo>
                  <a:lnTo>
                    <a:pt x="0" y="320508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6" name="Рисунок 3">
              <a:extLst>
                <a:ext uri="{FF2B5EF4-FFF2-40B4-BE49-F238E27FC236}">
                  <a16:creationId xmlns:a16="http://schemas.microsoft.com/office/drawing/2014/main" id="{7A5631A8-5533-4304-993D-5D89F75FD659}"/>
                </a:ext>
              </a:extLst>
            </p:cNvPr>
            <p:cNvGrpSpPr/>
            <p:nvPr/>
          </p:nvGrpSpPr>
          <p:grpSpPr>
            <a:xfrm>
              <a:off x="6080775" y="5042154"/>
              <a:ext cx="806331" cy="796210"/>
              <a:chOff x="6080775" y="5042154"/>
              <a:chExt cx="806331" cy="796210"/>
            </a:xfrm>
            <a:grpFill/>
          </p:grpSpPr>
          <p:sp>
            <p:nvSpPr>
              <p:cNvPr id="187" name="Полилиния: фигура 8">
                <a:extLst>
                  <a:ext uri="{FF2B5EF4-FFF2-40B4-BE49-F238E27FC236}">
                    <a16:creationId xmlns:a16="http://schemas.microsoft.com/office/drawing/2014/main" id="{586DFA7B-1B87-41DD-A656-6CA4BBE10547}"/>
                  </a:ext>
                </a:extLst>
              </p:cNvPr>
              <p:cNvSpPr/>
              <p:nvPr/>
            </p:nvSpPr>
            <p:spPr>
              <a:xfrm>
                <a:off x="6424900" y="5473997"/>
                <a:ext cx="118082" cy="364367"/>
              </a:xfrm>
              <a:custGeom>
                <a:avLst/>
                <a:gdLst>
                  <a:gd name="connsiteX0" fmla="*/ 118082 w 118082"/>
                  <a:gd name="connsiteY0" fmla="*/ 364367 h 364367"/>
                  <a:gd name="connsiteX1" fmla="*/ 0 w 118082"/>
                  <a:gd name="connsiteY1" fmla="*/ 364367 h 364367"/>
                  <a:gd name="connsiteX2" fmla="*/ 26990 w 118082"/>
                  <a:gd name="connsiteY2" fmla="*/ 0 h 364367"/>
                  <a:gd name="connsiteX3" fmla="*/ 91092 w 118082"/>
                  <a:gd name="connsiteY3" fmla="*/ 0 h 364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082" h="364367">
                    <a:moveTo>
                      <a:pt x="118082" y="364367"/>
                    </a:moveTo>
                    <a:lnTo>
                      <a:pt x="0" y="364367"/>
                    </a:lnTo>
                    <a:lnTo>
                      <a:pt x="26990" y="0"/>
                    </a:lnTo>
                    <a:lnTo>
                      <a:pt x="91092" y="0"/>
                    </a:ln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8" name="Полилиния: фигура 9">
                <a:extLst>
                  <a:ext uri="{FF2B5EF4-FFF2-40B4-BE49-F238E27FC236}">
                    <a16:creationId xmlns:a16="http://schemas.microsoft.com/office/drawing/2014/main" id="{3E6C2F53-8781-4B78-B8E5-61D1E896AE54}"/>
                  </a:ext>
                </a:extLst>
              </p:cNvPr>
              <p:cNvSpPr/>
              <p:nvPr/>
            </p:nvSpPr>
            <p:spPr>
              <a:xfrm>
                <a:off x="6300070" y="5042154"/>
                <a:ext cx="364367" cy="364367"/>
              </a:xfrm>
              <a:custGeom>
                <a:avLst/>
                <a:gdLst>
                  <a:gd name="connsiteX0" fmla="*/ 182184 w 364367"/>
                  <a:gd name="connsiteY0" fmla="*/ 364367 h 364367"/>
                  <a:gd name="connsiteX1" fmla="*/ 0 w 364367"/>
                  <a:gd name="connsiteY1" fmla="*/ 182184 h 364367"/>
                  <a:gd name="connsiteX2" fmla="*/ 182184 w 364367"/>
                  <a:gd name="connsiteY2" fmla="*/ 0 h 364367"/>
                  <a:gd name="connsiteX3" fmla="*/ 364368 w 364367"/>
                  <a:gd name="connsiteY3" fmla="*/ 182184 h 364367"/>
                  <a:gd name="connsiteX4" fmla="*/ 182184 w 364367"/>
                  <a:gd name="connsiteY4" fmla="*/ 364367 h 364367"/>
                  <a:gd name="connsiteX5" fmla="*/ 182184 w 364367"/>
                  <a:gd name="connsiteY5" fmla="*/ 33738 h 364367"/>
                  <a:gd name="connsiteX6" fmla="*/ 33738 w 364367"/>
                  <a:gd name="connsiteY6" fmla="*/ 182184 h 364367"/>
                  <a:gd name="connsiteX7" fmla="*/ 182184 w 364367"/>
                  <a:gd name="connsiteY7" fmla="*/ 330630 h 364367"/>
                  <a:gd name="connsiteX8" fmla="*/ 330630 w 364367"/>
                  <a:gd name="connsiteY8" fmla="*/ 182184 h 364367"/>
                  <a:gd name="connsiteX9" fmla="*/ 182184 w 364367"/>
                  <a:gd name="connsiteY9" fmla="*/ 33738 h 364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367" h="364367">
                    <a:moveTo>
                      <a:pt x="182184" y="364367"/>
                    </a:moveTo>
                    <a:cubicBezTo>
                      <a:pt x="80970" y="364367"/>
                      <a:pt x="0" y="283397"/>
                      <a:pt x="0" y="182184"/>
                    </a:cubicBezTo>
                    <a:cubicBezTo>
                      <a:pt x="0" y="80971"/>
                      <a:pt x="80970" y="0"/>
                      <a:pt x="182184" y="0"/>
                    </a:cubicBezTo>
                    <a:cubicBezTo>
                      <a:pt x="283397" y="0"/>
                      <a:pt x="364368" y="80971"/>
                      <a:pt x="364368" y="182184"/>
                    </a:cubicBezTo>
                    <a:cubicBezTo>
                      <a:pt x="364368" y="283397"/>
                      <a:pt x="283397" y="364367"/>
                      <a:pt x="182184" y="364367"/>
                    </a:cubicBezTo>
                    <a:close/>
                    <a:moveTo>
                      <a:pt x="182184" y="33738"/>
                    </a:moveTo>
                    <a:cubicBezTo>
                      <a:pt x="101213" y="33738"/>
                      <a:pt x="33738" y="101213"/>
                      <a:pt x="33738" y="182184"/>
                    </a:cubicBezTo>
                    <a:cubicBezTo>
                      <a:pt x="33738" y="263154"/>
                      <a:pt x="101213" y="330630"/>
                      <a:pt x="182184" y="330630"/>
                    </a:cubicBezTo>
                    <a:cubicBezTo>
                      <a:pt x="263154" y="330630"/>
                      <a:pt x="330630" y="263154"/>
                      <a:pt x="330630" y="182184"/>
                    </a:cubicBezTo>
                    <a:cubicBezTo>
                      <a:pt x="330630" y="101213"/>
                      <a:pt x="263154" y="33738"/>
                      <a:pt x="182184" y="33738"/>
                    </a:cubicBez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9" name="Полилиния: фигура 10">
                <a:extLst>
                  <a:ext uri="{FF2B5EF4-FFF2-40B4-BE49-F238E27FC236}">
                    <a16:creationId xmlns:a16="http://schemas.microsoft.com/office/drawing/2014/main" id="{158616FA-80D5-4EF7-87C0-5614C1AB77AF}"/>
                  </a:ext>
                </a:extLst>
              </p:cNvPr>
              <p:cNvSpPr/>
              <p:nvPr/>
            </p:nvSpPr>
            <p:spPr>
              <a:xfrm>
                <a:off x="6580093" y="5467250"/>
                <a:ext cx="307012" cy="367741"/>
              </a:xfrm>
              <a:custGeom>
                <a:avLst/>
                <a:gdLst>
                  <a:gd name="connsiteX0" fmla="*/ 307013 w 307012"/>
                  <a:gd name="connsiteY0" fmla="*/ 367741 h 367741"/>
                  <a:gd name="connsiteX1" fmla="*/ 273275 w 307012"/>
                  <a:gd name="connsiteY1" fmla="*/ 367741 h 367741"/>
                  <a:gd name="connsiteX2" fmla="*/ 273275 w 307012"/>
                  <a:gd name="connsiteY2" fmla="*/ 313761 h 367741"/>
                  <a:gd name="connsiteX3" fmla="*/ 273275 w 307012"/>
                  <a:gd name="connsiteY3" fmla="*/ 209174 h 367741"/>
                  <a:gd name="connsiteX4" fmla="*/ 226043 w 307012"/>
                  <a:gd name="connsiteY4" fmla="*/ 80971 h 367741"/>
                  <a:gd name="connsiteX5" fmla="*/ 60728 w 307012"/>
                  <a:gd name="connsiteY5" fmla="*/ 33738 h 367741"/>
                  <a:gd name="connsiteX6" fmla="*/ 0 w 307012"/>
                  <a:gd name="connsiteY6" fmla="*/ 33738 h 367741"/>
                  <a:gd name="connsiteX7" fmla="*/ 0 w 307012"/>
                  <a:gd name="connsiteY7" fmla="*/ 0 h 367741"/>
                  <a:gd name="connsiteX8" fmla="*/ 60728 w 307012"/>
                  <a:gd name="connsiteY8" fmla="*/ 0 h 367741"/>
                  <a:gd name="connsiteX9" fmla="*/ 249659 w 307012"/>
                  <a:gd name="connsiteY9" fmla="*/ 57354 h 367741"/>
                  <a:gd name="connsiteX10" fmla="*/ 307013 w 307012"/>
                  <a:gd name="connsiteY10" fmla="*/ 209174 h 367741"/>
                  <a:gd name="connsiteX11" fmla="*/ 307013 w 307012"/>
                  <a:gd name="connsiteY11" fmla="*/ 313761 h 367741"/>
                  <a:gd name="connsiteX12" fmla="*/ 307013 w 307012"/>
                  <a:gd name="connsiteY12" fmla="*/ 367741 h 36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7012" h="367741">
                    <a:moveTo>
                      <a:pt x="307013" y="367741"/>
                    </a:moveTo>
                    <a:lnTo>
                      <a:pt x="273275" y="367741"/>
                    </a:lnTo>
                    <a:lnTo>
                      <a:pt x="273275" y="313761"/>
                    </a:lnTo>
                    <a:cubicBezTo>
                      <a:pt x="273275" y="283397"/>
                      <a:pt x="273275" y="253033"/>
                      <a:pt x="273275" y="209174"/>
                    </a:cubicBezTo>
                    <a:cubicBezTo>
                      <a:pt x="273275" y="172062"/>
                      <a:pt x="259780" y="114708"/>
                      <a:pt x="226043" y="80971"/>
                    </a:cubicBezTo>
                    <a:cubicBezTo>
                      <a:pt x="202426" y="60728"/>
                      <a:pt x="155193" y="33738"/>
                      <a:pt x="60728" y="33738"/>
                    </a:cubicBezTo>
                    <a:cubicBezTo>
                      <a:pt x="40485" y="33738"/>
                      <a:pt x="20242" y="33738"/>
                      <a:pt x="0" y="33738"/>
                    </a:cubicBezTo>
                    <a:lnTo>
                      <a:pt x="0" y="0"/>
                    </a:lnTo>
                    <a:cubicBezTo>
                      <a:pt x="20242" y="0"/>
                      <a:pt x="40485" y="0"/>
                      <a:pt x="60728" y="0"/>
                    </a:cubicBezTo>
                    <a:cubicBezTo>
                      <a:pt x="148446" y="0"/>
                      <a:pt x="209174" y="20243"/>
                      <a:pt x="249659" y="57354"/>
                    </a:cubicBezTo>
                    <a:cubicBezTo>
                      <a:pt x="303640" y="111334"/>
                      <a:pt x="307013" y="192305"/>
                      <a:pt x="307013" y="209174"/>
                    </a:cubicBezTo>
                    <a:cubicBezTo>
                      <a:pt x="307013" y="253033"/>
                      <a:pt x="307013" y="283397"/>
                      <a:pt x="307013" y="313761"/>
                    </a:cubicBezTo>
                    <a:lnTo>
                      <a:pt x="307013" y="367741"/>
                    </a:ln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0" name="Полилиния: фигура 11">
                <a:extLst>
                  <a:ext uri="{FF2B5EF4-FFF2-40B4-BE49-F238E27FC236}">
                    <a16:creationId xmlns:a16="http://schemas.microsoft.com/office/drawing/2014/main" id="{3333A7BA-C352-430B-AC79-1EDBF339B022}"/>
                  </a:ext>
                </a:extLst>
              </p:cNvPr>
              <p:cNvSpPr/>
              <p:nvPr/>
            </p:nvSpPr>
            <p:spPr>
              <a:xfrm>
                <a:off x="6080775" y="5463876"/>
                <a:ext cx="317134" cy="367741"/>
              </a:xfrm>
              <a:custGeom>
                <a:avLst/>
                <a:gdLst>
                  <a:gd name="connsiteX0" fmla="*/ 33738 w 317134"/>
                  <a:gd name="connsiteY0" fmla="*/ 367741 h 367741"/>
                  <a:gd name="connsiteX1" fmla="*/ 0 w 317134"/>
                  <a:gd name="connsiteY1" fmla="*/ 367741 h 367741"/>
                  <a:gd name="connsiteX2" fmla="*/ 3374 w 317134"/>
                  <a:gd name="connsiteY2" fmla="*/ 185557 h 367741"/>
                  <a:gd name="connsiteX3" fmla="*/ 74223 w 317134"/>
                  <a:gd name="connsiteY3" fmla="*/ 47233 h 367741"/>
                  <a:gd name="connsiteX4" fmla="*/ 317134 w 317134"/>
                  <a:gd name="connsiteY4" fmla="*/ 0 h 367741"/>
                  <a:gd name="connsiteX5" fmla="*/ 317134 w 317134"/>
                  <a:gd name="connsiteY5" fmla="*/ 33738 h 367741"/>
                  <a:gd name="connsiteX6" fmla="*/ 97839 w 317134"/>
                  <a:gd name="connsiteY6" fmla="*/ 70849 h 367741"/>
                  <a:gd name="connsiteX7" fmla="*/ 40485 w 317134"/>
                  <a:gd name="connsiteY7" fmla="*/ 185557 h 367741"/>
                  <a:gd name="connsiteX8" fmla="*/ 33738 w 317134"/>
                  <a:gd name="connsiteY8" fmla="*/ 367741 h 36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134" h="367741">
                    <a:moveTo>
                      <a:pt x="33738" y="367741"/>
                    </a:moveTo>
                    <a:lnTo>
                      <a:pt x="0" y="367741"/>
                    </a:lnTo>
                    <a:lnTo>
                      <a:pt x="3374" y="185557"/>
                    </a:lnTo>
                    <a:cubicBezTo>
                      <a:pt x="6747" y="158567"/>
                      <a:pt x="16869" y="94466"/>
                      <a:pt x="74223" y="47233"/>
                    </a:cubicBezTo>
                    <a:cubicBezTo>
                      <a:pt x="128203" y="3374"/>
                      <a:pt x="209174" y="0"/>
                      <a:pt x="317134" y="0"/>
                    </a:cubicBezTo>
                    <a:lnTo>
                      <a:pt x="317134" y="33738"/>
                    </a:lnTo>
                    <a:cubicBezTo>
                      <a:pt x="199052" y="33738"/>
                      <a:pt x="134951" y="37112"/>
                      <a:pt x="97839" y="70849"/>
                    </a:cubicBezTo>
                    <a:cubicBezTo>
                      <a:pt x="50607" y="111335"/>
                      <a:pt x="40485" y="165315"/>
                      <a:pt x="40485" y="185557"/>
                    </a:cubicBezTo>
                    <a:lnTo>
                      <a:pt x="33738" y="367741"/>
                    </a:ln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1" name="Полилиния: фигура 12">
              <a:extLst>
                <a:ext uri="{FF2B5EF4-FFF2-40B4-BE49-F238E27FC236}">
                  <a16:creationId xmlns:a16="http://schemas.microsoft.com/office/drawing/2014/main" id="{F80CFBFB-39EC-4C5F-8D3F-A96ADD3C185B}"/>
                </a:ext>
              </a:extLst>
            </p:cNvPr>
            <p:cNvSpPr/>
            <p:nvPr/>
          </p:nvSpPr>
          <p:spPr>
            <a:xfrm>
              <a:off x="6033542" y="5156863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Полилиния: фигура 13">
              <a:extLst>
                <a:ext uri="{FF2B5EF4-FFF2-40B4-BE49-F238E27FC236}">
                  <a16:creationId xmlns:a16="http://schemas.microsoft.com/office/drawing/2014/main" id="{48DCDB20-AE50-47E4-9A33-832E717EED5C}"/>
                </a:ext>
              </a:extLst>
            </p:cNvPr>
            <p:cNvSpPr/>
            <p:nvPr/>
          </p:nvSpPr>
          <p:spPr>
            <a:xfrm>
              <a:off x="6910723" y="5156863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3" name="Полилиния: фигура 14">
              <a:extLst>
                <a:ext uri="{FF2B5EF4-FFF2-40B4-BE49-F238E27FC236}">
                  <a16:creationId xmlns:a16="http://schemas.microsoft.com/office/drawing/2014/main" id="{D9E95043-10E9-416F-B257-5259D69C8640}"/>
                </a:ext>
              </a:extLst>
            </p:cNvPr>
            <p:cNvSpPr/>
            <p:nvPr/>
          </p:nvSpPr>
          <p:spPr>
            <a:xfrm>
              <a:off x="5986309" y="4758758"/>
              <a:ext cx="192304" cy="185557"/>
            </a:xfrm>
            <a:custGeom>
              <a:avLst/>
              <a:gdLst>
                <a:gd name="connsiteX0" fmla="*/ 80971 w 192304"/>
                <a:gd name="connsiteY0" fmla="*/ 185557 h 185557"/>
                <a:gd name="connsiteX1" fmla="*/ 0 w 192304"/>
                <a:gd name="connsiteY1" fmla="*/ 97839 h 185557"/>
                <a:gd name="connsiteX2" fmla="*/ 23616 w 192304"/>
                <a:gd name="connsiteY2" fmla="*/ 74223 h 185557"/>
                <a:gd name="connsiteX3" fmla="*/ 74223 w 192304"/>
                <a:gd name="connsiteY3" fmla="*/ 131577 h 185557"/>
                <a:gd name="connsiteX4" fmla="*/ 165315 w 192304"/>
                <a:gd name="connsiteY4" fmla="*/ 0 h 185557"/>
                <a:gd name="connsiteX5" fmla="*/ 192305 w 192304"/>
                <a:gd name="connsiteY5" fmla="*/ 16869 h 18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304" h="185557">
                  <a:moveTo>
                    <a:pt x="80971" y="185557"/>
                  </a:moveTo>
                  <a:lnTo>
                    <a:pt x="0" y="97839"/>
                  </a:lnTo>
                  <a:lnTo>
                    <a:pt x="23616" y="74223"/>
                  </a:lnTo>
                  <a:lnTo>
                    <a:pt x="74223" y="131577"/>
                  </a:lnTo>
                  <a:lnTo>
                    <a:pt x="165315" y="0"/>
                  </a:lnTo>
                  <a:lnTo>
                    <a:pt x="192305" y="16869"/>
                  </a:lnTo>
                  <a:close/>
                </a:path>
              </a:pathLst>
            </a:custGeom>
            <a:solidFill>
              <a:srgbClr val="000000"/>
            </a:solidFill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94" name="Рисунок 3">
              <a:extLst>
                <a:ext uri="{FF2B5EF4-FFF2-40B4-BE49-F238E27FC236}">
                  <a16:creationId xmlns:a16="http://schemas.microsoft.com/office/drawing/2014/main" id="{8F078C6A-9458-4742-A50B-74945728ABA8}"/>
                </a:ext>
              </a:extLst>
            </p:cNvPr>
            <p:cNvGrpSpPr/>
            <p:nvPr/>
          </p:nvGrpSpPr>
          <p:grpSpPr>
            <a:xfrm>
              <a:off x="6811430" y="4809496"/>
              <a:ext cx="160080" cy="157449"/>
              <a:chOff x="6811430" y="4809496"/>
              <a:chExt cx="160080" cy="157449"/>
            </a:xfrm>
            <a:grpFill/>
          </p:grpSpPr>
          <p:sp>
            <p:nvSpPr>
              <p:cNvPr id="195" name="Полилиния: фигура 16">
                <a:extLst>
                  <a:ext uri="{FF2B5EF4-FFF2-40B4-BE49-F238E27FC236}">
                    <a16:creationId xmlns:a16="http://schemas.microsoft.com/office/drawing/2014/main" id="{60BD0273-A34C-4431-9E87-323DC52E7C48}"/>
                  </a:ext>
                </a:extLst>
              </p:cNvPr>
              <p:cNvSpPr/>
              <p:nvPr/>
            </p:nvSpPr>
            <p:spPr>
              <a:xfrm rot="-2700000">
                <a:off x="6878303" y="4795351"/>
                <a:ext cx="33737" cy="182181"/>
              </a:xfrm>
              <a:custGeom>
                <a:avLst/>
                <a:gdLst>
                  <a:gd name="connsiteX0" fmla="*/ 0 w 33737"/>
                  <a:gd name="connsiteY0" fmla="*/ 0 h 182181"/>
                  <a:gd name="connsiteX1" fmla="*/ 33738 w 33737"/>
                  <a:gd name="connsiteY1" fmla="*/ 0 h 182181"/>
                  <a:gd name="connsiteX2" fmla="*/ 33738 w 33737"/>
                  <a:gd name="connsiteY2" fmla="*/ 182182 h 182181"/>
                  <a:gd name="connsiteX3" fmla="*/ 0 w 33737"/>
                  <a:gd name="connsiteY3" fmla="*/ 182182 h 182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737" h="182181">
                    <a:moveTo>
                      <a:pt x="0" y="0"/>
                    </a:moveTo>
                    <a:lnTo>
                      <a:pt x="33738" y="0"/>
                    </a:lnTo>
                    <a:lnTo>
                      <a:pt x="33738" y="182182"/>
                    </a:lnTo>
                    <a:lnTo>
                      <a:pt x="0" y="182182"/>
                    </a:lnTo>
                    <a:close/>
                  </a:path>
                </a:pathLst>
              </a:custGeom>
              <a:solidFill>
                <a:srgbClr val="000000"/>
              </a:solidFill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6" name="Полилиния: фигура 17">
                <a:extLst>
                  <a:ext uri="{FF2B5EF4-FFF2-40B4-BE49-F238E27FC236}">
                    <a16:creationId xmlns:a16="http://schemas.microsoft.com/office/drawing/2014/main" id="{AF8D7BE1-B9B7-42F1-BB74-1509D1AFC851}"/>
                  </a:ext>
                </a:extLst>
              </p:cNvPr>
              <p:cNvSpPr/>
              <p:nvPr/>
            </p:nvSpPr>
            <p:spPr>
              <a:xfrm rot="-2700000">
                <a:off x="6795689" y="4871352"/>
                <a:ext cx="188929" cy="33737"/>
              </a:xfrm>
              <a:custGeom>
                <a:avLst/>
                <a:gdLst>
                  <a:gd name="connsiteX0" fmla="*/ 0 w 188929"/>
                  <a:gd name="connsiteY0" fmla="*/ 0 h 33737"/>
                  <a:gd name="connsiteX1" fmla="*/ 188930 w 188929"/>
                  <a:gd name="connsiteY1" fmla="*/ 0 h 33737"/>
                  <a:gd name="connsiteX2" fmla="*/ 188930 w 188929"/>
                  <a:gd name="connsiteY2" fmla="*/ 33737 h 33737"/>
                  <a:gd name="connsiteX3" fmla="*/ 0 w 188929"/>
                  <a:gd name="connsiteY3" fmla="*/ 33737 h 33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929" h="33737">
                    <a:moveTo>
                      <a:pt x="0" y="0"/>
                    </a:moveTo>
                    <a:lnTo>
                      <a:pt x="188930" y="0"/>
                    </a:lnTo>
                    <a:lnTo>
                      <a:pt x="188930" y="33737"/>
                    </a:lnTo>
                    <a:lnTo>
                      <a:pt x="0" y="33737"/>
                    </a:lnTo>
                    <a:close/>
                  </a:path>
                </a:pathLst>
              </a:custGeom>
              <a:solidFill>
                <a:srgbClr val="FFFFFF"/>
              </a:solidFill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7" name="Полилиния: фигура 18">
              <a:extLst>
                <a:ext uri="{FF2B5EF4-FFF2-40B4-BE49-F238E27FC236}">
                  <a16:creationId xmlns:a16="http://schemas.microsoft.com/office/drawing/2014/main" id="{59A5F7E6-088C-46D2-9FE9-B3635B33A9B6}"/>
                </a:ext>
              </a:extLst>
            </p:cNvPr>
            <p:cNvSpPr/>
            <p:nvPr/>
          </p:nvSpPr>
          <p:spPr>
            <a:xfrm>
              <a:off x="6033542" y="5244581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19">
              <a:extLst>
                <a:ext uri="{FF2B5EF4-FFF2-40B4-BE49-F238E27FC236}">
                  <a16:creationId xmlns:a16="http://schemas.microsoft.com/office/drawing/2014/main" id="{882EFAA9-EAA8-49F7-9A51-FA3FF6C59E41}"/>
                </a:ext>
              </a:extLst>
            </p:cNvPr>
            <p:cNvSpPr/>
            <p:nvPr/>
          </p:nvSpPr>
          <p:spPr>
            <a:xfrm>
              <a:off x="6910723" y="5241207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20">
              <a:extLst>
                <a:ext uri="{FF2B5EF4-FFF2-40B4-BE49-F238E27FC236}">
                  <a16:creationId xmlns:a16="http://schemas.microsoft.com/office/drawing/2014/main" id="{F49AE692-8D5B-40CC-9C61-ADFF87CEE0CD}"/>
                </a:ext>
              </a:extLst>
            </p:cNvPr>
            <p:cNvSpPr/>
            <p:nvPr/>
          </p:nvSpPr>
          <p:spPr>
            <a:xfrm>
              <a:off x="6033542" y="5328925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21">
              <a:extLst>
                <a:ext uri="{FF2B5EF4-FFF2-40B4-BE49-F238E27FC236}">
                  <a16:creationId xmlns:a16="http://schemas.microsoft.com/office/drawing/2014/main" id="{0726D08B-3C4F-4575-865F-70DBD087CCAE}"/>
                </a:ext>
              </a:extLst>
            </p:cNvPr>
            <p:cNvSpPr/>
            <p:nvPr/>
          </p:nvSpPr>
          <p:spPr>
            <a:xfrm>
              <a:off x="6910723" y="5328925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23">
              <a:extLst>
                <a:ext uri="{FF2B5EF4-FFF2-40B4-BE49-F238E27FC236}">
                  <a16:creationId xmlns:a16="http://schemas.microsoft.com/office/drawing/2014/main" id="{617B2700-846F-4141-BC54-63C796BF8B22}"/>
                </a:ext>
              </a:extLst>
            </p:cNvPr>
            <p:cNvSpPr/>
            <p:nvPr/>
          </p:nvSpPr>
          <p:spPr>
            <a:xfrm>
              <a:off x="6033542" y="5416643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25">
              <a:extLst>
                <a:ext uri="{FF2B5EF4-FFF2-40B4-BE49-F238E27FC236}">
                  <a16:creationId xmlns:a16="http://schemas.microsoft.com/office/drawing/2014/main" id="{C69ECCDD-34D0-49F2-8628-1160E0D2B903}"/>
                </a:ext>
              </a:extLst>
            </p:cNvPr>
            <p:cNvSpPr/>
            <p:nvPr/>
          </p:nvSpPr>
          <p:spPr>
            <a:xfrm>
              <a:off x="6910723" y="5413269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27">
              <a:extLst>
                <a:ext uri="{FF2B5EF4-FFF2-40B4-BE49-F238E27FC236}">
                  <a16:creationId xmlns:a16="http://schemas.microsoft.com/office/drawing/2014/main" id="{8AC0988E-B3BD-4E5A-9B84-E661F281A3B7}"/>
                </a:ext>
              </a:extLst>
            </p:cNvPr>
            <p:cNvSpPr/>
            <p:nvPr/>
          </p:nvSpPr>
          <p:spPr>
            <a:xfrm>
              <a:off x="6033542" y="5072518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29">
              <a:extLst>
                <a:ext uri="{FF2B5EF4-FFF2-40B4-BE49-F238E27FC236}">
                  <a16:creationId xmlns:a16="http://schemas.microsoft.com/office/drawing/2014/main" id="{6832E51B-0ECC-415C-84FC-A4A7D4C792B0}"/>
                </a:ext>
              </a:extLst>
            </p:cNvPr>
            <p:cNvSpPr/>
            <p:nvPr/>
          </p:nvSpPr>
          <p:spPr>
            <a:xfrm>
              <a:off x="6910723" y="5069145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5" name="Группа 399">
            <a:extLst>
              <a:ext uri="{FF2B5EF4-FFF2-40B4-BE49-F238E27FC236}">
                <a16:creationId xmlns:a16="http://schemas.microsoft.com/office/drawing/2014/main" id="{E68ABE2A-E05F-4762-81ED-ED0C6D3197C0}"/>
              </a:ext>
            </a:extLst>
          </p:cNvPr>
          <p:cNvGrpSpPr>
            <a:grpSpLocks noChangeAspect="1"/>
          </p:cNvGrpSpPr>
          <p:nvPr/>
        </p:nvGrpSpPr>
        <p:grpSpPr>
          <a:xfrm>
            <a:off x="3442084" y="3383791"/>
            <a:ext cx="266222" cy="280083"/>
            <a:chOff x="10228263" y="4920715"/>
            <a:chExt cx="884238" cy="930275"/>
          </a:xfrm>
          <a:solidFill>
            <a:srgbClr val="FFFFFF"/>
          </a:solidFill>
        </p:grpSpPr>
        <p:sp>
          <p:nvSpPr>
            <p:cNvPr id="206" name="Freeform 6">
              <a:extLst>
                <a:ext uri="{FF2B5EF4-FFF2-40B4-BE49-F238E27FC236}">
                  <a16:creationId xmlns:a16="http://schemas.microsoft.com/office/drawing/2014/main" id="{A90BC130-DA12-4D31-AF30-1E2E306A5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8951" y="5103278"/>
              <a:ext cx="93663" cy="412750"/>
            </a:xfrm>
            <a:custGeom>
              <a:avLst/>
              <a:gdLst>
                <a:gd name="T0" fmla="*/ 59 w 59"/>
                <a:gd name="T1" fmla="*/ 0 h 260"/>
                <a:gd name="T2" fmla="*/ 0 w 59"/>
                <a:gd name="T3" fmla="*/ 0 h 260"/>
                <a:gd name="T4" fmla="*/ 13 w 59"/>
                <a:gd name="T5" fmla="*/ 260 h 260"/>
                <a:gd name="T6" fmla="*/ 45 w 59"/>
                <a:gd name="T7" fmla="*/ 260 h 260"/>
                <a:gd name="T8" fmla="*/ 59 w 59"/>
                <a:gd name="T9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60">
                  <a:moveTo>
                    <a:pt x="59" y="0"/>
                  </a:moveTo>
                  <a:lnTo>
                    <a:pt x="0" y="0"/>
                  </a:lnTo>
                  <a:lnTo>
                    <a:pt x="13" y="260"/>
                  </a:lnTo>
                  <a:lnTo>
                    <a:pt x="45" y="260"/>
                  </a:lnTo>
                  <a:lnTo>
                    <a:pt x="5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7" name="Freeform 39">
              <a:extLst>
                <a:ext uri="{FF2B5EF4-FFF2-40B4-BE49-F238E27FC236}">
                  <a16:creationId xmlns:a16="http://schemas.microsoft.com/office/drawing/2014/main" id="{11A819FD-8FC0-471F-A3A9-799077753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8263" y="4920715"/>
              <a:ext cx="884238" cy="930275"/>
            </a:xfrm>
            <a:custGeom>
              <a:avLst/>
              <a:gdLst>
                <a:gd name="T0" fmla="*/ 64 w 122"/>
                <a:gd name="T1" fmla="*/ 128 h 128"/>
                <a:gd name="T2" fmla="*/ 59 w 122"/>
                <a:gd name="T3" fmla="*/ 128 h 128"/>
                <a:gd name="T4" fmla="*/ 16 w 122"/>
                <a:gd name="T5" fmla="*/ 106 h 128"/>
                <a:gd name="T6" fmla="*/ 1 w 122"/>
                <a:gd name="T7" fmla="*/ 60 h 128"/>
                <a:gd name="T8" fmla="*/ 69 w 122"/>
                <a:gd name="T9" fmla="*/ 3 h 128"/>
                <a:gd name="T10" fmla="*/ 122 w 122"/>
                <a:gd name="T11" fmla="*/ 43 h 128"/>
                <a:gd name="T12" fmla="*/ 118 w 122"/>
                <a:gd name="T13" fmla="*/ 44 h 128"/>
                <a:gd name="T14" fmla="*/ 69 w 122"/>
                <a:gd name="T15" fmla="*/ 7 h 128"/>
                <a:gd name="T16" fmla="*/ 5 w 122"/>
                <a:gd name="T17" fmla="*/ 61 h 128"/>
                <a:gd name="T18" fmla="*/ 19 w 122"/>
                <a:gd name="T19" fmla="*/ 103 h 128"/>
                <a:gd name="T20" fmla="*/ 59 w 122"/>
                <a:gd name="T21" fmla="*/ 124 h 128"/>
                <a:gd name="T22" fmla="*/ 119 w 122"/>
                <a:gd name="T23" fmla="*/ 86 h 128"/>
                <a:gd name="T24" fmla="*/ 122 w 122"/>
                <a:gd name="T25" fmla="*/ 87 h 128"/>
                <a:gd name="T26" fmla="*/ 64 w 122"/>
                <a:gd name="T2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2" h="128">
                  <a:moveTo>
                    <a:pt x="64" y="128"/>
                  </a:moveTo>
                  <a:cubicBezTo>
                    <a:pt x="62" y="128"/>
                    <a:pt x="60" y="128"/>
                    <a:pt x="59" y="128"/>
                  </a:cubicBezTo>
                  <a:cubicBezTo>
                    <a:pt x="42" y="127"/>
                    <a:pt x="27" y="119"/>
                    <a:pt x="16" y="106"/>
                  </a:cubicBezTo>
                  <a:cubicBezTo>
                    <a:pt x="5" y="93"/>
                    <a:pt x="0" y="77"/>
                    <a:pt x="1" y="60"/>
                  </a:cubicBezTo>
                  <a:cubicBezTo>
                    <a:pt x="4" y="26"/>
                    <a:pt x="35" y="0"/>
                    <a:pt x="69" y="3"/>
                  </a:cubicBezTo>
                  <a:cubicBezTo>
                    <a:pt x="93" y="5"/>
                    <a:pt x="113" y="20"/>
                    <a:pt x="122" y="43"/>
                  </a:cubicBezTo>
                  <a:cubicBezTo>
                    <a:pt x="118" y="44"/>
                    <a:pt x="118" y="44"/>
                    <a:pt x="118" y="44"/>
                  </a:cubicBezTo>
                  <a:cubicBezTo>
                    <a:pt x="110" y="23"/>
                    <a:pt x="91" y="9"/>
                    <a:pt x="69" y="7"/>
                  </a:cubicBezTo>
                  <a:cubicBezTo>
                    <a:pt x="36" y="5"/>
                    <a:pt x="8" y="29"/>
                    <a:pt x="5" y="61"/>
                  </a:cubicBezTo>
                  <a:cubicBezTo>
                    <a:pt x="4" y="76"/>
                    <a:pt x="9" y="92"/>
                    <a:pt x="19" y="103"/>
                  </a:cubicBezTo>
                  <a:cubicBezTo>
                    <a:pt x="29" y="115"/>
                    <a:pt x="43" y="123"/>
                    <a:pt x="59" y="124"/>
                  </a:cubicBezTo>
                  <a:cubicBezTo>
                    <a:pt x="85" y="126"/>
                    <a:pt x="110" y="110"/>
                    <a:pt x="119" y="86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13" y="112"/>
                    <a:pt x="90" y="128"/>
                    <a:pt x="64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8" name="Rectangle 40">
              <a:extLst>
                <a:ext uri="{FF2B5EF4-FFF2-40B4-BE49-F238E27FC236}">
                  <a16:creationId xmlns:a16="http://schemas.microsoft.com/office/drawing/2014/main" id="{2EFE6F55-E4BF-4068-82DD-160A52E24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1013" y="5596990"/>
              <a:ext cx="109538" cy="1079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9" name="Группа 301">
            <a:extLst>
              <a:ext uri="{FF2B5EF4-FFF2-40B4-BE49-F238E27FC236}">
                <a16:creationId xmlns:a16="http://schemas.microsoft.com/office/drawing/2014/main" id="{6DE97C91-63D2-4EE6-A30D-72CE2A4FCEC9}"/>
              </a:ext>
            </a:extLst>
          </p:cNvPr>
          <p:cNvGrpSpPr>
            <a:grpSpLocks noChangeAspect="1"/>
          </p:cNvGrpSpPr>
          <p:nvPr/>
        </p:nvGrpSpPr>
        <p:grpSpPr>
          <a:xfrm>
            <a:off x="852035" y="3426067"/>
            <a:ext cx="268556" cy="267547"/>
            <a:chOff x="2008667" y="1037660"/>
            <a:chExt cx="855993" cy="852776"/>
          </a:xfrm>
          <a:solidFill>
            <a:srgbClr val="FFFFFF"/>
          </a:solidFill>
        </p:grpSpPr>
        <p:sp>
          <p:nvSpPr>
            <p:cNvPr id="210" name="Полилиния: фигура 7">
              <a:extLst>
                <a:ext uri="{FF2B5EF4-FFF2-40B4-BE49-F238E27FC236}">
                  <a16:creationId xmlns:a16="http://schemas.microsoft.com/office/drawing/2014/main" id="{C7B40FEA-DA1C-45F4-A3A7-8C59FE5ECAAB}"/>
                </a:ext>
              </a:extLst>
            </p:cNvPr>
            <p:cNvSpPr/>
            <p:nvPr/>
          </p:nvSpPr>
          <p:spPr>
            <a:xfrm>
              <a:off x="2008667" y="1037660"/>
              <a:ext cx="460247" cy="582551"/>
            </a:xfrm>
            <a:custGeom>
              <a:avLst/>
              <a:gdLst>
                <a:gd name="connsiteX0" fmla="*/ 238170 w 460247"/>
                <a:gd name="connsiteY0" fmla="*/ 582552 h 582551"/>
                <a:gd name="connsiteX1" fmla="*/ 183455 w 460247"/>
                <a:gd name="connsiteY1" fmla="*/ 563241 h 582551"/>
                <a:gd name="connsiteX2" fmla="*/ 160926 w 460247"/>
                <a:gd name="connsiteY2" fmla="*/ 460248 h 582551"/>
                <a:gd name="connsiteX3" fmla="*/ 148052 w 460247"/>
                <a:gd name="connsiteY3" fmla="*/ 457030 h 582551"/>
                <a:gd name="connsiteX4" fmla="*/ 57933 w 460247"/>
                <a:gd name="connsiteY4" fmla="*/ 457030 h 582551"/>
                <a:gd name="connsiteX5" fmla="*/ 0 w 460247"/>
                <a:gd name="connsiteY5" fmla="*/ 457030 h 582551"/>
                <a:gd name="connsiteX6" fmla="*/ 0 w 460247"/>
                <a:gd name="connsiteY6" fmla="*/ 0 h 582551"/>
                <a:gd name="connsiteX7" fmla="*/ 457029 w 460247"/>
                <a:gd name="connsiteY7" fmla="*/ 0 h 582551"/>
                <a:gd name="connsiteX8" fmla="*/ 457029 w 460247"/>
                <a:gd name="connsiteY8" fmla="*/ 57933 h 582551"/>
                <a:gd name="connsiteX9" fmla="*/ 424844 w 460247"/>
                <a:gd name="connsiteY9" fmla="*/ 57933 h 582551"/>
                <a:gd name="connsiteX10" fmla="*/ 424844 w 460247"/>
                <a:gd name="connsiteY10" fmla="*/ 32185 h 582551"/>
                <a:gd name="connsiteX11" fmla="*/ 32185 w 460247"/>
                <a:gd name="connsiteY11" fmla="*/ 32185 h 582551"/>
                <a:gd name="connsiteX12" fmla="*/ 32185 w 460247"/>
                <a:gd name="connsiteY12" fmla="*/ 424844 h 582551"/>
                <a:gd name="connsiteX13" fmla="*/ 57933 w 460247"/>
                <a:gd name="connsiteY13" fmla="*/ 424844 h 582551"/>
                <a:gd name="connsiteX14" fmla="*/ 151270 w 460247"/>
                <a:gd name="connsiteY14" fmla="*/ 424844 h 582551"/>
                <a:gd name="connsiteX15" fmla="*/ 177018 w 460247"/>
                <a:gd name="connsiteY15" fmla="*/ 431282 h 582551"/>
                <a:gd name="connsiteX16" fmla="*/ 196330 w 460247"/>
                <a:gd name="connsiteY16" fmla="*/ 450593 h 582551"/>
                <a:gd name="connsiteX17" fmla="*/ 193111 w 460247"/>
                <a:gd name="connsiteY17" fmla="*/ 479559 h 582551"/>
                <a:gd name="connsiteX18" fmla="*/ 209204 w 460247"/>
                <a:gd name="connsiteY18" fmla="*/ 543930 h 582551"/>
                <a:gd name="connsiteX19" fmla="*/ 276792 w 460247"/>
                <a:gd name="connsiteY19" fmla="*/ 547148 h 582551"/>
                <a:gd name="connsiteX20" fmla="*/ 292885 w 460247"/>
                <a:gd name="connsiteY20" fmla="*/ 485996 h 582551"/>
                <a:gd name="connsiteX21" fmla="*/ 292885 w 460247"/>
                <a:gd name="connsiteY21" fmla="*/ 447374 h 582551"/>
                <a:gd name="connsiteX22" fmla="*/ 328289 w 460247"/>
                <a:gd name="connsiteY22" fmla="*/ 431282 h 582551"/>
                <a:gd name="connsiteX23" fmla="*/ 402315 w 460247"/>
                <a:gd name="connsiteY23" fmla="*/ 431282 h 582551"/>
                <a:gd name="connsiteX24" fmla="*/ 428063 w 460247"/>
                <a:gd name="connsiteY24" fmla="*/ 431282 h 582551"/>
                <a:gd name="connsiteX25" fmla="*/ 428063 w 460247"/>
                <a:gd name="connsiteY25" fmla="*/ 366911 h 582551"/>
                <a:gd name="connsiteX26" fmla="*/ 460248 w 460247"/>
                <a:gd name="connsiteY26" fmla="*/ 366911 h 582551"/>
                <a:gd name="connsiteX27" fmla="*/ 460248 w 460247"/>
                <a:gd name="connsiteY27" fmla="*/ 463467 h 582551"/>
                <a:gd name="connsiteX28" fmla="*/ 402315 w 460247"/>
                <a:gd name="connsiteY28" fmla="*/ 463467 h 582551"/>
                <a:gd name="connsiteX29" fmla="*/ 328289 w 460247"/>
                <a:gd name="connsiteY29" fmla="*/ 463467 h 582551"/>
                <a:gd name="connsiteX30" fmla="*/ 318633 w 460247"/>
                <a:gd name="connsiteY30" fmla="*/ 466685 h 582551"/>
                <a:gd name="connsiteX31" fmla="*/ 318633 w 460247"/>
                <a:gd name="connsiteY31" fmla="*/ 476341 h 582551"/>
                <a:gd name="connsiteX32" fmla="*/ 292885 w 460247"/>
                <a:gd name="connsiteY32" fmla="*/ 579333 h 582551"/>
                <a:gd name="connsiteX33" fmla="*/ 238170 w 460247"/>
                <a:gd name="connsiteY33" fmla="*/ 582552 h 582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60247" h="582551">
                  <a:moveTo>
                    <a:pt x="238170" y="582552"/>
                  </a:moveTo>
                  <a:cubicBezTo>
                    <a:pt x="218859" y="582552"/>
                    <a:pt x="199548" y="576115"/>
                    <a:pt x="183455" y="563241"/>
                  </a:cubicBezTo>
                  <a:cubicBezTo>
                    <a:pt x="151270" y="537493"/>
                    <a:pt x="141615" y="492433"/>
                    <a:pt x="160926" y="460248"/>
                  </a:cubicBezTo>
                  <a:cubicBezTo>
                    <a:pt x="157707" y="457030"/>
                    <a:pt x="154489" y="457030"/>
                    <a:pt x="148052" y="457030"/>
                  </a:cubicBezTo>
                  <a:cubicBezTo>
                    <a:pt x="119085" y="457030"/>
                    <a:pt x="86900" y="457030"/>
                    <a:pt x="57933" y="457030"/>
                  </a:cubicBezTo>
                  <a:lnTo>
                    <a:pt x="0" y="457030"/>
                  </a:lnTo>
                  <a:lnTo>
                    <a:pt x="0" y="0"/>
                  </a:lnTo>
                  <a:lnTo>
                    <a:pt x="457029" y="0"/>
                  </a:lnTo>
                  <a:lnTo>
                    <a:pt x="457029" y="57933"/>
                  </a:lnTo>
                  <a:lnTo>
                    <a:pt x="424844" y="57933"/>
                  </a:lnTo>
                  <a:lnTo>
                    <a:pt x="424844" y="32185"/>
                  </a:lnTo>
                  <a:lnTo>
                    <a:pt x="32185" y="32185"/>
                  </a:lnTo>
                  <a:lnTo>
                    <a:pt x="32185" y="424844"/>
                  </a:lnTo>
                  <a:lnTo>
                    <a:pt x="57933" y="424844"/>
                  </a:lnTo>
                  <a:cubicBezTo>
                    <a:pt x="90118" y="424844"/>
                    <a:pt x="119085" y="424844"/>
                    <a:pt x="151270" y="424844"/>
                  </a:cubicBezTo>
                  <a:cubicBezTo>
                    <a:pt x="157707" y="424844"/>
                    <a:pt x="167363" y="424844"/>
                    <a:pt x="177018" y="431282"/>
                  </a:cubicBezTo>
                  <a:cubicBezTo>
                    <a:pt x="186674" y="434500"/>
                    <a:pt x="193111" y="440937"/>
                    <a:pt x="196330" y="450593"/>
                  </a:cubicBezTo>
                  <a:cubicBezTo>
                    <a:pt x="199548" y="460248"/>
                    <a:pt x="199548" y="469904"/>
                    <a:pt x="193111" y="479559"/>
                  </a:cubicBezTo>
                  <a:cubicBezTo>
                    <a:pt x="183455" y="502089"/>
                    <a:pt x="189893" y="527837"/>
                    <a:pt x="209204" y="543930"/>
                  </a:cubicBezTo>
                  <a:cubicBezTo>
                    <a:pt x="228515" y="560022"/>
                    <a:pt x="257481" y="560022"/>
                    <a:pt x="276792" y="547148"/>
                  </a:cubicBezTo>
                  <a:cubicBezTo>
                    <a:pt x="296104" y="531056"/>
                    <a:pt x="302541" y="505307"/>
                    <a:pt x="292885" y="485996"/>
                  </a:cubicBezTo>
                  <a:cubicBezTo>
                    <a:pt x="286448" y="473122"/>
                    <a:pt x="286448" y="457030"/>
                    <a:pt x="292885" y="447374"/>
                  </a:cubicBezTo>
                  <a:cubicBezTo>
                    <a:pt x="296104" y="440937"/>
                    <a:pt x="305759" y="431282"/>
                    <a:pt x="328289" y="431282"/>
                  </a:cubicBezTo>
                  <a:cubicBezTo>
                    <a:pt x="354037" y="431282"/>
                    <a:pt x="376566" y="431282"/>
                    <a:pt x="402315" y="431282"/>
                  </a:cubicBezTo>
                  <a:lnTo>
                    <a:pt x="428063" y="431282"/>
                  </a:lnTo>
                  <a:lnTo>
                    <a:pt x="428063" y="366911"/>
                  </a:lnTo>
                  <a:lnTo>
                    <a:pt x="460248" y="366911"/>
                  </a:lnTo>
                  <a:lnTo>
                    <a:pt x="460248" y="463467"/>
                  </a:lnTo>
                  <a:lnTo>
                    <a:pt x="402315" y="463467"/>
                  </a:lnTo>
                  <a:cubicBezTo>
                    <a:pt x="376566" y="463467"/>
                    <a:pt x="354037" y="463467"/>
                    <a:pt x="328289" y="463467"/>
                  </a:cubicBezTo>
                  <a:cubicBezTo>
                    <a:pt x="321852" y="463467"/>
                    <a:pt x="318633" y="466685"/>
                    <a:pt x="318633" y="466685"/>
                  </a:cubicBezTo>
                  <a:cubicBezTo>
                    <a:pt x="318633" y="466685"/>
                    <a:pt x="318633" y="469904"/>
                    <a:pt x="318633" y="476341"/>
                  </a:cubicBezTo>
                  <a:cubicBezTo>
                    <a:pt x="334726" y="511745"/>
                    <a:pt x="325070" y="553585"/>
                    <a:pt x="292885" y="579333"/>
                  </a:cubicBezTo>
                  <a:cubicBezTo>
                    <a:pt x="276792" y="579333"/>
                    <a:pt x="257481" y="582552"/>
                    <a:pt x="238170" y="582552"/>
                  </a:cubicBez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9">
              <a:extLst>
                <a:ext uri="{FF2B5EF4-FFF2-40B4-BE49-F238E27FC236}">
                  <a16:creationId xmlns:a16="http://schemas.microsoft.com/office/drawing/2014/main" id="{269E4569-7F42-4DAF-8E60-A14452541517}"/>
                </a:ext>
              </a:extLst>
            </p:cNvPr>
            <p:cNvSpPr/>
            <p:nvPr/>
          </p:nvSpPr>
          <p:spPr>
            <a:xfrm>
              <a:off x="2311076" y="1037660"/>
              <a:ext cx="553584" cy="457029"/>
            </a:xfrm>
            <a:custGeom>
              <a:avLst/>
              <a:gdLst>
                <a:gd name="connsiteX0" fmla="*/ 428063 w 553584"/>
                <a:gd name="connsiteY0" fmla="*/ 453811 h 457029"/>
                <a:gd name="connsiteX1" fmla="*/ 389441 w 553584"/>
                <a:gd name="connsiteY1" fmla="*/ 431282 h 457029"/>
                <a:gd name="connsiteX2" fmla="*/ 386222 w 553584"/>
                <a:gd name="connsiteY2" fmla="*/ 376567 h 457029"/>
                <a:gd name="connsiteX3" fmla="*/ 366911 w 553584"/>
                <a:gd name="connsiteY3" fmla="*/ 312196 h 457029"/>
                <a:gd name="connsiteX4" fmla="*/ 302541 w 553584"/>
                <a:gd name="connsiteY4" fmla="*/ 312196 h 457029"/>
                <a:gd name="connsiteX5" fmla="*/ 286448 w 553584"/>
                <a:gd name="connsiteY5" fmla="*/ 376567 h 457029"/>
                <a:gd name="connsiteX6" fmla="*/ 289667 w 553584"/>
                <a:gd name="connsiteY6" fmla="*/ 405533 h 457029"/>
                <a:gd name="connsiteX7" fmla="*/ 241389 w 553584"/>
                <a:gd name="connsiteY7" fmla="*/ 453811 h 457029"/>
                <a:gd name="connsiteX8" fmla="*/ 128741 w 553584"/>
                <a:gd name="connsiteY8" fmla="*/ 453811 h 457029"/>
                <a:gd name="connsiteX9" fmla="*/ 128741 w 553584"/>
                <a:gd name="connsiteY9" fmla="*/ 399096 h 457029"/>
                <a:gd name="connsiteX10" fmla="*/ 128741 w 553584"/>
                <a:gd name="connsiteY10" fmla="*/ 305759 h 457029"/>
                <a:gd name="connsiteX11" fmla="*/ 128741 w 553584"/>
                <a:gd name="connsiteY11" fmla="*/ 292885 h 457029"/>
                <a:gd name="connsiteX12" fmla="*/ 125522 w 553584"/>
                <a:gd name="connsiteY12" fmla="*/ 289667 h 457029"/>
                <a:gd name="connsiteX13" fmla="*/ 122304 w 553584"/>
                <a:gd name="connsiteY13" fmla="*/ 289667 h 457029"/>
                <a:gd name="connsiteX14" fmla="*/ 19311 w 553584"/>
                <a:gd name="connsiteY14" fmla="*/ 267137 h 457029"/>
                <a:gd name="connsiteX15" fmla="*/ 19311 w 553584"/>
                <a:gd name="connsiteY15" fmla="*/ 157707 h 457029"/>
                <a:gd name="connsiteX16" fmla="*/ 122304 w 553584"/>
                <a:gd name="connsiteY16" fmla="*/ 135178 h 457029"/>
                <a:gd name="connsiteX17" fmla="*/ 141615 w 553584"/>
                <a:gd name="connsiteY17" fmla="*/ 141615 h 457029"/>
                <a:gd name="connsiteX18" fmla="*/ 125522 w 553584"/>
                <a:gd name="connsiteY18" fmla="*/ 135178 h 457029"/>
                <a:gd name="connsiteX19" fmla="*/ 128741 w 553584"/>
                <a:gd name="connsiteY19" fmla="*/ 122304 h 457029"/>
                <a:gd name="connsiteX20" fmla="*/ 128741 w 553584"/>
                <a:gd name="connsiteY20" fmla="*/ 41841 h 457029"/>
                <a:gd name="connsiteX21" fmla="*/ 128741 w 553584"/>
                <a:gd name="connsiteY21" fmla="*/ 0 h 457029"/>
                <a:gd name="connsiteX22" fmla="*/ 553585 w 553584"/>
                <a:gd name="connsiteY22" fmla="*/ 0 h 457029"/>
                <a:gd name="connsiteX23" fmla="*/ 553585 w 553584"/>
                <a:gd name="connsiteY23" fmla="*/ 457030 h 457029"/>
                <a:gd name="connsiteX24" fmla="*/ 505307 w 553584"/>
                <a:gd name="connsiteY24" fmla="*/ 457030 h 457029"/>
                <a:gd name="connsiteX25" fmla="*/ 428063 w 553584"/>
                <a:gd name="connsiteY25" fmla="*/ 453811 h 457029"/>
                <a:gd name="connsiteX26" fmla="*/ 428063 w 553584"/>
                <a:gd name="connsiteY26" fmla="*/ 453811 h 457029"/>
                <a:gd name="connsiteX27" fmla="*/ 334726 w 553584"/>
                <a:gd name="connsiteY27" fmla="*/ 270356 h 457029"/>
                <a:gd name="connsiteX28" fmla="*/ 386222 w 553584"/>
                <a:gd name="connsiteY28" fmla="*/ 286448 h 457029"/>
                <a:gd name="connsiteX29" fmla="*/ 415189 w 553584"/>
                <a:gd name="connsiteY29" fmla="*/ 389441 h 457029"/>
                <a:gd name="connsiteX30" fmla="*/ 415189 w 553584"/>
                <a:gd name="connsiteY30" fmla="*/ 415189 h 457029"/>
                <a:gd name="connsiteX31" fmla="*/ 428063 w 553584"/>
                <a:gd name="connsiteY31" fmla="*/ 421626 h 457029"/>
                <a:gd name="connsiteX32" fmla="*/ 505307 w 553584"/>
                <a:gd name="connsiteY32" fmla="*/ 421626 h 457029"/>
                <a:gd name="connsiteX33" fmla="*/ 521400 w 553584"/>
                <a:gd name="connsiteY33" fmla="*/ 421626 h 457029"/>
                <a:gd name="connsiteX34" fmla="*/ 521400 w 553584"/>
                <a:gd name="connsiteY34" fmla="*/ 32185 h 457029"/>
                <a:gd name="connsiteX35" fmla="*/ 157707 w 553584"/>
                <a:gd name="connsiteY35" fmla="*/ 32185 h 457029"/>
                <a:gd name="connsiteX36" fmla="*/ 157707 w 553584"/>
                <a:gd name="connsiteY36" fmla="*/ 41841 h 457029"/>
                <a:gd name="connsiteX37" fmla="*/ 157707 w 553584"/>
                <a:gd name="connsiteY37" fmla="*/ 122304 h 457029"/>
                <a:gd name="connsiteX38" fmla="*/ 154489 w 553584"/>
                <a:gd name="connsiteY38" fmla="*/ 144833 h 457029"/>
                <a:gd name="connsiteX39" fmla="*/ 135178 w 553584"/>
                <a:gd name="connsiteY39" fmla="*/ 164144 h 457029"/>
                <a:gd name="connsiteX40" fmla="*/ 106211 w 553584"/>
                <a:gd name="connsiteY40" fmla="*/ 160926 h 457029"/>
                <a:gd name="connsiteX41" fmla="*/ 41841 w 553584"/>
                <a:gd name="connsiteY41" fmla="*/ 177019 h 457029"/>
                <a:gd name="connsiteX42" fmla="*/ 41841 w 553584"/>
                <a:gd name="connsiteY42" fmla="*/ 244607 h 457029"/>
                <a:gd name="connsiteX43" fmla="*/ 106211 w 553584"/>
                <a:gd name="connsiteY43" fmla="*/ 260700 h 457029"/>
                <a:gd name="connsiteX44" fmla="*/ 138396 w 553584"/>
                <a:gd name="connsiteY44" fmla="*/ 260700 h 457029"/>
                <a:gd name="connsiteX45" fmla="*/ 157707 w 553584"/>
                <a:gd name="connsiteY45" fmla="*/ 283230 h 457029"/>
                <a:gd name="connsiteX46" fmla="*/ 160926 w 553584"/>
                <a:gd name="connsiteY46" fmla="*/ 302541 h 457029"/>
                <a:gd name="connsiteX47" fmla="*/ 160926 w 553584"/>
                <a:gd name="connsiteY47" fmla="*/ 395878 h 457029"/>
                <a:gd name="connsiteX48" fmla="*/ 160926 w 553584"/>
                <a:gd name="connsiteY48" fmla="*/ 418407 h 457029"/>
                <a:gd name="connsiteX49" fmla="*/ 241389 w 553584"/>
                <a:gd name="connsiteY49" fmla="*/ 418407 h 457029"/>
                <a:gd name="connsiteX50" fmla="*/ 257481 w 553584"/>
                <a:gd name="connsiteY50" fmla="*/ 402315 h 457029"/>
                <a:gd name="connsiteX51" fmla="*/ 254263 w 553584"/>
                <a:gd name="connsiteY51" fmla="*/ 386222 h 457029"/>
                <a:gd name="connsiteX52" fmla="*/ 283229 w 553584"/>
                <a:gd name="connsiteY52" fmla="*/ 283230 h 457029"/>
                <a:gd name="connsiteX53" fmla="*/ 334726 w 553584"/>
                <a:gd name="connsiteY53" fmla="*/ 270356 h 457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53584" h="457029">
                  <a:moveTo>
                    <a:pt x="428063" y="453811"/>
                  </a:moveTo>
                  <a:cubicBezTo>
                    <a:pt x="411970" y="453811"/>
                    <a:pt x="399096" y="447374"/>
                    <a:pt x="389441" y="431282"/>
                  </a:cubicBezTo>
                  <a:cubicBezTo>
                    <a:pt x="376566" y="411970"/>
                    <a:pt x="379785" y="392659"/>
                    <a:pt x="386222" y="376567"/>
                  </a:cubicBezTo>
                  <a:cubicBezTo>
                    <a:pt x="395878" y="350819"/>
                    <a:pt x="386222" y="325070"/>
                    <a:pt x="366911" y="312196"/>
                  </a:cubicBezTo>
                  <a:cubicBezTo>
                    <a:pt x="347600" y="296104"/>
                    <a:pt x="321852" y="299322"/>
                    <a:pt x="302541" y="312196"/>
                  </a:cubicBezTo>
                  <a:cubicBezTo>
                    <a:pt x="283229" y="328289"/>
                    <a:pt x="276792" y="350819"/>
                    <a:pt x="286448" y="376567"/>
                  </a:cubicBezTo>
                  <a:cubicBezTo>
                    <a:pt x="289667" y="386222"/>
                    <a:pt x="292885" y="395878"/>
                    <a:pt x="289667" y="405533"/>
                  </a:cubicBezTo>
                  <a:cubicBezTo>
                    <a:pt x="289667" y="434500"/>
                    <a:pt x="270355" y="453811"/>
                    <a:pt x="241389" y="453811"/>
                  </a:cubicBezTo>
                  <a:lnTo>
                    <a:pt x="128741" y="453811"/>
                  </a:lnTo>
                  <a:lnTo>
                    <a:pt x="128741" y="399096"/>
                  </a:lnTo>
                  <a:cubicBezTo>
                    <a:pt x="128741" y="366911"/>
                    <a:pt x="128741" y="334726"/>
                    <a:pt x="128741" y="305759"/>
                  </a:cubicBezTo>
                  <a:cubicBezTo>
                    <a:pt x="128741" y="302541"/>
                    <a:pt x="128741" y="299322"/>
                    <a:pt x="128741" y="292885"/>
                  </a:cubicBezTo>
                  <a:cubicBezTo>
                    <a:pt x="128741" y="289667"/>
                    <a:pt x="125522" y="289667"/>
                    <a:pt x="125522" y="289667"/>
                  </a:cubicBezTo>
                  <a:cubicBezTo>
                    <a:pt x="125522" y="289667"/>
                    <a:pt x="122304" y="289667"/>
                    <a:pt x="122304" y="289667"/>
                  </a:cubicBezTo>
                  <a:cubicBezTo>
                    <a:pt x="86900" y="305759"/>
                    <a:pt x="45059" y="296104"/>
                    <a:pt x="19311" y="267137"/>
                  </a:cubicBezTo>
                  <a:cubicBezTo>
                    <a:pt x="-6437" y="234952"/>
                    <a:pt x="-6437" y="189893"/>
                    <a:pt x="19311" y="157707"/>
                  </a:cubicBezTo>
                  <a:cubicBezTo>
                    <a:pt x="45059" y="125522"/>
                    <a:pt x="86900" y="115867"/>
                    <a:pt x="122304" y="135178"/>
                  </a:cubicBezTo>
                  <a:lnTo>
                    <a:pt x="141615" y="141615"/>
                  </a:lnTo>
                  <a:lnTo>
                    <a:pt x="125522" y="135178"/>
                  </a:lnTo>
                  <a:cubicBezTo>
                    <a:pt x="125522" y="131959"/>
                    <a:pt x="128741" y="128741"/>
                    <a:pt x="128741" y="122304"/>
                  </a:cubicBezTo>
                  <a:cubicBezTo>
                    <a:pt x="128741" y="96556"/>
                    <a:pt x="128741" y="67589"/>
                    <a:pt x="128741" y="41841"/>
                  </a:cubicBezTo>
                  <a:lnTo>
                    <a:pt x="128741" y="0"/>
                  </a:lnTo>
                  <a:lnTo>
                    <a:pt x="553585" y="0"/>
                  </a:lnTo>
                  <a:lnTo>
                    <a:pt x="553585" y="457030"/>
                  </a:lnTo>
                  <a:lnTo>
                    <a:pt x="505307" y="457030"/>
                  </a:lnTo>
                  <a:cubicBezTo>
                    <a:pt x="479559" y="453811"/>
                    <a:pt x="453811" y="453811"/>
                    <a:pt x="428063" y="453811"/>
                  </a:cubicBezTo>
                  <a:cubicBezTo>
                    <a:pt x="428063" y="453811"/>
                    <a:pt x="428063" y="453811"/>
                    <a:pt x="428063" y="453811"/>
                  </a:cubicBezTo>
                  <a:close/>
                  <a:moveTo>
                    <a:pt x="334726" y="270356"/>
                  </a:moveTo>
                  <a:cubicBezTo>
                    <a:pt x="354037" y="270356"/>
                    <a:pt x="370129" y="276793"/>
                    <a:pt x="386222" y="286448"/>
                  </a:cubicBezTo>
                  <a:cubicBezTo>
                    <a:pt x="418407" y="308978"/>
                    <a:pt x="431281" y="350819"/>
                    <a:pt x="415189" y="389441"/>
                  </a:cubicBezTo>
                  <a:cubicBezTo>
                    <a:pt x="408752" y="402315"/>
                    <a:pt x="408752" y="408752"/>
                    <a:pt x="415189" y="415189"/>
                  </a:cubicBezTo>
                  <a:cubicBezTo>
                    <a:pt x="418407" y="421626"/>
                    <a:pt x="421626" y="421626"/>
                    <a:pt x="428063" y="421626"/>
                  </a:cubicBezTo>
                  <a:cubicBezTo>
                    <a:pt x="453811" y="421626"/>
                    <a:pt x="479559" y="421626"/>
                    <a:pt x="505307" y="421626"/>
                  </a:cubicBezTo>
                  <a:lnTo>
                    <a:pt x="521400" y="421626"/>
                  </a:lnTo>
                  <a:lnTo>
                    <a:pt x="521400" y="32185"/>
                  </a:lnTo>
                  <a:lnTo>
                    <a:pt x="157707" y="32185"/>
                  </a:lnTo>
                  <a:lnTo>
                    <a:pt x="157707" y="41841"/>
                  </a:lnTo>
                  <a:cubicBezTo>
                    <a:pt x="157707" y="67589"/>
                    <a:pt x="157707" y="96556"/>
                    <a:pt x="157707" y="122304"/>
                  </a:cubicBezTo>
                  <a:cubicBezTo>
                    <a:pt x="157707" y="131959"/>
                    <a:pt x="157707" y="138396"/>
                    <a:pt x="154489" y="144833"/>
                  </a:cubicBezTo>
                  <a:cubicBezTo>
                    <a:pt x="151270" y="154489"/>
                    <a:pt x="144833" y="160926"/>
                    <a:pt x="135178" y="164144"/>
                  </a:cubicBezTo>
                  <a:cubicBezTo>
                    <a:pt x="125522" y="167363"/>
                    <a:pt x="115867" y="167363"/>
                    <a:pt x="106211" y="160926"/>
                  </a:cubicBezTo>
                  <a:cubicBezTo>
                    <a:pt x="83681" y="151270"/>
                    <a:pt x="57933" y="157707"/>
                    <a:pt x="41841" y="177019"/>
                  </a:cubicBezTo>
                  <a:cubicBezTo>
                    <a:pt x="25748" y="196330"/>
                    <a:pt x="25748" y="225296"/>
                    <a:pt x="41841" y="244607"/>
                  </a:cubicBezTo>
                  <a:cubicBezTo>
                    <a:pt x="57933" y="263919"/>
                    <a:pt x="83681" y="270356"/>
                    <a:pt x="106211" y="260700"/>
                  </a:cubicBezTo>
                  <a:cubicBezTo>
                    <a:pt x="115867" y="254263"/>
                    <a:pt x="128741" y="254263"/>
                    <a:pt x="138396" y="260700"/>
                  </a:cubicBezTo>
                  <a:cubicBezTo>
                    <a:pt x="148052" y="263919"/>
                    <a:pt x="154489" y="273574"/>
                    <a:pt x="157707" y="283230"/>
                  </a:cubicBezTo>
                  <a:cubicBezTo>
                    <a:pt x="160926" y="289667"/>
                    <a:pt x="160926" y="299322"/>
                    <a:pt x="160926" y="302541"/>
                  </a:cubicBezTo>
                  <a:cubicBezTo>
                    <a:pt x="160926" y="334726"/>
                    <a:pt x="160926" y="366911"/>
                    <a:pt x="160926" y="395878"/>
                  </a:cubicBezTo>
                  <a:lnTo>
                    <a:pt x="160926" y="418407"/>
                  </a:lnTo>
                  <a:lnTo>
                    <a:pt x="241389" y="418407"/>
                  </a:lnTo>
                  <a:cubicBezTo>
                    <a:pt x="251044" y="418407"/>
                    <a:pt x="257481" y="411970"/>
                    <a:pt x="257481" y="402315"/>
                  </a:cubicBezTo>
                  <a:cubicBezTo>
                    <a:pt x="257481" y="395878"/>
                    <a:pt x="257481" y="389441"/>
                    <a:pt x="254263" y="386222"/>
                  </a:cubicBezTo>
                  <a:cubicBezTo>
                    <a:pt x="241389" y="347600"/>
                    <a:pt x="251044" y="308978"/>
                    <a:pt x="283229" y="283230"/>
                  </a:cubicBezTo>
                  <a:cubicBezTo>
                    <a:pt x="299322" y="273574"/>
                    <a:pt x="315415" y="270356"/>
                    <a:pt x="334726" y="270356"/>
                  </a:cubicBez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10">
              <a:extLst>
                <a:ext uri="{FF2B5EF4-FFF2-40B4-BE49-F238E27FC236}">
                  <a16:creationId xmlns:a16="http://schemas.microsoft.com/office/drawing/2014/main" id="{1DB6C4EF-6D3B-4151-90A6-E070B52F24A0}"/>
                </a:ext>
              </a:extLst>
            </p:cNvPr>
            <p:cNvSpPr/>
            <p:nvPr/>
          </p:nvSpPr>
          <p:spPr>
            <a:xfrm>
              <a:off x="2008667" y="1465592"/>
              <a:ext cx="609104" cy="424844"/>
            </a:xfrm>
            <a:custGeom>
              <a:avLst/>
              <a:gdLst>
                <a:gd name="connsiteX0" fmla="*/ 457029 w 609104"/>
                <a:gd name="connsiteY0" fmla="*/ 424844 h 424844"/>
                <a:gd name="connsiteX1" fmla="*/ 0 w 609104"/>
                <a:gd name="connsiteY1" fmla="*/ 424844 h 424844"/>
                <a:gd name="connsiteX2" fmla="*/ 0 w 609104"/>
                <a:gd name="connsiteY2" fmla="*/ 0 h 424844"/>
                <a:gd name="connsiteX3" fmla="*/ 122304 w 609104"/>
                <a:gd name="connsiteY3" fmla="*/ 0 h 424844"/>
                <a:gd name="connsiteX4" fmla="*/ 122304 w 609104"/>
                <a:gd name="connsiteY4" fmla="*/ 32185 h 424844"/>
                <a:gd name="connsiteX5" fmla="*/ 32185 w 609104"/>
                <a:gd name="connsiteY5" fmla="*/ 32185 h 424844"/>
                <a:gd name="connsiteX6" fmla="*/ 32185 w 609104"/>
                <a:gd name="connsiteY6" fmla="*/ 392659 h 424844"/>
                <a:gd name="connsiteX7" fmla="*/ 424844 w 609104"/>
                <a:gd name="connsiteY7" fmla="*/ 392659 h 424844"/>
                <a:gd name="connsiteX8" fmla="*/ 424844 w 609104"/>
                <a:gd name="connsiteY8" fmla="*/ 276793 h 424844"/>
                <a:gd name="connsiteX9" fmla="*/ 440937 w 609104"/>
                <a:gd name="connsiteY9" fmla="*/ 241389 h 424844"/>
                <a:gd name="connsiteX10" fmla="*/ 479559 w 609104"/>
                <a:gd name="connsiteY10" fmla="*/ 228515 h 424844"/>
                <a:gd name="connsiteX11" fmla="*/ 502089 w 609104"/>
                <a:gd name="connsiteY11" fmla="*/ 234952 h 424844"/>
                <a:gd name="connsiteX12" fmla="*/ 566459 w 609104"/>
                <a:gd name="connsiteY12" fmla="*/ 218859 h 424844"/>
                <a:gd name="connsiteX13" fmla="*/ 566459 w 609104"/>
                <a:gd name="connsiteY13" fmla="*/ 154489 h 424844"/>
                <a:gd name="connsiteX14" fmla="*/ 502089 w 609104"/>
                <a:gd name="connsiteY14" fmla="*/ 135178 h 424844"/>
                <a:gd name="connsiteX15" fmla="*/ 444155 w 609104"/>
                <a:gd name="connsiteY15" fmla="*/ 131959 h 424844"/>
                <a:gd name="connsiteX16" fmla="*/ 424844 w 609104"/>
                <a:gd name="connsiteY16" fmla="*/ 93337 h 424844"/>
                <a:gd name="connsiteX17" fmla="*/ 424844 w 609104"/>
                <a:gd name="connsiteY17" fmla="*/ 38622 h 424844"/>
                <a:gd name="connsiteX18" fmla="*/ 424844 w 609104"/>
                <a:gd name="connsiteY18" fmla="*/ 32185 h 424844"/>
                <a:gd name="connsiteX19" fmla="*/ 337944 w 609104"/>
                <a:gd name="connsiteY19" fmla="*/ 32185 h 424844"/>
                <a:gd name="connsiteX20" fmla="*/ 337944 w 609104"/>
                <a:gd name="connsiteY20" fmla="*/ 0 h 424844"/>
                <a:gd name="connsiteX21" fmla="*/ 457029 w 609104"/>
                <a:gd name="connsiteY21" fmla="*/ 0 h 424844"/>
                <a:gd name="connsiteX22" fmla="*/ 457029 w 609104"/>
                <a:gd name="connsiteY22" fmla="*/ 38622 h 424844"/>
                <a:gd name="connsiteX23" fmla="*/ 457029 w 609104"/>
                <a:gd name="connsiteY23" fmla="*/ 93337 h 424844"/>
                <a:gd name="connsiteX24" fmla="*/ 463466 w 609104"/>
                <a:gd name="connsiteY24" fmla="*/ 102993 h 424844"/>
                <a:gd name="connsiteX25" fmla="*/ 489215 w 609104"/>
                <a:gd name="connsiteY25" fmla="*/ 102993 h 424844"/>
                <a:gd name="connsiteX26" fmla="*/ 592207 w 609104"/>
                <a:gd name="connsiteY26" fmla="*/ 131959 h 424844"/>
                <a:gd name="connsiteX27" fmla="*/ 592207 w 609104"/>
                <a:gd name="connsiteY27" fmla="*/ 234952 h 424844"/>
                <a:gd name="connsiteX28" fmla="*/ 492433 w 609104"/>
                <a:gd name="connsiteY28" fmla="*/ 263919 h 424844"/>
                <a:gd name="connsiteX29" fmla="*/ 476341 w 609104"/>
                <a:gd name="connsiteY29" fmla="*/ 260700 h 424844"/>
                <a:gd name="connsiteX30" fmla="*/ 463466 w 609104"/>
                <a:gd name="connsiteY30" fmla="*/ 263919 h 424844"/>
                <a:gd name="connsiteX31" fmla="*/ 457029 w 609104"/>
                <a:gd name="connsiteY31" fmla="*/ 276793 h 424844"/>
                <a:gd name="connsiteX32" fmla="*/ 457029 w 609104"/>
                <a:gd name="connsiteY32" fmla="*/ 424844 h 424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9104" h="424844">
                  <a:moveTo>
                    <a:pt x="457029" y="424844"/>
                  </a:moveTo>
                  <a:lnTo>
                    <a:pt x="0" y="424844"/>
                  </a:lnTo>
                  <a:lnTo>
                    <a:pt x="0" y="0"/>
                  </a:lnTo>
                  <a:lnTo>
                    <a:pt x="122304" y="0"/>
                  </a:lnTo>
                  <a:lnTo>
                    <a:pt x="122304" y="32185"/>
                  </a:lnTo>
                  <a:lnTo>
                    <a:pt x="32185" y="32185"/>
                  </a:lnTo>
                  <a:lnTo>
                    <a:pt x="32185" y="392659"/>
                  </a:lnTo>
                  <a:lnTo>
                    <a:pt x="424844" y="392659"/>
                  </a:lnTo>
                  <a:lnTo>
                    <a:pt x="424844" y="276793"/>
                  </a:lnTo>
                  <a:cubicBezTo>
                    <a:pt x="424844" y="263919"/>
                    <a:pt x="431281" y="251044"/>
                    <a:pt x="440937" y="241389"/>
                  </a:cubicBezTo>
                  <a:cubicBezTo>
                    <a:pt x="450592" y="231733"/>
                    <a:pt x="463466" y="228515"/>
                    <a:pt x="479559" y="228515"/>
                  </a:cubicBezTo>
                  <a:cubicBezTo>
                    <a:pt x="485996" y="228515"/>
                    <a:pt x="495652" y="231733"/>
                    <a:pt x="502089" y="234952"/>
                  </a:cubicBezTo>
                  <a:cubicBezTo>
                    <a:pt x="527837" y="244607"/>
                    <a:pt x="550366" y="238170"/>
                    <a:pt x="566459" y="218859"/>
                  </a:cubicBezTo>
                  <a:cubicBezTo>
                    <a:pt x="582552" y="199548"/>
                    <a:pt x="582552" y="173800"/>
                    <a:pt x="566459" y="154489"/>
                  </a:cubicBezTo>
                  <a:cubicBezTo>
                    <a:pt x="550366" y="135178"/>
                    <a:pt x="524618" y="128741"/>
                    <a:pt x="502089" y="135178"/>
                  </a:cubicBezTo>
                  <a:cubicBezTo>
                    <a:pt x="489215" y="141615"/>
                    <a:pt x="466685" y="144833"/>
                    <a:pt x="444155" y="131959"/>
                  </a:cubicBezTo>
                  <a:cubicBezTo>
                    <a:pt x="431281" y="122304"/>
                    <a:pt x="424844" y="109430"/>
                    <a:pt x="424844" y="93337"/>
                  </a:cubicBezTo>
                  <a:cubicBezTo>
                    <a:pt x="424844" y="74026"/>
                    <a:pt x="424844" y="57933"/>
                    <a:pt x="424844" y="38622"/>
                  </a:cubicBezTo>
                  <a:lnTo>
                    <a:pt x="424844" y="32185"/>
                  </a:lnTo>
                  <a:lnTo>
                    <a:pt x="337944" y="32185"/>
                  </a:lnTo>
                  <a:lnTo>
                    <a:pt x="337944" y="0"/>
                  </a:lnTo>
                  <a:lnTo>
                    <a:pt x="457029" y="0"/>
                  </a:lnTo>
                  <a:lnTo>
                    <a:pt x="457029" y="38622"/>
                  </a:lnTo>
                  <a:cubicBezTo>
                    <a:pt x="457029" y="57933"/>
                    <a:pt x="457029" y="74026"/>
                    <a:pt x="457029" y="93337"/>
                  </a:cubicBezTo>
                  <a:cubicBezTo>
                    <a:pt x="457029" y="96556"/>
                    <a:pt x="457029" y="99774"/>
                    <a:pt x="463466" y="102993"/>
                  </a:cubicBezTo>
                  <a:cubicBezTo>
                    <a:pt x="469903" y="106211"/>
                    <a:pt x="476341" y="109430"/>
                    <a:pt x="489215" y="102993"/>
                  </a:cubicBezTo>
                  <a:cubicBezTo>
                    <a:pt x="527837" y="90119"/>
                    <a:pt x="566459" y="99774"/>
                    <a:pt x="592207" y="131959"/>
                  </a:cubicBezTo>
                  <a:cubicBezTo>
                    <a:pt x="614737" y="164144"/>
                    <a:pt x="614737" y="205985"/>
                    <a:pt x="592207" y="234952"/>
                  </a:cubicBezTo>
                  <a:cubicBezTo>
                    <a:pt x="569678" y="267137"/>
                    <a:pt x="531055" y="276793"/>
                    <a:pt x="492433" y="263919"/>
                  </a:cubicBezTo>
                  <a:cubicBezTo>
                    <a:pt x="485996" y="260700"/>
                    <a:pt x="482778" y="260700"/>
                    <a:pt x="476341" y="260700"/>
                  </a:cubicBezTo>
                  <a:cubicBezTo>
                    <a:pt x="473122" y="260700"/>
                    <a:pt x="466685" y="260700"/>
                    <a:pt x="463466" y="263919"/>
                  </a:cubicBezTo>
                  <a:cubicBezTo>
                    <a:pt x="460248" y="267137"/>
                    <a:pt x="457029" y="270356"/>
                    <a:pt x="457029" y="276793"/>
                  </a:cubicBezTo>
                  <a:lnTo>
                    <a:pt x="457029" y="424844"/>
                  </a:ln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129">
              <a:extLst>
                <a:ext uri="{FF2B5EF4-FFF2-40B4-BE49-F238E27FC236}">
                  <a16:creationId xmlns:a16="http://schemas.microsoft.com/office/drawing/2014/main" id="{2F0FB662-E4BB-42F7-868B-2ECA8027861A}"/>
                </a:ext>
              </a:extLst>
            </p:cNvPr>
            <p:cNvSpPr/>
            <p:nvPr/>
          </p:nvSpPr>
          <p:spPr>
            <a:xfrm>
              <a:off x="2755362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130">
              <a:extLst>
                <a:ext uri="{FF2B5EF4-FFF2-40B4-BE49-F238E27FC236}">
                  <a16:creationId xmlns:a16="http://schemas.microsoft.com/office/drawing/2014/main" id="{ADD8FAC5-A549-4AB5-BE13-E45A22D5E655}"/>
                </a:ext>
              </a:extLst>
            </p:cNvPr>
            <p:cNvSpPr/>
            <p:nvPr/>
          </p:nvSpPr>
          <p:spPr>
            <a:xfrm>
              <a:off x="2600874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15" name="Группа 216">
            <a:extLst>
              <a:ext uri="{FF2B5EF4-FFF2-40B4-BE49-F238E27FC236}">
                <a16:creationId xmlns:a16="http://schemas.microsoft.com/office/drawing/2014/main" id="{698BFA6D-2363-4C69-B525-D892CAEF0F01}"/>
              </a:ext>
            </a:extLst>
          </p:cNvPr>
          <p:cNvGrpSpPr>
            <a:grpSpLocks noChangeAspect="1"/>
          </p:cNvGrpSpPr>
          <p:nvPr/>
        </p:nvGrpSpPr>
        <p:grpSpPr>
          <a:xfrm>
            <a:off x="3368770" y="4101595"/>
            <a:ext cx="390493" cy="299140"/>
            <a:chOff x="6419284" y="2899233"/>
            <a:chExt cx="1192037" cy="913167"/>
          </a:xfrm>
          <a:solidFill>
            <a:srgbClr val="FFFFFF"/>
          </a:solidFill>
        </p:grpSpPr>
        <p:sp>
          <p:nvSpPr>
            <p:cNvPr id="216" name="Полилиния: фигура 105">
              <a:extLst>
                <a:ext uri="{FF2B5EF4-FFF2-40B4-BE49-F238E27FC236}">
                  <a16:creationId xmlns:a16="http://schemas.microsoft.com/office/drawing/2014/main" id="{6474A607-D228-4975-B8A5-06F732FC88FD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7" name="Полилиния: фигура 107">
              <a:extLst>
                <a:ext uri="{FF2B5EF4-FFF2-40B4-BE49-F238E27FC236}">
                  <a16:creationId xmlns:a16="http://schemas.microsoft.com/office/drawing/2014/main" id="{06065516-ED36-4114-B363-A9BCF5DDF4C6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8" name="Полилиния: фигура 108">
              <a:extLst>
                <a:ext uri="{FF2B5EF4-FFF2-40B4-BE49-F238E27FC236}">
                  <a16:creationId xmlns:a16="http://schemas.microsoft.com/office/drawing/2014/main" id="{B13EFF51-C7AE-4D7D-A11C-66C1A4E8FE51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109">
              <a:extLst>
                <a:ext uri="{FF2B5EF4-FFF2-40B4-BE49-F238E27FC236}">
                  <a16:creationId xmlns:a16="http://schemas.microsoft.com/office/drawing/2014/main" id="{D6FC5776-CFF9-4FB7-86A5-EA3A9D3FF4C3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110">
              <a:extLst>
                <a:ext uri="{FF2B5EF4-FFF2-40B4-BE49-F238E27FC236}">
                  <a16:creationId xmlns:a16="http://schemas.microsoft.com/office/drawing/2014/main" id="{E9B73F25-E362-4E65-A21D-33F55A8D13D1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111">
              <a:extLst>
                <a:ext uri="{FF2B5EF4-FFF2-40B4-BE49-F238E27FC236}">
                  <a16:creationId xmlns:a16="http://schemas.microsoft.com/office/drawing/2014/main" id="{8FAF647A-A3BB-4F34-803B-49A2C5BB7B6D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: фигура 112">
              <a:extLst>
                <a:ext uri="{FF2B5EF4-FFF2-40B4-BE49-F238E27FC236}">
                  <a16:creationId xmlns:a16="http://schemas.microsoft.com/office/drawing/2014/main" id="{84ECC717-DF1A-4EE7-BCEB-BE49D179FCCF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3" name="Полилиния: фигура 113">
              <a:extLst>
                <a:ext uri="{FF2B5EF4-FFF2-40B4-BE49-F238E27FC236}">
                  <a16:creationId xmlns:a16="http://schemas.microsoft.com/office/drawing/2014/main" id="{050E1862-C6C4-4BAD-A8C8-B604B7BC830E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4" name="Полилиния: фигура 114">
              <a:extLst>
                <a:ext uri="{FF2B5EF4-FFF2-40B4-BE49-F238E27FC236}">
                  <a16:creationId xmlns:a16="http://schemas.microsoft.com/office/drawing/2014/main" id="{F234340D-00B3-4AAD-8324-66544095F0C1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5" name="Полилиния: фигура 166">
              <a:extLst>
                <a:ext uri="{FF2B5EF4-FFF2-40B4-BE49-F238E27FC236}">
                  <a16:creationId xmlns:a16="http://schemas.microsoft.com/office/drawing/2014/main" id="{55F4C347-660E-49D1-9252-81E08483CF39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6" name="Полилиния: фигура 167">
              <a:extLst>
                <a:ext uri="{FF2B5EF4-FFF2-40B4-BE49-F238E27FC236}">
                  <a16:creationId xmlns:a16="http://schemas.microsoft.com/office/drawing/2014/main" id="{34A8BCD3-2FCE-4630-90F2-562E2B0DE485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0" name="Straight Arrow Connector 36">
            <a:extLst>
              <a:ext uri="{FF2B5EF4-FFF2-40B4-BE49-F238E27FC236}">
                <a16:creationId xmlns:a16="http://schemas.microsoft.com/office/drawing/2014/main" id="{5EC87641-58E4-89A7-91B0-8520AFF2ED6E}"/>
              </a:ext>
            </a:extLst>
          </p:cNvPr>
          <p:cNvCxnSpPr>
            <a:cxnSpLocks/>
          </p:cNvCxnSpPr>
          <p:nvPr/>
        </p:nvCxnSpPr>
        <p:spPr>
          <a:xfrm>
            <a:off x="8098536" y="1993116"/>
            <a:ext cx="0" cy="3798722"/>
          </a:xfrm>
          <a:prstGeom prst="straightConnector1">
            <a:avLst/>
          </a:prstGeom>
          <a:ln>
            <a:solidFill>
              <a:srgbClr val="000000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1" name="Straight Arrow Connector 32">
            <a:extLst>
              <a:ext uri="{FF2B5EF4-FFF2-40B4-BE49-F238E27FC236}">
                <a16:creationId xmlns:a16="http://schemas.microsoft.com/office/drawing/2014/main" id="{10AF9CE2-E70A-B784-7546-F41C9B08A7D0}"/>
              </a:ext>
            </a:extLst>
          </p:cNvPr>
          <p:cNvCxnSpPr>
            <a:cxnSpLocks/>
          </p:cNvCxnSpPr>
          <p:nvPr/>
        </p:nvCxnSpPr>
        <p:spPr>
          <a:xfrm>
            <a:off x="3931920" y="1803180"/>
            <a:ext cx="0" cy="4178594"/>
          </a:xfrm>
          <a:prstGeom prst="straightConnector1">
            <a:avLst/>
          </a:prstGeom>
          <a:ln>
            <a:solidFill>
              <a:srgbClr val="000000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2" name="Straight Arrow Connector 31">
            <a:extLst>
              <a:ext uri="{FF2B5EF4-FFF2-40B4-BE49-F238E27FC236}">
                <a16:creationId xmlns:a16="http://schemas.microsoft.com/office/drawing/2014/main" id="{224CDF24-72C0-A290-917F-1994A9FA3DA1}"/>
              </a:ext>
            </a:extLst>
          </p:cNvPr>
          <p:cNvCxnSpPr>
            <a:cxnSpLocks/>
          </p:cNvCxnSpPr>
          <p:nvPr/>
        </p:nvCxnSpPr>
        <p:spPr>
          <a:xfrm>
            <a:off x="572654" y="6076369"/>
            <a:ext cx="11011025" cy="0"/>
          </a:xfrm>
          <a:prstGeom prst="straightConnector1">
            <a:avLst/>
          </a:prstGeom>
          <a:ln>
            <a:solidFill>
              <a:srgbClr val="000000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3" name="Straight Arrow Connector 30">
            <a:extLst>
              <a:ext uri="{FF2B5EF4-FFF2-40B4-BE49-F238E27FC236}">
                <a16:creationId xmlns:a16="http://schemas.microsoft.com/office/drawing/2014/main" id="{6847896C-446C-C28C-5A48-CC2779BAB98F}"/>
              </a:ext>
            </a:extLst>
          </p:cNvPr>
          <p:cNvCxnSpPr>
            <a:cxnSpLocks/>
          </p:cNvCxnSpPr>
          <p:nvPr/>
        </p:nvCxnSpPr>
        <p:spPr>
          <a:xfrm>
            <a:off x="572654" y="4748457"/>
            <a:ext cx="11011025" cy="0"/>
          </a:xfrm>
          <a:prstGeom prst="straightConnector1">
            <a:avLst/>
          </a:prstGeom>
          <a:ln>
            <a:solidFill>
              <a:srgbClr val="000000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4" name="Straight Arrow Connector 29">
            <a:extLst>
              <a:ext uri="{FF2B5EF4-FFF2-40B4-BE49-F238E27FC236}">
                <a16:creationId xmlns:a16="http://schemas.microsoft.com/office/drawing/2014/main" id="{D10A7B72-F52C-800A-D9C8-821F07153637}"/>
              </a:ext>
            </a:extLst>
          </p:cNvPr>
          <p:cNvCxnSpPr>
            <a:cxnSpLocks/>
          </p:cNvCxnSpPr>
          <p:nvPr/>
        </p:nvCxnSpPr>
        <p:spPr>
          <a:xfrm>
            <a:off x="572654" y="3333169"/>
            <a:ext cx="11011025" cy="0"/>
          </a:xfrm>
          <a:prstGeom prst="straightConnector1">
            <a:avLst/>
          </a:prstGeom>
          <a:ln>
            <a:solidFill>
              <a:srgbClr val="000000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5" name="Straight Arrow Connector 25">
            <a:extLst>
              <a:ext uri="{FF2B5EF4-FFF2-40B4-BE49-F238E27FC236}">
                <a16:creationId xmlns:a16="http://schemas.microsoft.com/office/drawing/2014/main" id="{DECA342B-8DBB-140D-02DF-6AE17A386AAB}"/>
              </a:ext>
            </a:extLst>
          </p:cNvPr>
          <p:cNvCxnSpPr>
            <a:cxnSpLocks/>
          </p:cNvCxnSpPr>
          <p:nvPr/>
        </p:nvCxnSpPr>
        <p:spPr>
          <a:xfrm>
            <a:off x="572654" y="1955473"/>
            <a:ext cx="11011025" cy="0"/>
          </a:xfrm>
          <a:prstGeom prst="straightConnector1">
            <a:avLst/>
          </a:prstGeom>
          <a:ln>
            <a:solidFill>
              <a:srgbClr val="000000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26" name="Rectangle: Rounded Corners 49">
            <a:extLst>
              <a:ext uri="{FF2B5EF4-FFF2-40B4-BE49-F238E27FC236}">
                <a16:creationId xmlns:a16="http://schemas.microsoft.com/office/drawing/2014/main" id="{58693BFC-33A1-4ECD-B1D3-C5C162161960}"/>
              </a:ext>
            </a:extLst>
          </p:cNvPr>
          <p:cNvSpPr/>
          <p:nvPr/>
        </p:nvSpPr>
        <p:spPr>
          <a:xfrm>
            <a:off x="3773742" y="2246420"/>
            <a:ext cx="2182990" cy="1246165"/>
          </a:xfrm>
          <a:prstGeom prst="roundRect">
            <a:avLst>
              <a:gd name="adj" fmla="val 9329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Rectangle: Rounded Corners 48">
            <a:extLst>
              <a:ext uri="{FF2B5EF4-FFF2-40B4-BE49-F238E27FC236}">
                <a16:creationId xmlns:a16="http://schemas.microsoft.com/office/drawing/2014/main" id="{90F5660D-C24A-4115-9FD9-EADE747CB41A}"/>
              </a:ext>
            </a:extLst>
          </p:cNvPr>
          <p:cNvSpPr/>
          <p:nvPr/>
        </p:nvSpPr>
        <p:spPr>
          <a:xfrm>
            <a:off x="3773742" y="3601901"/>
            <a:ext cx="2182990" cy="1269880"/>
          </a:xfrm>
          <a:prstGeom prst="roundRect">
            <a:avLst>
              <a:gd name="adj" fmla="val 9329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Rectangle: Rounded Corners 39">
            <a:extLst>
              <a:ext uri="{FF2B5EF4-FFF2-40B4-BE49-F238E27FC236}">
                <a16:creationId xmlns:a16="http://schemas.microsoft.com/office/drawing/2014/main" id="{53031617-D1A5-4C6C-A2DF-70C70FB9EC6F}"/>
              </a:ext>
            </a:extLst>
          </p:cNvPr>
          <p:cNvSpPr/>
          <p:nvPr/>
        </p:nvSpPr>
        <p:spPr>
          <a:xfrm>
            <a:off x="3773742" y="4962228"/>
            <a:ext cx="2182990" cy="1269880"/>
          </a:xfrm>
          <a:prstGeom prst="roundRect">
            <a:avLst>
              <a:gd name="adj" fmla="val 9329"/>
            </a:avLst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5F30405E-73E7-487B-A2ED-1E250D1B4963}"/>
              </a:ext>
            </a:extLst>
          </p:cNvPr>
          <p:cNvSpPr/>
          <p:nvPr/>
        </p:nvSpPr>
        <p:spPr>
          <a:xfrm>
            <a:off x="6049458" y="4962228"/>
            <a:ext cx="2182990" cy="1269880"/>
          </a:xfrm>
          <a:prstGeom prst="roundRect">
            <a:avLst>
              <a:gd name="adj" fmla="val 9329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Rectangle: Rounded Corners 37">
            <a:extLst>
              <a:ext uri="{FF2B5EF4-FFF2-40B4-BE49-F238E27FC236}">
                <a16:creationId xmlns:a16="http://schemas.microsoft.com/office/drawing/2014/main" id="{36C4B7CE-F8D8-42C1-BBFC-EA53ED59DF6D}"/>
              </a:ext>
            </a:extLst>
          </p:cNvPr>
          <p:cNvSpPr/>
          <p:nvPr/>
        </p:nvSpPr>
        <p:spPr>
          <a:xfrm>
            <a:off x="6049458" y="3601901"/>
            <a:ext cx="2182990" cy="1264983"/>
          </a:xfrm>
          <a:prstGeom prst="roundRect">
            <a:avLst>
              <a:gd name="adj" fmla="val 9329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Rectangle: Rounded Corners 35">
            <a:extLst>
              <a:ext uri="{FF2B5EF4-FFF2-40B4-BE49-F238E27FC236}">
                <a16:creationId xmlns:a16="http://schemas.microsoft.com/office/drawing/2014/main" id="{21F6526F-4031-48D1-84BC-3B5A07AA6C82}"/>
              </a:ext>
            </a:extLst>
          </p:cNvPr>
          <p:cNvSpPr/>
          <p:nvPr/>
        </p:nvSpPr>
        <p:spPr>
          <a:xfrm>
            <a:off x="6049458" y="2246419"/>
            <a:ext cx="2182990" cy="1246166"/>
          </a:xfrm>
          <a:prstGeom prst="roundRect">
            <a:avLst>
              <a:gd name="adj" fmla="val 9329"/>
            </a:avLst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Rectangle: Rounded Corners 34">
            <a:extLst>
              <a:ext uri="{FF2B5EF4-FFF2-40B4-BE49-F238E27FC236}">
                <a16:creationId xmlns:a16="http://schemas.microsoft.com/office/drawing/2014/main" id="{21A0DEA6-5C29-4C45-B3BF-83562E3E7C2D}"/>
              </a:ext>
            </a:extLst>
          </p:cNvPr>
          <p:cNvSpPr/>
          <p:nvPr/>
        </p:nvSpPr>
        <p:spPr>
          <a:xfrm>
            <a:off x="6049458" y="867147"/>
            <a:ext cx="2182990" cy="1246164"/>
          </a:xfrm>
          <a:prstGeom prst="roundRect">
            <a:avLst>
              <a:gd name="adj" fmla="val 9329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Title 5">
            <a:extLst>
              <a:ext uri="{FF2B5EF4-FFF2-40B4-BE49-F238E27FC236}">
                <a16:creationId xmlns:a16="http://schemas.microsoft.com/office/drawing/2014/main" id="{A2FD8D33-85F3-58BC-4B77-07A21D4A49B1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Типовые элементы стратегии тестирования</a:t>
            </a:r>
            <a:endParaRPr lang="en-US" dirty="0"/>
          </a:p>
        </p:txBody>
      </p:sp>
      <p:sp>
        <p:nvSpPr>
          <p:cNvPr id="34" name="Rectangle: Rounded Corners 7">
            <a:extLst>
              <a:ext uri="{FF2B5EF4-FFF2-40B4-BE49-F238E27FC236}">
                <a16:creationId xmlns:a16="http://schemas.microsoft.com/office/drawing/2014/main" id="{EDCA0172-7358-E3D0-F1D1-17F2FDACA269}"/>
              </a:ext>
            </a:extLst>
          </p:cNvPr>
          <p:cNvSpPr/>
          <p:nvPr/>
        </p:nvSpPr>
        <p:spPr>
          <a:xfrm>
            <a:off x="3778898" y="867147"/>
            <a:ext cx="2182990" cy="1246164"/>
          </a:xfrm>
          <a:prstGeom prst="roundRect">
            <a:avLst>
              <a:gd name="adj" fmla="val 9329"/>
            </a:avLst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AB5EB2C5-8B5F-8687-ED11-8F026FF6D3E9}"/>
              </a:ext>
            </a:extLst>
          </p:cNvPr>
          <p:cNvSpPr txBox="1"/>
          <p:nvPr/>
        </p:nvSpPr>
        <p:spPr>
          <a:xfrm>
            <a:off x="4199919" y="1228619"/>
            <a:ext cx="1340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Границы работ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C6CAD397-D65F-1583-234F-1671754549E7}"/>
              </a:ext>
            </a:extLst>
          </p:cNvPr>
          <p:cNvSpPr txBox="1"/>
          <p:nvPr/>
        </p:nvSpPr>
        <p:spPr>
          <a:xfrm>
            <a:off x="6336281" y="1228619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Согласование </a:t>
            </a:r>
            <a:br>
              <a:rPr lang="en-US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утверждение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88A9C638-EA83-A77D-3C3F-A42C29A65041}"/>
              </a:ext>
            </a:extLst>
          </p:cNvPr>
          <p:cNvSpPr txBox="1"/>
          <p:nvPr/>
        </p:nvSpPr>
        <p:spPr>
          <a:xfrm>
            <a:off x="4060565" y="2607892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5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Подходы </a:t>
            </a:r>
            <a:br>
              <a:rPr lang="en-US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35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 тестированию</a:t>
            </a:r>
            <a:endParaRPr lang="en-US" sz="135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8" name="TextBox 18">
            <a:extLst>
              <a:ext uri="{FF2B5EF4-FFF2-40B4-BE49-F238E27FC236}">
                <a16:creationId xmlns:a16="http://schemas.microsoft.com/office/drawing/2014/main" id="{DF411700-1B6A-5C27-4A96-721D38CBDE5E}"/>
              </a:ext>
            </a:extLst>
          </p:cNvPr>
          <p:cNvSpPr txBox="1"/>
          <p:nvPr/>
        </p:nvSpPr>
        <p:spPr>
          <a:xfrm>
            <a:off x="4060565" y="3975231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Фазы тестирования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6DBE2CAC-713D-71FD-DB3B-5079D80BCC99}"/>
              </a:ext>
            </a:extLst>
          </p:cNvPr>
          <p:cNvSpPr txBox="1"/>
          <p:nvPr/>
        </p:nvSpPr>
        <p:spPr>
          <a:xfrm>
            <a:off x="4060565" y="5335558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Инструменты тестирования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DBA209BD-8C4A-5C3C-26ED-529BA0E78D4C}"/>
              </a:ext>
            </a:extLst>
          </p:cNvPr>
          <p:cNvSpPr txBox="1"/>
          <p:nvPr/>
        </p:nvSpPr>
        <p:spPr>
          <a:xfrm>
            <a:off x="6336281" y="2607892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Тестовая инфраструктура</a:t>
            </a:r>
            <a:endParaRPr lang="en-US" sz="13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11FDCB4A-3AE2-0F7B-9530-A58BB4A90E44}"/>
              </a:ext>
            </a:extLst>
          </p:cNvPr>
          <p:cNvSpPr txBox="1"/>
          <p:nvPr/>
        </p:nvSpPr>
        <p:spPr>
          <a:xfrm>
            <a:off x="6499857" y="3972782"/>
            <a:ext cx="128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Анализ рисков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A54B28BF-FBAB-6B49-244B-A4D2E394A710}"/>
              </a:ext>
            </a:extLst>
          </p:cNvPr>
          <p:cNvSpPr txBox="1"/>
          <p:nvPr/>
        </p:nvSpPr>
        <p:spPr>
          <a:xfrm>
            <a:off x="6336281" y="5335558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Контроль релиза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3" name="TextBox 40">
            <a:extLst>
              <a:ext uri="{FF2B5EF4-FFF2-40B4-BE49-F238E27FC236}">
                <a16:creationId xmlns:a16="http://schemas.microsoft.com/office/drawing/2014/main" id="{8255F496-C842-5738-DE43-4A1BEBC3B3F7}"/>
              </a:ext>
            </a:extLst>
          </p:cNvPr>
          <p:cNvSpPr txBox="1"/>
          <p:nvPr/>
        </p:nvSpPr>
        <p:spPr>
          <a:xfrm>
            <a:off x="515950" y="995957"/>
            <a:ext cx="314325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Какие проблемы у заказчика?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Кто будет утверждать стратегию?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Действия по тестированию ПО, выполненные с указанием сроков</a:t>
            </a:r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8B7C718F-5E87-BA1B-13C5-3A3D1C6A1DA9}"/>
              </a:ext>
            </a:extLst>
          </p:cNvPr>
          <p:cNvSpPr txBox="1"/>
          <p:nvPr/>
        </p:nvSpPr>
        <p:spPr>
          <a:xfrm>
            <a:off x="515950" y="2049469"/>
            <a:ext cx="3143252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76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00" spc="30" dirty="0">
                <a:solidFill>
                  <a:srgbClr val="000000"/>
                </a:solidFill>
                <a:latin typeface="+mn-lt"/>
              </a:rPr>
              <a:t>Процесс тестирования</a:t>
            </a:r>
          </a:p>
          <a:p>
            <a:pPr marL="171450" indent="-171450">
              <a:spcBef>
                <a:spcPts val="276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00" spc="30" dirty="0">
                <a:solidFill>
                  <a:srgbClr val="000000"/>
                </a:solidFill>
                <a:latin typeface="+mn-lt"/>
              </a:rPr>
              <a:t>Уровни тестирования</a:t>
            </a:r>
          </a:p>
          <a:p>
            <a:pPr marL="171450" indent="-171450">
              <a:spcBef>
                <a:spcPts val="276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00" spc="30" dirty="0">
                <a:solidFill>
                  <a:srgbClr val="000000"/>
                </a:solidFill>
                <a:latin typeface="+mn-lt"/>
              </a:rPr>
              <a:t>Роли и обязанности каждого члена команды</a:t>
            </a:r>
          </a:p>
          <a:p>
            <a:pPr marL="171450" indent="-171450">
              <a:spcBef>
                <a:spcPts val="276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00" spc="30" dirty="0">
                <a:solidFill>
                  <a:srgbClr val="000000"/>
                </a:solidFill>
                <a:latin typeface="+mn-lt"/>
              </a:rPr>
              <a:t>Типы тестирования </a:t>
            </a:r>
          </a:p>
          <a:p>
            <a:pPr marL="171450" indent="-171450">
              <a:spcBef>
                <a:spcPts val="276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00" spc="30" dirty="0">
                <a:solidFill>
                  <a:srgbClr val="000000"/>
                </a:solidFill>
                <a:latin typeface="+mn-lt"/>
              </a:rPr>
              <a:t>Подход к тестированию и автоматизация</a:t>
            </a:r>
          </a:p>
          <a:p>
            <a:pPr marL="171450" indent="-171450">
              <a:spcBef>
                <a:spcPts val="276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00" spc="30" dirty="0">
                <a:solidFill>
                  <a:srgbClr val="000000"/>
                </a:solidFill>
                <a:latin typeface="+mn-lt"/>
              </a:rPr>
              <a:t>Работа с дефектами</a:t>
            </a:r>
          </a:p>
        </p:txBody>
      </p:sp>
      <p:sp>
        <p:nvSpPr>
          <p:cNvPr id="45" name="TextBox 42">
            <a:extLst>
              <a:ext uri="{FF2B5EF4-FFF2-40B4-BE49-F238E27FC236}">
                <a16:creationId xmlns:a16="http://schemas.microsoft.com/office/drawing/2014/main" id="{D5F2C64D-94D7-D129-C95C-B60AA45A116B}"/>
              </a:ext>
            </a:extLst>
          </p:cNvPr>
          <p:cNvSpPr txBox="1"/>
          <p:nvPr/>
        </p:nvSpPr>
        <p:spPr>
          <a:xfrm>
            <a:off x="515950" y="3405662"/>
            <a:ext cx="3143252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Этапы тестирования</a:t>
            </a:r>
          </a:p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Критерии входа и выхода для каждой фазы</a:t>
            </a:r>
          </a:p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Группа, ответственная за тестирование </a:t>
            </a:r>
            <a:br>
              <a:rPr lang="en-US" sz="1000" spc="30" dirty="0"/>
            </a:br>
            <a:r>
              <a:rPr lang="ru-RU" sz="950" spc="30" dirty="0">
                <a:solidFill>
                  <a:srgbClr val="000000"/>
                </a:solidFill>
                <a:latin typeface="+mn-lt"/>
              </a:rPr>
              <a:t>на каждом этапе</a:t>
            </a:r>
          </a:p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Определение фаз тестирования относительно друг друга во времени</a:t>
            </a:r>
          </a:p>
        </p:txBody>
      </p:sp>
      <p:sp>
        <p:nvSpPr>
          <p:cNvPr id="46" name="TextBox 43">
            <a:extLst>
              <a:ext uri="{FF2B5EF4-FFF2-40B4-BE49-F238E27FC236}">
                <a16:creationId xmlns:a16="http://schemas.microsoft.com/office/drawing/2014/main" id="{A442A6AF-2E4F-85AC-71C4-C53C54D17B97}"/>
              </a:ext>
            </a:extLst>
          </p:cNvPr>
          <p:cNvSpPr txBox="1"/>
          <p:nvPr/>
        </p:nvSpPr>
        <p:spPr>
          <a:xfrm>
            <a:off x="515950" y="4896087"/>
            <a:ext cx="314325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Какие инструменты тестирования </a:t>
            </a:r>
            <a:br>
              <a:rPr lang="en-US" sz="1000" spc="30" dirty="0"/>
            </a:br>
            <a:r>
              <a:rPr lang="ru-RU" sz="950" spc="30" dirty="0">
                <a:solidFill>
                  <a:srgbClr val="000000"/>
                </a:solidFill>
                <a:latin typeface="+mn-lt"/>
              </a:rPr>
              <a:t>внедряются, критерии и границы </a:t>
            </a:r>
            <a:br>
              <a:rPr lang="en-US" sz="1000" spc="30" dirty="0"/>
            </a:br>
            <a:r>
              <a:rPr lang="ru-RU" sz="950" spc="30" dirty="0">
                <a:solidFill>
                  <a:srgbClr val="000000"/>
                </a:solidFill>
                <a:latin typeface="+mn-lt"/>
              </a:rPr>
              <a:t>их использования</a:t>
            </a:r>
          </a:p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Какие документы и артефакты </a:t>
            </a:r>
            <a:br>
              <a:rPr lang="en-US" sz="1000" spc="30" dirty="0"/>
            </a:br>
            <a:r>
              <a:rPr lang="ru-RU" sz="950" spc="30" dirty="0">
                <a:solidFill>
                  <a:srgbClr val="000000"/>
                </a:solidFill>
                <a:latin typeface="+mn-lt"/>
              </a:rPr>
              <a:t>используются</a:t>
            </a:r>
          </a:p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Этапы внедрения </a:t>
            </a:r>
          </a:p>
        </p:txBody>
      </p:sp>
      <p:sp>
        <p:nvSpPr>
          <p:cNvPr id="47" name="TextBox 44">
            <a:extLst>
              <a:ext uri="{FF2B5EF4-FFF2-40B4-BE49-F238E27FC236}">
                <a16:creationId xmlns:a16="http://schemas.microsoft.com/office/drawing/2014/main" id="{5C0CEFDA-74C7-0B19-3599-DEA9A04E45CA}"/>
              </a:ext>
            </a:extLst>
          </p:cNvPr>
          <p:cNvSpPr txBox="1"/>
          <p:nvPr/>
        </p:nvSpPr>
        <p:spPr>
          <a:xfrm>
            <a:off x="8324148" y="880003"/>
            <a:ext cx="3529329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Все действия проверяются и утверждаются бизнес-командой, руководством проекта, командой разработчиков и т</a:t>
            </a:r>
            <a:r>
              <a:rPr lang="en-US" sz="950" spc="30" dirty="0">
                <a:solidFill>
                  <a:srgbClr val="000000"/>
                </a:solidFill>
                <a:latin typeface="+mn-lt"/>
              </a:rPr>
              <a:t>.</a:t>
            </a:r>
            <a:r>
              <a:rPr lang="ru-RU" sz="950" spc="30" dirty="0">
                <a:solidFill>
                  <a:srgbClr val="000000"/>
                </a:solidFill>
                <a:latin typeface="+mn-lt"/>
              </a:rPr>
              <a:t>д.</a:t>
            </a:r>
          </a:p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Сводка изменений фиксируется в начале документа с датой, именем и комментарием</a:t>
            </a:r>
          </a:p>
        </p:txBody>
      </p:sp>
      <p:sp>
        <p:nvSpPr>
          <p:cNvPr id="48" name="TextBox 45">
            <a:extLst>
              <a:ext uri="{FF2B5EF4-FFF2-40B4-BE49-F238E27FC236}">
                <a16:creationId xmlns:a16="http://schemas.microsoft.com/office/drawing/2014/main" id="{0CBD81F9-4D99-7EFD-6BE3-0FF8B8E91368}"/>
              </a:ext>
            </a:extLst>
          </p:cNvPr>
          <p:cNvSpPr txBox="1"/>
          <p:nvPr/>
        </p:nvSpPr>
        <p:spPr>
          <a:xfrm>
            <a:off x="8324148" y="2031811"/>
            <a:ext cx="314325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Количество требований и настроек </a:t>
            </a:r>
            <a:br>
              <a:rPr lang="en-US" sz="1000" spc="30" dirty="0"/>
            </a:br>
            <a:r>
              <a:rPr lang="ru-RU" sz="950" spc="30" dirty="0">
                <a:solidFill>
                  <a:srgbClr val="000000"/>
                </a:solidFill>
                <a:latin typeface="+mn-lt"/>
              </a:rPr>
              <a:t>каждого тестового стенда</a:t>
            </a:r>
          </a:p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Потребности в производственных/ анонимных данных; большие объемы данных; статические данные</a:t>
            </a:r>
          </a:p>
          <a:p>
            <a:pPr marL="171450" indent="-171450">
              <a:spcBef>
                <a:spcPts val="294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950" spc="30" dirty="0">
                <a:solidFill>
                  <a:srgbClr val="000000"/>
                </a:solidFill>
                <a:latin typeface="+mn-lt"/>
              </a:rPr>
              <a:t>Способы создания, хранения и обновления тестовых данных</a:t>
            </a:r>
          </a:p>
        </p:txBody>
      </p:sp>
      <p:sp>
        <p:nvSpPr>
          <p:cNvPr id="49" name="TextBox 46">
            <a:extLst>
              <a:ext uri="{FF2B5EF4-FFF2-40B4-BE49-F238E27FC236}">
                <a16:creationId xmlns:a16="http://schemas.microsoft.com/office/drawing/2014/main" id="{1D1E001F-4596-E337-C734-48931A58FC7B}"/>
              </a:ext>
            </a:extLst>
          </p:cNvPr>
          <p:cNvSpPr txBox="1"/>
          <p:nvPr/>
        </p:nvSpPr>
        <p:spPr>
          <a:xfrm>
            <a:off x="8328276" y="3684079"/>
            <a:ext cx="3143252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Все риски, которые вы можете оценить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План по снижению рисков и действий </a:t>
            </a:r>
            <a:br>
              <a:rPr lang="en-US" sz="1000" spc="30" dirty="0"/>
            </a:br>
            <a:r>
              <a:rPr lang="ru-RU" sz="1000" spc="30" dirty="0">
                <a:solidFill>
                  <a:srgbClr val="000000"/>
                </a:solidFill>
                <a:latin typeface="+mn-lt"/>
              </a:rPr>
              <a:t>в непредвиденных обстоятельствах</a:t>
            </a:r>
          </a:p>
        </p:txBody>
      </p:sp>
      <p:sp>
        <p:nvSpPr>
          <p:cNvPr id="50" name="TextBox 47">
            <a:extLst>
              <a:ext uri="{FF2B5EF4-FFF2-40B4-BE49-F238E27FC236}">
                <a16:creationId xmlns:a16="http://schemas.microsoft.com/office/drawing/2014/main" id="{3972E9E4-48D3-EE81-8227-3DF394C288A5}"/>
              </a:ext>
            </a:extLst>
          </p:cNvPr>
          <p:cNvSpPr txBox="1"/>
          <p:nvPr/>
        </p:nvSpPr>
        <p:spPr>
          <a:xfrm>
            <a:off x="8324148" y="5176798"/>
            <a:ext cx="3143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План управления выпуском </a:t>
            </a:r>
            <a:br>
              <a:rPr lang="en-US" sz="1000" spc="30" dirty="0"/>
            </a:br>
            <a:r>
              <a:rPr lang="ru-RU" sz="1000" spc="30" dirty="0">
                <a:solidFill>
                  <a:srgbClr val="000000"/>
                </a:solidFill>
                <a:latin typeface="+mn-lt"/>
              </a:rPr>
              <a:t>с соответствующей историей версий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Автоматизация </a:t>
            </a:r>
          </a:p>
          <a:p>
            <a:r>
              <a:rPr lang="ru-RU"/>
              <a:t>тестирования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8FB28CD0-943C-47BC-998B-794F42B3425E}"/>
              </a:ext>
            </a:extLst>
          </p:cNvPr>
          <p:cNvSpPr/>
          <p:nvPr/>
        </p:nvSpPr>
        <p:spPr bwMode="auto">
          <a:xfrm>
            <a:off x="605367" y="2881200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AF02DDC5-BE65-4510-A214-40F28492BF82}"/>
              </a:ext>
            </a:extLst>
          </p:cNvPr>
          <p:cNvSpPr/>
          <p:nvPr/>
        </p:nvSpPr>
        <p:spPr bwMode="auto">
          <a:xfrm>
            <a:off x="605367" y="3583228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1C7D8531-3D34-4BE9-A7A5-2AABE75839D0}"/>
              </a:ext>
            </a:extLst>
          </p:cNvPr>
          <p:cNvSpPr/>
          <p:nvPr/>
        </p:nvSpPr>
        <p:spPr bwMode="auto">
          <a:xfrm>
            <a:off x="605367" y="4285256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BDDFE93-1329-4E71-99FD-854F8D285E4D}"/>
              </a:ext>
            </a:extLst>
          </p:cNvPr>
          <p:cNvSpPr/>
          <p:nvPr/>
        </p:nvSpPr>
        <p:spPr bwMode="auto">
          <a:xfrm>
            <a:off x="605367" y="4987284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F6DAE3FF-5D9B-4794-B47B-297B8E71AE63}"/>
              </a:ext>
            </a:extLst>
          </p:cNvPr>
          <p:cNvSpPr/>
          <p:nvPr/>
        </p:nvSpPr>
        <p:spPr bwMode="auto">
          <a:xfrm>
            <a:off x="3623221" y="2881200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Rectangle: Rounded Corners 293">
            <a:extLst>
              <a:ext uri="{FF2B5EF4-FFF2-40B4-BE49-F238E27FC236}">
                <a16:creationId xmlns:a16="http://schemas.microsoft.com/office/drawing/2014/main" id="{A9D92AB8-FE36-4FDA-993C-83A3806F8DBE}"/>
              </a:ext>
            </a:extLst>
          </p:cNvPr>
          <p:cNvSpPr/>
          <p:nvPr/>
        </p:nvSpPr>
        <p:spPr>
          <a:xfrm>
            <a:off x="605367" y="1098306"/>
            <a:ext cx="11039967" cy="757393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6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автоматизированного тестирования</a:t>
            </a:r>
          </a:p>
        </p:txBody>
      </p:sp>
      <p:grpSp>
        <p:nvGrpSpPr>
          <p:cNvPr id="27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3247849"/>
            <a:ext cx="300473" cy="135942"/>
            <a:chOff x="10329863" y="3142398"/>
            <a:chExt cx="817563" cy="369887"/>
          </a:xfrm>
        </p:grpSpPr>
        <p:sp>
          <p:nvSpPr>
            <p:cNvPr id="28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9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0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31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038441"/>
            <a:ext cx="300473" cy="135942"/>
            <a:chOff x="10329863" y="3142398"/>
            <a:chExt cx="817563" cy="369887"/>
          </a:xfrm>
        </p:grpSpPr>
        <p:sp>
          <p:nvSpPr>
            <p:cNvPr id="32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3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35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896000"/>
            <a:ext cx="300473" cy="135942"/>
            <a:chOff x="10329863" y="3142398"/>
            <a:chExt cx="817563" cy="369887"/>
          </a:xfrm>
        </p:grpSpPr>
        <p:sp>
          <p:nvSpPr>
            <p:cNvPr id="36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7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8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39" name="TextBox 290">
            <a:extLst>
              <a:ext uri="{FF2B5EF4-FFF2-40B4-BE49-F238E27FC236}">
                <a16:creationId xmlns:a16="http://schemas.microsoft.com/office/drawing/2014/main" id="{BE7BD9F9-9373-40AC-93D5-5A31747411BE}"/>
              </a:ext>
            </a:extLst>
          </p:cNvPr>
          <p:cNvSpPr txBox="1"/>
          <p:nvPr/>
        </p:nvSpPr>
        <p:spPr>
          <a:xfrm>
            <a:off x="1343241" y="1196872"/>
            <a:ext cx="6782412" cy="410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indent="0" fontAlgn="auto">
              <a:lnSpc>
                <a:spcPts val="1300"/>
              </a:lnSpc>
              <a:spcBef>
                <a:spcPts val="1000"/>
              </a:spcBef>
              <a:spcAft>
                <a:spcPts val="0"/>
              </a:spcAft>
              <a:buClr>
                <a:srgbClr val="7D70EF"/>
              </a:buClr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Использование ИИ позволяет сделать автоматизацию тестирования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эффективной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оправданной практически для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любого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проекта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любой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стадии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разработки</a:t>
            </a:r>
          </a:p>
        </p:txBody>
      </p:sp>
      <p:sp>
        <p:nvSpPr>
          <p:cNvPr id="40" name="TextBox 292">
            <a:extLst>
              <a:ext uri="{FF2B5EF4-FFF2-40B4-BE49-F238E27FC236}">
                <a16:creationId xmlns:a16="http://schemas.microsoft.com/office/drawing/2014/main" id="{DA89BC08-9497-4BE6-A1E9-36A72BA4CBEE}"/>
              </a:ext>
            </a:extLst>
          </p:cNvPr>
          <p:cNvSpPr txBox="1"/>
          <p:nvPr/>
        </p:nvSpPr>
        <p:spPr>
          <a:xfrm>
            <a:off x="538376" y="843782"/>
            <a:ext cx="4500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Когда нужна автоматизация?</a:t>
            </a:r>
            <a:endParaRPr lang="en-US" sz="1050" b="1" spc="30" dirty="0">
              <a:solidFill>
                <a:srgbClr val="8F0D6B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1" name="TextBox 313">
            <a:extLst>
              <a:ext uri="{FF2B5EF4-FFF2-40B4-BE49-F238E27FC236}">
                <a16:creationId xmlns:a16="http://schemas.microsoft.com/office/drawing/2014/main" id="{EA9B5D1E-F94D-49D6-A289-0A873F7A7954}"/>
              </a:ext>
            </a:extLst>
          </p:cNvPr>
          <p:cNvSpPr txBox="1"/>
          <p:nvPr/>
        </p:nvSpPr>
        <p:spPr>
          <a:xfrm>
            <a:off x="538376" y="1961427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3908ECD0-697F-4340-B6F2-B8ECB476FA04}"/>
              </a:ext>
            </a:extLst>
          </p:cNvPr>
          <p:cNvSpPr txBox="1"/>
          <p:nvPr/>
        </p:nvSpPr>
        <p:spPr bwMode="auto">
          <a:xfrm>
            <a:off x="1291327" y="2956194"/>
            <a:ext cx="211066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Аудит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существующих процессов автоматизации </a:t>
            </a:r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B98B4A38-B294-4D4E-9676-73D1C95E621C}"/>
              </a:ext>
            </a:extLst>
          </p:cNvPr>
          <p:cNvSpPr txBox="1"/>
          <p:nvPr/>
        </p:nvSpPr>
        <p:spPr bwMode="auto">
          <a:xfrm>
            <a:off x="4306723" y="2963317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UI</a:t>
            </a: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-тестирования</a:t>
            </a:r>
            <a:r>
              <a:rPr lang="en-US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</a:p>
        </p:txBody>
      </p:sp>
      <p:grpSp>
        <p:nvGrpSpPr>
          <p:cNvPr id="44" name="Группа 400">
            <a:extLst>
              <a:ext uri="{FF2B5EF4-FFF2-40B4-BE49-F238E27FC236}">
                <a16:creationId xmlns:a16="http://schemas.microsoft.com/office/drawing/2014/main" id="{D207F270-F228-4FB0-9D1E-E9B56050035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5626221"/>
            <a:ext cx="300473" cy="135942"/>
            <a:chOff x="10329863" y="3142398"/>
            <a:chExt cx="817563" cy="369887"/>
          </a:xfrm>
        </p:grpSpPr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671123F8-3B9E-4959-9532-47ADF4839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6" name="Rectangle 42">
              <a:extLst>
                <a:ext uri="{FF2B5EF4-FFF2-40B4-BE49-F238E27FC236}">
                  <a16:creationId xmlns:a16="http://schemas.microsoft.com/office/drawing/2014/main" id="{49F8F1C3-96C0-4E90-89D9-62C7F18A9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7" name="Rectangle 43">
              <a:extLst>
                <a:ext uri="{FF2B5EF4-FFF2-40B4-BE49-F238E27FC236}">
                  <a16:creationId xmlns:a16="http://schemas.microsoft.com/office/drawing/2014/main" id="{3A45B9E0-EDEF-4DF4-8E31-280FE5A8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48" name="TextBox 462">
            <a:extLst>
              <a:ext uri="{FF2B5EF4-FFF2-40B4-BE49-F238E27FC236}">
                <a16:creationId xmlns:a16="http://schemas.microsoft.com/office/drawing/2014/main" id="{758E19F7-9E35-41B6-8DF2-D6C333A07490}"/>
              </a:ext>
            </a:extLst>
          </p:cNvPr>
          <p:cNvSpPr txBox="1"/>
          <p:nvPr/>
        </p:nvSpPr>
        <p:spPr>
          <a:xfrm>
            <a:off x="7622626" y="1965288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688AF33-C03C-4711-8D46-BD8A8033EB04}"/>
              </a:ext>
            </a:extLst>
          </p:cNvPr>
          <p:cNvSpPr txBox="1">
            <a:spLocks/>
          </p:cNvSpPr>
          <p:nvPr/>
        </p:nvSpPr>
        <p:spPr>
          <a:xfrm>
            <a:off x="8299948" y="2863768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D70EF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Сокращение издержек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50" name="Rectangle 464">
            <a:extLst>
              <a:ext uri="{FF2B5EF4-FFF2-40B4-BE49-F238E27FC236}">
                <a16:creationId xmlns:a16="http://schemas.microsoft.com/office/drawing/2014/main" id="{6B1D159D-9F56-47D4-9492-85BBFCCD3D1F}"/>
              </a:ext>
            </a:extLst>
          </p:cNvPr>
          <p:cNvSpPr/>
          <p:nvPr/>
        </p:nvSpPr>
        <p:spPr>
          <a:xfrm>
            <a:off x="8299947" y="5182985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Быстрая обратная связь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1" name="Rectangle 465">
            <a:extLst>
              <a:ext uri="{FF2B5EF4-FFF2-40B4-BE49-F238E27FC236}">
                <a16:creationId xmlns:a16="http://schemas.microsoft.com/office/drawing/2014/main" id="{BB939DFB-C0C4-428A-84F2-4B18B0D50EE0}"/>
              </a:ext>
            </a:extLst>
          </p:cNvPr>
          <p:cNvSpPr/>
          <p:nvPr/>
        </p:nvSpPr>
        <p:spPr>
          <a:xfrm>
            <a:off x="8299948" y="3690670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Автоматизация сложных проверок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2" name="Rectangle 466">
            <a:extLst>
              <a:ext uri="{FF2B5EF4-FFF2-40B4-BE49-F238E27FC236}">
                <a16:creationId xmlns:a16="http://schemas.microsoft.com/office/drawing/2014/main" id="{630D5A25-18D9-4A2B-8047-7ADF2314AB5A}"/>
              </a:ext>
            </a:extLst>
          </p:cNvPr>
          <p:cNvSpPr/>
          <p:nvPr/>
        </p:nvSpPr>
        <p:spPr>
          <a:xfrm>
            <a:off x="8299948" y="4443204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Сокращение числа ошибок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53" name="Группа 116">
            <a:extLst>
              <a:ext uri="{FF2B5EF4-FFF2-40B4-BE49-F238E27FC236}">
                <a16:creationId xmlns:a16="http://schemas.microsoft.com/office/drawing/2014/main" id="{5A29427B-CDDB-45E3-B981-78D0901518A0}"/>
              </a:ext>
            </a:extLst>
          </p:cNvPr>
          <p:cNvGrpSpPr>
            <a:grpSpLocks noChangeAspect="1"/>
          </p:cNvGrpSpPr>
          <p:nvPr/>
        </p:nvGrpSpPr>
        <p:grpSpPr>
          <a:xfrm>
            <a:off x="7654989" y="2979545"/>
            <a:ext cx="350620" cy="402223"/>
            <a:chOff x="10272713" y="839121"/>
            <a:chExt cx="787400" cy="90328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1EC30433-24DB-4CE2-BE94-2E3324679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1813" y="1499521"/>
              <a:ext cx="166688" cy="87313"/>
            </a:xfrm>
            <a:custGeom>
              <a:avLst/>
              <a:gdLst>
                <a:gd name="T0" fmla="*/ 12 w 23"/>
                <a:gd name="T1" fmla="*/ 0 h 12"/>
                <a:gd name="T2" fmla="*/ 20 w 23"/>
                <a:gd name="T3" fmla="*/ 2 h 12"/>
                <a:gd name="T4" fmla="*/ 22 w 23"/>
                <a:gd name="T5" fmla="*/ 3 h 12"/>
                <a:gd name="T6" fmla="*/ 22 w 23"/>
                <a:gd name="T7" fmla="*/ 8 h 12"/>
                <a:gd name="T8" fmla="*/ 19 w 23"/>
                <a:gd name="T9" fmla="*/ 11 h 12"/>
                <a:gd name="T10" fmla="*/ 10 w 23"/>
                <a:gd name="T11" fmla="*/ 12 h 12"/>
                <a:gd name="T12" fmla="*/ 4 w 23"/>
                <a:gd name="T13" fmla="*/ 10 h 12"/>
                <a:gd name="T14" fmla="*/ 2 w 23"/>
                <a:gd name="T15" fmla="*/ 8 h 12"/>
                <a:gd name="T16" fmla="*/ 2 w 23"/>
                <a:gd name="T17" fmla="*/ 3 h 12"/>
                <a:gd name="T18" fmla="*/ 6 w 23"/>
                <a:gd name="T19" fmla="*/ 1 h 12"/>
                <a:gd name="T20" fmla="*/ 12 w 2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2">
                  <a:moveTo>
                    <a:pt x="12" y="0"/>
                  </a:moveTo>
                  <a:cubicBezTo>
                    <a:pt x="15" y="0"/>
                    <a:pt x="17" y="0"/>
                    <a:pt x="20" y="2"/>
                  </a:cubicBezTo>
                  <a:cubicBezTo>
                    <a:pt x="21" y="2"/>
                    <a:pt x="22" y="3"/>
                    <a:pt x="22" y="3"/>
                  </a:cubicBezTo>
                  <a:cubicBezTo>
                    <a:pt x="23" y="5"/>
                    <a:pt x="23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6" y="12"/>
                    <a:pt x="13" y="12"/>
                    <a:pt x="10" y="12"/>
                  </a:cubicBezTo>
                  <a:cubicBezTo>
                    <a:pt x="8" y="12"/>
                    <a:pt x="6" y="11"/>
                    <a:pt x="4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7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78EE845E-799F-4F6C-B705-E9E9D959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580484"/>
              <a:ext cx="174625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4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7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DF8CD1B5-48DE-4F1E-B1C0-5C3CB3CF2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1426496"/>
              <a:ext cx="173038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5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4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C2D6C707-F19B-448A-BEF2-D5EC19AF5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07459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6 w 22"/>
                <a:gd name="T3" fmla="*/ 5 h 12"/>
                <a:gd name="T4" fmla="*/ 17 w 22"/>
                <a:gd name="T5" fmla="*/ 4 h 12"/>
                <a:gd name="T6" fmla="*/ 21 w 22"/>
                <a:gd name="T7" fmla="*/ 2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4 h 12"/>
                <a:gd name="T14" fmla="*/ 20 w 22"/>
                <a:gd name="T15" fmla="*/ 9 h 12"/>
                <a:gd name="T16" fmla="*/ 15 w 22"/>
                <a:gd name="T17" fmla="*/ 11 h 12"/>
                <a:gd name="T18" fmla="*/ 5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  <a:gd name="T26" fmla="*/ 0 w 22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3" y="4"/>
                    <a:pt x="6" y="5"/>
                  </a:cubicBezTo>
                  <a:cubicBezTo>
                    <a:pt x="10" y="6"/>
                    <a:pt x="14" y="6"/>
                    <a:pt x="17" y="4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8"/>
                    <a:pt x="20" y="9"/>
                  </a:cubicBezTo>
                  <a:cubicBezTo>
                    <a:pt x="19" y="10"/>
                    <a:pt x="17" y="10"/>
                    <a:pt x="15" y="11"/>
                  </a:cubicBezTo>
                  <a:cubicBezTo>
                    <a:pt x="12" y="12"/>
                    <a:pt x="8" y="11"/>
                    <a:pt x="5" y="10"/>
                  </a:cubicBezTo>
                  <a:cubicBezTo>
                    <a:pt x="4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0719F1F8-D861-4998-9544-589E9088B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661446"/>
              <a:ext cx="158750" cy="80963"/>
            </a:xfrm>
            <a:custGeom>
              <a:avLst/>
              <a:gdLst>
                <a:gd name="T0" fmla="*/ 22 w 22"/>
                <a:gd name="T1" fmla="*/ 0 h 11"/>
                <a:gd name="T2" fmla="*/ 22 w 22"/>
                <a:gd name="T3" fmla="*/ 0 h 11"/>
                <a:gd name="T4" fmla="*/ 22 w 22"/>
                <a:gd name="T5" fmla="*/ 5 h 11"/>
                <a:gd name="T6" fmla="*/ 21 w 22"/>
                <a:gd name="T7" fmla="*/ 8 h 11"/>
                <a:gd name="T8" fmla="*/ 15 w 22"/>
                <a:gd name="T9" fmla="*/ 11 h 11"/>
                <a:gd name="T10" fmla="*/ 4 w 22"/>
                <a:gd name="T11" fmla="*/ 10 h 11"/>
                <a:gd name="T12" fmla="*/ 1 w 22"/>
                <a:gd name="T13" fmla="*/ 8 h 11"/>
                <a:gd name="T14" fmla="*/ 0 w 22"/>
                <a:gd name="T15" fmla="*/ 4 h 11"/>
                <a:gd name="T16" fmla="*/ 0 w 22"/>
                <a:gd name="T17" fmla="*/ 0 h 11"/>
                <a:gd name="T18" fmla="*/ 1 w 22"/>
                <a:gd name="T19" fmla="*/ 1 h 11"/>
                <a:gd name="T20" fmla="*/ 3 w 22"/>
                <a:gd name="T21" fmla="*/ 3 h 11"/>
                <a:gd name="T22" fmla="*/ 9 w 22"/>
                <a:gd name="T23" fmla="*/ 5 h 11"/>
                <a:gd name="T24" fmla="*/ 18 w 22"/>
                <a:gd name="T25" fmla="*/ 4 h 11"/>
                <a:gd name="T26" fmla="*/ 20 w 22"/>
                <a:gd name="T27" fmla="*/ 3 h 11"/>
                <a:gd name="T28" fmla="*/ 22 w 22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7" y="10"/>
                    <a:pt x="15" y="11"/>
                  </a:cubicBezTo>
                  <a:cubicBezTo>
                    <a:pt x="12" y="11"/>
                    <a:pt x="8" y="11"/>
                    <a:pt x="4" y="10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0" y="7"/>
                    <a:pt x="0" y="6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7" y="5"/>
                    <a:pt x="9" y="5"/>
                  </a:cubicBezTo>
                  <a:cubicBezTo>
                    <a:pt x="12" y="5"/>
                    <a:pt x="15" y="5"/>
                    <a:pt x="18" y="4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1" y="2"/>
                    <a:pt x="22" y="1"/>
                    <a:pt x="2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C81130DE-CD24-49EF-BB10-2FFD4AEC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2 w 22"/>
                <a:gd name="T5" fmla="*/ 6 h 12"/>
                <a:gd name="T6" fmla="*/ 19 w 22"/>
                <a:gd name="T7" fmla="*/ 4 h 12"/>
                <a:gd name="T8" fmla="*/ 21 w 22"/>
                <a:gd name="T9" fmla="*/ 2 h 12"/>
                <a:gd name="T10" fmla="*/ 22 w 22"/>
                <a:gd name="T11" fmla="*/ 0 h 12"/>
                <a:gd name="T12" fmla="*/ 22 w 22"/>
                <a:gd name="T13" fmla="*/ 1 h 12"/>
                <a:gd name="T14" fmla="*/ 22 w 22"/>
                <a:gd name="T15" fmla="*/ 5 h 12"/>
                <a:gd name="T16" fmla="*/ 21 w 22"/>
                <a:gd name="T17" fmla="*/ 8 h 12"/>
                <a:gd name="T18" fmla="*/ 17 w 22"/>
                <a:gd name="T19" fmla="*/ 11 h 12"/>
                <a:gd name="T20" fmla="*/ 4 w 22"/>
                <a:gd name="T21" fmla="*/ 10 h 12"/>
                <a:gd name="T22" fmla="*/ 1 w 22"/>
                <a:gd name="T23" fmla="*/ 9 h 12"/>
                <a:gd name="T24" fmla="*/ 0 w 22"/>
                <a:gd name="T25" fmla="*/ 5 h 12"/>
                <a:gd name="T26" fmla="*/ 0 w 22"/>
                <a:gd name="T27" fmla="*/ 1 h 12"/>
                <a:gd name="T28" fmla="*/ 0 w 22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3"/>
                    <a:pt x="2" y="4"/>
                    <a:pt x="4" y="4"/>
                  </a:cubicBezTo>
                  <a:cubicBezTo>
                    <a:pt x="7" y="5"/>
                    <a:pt x="9" y="6"/>
                    <a:pt x="12" y="6"/>
                  </a:cubicBezTo>
                  <a:cubicBezTo>
                    <a:pt x="14" y="5"/>
                    <a:pt x="17" y="5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8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8"/>
                    <a:pt x="0" y="7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8352BCE7-4CFC-41A4-8197-69D4D9DF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661446"/>
              <a:ext cx="158750" cy="80963"/>
            </a:xfrm>
            <a:custGeom>
              <a:avLst/>
              <a:gdLst>
                <a:gd name="T0" fmla="*/ 0 w 22"/>
                <a:gd name="T1" fmla="*/ 0 h 11"/>
                <a:gd name="T2" fmla="*/ 4 w 22"/>
                <a:gd name="T3" fmla="*/ 4 h 11"/>
                <a:gd name="T4" fmla="*/ 18 w 22"/>
                <a:gd name="T5" fmla="*/ 4 h 11"/>
                <a:gd name="T6" fmla="*/ 21 w 22"/>
                <a:gd name="T7" fmla="*/ 2 h 11"/>
                <a:gd name="T8" fmla="*/ 22 w 22"/>
                <a:gd name="T9" fmla="*/ 0 h 11"/>
                <a:gd name="T10" fmla="*/ 22 w 22"/>
                <a:gd name="T11" fmla="*/ 0 h 11"/>
                <a:gd name="T12" fmla="*/ 22 w 22"/>
                <a:gd name="T13" fmla="*/ 4 h 11"/>
                <a:gd name="T14" fmla="*/ 21 w 22"/>
                <a:gd name="T15" fmla="*/ 8 h 11"/>
                <a:gd name="T16" fmla="*/ 16 w 22"/>
                <a:gd name="T17" fmla="*/ 10 h 11"/>
                <a:gd name="T18" fmla="*/ 3 w 22"/>
                <a:gd name="T19" fmla="*/ 9 h 11"/>
                <a:gd name="T20" fmla="*/ 0 w 22"/>
                <a:gd name="T21" fmla="*/ 7 h 11"/>
                <a:gd name="T22" fmla="*/ 0 w 22"/>
                <a:gd name="T23" fmla="*/ 5 h 11"/>
                <a:gd name="T24" fmla="*/ 0 w 22"/>
                <a:gd name="T25" fmla="*/ 0 h 11"/>
                <a:gd name="T26" fmla="*/ 0 w 2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1">
                  <a:moveTo>
                    <a:pt x="0" y="0"/>
                  </a:moveTo>
                  <a:cubicBezTo>
                    <a:pt x="0" y="2"/>
                    <a:pt x="2" y="3"/>
                    <a:pt x="4" y="4"/>
                  </a:cubicBezTo>
                  <a:cubicBezTo>
                    <a:pt x="9" y="6"/>
                    <a:pt x="14" y="5"/>
                    <a:pt x="18" y="4"/>
                  </a:cubicBezTo>
                  <a:cubicBezTo>
                    <a:pt x="19" y="3"/>
                    <a:pt x="20" y="3"/>
                    <a:pt x="21" y="2"/>
                  </a:cubicBezTo>
                  <a:cubicBezTo>
                    <a:pt x="21" y="1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8" y="10"/>
                    <a:pt x="16" y="10"/>
                  </a:cubicBezTo>
                  <a:cubicBezTo>
                    <a:pt x="12" y="11"/>
                    <a:pt x="7" y="11"/>
                    <a:pt x="3" y="9"/>
                  </a:cubicBezTo>
                  <a:cubicBezTo>
                    <a:pt x="2" y="9"/>
                    <a:pt x="1" y="8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98C654CA-CD2D-4380-9C06-E6C2BA587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8 w 22"/>
                <a:gd name="T5" fmla="*/ 4 h 12"/>
                <a:gd name="T6" fmla="*/ 21 w 22"/>
                <a:gd name="T7" fmla="*/ 3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5 h 12"/>
                <a:gd name="T14" fmla="*/ 21 w 22"/>
                <a:gd name="T15" fmla="*/ 8 h 12"/>
                <a:gd name="T16" fmla="*/ 17 w 22"/>
                <a:gd name="T17" fmla="*/ 11 h 12"/>
                <a:gd name="T18" fmla="*/ 4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2" y="4"/>
                    <a:pt x="4" y="4"/>
                  </a:cubicBezTo>
                  <a:cubicBezTo>
                    <a:pt x="9" y="6"/>
                    <a:pt x="13" y="6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9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63D02B39-8765-451B-B85C-69EA003CA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661446"/>
              <a:ext cx="166688" cy="80963"/>
            </a:xfrm>
            <a:custGeom>
              <a:avLst/>
              <a:gdLst>
                <a:gd name="T0" fmla="*/ 0 w 23"/>
                <a:gd name="T1" fmla="*/ 0 h 11"/>
                <a:gd name="T2" fmla="*/ 5 w 23"/>
                <a:gd name="T3" fmla="*/ 4 h 11"/>
                <a:gd name="T4" fmla="*/ 14 w 23"/>
                <a:gd name="T5" fmla="*/ 5 h 11"/>
                <a:gd name="T6" fmla="*/ 20 w 23"/>
                <a:gd name="T7" fmla="*/ 3 h 11"/>
                <a:gd name="T8" fmla="*/ 22 w 23"/>
                <a:gd name="T9" fmla="*/ 1 h 11"/>
                <a:gd name="T10" fmla="*/ 23 w 23"/>
                <a:gd name="T11" fmla="*/ 0 h 11"/>
                <a:gd name="T12" fmla="*/ 23 w 23"/>
                <a:gd name="T13" fmla="*/ 0 h 11"/>
                <a:gd name="T14" fmla="*/ 23 w 23"/>
                <a:gd name="T15" fmla="*/ 5 h 11"/>
                <a:gd name="T16" fmla="*/ 22 w 23"/>
                <a:gd name="T17" fmla="*/ 8 h 11"/>
                <a:gd name="T18" fmla="*/ 18 w 23"/>
                <a:gd name="T19" fmla="*/ 10 h 11"/>
                <a:gd name="T20" fmla="*/ 4 w 23"/>
                <a:gd name="T21" fmla="*/ 9 h 11"/>
                <a:gd name="T22" fmla="*/ 1 w 23"/>
                <a:gd name="T23" fmla="*/ 7 h 11"/>
                <a:gd name="T24" fmla="*/ 0 w 23"/>
                <a:gd name="T25" fmla="*/ 5 h 11"/>
                <a:gd name="T26" fmla="*/ 0 w 23"/>
                <a:gd name="T27" fmla="*/ 0 h 11"/>
                <a:gd name="T28" fmla="*/ 0 w 23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1" y="2"/>
                    <a:pt x="3" y="3"/>
                    <a:pt x="5" y="4"/>
                  </a:cubicBezTo>
                  <a:cubicBezTo>
                    <a:pt x="7" y="5"/>
                    <a:pt x="10" y="5"/>
                    <a:pt x="14" y="5"/>
                  </a:cubicBezTo>
                  <a:cubicBezTo>
                    <a:pt x="16" y="5"/>
                    <a:pt x="18" y="4"/>
                    <a:pt x="20" y="3"/>
                  </a:cubicBezTo>
                  <a:cubicBezTo>
                    <a:pt x="21" y="3"/>
                    <a:pt x="22" y="2"/>
                    <a:pt x="22" y="1"/>
                  </a:cubicBezTo>
                  <a:cubicBezTo>
                    <a:pt x="23" y="1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2"/>
                    <a:pt x="23" y="3"/>
                    <a:pt x="23" y="5"/>
                  </a:cubicBezTo>
                  <a:cubicBezTo>
                    <a:pt x="23" y="6"/>
                    <a:pt x="23" y="7"/>
                    <a:pt x="22" y="8"/>
                  </a:cubicBezTo>
                  <a:cubicBezTo>
                    <a:pt x="21" y="9"/>
                    <a:pt x="20" y="9"/>
                    <a:pt x="18" y="10"/>
                  </a:cubicBezTo>
                  <a:cubicBezTo>
                    <a:pt x="14" y="11"/>
                    <a:pt x="9" y="11"/>
                    <a:pt x="4" y="9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AC8FF4AC-F1DB-4A9C-96C1-931C9D55D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0838" y="1037559"/>
              <a:ext cx="274638" cy="293688"/>
            </a:xfrm>
            <a:custGeom>
              <a:avLst/>
              <a:gdLst>
                <a:gd name="T0" fmla="*/ 12 w 38"/>
                <a:gd name="T1" fmla="*/ 40 h 40"/>
                <a:gd name="T2" fmla="*/ 8 w 38"/>
                <a:gd name="T3" fmla="*/ 40 h 40"/>
                <a:gd name="T4" fmla="*/ 8 w 38"/>
                <a:gd name="T5" fmla="*/ 24 h 40"/>
                <a:gd name="T6" fmla="*/ 0 w 38"/>
                <a:gd name="T7" fmla="*/ 24 h 40"/>
                <a:gd name="T8" fmla="*/ 0 w 38"/>
                <a:gd name="T9" fmla="*/ 20 h 40"/>
                <a:gd name="T10" fmla="*/ 8 w 38"/>
                <a:gd name="T11" fmla="*/ 20 h 40"/>
                <a:gd name="T12" fmla="*/ 8 w 38"/>
                <a:gd name="T13" fmla="*/ 2 h 40"/>
                <a:gd name="T14" fmla="*/ 9 w 38"/>
                <a:gd name="T15" fmla="*/ 0 h 40"/>
                <a:gd name="T16" fmla="*/ 10 w 38"/>
                <a:gd name="T17" fmla="*/ 0 h 40"/>
                <a:gd name="T18" fmla="*/ 26 w 38"/>
                <a:gd name="T19" fmla="*/ 0 h 40"/>
                <a:gd name="T20" fmla="*/ 27 w 38"/>
                <a:gd name="T21" fmla="*/ 0 h 40"/>
                <a:gd name="T22" fmla="*/ 36 w 38"/>
                <a:gd name="T23" fmla="*/ 7 h 40"/>
                <a:gd name="T24" fmla="*/ 33 w 38"/>
                <a:gd name="T25" fmla="*/ 21 h 40"/>
                <a:gd name="T26" fmla="*/ 27 w 38"/>
                <a:gd name="T27" fmla="*/ 24 h 40"/>
                <a:gd name="T28" fmla="*/ 12 w 38"/>
                <a:gd name="T29" fmla="*/ 24 h 40"/>
                <a:gd name="T30" fmla="*/ 12 w 38"/>
                <a:gd name="T31" fmla="*/ 40 h 40"/>
                <a:gd name="T32" fmla="*/ 12 w 38"/>
                <a:gd name="T33" fmla="*/ 20 h 40"/>
                <a:gd name="T34" fmla="*/ 27 w 38"/>
                <a:gd name="T35" fmla="*/ 20 h 40"/>
                <a:gd name="T36" fmla="*/ 31 w 38"/>
                <a:gd name="T37" fmla="*/ 18 h 40"/>
                <a:gd name="T38" fmla="*/ 32 w 38"/>
                <a:gd name="T39" fmla="*/ 9 h 40"/>
                <a:gd name="T40" fmla="*/ 26 w 38"/>
                <a:gd name="T41" fmla="*/ 4 h 40"/>
                <a:gd name="T42" fmla="*/ 12 w 38"/>
                <a:gd name="T43" fmla="*/ 4 h 40"/>
                <a:gd name="T44" fmla="*/ 12 w 38"/>
                <a:gd name="T45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40">
                  <a:moveTo>
                    <a:pt x="12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8" y="0"/>
                    <a:pt x="33" y="2"/>
                    <a:pt x="36" y="7"/>
                  </a:cubicBezTo>
                  <a:cubicBezTo>
                    <a:pt x="38" y="11"/>
                    <a:pt x="37" y="17"/>
                    <a:pt x="33" y="21"/>
                  </a:cubicBezTo>
                  <a:cubicBezTo>
                    <a:pt x="31" y="23"/>
                    <a:pt x="29" y="24"/>
                    <a:pt x="27" y="24"/>
                  </a:cubicBezTo>
                  <a:cubicBezTo>
                    <a:pt x="12" y="24"/>
                    <a:pt x="12" y="24"/>
                    <a:pt x="12" y="24"/>
                  </a:cubicBezTo>
                  <a:lnTo>
                    <a:pt x="12" y="40"/>
                  </a:lnTo>
                  <a:close/>
                  <a:moveTo>
                    <a:pt x="12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9" y="20"/>
                    <a:pt x="31" y="18"/>
                  </a:cubicBezTo>
                  <a:cubicBezTo>
                    <a:pt x="33" y="16"/>
                    <a:pt x="33" y="11"/>
                    <a:pt x="32" y="9"/>
                  </a:cubicBezTo>
                  <a:cubicBezTo>
                    <a:pt x="30" y="5"/>
                    <a:pt x="27" y="4"/>
                    <a:pt x="26" y="4"/>
                  </a:cubicBezTo>
                  <a:cubicBezTo>
                    <a:pt x="12" y="4"/>
                    <a:pt x="12" y="4"/>
                    <a:pt x="12" y="4"/>
                  </a:cubicBezTo>
                  <a:lnTo>
                    <a:pt x="12" y="20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F9D8D156-8B60-43F7-B3EF-1856AA433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8" y="1250284"/>
              <a:ext cx="144463" cy="28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CC2A789E-2ACD-4222-A9C2-97E601E02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2713" y="839121"/>
              <a:ext cx="685800" cy="696913"/>
            </a:xfrm>
            <a:custGeom>
              <a:avLst/>
              <a:gdLst>
                <a:gd name="T0" fmla="*/ 48 w 95"/>
                <a:gd name="T1" fmla="*/ 95 h 95"/>
                <a:gd name="T2" fmla="*/ 46 w 95"/>
                <a:gd name="T3" fmla="*/ 94 h 95"/>
                <a:gd name="T4" fmla="*/ 1 w 95"/>
                <a:gd name="T5" fmla="*/ 49 h 95"/>
                <a:gd name="T6" fmla="*/ 1 w 95"/>
                <a:gd name="T7" fmla="*/ 46 h 95"/>
                <a:gd name="T8" fmla="*/ 46 w 95"/>
                <a:gd name="T9" fmla="*/ 0 h 95"/>
                <a:gd name="T10" fmla="*/ 49 w 95"/>
                <a:gd name="T11" fmla="*/ 0 h 95"/>
                <a:gd name="T12" fmla="*/ 94 w 95"/>
                <a:gd name="T13" fmla="*/ 46 h 95"/>
                <a:gd name="T14" fmla="*/ 94 w 95"/>
                <a:gd name="T15" fmla="*/ 49 h 95"/>
                <a:gd name="T16" fmla="*/ 79 w 95"/>
                <a:gd name="T17" fmla="*/ 64 h 95"/>
                <a:gd name="T18" fmla="*/ 76 w 95"/>
                <a:gd name="T19" fmla="*/ 61 h 95"/>
                <a:gd name="T20" fmla="*/ 90 w 95"/>
                <a:gd name="T21" fmla="*/ 47 h 95"/>
                <a:gd name="T22" fmla="*/ 48 w 95"/>
                <a:gd name="T23" fmla="*/ 5 h 95"/>
                <a:gd name="T24" fmla="*/ 5 w 95"/>
                <a:gd name="T25" fmla="*/ 47 h 95"/>
                <a:gd name="T26" fmla="*/ 48 w 95"/>
                <a:gd name="T27" fmla="*/ 90 h 95"/>
                <a:gd name="T28" fmla="*/ 61 w 95"/>
                <a:gd name="T29" fmla="*/ 77 h 95"/>
                <a:gd name="T30" fmla="*/ 64 w 95"/>
                <a:gd name="T31" fmla="*/ 79 h 95"/>
                <a:gd name="T32" fmla="*/ 49 w 95"/>
                <a:gd name="T33" fmla="*/ 94 h 95"/>
                <a:gd name="T34" fmla="*/ 48 w 95"/>
                <a:gd name="T3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cubicBezTo>
                    <a:pt x="47" y="95"/>
                    <a:pt x="47" y="94"/>
                    <a:pt x="46" y="9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7" y="0"/>
                    <a:pt x="48" y="0"/>
                    <a:pt x="49" y="0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7"/>
                    <a:pt x="95" y="48"/>
                    <a:pt x="94" y="49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94"/>
                    <a:pt x="48" y="95"/>
                    <a:pt x="48" y="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6" name="Группа 217">
            <a:extLst>
              <a:ext uri="{FF2B5EF4-FFF2-40B4-BE49-F238E27FC236}">
                <a16:creationId xmlns:a16="http://schemas.microsoft.com/office/drawing/2014/main" id="{13CD7032-FE59-4707-A3C5-703FF344CD88}"/>
              </a:ext>
            </a:extLst>
          </p:cNvPr>
          <p:cNvGrpSpPr>
            <a:grpSpLocks noChangeAspect="1"/>
          </p:cNvGrpSpPr>
          <p:nvPr/>
        </p:nvGrpSpPr>
        <p:grpSpPr>
          <a:xfrm>
            <a:off x="7647521" y="3835938"/>
            <a:ext cx="384600" cy="318081"/>
            <a:chOff x="6618869" y="4801485"/>
            <a:chExt cx="869423" cy="719050"/>
          </a:xfrm>
        </p:grpSpPr>
        <p:sp>
          <p:nvSpPr>
            <p:cNvPr id="67" name="Полилиния: фигура 116">
              <a:extLst>
                <a:ext uri="{FF2B5EF4-FFF2-40B4-BE49-F238E27FC236}">
                  <a16:creationId xmlns:a16="http://schemas.microsoft.com/office/drawing/2014/main" id="{BA6DC6FF-E36F-444A-8F93-F6597D0EC15B}"/>
                </a:ext>
              </a:extLst>
            </p:cNvPr>
            <p:cNvSpPr/>
            <p:nvPr/>
          </p:nvSpPr>
          <p:spPr>
            <a:xfrm>
              <a:off x="7089124" y="5411175"/>
              <a:ext cx="330818" cy="95691"/>
            </a:xfrm>
            <a:custGeom>
              <a:avLst/>
              <a:gdLst>
                <a:gd name="connsiteX0" fmla="*/ 317148 w 330818"/>
                <a:gd name="connsiteY0" fmla="*/ 95691 h 95691"/>
                <a:gd name="connsiteX1" fmla="*/ 0 w 330818"/>
                <a:gd name="connsiteY1" fmla="*/ 95691 h 95691"/>
                <a:gd name="connsiteX2" fmla="*/ 0 w 330818"/>
                <a:gd name="connsiteY2" fmla="*/ 68351 h 95691"/>
                <a:gd name="connsiteX3" fmla="*/ 303478 w 330818"/>
                <a:gd name="connsiteY3" fmla="*/ 68351 h 95691"/>
                <a:gd name="connsiteX4" fmla="*/ 303478 w 330818"/>
                <a:gd name="connsiteY4" fmla="*/ 0 h 95691"/>
                <a:gd name="connsiteX5" fmla="*/ 330818 w 330818"/>
                <a:gd name="connsiteY5" fmla="*/ 0 h 95691"/>
                <a:gd name="connsiteX6" fmla="*/ 330818 w 330818"/>
                <a:gd name="connsiteY6" fmla="*/ 82021 h 95691"/>
                <a:gd name="connsiteX7" fmla="*/ 317148 w 330818"/>
                <a:gd name="connsiteY7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818" h="95691">
                  <a:moveTo>
                    <a:pt x="317148" y="95691"/>
                  </a:moveTo>
                  <a:lnTo>
                    <a:pt x="0" y="95691"/>
                  </a:lnTo>
                  <a:lnTo>
                    <a:pt x="0" y="68351"/>
                  </a:lnTo>
                  <a:lnTo>
                    <a:pt x="303478" y="68351"/>
                  </a:lnTo>
                  <a:lnTo>
                    <a:pt x="303478" y="0"/>
                  </a:lnTo>
                  <a:lnTo>
                    <a:pt x="330818" y="0"/>
                  </a:lnTo>
                  <a:lnTo>
                    <a:pt x="330818" y="82021"/>
                  </a:lnTo>
                  <a:cubicBezTo>
                    <a:pt x="330818" y="90223"/>
                    <a:pt x="325350" y="95691"/>
                    <a:pt x="317148" y="95691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8" name="Полилиния: фигура 117">
              <a:extLst>
                <a:ext uri="{FF2B5EF4-FFF2-40B4-BE49-F238E27FC236}">
                  <a16:creationId xmlns:a16="http://schemas.microsoft.com/office/drawing/2014/main" id="{E7F8DB98-A476-405C-82A3-840D0D81E5D7}"/>
                </a:ext>
              </a:extLst>
            </p:cNvPr>
            <p:cNvSpPr/>
            <p:nvPr/>
          </p:nvSpPr>
          <p:spPr>
            <a:xfrm>
              <a:off x="6627072" y="5400239"/>
              <a:ext cx="164042" cy="106627"/>
            </a:xfrm>
            <a:custGeom>
              <a:avLst/>
              <a:gdLst>
                <a:gd name="connsiteX0" fmla="*/ 164042 w 164042"/>
                <a:gd name="connsiteY0" fmla="*/ 106627 h 106627"/>
                <a:gd name="connsiteX1" fmla="*/ 13670 w 164042"/>
                <a:gd name="connsiteY1" fmla="*/ 106627 h 106627"/>
                <a:gd name="connsiteX2" fmla="*/ 0 w 164042"/>
                <a:gd name="connsiteY2" fmla="*/ 92957 h 106627"/>
                <a:gd name="connsiteX3" fmla="*/ 0 w 164042"/>
                <a:gd name="connsiteY3" fmla="*/ 0 h 106627"/>
                <a:gd name="connsiteX4" fmla="*/ 27340 w 164042"/>
                <a:gd name="connsiteY4" fmla="*/ 0 h 106627"/>
                <a:gd name="connsiteX5" fmla="*/ 27340 w 164042"/>
                <a:gd name="connsiteY5" fmla="*/ 79287 h 106627"/>
                <a:gd name="connsiteX6" fmla="*/ 164042 w 164042"/>
                <a:gd name="connsiteY6" fmla="*/ 79287 h 106627"/>
                <a:gd name="connsiteX7" fmla="*/ 164042 w 164042"/>
                <a:gd name="connsiteY7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42" h="106627">
                  <a:moveTo>
                    <a:pt x="164042" y="106627"/>
                  </a:moveTo>
                  <a:lnTo>
                    <a:pt x="13670" y="106627"/>
                  </a:lnTo>
                  <a:cubicBezTo>
                    <a:pt x="5468" y="106627"/>
                    <a:pt x="0" y="101159"/>
                    <a:pt x="0" y="92957"/>
                  </a:cubicBezTo>
                  <a:lnTo>
                    <a:pt x="0" y="0"/>
                  </a:lnTo>
                  <a:lnTo>
                    <a:pt x="27340" y="0"/>
                  </a:lnTo>
                  <a:lnTo>
                    <a:pt x="27340" y="79287"/>
                  </a:lnTo>
                  <a:lnTo>
                    <a:pt x="164042" y="79287"/>
                  </a:lnTo>
                  <a:lnTo>
                    <a:pt x="164042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9" name="Полилиния: фигура 118">
              <a:extLst>
                <a:ext uri="{FF2B5EF4-FFF2-40B4-BE49-F238E27FC236}">
                  <a16:creationId xmlns:a16="http://schemas.microsoft.com/office/drawing/2014/main" id="{4CC327AC-2DDC-4BE0-AE27-87C5897B1E10}"/>
                </a:ext>
              </a:extLst>
            </p:cNvPr>
            <p:cNvSpPr/>
            <p:nvPr/>
          </p:nvSpPr>
          <p:spPr>
            <a:xfrm>
              <a:off x="6627072" y="4804219"/>
              <a:ext cx="153106" cy="360892"/>
            </a:xfrm>
            <a:custGeom>
              <a:avLst/>
              <a:gdLst>
                <a:gd name="connsiteX0" fmla="*/ 27340 w 153106"/>
                <a:gd name="connsiteY0" fmla="*/ 360893 h 360892"/>
                <a:gd name="connsiteX1" fmla="*/ 0 w 153106"/>
                <a:gd name="connsiteY1" fmla="*/ 360893 h 360892"/>
                <a:gd name="connsiteX2" fmla="*/ 0 w 153106"/>
                <a:gd name="connsiteY2" fmla="*/ 13670 h 360892"/>
                <a:gd name="connsiteX3" fmla="*/ 13670 w 153106"/>
                <a:gd name="connsiteY3" fmla="*/ 0 h 360892"/>
                <a:gd name="connsiteX4" fmla="*/ 153106 w 153106"/>
                <a:gd name="connsiteY4" fmla="*/ 0 h 360892"/>
                <a:gd name="connsiteX5" fmla="*/ 153106 w 153106"/>
                <a:gd name="connsiteY5" fmla="*/ 27340 h 360892"/>
                <a:gd name="connsiteX6" fmla="*/ 27340 w 153106"/>
                <a:gd name="connsiteY6" fmla="*/ 27340 h 360892"/>
                <a:gd name="connsiteX7" fmla="*/ 27340 w 153106"/>
                <a:gd name="connsiteY7" fmla="*/ 360893 h 36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106" h="360892">
                  <a:moveTo>
                    <a:pt x="27340" y="360893"/>
                  </a:moveTo>
                  <a:lnTo>
                    <a:pt x="0" y="360893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53106" y="0"/>
                  </a:lnTo>
                  <a:lnTo>
                    <a:pt x="153106" y="27340"/>
                  </a:lnTo>
                  <a:lnTo>
                    <a:pt x="27340" y="27340"/>
                  </a:lnTo>
                  <a:lnTo>
                    <a:pt x="27340" y="360893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0" name="Полилиния: фигура 119">
              <a:extLst>
                <a:ext uri="{FF2B5EF4-FFF2-40B4-BE49-F238E27FC236}">
                  <a16:creationId xmlns:a16="http://schemas.microsoft.com/office/drawing/2014/main" id="{476A48E6-E26A-4E08-9503-E42DF8D559C5}"/>
                </a:ext>
              </a:extLst>
            </p:cNvPr>
            <p:cNvSpPr/>
            <p:nvPr/>
          </p:nvSpPr>
          <p:spPr>
            <a:xfrm>
              <a:off x="6985230" y="4804219"/>
              <a:ext cx="421041" cy="27340"/>
            </a:xfrm>
            <a:custGeom>
              <a:avLst/>
              <a:gdLst>
                <a:gd name="connsiteX0" fmla="*/ 0 w 421041"/>
                <a:gd name="connsiteY0" fmla="*/ 0 h 27340"/>
                <a:gd name="connsiteX1" fmla="*/ 421041 w 421041"/>
                <a:gd name="connsiteY1" fmla="*/ 0 h 27340"/>
                <a:gd name="connsiteX2" fmla="*/ 421041 w 421041"/>
                <a:gd name="connsiteY2" fmla="*/ 27340 h 27340"/>
                <a:gd name="connsiteX3" fmla="*/ 0 w 42104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041" h="27340">
                  <a:moveTo>
                    <a:pt x="0" y="0"/>
                  </a:moveTo>
                  <a:lnTo>
                    <a:pt x="421041" y="0"/>
                  </a:lnTo>
                  <a:lnTo>
                    <a:pt x="42104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1" name="Полилиния: фигура 120">
              <a:extLst>
                <a:ext uri="{FF2B5EF4-FFF2-40B4-BE49-F238E27FC236}">
                  <a16:creationId xmlns:a16="http://schemas.microsoft.com/office/drawing/2014/main" id="{28666F96-322A-4ED3-815B-612A3591506C}"/>
                </a:ext>
              </a:extLst>
            </p:cNvPr>
            <p:cNvSpPr/>
            <p:nvPr/>
          </p:nvSpPr>
          <p:spPr>
            <a:xfrm>
              <a:off x="6818454" y="5296345"/>
              <a:ext cx="221457" cy="224190"/>
            </a:xfrm>
            <a:custGeom>
              <a:avLst/>
              <a:gdLst>
                <a:gd name="connsiteX0" fmla="*/ 221457 w 221457"/>
                <a:gd name="connsiteY0" fmla="*/ 224191 h 224190"/>
                <a:gd name="connsiteX1" fmla="*/ 0 w 221457"/>
                <a:gd name="connsiteY1" fmla="*/ 224191 h 224190"/>
                <a:gd name="connsiteX2" fmla="*/ 0 w 221457"/>
                <a:gd name="connsiteY2" fmla="*/ 0 h 224190"/>
                <a:gd name="connsiteX3" fmla="*/ 221457 w 221457"/>
                <a:gd name="connsiteY3" fmla="*/ 0 h 224190"/>
                <a:gd name="connsiteX4" fmla="*/ 221457 w 221457"/>
                <a:gd name="connsiteY4" fmla="*/ 224191 h 224190"/>
                <a:gd name="connsiteX5" fmla="*/ 27340 w 221457"/>
                <a:gd name="connsiteY5" fmla="*/ 196850 h 224190"/>
                <a:gd name="connsiteX6" fmla="*/ 194117 w 221457"/>
                <a:gd name="connsiteY6" fmla="*/ 196850 h 224190"/>
                <a:gd name="connsiteX7" fmla="*/ 194117 w 221457"/>
                <a:gd name="connsiteY7" fmla="*/ 27340 h 224190"/>
                <a:gd name="connsiteX8" fmla="*/ 27340 w 221457"/>
                <a:gd name="connsiteY8" fmla="*/ 27340 h 224190"/>
                <a:gd name="connsiteX9" fmla="*/ 27340 w 221457"/>
                <a:gd name="connsiteY9" fmla="*/ 196850 h 22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457" h="224190">
                  <a:moveTo>
                    <a:pt x="221457" y="224191"/>
                  </a:moveTo>
                  <a:lnTo>
                    <a:pt x="0" y="224191"/>
                  </a:lnTo>
                  <a:lnTo>
                    <a:pt x="0" y="0"/>
                  </a:lnTo>
                  <a:lnTo>
                    <a:pt x="221457" y="0"/>
                  </a:lnTo>
                  <a:lnTo>
                    <a:pt x="221457" y="224191"/>
                  </a:lnTo>
                  <a:close/>
                  <a:moveTo>
                    <a:pt x="27340" y="196850"/>
                  </a:moveTo>
                  <a:lnTo>
                    <a:pt x="194117" y="19685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96850"/>
                  </a:lnTo>
                  <a:close/>
                </a:path>
              </a:pathLst>
            </a:custGeom>
            <a:solidFill>
              <a:srgbClr val="8F0D6B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2" name="Полилиния: фигура 121">
              <a:extLst>
                <a:ext uri="{FF2B5EF4-FFF2-40B4-BE49-F238E27FC236}">
                  <a16:creationId xmlns:a16="http://schemas.microsoft.com/office/drawing/2014/main" id="{30EB3332-B856-4FFB-807C-195AADC4C735}"/>
                </a:ext>
              </a:extLst>
            </p:cNvPr>
            <p:cNvSpPr/>
            <p:nvPr/>
          </p:nvSpPr>
          <p:spPr>
            <a:xfrm>
              <a:off x="6618869" y="5206122"/>
              <a:ext cx="150371" cy="153106"/>
            </a:xfrm>
            <a:custGeom>
              <a:avLst/>
              <a:gdLst>
                <a:gd name="connsiteX0" fmla="*/ 150372 w 150371"/>
                <a:gd name="connsiteY0" fmla="*/ 153106 h 153106"/>
                <a:gd name="connsiteX1" fmla="*/ 0 w 150371"/>
                <a:gd name="connsiteY1" fmla="*/ 153106 h 153106"/>
                <a:gd name="connsiteX2" fmla="*/ 0 w 150371"/>
                <a:gd name="connsiteY2" fmla="*/ 0 h 153106"/>
                <a:gd name="connsiteX3" fmla="*/ 150372 w 150371"/>
                <a:gd name="connsiteY3" fmla="*/ 0 h 153106"/>
                <a:gd name="connsiteX4" fmla="*/ 150372 w 150371"/>
                <a:gd name="connsiteY4" fmla="*/ 153106 h 153106"/>
                <a:gd name="connsiteX5" fmla="*/ 27340 w 150371"/>
                <a:gd name="connsiteY5" fmla="*/ 125766 h 153106"/>
                <a:gd name="connsiteX6" fmla="*/ 123032 w 150371"/>
                <a:gd name="connsiteY6" fmla="*/ 125766 h 153106"/>
                <a:gd name="connsiteX7" fmla="*/ 123032 w 150371"/>
                <a:gd name="connsiteY7" fmla="*/ 27340 h 153106"/>
                <a:gd name="connsiteX8" fmla="*/ 27340 w 150371"/>
                <a:gd name="connsiteY8" fmla="*/ 27340 h 153106"/>
                <a:gd name="connsiteX9" fmla="*/ 27340 w 150371"/>
                <a:gd name="connsiteY9" fmla="*/ 12576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3106">
                  <a:moveTo>
                    <a:pt x="150372" y="153106"/>
                  </a:moveTo>
                  <a:lnTo>
                    <a:pt x="0" y="153106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3106"/>
                  </a:lnTo>
                  <a:close/>
                  <a:moveTo>
                    <a:pt x="27340" y="125766"/>
                  </a:moveTo>
                  <a:lnTo>
                    <a:pt x="123032" y="125766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5766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3" name="Полилиния: фигура 122">
              <a:extLst>
                <a:ext uri="{FF2B5EF4-FFF2-40B4-BE49-F238E27FC236}">
                  <a16:creationId xmlns:a16="http://schemas.microsoft.com/office/drawing/2014/main" id="{9C005720-8E56-4FC7-8B4B-79143E95E0DA}"/>
                </a:ext>
              </a:extLst>
            </p:cNvPr>
            <p:cNvSpPr/>
            <p:nvPr/>
          </p:nvSpPr>
          <p:spPr>
            <a:xfrm>
              <a:off x="6996166" y="5099495"/>
              <a:ext cx="150371" cy="150371"/>
            </a:xfrm>
            <a:custGeom>
              <a:avLst/>
              <a:gdLst>
                <a:gd name="connsiteX0" fmla="*/ 150372 w 150371"/>
                <a:gd name="connsiteY0" fmla="*/ 150372 h 150371"/>
                <a:gd name="connsiteX1" fmla="*/ 0 w 150371"/>
                <a:gd name="connsiteY1" fmla="*/ 150372 h 150371"/>
                <a:gd name="connsiteX2" fmla="*/ 0 w 150371"/>
                <a:gd name="connsiteY2" fmla="*/ 0 h 150371"/>
                <a:gd name="connsiteX3" fmla="*/ 150372 w 150371"/>
                <a:gd name="connsiteY3" fmla="*/ 0 h 150371"/>
                <a:gd name="connsiteX4" fmla="*/ 150372 w 150371"/>
                <a:gd name="connsiteY4" fmla="*/ 150372 h 150371"/>
                <a:gd name="connsiteX5" fmla="*/ 27340 w 150371"/>
                <a:gd name="connsiteY5" fmla="*/ 123032 h 150371"/>
                <a:gd name="connsiteX6" fmla="*/ 123032 w 150371"/>
                <a:gd name="connsiteY6" fmla="*/ 123032 h 150371"/>
                <a:gd name="connsiteX7" fmla="*/ 123032 w 150371"/>
                <a:gd name="connsiteY7" fmla="*/ 27340 h 150371"/>
                <a:gd name="connsiteX8" fmla="*/ 27340 w 150371"/>
                <a:gd name="connsiteY8" fmla="*/ 27340 h 150371"/>
                <a:gd name="connsiteX9" fmla="*/ 27340 w 150371"/>
                <a:gd name="connsiteY9" fmla="*/ 123032 h 1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0371">
                  <a:moveTo>
                    <a:pt x="150372" y="150372"/>
                  </a:moveTo>
                  <a:lnTo>
                    <a:pt x="0" y="150372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0372"/>
                  </a:lnTo>
                  <a:close/>
                  <a:moveTo>
                    <a:pt x="27340" y="123032"/>
                  </a:moveTo>
                  <a:lnTo>
                    <a:pt x="123032" y="123032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3032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4" name="Полилиния: фигура 123">
              <a:extLst>
                <a:ext uri="{FF2B5EF4-FFF2-40B4-BE49-F238E27FC236}">
                  <a16:creationId xmlns:a16="http://schemas.microsoft.com/office/drawing/2014/main" id="{ADE5AA70-9282-4002-B374-3BA058FBD378}"/>
                </a:ext>
              </a:extLst>
            </p:cNvPr>
            <p:cNvSpPr/>
            <p:nvPr/>
          </p:nvSpPr>
          <p:spPr>
            <a:xfrm>
              <a:off x="6821188" y="4801485"/>
              <a:ext cx="120297" cy="123031"/>
            </a:xfrm>
            <a:custGeom>
              <a:avLst/>
              <a:gdLst>
                <a:gd name="connsiteX0" fmla="*/ 120297 w 120297"/>
                <a:gd name="connsiteY0" fmla="*/ 0 h 123031"/>
                <a:gd name="connsiteX1" fmla="*/ 0 w 120297"/>
                <a:gd name="connsiteY1" fmla="*/ 0 h 123031"/>
                <a:gd name="connsiteX2" fmla="*/ 0 w 120297"/>
                <a:gd name="connsiteY2" fmla="*/ 123032 h 123031"/>
                <a:gd name="connsiteX3" fmla="*/ 120297 w 120297"/>
                <a:gd name="connsiteY3" fmla="*/ 123032 h 123031"/>
                <a:gd name="connsiteX4" fmla="*/ 120297 w 120297"/>
                <a:gd name="connsiteY4" fmla="*/ 0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97" h="123031">
                  <a:moveTo>
                    <a:pt x="120297" y="0"/>
                  </a:moveTo>
                  <a:lnTo>
                    <a:pt x="0" y="0"/>
                  </a:lnTo>
                  <a:lnTo>
                    <a:pt x="0" y="123032"/>
                  </a:lnTo>
                  <a:lnTo>
                    <a:pt x="120297" y="123032"/>
                  </a:lnTo>
                  <a:lnTo>
                    <a:pt x="120297" y="0"/>
                  </a:lnTo>
                  <a:close/>
                </a:path>
              </a:pathLst>
            </a:custGeom>
            <a:solidFill>
              <a:srgbClr val="8F0D6B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5" name="Полилиния: фигура 124">
              <a:extLst>
                <a:ext uri="{FF2B5EF4-FFF2-40B4-BE49-F238E27FC236}">
                  <a16:creationId xmlns:a16="http://schemas.microsoft.com/office/drawing/2014/main" id="{3286D472-E6E7-4740-9495-82CC1A9FC82D}"/>
                </a:ext>
              </a:extLst>
            </p:cNvPr>
            <p:cNvSpPr/>
            <p:nvPr/>
          </p:nvSpPr>
          <p:spPr>
            <a:xfrm>
              <a:off x="6698157" y="5044814"/>
              <a:ext cx="87489" cy="90222"/>
            </a:xfrm>
            <a:custGeom>
              <a:avLst/>
              <a:gdLst>
                <a:gd name="connsiteX0" fmla="*/ 87489 w 87489"/>
                <a:gd name="connsiteY0" fmla="*/ 0 h 90222"/>
                <a:gd name="connsiteX1" fmla="*/ 0 w 87489"/>
                <a:gd name="connsiteY1" fmla="*/ 0 h 90222"/>
                <a:gd name="connsiteX2" fmla="*/ 0 w 87489"/>
                <a:gd name="connsiteY2" fmla="*/ 90223 h 90222"/>
                <a:gd name="connsiteX3" fmla="*/ 87489 w 87489"/>
                <a:gd name="connsiteY3" fmla="*/ 90223 h 90222"/>
                <a:gd name="connsiteX4" fmla="*/ 87489 w 87489"/>
                <a:gd name="connsiteY4" fmla="*/ 0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89" h="90222">
                  <a:moveTo>
                    <a:pt x="87489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87489" y="90223"/>
                  </a:lnTo>
                  <a:lnTo>
                    <a:pt x="87489" y="0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6" name="Полилиния: фигура 125">
              <a:extLst>
                <a:ext uri="{FF2B5EF4-FFF2-40B4-BE49-F238E27FC236}">
                  <a16:creationId xmlns:a16="http://schemas.microsoft.com/office/drawing/2014/main" id="{164480DF-F78F-4042-8D9C-EC5AA975FB9F}"/>
                </a:ext>
              </a:extLst>
            </p:cNvPr>
            <p:cNvSpPr/>
            <p:nvPr/>
          </p:nvSpPr>
          <p:spPr>
            <a:xfrm>
              <a:off x="6837592" y="5151442"/>
              <a:ext cx="90223" cy="90223"/>
            </a:xfrm>
            <a:custGeom>
              <a:avLst/>
              <a:gdLst>
                <a:gd name="connsiteX0" fmla="*/ 90223 w 90223"/>
                <a:gd name="connsiteY0" fmla="*/ 0 h 90223"/>
                <a:gd name="connsiteX1" fmla="*/ 0 w 90223"/>
                <a:gd name="connsiteY1" fmla="*/ 0 h 90223"/>
                <a:gd name="connsiteX2" fmla="*/ 0 w 90223"/>
                <a:gd name="connsiteY2" fmla="*/ 90223 h 90223"/>
                <a:gd name="connsiteX3" fmla="*/ 90223 w 90223"/>
                <a:gd name="connsiteY3" fmla="*/ 90223 h 90223"/>
                <a:gd name="connsiteX4" fmla="*/ 90223 w 90223"/>
                <a:gd name="connsiteY4" fmla="*/ 0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23" h="90223">
                  <a:moveTo>
                    <a:pt x="90223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90223" y="90223"/>
                  </a:lnTo>
                  <a:lnTo>
                    <a:pt x="90223" y="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7" name="Полилиния: фигура 126">
              <a:extLst>
                <a:ext uri="{FF2B5EF4-FFF2-40B4-BE49-F238E27FC236}">
                  <a16:creationId xmlns:a16="http://schemas.microsoft.com/office/drawing/2014/main" id="{720423A1-16FB-4664-B2BC-5124517A34D0}"/>
                </a:ext>
              </a:extLst>
            </p:cNvPr>
            <p:cNvSpPr/>
            <p:nvPr/>
          </p:nvSpPr>
          <p:spPr>
            <a:xfrm>
              <a:off x="6834858" y="4998335"/>
              <a:ext cx="92957" cy="90223"/>
            </a:xfrm>
            <a:custGeom>
              <a:avLst/>
              <a:gdLst>
                <a:gd name="connsiteX0" fmla="*/ 92957 w 92957"/>
                <a:gd name="connsiteY0" fmla="*/ 90223 h 90223"/>
                <a:gd name="connsiteX1" fmla="*/ 0 w 92957"/>
                <a:gd name="connsiteY1" fmla="*/ 90223 h 90223"/>
                <a:gd name="connsiteX2" fmla="*/ 0 w 92957"/>
                <a:gd name="connsiteY2" fmla="*/ 0 h 90223"/>
                <a:gd name="connsiteX3" fmla="*/ 92957 w 92957"/>
                <a:gd name="connsiteY3" fmla="*/ 0 h 90223"/>
                <a:gd name="connsiteX4" fmla="*/ 92957 w 92957"/>
                <a:gd name="connsiteY4" fmla="*/ 90223 h 90223"/>
                <a:gd name="connsiteX5" fmla="*/ 24606 w 92957"/>
                <a:gd name="connsiteY5" fmla="*/ 62883 h 90223"/>
                <a:gd name="connsiteX6" fmla="*/ 62883 w 92957"/>
                <a:gd name="connsiteY6" fmla="*/ 62883 h 90223"/>
                <a:gd name="connsiteX7" fmla="*/ 62883 w 92957"/>
                <a:gd name="connsiteY7" fmla="*/ 27340 h 90223"/>
                <a:gd name="connsiteX8" fmla="*/ 24606 w 92957"/>
                <a:gd name="connsiteY8" fmla="*/ 27340 h 90223"/>
                <a:gd name="connsiteX9" fmla="*/ 24606 w 92957"/>
                <a:gd name="connsiteY9" fmla="*/ 6288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957" h="90223">
                  <a:moveTo>
                    <a:pt x="92957" y="90223"/>
                  </a:moveTo>
                  <a:lnTo>
                    <a:pt x="0" y="90223"/>
                  </a:lnTo>
                  <a:lnTo>
                    <a:pt x="0" y="0"/>
                  </a:lnTo>
                  <a:lnTo>
                    <a:pt x="92957" y="0"/>
                  </a:lnTo>
                  <a:lnTo>
                    <a:pt x="92957" y="90223"/>
                  </a:lnTo>
                  <a:close/>
                  <a:moveTo>
                    <a:pt x="24606" y="62883"/>
                  </a:moveTo>
                  <a:lnTo>
                    <a:pt x="62883" y="62883"/>
                  </a:lnTo>
                  <a:lnTo>
                    <a:pt x="62883" y="27340"/>
                  </a:lnTo>
                  <a:lnTo>
                    <a:pt x="24606" y="27340"/>
                  </a:lnTo>
                  <a:lnTo>
                    <a:pt x="24606" y="62883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78" name="Рисунок 18">
              <a:extLst>
                <a:ext uri="{FF2B5EF4-FFF2-40B4-BE49-F238E27FC236}">
                  <a16:creationId xmlns:a16="http://schemas.microsoft.com/office/drawing/2014/main" id="{C7A1E746-B0F4-4F12-8EAC-C620C8023ED6}"/>
                </a:ext>
              </a:extLst>
            </p:cNvPr>
            <p:cNvGrpSpPr/>
            <p:nvPr/>
          </p:nvGrpSpPr>
          <p:grpSpPr>
            <a:xfrm>
              <a:off x="7212155" y="4894442"/>
              <a:ext cx="276137" cy="470253"/>
              <a:chOff x="7212155" y="4894442"/>
              <a:chExt cx="276137" cy="470253"/>
            </a:xfrm>
            <a:solidFill>
              <a:srgbClr val="000000"/>
            </a:solidFill>
          </p:grpSpPr>
          <p:sp>
            <p:nvSpPr>
              <p:cNvPr id="79" name="Полилиния: фигура 128">
                <a:extLst>
                  <a:ext uri="{FF2B5EF4-FFF2-40B4-BE49-F238E27FC236}">
                    <a16:creationId xmlns:a16="http://schemas.microsoft.com/office/drawing/2014/main" id="{4C27ADD2-3F92-471D-BCDF-651F5E5C4E5C}"/>
                  </a:ext>
                </a:extLst>
              </p:cNvPr>
              <p:cNvSpPr/>
              <p:nvPr/>
            </p:nvSpPr>
            <p:spPr>
              <a:xfrm>
                <a:off x="7212155" y="4894442"/>
                <a:ext cx="276137" cy="470253"/>
              </a:xfrm>
              <a:custGeom>
                <a:avLst/>
                <a:gdLst>
                  <a:gd name="connsiteX0" fmla="*/ 276137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4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4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4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7 w 276137"/>
                  <a:gd name="connsiteY27" fmla="*/ 0 h 470253"/>
                  <a:gd name="connsiteX28" fmla="*/ 276137 w 276137"/>
                  <a:gd name="connsiteY28" fmla="*/ 27340 h 470253"/>
                  <a:gd name="connsiteX29" fmla="*/ 207786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7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4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4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4" y="169510"/>
                    </a:lnTo>
                    <a:cubicBezTo>
                      <a:pt x="60149" y="164042"/>
                      <a:pt x="62882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4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7" y="0"/>
                    </a:lnTo>
                    <a:lnTo>
                      <a:pt x="276137" y="27340"/>
                    </a:lnTo>
                    <a:lnTo>
                      <a:pt x="207786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4904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solidFill>
                <a:srgbClr val="FFFFFF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129">
                <a:extLst>
                  <a:ext uri="{FF2B5EF4-FFF2-40B4-BE49-F238E27FC236}">
                    <a16:creationId xmlns:a16="http://schemas.microsoft.com/office/drawing/2014/main" id="{C9EC4472-E0B4-4AC6-A3EE-9D3F74DF8681}"/>
                  </a:ext>
                </a:extLst>
              </p:cNvPr>
              <p:cNvSpPr/>
              <p:nvPr/>
            </p:nvSpPr>
            <p:spPr>
              <a:xfrm>
                <a:off x="7357059" y="5028410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8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88648"/>
                      <a:pt x="106628" y="191382"/>
                      <a:pt x="95691" y="191382"/>
                    </a:cubicBezTo>
                    <a:close/>
                  </a:path>
                </a:pathLst>
              </a:custGeom>
              <a:solidFill>
                <a:srgbClr val="8F0D6B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sp>
        <p:nvSpPr>
          <p:cNvPr id="81" name="Rectangle 5">
            <a:extLst>
              <a:ext uri="{FF2B5EF4-FFF2-40B4-BE49-F238E27FC236}">
                <a16:creationId xmlns:a16="http://schemas.microsoft.com/office/drawing/2014/main" id="{6BBB0E90-66AF-4EED-8BE1-DD3343EEC40B}"/>
              </a:ext>
            </a:extLst>
          </p:cNvPr>
          <p:cNvSpPr/>
          <p:nvPr/>
        </p:nvSpPr>
        <p:spPr>
          <a:xfrm>
            <a:off x="8299948" y="3078777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исключения частых ручных прогонов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smoke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- и регрессионных тестов</a:t>
            </a:r>
          </a:p>
        </p:txBody>
      </p:sp>
      <p:sp>
        <p:nvSpPr>
          <p:cNvPr id="82" name="Rectangle 6">
            <a:extLst>
              <a:ext uri="{FF2B5EF4-FFF2-40B4-BE49-F238E27FC236}">
                <a16:creationId xmlns:a16="http://schemas.microsoft.com/office/drawing/2014/main" id="{BE979077-9F52-4DFB-BFAF-747BECE09486}"/>
              </a:ext>
            </a:extLst>
          </p:cNvPr>
          <p:cNvSpPr/>
          <p:nvPr/>
        </p:nvSpPr>
        <p:spPr>
          <a:xfrm>
            <a:off x="8299948" y="3882549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которые затратно выполнять вручную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они требуют длительной подготовки</a:t>
            </a:r>
          </a:p>
        </p:txBody>
      </p:sp>
      <p:sp>
        <p:nvSpPr>
          <p:cNvPr id="83" name="Rectangle 7">
            <a:extLst>
              <a:ext uri="{FF2B5EF4-FFF2-40B4-BE49-F238E27FC236}">
                <a16:creationId xmlns:a16="http://schemas.microsoft.com/office/drawing/2014/main" id="{D847CA13-1881-4429-B08F-22575CC2AD07}"/>
              </a:ext>
            </a:extLst>
          </p:cNvPr>
          <p:cNvSpPr/>
          <p:nvPr/>
        </p:nvSpPr>
        <p:spPr>
          <a:xfrm>
            <a:off x="8299948" y="5402330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spcBef>
                <a:spcPts val="1000"/>
              </a:spcBef>
              <a:buClr>
                <a:srgbClr val="7D70EF"/>
              </a:buClr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 итогам прогона тестов (по сравнению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циклами ручного тестирования тех же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объемов тест-кейсов)</a:t>
            </a:r>
          </a:p>
        </p:txBody>
      </p:sp>
      <p:sp>
        <p:nvSpPr>
          <p:cNvPr id="84" name="Rectangle 11">
            <a:extLst>
              <a:ext uri="{FF2B5EF4-FFF2-40B4-BE49-F238E27FC236}">
                <a16:creationId xmlns:a16="http://schemas.microsoft.com/office/drawing/2014/main" id="{5B699D4E-491F-426A-89EF-E9190B57B350}"/>
              </a:ext>
            </a:extLst>
          </p:cNvPr>
          <p:cNvSpPr/>
          <p:nvPr/>
        </p:nvSpPr>
        <p:spPr>
          <a:xfrm>
            <a:off x="8299948" y="4653626"/>
            <a:ext cx="3255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960"/>
              </a:spcBef>
              <a:buClr>
                <a:srgbClr val="7D70EF"/>
              </a:buClr>
            </a:pP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отсутствие «человеческого фактора» при замене ручных проверок автоматизированными</a:t>
            </a:r>
          </a:p>
        </p:txBody>
      </p:sp>
      <p:grpSp>
        <p:nvGrpSpPr>
          <p:cNvPr id="85" name="Группа 535">
            <a:extLst>
              <a:ext uri="{FF2B5EF4-FFF2-40B4-BE49-F238E27FC236}">
                <a16:creationId xmlns:a16="http://schemas.microsoft.com/office/drawing/2014/main" id="{66517CC8-C796-468E-B7B6-60BAF843B757}"/>
              </a:ext>
            </a:extLst>
          </p:cNvPr>
          <p:cNvGrpSpPr>
            <a:grpSpLocks noChangeAspect="1"/>
          </p:cNvGrpSpPr>
          <p:nvPr/>
        </p:nvGrpSpPr>
        <p:grpSpPr>
          <a:xfrm>
            <a:off x="7654989" y="4573195"/>
            <a:ext cx="348822" cy="383480"/>
            <a:chOff x="2865554" y="4921611"/>
            <a:chExt cx="984276" cy="1082073"/>
          </a:xfrm>
        </p:grpSpPr>
        <p:sp>
          <p:nvSpPr>
            <p:cNvPr id="86" name="Полилиния: фигура 175">
              <a:extLst>
                <a:ext uri="{FF2B5EF4-FFF2-40B4-BE49-F238E27FC236}">
                  <a16:creationId xmlns:a16="http://schemas.microsoft.com/office/drawing/2014/main" id="{042AFD83-96C2-4BA8-973D-0788638941B3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: фигура 164">
              <a:extLst>
                <a:ext uri="{FF2B5EF4-FFF2-40B4-BE49-F238E27FC236}">
                  <a16:creationId xmlns:a16="http://schemas.microsoft.com/office/drawing/2014/main" id="{1D88A4A4-B0EA-4A10-A0CF-643A8BC513AB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: фигура 165">
              <a:extLst>
                <a:ext uri="{FF2B5EF4-FFF2-40B4-BE49-F238E27FC236}">
                  <a16:creationId xmlns:a16="http://schemas.microsoft.com/office/drawing/2014/main" id="{B15B930C-5E9B-4D65-B098-42CBD591E448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166">
              <a:extLst>
                <a:ext uri="{FF2B5EF4-FFF2-40B4-BE49-F238E27FC236}">
                  <a16:creationId xmlns:a16="http://schemas.microsoft.com/office/drawing/2014/main" id="{B8DA3503-DB4F-43CE-8589-33E31C38C679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167">
              <a:extLst>
                <a:ext uri="{FF2B5EF4-FFF2-40B4-BE49-F238E27FC236}">
                  <a16:creationId xmlns:a16="http://schemas.microsoft.com/office/drawing/2014/main" id="{F2B931F3-2BBB-4137-807B-5A4139EF4BF4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168">
              <a:extLst>
                <a:ext uri="{FF2B5EF4-FFF2-40B4-BE49-F238E27FC236}">
                  <a16:creationId xmlns:a16="http://schemas.microsoft.com/office/drawing/2014/main" id="{8B5A471C-2438-49A6-B5B4-B5D0535003E6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169">
              <a:extLst>
                <a:ext uri="{FF2B5EF4-FFF2-40B4-BE49-F238E27FC236}">
                  <a16:creationId xmlns:a16="http://schemas.microsoft.com/office/drawing/2014/main" id="{CFA8A473-1A58-4172-B93B-91EE5B7BBFDC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170">
              <a:extLst>
                <a:ext uri="{FF2B5EF4-FFF2-40B4-BE49-F238E27FC236}">
                  <a16:creationId xmlns:a16="http://schemas.microsoft.com/office/drawing/2014/main" id="{E3479DFD-369A-4B43-A909-7298D25F7B19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171">
              <a:extLst>
                <a:ext uri="{FF2B5EF4-FFF2-40B4-BE49-F238E27FC236}">
                  <a16:creationId xmlns:a16="http://schemas.microsoft.com/office/drawing/2014/main" id="{EBC47223-C731-499B-904F-EE86790C6766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95" name="Рисунок 2">
              <a:extLst>
                <a:ext uri="{FF2B5EF4-FFF2-40B4-BE49-F238E27FC236}">
                  <a16:creationId xmlns:a16="http://schemas.microsoft.com/office/drawing/2014/main" id="{FAF8292C-1BCC-412B-BB22-98EF08ABE7FB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96" name="Полилиния: фигура 173">
                <a:extLst>
                  <a:ext uri="{FF2B5EF4-FFF2-40B4-BE49-F238E27FC236}">
                    <a16:creationId xmlns:a16="http://schemas.microsoft.com/office/drawing/2014/main" id="{2EDC3BEF-8A4A-4215-9882-1E73692312D7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7" name="Полилиния: фигура 174">
                <a:extLst>
                  <a:ext uri="{FF2B5EF4-FFF2-40B4-BE49-F238E27FC236}">
                    <a16:creationId xmlns:a16="http://schemas.microsoft.com/office/drawing/2014/main" id="{0C0388C8-A688-4B4E-A30B-85F4E785E047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98" name="Группа 194">
            <a:extLst>
              <a:ext uri="{FF2B5EF4-FFF2-40B4-BE49-F238E27FC236}">
                <a16:creationId xmlns:a16="http://schemas.microsoft.com/office/drawing/2014/main" id="{A8E10B09-3D4C-492C-A1A0-030F8D13781E}"/>
              </a:ext>
            </a:extLst>
          </p:cNvPr>
          <p:cNvGrpSpPr>
            <a:grpSpLocks noChangeAspect="1"/>
          </p:cNvGrpSpPr>
          <p:nvPr/>
        </p:nvGrpSpPr>
        <p:grpSpPr>
          <a:xfrm>
            <a:off x="7613728" y="5349430"/>
            <a:ext cx="387900" cy="325763"/>
            <a:chOff x="8605523" y="2869849"/>
            <a:chExt cx="990409" cy="831756"/>
          </a:xfrm>
          <a:solidFill>
            <a:srgbClr val="000000"/>
          </a:solidFill>
        </p:grpSpPr>
        <p:sp>
          <p:nvSpPr>
            <p:cNvPr id="99" name="Полилиния: фигура 457">
              <a:extLst>
                <a:ext uri="{FF2B5EF4-FFF2-40B4-BE49-F238E27FC236}">
                  <a16:creationId xmlns:a16="http://schemas.microsoft.com/office/drawing/2014/main" id="{CA0A8EAB-1217-4D0E-BC52-1C6668908DCA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458">
              <a:extLst>
                <a:ext uri="{FF2B5EF4-FFF2-40B4-BE49-F238E27FC236}">
                  <a16:creationId xmlns:a16="http://schemas.microsoft.com/office/drawing/2014/main" id="{2329EF57-1A0A-4601-BF5B-3E8EBDD90A81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459">
              <a:extLst>
                <a:ext uri="{FF2B5EF4-FFF2-40B4-BE49-F238E27FC236}">
                  <a16:creationId xmlns:a16="http://schemas.microsoft.com/office/drawing/2014/main" id="{8828B301-9ECB-4385-8B1C-3793AD1AA7F2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460">
              <a:extLst>
                <a:ext uri="{FF2B5EF4-FFF2-40B4-BE49-F238E27FC236}">
                  <a16:creationId xmlns:a16="http://schemas.microsoft.com/office/drawing/2014/main" id="{E63B14F9-09B8-4001-B473-F6BE76DE8A4F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540">
              <a:extLst>
                <a:ext uri="{FF2B5EF4-FFF2-40B4-BE49-F238E27FC236}">
                  <a16:creationId xmlns:a16="http://schemas.microsoft.com/office/drawing/2014/main" id="{B272AB3E-598A-44C6-9DA2-E49C06BA81BE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541">
              <a:extLst>
                <a:ext uri="{FF2B5EF4-FFF2-40B4-BE49-F238E27FC236}">
                  <a16:creationId xmlns:a16="http://schemas.microsoft.com/office/drawing/2014/main" id="{BD7C236C-3133-4B87-B2CA-0704387007C9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542">
              <a:extLst>
                <a:ext uri="{FF2B5EF4-FFF2-40B4-BE49-F238E27FC236}">
                  <a16:creationId xmlns:a16="http://schemas.microsoft.com/office/drawing/2014/main" id="{BE757AC7-4BFB-4921-B8EB-55822B588FA5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543">
              <a:extLst>
                <a:ext uri="{FF2B5EF4-FFF2-40B4-BE49-F238E27FC236}">
                  <a16:creationId xmlns:a16="http://schemas.microsoft.com/office/drawing/2014/main" id="{CD2B5694-02A2-4A1A-B3C6-90FF28A796D5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544">
              <a:extLst>
                <a:ext uri="{FF2B5EF4-FFF2-40B4-BE49-F238E27FC236}">
                  <a16:creationId xmlns:a16="http://schemas.microsoft.com/office/drawing/2014/main" id="{9D5BA230-6473-4EAA-92C2-A10859FE3E83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545">
              <a:extLst>
                <a:ext uri="{FF2B5EF4-FFF2-40B4-BE49-F238E27FC236}">
                  <a16:creationId xmlns:a16="http://schemas.microsoft.com/office/drawing/2014/main" id="{231BA72F-53FC-49BC-BA4D-07FEFE71B65E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rgbClr val="FFFFFF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566">
              <a:extLst>
                <a:ext uri="{FF2B5EF4-FFF2-40B4-BE49-F238E27FC236}">
                  <a16:creationId xmlns:a16="http://schemas.microsoft.com/office/drawing/2014/main" id="{F145EE0C-786E-4226-979A-CBDB309BBAC7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568">
              <a:extLst>
                <a:ext uri="{FF2B5EF4-FFF2-40B4-BE49-F238E27FC236}">
                  <a16:creationId xmlns:a16="http://schemas.microsoft.com/office/drawing/2014/main" id="{C7053DBC-6773-450C-B8C8-F6F3A5264218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11" name="Rectangle 12">
            <a:extLst>
              <a:ext uri="{FF2B5EF4-FFF2-40B4-BE49-F238E27FC236}">
                <a16:creationId xmlns:a16="http://schemas.microsoft.com/office/drawing/2014/main" id="{4FF0886C-C1E8-45C4-98F8-E2A6443B9138}"/>
              </a:ext>
            </a:extLst>
          </p:cNvPr>
          <p:cNvSpPr/>
          <p:nvPr/>
        </p:nvSpPr>
        <p:spPr bwMode="auto">
          <a:xfrm>
            <a:off x="3623221" y="3583228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2" name="TextBox 7">
            <a:extLst>
              <a:ext uri="{FF2B5EF4-FFF2-40B4-BE49-F238E27FC236}">
                <a16:creationId xmlns:a16="http://schemas.microsoft.com/office/drawing/2014/main" id="{4ECF4169-8439-4993-A492-D7D6CA4D3523}"/>
              </a:ext>
            </a:extLst>
          </p:cNvPr>
          <p:cNvSpPr txBox="1"/>
          <p:nvPr/>
        </p:nvSpPr>
        <p:spPr bwMode="auto">
          <a:xfrm>
            <a:off x="4306723" y="3654588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тестирования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API </a:t>
            </a: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 веб-сервисов</a:t>
            </a:r>
          </a:p>
        </p:txBody>
      </p:sp>
      <p:sp>
        <p:nvSpPr>
          <p:cNvPr id="113" name="Rectangle 12">
            <a:extLst>
              <a:ext uri="{FF2B5EF4-FFF2-40B4-BE49-F238E27FC236}">
                <a16:creationId xmlns:a16="http://schemas.microsoft.com/office/drawing/2014/main" id="{5E059C0B-3E3B-41C3-A85C-540B7D956D6F}"/>
              </a:ext>
            </a:extLst>
          </p:cNvPr>
          <p:cNvSpPr/>
          <p:nvPr/>
        </p:nvSpPr>
        <p:spPr bwMode="auto">
          <a:xfrm>
            <a:off x="3623221" y="4285256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4" name="TextBox 7">
            <a:extLst>
              <a:ext uri="{FF2B5EF4-FFF2-40B4-BE49-F238E27FC236}">
                <a16:creationId xmlns:a16="http://schemas.microsoft.com/office/drawing/2014/main" id="{3EBEBF35-EB18-4009-A87D-4D85A2567CF2}"/>
              </a:ext>
            </a:extLst>
          </p:cNvPr>
          <p:cNvSpPr txBox="1"/>
          <p:nvPr/>
        </p:nvSpPr>
        <p:spPr bwMode="auto">
          <a:xfrm>
            <a:off x="4306723" y="4369030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тестирования </a:t>
            </a: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интеграции</a:t>
            </a:r>
          </a:p>
        </p:txBody>
      </p:sp>
      <p:sp>
        <p:nvSpPr>
          <p:cNvPr id="115" name="Rectangle 12">
            <a:extLst>
              <a:ext uri="{FF2B5EF4-FFF2-40B4-BE49-F238E27FC236}">
                <a16:creationId xmlns:a16="http://schemas.microsoft.com/office/drawing/2014/main" id="{1B968E1E-4F57-4B26-AA11-EFDDD25FE4FB}"/>
              </a:ext>
            </a:extLst>
          </p:cNvPr>
          <p:cNvSpPr/>
          <p:nvPr/>
        </p:nvSpPr>
        <p:spPr bwMode="auto">
          <a:xfrm>
            <a:off x="3623221" y="4987284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6" name="TextBox 7">
            <a:extLst>
              <a:ext uri="{FF2B5EF4-FFF2-40B4-BE49-F238E27FC236}">
                <a16:creationId xmlns:a16="http://schemas.microsoft.com/office/drawing/2014/main" id="{83CECB14-1356-4716-9D78-7BF99C80E910}"/>
              </a:ext>
            </a:extLst>
          </p:cNvPr>
          <p:cNvSpPr txBox="1"/>
          <p:nvPr/>
        </p:nvSpPr>
        <p:spPr bwMode="auto">
          <a:xfrm>
            <a:off x="4306723" y="5066040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мобильного тестирования</a:t>
            </a:r>
          </a:p>
        </p:txBody>
      </p:sp>
      <p:sp>
        <p:nvSpPr>
          <p:cNvPr id="117" name="Rectangle 12">
            <a:extLst>
              <a:ext uri="{FF2B5EF4-FFF2-40B4-BE49-F238E27FC236}">
                <a16:creationId xmlns:a16="http://schemas.microsoft.com/office/drawing/2014/main" id="{6DA0E101-8365-4596-879B-44C2F672625B}"/>
              </a:ext>
            </a:extLst>
          </p:cNvPr>
          <p:cNvSpPr/>
          <p:nvPr/>
        </p:nvSpPr>
        <p:spPr bwMode="auto">
          <a:xfrm>
            <a:off x="607759" y="5689311"/>
            <a:ext cx="5956964" cy="487924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8" name="TextBox 7">
            <a:extLst>
              <a:ext uri="{FF2B5EF4-FFF2-40B4-BE49-F238E27FC236}">
                <a16:creationId xmlns:a16="http://schemas.microsoft.com/office/drawing/2014/main" id="{F147EFDC-835E-47C8-A682-D9A53E13D73A}"/>
              </a:ext>
            </a:extLst>
          </p:cNvPr>
          <p:cNvSpPr txBox="1"/>
          <p:nvPr/>
        </p:nvSpPr>
        <p:spPr bwMode="auto">
          <a:xfrm>
            <a:off x="1856311" y="5785584"/>
            <a:ext cx="3218174" cy="25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372"/>
              </a:lnSpc>
              <a:spcBef>
                <a:spcPts val="1764"/>
              </a:spcBef>
              <a:buClr>
                <a:srgbClr val="ACC4FE"/>
              </a:buClr>
              <a:buSzPct val="110000"/>
              <a:defRPr/>
            </a:pPr>
            <a:r>
              <a:rPr lang="ru-RU" sz="95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Встраивание</a:t>
            </a:r>
            <a:r>
              <a:rPr lang="ru-RU" sz="9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автоматизации в CI/CD-процесс</a:t>
            </a:r>
          </a:p>
        </p:txBody>
      </p:sp>
      <p:sp>
        <p:nvSpPr>
          <p:cNvPr id="119" name="TextBox 7">
            <a:extLst>
              <a:ext uri="{FF2B5EF4-FFF2-40B4-BE49-F238E27FC236}">
                <a16:creationId xmlns:a16="http://schemas.microsoft.com/office/drawing/2014/main" id="{750BD532-AAAF-4098-8288-34E29A522F86}"/>
              </a:ext>
            </a:extLst>
          </p:cNvPr>
          <p:cNvSpPr txBox="1"/>
          <p:nvPr/>
        </p:nvSpPr>
        <p:spPr bwMode="auto">
          <a:xfrm>
            <a:off x="1292662" y="3663958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области автоматизации</a:t>
            </a:r>
          </a:p>
        </p:txBody>
      </p:sp>
      <p:sp>
        <p:nvSpPr>
          <p:cNvPr id="120" name="TextBox 7">
            <a:extLst>
              <a:ext uri="{FF2B5EF4-FFF2-40B4-BE49-F238E27FC236}">
                <a16:creationId xmlns:a16="http://schemas.microsoft.com/office/drawing/2014/main" id="{736615BD-DE75-4B36-8BE6-9B49546198D1}"/>
              </a:ext>
            </a:extLst>
          </p:cNvPr>
          <p:cNvSpPr txBox="1"/>
          <p:nvPr/>
        </p:nvSpPr>
        <p:spPr bwMode="auto">
          <a:xfrm>
            <a:off x="1278898" y="4360957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Разработка</a:t>
            </a: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стратегии </a:t>
            </a:r>
            <a:b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внедрения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автоматизации</a:t>
            </a:r>
          </a:p>
        </p:txBody>
      </p:sp>
      <p:sp>
        <p:nvSpPr>
          <p:cNvPr id="121" name="TextBox 7">
            <a:extLst>
              <a:ext uri="{FF2B5EF4-FFF2-40B4-BE49-F238E27FC236}">
                <a16:creationId xmlns:a16="http://schemas.microsoft.com/office/drawing/2014/main" id="{041D23FC-B40E-4CD4-9B34-5BECD33F899B}"/>
              </a:ext>
            </a:extLst>
          </p:cNvPr>
          <p:cNvSpPr txBox="1"/>
          <p:nvPr/>
        </p:nvSpPr>
        <p:spPr bwMode="auto">
          <a:xfrm>
            <a:off x="1278898" y="5066039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Разработка </a:t>
            </a: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фреймворков </a:t>
            </a:r>
            <a:b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 решений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для автоматизации</a:t>
            </a:r>
          </a:p>
        </p:txBody>
      </p:sp>
      <p:grpSp>
        <p:nvGrpSpPr>
          <p:cNvPr id="122" name="Группа 332">
            <a:extLst>
              <a:ext uri="{FF2B5EF4-FFF2-40B4-BE49-F238E27FC236}">
                <a16:creationId xmlns:a16="http://schemas.microsoft.com/office/drawing/2014/main" id="{3D140743-6FF4-47FB-BD6C-E6C92A77C50C}"/>
              </a:ext>
            </a:extLst>
          </p:cNvPr>
          <p:cNvGrpSpPr>
            <a:grpSpLocks noChangeAspect="1"/>
          </p:cNvGrpSpPr>
          <p:nvPr/>
        </p:nvGrpSpPr>
        <p:grpSpPr>
          <a:xfrm>
            <a:off x="754673" y="3054254"/>
            <a:ext cx="404491" cy="279268"/>
            <a:chOff x="5537101" y="827894"/>
            <a:chExt cx="1292224" cy="892175"/>
          </a:xfrm>
          <a:solidFill>
            <a:srgbClr val="FFFFFF"/>
          </a:solidFill>
        </p:grpSpPr>
        <p:sp>
          <p:nvSpPr>
            <p:cNvPr id="123" name="Freeform 9">
              <a:extLst>
                <a:ext uri="{FF2B5EF4-FFF2-40B4-BE49-F238E27FC236}">
                  <a16:creationId xmlns:a16="http://schemas.microsoft.com/office/drawing/2014/main" id="{08D8AAD6-F775-4DE3-8D1C-74C41215E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" name="Freeform 10">
              <a:extLst>
                <a:ext uri="{FF2B5EF4-FFF2-40B4-BE49-F238E27FC236}">
                  <a16:creationId xmlns:a16="http://schemas.microsoft.com/office/drawing/2014/main" id="{DEC5649C-7671-49F9-B208-8B1DC103CE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" name="Freeform 11">
              <a:extLst>
                <a:ext uri="{FF2B5EF4-FFF2-40B4-BE49-F238E27FC236}">
                  <a16:creationId xmlns:a16="http://schemas.microsoft.com/office/drawing/2014/main" id="{354A069C-92D9-4E78-81EA-976274EC0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" name="Rectangle 12">
              <a:extLst>
                <a:ext uri="{FF2B5EF4-FFF2-40B4-BE49-F238E27FC236}">
                  <a16:creationId xmlns:a16="http://schemas.microsoft.com/office/drawing/2014/main" id="{C4647A00-6279-4BEA-A2E3-E2307F3CA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" name="Freeform 13">
              <a:extLst>
                <a:ext uri="{FF2B5EF4-FFF2-40B4-BE49-F238E27FC236}">
                  <a16:creationId xmlns:a16="http://schemas.microsoft.com/office/drawing/2014/main" id="{F8B08D96-2D2E-4727-BDC5-5312269AC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" name="Freeform 14">
              <a:extLst>
                <a:ext uri="{FF2B5EF4-FFF2-40B4-BE49-F238E27FC236}">
                  <a16:creationId xmlns:a16="http://schemas.microsoft.com/office/drawing/2014/main" id="{801D607B-8302-4F6B-BE92-93B5F10CB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29" name="Группа 183">
            <a:extLst>
              <a:ext uri="{FF2B5EF4-FFF2-40B4-BE49-F238E27FC236}">
                <a16:creationId xmlns:a16="http://schemas.microsoft.com/office/drawing/2014/main" id="{94AD7EC4-690E-4D8A-B8B2-585E54663274}"/>
              </a:ext>
            </a:extLst>
          </p:cNvPr>
          <p:cNvGrpSpPr>
            <a:grpSpLocks noChangeAspect="1"/>
          </p:cNvGrpSpPr>
          <p:nvPr/>
        </p:nvGrpSpPr>
        <p:grpSpPr>
          <a:xfrm>
            <a:off x="739614" y="4451969"/>
            <a:ext cx="378953" cy="307836"/>
            <a:chOff x="4792534" y="1334729"/>
            <a:chExt cx="1019794" cy="828412"/>
          </a:xfrm>
          <a:solidFill>
            <a:srgbClr val="FFFFFF"/>
          </a:solidFill>
        </p:grpSpPr>
        <p:sp>
          <p:nvSpPr>
            <p:cNvPr id="130" name="Полилиния: фигура 41">
              <a:extLst>
                <a:ext uri="{FF2B5EF4-FFF2-40B4-BE49-F238E27FC236}">
                  <a16:creationId xmlns:a16="http://schemas.microsoft.com/office/drawing/2014/main" id="{D6655105-A369-40B4-9CB5-29A2F83B8B11}"/>
                </a:ext>
              </a:extLst>
            </p:cNvPr>
            <p:cNvSpPr/>
            <p:nvPr/>
          </p:nvSpPr>
          <p:spPr>
            <a:xfrm>
              <a:off x="4792534" y="1334729"/>
              <a:ext cx="1019794" cy="773731"/>
            </a:xfrm>
            <a:custGeom>
              <a:avLst/>
              <a:gdLst>
                <a:gd name="connsiteX0" fmla="*/ 1006125 w 1019794"/>
                <a:gd name="connsiteY0" fmla="*/ 773732 h 773731"/>
                <a:gd name="connsiteX1" fmla="*/ 874891 w 1019794"/>
                <a:gd name="connsiteY1" fmla="*/ 773732 h 773731"/>
                <a:gd name="connsiteX2" fmla="*/ 874891 w 1019794"/>
                <a:gd name="connsiteY2" fmla="*/ 746392 h 773731"/>
                <a:gd name="connsiteX3" fmla="*/ 992455 w 1019794"/>
                <a:gd name="connsiteY3" fmla="*/ 746392 h 773731"/>
                <a:gd name="connsiteX4" fmla="*/ 992455 w 1019794"/>
                <a:gd name="connsiteY4" fmla="*/ 27340 h 773731"/>
                <a:gd name="connsiteX5" fmla="*/ 27340 w 1019794"/>
                <a:gd name="connsiteY5" fmla="*/ 27340 h 773731"/>
                <a:gd name="connsiteX6" fmla="*/ 27340 w 1019794"/>
                <a:gd name="connsiteY6" fmla="*/ 746392 h 773731"/>
                <a:gd name="connsiteX7" fmla="*/ 153106 w 1019794"/>
                <a:gd name="connsiteY7" fmla="*/ 746392 h 773731"/>
                <a:gd name="connsiteX8" fmla="*/ 153106 w 1019794"/>
                <a:gd name="connsiteY8" fmla="*/ 773732 h 773731"/>
                <a:gd name="connsiteX9" fmla="*/ 13670 w 1019794"/>
                <a:gd name="connsiteY9" fmla="*/ 773732 h 773731"/>
                <a:gd name="connsiteX10" fmla="*/ 0 w 1019794"/>
                <a:gd name="connsiteY10" fmla="*/ 760062 h 773731"/>
                <a:gd name="connsiteX11" fmla="*/ 0 w 1019794"/>
                <a:gd name="connsiteY11" fmla="*/ 13670 h 773731"/>
                <a:gd name="connsiteX12" fmla="*/ 13670 w 1019794"/>
                <a:gd name="connsiteY12" fmla="*/ 0 h 773731"/>
                <a:gd name="connsiteX13" fmla="*/ 1006125 w 1019794"/>
                <a:gd name="connsiteY13" fmla="*/ 0 h 773731"/>
                <a:gd name="connsiteX14" fmla="*/ 1019795 w 1019794"/>
                <a:gd name="connsiteY14" fmla="*/ 13670 h 773731"/>
                <a:gd name="connsiteX15" fmla="*/ 1019795 w 1019794"/>
                <a:gd name="connsiteY15" fmla="*/ 760062 h 773731"/>
                <a:gd name="connsiteX16" fmla="*/ 1006125 w 1019794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4" h="773731">
                  <a:moveTo>
                    <a:pt x="1006125" y="773732"/>
                  </a:moveTo>
                  <a:lnTo>
                    <a:pt x="874891" y="773732"/>
                  </a:lnTo>
                  <a:lnTo>
                    <a:pt x="87489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53106" y="746392"/>
                  </a:lnTo>
                  <a:lnTo>
                    <a:pt x="153106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42">
              <a:extLst>
                <a:ext uri="{FF2B5EF4-FFF2-40B4-BE49-F238E27FC236}">
                  <a16:creationId xmlns:a16="http://schemas.microsoft.com/office/drawing/2014/main" id="{E972DC7B-2E28-42F0-9E94-D222AEE1AAFA}"/>
                </a:ext>
              </a:extLst>
            </p:cNvPr>
            <p:cNvSpPr/>
            <p:nvPr/>
          </p:nvSpPr>
          <p:spPr>
            <a:xfrm>
              <a:off x="5030395" y="2026440"/>
              <a:ext cx="262467" cy="82021"/>
            </a:xfrm>
            <a:custGeom>
              <a:avLst/>
              <a:gdLst>
                <a:gd name="connsiteX0" fmla="*/ 248797 w 262467"/>
                <a:gd name="connsiteY0" fmla="*/ 82021 h 82021"/>
                <a:gd name="connsiteX1" fmla="*/ 13670 w 262467"/>
                <a:gd name="connsiteY1" fmla="*/ 82021 h 82021"/>
                <a:gd name="connsiteX2" fmla="*/ 0 w 262467"/>
                <a:gd name="connsiteY2" fmla="*/ 68351 h 82021"/>
                <a:gd name="connsiteX3" fmla="*/ 0 w 262467"/>
                <a:gd name="connsiteY3" fmla="*/ 13670 h 82021"/>
                <a:gd name="connsiteX4" fmla="*/ 13670 w 262467"/>
                <a:gd name="connsiteY4" fmla="*/ 0 h 82021"/>
                <a:gd name="connsiteX5" fmla="*/ 248797 w 262467"/>
                <a:gd name="connsiteY5" fmla="*/ 0 h 82021"/>
                <a:gd name="connsiteX6" fmla="*/ 262467 w 262467"/>
                <a:gd name="connsiteY6" fmla="*/ 13670 h 82021"/>
                <a:gd name="connsiteX7" fmla="*/ 262467 w 262467"/>
                <a:gd name="connsiteY7" fmla="*/ 68351 h 82021"/>
                <a:gd name="connsiteX8" fmla="*/ 248797 w 262467"/>
                <a:gd name="connsiteY8" fmla="*/ 82021 h 82021"/>
                <a:gd name="connsiteX9" fmla="*/ 27340 w 262467"/>
                <a:gd name="connsiteY9" fmla="*/ 54681 h 82021"/>
                <a:gd name="connsiteX10" fmla="*/ 235127 w 262467"/>
                <a:gd name="connsiteY10" fmla="*/ 54681 h 82021"/>
                <a:gd name="connsiteX11" fmla="*/ 235127 w 262467"/>
                <a:gd name="connsiteY11" fmla="*/ 27340 h 82021"/>
                <a:gd name="connsiteX12" fmla="*/ 27340 w 262467"/>
                <a:gd name="connsiteY12" fmla="*/ 27340 h 82021"/>
                <a:gd name="connsiteX13" fmla="*/ 27340 w 262467"/>
                <a:gd name="connsiteY13" fmla="*/ 5468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2467" h="82021">
                  <a:moveTo>
                    <a:pt x="248797" y="82021"/>
                  </a:moveTo>
                  <a:lnTo>
                    <a:pt x="13670" y="82021"/>
                  </a:lnTo>
                  <a:cubicBezTo>
                    <a:pt x="5468" y="82021"/>
                    <a:pt x="0" y="76553"/>
                    <a:pt x="0" y="6835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48797" y="0"/>
                  </a:lnTo>
                  <a:cubicBezTo>
                    <a:pt x="256999" y="0"/>
                    <a:pt x="262467" y="5468"/>
                    <a:pt x="262467" y="13670"/>
                  </a:cubicBezTo>
                  <a:lnTo>
                    <a:pt x="262467" y="68351"/>
                  </a:lnTo>
                  <a:cubicBezTo>
                    <a:pt x="262467" y="76553"/>
                    <a:pt x="256999" y="82021"/>
                    <a:pt x="248797" y="82021"/>
                  </a:cubicBezTo>
                  <a:close/>
                  <a:moveTo>
                    <a:pt x="27340" y="54681"/>
                  </a:moveTo>
                  <a:lnTo>
                    <a:pt x="235127" y="54681"/>
                  </a:lnTo>
                  <a:lnTo>
                    <a:pt x="235127" y="27340"/>
                  </a:lnTo>
                  <a:lnTo>
                    <a:pt x="27340" y="27340"/>
                  </a:lnTo>
                  <a:lnTo>
                    <a:pt x="27340" y="5468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43">
              <a:extLst>
                <a:ext uri="{FF2B5EF4-FFF2-40B4-BE49-F238E27FC236}">
                  <a16:creationId xmlns:a16="http://schemas.microsoft.com/office/drawing/2014/main" id="{0FFC7177-0056-40F4-87A0-C7D2EC021598}"/>
                </a:ext>
              </a:extLst>
            </p:cNvPr>
            <p:cNvSpPr/>
            <p:nvPr/>
          </p:nvSpPr>
          <p:spPr>
            <a:xfrm>
              <a:off x="4989385" y="2081120"/>
              <a:ext cx="341754" cy="82021"/>
            </a:xfrm>
            <a:custGeom>
              <a:avLst/>
              <a:gdLst>
                <a:gd name="connsiteX0" fmla="*/ 27340 w 341754"/>
                <a:gd name="connsiteY0" fmla="*/ 82021 h 82021"/>
                <a:gd name="connsiteX1" fmla="*/ 0 w 341754"/>
                <a:gd name="connsiteY1" fmla="*/ 82021 h 82021"/>
                <a:gd name="connsiteX2" fmla="*/ 0 w 341754"/>
                <a:gd name="connsiteY2" fmla="*/ 35542 h 82021"/>
                <a:gd name="connsiteX3" fmla="*/ 35543 w 341754"/>
                <a:gd name="connsiteY3" fmla="*/ 0 h 82021"/>
                <a:gd name="connsiteX4" fmla="*/ 308946 w 341754"/>
                <a:gd name="connsiteY4" fmla="*/ 0 h 82021"/>
                <a:gd name="connsiteX5" fmla="*/ 341754 w 341754"/>
                <a:gd name="connsiteY5" fmla="*/ 32808 h 82021"/>
                <a:gd name="connsiteX6" fmla="*/ 341754 w 341754"/>
                <a:gd name="connsiteY6" fmla="*/ 82021 h 82021"/>
                <a:gd name="connsiteX7" fmla="*/ 314414 w 341754"/>
                <a:gd name="connsiteY7" fmla="*/ 82021 h 82021"/>
                <a:gd name="connsiteX8" fmla="*/ 314414 w 341754"/>
                <a:gd name="connsiteY8" fmla="*/ 32808 h 82021"/>
                <a:gd name="connsiteX9" fmla="*/ 308946 w 341754"/>
                <a:gd name="connsiteY9" fmla="*/ 27340 h 82021"/>
                <a:gd name="connsiteX10" fmla="*/ 35543 w 341754"/>
                <a:gd name="connsiteY10" fmla="*/ 27340 h 82021"/>
                <a:gd name="connsiteX11" fmla="*/ 27340 w 341754"/>
                <a:gd name="connsiteY11" fmla="*/ 35542 h 82021"/>
                <a:gd name="connsiteX12" fmla="*/ 27340 w 341754"/>
                <a:gd name="connsiteY12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754" h="82021">
                  <a:moveTo>
                    <a:pt x="27340" y="82021"/>
                  </a:moveTo>
                  <a:lnTo>
                    <a:pt x="0" y="82021"/>
                  </a:lnTo>
                  <a:lnTo>
                    <a:pt x="0" y="35542"/>
                  </a:lnTo>
                  <a:cubicBezTo>
                    <a:pt x="0" y="16404"/>
                    <a:pt x="16404" y="0"/>
                    <a:pt x="35543" y="0"/>
                  </a:cubicBezTo>
                  <a:lnTo>
                    <a:pt x="308946" y="0"/>
                  </a:lnTo>
                  <a:cubicBezTo>
                    <a:pt x="328084" y="0"/>
                    <a:pt x="341754" y="13670"/>
                    <a:pt x="341754" y="32808"/>
                  </a:cubicBezTo>
                  <a:lnTo>
                    <a:pt x="341754" y="82021"/>
                  </a:lnTo>
                  <a:lnTo>
                    <a:pt x="314414" y="82021"/>
                  </a:lnTo>
                  <a:lnTo>
                    <a:pt x="314414" y="32808"/>
                  </a:lnTo>
                  <a:cubicBezTo>
                    <a:pt x="314414" y="30074"/>
                    <a:pt x="311680" y="27340"/>
                    <a:pt x="308946" y="27340"/>
                  </a:cubicBezTo>
                  <a:lnTo>
                    <a:pt x="35543" y="27340"/>
                  </a:lnTo>
                  <a:cubicBezTo>
                    <a:pt x="30074" y="27340"/>
                    <a:pt x="27340" y="30074"/>
                    <a:pt x="27340" y="35542"/>
                  </a:cubicBezTo>
                  <a:lnTo>
                    <a:pt x="2734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44">
              <a:extLst>
                <a:ext uri="{FF2B5EF4-FFF2-40B4-BE49-F238E27FC236}">
                  <a16:creationId xmlns:a16="http://schemas.microsoft.com/office/drawing/2014/main" id="{EAB88BAE-A312-432E-83D7-3ED3D721370E}"/>
                </a:ext>
              </a:extLst>
            </p:cNvPr>
            <p:cNvSpPr/>
            <p:nvPr/>
          </p:nvSpPr>
          <p:spPr>
            <a:xfrm>
              <a:off x="5369415" y="2078386"/>
              <a:ext cx="240595" cy="84755"/>
            </a:xfrm>
            <a:custGeom>
              <a:avLst/>
              <a:gdLst>
                <a:gd name="connsiteX0" fmla="*/ 240595 w 240595"/>
                <a:gd name="connsiteY0" fmla="*/ 84755 h 84755"/>
                <a:gd name="connsiteX1" fmla="*/ 213255 w 240595"/>
                <a:gd name="connsiteY1" fmla="*/ 84755 h 84755"/>
                <a:gd name="connsiteX2" fmla="*/ 213255 w 240595"/>
                <a:gd name="connsiteY2" fmla="*/ 32808 h 84755"/>
                <a:gd name="connsiteX3" fmla="*/ 207787 w 240595"/>
                <a:gd name="connsiteY3" fmla="*/ 27340 h 84755"/>
                <a:gd name="connsiteX4" fmla="*/ 0 w 240595"/>
                <a:gd name="connsiteY4" fmla="*/ 27340 h 84755"/>
                <a:gd name="connsiteX5" fmla="*/ 0 w 240595"/>
                <a:gd name="connsiteY5" fmla="*/ 0 h 84755"/>
                <a:gd name="connsiteX6" fmla="*/ 207787 w 240595"/>
                <a:gd name="connsiteY6" fmla="*/ 0 h 84755"/>
                <a:gd name="connsiteX7" fmla="*/ 240595 w 240595"/>
                <a:gd name="connsiteY7" fmla="*/ 32808 h 84755"/>
                <a:gd name="connsiteX8" fmla="*/ 240595 w 240595"/>
                <a:gd name="connsiteY8" fmla="*/ 84755 h 8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595" h="84755">
                  <a:moveTo>
                    <a:pt x="240595" y="84755"/>
                  </a:moveTo>
                  <a:lnTo>
                    <a:pt x="213255" y="84755"/>
                  </a:lnTo>
                  <a:lnTo>
                    <a:pt x="213255" y="32808"/>
                  </a:lnTo>
                  <a:cubicBezTo>
                    <a:pt x="213255" y="30074"/>
                    <a:pt x="210521" y="27340"/>
                    <a:pt x="207787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ubicBezTo>
                    <a:pt x="226925" y="0"/>
                    <a:pt x="240595" y="13670"/>
                    <a:pt x="240595" y="32808"/>
                  </a:cubicBezTo>
                  <a:lnTo>
                    <a:pt x="240595" y="84755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45">
              <a:extLst>
                <a:ext uri="{FF2B5EF4-FFF2-40B4-BE49-F238E27FC236}">
                  <a16:creationId xmlns:a16="http://schemas.microsoft.com/office/drawing/2014/main" id="{EFD56F19-3B89-4281-981B-B7C402BD7B10}"/>
                </a:ext>
              </a:extLst>
            </p:cNvPr>
            <p:cNvSpPr/>
            <p:nvPr/>
          </p:nvSpPr>
          <p:spPr>
            <a:xfrm>
              <a:off x="5320203" y="1922546"/>
              <a:ext cx="54680" cy="125765"/>
            </a:xfrm>
            <a:custGeom>
              <a:avLst/>
              <a:gdLst>
                <a:gd name="connsiteX0" fmla="*/ 24607 w 54680"/>
                <a:gd name="connsiteY0" fmla="*/ 125766 h 125765"/>
                <a:gd name="connsiteX1" fmla="*/ 0 w 54680"/>
                <a:gd name="connsiteY1" fmla="*/ 114829 h 125765"/>
                <a:gd name="connsiteX2" fmla="*/ 27340 w 54680"/>
                <a:gd name="connsiteY2" fmla="*/ 0 h 125765"/>
                <a:gd name="connsiteX3" fmla="*/ 54681 w 54680"/>
                <a:gd name="connsiteY3" fmla="*/ 2734 h 125765"/>
                <a:gd name="connsiteX4" fmla="*/ 24607 w 54680"/>
                <a:gd name="connsiteY4" fmla="*/ 125766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0" h="125765">
                  <a:moveTo>
                    <a:pt x="24607" y="125766"/>
                  </a:moveTo>
                  <a:lnTo>
                    <a:pt x="0" y="114829"/>
                  </a:lnTo>
                  <a:cubicBezTo>
                    <a:pt x="0" y="114829"/>
                    <a:pt x="19139" y="73819"/>
                    <a:pt x="27340" y="0"/>
                  </a:cubicBezTo>
                  <a:lnTo>
                    <a:pt x="54681" y="2734"/>
                  </a:lnTo>
                  <a:cubicBezTo>
                    <a:pt x="43745" y="79287"/>
                    <a:pt x="24607" y="123032"/>
                    <a:pt x="24607" y="12576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46">
              <a:extLst>
                <a:ext uri="{FF2B5EF4-FFF2-40B4-BE49-F238E27FC236}">
                  <a16:creationId xmlns:a16="http://schemas.microsoft.com/office/drawing/2014/main" id="{9C283AB7-0BC8-4252-BC2F-F9E1986B35B1}"/>
                </a:ext>
              </a:extLst>
            </p:cNvPr>
            <p:cNvSpPr/>
            <p:nvPr/>
          </p:nvSpPr>
          <p:spPr>
            <a:xfrm>
              <a:off x="5082342" y="1660079"/>
              <a:ext cx="123031" cy="123031"/>
            </a:xfrm>
            <a:custGeom>
              <a:avLst/>
              <a:gdLst>
                <a:gd name="connsiteX0" fmla="*/ 27340 w 123031"/>
                <a:gd name="connsiteY0" fmla="*/ 123032 h 123031"/>
                <a:gd name="connsiteX1" fmla="*/ 0 w 123031"/>
                <a:gd name="connsiteY1" fmla="*/ 114829 h 123031"/>
                <a:gd name="connsiteX2" fmla="*/ 109361 w 123031"/>
                <a:gd name="connsiteY2" fmla="*/ 0 h 123031"/>
                <a:gd name="connsiteX3" fmla="*/ 123032 w 123031"/>
                <a:gd name="connsiteY3" fmla="*/ 24606 h 123031"/>
                <a:gd name="connsiteX4" fmla="*/ 27340 w 123031"/>
                <a:gd name="connsiteY4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" h="123031">
                  <a:moveTo>
                    <a:pt x="27340" y="123032"/>
                  </a:moveTo>
                  <a:lnTo>
                    <a:pt x="0" y="114829"/>
                  </a:lnTo>
                  <a:cubicBezTo>
                    <a:pt x="0" y="112095"/>
                    <a:pt x="19138" y="49213"/>
                    <a:pt x="109361" y="0"/>
                  </a:cubicBezTo>
                  <a:lnTo>
                    <a:pt x="123032" y="24606"/>
                  </a:lnTo>
                  <a:cubicBezTo>
                    <a:pt x="43745" y="68351"/>
                    <a:pt x="27340" y="123032"/>
                    <a:pt x="27340" y="1230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48">
              <a:extLst>
                <a:ext uri="{FF2B5EF4-FFF2-40B4-BE49-F238E27FC236}">
                  <a16:creationId xmlns:a16="http://schemas.microsoft.com/office/drawing/2014/main" id="{58D5B9E8-C9FB-4E1C-93E0-E97166D21F0A}"/>
                </a:ext>
              </a:extLst>
            </p:cNvPr>
            <p:cNvSpPr/>
            <p:nvPr/>
          </p:nvSpPr>
          <p:spPr>
            <a:xfrm>
              <a:off x="5489030" y="1867866"/>
              <a:ext cx="101842" cy="235127"/>
            </a:xfrm>
            <a:custGeom>
              <a:avLst/>
              <a:gdLst>
                <a:gd name="connsiteX0" fmla="*/ 77236 w 101842"/>
                <a:gd name="connsiteY0" fmla="*/ 235127 h 235127"/>
                <a:gd name="connsiteX1" fmla="*/ 74502 w 101842"/>
                <a:gd name="connsiteY1" fmla="*/ 232393 h 235127"/>
                <a:gd name="connsiteX2" fmla="*/ 17088 w 101842"/>
                <a:gd name="connsiteY2" fmla="*/ 128500 h 235127"/>
                <a:gd name="connsiteX3" fmla="*/ 684 w 101842"/>
                <a:gd name="connsiteY3" fmla="*/ 0 h 235127"/>
                <a:gd name="connsiteX4" fmla="*/ 28024 w 101842"/>
                <a:gd name="connsiteY4" fmla="*/ 2734 h 235127"/>
                <a:gd name="connsiteX5" fmla="*/ 44428 w 101842"/>
                <a:gd name="connsiteY5" fmla="*/ 120298 h 235127"/>
                <a:gd name="connsiteX6" fmla="*/ 99109 w 101842"/>
                <a:gd name="connsiteY6" fmla="*/ 215989 h 235127"/>
                <a:gd name="connsiteX7" fmla="*/ 101843 w 101842"/>
                <a:gd name="connsiteY7" fmla="*/ 218723 h 235127"/>
                <a:gd name="connsiteX8" fmla="*/ 77236 w 101842"/>
                <a:gd name="connsiteY8" fmla="*/ 235127 h 23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842" h="235127">
                  <a:moveTo>
                    <a:pt x="77236" y="235127"/>
                  </a:moveTo>
                  <a:lnTo>
                    <a:pt x="74502" y="232393"/>
                  </a:lnTo>
                  <a:cubicBezTo>
                    <a:pt x="58098" y="210521"/>
                    <a:pt x="28024" y="166776"/>
                    <a:pt x="17088" y="128500"/>
                  </a:cubicBezTo>
                  <a:cubicBezTo>
                    <a:pt x="3417" y="87489"/>
                    <a:pt x="-2051" y="43745"/>
                    <a:pt x="684" y="0"/>
                  </a:cubicBezTo>
                  <a:lnTo>
                    <a:pt x="28024" y="2734"/>
                  </a:lnTo>
                  <a:cubicBezTo>
                    <a:pt x="25290" y="43745"/>
                    <a:pt x="30758" y="82021"/>
                    <a:pt x="44428" y="120298"/>
                  </a:cubicBezTo>
                  <a:cubicBezTo>
                    <a:pt x="55364" y="155840"/>
                    <a:pt x="82705" y="194117"/>
                    <a:pt x="99109" y="215989"/>
                  </a:cubicBezTo>
                  <a:lnTo>
                    <a:pt x="101843" y="218723"/>
                  </a:lnTo>
                  <a:lnTo>
                    <a:pt x="77236" y="2351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49">
              <a:extLst>
                <a:ext uri="{FF2B5EF4-FFF2-40B4-BE49-F238E27FC236}">
                  <a16:creationId xmlns:a16="http://schemas.microsoft.com/office/drawing/2014/main" id="{F139D155-B008-4981-8D57-DA04AAAF0C2E}"/>
                </a:ext>
              </a:extLst>
            </p:cNvPr>
            <p:cNvSpPr/>
            <p:nvPr/>
          </p:nvSpPr>
          <p:spPr>
            <a:xfrm>
              <a:off x="5361213" y="1614917"/>
              <a:ext cx="188259" cy="179129"/>
            </a:xfrm>
            <a:custGeom>
              <a:avLst/>
              <a:gdLst>
                <a:gd name="connsiteX0" fmla="*/ 153106 w 188259"/>
                <a:gd name="connsiteY0" fmla="*/ 179130 h 179129"/>
                <a:gd name="connsiteX1" fmla="*/ 136702 w 188259"/>
                <a:gd name="connsiteY1" fmla="*/ 157257 h 179129"/>
                <a:gd name="connsiteX2" fmla="*/ 155840 w 188259"/>
                <a:gd name="connsiteY2" fmla="*/ 135385 h 179129"/>
                <a:gd name="connsiteX3" fmla="*/ 153106 w 188259"/>
                <a:gd name="connsiteY3" fmla="*/ 69768 h 179129"/>
                <a:gd name="connsiteX4" fmla="*/ 90223 w 188259"/>
                <a:gd name="connsiteY4" fmla="*/ 28758 h 179129"/>
                <a:gd name="connsiteX5" fmla="*/ 16404 w 188259"/>
                <a:gd name="connsiteY5" fmla="*/ 45162 h 179129"/>
                <a:gd name="connsiteX6" fmla="*/ 0 w 188259"/>
                <a:gd name="connsiteY6" fmla="*/ 23290 h 179129"/>
                <a:gd name="connsiteX7" fmla="*/ 95691 w 188259"/>
                <a:gd name="connsiteY7" fmla="*/ 1417 h 179129"/>
                <a:gd name="connsiteX8" fmla="*/ 177712 w 188259"/>
                <a:gd name="connsiteY8" fmla="*/ 58832 h 179129"/>
                <a:gd name="connsiteX9" fmla="*/ 180446 w 188259"/>
                <a:gd name="connsiteY9" fmla="*/ 146321 h 179129"/>
                <a:gd name="connsiteX10" fmla="*/ 153106 w 188259"/>
                <a:gd name="connsiteY10" fmla="*/ 179130 h 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59" h="179129">
                  <a:moveTo>
                    <a:pt x="153106" y="179130"/>
                  </a:moveTo>
                  <a:lnTo>
                    <a:pt x="136702" y="157257"/>
                  </a:lnTo>
                  <a:cubicBezTo>
                    <a:pt x="144904" y="151789"/>
                    <a:pt x="153106" y="146321"/>
                    <a:pt x="155840" y="135385"/>
                  </a:cubicBezTo>
                  <a:cubicBezTo>
                    <a:pt x="166776" y="102577"/>
                    <a:pt x="158574" y="80704"/>
                    <a:pt x="153106" y="69768"/>
                  </a:cubicBezTo>
                  <a:cubicBezTo>
                    <a:pt x="142170" y="47896"/>
                    <a:pt x="120298" y="31492"/>
                    <a:pt x="90223" y="28758"/>
                  </a:cubicBezTo>
                  <a:cubicBezTo>
                    <a:pt x="46479" y="23290"/>
                    <a:pt x="16404" y="45162"/>
                    <a:pt x="16404" y="45162"/>
                  </a:cubicBezTo>
                  <a:lnTo>
                    <a:pt x="0" y="23290"/>
                  </a:lnTo>
                  <a:cubicBezTo>
                    <a:pt x="2734" y="23290"/>
                    <a:pt x="41011" y="-6785"/>
                    <a:pt x="95691" y="1417"/>
                  </a:cubicBezTo>
                  <a:cubicBezTo>
                    <a:pt x="133968" y="6885"/>
                    <a:pt x="164042" y="26024"/>
                    <a:pt x="177712" y="58832"/>
                  </a:cubicBezTo>
                  <a:cubicBezTo>
                    <a:pt x="183181" y="69768"/>
                    <a:pt x="196851" y="102577"/>
                    <a:pt x="180446" y="146321"/>
                  </a:cubicBezTo>
                  <a:cubicBezTo>
                    <a:pt x="174979" y="162725"/>
                    <a:pt x="161308" y="173662"/>
                    <a:pt x="153106" y="179130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50">
              <a:extLst>
                <a:ext uri="{FF2B5EF4-FFF2-40B4-BE49-F238E27FC236}">
                  <a16:creationId xmlns:a16="http://schemas.microsoft.com/office/drawing/2014/main" id="{C573B30B-A798-4DD5-9AEF-DF189BA68D27}"/>
                </a:ext>
              </a:extLst>
            </p:cNvPr>
            <p:cNvSpPr/>
            <p:nvPr/>
          </p:nvSpPr>
          <p:spPr>
            <a:xfrm>
              <a:off x="5424096" y="1763972"/>
              <a:ext cx="153106" cy="103893"/>
            </a:xfrm>
            <a:custGeom>
              <a:avLst/>
              <a:gdLst>
                <a:gd name="connsiteX0" fmla="*/ 101159 w 153106"/>
                <a:gd name="connsiteY0" fmla="*/ 103893 h 103893"/>
                <a:gd name="connsiteX1" fmla="*/ 0 w 153106"/>
                <a:gd name="connsiteY1" fmla="*/ 103893 h 103893"/>
                <a:gd name="connsiteX2" fmla="*/ 0 w 153106"/>
                <a:gd name="connsiteY2" fmla="*/ 76553 h 103893"/>
                <a:gd name="connsiteX3" fmla="*/ 101159 w 153106"/>
                <a:gd name="connsiteY3" fmla="*/ 76553 h 103893"/>
                <a:gd name="connsiteX4" fmla="*/ 125766 w 153106"/>
                <a:gd name="connsiteY4" fmla="*/ 51947 h 103893"/>
                <a:gd name="connsiteX5" fmla="*/ 101159 w 153106"/>
                <a:gd name="connsiteY5" fmla="*/ 27340 h 103893"/>
                <a:gd name="connsiteX6" fmla="*/ 5468 w 153106"/>
                <a:gd name="connsiteY6" fmla="*/ 27340 h 103893"/>
                <a:gd name="connsiteX7" fmla="*/ 5468 w 153106"/>
                <a:gd name="connsiteY7" fmla="*/ 0 h 103893"/>
                <a:gd name="connsiteX8" fmla="*/ 101159 w 153106"/>
                <a:gd name="connsiteY8" fmla="*/ 0 h 103893"/>
                <a:gd name="connsiteX9" fmla="*/ 153106 w 153106"/>
                <a:gd name="connsiteY9" fmla="*/ 51947 h 103893"/>
                <a:gd name="connsiteX10" fmla="*/ 101159 w 153106"/>
                <a:gd name="connsiteY10" fmla="*/ 103893 h 1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03893">
                  <a:moveTo>
                    <a:pt x="101159" y="103893"/>
                  </a:moveTo>
                  <a:lnTo>
                    <a:pt x="0" y="103893"/>
                  </a:lnTo>
                  <a:lnTo>
                    <a:pt x="0" y="76553"/>
                  </a:lnTo>
                  <a:lnTo>
                    <a:pt x="101159" y="76553"/>
                  </a:lnTo>
                  <a:cubicBezTo>
                    <a:pt x="114829" y="76553"/>
                    <a:pt x="125766" y="65617"/>
                    <a:pt x="125766" y="51947"/>
                  </a:cubicBezTo>
                  <a:cubicBezTo>
                    <a:pt x="125766" y="38276"/>
                    <a:pt x="114829" y="27340"/>
                    <a:pt x="101159" y="27340"/>
                  </a:cubicBezTo>
                  <a:lnTo>
                    <a:pt x="5468" y="27340"/>
                  </a:lnTo>
                  <a:lnTo>
                    <a:pt x="5468" y="0"/>
                  </a:lnTo>
                  <a:lnTo>
                    <a:pt x="101159" y="0"/>
                  </a:lnTo>
                  <a:cubicBezTo>
                    <a:pt x="128500" y="0"/>
                    <a:pt x="153106" y="21872"/>
                    <a:pt x="153106" y="51947"/>
                  </a:cubicBezTo>
                  <a:cubicBezTo>
                    <a:pt x="153106" y="82021"/>
                    <a:pt x="128500" y="103893"/>
                    <a:pt x="101159" y="10389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51">
              <a:extLst>
                <a:ext uri="{FF2B5EF4-FFF2-40B4-BE49-F238E27FC236}">
                  <a16:creationId xmlns:a16="http://schemas.microsoft.com/office/drawing/2014/main" id="{0C4850DC-0E40-4EA4-8C56-574D50BFE2A7}"/>
                </a:ext>
              </a:extLst>
            </p:cNvPr>
            <p:cNvSpPr/>
            <p:nvPr/>
          </p:nvSpPr>
          <p:spPr>
            <a:xfrm>
              <a:off x="5011257" y="1599930"/>
              <a:ext cx="389177" cy="448381"/>
            </a:xfrm>
            <a:custGeom>
              <a:avLst/>
              <a:gdLst>
                <a:gd name="connsiteX0" fmla="*/ 68351 w 389177"/>
                <a:gd name="connsiteY0" fmla="*/ 448382 h 448381"/>
                <a:gd name="connsiteX1" fmla="*/ 43744 w 389177"/>
                <a:gd name="connsiteY1" fmla="*/ 434712 h 448381"/>
                <a:gd name="connsiteX2" fmla="*/ 46479 w 389177"/>
                <a:gd name="connsiteY2" fmla="*/ 369095 h 448381"/>
                <a:gd name="connsiteX3" fmla="*/ 8202 w 389177"/>
                <a:gd name="connsiteY3" fmla="*/ 330818 h 448381"/>
                <a:gd name="connsiteX4" fmla="*/ 0 w 389177"/>
                <a:gd name="connsiteY4" fmla="*/ 317148 h 448381"/>
                <a:gd name="connsiteX5" fmla="*/ 2734 w 389177"/>
                <a:gd name="connsiteY5" fmla="*/ 136702 h 448381"/>
                <a:gd name="connsiteX6" fmla="*/ 2734 w 389177"/>
                <a:gd name="connsiteY6" fmla="*/ 131234 h 448381"/>
                <a:gd name="connsiteX7" fmla="*/ 57414 w 389177"/>
                <a:gd name="connsiteY7" fmla="*/ 54681 h 448381"/>
                <a:gd name="connsiteX8" fmla="*/ 196850 w 389177"/>
                <a:gd name="connsiteY8" fmla="*/ 0 h 448381"/>
                <a:gd name="connsiteX9" fmla="*/ 328084 w 389177"/>
                <a:gd name="connsiteY9" fmla="*/ 62883 h 448381"/>
                <a:gd name="connsiteX10" fmla="*/ 303478 w 389177"/>
                <a:gd name="connsiteY10" fmla="*/ 95691 h 448381"/>
                <a:gd name="connsiteX11" fmla="*/ 289807 w 389177"/>
                <a:gd name="connsiteY11" fmla="*/ 109361 h 448381"/>
                <a:gd name="connsiteX12" fmla="*/ 311680 w 389177"/>
                <a:gd name="connsiteY12" fmla="*/ 128500 h 448381"/>
                <a:gd name="connsiteX13" fmla="*/ 374563 w 389177"/>
                <a:gd name="connsiteY13" fmla="*/ 191382 h 448381"/>
                <a:gd name="connsiteX14" fmla="*/ 385499 w 389177"/>
                <a:gd name="connsiteY14" fmla="*/ 259733 h 448381"/>
                <a:gd name="connsiteX15" fmla="*/ 325350 w 389177"/>
                <a:gd name="connsiteY15" fmla="*/ 303478 h 448381"/>
                <a:gd name="connsiteX16" fmla="*/ 303478 w 389177"/>
                <a:gd name="connsiteY16" fmla="*/ 292542 h 448381"/>
                <a:gd name="connsiteX17" fmla="*/ 287074 w 389177"/>
                <a:gd name="connsiteY17" fmla="*/ 281606 h 448381"/>
                <a:gd name="connsiteX18" fmla="*/ 265201 w 389177"/>
                <a:gd name="connsiteY18" fmla="*/ 276138 h 448381"/>
                <a:gd name="connsiteX19" fmla="*/ 281605 w 389177"/>
                <a:gd name="connsiteY19" fmla="*/ 306212 h 448381"/>
                <a:gd name="connsiteX20" fmla="*/ 287074 w 389177"/>
                <a:gd name="connsiteY20" fmla="*/ 358159 h 448381"/>
                <a:gd name="connsiteX21" fmla="*/ 267935 w 389177"/>
                <a:gd name="connsiteY21" fmla="*/ 380031 h 448381"/>
                <a:gd name="connsiteX22" fmla="*/ 256999 w 389177"/>
                <a:gd name="connsiteY22" fmla="*/ 390967 h 448381"/>
                <a:gd name="connsiteX23" fmla="*/ 248797 w 389177"/>
                <a:gd name="connsiteY23" fmla="*/ 437446 h 448381"/>
                <a:gd name="connsiteX24" fmla="*/ 221457 w 389177"/>
                <a:gd name="connsiteY24" fmla="*/ 440180 h 448381"/>
                <a:gd name="connsiteX25" fmla="*/ 237861 w 389177"/>
                <a:gd name="connsiteY25" fmla="*/ 374563 h 448381"/>
                <a:gd name="connsiteX26" fmla="*/ 254265 w 389177"/>
                <a:gd name="connsiteY26" fmla="*/ 360893 h 448381"/>
                <a:gd name="connsiteX27" fmla="*/ 262467 w 389177"/>
                <a:gd name="connsiteY27" fmla="*/ 349956 h 448381"/>
                <a:gd name="connsiteX28" fmla="*/ 256999 w 389177"/>
                <a:gd name="connsiteY28" fmla="*/ 319882 h 448381"/>
                <a:gd name="connsiteX29" fmla="*/ 240595 w 389177"/>
                <a:gd name="connsiteY29" fmla="*/ 292542 h 448381"/>
                <a:gd name="connsiteX30" fmla="*/ 232393 w 389177"/>
                <a:gd name="connsiteY30" fmla="*/ 265201 h 448381"/>
                <a:gd name="connsiteX31" fmla="*/ 298010 w 389177"/>
                <a:gd name="connsiteY31" fmla="*/ 262467 h 448381"/>
                <a:gd name="connsiteX32" fmla="*/ 319882 w 389177"/>
                <a:gd name="connsiteY32" fmla="*/ 276138 h 448381"/>
                <a:gd name="connsiteX33" fmla="*/ 328084 w 389177"/>
                <a:gd name="connsiteY33" fmla="*/ 281606 h 448381"/>
                <a:gd name="connsiteX34" fmla="*/ 360893 w 389177"/>
                <a:gd name="connsiteY34" fmla="*/ 256999 h 448381"/>
                <a:gd name="connsiteX35" fmla="*/ 352690 w 389177"/>
                <a:gd name="connsiteY35" fmla="*/ 210521 h 448381"/>
                <a:gd name="connsiteX36" fmla="*/ 300744 w 389177"/>
                <a:gd name="connsiteY36" fmla="*/ 158574 h 448381"/>
                <a:gd name="connsiteX37" fmla="*/ 267935 w 389177"/>
                <a:gd name="connsiteY37" fmla="*/ 114829 h 448381"/>
                <a:gd name="connsiteX38" fmla="*/ 292542 w 389177"/>
                <a:gd name="connsiteY38" fmla="*/ 79287 h 448381"/>
                <a:gd name="connsiteX39" fmla="*/ 303478 w 389177"/>
                <a:gd name="connsiteY39" fmla="*/ 68351 h 448381"/>
                <a:gd name="connsiteX40" fmla="*/ 199584 w 389177"/>
                <a:gd name="connsiteY40" fmla="*/ 30074 h 448381"/>
                <a:gd name="connsiteX41" fmla="*/ 199584 w 389177"/>
                <a:gd name="connsiteY41" fmla="*/ 30074 h 448381"/>
                <a:gd name="connsiteX42" fmla="*/ 82021 w 389177"/>
                <a:gd name="connsiteY42" fmla="*/ 76553 h 448381"/>
                <a:gd name="connsiteX43" fmla="*/ 35542 w 389177"/>
                <a:gd name="connsiteY43" fmla="*/ 142170 h 448381"/>
                <a:gd name="connsiteX44" fmla="*/ 32808 w 389177"/>
                <a:gd name="connsiteY44" fmla="*/ 311680 h 448381"/>
                <a:gd name="connsiteX45" fmla="*/ 76553 w 389177"/>
                <a:gd name="connsiteY45" fmla="*/ 358159 h 448381"/>
                <a:gd name="connsiteX46" fmla="*/ 68351 w 389177"/>
                <a:gd name="connsiteY46" fmla="*/ 448382 h 4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89177" h="448381">
                  <a:moveTo>
                    <a:pt x="68351" y="448382"/>
                  </a:moveTo>
                  <a:lnTo>
                    <a:pt x="43744" y="434712"/>
                  </a:lnTo>
                  <a:cubicBezTo>
                    <a:pt x="46479" y="431978"/>
                    <a:pt x="60149" y="399169"/>
                    <a:pt x="46479" y="369095"/>
                  </a:cubicBezTo>
                  <a:cubicBezTo>
                    <a:pt x="35542" y="347222"/>
                    <a:pt x="16404" y="336286"/>
                    <a:pt x="8202" y="330818"/>
                  </a:cubicBezTo>
                  <a:cubicBezTo>
                    <a:pt x="2734" y="328084"/>
                    <a:pt x="0" y="322616"/>
                    <a:pt x="0" y="317148"/>
                  </a:cubicBezTo>
                  <a:lnTo>
                    <a:pt x="2734" y="136702"/>
                  </a:lnTo>
                  <a:cubicBezTo>
                    <a:pt x="2734" y="133968"/>
                    <a:pt x="2734" y="133968"/>
                    <a:pt x="2734" y="131234"/>
                  </a:cubicBezTo>
                  <a:cubicBezTo>
                    <a:pt x="13670" y="101159"/>
                    <a:pt x="32808" y="73819"/>
                    <a:pt x="57414" y="54681"/>
                  </a:cubicBezTo>
                  <a:cubicBezTo>
                    <a:pt x="76553" y="38276"/>
                    <a:pt x="125765" y="0"/>
                    <a:pt x="196850" y="0"/>
                  </a:cubicBezTo>
                  <a:cubicBezTo>
                    <a:pt x="251531" y="0"/>
                    <a:pt x="325350" y="24606"/>
                    <a:pt x="328084" y="62883"/>
                  </a:cubicBezTo>
                  <a:cubicBezTo>
                    <a:pt x="328084" y="79287"/>
                    <a:pt x="314414" y="90223"/>
                    <a:pt x="303478" y="95691"/>
                  </a:cubicBezTo>
                  <a:cubicBezTo>
                    <a:pt x="295275" y="101159"/>
                    <a:pt x="289807" y="106627"/>
                    <a:pt x="289807" y="109361"/>
                  </a:cubicBezTo>
                  <a:cubicBezTo>
                    <a:pt x="289807" y="114829"/>
                    <a:pt x="300744" y="120298"/>
                    <a:pt x="311680" y="128500"/>
                  </a:cubicBezTo>
                  <a:cubicBezTo>
                    <a:pt x="330818" y="139436"/>
                    <a:pt x="355425" y="158574"/>
                    <a:pt x="374563" y="191382"/>
                  </a:cubicBezTo>
                  <a:cubicBezTo>
                    <a:pt x="380031" y="205053"/>
                    <a:pt x="396435" y="229659"/>
                    <a:pt x="385499" y="259733"/>
                  </a:cubicBezTo>
                  <a:cubicBezTo>
                    <a:pt x="374563" y="287074"/>
                    <a:pt x="347222" y="306212"/>
                    <a:pt x="325350" y="303478"/>
                  </a:cubicBezTo>
                  <a:cubicBezTo>
                    <a:pt x="314414" y="303478"/>
                    <a:pt x="308946" y="298010"/>
                    <a:pt x="303478" y="292542"/>
                  </a:cubicBezTo>
                  <a:cubicBezTo>
                    <a:pt x="300744" y="289808"/>
                    <a:pt x="295275" y="287074"/>
                    <a:pt x="287074" y="281606"/>
                  </a:cubicBezTo>
                  <a:cubicBezTo>
                    <a:pt x="278872" y="278872"/>
                    <a:pt x="273404" y="276138"/>
                    <a:pt x="265201" y="276138"/>
                  </a:cubicBezTo>
                  <a:cubicBezTo>
                    <a:pt x="270669" y="281606"/>
                    <a:pt x="276137" y="292542"/>
                    <a:pt x="281605" y="306212"/>
                  </a:cubicBezTo>
                  <a:cubicBezTo>
                    <a:pt x="287074" y="319882"/>
                    <a:pt x="295275" y="339020"/>
                    <a:pt x="287074" y="358159"/>
                  </a:cubicBezTo>
                  <a:cubicBezTo>
                    <a:pt x="281605" y="371829"/>
                    <a:pt x="273404" y="377297"/>
                    <a:pt x="267935" y="380031"/>
                  </a:cubicBezTo>
                  <a:cubicBezTo>
                    <a:pt x="265201" y="382765"/>
                    <a:pt x="259733" y="385499"/>
                    <a:pt x="256999" y="390967"/>
                  </a:cubicBezTo>
                  <a:cubicBezTo>
                    <a:pt x="248797" y="401903"/>
                    <a:pt x="246063" y="415573"/>
                    <a:pt x="248797" y="437446"/>
                  </a:cubicBezTo>
                  <a:lnTo>
                    <a:pt x="221457" y="440180"/>
                  </a:lnTo>
                  <a:cubicBezTo>
                    <a:pt x="218723" y="412839"/>
                    <a:pt x="224191" y="388233"/>
                    <a:pt x="237861" y="374563"/>
                  </a:cubicBezTo>
                  <a:cubicBezTo>
                    <a:pt x="243329" y="366361"/>
                    <a:pt x="248797" y="363627"/>
                    <a:pt x="254265" y="360893"/>
                  </a:cubicBezTo>
                  <a:cubicBezTo>
                    <a:pt x="259733" y="358159"/>
                    <a:pt x="262467" y="355425"/>
                    <a:pt x="262467" y="349956"/>
                  </a:cubicBezTo>
                  <a:cubicBezTo>
                    <a:pt x="265201" y="341754"/>
                    <a:pt x="259733" y="330818"/>
                    <a:pt x="256999" y="319882"/>
                  </a:cubicBezTo>
                  <a:cubicBezTo>
                    <a:pt x="251531" y="306212"/>
                    <a:pt x="246063" y="298010"/>
                    <a:pt x="240595" y="292542"/>
                  </a:cubicBezTo>
                  <a:cubicBezTo>
                    <a:pt x="235127" y="284340"/>
                    <a:pt x="226925" y="276138"/>
                    <a:pt x="232393" y="265201"/>
                  </a:cubicBezTo>
                  <a:cubicBezTo>
                    <a:pt x="246063" y="240595"/>
                    <a:pt x="295275" y="262467"/>
                    <a:pt x="298010" y="262467"/>
                  </a:cubicBezTo>
                  <a:cubicBezTo>
                    <a:pt x="308946" y="267935"/>
                    <a:pt x="317148" y="273404"/>
                    <a:pt x="319882" y="276138"/>
                  </a:cubicBezTo>
                  <a:cubicBezTo>
                    <a:pt x="325350" y="278872"/>
                    <a:pt x="325350" y="281606"/>
                    <a:pt x="328084" y="281606"/>
                  </a:cubicBezTo>
                  <a:cubicBezTo>
                    <a:pt x="339020" y="281606"/>
                    <a:pt x="355425" y="270669"/>
                    <a:pt x="360893" y="256999"/>
                  </a:cubicBezTo>
                  <a:cubicBezTo>
                    <a:pt x="366361" y="240595"/>
                    <a:pt x="358158" y="221457"/>
                    <a:pt x="352690" y="210521"/>
                  </a:cubicBezTo>
                  <a:cubicBezTo>
                    <a:pt x="339020" y="183180"/>
                    <a:pt x="317148" y="169510"/>
                    <a:pt x="300744" y="158574"/>
                  </a:cubicBezTo>
                  <a:cubicBezTo>
                    <a:pt x="284340" y="147638"/>
                    <a:pt x="265201" y="136702"/>
                    <a:pt x="267935" y="114829"/>
                  </a:cubicBezTo>
                  <a:cubicBezTo>
                    <a:pt x="267935" y="95691"/>
                    <a:pt x="284340" y="87489"/>
                    <a:pt x="292542" y="79287"/>
                  </a:cubicBezTo>
                  <a:cubicBezTo>
                    <a:pt x="298010" y="76553"/>
                    <a:pt x="303478" y="71085"/>
                    <a:pt x="303478" y="68351"/>
                  </a:cubicBezTo>
                  <a:cubicBezTo>
                    <a:pt x="303478" y="57415"/>
                    <a:pt x="254265" y="32808"/>
                    <a:pt x="199584" y="30074"/>
                  </a:cubicBezTo>
                  <a:cubicBezTo>
                    <a:pt x="199584" y="30074"/>
                    <a:pt x="199584" y="30074"/>
                    <a:pt x="199584" y="30074"/>
                  </a:cubicBezTo>
                  <a:cubicBezTo>
                    <a:pt x="139436" y="30074"/>
                    <a:pt x="95691" y="62883"/>
                    <a:pt x="82021" y="76553"/>
                  </a:cubicBezTo>
                  <a:cubicBezTo>
                    <a:pt x="62882" y="95691"/>
                    <a:pt x="46479" y="117563"/>
                    <a:pt x="35542" y="142170"/>
                  </a:cubicBezTo>
                  <a:lnTo>
                    <a:pt x="32808" y="311680"/>
                  </a:lnTo>
                  <a:cubicBezTo>
                    <a:pt x="46479" y="319882"/>
                    <a:pt x="65617" y="333552"/>
                    <a:pt x="76553" y="358159"/>
                  </a:cubicBezTo>
                  <a:cubicBezTo>
                    <a:pt x="92957" y="399169"/>
                    <a:pt x="73819" y="440180"/>
                    <a:pt x="68351" y="44838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52">
              <a:extLst>
                <a:ext uri="{FF2B5EF4-FFF2-40B4-BE49-F238E27FC236}">
                  <a16:creationId xmlns:a16="http://schemas.microsoft.com/office/drawing/2014/main" id="{CDD0615E-9F34-4C34-868A-32F8D39F809B}"/>
                </a:ext>
              </a:extLst>
            </p:cNvPr>
            <p:cNvSpPr/>
            <p:nvPr/>
          </p:nvSpPr>
          <p:spPr>
            <a:xfrm>
              <a:off x="4926502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41" name="Рисунок 18">
              <a:extLst>
                <a:ext uri="{FF2B5EF4-FFF2-40B4-BE49-F238E27FC236}">
                  <a16:creationId xmlns:a16="http://schemas.microsoft.com/office/drawing/2014/main" id="{D62FBF3E-B460-491D-ACE9-08B4994BE609}"/>
                </a:ext>
              </a:extLst>
            </p:cNvPr>
            <p:cNvGrpSpPr/>
            <p:nvPr/>
          </p:nvGrpSpPr>
          <p:grpSpPr>
            <a:xfrm>
              <a:off x="4923768" y="1411282"/>
              <a:ext cx="281605" cy="60148"/>
              <a:chOff x="4923768" y="1411282"/>
              <a:chExt cx="281605" cy="60148"/>
            </a:xfrm>
            <a:grpFill/>
          </p:grpSpPr>
          <p:sp>
            <p:nvSpPr>
              <p:cNvPr id="142" name="Полилиния: фигура 54">
                <a:extLst>
                  <a:ext uri="{FF2B5EF4-FFF2-40B4-BE49-F238E27FC236}">
                    <a16:creationId xmlns:a16="http://schemas.microsoft.com/office/drawing/2014/main" id="{9981415D-D95E-426D-B9AA-1F134E4B7F19}"/>
                  </a:ext>
                </a:extLst>
              </p:cNvPr>
              <p:cNvSpPr/>
              <p:nvPr/>
            </p:nvSpPr>
            <p:spPr>
              <a:xfrm>
                <a:off x="5033129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3" name="Полилиния: фигура 55">
                <a:extLst>
                  <a:ext uri="{FF2B5EF4-FFF2-40B4-BE49-F238E27FC236}">
                    <a16:creationId xmlns:a16="http://schemas.microsoft.com/office/drawing/2014/main" id="{CDCDE123-4177-4D98-BDEE-93FE41AE0F7A}"/>
                  </a:ext>
                </a:extLst>
              </p:cNvPr>
              <p:cNvSpPr/>
              <p:nvPr/>
            </p:nvSpPr>
            <p:spPr>
              <a:xfrm>
                <a:off x="5142491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4" name="Полилиния: фигура 56">
                <a:extLst>
                  <a:ext uri="{FF2B5EF4-FFF2-40B4-BE49-F238E27FC236}">
                    <a16:creationId xmlns:a16="http://schemas.microsoft.com/office/drawing/2014/main" id="{0CD44FED-341D-4FC1-8A79-744211134E63}"/>
                  </a:ext>
                </a:extLst>
              </p:cNvPr>
              <p:cNvSpPr/>
              <p:nvPr/>
            </p:nvSpPr>
            <p:spPr>
              <a:xfrm>
                <a:off x="4923768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45" name="Группа 217">
            <a:extLst>
              <a:ext uri="{FF2B5EF4-FFF2-40B4-BE49-F238E27FC236}">
                <a16:creationId xmlns:a16="http://schemas.microsoft.com/office/drawing/2014/main" id="{3BBF02DF-349F-43E3-AECA-11CF41A7E750}"/>
              </a:ext>
            </a:extLst>
          </p:cNvPr>
          <p:cNvGrpSpPr>
            <a:grpSpLocks noChangeAspect="1"/>
          </p:cNvGrpSpPr>
          <p:nvPr/>
        </p:nvGrpSpPr>
        <p:grpSpPr>
          <a:xfrm>
            <a:off x="752155" y="3750097"/>
            <a:ext cx="312512" cy="319775"/>
            <a:chOff x="3221080" y="2894972"/>
            <a:chExt cx="935178" cy="956912"/>
          </a:xfrm>
          <a:solidFill>
            <a:srgbClr val="FFFFFF"/>
          </a:solidFill>
        </p:grpSpPr>
        <p:sp>
          <p:nvSpPr>
            <p:cNvPr id="146" name="Полилиния: фигура 57">
              <a:extLst>
                <a:ext uri="{FF2B5EF4-FFF2-40B4-BE49-F238E27FC236}">
                  <a16:creationId xmlns:a16="http://schemas.microsoft.com/office/drawing/2014/main" id="{56374A92-29D1-41EF-BB8E-43460332D231}"/>
                </a:ext>
              </a:extLst>
            </p:cNvPr>
            <p:cNvSpPr/>
            <p:nvPr/>
          </p:nvSpPr>
          <p:spPr>
            <a:xfrm>
              <a:off x="3907323" y="3499194"/>
              <a:ext cx="194116" cy="185914"/>
            </a:xfrm>
            <a:custGeom>
              <a:avLst/>
              <a:gdLst>
                <a:gd name="connsiteX0" fmla="*/ 194117 w 194116"/>
                <a:gd name="connsiteY0" fmla="*/ 185914 h 185914"/>
                <a:gd name="connsiteX1" fmla="*/ 166776 w 194116"/>
                <a:gd name="connsiteY1" fmla="*/ 185914 h 185914"/>
                <a:gd name="connsiteX2" fmla="*/ 166776 w 194116"/>
                <a:gd name="connsiteY2" fmla="*/ 27340 h 185914"/>
                <a:gd name="connsiteX3" fmla="*/ 0 w 194116"/>
                <a:gd name="connsiteY3" fmla="*/ 27340 h 185914"/>
                <a:gd name="connsiteX4" fmla="*/ 0 w 194116"/>
                <a:gd name="connsiteY4" fmla="*/ 0 h 185914"/>
                <a:gd name="connsiteX5" fmla="*/ 180447 w 194116"/>
                <a:gd name="connsiteY5" fmla="*/ 0 h 185914"/>
                <a:gd name="connsiteX6" fmla="*/ 194117 w 194116"/>
                <a:gd name="connsiteY6" fmla="*/ 13670 h 185914"/>
                <a:gd name="connsiteX7" fmla="*/ 194117 w 194116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116" h="185914">
                  <a:moveTo>
                    <a:pt x="194117" y="185914"/>
                  </a:moveTo>
                  <a:lnTo>
                    <a:pt x="166776" y="185914"/>
                  </a:lnTo>
                  <a:lnTo>
                    <a:pt x="16677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180447" y="0"/>
                  </a:lnTo>
                  <a:cubicBezTo>
                    <a:pt x="188648" y="0"/>
                    <a:pt x="194117" y="5468"/>
                    <a:pt x="194117" y="13670"/>
                  </a:cubicBezTo>
                  <a:lnTo>
                    <a:pt x="194117" y="185914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7" name="Полилиния: фигура 58">
              <a:extLst>
                <a:ext uri="{FF2B5EF4-FFF2-40B4-BE49-F238E27FC236}">
                  <a16:creationId xmlns:a16="http://schemas.microsoft.com/office/drawing/2014/main" id="{0558A449-7B1B-4531-8834-B28A7761DE39}"/>
                </a:ext>
              </a:extLst>
            </p:cNvPr>
            <p:cNvSpPr/>
            <p:nvPr/>
          </p:nvSpPr>
          <p:spPr>
            <a:xfrm>
              <a:off x="3237484" y="2982461"/>
              <a:ext cx="158574" cy="158573"/>
            </a:xfrm>
            <a:custGeom>
              <a:avLst/>
              <a:gdLst>
                <a:gd name="connsiteX0" fmla="*/ 79287 w 158574"/>
                <a:gd name="connsiteY0" fmla="*/ 158574 h 158573"/>
                <a:gd name="connsiteX1" fmla="*/ 0 w 158574"/>
                <a:gd name="connsiteY1" fmla="*/ 79287 h 158573"/>
                <a:gd name="connsiteX2" fmla="*/ 79287 w 158574"/>
                <a:gd name="connsiteY2" fmla="*/ 0 h 158573"/>
                <a:gd name="connsiteX3" fmla="*/ 158574 w 158574"/>
                <a:gd name="connsiteY3" fmla="*/ 79287 h 158573"/>
                <a:gd name="connsiteX4" fmla="*/ 79287 w 158574"/>
                <a:gd name="connsiteY4" fmla="*/ 158574 h 158573"/>
                <a:gd name="connsiteX5" fmla="*/ 79287 w 158574"/>
                <a:gd name="connsiteY5" fmla="*/ 27340 h 158573"/>
                <a:gd name="connsiteX6" fmla="*/ 27340 w 158574"/>
                <a:gd name="connsiteY6" fmla="*/ 79287 h 158573"/>
                <a:gd name="connsiteX7" fmla="*/ 79287 w 158574"/>
                <a:gd name="connsiteY7" fmla="*/ 131234 h 158573"/>
                <a:gd name="connsiteX8" fmla="*/ 131234 w 158574"/>
                <a:gd name="connsiteY8" fmla="*/ 79287 h 158573"/>
                <a:gd name="connsiteX9" fmla="*/ 79287 w 158574"/>
                <a:gd name="connsiteY9" fmla="*/ 27340 h 15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4" h="158573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2"/>
                    <a:pt x="35543" y="0"/>
                    <a:pt x="79287" y="0"/>
                  </a:cubicBezTo>
                  <a:cubicBezTo>
                    <a:pt x="123032" y="0"/>
                    <a:pt x="158574" y="35542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6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9361" y="131234"/>
                    <a:pt x="131234" y="106627"/>
                    <a:pt x="131234" y="79287"/>
                  </a:cubicBezTo>
                  <a:cubicBezTo>
                    <a:pt x="131234" y="51946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: фигура 59">
              <a:extLst>
                <a:ext uri="{FF2B5EF4-FFF2-40B4-BE49-F238E27FC236}">
                  <a16:creationId xmlns:a16="http://schemas.microsoft.com/office/drawing/2014/main" id="{81EDA504-99C9-4DA2-AF4F-DDD8408FC30D}"/>
                </a:ext>
              </a:extLst>
            </p:cNvPr>
            <p:cNvSpPr/>
            <p:nvPr/>
          </p:nvSpPr>
          <p:spPr>
            <a:xfrm>
              <a:off x="3899121" y="2894972"/>
              <a:ext cx="158573" cy="158574"/>
            </a:xfrm>
            <a:custGeom>
              <a:avLst/>
              <a:gdLst>
                <a:gd name="connsiteX0" fmla="*/ 79287 w 158573"/>
                <a:gd name="connsiteY0" fmla="*/ 158574 h 158574"/>
                <a:gd name="connsiteX1" fmla="*/ 0 w 158573"/>
                <a:gd name="connsiteY1" fmla="*/ 79287 h 158574"/>
                <a:gd name="connsiteX2" fmla="*/ 79287 w 158573"/>
                <a:gd name="connsiteY2" fmla="*/ 0 h 158574"/>
                <a:gd name="connsiteX3" fmla="*/ 158574 w 158573"/>
                <a:gd name="connsiteY3" fmla="*/ 79287 h 158574"/>
                <a:gd name="connsiteX4" fmla="*/ 79287 w 158573"/>
                <a:gd name="connsiteY4" fmla="*/ 158574 h 158574"/>
                <a:gd name="connsiteX5" fmla="*/ 79287 w 158573"/>
                <a:gd name="connsiteY5" fmla="*/ 27340 h 158574"/>
                <a:gd name="connsiteX6" fmla="*/ 27340 w 158573"/>
                <a:gd name="connsiteY6" fmla="*/ 79287 h 158574"/>
                <a:gd name="connsiteX7" fmla="*/ 79287 w 158573"/>
                <a:gd name="connsiteY7" fmla="*/ 131234 h 158574"/>
                <a:gd name="connsiteX8" fmla="*/ 131234 w 158573"/>
                <a:gd name="connsiteY8" fmla="*/ 79287 h 158574"/>
                <a:gd name="connsiteX9" fmla="*/ 79287 w 158573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3" h="158574">
                  <a:moveTo>
                    <a:pt x="79287" y="158574"/>
                  </a:moveTo>
                  <a:cubicBezTo>
                    <a:pt x="35542" y="158574"/>
                    <a:pt x="0" y="123032"/>
                    <a:pt x="0" y="79287"/>
                  </a:cubicBezTo>
                  <a:cubicBezTo>
                    <a:pt x="0" y="35543"/>
                    <a:pt x="35542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1234" y="51947"/>
                    <a:pt x="106627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60">
              <a:extLst>
                <a:ext uri="{FF2B5EF4-FFF2-40B4-BE49-F238E27FC236}">
                  <a16:creationId xmlns:a16="http://schemas.microsoft.com/office/drawing/2014/main" id="{F8BDE583-DDE2-451A-A3B7-A853D4A04924}"/>
                </a:ext>
              </a:extLst>
            </p:cNvPr>
            <p:cNvSpPr/>
            <p:nvPr/>
          </p:nvSpPr>
          <p:spPr>
            <a:xfrm>
              <a:off x="3226548" y="3159985"/>
              <a:ext cx="382764" cy="254453"/>
            </a:xfrm>
            <a:custGeom>
              <a:avLst/>
              <a:gdLst>
                <a:gd name="connsiteX0" fmla="*/ 325350 w 382764"/>
                <a:gd name="connsiteY0" fmla="*/ 254453 h 254453"/>
                <a:gd name="connsiteX1" fmla="*/ 325350 w 382764"/>
                <a:gd name="connsiteY1" fmla="*/ 254453 h 254453"/>
                <a:gd name="connsiteX2" fmla="*/ 150372 w 382764"/>
                <a:gd name="connsiteY2" fmla="*/ 254453 h 254453"/>
                <a:gd name="connsiteX3" fmla="*/ 139436 w 382764"/>
                <a:gd name="connsiteY3" fmla="*/ 248985 h 254453"/>
                <a:gd name="connsiteX4" fmla="*/ 76553 w 382764"/>
                <a:gd name="connsiteY4" fmla="*/ 161496 h 254453"/>
                <a:gd name="connsiteX5" fmla="*/ 98425 w 382764"/>
                <a:gd name="connsiteY5" fmla="*/ 145092 h 254453"/>
                <a:gd name="connsiteX6" fmla="*/ 158574 w 382764"/>
                <a:gd name="connsiteY6" fmla="*/ 227113 h 254453"/>
                <a:gd name="connsiteX7" fmla="*/ 325350 w 382764"/>
                <a:gd name="connsiteY7" fmla="*/ 227113 h 254453"/>
                <a:gd name="connsiteX8" fmla="*/ 349956 w 382764"/>
                <a:gd name="connsiteY8" fmla="*/ 218911 h 254453"/>
                <a:gd name="connsiteX9" fmla="*/ 355425 w 382764"/>
                <a:gd name="connsiteY9" fmla="*/ 205241 h 254453"/>
                <a:gd name="connsiteX10" fmla="*/ 319882 w 382764"/>
                <a:gd name="connsiteY10" fmla="*/ 180635 h 254453"/>
                <a:gd name="connsiteX11" fmla="*/ 262467 w 382764"/>
                <a:gd name="connsiteY11" fmla="*/ 175166 h 254453"/>
                <a:gd name="connsiteX12" fmla="*/ 202318 w 382764"/>
                <a:gd name="connsiteY12" fmla="*/ 169698 h 254453"/>
                <a:gd name="connsiteX13" fmla="*/ 191382 w 382764"/>
                <a:gd name="connsiteY13" fmla="*/ 161496 h 254453"/>
                <a:gd name="connsiteX14" fmla="*/ 169510 w 382764"/>
                <a:gd name="connsiteY14" fmla="*/ 112284 h 254453"/>
                <a:gd name="connsiteX15" fmla="*/ 147638 w 382764"/>
                <a:gd name="connsiteY15" fmla="*/ 63071 h 254453"/>
                <a:gd name="connsiteX16" fmla="*/ 90223 w 382764"/>
                <a:gd name="connsiteY16" fmla="*/ 24794 h 254453"/>
                <a:gd name="connsiteX17" fmla="*/ 27340 w 382764"/>
                <a:gd name="connsiteY17" fmla="*/ 68539 h 254453"/>
                <a:gd name="connsiteX18" fmla="*/ 27340 w 382764"/>
                <a:gd name="connsiteY18" fmla="*/ 254453 h 254453"/>
                <a:gd name="connsiteX19" fmla="*/ 0 w 382764"/>
                <a:gd name="connsiteY19" fmla="*/ 254453 h 254453"/>
                <a:gd name="connsiteX20" fmla="*/ 0 w 382764"/>
                <a:gd name="connsiteY20" fmla="*/ 68539 h 254453"/>
                <a:gd name="connsiteX21" fmla="*/ 0 w 382764"/>
                <a:gd name="connsiteY21" fmla="*/ 63071 h 254453"/>
                <a:gd name="connsiteX22" fmla="*/ 90223 w 382764"/>
                <a:gd name="connsiteY22" fmla="*/ 188 h 254453"/>
                <a:gd name="connsiteX23" fmla="*/ 169510 w 382764"/>
                <a:gd name="connsiteY23" fmla="*/ 54869 h 254453"/>
                <a:gd name="connsiteX24" fmla="*/ 191382 w 382764"/>
                <a:gd name="connsiteY24" fmla="*/ 104081 h 254453"/>
                <a:gd name="connsiteX25" fmla="*/ 210521 w 382764"/>
                <a:gd name="connsiteY25" fmla="*/ 145092 h 254453"/>
                <a:gd name="connsiteX26" fmla="*/ 262467 w 382764"/>
                <a:gd name="connsiteY26" fmla="*/ 147826 h 254453"/>
                <a:gd name="connsiteX27" fmla="*/ 322616 w 382764"/>
                <a:gd name="connsiteY27" fmla="*/ 153294 h 254453"/>
                <a:gd name="connsiteX28" fmla="*/ 382765 w 382764"/>
                <a:gd name="connsiteY28" fmla="*/ 205241 h 254453"/>
                <a:gd name="connsiteX29" fmla="*/ 369095 w 382764"/>
                <a:gd name="connsiteY29" fmla="*/ 238049 h 254453"/>
                <a:gd name="connsiteX30" fmla="*/ 325350 w 382764"/>
                <a:gd name="connsiteY30" fmla="*/ 254453 h 25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764" h="254453">
                  <a:moveTo>
                    <a:pt x="325350" y="254453"/>
                  </a:moveTo>
                  <a:cubicBezTo>
                    <a:pt x="325350" y="254453"/>
                    <a:pt x="322616" y="254453"/>
                    <a:pt x="325350" y="254453"/>
                  </a:cubicBezTo>
                  <a:lnTo>
                    <a:pt x="150372" y="254453"/>
                  </a:lnTo>
                  <a:cubicBezTo>
                    <a:pt x="144904" y="254453"/>
                    <a:pt x="142170" y="251719"/>
                    <a:pt x="139436" y="248985"/>
                  </a:cubicBezTo>
                  <a:lnTo>
                    <a:pt x="76553" y="161496"/>
                  </a:lnTo>
                  <a:lnTo>
                    <a:pt x="98425" y="145092"/>
                  </a:lnTo>
                  <a:lnTo>
                    <a:pt x="158574" y="227113"/>
                  </a:lnTo>
                  <a:lnTo>
                    <a:pt x="325350" y="227113"/>
                  </a:lnTo>
                  <a:cubicBezTo>
                    <a:pt x="336286" y="227113"/>
                    <a:pt x="344488" y="224379"/>
                    <a:pt x="349956" y="218911"/>
                  </a:cubicBezTo>
                  <a:cubicBezTo>
                    <a:pt x="352690" y="216177"/>
                    <a:pt x="355425" y="210709"/>
                    <a:pt x="355425" y="205241"/>
                  </a:cubicBezTo>
                  <a:cubicBezTo>
                    <a:pt x="355425" y="194305"/>
                    <a:pt x="352690" y="183369"/>
                    <a:pt x="319882" y="180635"/>
                  </a:cubicBezTo>
                  <a:cubicBezTo>
                    <a:pt x="298010" y="177901"/>
                    <a:pt x="281606" y="177901"/>
                    <a:pt x="262467" y="175166"/>
                  </a:cubicBezTo>
                  <a:cubicBezTo>
                    <a:pt x="243329" y="175166"/>
                    <a:pt x="224191" y="172432"/>
                    <a:pt x="202318" y="169698"/>
                  </a:cubicBezTo>
                  <a:cubicBezTo>
                    <a:pt x="196850" y="169698"/>
                    <a:pt x="194116" y="166964"/>
                    <a:pt x="191382" y="161496"/>
                  </a:cubicBezTo>
                  <a:cubicBezTo>
                    <a:pt x="183180" y="145092"/>
                    <a:pt x="177712" y="128688"/>
                    <a:pt x="169510" y="112284"/>
                  </a:cubicBezTo>
                  <a:cubicBezTo>
                    <a:pt x="161308" y="95879"/>
                    <a:pt x="155840" y="79475"/>
                    <a:pt x="147638" y="63071"/>
                  </a:cubicBezTo>
                  <a:cubicBezTo>
                    <a:pt x="136702" y="41199"/>
                    <a:pt x="114829" y="24794"/>
                    <a:pt x="90223" y="24794"/>
                  </a:cubicBezTo>
                  <a:cubicBezTo>
                    <a:pt x="62883" y="24794"/>
                    <a:pt x="38276" y="41199"/>
                    <a:pt x="27340" y="68539"/>
                  </a:cubicBezTo>
                  <a:lnTo>
                    <a:pt x="27340" y="254453"/>
                  </a:lnTo>
                  <a:lnTo>
                    <a:pt x="0" y="254453"/>
                  </a:lnTo>
                  <a:lnTo>
                    <a:pt x="0" y="68539"/>
                  </a:lnTo>
                  <a:cubicBezTo>
                    <a:pt x="0" y="65805"/>
                    <a:pt x="0" y="65805"/>
                    <a:pt x="0" y="63071"/>
                  </a:cubicBezTo>
                  <a:cubicBezTo>
                    <a:pt x="13670" y="24794"/>
                    <a:pt x="51947" y="-2546"/>
                    <a:pt x="90223" y="188"/>
                  </a:cubicBezTo>
                  <a:cubicBezTo>
                    <a:pt x="123032" y="188"/>
                    <a:pt x="155840" y="22060"/>
                    <a:pt x="169510" y="54869"/>
                  </a:cubicBezTo>
                  <a:cubicBezTo>
                    <a:pt x="177712" y="68539"/>
                    <a:pt x="183180" y="87677"/>
                    <a:pt x="191382" y="104081"/>
                  </a:cubicBezTo>
                  <a:cubicBezTo>
                    <a:pt x="196850" y="117752"/>
                    <a:pt x="205053" y="131422"/>
                    <a:pt x="210521" y="145092"/>
                  </a:cubicBezTo>
                  <a:cubicBezTo>
                    <a:pt x="226925" y="147826"/>
                    <a:pt x="243329" y="147826"/>
                    <a:pt x="262467" y="147826"/>
                  </a:cubicBezTo>
                  <a:cubicBezTo>
                    <a:pt x="281606" y="147826"/>
                    <a:pt x="300744" y="150560"/>
                    <a:pt x="322616" y="153294"/>
                  </a:cubicBezTo>
                  <a:cubicBezTo>
                    <a:pt x="349956" y="156028"/>
                    <a:pt x="382765" y="166964"/>
                    <a:pt x="382765" y="205241"/>
                  </a:cubicBezTo>
                  <a:cubicBezTo>
                    <a:pt x="382765" y="216177"/>
                    <a:pt x="377297" y="229847"/>
                    <a:pt x="369095" y="238049"/>
                  </a:cubicBezTo>
                  <a:cubicBezTo>
                    <a:pt x="358159" y="248985"/>
                    <a:pt x="341754" y="254453"/>
                    <a:pt x="325350" y="254453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: фигура 61">
              <a:extLst>
                <a:ext uri="{FF2B5EF4-FFF2-40B4-BE49-F238E27FC236}">
                  <a16:creationId xmlns:a16="http://schemas.microsoft.com/office/drawing/2014/main" id="{C9A077D3-8B58-4CC5-BB16-B55C03201CEC}"/>
                </a:ext>
              </a:extLst>
            </p:cNvPr>
            <p:cNvSpPr/>
            <p:nvPr/>
          </p:nvSpPr>
          <p:spPr>
            <a:xfrm>
              <a:off x="3469877" y="3075418"/>
              <a:ext cx="680774" cy="210520"/>
            </a:xfrm>
            <a:custGeom>
              <a:avLst/>
              <a:gdLst>
                <a:gd name="connsiteX0" fmla="*/ 0 w 680774"/>
                <a:gd name="connsiteY0" fmla="*/ 210521 h 210520"/>
                <a:gd name="connsiteX1" fmla="*/ 16404 w 680774"/>
                <a:gd name="connsiteY1" fmla="*/ 166776 h 210520"/>
                <a:gd name="connsiteX2" fmla="*/ 62883 w 680774"/>
                <a:gd name="connsiteY2" fmla="*/ 150372 h 210520"/>
                <a:gd name="connsiteX3" fmla="*/ 68351 w 680774"/>
                <a:gd name="connsiteY3" fmla="*/ 150372 h 210520"/>
                <a:gd name="connsiteX4" fmla="*/ 369095 w 680774"/>
                <a:gd name="connsiteY4" fmla="*/ 153106 h 210520"/>
                <a:gd name="connsiteX5" fmla="*/ 656169 w 680774"/>
                <a:gd name="connsiteY5" fmla="*/ 155840 h 210520"/>
                <a:gd name="connsiteX6" fmla="*/ 656169 w 680774"/>
                <a:gd name="connsiteY6" fmla="*/ 79287 h 210520"/>
                <a:gd name="connsiteX7" fmla="*/ 645233 w 680774"/>
                <a:gd name="connsiteY7" fmla="*/ 43745 h 210520"/>
                <a:gd name="connsiteX8" fmla="*/ 604222 w 680774"/>
                <a:gd name="connsiteY8" fmla="*/ 30075 h 210520"/>
                <a:gd name="connsiteX9" fmla="*/ 535871 w 680774"/>
                <a:gd name="connsiteY9" fmla="*/ 27340 h 210520"/>
                <a:gd name="connsiteX10" fmla="*/ 535871 w 680774"/>
                <a:gd name="connsiteY10" fmla="*/ 0 h 210520"/>
                <a:gd name="connsiteX11" fmla="*/ 604222 w 680774"/>
                <a:gd name="connsiteY11" fmla="*/ 2734 h 210520"/>
                <a:gd name="connsiteX12" fmla="*/ 664371 w 680774"/>
                <a:gd name="connsiteY12" fmla="*/ 27340 h 210520"/>
                <a:gd name="connsiteX13" fmla="*/ 680775 w 680774"/>
                <a:gd name="connsiteY13" fmla="*/ 82021 h 210520"/>
                <a:gd name="connsiteX14" fmla="*/ 680775 w 680774"/>
                <a:gd name="connsiteY14" fmla="*/ 169510 h 210520"/>
                <a:gd name="connsiteX15" fmla="*/ 667105 w 680774"/>
                <a:gd name="connsiteY15" fmla="*/ 183180 h 210520"/>
                <a:gd name="connsiteX16" fmla="*/ 366361 w 680774"/>
                <a:gd name="connsiteY16" fmla="*/ 180446 h 210520"/>
                <a:gd name="connsiteX17" fmla="*/ 65617 w 680774"/>
                <a:gd name="connsiteY17" fmla="*/ 177712 h 210520"/>
                <a:gd name="connsiteX18" fmla="*/ 60149 w 680774"/>
                <a:gd name="connsiteY18" fmla="*/ 177712 h 210520"/>
                <a:gd name="connsiteX19" fmla="*/ 32809 w 680774"/>
                <a:gd name="connsiteY19" fmla="*/ 185914 h 210520"/>
                <a:gd name="connsiteX20" fmla="*/ 24606 w 680774"/>
                <a:gd name="connsiteY20" fmla="*/ 207787 h 210520"/>
                <a:gd name="connsiteX21" fmla="*/ 0 w 680774"/>
                <a:gd name="connsiteY21" fmla="*/ 210521 h 21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80774" h="210520">
                  <a:moveTo>
                    <a:pt x="0" y="210521"/>
                  </a:moveTo>
                  <a:cubicBezTo>
                    <a:pt x="0" y="205053"/>
                    <a:pt x="0" y="183180"/>
                    <a:pt x="16404" y="166776"/>
                  </a:cubicBezTo>
                  <a:cubicBezTo>
                    <a:pt x="35543" y="150372"/>
                    <a:pt x="51947" y="150372"/>
                    <a:pt x="62883" y="150372"/>
                  </a:cubicBezTo>
                  <a:lnTo>
                    <a:pt x="68351" y="150372"/>
                  </a:lnTo>
                  <a:cubicBezTo>
                    <a:pt x="169510" y="150372"/>
                    <a:pt x="270670" y="150372"/>
                    <a:pt x="369095" y="153106"/>
                  </a:cubicBezTo>
                  <a:cubicBezTo>
                    <a:pt x="462052" y="155840"/>
                    <a:pt x="560477" y="155840"/>
                    <a:pt x="656169" y="155840"/>
                  </a:cubicBezTo>
                  <a:lnTo>
                    <a:pt x="656169" y="79287"/>
                  </a:lnTo>
                  <a:cubicBezTo>
                    <a:pt x="656169" y="68351"/>
                    <a:pt x="656169" y="54681"/>
                    <a:pt x="645233" y="43745"/>
                  </a:cubicBezTo>
                  <a:cubicBezTo>
                    <a:pt x="634296" y="32809"/>
                    <a:pt x="617892" y="30075"/>
                    <a:pt x="604222" y="30075"/>
                  </a:cubicBezTo>
                  <a:cubicBezTo>
                    <a:pt x="579616" y="30075"/>
                    <a:pt x="555009" y="27340"/>
                    <a:pt x="535871" y="27340"/>
                  </a:cubicBezTo>
                  <a:lnTo>
                    <a:pt x="535871" y="0"/>
                  </a:lnTo>
                  <a:cubicBezTo>
                    <a:pt x="555009" y="0"/>
                    <a:pt x="579616" y="0"/>
                    <a:pt x="604222" y="2734"/>
                  </a:cubicBezTo>
                  <a:cubicBezTo>
                    <a:pt x="617892" y="2734"/>
                    <a:pt x="645233" y="5468"/>
                    <a:pt x="664371" y="27340"/>
                  </a:cubicBezTo>
                  <a:cubicBezTo>
                    <a:pt x="675307" y="41011"/>
                    <a:pt x="680775" y="60149"/>
                    <a:pt x="680775" y="82021"/>
                  </a:cubicBezTo>
                  <a:lnTo>
                    <a:pt x="680775" y="169510"/>
                  </a:lnTo>
                  <a:cubicBezTo>
                    <a:pt x="680775" y="177712"/>
                    <a:pt x="675307" y="183180"/>
                    <a:pt x="667105" y="183180"/>
                  </a:cubicBezTo>
                  <a:cubicBezTo>
                    <a:pt x="565945" y="183180"/>
                    <a:pt x="464786" y="183180"/>
                    <a:pt x="366361" y="180446"/>
                  </a:cubicBezTo>
                  <a:cubicBezTo>
                    <a:pt x="267936" y="177712"/>
                    <a:pt x="166776" y="177712"/>
                    <a:pt x="65617" y="177712"/>
                  </a:cubicBezTo>
                  <a:lnTo>
                    <a:pt x="60149" y="177712"/>
                  </a:lnTo>
                  <a:cubicBezTo>
                    <a:pt x="51947" y="177712"/>
                    <a:pt x="43745" y="177712"/>
                    <a:pt x="32809" y="185914"/>
                  </a:cubicBezTo>
                  <a:cubicBezTo>
                    <a:pt x="24606" y="191382"/>
                    <a:pt x="24606" y="205053"/>
                    <a:pt x="24606" y="207787"/>
                  </a:cubicBezTo>
                  <a:lnTo>
                    <a:pt x="0" y="210521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62">
              <a:extLst>
                <a:ext uri="{FF2B5EF4-FFF2-40B4-BE49-F238E27FC236}">
                  <a16:creationId xmlns:a16="http://schemas.microsoft.com/office/drawing/2014/main" id="{C3435DCE-8A27-4DD8-9367-DC18CF01F367}"/>
                </a:ext>
              </a:extLst>
            </p:cNvPr>
            <p:cNvSpPr/>
            <p:nvPr/>
          </p:nvSpPr>
          <p:spPr>
            <a:xfrm>
              <a:off x="3811632" y="3075309"/>
              <a:ext cx="147637" cy="125875"/>
            </a:xfrm>
            <a:custGeom>
              <a:avLst/>
              <a:gdLst>
                <a:gd name="connsiteX0" fmla="*/ 27340 w 147637"/>
                <a:gd name="connsiteY0" fmla="*/ 125875 h 125875"/>
                <a:gd name="connsiteX1" fmla="*/ 0 w 147637"/>
                <a:gd name="connsiteY1" fmla="*/ 125875 h 125875"/>
                <a:gd name="connsiteX2" fmla="*/ 0 w 147637"/>
                <a:gd name="connsiteY2" fmla="*/ 71194 h 125875"/>
                <a:gd name="connsiteX3" fmla="*/ 27340 w 147637"/>
                <a:gd name="connsiteY3" fmla="*/ 19248 h 125875"/>
                <a:gd name="connsiteX4" fmla="*/ 112096 w 147637"/>
                <a:gd name="connsiteY4" fmla="*/ 109 h 125875"/>
                <a:gd name="connsiteX5" fmla="*/ 147638 w 147637"/>
                <a:gd name="connsiteY5" fmla="*/ 109 h 125875"/>
                <a:gd name="connsiteX6" fmla="*/ 147638 w 147637"/>
                <a:gd name="connsiteY6" fmla="*/ 27450 h 125875"/>
                <a:gd name="connsiteX7" fmla="*/ 112096 w 147637"/>
                <a:gd name="connsiteY7" fmla="*/ 27450 h 125875"/>
                <a:gd name="connsiteX8" fmla="*/ 109361 w 147637"/>
                <a:gd name="connsiteY8" fmla="*/ 27450 h 125875"/>
                <a:gd name="connsiteX9" fmla="*/ 43745 w 147637"/>
                <a:gd name="connsiteY9" fmla="*/ 38386 h 125875"/>
                <a:gd name="connsiteX10" fmla="*/ 27340 w 147637"/>
                <a:gd name="connsiteY10" fmla="*/ 71194 h 125875"/>
                <a:gd name="connsiteX11" fmla="*/ 27340 w 147637"/>
                <a:gd name="connsiteY11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637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6" y="109"/>
                  </a:cubicBezTo>
                  <a:cubicBezTo>
                    <a:pt x="117564" y="109"/>
                    <a:pt x="131234" y="109"/>
                    <a:pt x="147638" y="109"/>
                  </a:cubicBezTo>
                  <a:lnTo>
                    <a:pt x="147638" y="27450"/>
                  </a:lnTo>
                  <a:cubicBezTo>
                    <a:pt x="131234" y="27450"/>
                    <a:pt x="117564" y="27450"/>
                    <a:pt x="112096" y="27450"/>
                  </a:cubicBezTo>
                  <a:cubicBezTo>
                    <a:pt x="112096" y="27450"/>
                    <a:pt x="109361" y="27450"/>
                    <a:pt x="109361" y="27450"/>
                  </a:cubicBezTo>
                  <a:cubicBezTo>
                    <a:pt x="101159" y="27450"/>
                    <a:pt x="60149" y="27450"/>
                    <a:pt x="43745" y="38386"/>
                  </a:cubicBezTo>
                  <a:cubicBezTo>
                    <a:pt x="30075" y="49322"/>
                    <a:pt x="27340" y="65726"/>
                    <a:pt x="27340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66">
              <a:extLst>
                <a:ext uri="{FF2B5EF4-FFF2-40B4-BE49-F238E27FC236}">
                  <a16:creationId xmlns:a16="http://schemas.microsoft.com/office/drawing/2014/main" id="{C59CD6F9-8737-4B0F-8374-289678AE1FE2}"/>
                </a:ext>
              </a:extLst>
            </p:cNvPr>
            <p:cNvSpPr/>
            <p:nvPr/>
          </p:nvSpPr>
          <p:spPr>
            <a:xfrm>
              <a:off x="3221080" y="3327633"/>
              <a:ext cx="935178" cy="524251"/>
            </a:xfrm>
            <a:custGeom>
              <a:avLst/>
              <a:gdLst>
                <a:gd name="connsiteX0" fmla="*/ 853019 w 935178"/>
                <a:gd name="connsiteY0" fmla="*/ 524251 h 524251"/>
                <a:gd name="connsiteX1" fmla="*/ 82021 w 935178"/>
                <a:gd name="connsiteY1" fmla="*/ 524251 h 524251"/>
                <a:gd name="connsiteX2" fmla="*/ 0 w 935178"/>
                <a:gd name="connsiteY2" fmla="*/ 442230 h 524251"/>
                <a:gd name="connsiteX3" fmla="*/ 0 w 935178"/>
                <a:gd name="connsiteY3" fmla="*/ 196167 h 524251"/>
                <a:gd name="connsiteX4" fmla="*/ 82021 w 935178"/>
                <a:gd name="connsiteY4" fmla="*/ 114146 h 524251"/>
                <a:gd name="connsiteX5" fmla="*/ 475722 w 935178"/>
                <a:gd name="connsiteY5" fmla="*/ 114146 h 524251"/>
                <a:gd name="connsiteX6" fmla="*/ 475722 w 935178"/>
                <a:gd name="connsiteY6" fmla="*/ 141486 h 524251"/>
                <a:gd name="connsiteX7" fmla="*/ 82021 w 935178"/>
                <a:gd name="connsiteY7" fmla="*/ 141486 h 524251"/>
                <a:gd name="connsiteX8" fmla="*/ 27340 w 935178"/>
                <a:gd name="connsiteY8" fmla="*/ 196167 h 524251"/>
                <a:gd name="connsiteX9" fmla="*/ 27340 w 935178"/>
                <a:gd name="connsiteY9" fmla="*/ 442230 h 524251"/>
                <a:gd name="connsiteX10" fmla="*/ 82021 w 935178"/>
                <a:gd name="connsiteY10" fmla="*/ 496911 h 524251"/>
                <a:gd name="connsiteX11" fmla="*/ 853019 w 935178"/>
                <a:gd name="connsiteY11" fmla="*/ 496911 h 524251"/>
                <a:gd name="connsiteX12" fmla="*/ 910434 w 935178"/>
                <a:gd name="connsiteY12" fmla="*/ 439496 h 524251"/>
                <a:gd name="connsiteX13" fmla="*/ 910434 w 935178"/>
                <a:gd name="connsiteY13" fmla="*/ 141486 h 524251"/>
                <a:gd name="connsiteX14" fmla="*/ 735456 w 935178"/>
                <a:gd name="connsiteY14" fmla="*/ 141486 h 524251"/>
                <a:gd name="connsiteX15" fmla="*/ 727253 w 935178"/>
                <a:gd name="connsiteY15" fmla="*/ 138752 h 524251"/>
                <a:gd name="connsiteX16" fmla="*/ 590552 w 935178"/>
                <a:gd name="connsiteY16" fmla="*/ 40327 h 524251"/>
                <a:gd name="connsiteX17" fmla="*/ 587818 w 935178"/>
                <a:gd name="connsiteY17" fmla="*/ 114146 h 524251"/>
                <a:gd name="connsiteX18" fmla="*/ 560477 w 935178"/>
                <a:gd name="connsiteY18" fmla="*/ 114146 h 524251"/>
                <a:gd name="connsiteX19" fmla="*/ 563211 w 935178"/>
                <a:gd name="connsiteY19" fmla="*/ 12987 h 524251"/>
                <a:gd name="connsiteX20" fmla="*/ 571413 w 935178"/>
                <a:gd name="connsiteY20" fmla="*/ 2050 h 524251"/>
                <a:gd name="connsiteX21" fmla="*/ 585084 w 935178"/>
                <a:gd name="connsiteY21" fmla="*/ 2050 h 524251"/>
                <a:gd name="connsiteX22" fmla="*/ 738190 w 935178"/>
                <a:gd name="connsiteY22" fmla="*/ 114146 h 524251"/>
                <a:gd name="connsiteX23" fmla="*/ 921370 w 935178"/>
                <a:gd name="connsiteY23" fmla="*/ 114146 h 524251"/>
                <a:gd name="connsiteX24" fmla="*/ 935040 w 935178"/>
                <a:gd name="connsiteY24" fmla="*/ 127816 h 524251"/>
                <a:gd name="connsiteX25" fmla="*/ 935040 w 935178"/>
                <a:gd name="connsiteY25" fmla="*/ 439496 h 524251"/>
                <a:gd name="connsiteX26" fmla="*/ 853019 w 935178"/>
                <a:gd name="connsiteY26" fmla="*/ 524251 h 524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35178" h="524251">
                  <a:moveTo>
                    <a:pt x="853019" y="524251"/>
                  </a:moveTo>
                  <a:lnTo>
                    <a:pt x="82021" y="524251"/>
                  </a:lnTo>
                  <a:cubicBezTo>
                    <a:pt x="38277" y="524251"/>
                    <a:pt x="0" y="488709"/>
                    <a:pt x="0" y="442230"/>
                  </a:cubicBezTo>
                  <a:lnTo>
                    <a:pt x="0" y="196167"/>
                  </a:lnTo>
                  <a:cubicBezTo>
                    <a:pt x="0" y="149688"/>
                    <a:pt x="38277" y="114146"/>
                    <a:pt x="82021" y="114146"/>
                  </a:cubicBezTo>
                  <a:lnTo>
                    <a:pt x="475722" y="114146"/>
                  </a:lnTo>
                  <a:lnTo>
                    <a:pt x="475722" y="141486"/>
                  </a:lnTo>
                  <a:lnTo>
                    <a:pt x="82021" y="141486"/>
                  </a:lnTo>
                  <a:cubicBezTo>
                    <a:pt x="51947" y="141486"/>
                    <a:pt x="27340" y="166093"/>
                    <a:pt x="27340" y="196167"/>
                  </a:cubicBezTo>
                  <a:lnTo>
                    <a:pt x="27340" y="442230"/>
                  </a:lnTo>
                  <a:cubicBezTo>
                    <a:pt x="27340" y="472304"/>
                    <a:pt x="51947" y="496911"/>
                    <a:pt x="82021" y="496911"/>
                  </a:cubicBezTo>
                  <a:lnTo>
                    <a:pt x="853019" y="496911"/>
                  </a:lnTo>
                  <a:cubicBezTo>
                    <a:pt x="883094" y="496911"/>
                    <a:pt x="910434" y="472304"/>
                    <a:pt x="910434" y="439496"/>
                  </a:cubicBezTo>
                  <a:lnTo>
                    <a:pt x="910434" y="141486"/>
                  </a:lnTo>
                  <a:lnTo>
                    <a:pt x="735456" y="141486"/>
                  </a:lnTo>
                  <a:cubicBezTo>
                    <a:pt x="732722" y="141486"/>
                    <a:pt x="729988" y="141486"/>
                    <a:pt x="727253" y="138752"/>
                  </a:cubicBezTo>
                  <a:lnTo>
                    <a:pt x="590552" y="40327"/>
                  </a:lnTo>
                  <a:cubicBezTo>
                    <a:pt x="590552" y="73135"/>
                    <a:pt x="587818" y="111412"/>
                    <a:pt x="587818" y="114146"/>
                  </a:cubicBezTo>
                  <a:lnTo>
                    <a:pt x="560477" y="114146"/>
                  </a:lnTo>
                  <a:cubicBezTo>
                    <a:pt x="560477" y="105944"/>
                    <a:pt x="563211" y="21189"/>
                    <a:pt x="563211" y="12987"/>
                  </a:cubicBezTo>
                  <a:cubicBezTo>
                    <a:pt x="563211" y="7518"/>
                    <a:pt x="565945" y="2050"/>
                    <a:pt x="571413" y="2050"/>
                  </a:cubicBezTo>
                  <a:cubicBezTo>
                    <a:pt x="576881" y="-683"/>
                    <a:pt x="582350" y="-683"/>
                    <a:pt x="585084" y="2050"/>
                  </a:cubicBezTo>
                  <a:lnTo>
                    <a:pt x="738190" y="114146"/>
                  </a:lnTo>
                  <a:lnTo>
                    <a:pt x="921370" y="114146"/>
                  </a:lnTo>
                  <a:cubicBezTo>
                    <a:pt x="929572" y="114146"/>
                    <a:pt x="935040" y="119614"/>
                    <a:pt x="935040" y="127816"/>
                  </a:cubicBezTo>
                  <a:lnTo>
                    <a:pt x="935040" y="439496"/>
                  </a:lnTo>
                  <a:cubicBezTo>
                    <a:pt x="937774" y="485975"/>
                    <a:pt x="899498" y="524251"/>
                    <a:pt x="853019" y="524251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3" name="Рисунок 16">
              <a:extLst>
                <a:ext uri="{FF2B5EF4-FFF2-40B4-BE49-F238E27FC236}">
                  <a16:creationId xmlns:a16="http://schemas.microsoft.com/office/drawing/2014/main" id="{E95BBFFB-24DA-416A-9201-0F26525D6E55}"/>
                </a:ext>
              </a:extLst>
            </p:cNvPr>
            <p:cNvGrpSpPr/>
            <p:nvPr/>
          </p:nvGrpSpPr>
          <p:grpSpPr>
            <a:xfrm>
              <a:off x="3398792" y="3624960"/>
              <a:ext cx="295275" cy="62882"/>
              <a:chOff x="3398792" y="3624960"/>
              <a:chExt cx="295275" cy="62882"/>
            </a:xfrm>
            <a:grpFill/>
          </p:grpSpPr>
          <p:sp>
            <p:nvSpPr>
              <p:cNvPr id="154" name="Полилиния: фигура 68">
                <a:extLst>
                  <a:ext uri="{FF2B5EF4-FFF2-40B4-BE49-F238E27FC236}">
                    <a16:creationId xmlns:a16="http://schemas.microsoft.com/office/drawing/2014/main" id="{7DD23741-3874-4ACF-B0A5-1574B12113C2}"/>
                  </a:ext>
                </a:extLst>
              </p:cNvPr>
              <p:cNvSpPr/>
              <p:nvPr/>
            </p:nvSpPr>
            <p:spPr>
              <a:xfrm>
                <a:off x="351362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5" name="Полилиния: фигура 69">
                <a:extLst>
                  <a:ext uri="{FF2B5EF4-FFF2-40B4-BE49-F238E27FC236}">
                    <a16:creationId xmlns:a16="http://schemas.microsoft.com/office/drawing/2014/main" id="{7C46E1AC-5C6D-4C6B-906E-49E50514A039}"/>
                  </a:ext>
                </a:extLst>
              </p:cNvPr>
              <p:cNvSpPr/>
              <p:nvPr/>
            </p:nvSpPr>
            <p:spPr>
              <a:xfrm>
                <a:off x="3628451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6" name="Полилиния: фигура 70">
                <a:extLst>
                  <a:ext uri="{FF2B5EF4-FFF2-40B4-BE49-F238E27FC236}">
                    <a16:creationId xmlns:a16="http://schemas.microsoft.com/office/drawing/2014/main" id="{138B8955-0FFC-4F5D-8650-FEF1D7F32702}"/>
                  </a:ext>
                </a:extLst>
              </p:cNvPr>
              <p:cNvSpPr/>
              <p:nvPr/>
            </p:nvSpPr>
            <p:spPr>
              <a:xfrm>
                <a:off x="339879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57" name="Полилиния: фигура 85">
              <a:extLst>
                <a:ext uri="{FF2B5EF4-FFF2-40B4-BE49-F238E27FC236}">
                  <a16:creationId xmlns:a16="http://schemas.microsoft.com/office/drawing/2014/main" id="{0F7DC35F-096E-4945-BEFC-9D13AC4A04E9}"/>
                </a:ext>
              </a:extLst>
            </p:cNvPr>
            <p:cNvSpPr/>
            <p:nvPr/>
          </p:nvSpPr>
          <p:spPr>
            <a:xfrm>
              <a:off x="3590175" y="2894972"/>
              <a:ext cx="158712" cy="158574"/>
            </a:xfrm>
            <a:custGeom>
              <a:avLst/>
              <a:gdLst>
                <a:gd name="connsiteX0" fmla="*/ 79287 w 158712"/>
                <a:gd name="connsiteY0" fmla="*/ 158574 h 158574"/>
                <a:gd name="connsiteX1" fmla="*/ 0 w 158712"/>
                <a:gd name="connsiteY1" fmla="*/ 79287 h 158574"/>
                <a:gd name="connsiteX2" fmla="*/ 79287 w 158712"/>
                <a:gd name="connsiteY2" fmla="*/ 0 h 158574"/>
                <a:gd name="connsiteX3" fmla="*/ 158574 w 158712"/>
                <a:gd name="connsiteY3" fmla="*/ 79287 h 158574"/>
                <a:gd name="connsiteX4" fmla="*/ 79287 w 158712"/>
                <a:gd name="connsiteY4" fmla="*/ 158574 h 158574"/>
                <a:gd name="connsiteX5" fmla="*/ 79287 w 158712"/>
                <a:gd name="connsiteY5" fmla="*/ 27340 h 158574"/>
                <a:gd name="connsiteX6" fmla="*/ 27340 w 158712"/>
                <a:gd name="connsiteY6" fmla="*/ 79287 h 158574"/>
                <a:gd name="connsiteX7" fmla="*/ 79287 w 158712"/>
                <a:gd name="connsiteY7" fmla="*/ 131234 h 158574"/>
                <a:gd name="connsiteX8" fmla="*/ 131234 w 158712"/>
                <a:gd name="connsiteY8" fmla="*/ 79287 h 158574"/>
                <a:gd name="connsiteX9" fmla="*/ 79287 w 158712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712" h="158574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3"/>
                    <a:pt x="35543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61308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9361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3968" y="49213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86">
              <a:extLst>
                <a:ext uri="{FF2B5EF4-FFF2-40B4-BE49-F238E27FC236}">
                  <a16:creationId xmlns:a16="http://schemas.microsoft.com/office/drawing/2014/main" id="{56CFE043-C320-4DA5-BF3B-03CFD0AAA16F}"/>
                </a:ext>
              </a:extLst>
            </p:cNvPr>
            <p:cNvSpPr/>
            <p:nvPr/>
          </p:nvSpPr>
          <p:spPr>
            <a:xfrm>
              <a:off x="3694068" y="3075418"/>
              <a:ext cx="142169" cy="128499"/>
            </a:xfrm>
            <a:custGeom>
              <a:avLst/>
              <a:gdLst>
                <a:gd name="connsiteX0" fmla="*/ 142170 w 142169"/>
                <a:gd name="connsiteY0" fmla="*/ 128500 h 128499"/>
                <a:gd name="connsiteX1" fmla="*/ 114829 w 142169"/>
                <a:gd name="connsiteY1" fmla="*/ 128500 h 128499"/>
                <a:gd name="connsiteX2" fmla="*/ 114829 w 142169"/>
                <a:gd name="connsiteY2" fmla="*/ 79287 h 128499"/>
                <a:gd name="connsiteX3" fmla="*/ 103893 w 142169"/>
                <a:gd name="connsiteY3" fmla="*/ 43745 h 128499"/>
                <a:gd name="connsiteX4" fmla="*/ 62883 w 142169"/>
                <a:gd name="connsiteY4" fmla="*/ 30075 h 128499"/>
                <a:gd name="connsiteX5" fmla="*/ 0 w 142169"/>
                <a:gd name="connsiteY5" fmla="*/ 27340 h 128499"/>
                <a:gd name="connsiteX6" fmla="*/ 0 w 142169"/>
                <a:gd name="connsiteY6" fmla="*/ 0 h 128499"/>
                <a:gd name="connsiteX7" fmla="*/ 62883 w 142169"/>
                <a:gd name="connsiteY7" fmla="*/ 2734 h 128499"/>
                <a:gd name="connsiteX8" fmla="*/ 123032 w 142169"/>
                <a:gd name="connsiteY8" fmla="*/ 27340 h 128499"/>
                <a:gd name="connsiteX9" fmla="*/ 139436 w 142169"/>
                <a:gd name="connsiteY9" fmla="*/ 82021 h 128499"/>
                <a:gd name="connsiteX10" fmla="*/ 139436 w 142169"/>
                <a:gd name="connsiteY10" fmla="*/ 128500 h 12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169" h="128499">
                  <a:moveTo>
                    <a:pt x="142170" y="128500"/>
                  </a:moveTo>
                  <a:lnTo>
                    <a:pt x="114829" y="128500"/>
                  </a:lnTo>
                  <a:lnTo>
                    <a:pt x="114829" y="79287"/>
                  </a:lnTo>
                  <a:cubicBezTo>
                    <a:pt x="114829" y="68351"/>
                    <a:pt x="114829" y="54681"/>
                    <a:pt x="103893" y="43745"/>
                  </a:cubicBezTo>
                  <a:cubicBezTo>
                    <a:pt x="92957" y="32809"/>
                    <a:pt x="76553" y="30075"/>
                    <a:pt x="62883" y="30075"/>
                  </a:cubicBezTo>
                  <a:cubicBezTo>
                    <a:pt x="41011" y="30075"/>
                    <a:pt x="19138" y="27340"/>
                    <a:pt x="0" y="27340"/>
                  </a:cubicBezTo>
                  <a:lnTo>
                    <a:pt x="0" y="0"/>
                  </a:lnTo>
                  <a:cubicBezTo>
                    <a:pt x="19138" y="0"/>
                    <a:pt x="38277" y="0"/>
                    <a:pt x="62883" y="2734"/>
                  </a:cubicBezTo>
                  <a:cubicBezTo>
                    <a:pt x="76553" y="2734"/>
                    <a:pt x="103893" y="5468"/>
                    <a:pt x="123032" y="27340"/>
                  </a:cubicBezTo>
                  <a:cubicBezTo>
                    <a:pt x="133968" y="41011"/>
                    <a:pt x="139436" y="60149"/>
                    <a:pt x="139436" y="82021"/>
                  </a:cubicBezTo>
                  <a:lnTo>
                    <a:pt x="139436" y="12850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87">
              <a:extLst>
                <a:ext uri="{FF2B5EF4-FFF2-40B4-BE49-F238E27FC236}">
                  <a16:creationId xmlns:a16="http://schemas.microsoft.com/office/drawing/2014/main" id="{16CD4097-F23E-497D-938F-1B776510B810}"/>
                </a:ext>
              </a:extLst>
            </p:cNvPr>
            <p:cNvSpPr/>
            <p:nvPr/>
          </p:nvSpPr>
          <p:spPr>
            <a:xfrm>
              <a:off x="3494483" y="3075309"/>
              <a:ext cx="153105" cy="125875"/>
            </a:xfrm>
            <a:custGeom>
              <a:avLst/>
              <a:gdLst>
                <a:gd name="connsiteX0" fmla="*/ 27340 w 153105"/>
                <a:gd name="connsiteY0" fmla="*/ 125875 h 125875"/>
                <a:gd name="connsiteX1" fmla="*/ 0 w 153105"/>
                <a:gd name="connsiteY1" fmla="*/ 125875 h 125875"/>
                <a:gd name="connsiteX2" fmla="*/ 0 w 153105"/>
                <a:gd name="connsiteY2" fmla="*/ 71194 h 125875"/>
                <a:gd name="connsiteX3" fmla="*/ 27340 w 153105"/>
                <a:gd name="connsiteY3" fmla="*/ 19248 h 125875"/>
                <a:gd name="connsiteX4" fmla="*/ 112095 w 153105"/>
                <a:gd name="connsiteY4" fmla="*/ 109 h 125875"/>
                <a:gd name="connsiteX5" fmla="*/ 153106 w 153105"/>
                <a:gd name="connsiteY5" fmla="*/ 109 h 125875"/>
                <a:gd name="connsiteX6" fmla="*/ 153106 w 153105"/>
                <a:gd name="connsiteY6" fmla="*/ 27450 h 125875"/>
                <a:gd name="connsiteX7" fmla="*/ 112095 w 153105"/>
                <a:gd name="connsiteY7" fmla="*/ 27450 h 125875"/>
                <a:gd name="connsiteX8" fmla="*/ 109361 w 153105"/>
                <a:gd name="connsiteY8" fmla="*/ 27450 h 125875"/>
                <a:gd name="connsiteX9" fmla="*/ 106627 w 153105"/>
                <a:gd name="connsiteY9" fmla="*/ 27450 h 125875"/>
                <a:gd name="connsiteX10" fmla="*/ 41011 w 153105"/>
                <a:gd name="connsiteY10" fmla="*/ 38386 h 125875"/>
                <a:gd name="connsiteX11" fmla="*/ 24606 w 153105"/>
                <a:gd name="connsiteY11" fmla="*/ 71194 h 125875"/>
                <a:gd name="connsiteX12" fmla="*/ 27340 w 153105"/>
                <a:gd name="connsiteY12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3105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5" y="109"/>
                  </a:cubicBezTo>
                  <a:cubicBezTo>
                    <a:pt x="120298" y="109"/>
                    <a:pt x="133968" y="109"/>
                    <a:pt x="153106" y="109"/>
                  </a:cubicBezTo>
                  <a:lnTo>
                    <a:pt x="153106" y="27450"/>
                  </a:lnTo>
                  <a:cubicBezTo>
                    <a:pt x="133968" y="27450"/>
                    <a:pt x="120298" y="27450"/>
                    <a:pt x="112095" y="27450"/>
                  </a:cubicBezTo>
                  <a:lnTo>
                    <a:pt x="109361" y="27450"/>
                  </a:lnTo>
                  <a:lnTo>
                    <a:pt x="106627" y="27450"/>
                  </a:lnTo>
                  <a:cubicBezTo>
                    <a:pt x="98425" y="27450"/>
                    <a:pt x="57415" y="27450"/>
                    <a:pt x="41011" y="38386"/>
                  </a:cubicBezTo>
                  <a:cubicBezTo>
                    <a:pt x="27340" y="49322"/>
                    <a:pt x="24606" y="65726"/>
                    <a:pt x="24606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0" name="Группа 181">
            <a:extLst>
              <a:ext uri="{FF2B5EF4-FFF2-40B4-BE49-F238E27FC236}">
                <a16:creationId xmlns:a16="http://schemas.microsoft.com/office/drawing/2014/main" id="{AA75C580-14BD-4E9A-8B14-45408FE45267}"/>
              </a:ext>
            </a:extLst>
          </p:cNvPr>
          <p:cNvGrpSpPr>
            <a:grpSpLocks noChangeAspect="1"/>
          </p:cNvGrpSpPr>
          <p:nvPr/>
        </p:nvGrpSpPr>
        <p:grpSpPr>
          <a:xfrm>
            <a:off x="758521" y="5123145"/>
            <a:ext cx="306146" cy="334693"/>
            <a:chOff x="1399597" y="1241772"/>
            <a:chExt cx="850284" cy="929571"/>
          </a:xfrm>
          <a:solidFill>
            <a:srgbClr val="FFFFFF"/>
          </a:solidFill>
        </p:grpSpPr>
        <p:sp>
          <p:nvSpPr>
            <p:cNvPr id="161" name="Полилиния: фигура 20">
              <a:extLst>
                <a:ext uri="{FF2B5EF4-FFF2-40B4-BE49-F238E27FC236}">
                  <a16:creationId xmlns:a16="http://schemas.microsoft.com/office/drawing/2014/main" id="{857DAE7B-D435-413A-BDEF-C605BCC907BD}"/>
                </a:ext>
              </a:extLst>
            </p:cNvPr>
            <p:cNvSpPr/>
            <p:nvPr/>
          </p:nvSpPr>
          <p:spPr>
            <a:xfrm>
              <a:off x="1946404" y="131012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1">
              <a:extLst>
                <a:ext uri="{FF2B5EF4-FFF2-40B4-BE49-F238E27FC236}">
                  <a16:creationId xmlns:a16="http://schemas.microsoft.com/office/drawing/2014/main" id="{B6665067-3A87-4148-8B29-77205E2C4CBB}"/>
                </a:ext>
              </a:extLst>
            </p:cNvPr>
            <p:cNvSpPr/>
            <p:nvPr/>
          </p:nvSpPr>
          <p:spPr>
            <a:xfrm>
              <a:off x="2126850" y="1446824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2">
              <a:extLst>
                <a:ext uri="{FF2B5EF4-FFF2-40B4-BE49-F238E27FC236}">
                  <a16:creationId xmlns:a16="http://schemas.microsoft.com/office/drawing/2014/main" id="{A77093D6-642D-4EB8-99CF-5CABF0E62EDF}"/>
                </a:ext>
              </a:extLst>
            </p:cNvPr>
            <p:cNvSpPr/>
            <p:nvPr/>
          </p:nvSpPr>
          <p:spPr>
            <a:xfrm>
              <a:off x="1935467" y="1534313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30074 w 136701"/>
                <a:gd name="connsiteY5" fmla="*/ 106627 h 133967"/>
                <a:gd name="connsiteX6" fmla="*/ 112095 w 136701"/>
                <a:gd name="connsiteY6" fmla="*/ 106627 h 133967"/>
                <a:gd name="connsiteX7" fmla="*/ 112095 w 136701"/>
                <a:gd name="connsiteY7" fmla="*/ 27340 h 133967"/>
                <a:gd name="connsiteX8" fmla="*/ 30074 w 136701"/>
                <a:gd name="connsiteY8" fmla="*/ 27340 h 133967"/>
                <a:gd name="connsiteX9" fmla="*/ 30074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30074" y="106627"/>
                  </a:moveTo>
                  <a:lnTo>
                    <a:pt x="112095" y="106627"/>
                  </a:lnTo>
                  <a:lnTo>
                    <a:pt x="112095" y="27340"/>
                  </a:lnTo>
                  <a:lnTo>
                    <a:pt x="30074" y="27340"/>
                  </a:lnTo>
                  <a:lnTo>
                    <a:pt x="30074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3">
              <a:extLst>
                <a:ext uri="{FF2B5EF4-FFF2-40B4-BE49-F238E27FC236}">
                  <a16:creationId xmlns:a16="http://schemas.microsoft.com/office/drawing/2014/main" id="{E5A9F109-9EC8-41C0-8CBB-96E09F8991DD}"/>
                </a:ext>
              </a:extLst>
            </p:cNvPr>
            <p:cNvSpPr/>
            <p:nvPr/>
          </p:nvSpPr>
          <p:spPr>
            <a:xfrm>
              <a:off x="2132318" y="1660079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24">
              <a:extLst>
                <a:ext uri="{FF2B5EF4-FFF2-40B4-BE49-F238E27FC236}">
                  <a16:creationId xmlns:a16="http://schemas.microsoft.com/office/drawing/2014/main" id="{58F67658-1979-4E85-B24D-2C65B8A515A8}"/>
                </a:ext>
              </a:extLst>
            </p:cNvPr>
            <p:cNvSpPr/>
            <p:nvPr/>
          </p:nvSpPr>
          <p:spPr>
            <a:xfrm>
              <a:off x="1946404" y="176397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25">
              <a:extLst>
                <a:ext uri="{FF2B5EF4-FFF2-40B4-BE49-F238E27FC236}">
                  <a16:creationId xmlns:a16="http://schemas.microsoft.com/office/drawing/2014/main" id="{0961056E-7ADD-4775-9F68-5746E51287DF}"/>
                </a:ext>
              </a:extLst>
            </p:cNvPr>
            <p:cNvSpPr/>
            <p:nvPr/>
          </p:nvSpPr>
          <p:spPr>
            <a:xfrm>
              <a:off x="1946404" y="1974493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: фигура 26">
              <a:extLst>
                <a:ext uri="{FF2B5EF4-FFF2-40B4-BE49-F238E27FC236}">
                  <a16:creationId xmlns:a16="http://schemas.microsoft.com/office/drawing/2014/main" id="{DD38E770-D1E4-45E1-BB6D-87A84E22221D}"/>
                </a:ext>
              </a:extLst>
            </p:cNvPr>
            <p:cNvSpPr/>
            <p:nvPr/>
          </p:nvSpPr>
          <p:spPr>
            <a:xfrm>
              <a:off x="2113180" y="1854195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27340 w 136701"/>
                <a:gd name="connsiteY5" fmla="*/ 106627 h 133967"/>
                <a:gd name="connsiteX6" fmla="*/ 109361 w 136701"/>
                <a:gd name="connsiteY6" fmla="*/ 106627 h 133967"/>
                <a:gd name="connsiteX7" fmla="*/ 109361 w 136701"/>
                <a:gd name="connsiteY7" fmla="*/ 27340 h 133967"/>
                <a:gd name="connsiteX8" fmla="*/ 27340 w 136701"/>
                <a:gd name="connsiteY8" fmla="*/ 27340 h 133967"/>
                <a:gd name="connsiteX9" fmla="*/ 27340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27340" y="106627"/>
                  </a:moveTo>
                  <a:lnTo>
                    <a:pt x="109361" y="106627"/>
                  </a:lnTo>
                  <a:lnTo>
                    <a:pt x="109361" y="27340"/>
                  </a:lnTo>
                  <a:lnTo>
                    <a:pt x="27340" y="27340"/>
                  </a:lnTo>
                  <a:lnTo>
                    <a:pt x="2734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: фигура 27">
              <a:extLst>
                <a:ext uri="{FF2B5EF4-FFF2-40B4-BE49-F238E27FC236}">
                  <a16:creationId xmlns:a16="http://schemas.microsoft.com/office/drawing/2014/main" id="{EA334F0A-B375-4A8C-BCF8-3B6074B008D2}"/>
                </a:ext>
              </a:extLst>
            </p:cNvPr>
            <p:cNvSpPr/>
            <p:nvPr/>
          </p:nvSpPr>
          <p:spPr>
            <a:xfrm>
              <a:off x="1399597" y="1241772"/>
              <a:ext cx="489392" cy="929571"/>
            </a:xfrm>
            <a:custGeom>
              <a:avLst/>
              <a:gdLst>
                <a:gd name="connsiteX0" fmla="*/ 472988 w 489392"/>
                <a:gd name="connsiteY0" fmla="*/ 929572 h 929571"/>
                <a:gd name="connsiteX1" fmla="*/ 382765 w 489392"/>
                <a:gd name="connsiteY1" fmla="*/ 929572 h 929571"/>
                <a:gd name="connsiteX2" fmla="*/ 369095 w 489392"/>
                <a:gd name="connsiteY2" fmla="*/ 918636 h 929571"/>
                <a:gd name="connsiteX3" fmla="*/ 355425 w 489392"/>
                <a:gd name="connsiteY3" fmla="*/ 825679 h 929571"/>
                <a:gd name="connsiteX4" fmla="*/ 336286 w 489392"/>
                <a:gd name="connsiteY4" fmla="*/ 817476 h 929571"/>
                <a:gd name="connsiteX5" fmla="*/ 292542 w 489392"/>
                <a:gd name="connsiteY5" fmla="*/ 798338 h 929571"/>
                <a:gd name="connsiteX6" fmla="*/ 215989 w 489392"/>
                <a:gd name="connsiteY6" fmla="*/ 847551 h 929571"/>
                <a:gd name="connsiteX7" fmla="*/ 199585 w 489392"/>
                <a:gd name="connsiteY7" fmla="*/ 844817 h 929571"/>
                <a:gd name="connsiteX8" fmla="*/ 84755 w 489392"/>
                <a:gd name="connsiteY8" fmla="*/ 729987 h 929571"/>
                <a:gd name="connsiteX9" fmla="*/ 82021 w 489392"/>
                <a:gd name="connsiteY9" fmla="*/ 713583 h 929571"/>
                <a:gd name="connsiteX10" fmla="*/ 133968 w 489392"/>
                <a:gd name="connsiteY10" fmla="*/ 637030 h 929571"/>
                <a:gd name="connsiteX11" fmla="*/ 106627 w 489392"/>
                <a:gd name="connsiteY11" fmla="*/ 571413 h 929571"/>
                <a:gd name="connsiteX12" fmla="*/ 10936 w 489392"/>
                <a:gd name="connsiteY12" fmla="*/ 557743 h 929571"/>
                <a:gd name="connsiteX13" fmla="*/ 0 w 489392"/>
                <a:gd name="connsiteY13" fmla="*/ 546807 h 929571"/>
                <a:gd name="connsiteX14" fmla="*/ 0 w 489392"/>
                <a:gd name="connsiteY14" fmla="*/ 382765 h 929571"/>
                <a:gd name="connsiteX15" fmla="*/ 10936 w 489392"/>
                <a:gd name="connsiteY15" fmla="*/ 369095 h 929571"/>
                <a:gd name="connsiteX16" fmla="*/ 103893 w 489392"/>
                <a:gd name="connsiteY16" fmla="*/ 355425 h 929571"/>
                <a:gd name="connsiteX17" fmla="*/ 112095 w 489392"/>
                <a:gd name="connsiteY17" fmla="*/ 336286 h 929571"/>
                <a:gd name="connsiteX18" fmla="*/ 131234 w 489392"/>
                <a:gd name="connsiteY18" fmla="*/ 292542 h 929571"/>
                <a:gd name="connsiteX19" fmla="*/ 79287 w 489392"/>
                <a:gd name="connsiteY19" fmla="*/ 213255 h 929571"/>
                <a:gd name="connsiteX20" fmla="*/ 82021 w 489392"/>
                <a:gd name="connsiteY20" fmla="*/ 196851 h 929571"/>
                <a:gd name="connsiteX21" fmla="*/ 196851 w 489392"/>
                <a:gd name="connsiteY21" fmla="*/ 82021 h 929571"/>
                <a:gd name="connsiteX22" fmla="*/ 213255 w 489392"/>
                <a:gd name="connsiteY22" fmla="*/ 79287 h 929571"/>
                <a:gd name="connsiteX23" fmla="*/ 289808 w 489392"/>
                <a:gd name="connsiteY23" fmla="*/ 131234 h 929571"/>
                <a:gd name="connsiteX24" fmla="*/ 355425 w 489392"/>
                <a:gd name="connsiteY24" fmla="*/ 103893 h 929571"/>
                <a:gd name="connsiteX25" fmla="*/ 369095 w 489392"/>
                <a:gd name="connsiteY25" fmla="*/ 10936 h 929571"/>
                <a:gd name="connsiteX26" fmla="*/ 382765 w 489392"/>
                <a:gd name="connsiteY26" fmla="*/ 0 h 929571"/>
                <a:gd name="connsiteX27" fmla="*/ 475722 w 489392"/>
                <a:gd name="connsiteY27" fmla="*/ 0 h 929571"/>
                <a:gd name="connsiteX28" fmla="*/ 489392 w 489392"/>
                <a:gd name="connsiteY28" fmla="*/ 13670 h 929571"/>
                <a:gd name="connsiteX29" fmla="*/ 489392 w 489392"/>
                <a:gd name="connsiteY29" fmla="*/ 256999 h 929571"/>
                <a:gd name="connsiteX30" fmla="*/ 475722 w 489392"/>
                <a:gd name="connsiteY30" fmla="*/ 270669 h 929571"/>
                <a:gd name="connsiteX31" fmla="*/ 287074 w 489392"/>
                <a:gd name="connsiteY31" fmla="*/ 374563 h 929571"/>
                <a:gd name="connsiteX32" fmla="*/ 267935 w 489392"/>
                <a:gd name="connsiteY32" fmla="*/ 380031 h 929571"/>
                <a:gd name="connsiteX33" fmla="*/ 262467 w 489392"/>
                <a:gd name="connsiteY33" fmla="*/ 360893 h 929571"/>
                <a:gd name="connsiteX34" fmla="*/ 462052 w 489392"/>
                <a:gd name="connsiteY34" fmla="*/ 243329 h 929571"/>
                <a:gd name="connsiteX35" fmla="*/ 462052 w 489392"/>
                <a:gd name="connsiteY35" fmla="*/ 27340 h 929571"/>
                <a:gd name="connsiteX36" fmla="*/ 393701 w 489392"/>
                <a:gd name="connsiteY36" fmla="*/ 27340 h 929571"/>
                <a:gd name="connsiteX37" fmla="*/ 380031 w 489392"/>
                <a:gd name="connsiteY37" fmla="*/ 114829 h 929571"/>
                <a:gd name="connsiteX38" fmla="*/ 369095 w 489392"/>
                <a:gd name="connsiteY38" fmla="*/ 125766 h 929571"/>
                <a:gd name="connsiteX39" fmla="*/ 295276 w 489392"/>
                <a:gd name="connsiteY39" fmla="*/ 158574 h 929571"/>
                <a:gd name="connsiteX40" fmla="*/ 278872 w 489392"/>
                <a:gd name="connsiteY40" fmla="*/ 158574 h 929571"/>
                <a:gd name="connsiteX41" fmla="*/ 207787 w 489392"/>
                <a:gd name="connsiteY41" fmla="*/ 109361 h 929571"/>
                <a:gd name="connsiteX42" fmla="*/ 109361 w 489392"/>
                <a:gd name="connsiteY42" fmla="*/ 207787 h 929571"/>
                <a:gd name="connsiteX43" fmla="*/ 161308 w 489392"/>
                <a:gd name="connsiteY43" fmla="*/ 281606 h 929571"/>
                <a:gd name="connsiteX44" fmla="*/ 161308 w 489392"/>
                <a:gd name="connsiteY44" fmla="*/ 295276 h 929571"/>
                <a:gd name="connsiteX45" fmla="*/ 139436 w 489392"/>
                <a:gd name="connsiteY45" fmla="*/ 344488 h 929571"/>
                <a:gd name="connsiteX46" fmla="*/ 128500 w 489392"/>
                <a:gd name="connsiteY46" fmla="*/ 371829 h 929571"/>
                <a:gd name="connsiteX47" fmla="*/ 117564 w 489392"/>
                <a:gd name="connsiteY47" fmla="*/ 380031 h 929571"/>
                <a:gd name="connsiteX48" fmla="*/ 27340 w 489392"/>
                <a:gd name="connsiteY48" fmla="*/ 396435 h 929571"/>
                <a:gd name="connsiteX49" fmla="*/ 27340 w 489392"/>
                <a:gd name="connsiteY49" fmla="*/ 535871 h 929571"/>
                <a:gd name="connsiteX50" fmla="*/ 117564 w 489392"/>
                <a:gd name="connsiteY50" fmla="*/ 546807 h 929571"/>
                <a:gd name="connsiteX51" fmla="*/ 128500 w 489392"/>
                <a:gd name="connsiteY51" fmla="*/ 557743 h 929571"/>
                <a:gd name="connsiteX52" fmla="*/ 161308 w 489392"/>
                <a:gd name="connsiteY52" fmla="*/ 631562 h 929571"/>
                <a:gd name="connsiteX53" fmla="*/ 161308 w 489392"/>
                <a:gd name="connsiteY53" fmla="*/ 647966 h 929571"/>
                <a:gd name="connsiteX54" fmla="*/ 109361 w 489392"/>
                <a:gd name="connsiteY54" fmla="*/ 721785 h 929571"/>
                <a:gd name="connsiteX55" fmla="*/ 210521 w 489392"/>
                <a:gd name="connsiteY55" fmla="*/ 820211 h 929571"/>
                <a:gd name="connsiteX56" fmla="*/ 284340 w 489392"/>
                <a:gd name="connsiteY56" fmla="*/ 768264 h 929571"/>
                <a:gd name="connsiteX57" fmla="*/ 298010 w 489392"/>
                <a:gd name="connsiteY57" fmla="*/ 768264 h 929571"/>
                <a:gd name="connsiteX58" fmla="*/ 347222 w 489392"/>
                <a:gd name="connsiteY58" fmla="*/ 790136 h 929571"/>
                <a:gd name="connsiteX59" fmla="*/ 374563 w 489392"/>
                <a:gd name="connsiteY59" fmla="*/ 801072 h 929571"/>
                <a:gd name="connsiteX60" fmla="*/ 382765 w 489392"/>
                <a:gd name="connsiteY60" fmla="*/ 812008 h 929571"/>
                <a:gd name="connsiteX61" fmla="*/ 396435 w 489392"/>
                <a:gd name="connsiteY61" fmla="*/ 899498 h 929571"/>
                <a:gd name="connsiteX62" fmla="*/ 462052 w 489392"/>
                <a:gd name="connsiteY62" fmla="*/ 899498 h 929571"/>
                <a:gd name="connsiteX63" fmla="*/ 462052 w 489392"/>
                <a:gd name="connsiteY63" fmla="*/ 683509 h 929571"/>
                <a:gd name="connsiteX64" fmla="*/ 265201 w 489392"/>
                <a:gd name="connsiteY64" fmla="*/ 571413 h 929571"/>
                <a:gd name="connsiteX65" fmla="*/ 270669 w 489392"/>
                <a:gd name="connsiteY65" fmla="*/ 552275 h 929571"/>
                <a:gd name="connsiteX66" fmla="*/ 289808 w 489392"/>
                <a:gd name="connsiteY66" fmla="*/ 557743 h 929571"/>
                <a:gd name="connsiteX67" fmla="*/ 475722 w 489392"/>
                <a:gd name="connsiteY67" fmla="*/ 656168 h 929571"/>
                <a:gd name="connsiteX68" fmla="*/ 489392 w 489392"/>
                <a:gd name="connsiteY68" fmla="*/ 669839 h 929571"/>
                <a:gd name="connsiteX69" fmla="*/ 489392 w 489392"/>
                <a:gd name="connsiteY69" fmla="*/ 913168 h 929571"/>
                <a:gd name="connsiteX70" fmla="*/ 486658 w 489392"/>
                <a:gd name="connsiteY70" fmla="*/ 924104 h 929571"/>
                <a:gd name="connsiteX71" fmla="*/ 472988 w 489392"/>
                <a:gd name="connsiteY71" fmla="*/ 929572 h 92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89392" h="929571">
                  <a:moveTo>
                    <a:pt x="472988" y="929572"/>
                  </a:moveTo>
                  <a:lnTo>
                    <a:pt x="382765" y="929572"/>
                  </a:lnTo>
                  <a:cubicBezTo>
                    <a:pt x="377297" y="929572"/>
                    <a:pt x="369095" y="924104"/>
                    <a:pt x="369095" y="918636"/>
                  </a:cubicBezTo>
                  <a:lnTo>
                    <a:pt x="355425" y="825679"/>
                  </a:lnTo>
                  <a:cubicBezTo>
                    <a:pt x="349957" y="822945"/>
                    <a:pt x="341754" y="820211"/>
                    <a:pt x="336286" y="817476"/>
                  </a:cubicBezTo>
                  <a:cubicBezTo>
                    <a:pt x="319882" y="812008"/>
                    <a:pt x="306212" y="803806"/>
                    <a:pt x="292542" y="798338"/>
                  </a:cubicBezTo>
                  <a:lnTo>
                    <a:pt x="215989" y="847551"/>
                  </a:lnTo>
                  <a:cubicBezTo>
                    <a:pt x="210521" y="850285"/>
                    <a:pt x="202319" y="850285"/>
                    <a:pt x="199585" y="844817"/>
                  </a:cubicBezTo>
                  <a:lnTo>
                    <a:pt x="84755" y="729987"/>
                  </a:lnTo>
                  <a:cubicBezTo>
                    <a:pt x="79287" y="724519"/>
                    <a:pt x="79287" y="719051"/>
                    <a:pt x="82021" y="713583"/>
                  </a:cubicBezTo>
                  <a:lnTo>
                    <a:pt x="133968" y="637030"/>
                  </a:lnTo>
                  <a:cubicBezTo>
                    <a:pt x="120298" y="615158"/>
                    <a:pt x="112095" y="596020"/>
                    <a:pt x="106627" y="571413"/>
                  </a:cubicBezTo>
                  <a:lnTo>
                    <a:pt x="10936" y="557743"/>
                  </a:lnTo>
                  <a:cubicBezTo>
                    <a:pt x="5468" y="560477"/>
                    <a:pt x="0" y="555009"/>
                    <a:pt x="0" y="546807"/>
                  </a:cubicBezTo>
                  <a:lnTo>
                    <a:pt x="0" y="382765"/>
                  </a:lnTo>
                  <a:cubicBezTo>
                    <a:pt x="0" y="377297"/>
                    <a:pt x="5468" y="369095"/>
                    <a:pt x="10936" y="369095"/>
                  </a:cubicBezTo>
                  <a:lnTo>
                    <a:pt x="103893" y="355425"/>
                  </a:lnTo>
                  <a:cubicBezTo>
                    <a:pt x="106627" y="349957"/>
                    <a:pt x="109361" y="341754"/>
                    <a:pt x="112095" y="336286"/>
                  </a:cubicBezTo>
                  <a:cubicBezTo>
                    <a:pt x="117564" y="319882"/>
                    <a:pt x="125766" y="306212"/>
                    <a:pt x="131234" y="292542"/>
                  </a:cubicBezTo>
                  <a:lnTo>
                    <a:pt x="79287" y="213255"/>
                  </a:lnTo>
                  <a:cubicBezTo>
                    <a:pt x="76553" y="207787"/>
                    <a:pt x="76553" y="199585"/>
                    <a:pt x="82021" y="196851"/>
                  </a:cubicBezTo>
                  <a:lnTo>
                    <a:pt x="196851" y="82021"/>
                  </a:lnTo>
                  <a:cubicBezTo>
                    <a:pt x="202319" y="76553"/>
                    <a:pt x="207787" y="76553"/>
                    <a:pt x="213255" y="79287"/>
                  </a:cubicBezTo>
                  <a:lnTo>
                    <a:pt x="289808" y="131234"/>
                  </a:lnTo>
                  <a:cubicBezTo>
                    <a:pt x="311680" y="117564"/>
                    <a:pt x="330818" y="109361"/>
                    <a:pt x="355425" y="103893"/>
                  </a:cubicBezTo>
                  <a:lnTo>
                    <a:pt x="369095" y="10936"/>
                  </a:lnTo>
                  <a:cubicBezTo>
                    <a:pt x="369095" y="5468"/>
                    <a:pt x="374563" y="0"/>
                    <a:pt x="382765" y="0"/>
                  </a:cubicBezTo>
                  <a:lnTo>
                    <a:pt x="475722" y="0"/>
                  </a:lnTo>
                  <a:cubicBezTo>
                    <a:pt x="483924" y="0"/>
                    <a:pt x="489392" y="5468"/>
                    <a:pt x="489392" y="13670"/>
                  </a:cubicBezTo>
                  <a:lnTo>
                    <a:pt x="489392" y="256999"/>
                  </a:lnTo>
                  <a:cubicBezTo>
                    <a:pt x="489392" y="265201"/>
                    <a:pt x="483924" y="270669"/>
                    <a:pt x="475722" y="270669"/>
                  </a:cubicBezTo>
                  <a:cubicBezTo>
                    <a:pt x="396435" y="270669"/>
                    <a:pt x="317148" y="314414"/>
                    <a:pt x="287074" y="374563"/>
                  </a:cubicBezTo>
                  <a:cubicBezTo>
                    <a:pt x="284340" y="380031"/>
                    <a:pt x="276138" y="382765"/>
                    <a:pt x="267935" y="380031"/>
                  </a:cubicBezTo>
                  <a:cubicBezTo>
                    <a:pt x="262467" y="377297"/>
                    <a:pt x="259733" y="369095"/>
                    <a:pt x="262467" y="360893"/>
                  </a:cubicBezTo>
                  <a:cubicBezTo>
                    <a:pt x="298010" y="295276"/>
                    <a:pt x="380031" y="246063"/>
                    <a:pt x="462052" y="243329"/>
                  </a:cubicBezTo>
                  <a:lnTo>
                    <a:pt x="462052" y="27340"/>
                  </a:lnTo>
                  <a:lnTo>
                    <a:pt x="393701" y="27340"/>
                  </a:lnTo>
                  <a:lnTo>
                    <a:pt x="380031" y="114829"/>
                  </a:lnTo>
                  <a:cubicBezTo>
                    <a:pt x="380031" y="120298"/>
                    <a:pt x="374563" y="125766"/>
                    <a:pt x="369095" y="125766"/>
                  </a:cubicBezTo>
                  <a:cubicBezTo>
                    <a:pt x="341754" y="133968"/>
                    <a:pt x="319882" y="142170"/>
                    <a:pt x="295276" y="158574"/>
                  </a:cubicBezTo>
                  <a:cubicBezTo>
                    <a:pt x="289808" y="161308"/>
                    <a:pt x="284340" y="161308"/>
                    <a:pt x="278872" y="158574"/>
                  </a:cubicBezTo>
                  <a:lnTo>
                    <a:pt x="207787" y="109361"/>
                  </a:lnTo>
                  <a:lnTo>
                    <a:pt x="109361" y="207787"/>
                  </a:lnTo>
                  <a:lnTo>
                    <a:pt x="161308" y="281606"/>
                  </a:lnTo>
                  <a:cubicBezTo>
                    <a:pt x="164042" y="287074"/>
                    <a:pt x="164042" y="289808"/>
                    <a:pt x="161308" y="295276"/>
                  </a:cubicBezTo>
                  <a:cubicBezTo>
                    <a:pt x="153106" y="311680"/>
                    <a:pt x="144904" y="328084"/>
                    <a:pt x="139436" y="344488"/>
                  </a:cubicBezTo>
                  <a:cubicBezTo>
                    <a:pt x="136702" y="352691"/>
                    <a:pt x="131234" y="363627"/>
                    <a:pt x="128500" y="371829"/>
                  </a:cubicBezTo>
                  <a:cubicBezTo>
                    <a:pt x="125766" y="377297"/>
                    <a:pt x="123032" y="380031"/>
                    <a:pt x="117564" y="380031"/>
                  </a:cubicBezTo>
                  <a:lnTo>
                    <a:pt x="27340" y="396435"/>
                  </a:lnTo>
                  <a:lnTo>
                    <a:pt x="27340" y="535871"/>
                  </a:lnTo>
                  <a:lnTo>
                    <a:pt x="117564" y="546807"/>
                  </a:lnTo>
                  <a:cubicBezTo>
                    <a:pt x="123032" y="546807"/>
                    <a:pt x="128500" y="552275"/>
                    <a:pt x="128500" y="557743"/>
                  </a:cubicBezTo>
                  <a:cubicBezTo>
                    <a:pt x="136702" y="585084"/>
                    <a:pt x="144904" y="606956"/>
                    <a:pt x="161308" y="631562"/>
                  </a:cubicBezTo>
                  <a:cubicBezTo>
                    <a:pt x="164042" y="637030"/>
                    <a:pt x="164042" y="642498"/>
                    <a:pt x="161308" y="647966"/>
                  </a:cubicBezTo>
                  <a:lnTo>
                    <a:pt x="109361" y="721785"/>
                  </a:lnTo>
                  <a:lnTo>
                    <a:pt x="210521" y="820211"/>
                  </a:lnTo>
                  <a:lnTo>
                    <a:pt x="284340" y="768264"/>
                  </a:lnTo>
                  <a:cubicBezTo>
                    <a:pt x="287074" y="765530"/>
                    <a:pt x="292542" y="765530"/>
                    <a:pt x="298010" y="768264"/>
                  </a:cubicBezTo>
                  <a:cubicBezTo>
                    <a:pt x="314414" y="776466"/>
                    <a:pt x="330818" y="784668"/>
                    <a:pt x="347222" y="790136"/>
                  </a:cubicBezTo>
                  <a:cubicBezTo>
                    <a:pt x="355425" y="792870"/>
                    <a:pt x="366361" y="798338"/>
                    <a:pt x="374563" y="801072"/>
                  </a:cubicBezTo>
                  <a:cubicBezTo>
                    <a:pt x="380031" y="803806"/>
                    <a:pt x="382765" y="806540"/>
                    <a:pt x="382765" y="812008"/>
                  </a:cubicBezTo>
                  <a:lnTo>
                    <a:pt x="396435" y="899498"/>
                  </a:lnTo>
                  <a:lnTo>
                    <a:pt x="462052" y="899498"/>
                  </a:lnTo>
                  <a:lnTo>
                    <a:pt x="462052" y="683509"/>
                  </a:lnTo>
                  <a:cubicBezTo>
                    <a:pt x="382765" y="678041"/>
                    <a:pt x="300744" y="631562"/>
                    <a:pt x="265201" y="571413"/>
                  </a:cubicBezTo>
                  <a:cubicBezTo>
                    <a:pt x="262467" y="565945"/>
                    <a:pt x="262467" y="557743"/>
                    <a:pt x="270669" y="552275"/>
                  </a:cubicBezTo>
                  <a:cubicBezTo>
                    <a:pt x="276138" y="549541"/>
                    <a:pt x="284340" y="549541"/>
                    <a:pt x="289808" y="557743"/>
                  </a:cubicBezTo>
                  <a:cubicBezTo>
                    <a:pt x="322616" y="615158"/>
                    <a:pt x="401903" y="656168"/>
                    <a:pt x="475722" y="656168"/>
                  </a:cubicBezTo>
                  <a:cubicBezTo>
                    <a:pt x="483924" y="656168"/>
                    <a:pt x="489392" y="661637"/>
                    <a:pt x="489392" y="669839"/>
                  </a:cubicBezTo>
                  <a:lnTo>
                    <a:pt x="489392" y="913168"/>
                  </a:lnTo>
                  <a:cubicBezTo>
                    <a:pt x="489392" y="915902"/>
                    <a:pt x="486658" y="921370"/>
                    <a:pt x="486658" y="924104"/>
                  </a:cubicBezTo>
                  <a:cubicBezTo>
                    <a:pt x="486658" y="926838"/>
                    <a:pt x="478456" y="929572"/>
                    <a:pt x="472988" y="92957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9" name="Группа 375">
            <a:extLst>
              <a:ext uri="{FF2B5EF4-FFF2-40B4-BE49-F238E27FC236}">
                <a16:creationId xmlns:a16="http://schemas.microsoft.com/office/drawing/2014/main" id="{DF83F683-4A48-4EC8-A98A-162043BE0198}"/>
              </a:ext>
            </a:extLst>
          </p:cNvPr>
          <p:cNvGrpSpPr>
            <a:grpSpLocks noChangeAspect="1"/>
          </p:cNvGrpSpPr>
          <p:nvPr/>
        </p:nvGrpSpPr>
        <p:grpSpPr>
          <a:xfrm>
            <a:off x="1183527" y="5796573"/>
            <a:ext cx="507120" cy="246477"/>
            <a:chOff x="2860676" y="946926"/>
            <a:chExt cx="1136650" cy="552450"/>
          </a:xfrm>
          <a:solidFill>
            <a:srgbClr val="FFFFFF"/>
          </a:solidFill>
        </p:grpSpPr>
        <p:sp>
          <p:nvSpPr>
            <p:cNvPr id="170" name="Freeform 77">
              <a:extLst>
                <a:ext uri="{FF2B5EF4-FFF2-40B4-BE49-F238E27FC236}">
                  <a16:creationId xmlns:a16="http://schemas.microsoft.com/office/drawing/2014/main" id="{B86CB0B9-DC5B-4B4A-98E0-03A4BEA93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676" y="975501"/>
              <a:ext cx="500063" cy="523875"/>
            </a:xfrm>
            <a:custGeom>
              <a:avLst/>
              <a:gdLst>
                <a:gd name="T0" fmla="*/ 38 w 69"/>
                <a:gd name="T1" fmla="*/ 72 h 72"/>
                <a:gd name="T2" fmla="*/ 36 w 69"/>
                <a:gd name="T3" fmla="*/ 72 h 72"/>
                <a:gd name="T4" fmla="*/ 1 w 69"/>
                <a:gd name="T5" fmla="*/ 33 h 72"/>
                <a:gd name="T6" fmla="*/ 24 w 69"/>
                <a:gd name="T7" fmla="*/ 0 h 72"/>
                <a:gd name="T8" fmla="*/ 26 w 69"/>
                <a:gd name="T9" fmla="*/ 4 h 72"/>
                <a:gd name="T10" fmla="*/ 5 w 69"/>
                <a:gd name="T11" fmla="*/ 33 h 72"/>
                <a:gd name="T12" fmla="*/ 36 w 69"/>
                <a:gd name="T13" fmla="*/ 68 h 72"/>
                <a:gd name="T14" fmla="*/ 66 w 69"/>
                <a:gd name="T15" fmla="*/ 54 h 72"/>
                <a:gd name="T16" fmla="*/ 69 w 69"/>
                <a:gd name="T17" fmla="*/ 56 h 72"/>
                <a:gd name="T18" fmla="*/ 38 w 69"/>
                <a:gd name="T1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2">
                  <a:moveTo>
                    <a:pt x="38" y="72"/>
                  </a:moveTo>
                  <a:cubicBezTo>
                    <a:pt x="37" y="72"/>
                    <a:pt x="37" y="72"/>
                    <a:pt x="36" y="72"/>
                  </a:cubicBezTo>
                  <a:cubicBezTo>
                    <a:pt x="15" y="70"/>
                    <a:pt x="0" y="53"/>
                    <a:pt x="1" y="33"/>
                  </a:cubicBezTo>
                  <a:cubicBezTo>
                    <a:pt x="2" y="18"/>
                    <a:pt x="12" y="5"/>
                    <a:pt x="24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4" y="8"/>
                    <a:pt x="6" y="20"/>
                    <a:pt x="5" y="33"/>
                  </a:cubicBezTo>
                  <a:cubicBezTo>
                    <a:pt x="4" y="51"/>
                    <a:pt x="17" y="66"/>
                    <a:pt x="36" y="68"/>
                  </a:cubicBezTo>
                  <a:cubicBezTo>
                    <a:pt x="48" y="69"/>
                    <a:pt x="59" y="63"/>
                    <a:pt x="66" y="54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2" y="66"/>
                    <a:pt x="50" y="72"/>
                    <a:pt x="38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1" name="Freeform 78">
              <a:extLst>
                <a:ext uri="{FF2B5EF4-FFF2-40B4-BE49-F238E27FC236}">
                  <a16:creationId xmlns:a16="http://schemas.microsoft.com/office/drawing/2014/main" id="{2E74C75A-8CD5-45C2-8F6C-0AC2D58E2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969151"/>
              <a:ext cx="174625" cy="152400"/>
            </a:xfrm>
            <a:custGeom>
              <a:avLst/>
              <a:gdLst>
                <a:gd name="T0" fmla="*/ 55 w 110"/>
                <a:gd name="T1" fmla="*/ 96 h 96"/>
                <a:gd name="T2" fmla="*/ 110 w 110"/>
                <a:gd name="T3" fmla="*/ 0 h 96"/>
                <a:gd name="T4" fmla="*/ 0 w 110"/>
                <a:gd name="T5" fmla="*/ 4 h 96"/>
                <a:gd name="T6" fmla="*/ 55 w 110"/>
                <a:gd name="T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96">
                  <a:moveTo>
                    <a:pt x="55" y="96"/>
                  </a:moveTo>
                  <a:lnTo>
                    <a:pt x="110" y="0"/>
                  </a:lnTo>
                  <a:lnTo>
                    <a:pt x="0" y="4"/>
                  </a:lnTo>
                  <a:lnTo>
                    <a:pt x="55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2" name="Freeform 79">
              <a:extLst>
                <a:ext uri="{FF2B5EF4-FFF2-40B4-BE49-F238E27FC236}">
                  <a16:creationId xmlns:a16="http://schemas.microsoft.com/office/drawing/2014/main" id="{B176F176-2148-4EB1-B41B-D1D678EFC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538" y="969151"/>
              <a:ext cx="303213" cy="296862"/>
            </a:xfrm>
            <a:custGeom>
              <a:avLst/>
              <a:gdLst>
                <a:gd name="T0" fmla="*/ 38 w 42"/>
                <a:gd name="T1" fmla="*/ 41 h 41"/>
                <a:gd name="T2" fmla="*/ 23 w 42"/>
                <a:gd name="T3" fmla="*/ 17 h 41"/>
                <a:gd name="T4" fmla="*/ 0 w 42"/>
                <a:gd name="T5" fmla="*/ 4 h 41"/>
                <a:gd name="T6" fmla="*/ 1 w 42"/>
                <a:gd name="T7" fmla="*/ 0 h 41"/>
                <a:gd name="T8" fmla="*/ 26 w 42"/>
                <a:gd name="T9" fmla="*/ 14 h 41"/>
                <a:gd name="T10" fmla="*/ 42 w 42"/>
                <a:gd name="T11" fmla="*/ 39 h 41"/>
                <a:gd name="T12" fmla="*/ 38 w 42"/>
                <a:gd name="T1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1">
                  <a:moveTo>
                    <a:pt x="38" y="41"/>
                  </a:moveTo>
                  <a:cubicBezTo>
                    <a:pt x="33" y="30"/>
                    <a:pt x="28" y="22"/>
                    <a:pt x="23" y="17"/>
                  </a:cubicBezTo>
                  <a:cubicBezTo>
                    <a:pt x="17" y="11"/>
                    <a:pt x="9" y="7"/>
                    <a:pt x="0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1" y="3"/>
                    <a:pt x="19" y="8"/>
                    <a:pt x="26" y="14"/>
                  </a:cubicBezTo>
                  <a:cubicBezTo>
                    <a:pt x="31" y="20"/>
                    <a:pt x="36" y="28"/>
                    <a:pt x="42" y="39"/>
                  </a:cubicBezTo>
                  <a:lnTo>
                    <a:pt x="3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3" name="Freeform 80">
              <a:extLst>
                <a:ext uri="{FF2B5EF4-FFF2-40B4-BE49-F238E27FC236}">
                  <a16:creationId xmlns:a16="http://schemas.microsoft.com/office/drawing/2014/main" id="{999CC643-374E-4AC4-A79A-43DC31D97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13" y="946926"/>
              <a:ext cx="506413" cy="544512"/>
            </a:xfrm>
            <a:custGeom>
              <a:avLst/>
              <a:gdLst>
                <a:gd name="T0" fmla="*/ 32 w 70"/>
                <a:gd name="T1" fmla="*/ 75 h 75"/>
                <a:gd name="T2" fmla="*/ 16 w 70"/>
                <a:gd name="T3" fmla="*/ 72 h 75"/>
                <a:gd name="T4" fmla="*/ 17 w 70"/>
                <a:gd name="T5" fmla="*/ 69 h 75"/>
                <a:gd name="T6" fmla="*/ 48 w 70"/>
                <a:gd name="T7" fmla="*/ 67 h 75"/>
                <a:gd name="T8" fmla="*/ 63 w 70"/>
                <a:gd name="T9" fmla="*/ 44 h 75"/>
                <a:gd name="T10" fmla="*/ 36 w 70"/>
                <a:gd name="T11" fmla="*/ 7 h 75"/>
                <a:gd name="T12" fmla="*/ 3 w 70"/>
                <a:gd name="T13" fmla="*/ 20 h 75"/>
                <a:gd name="T14" fmla="*/ 0 w 70"/>
                <a:gd name="T15" fmla="*/ 18 h 75"/>
                <a:gd name="T16" fmla="*/ 37 w 70"/>
                <a:gd name="T17" fmla="*/ 3 h 75"/>
                <a:gd name="T18" fmla="*/ 67 w 70"/>
                <a:gd name="T19" fmla="*/ 44 h 75"/>
                <a:gd name="T20" fmla="*/ 50 w 70"/>
                <a:gd name="T21" fmla="*/ 70 h 75"/>
                <a:gd name="T22" fmla="*/ 32 w 70"/>
                <a:gd name="T2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75">
                  <a:moveTo>
                    <a:pt x="32" y="75"/>
                  </a:moveTo>
                  <a:cubicBezTo>
                    <a:pt x="27" y="75"/>
                    <a:pt x="22" y="74"/>
                    <a:pt x="16" y="72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29" y="73"/>
                    <a:pt x="40" y="72"/>
                    <a:pt x="48" y="67"/>
                  </a:cubicBezTo>
                  <a:cubicBezTo>
                    <a:pt x="58" y="61"/>
                    <a:pt x="62" y="51"/>
                    <a:pt x="63" y="44"/>
                  </a:cubicBezTo>
                  <a:cubicBezTo>
                    <a:pt x="66" y="25"/>
                    <a:pt x="54" y="10"/>
                    <a:pt x="36" y="7"/>
                  </a:cubicBezTo>
                  <a:cubicBezTo>
                    <a:pt x="23" y="4"/>
                    <a:pt x="11" y="10"/>
                    <a:pt x="3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8" y="6"/>
                    <a:pt x="23" y="0"/>
                    <a:pt x="37" y="3"/>
                  </a:cubicBezTo>
                  <a:cubicBezTo>
                    <a:pt x="57" y="6"/>
                    <a:pt x="70" y="24"/>
                    <a:pt x="67" y="44"/>
                  </a:cubicBezTo>
                  <a:cubicBezTo>
                    <a:pt x="66" y="55"/>
                    <a:pt x="59" y="65"/>
                    <a:pt x="50" y="70"/>
                  </a:cubicBezTo>
                  <a:cubicBezTo>
                    <a:pt x="46" y="73"/>
                    <a:pt x="40" y="75"/>
                    <a:pt x="3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4" name="Freeform 81">
              <a:extLst>
                <a:ext uri="{FF2B5EF4-FFF2-40B4-BE49-F238E27FC236}">
                  <a16:creationId xmlns:a16="http://schemas.microsoft.com/office/drawing/2014/main" id="{85ACC4C5-7331-42F7-994A-52E2CFACF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176" y="983439"/>
              <a:ext cx="166688" cy="166687"/>
            </a:xfrm>
            <a:custGeom>
              <a:avLst/>
              <a:gdLst>
                <a:gd name="T0" fmla="*/ 105 w 105"/>
                <a:gd name="T1" fmla="*/ 78 h 105"/>
                <a:gd name="T2" fmla="*/ 0 w 105"/>
                <a:gd name="T3" fmla="*/ 105 h 105"/>
                <a:gd name="T4" fmla="*/ 28 w 105"/>
                <a:gd name="T5" fmla="*/ 0 h 105"/>
                <a:gd name="T6" fmla="*/ 105 w 105"/>
                <a:gd name="T7" fmla="*/ 7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5" h="105">
                  <a:moveTo>
                    <a:pt x="105" y="78"/>
                  </a:moveTo>
                  <a:lnTo>
                    <a:pt x="0" y="105"/>
                  </a:lnTo>
                  <a:lnTo>
                    <a:pt x="28" y="0"/>
                  </a:lnTo>
                  <a:lnTo>
                    <a:pt x="105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5" name="Freeform 82">
              <a:extLst>
                <a:ext uri="{FF2B5EF4-FFF2-40B4-BE49-F238E27FC236}">
                  <a16:creationId xmlns:a16="http://schemas.microsoft.com/office/drawing/2014/main" id="{31C69F3A-6CFF-4F1E-AFF3-5C840DCC3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363" y="1143776"/>
              <a:ext cx="138113" cy="173037"/>
            </a:xfrm>
            <a:custGeom>
              <a:avLst/>
              <a:gdLst>
                <a:gd name="T0" fmla="*/ 12 w 19"/>
                <a:gd name="T1" fmla="*/ 0 h 24"/>
                <a:gd name="T2" fmla="*/ 7 w 19"/>
                <a:gd name="T3" fmla="*/ 1 h 24"/>
                <a:gd name="T4" fmla="*/ 3 w 19"/>
                <a:gd name="T5" fmla="*/ 4 h 24"/>
                <a:gd name="T6" fmla="*/ 1 w 19"/>
                <a:gd name="T7" fmla="*/ 7 h 24"/>
                <a:gd name="T8" fmla="*/ 0 w 19"/>
                <a:gd name="T9" fmla="*/ 12 h 24"/>
                <a:gd name="T10" fmla="*/ 1 w 19"/>
                <a:gd name="T11" fmla="*/ 17 h 24"/>
                <a:gd name="T12" fmla="*/ 3 w 19"/>
                <a:gd name="T13" fmla="*/ 21 h 24"/>
                <a:gd name="T14" fmla="*/ 7 w 19"/>
                <a:gd name="T15" fmla="*/ 23 h 24"/>
                <a:gd name="T16" fmla="*/ 12 w 19"/>
                <a:gd name="T17" fmla="*/ 24 h 24"/>
                <a:gd name="T18" fmla="*/ 16 w 19"/>
                <a:gd name="T19" fmla="*/ 23 h 24"/>
                <a:gd name="T20" fmla="*/ 19 w 19"/>
                <a:gd name="T21" fmla="*/ 22 h 24"/>
                <a:gd name="T22" fmla="*/ 19 w 19"/>
                <a:gd name="T23" fmla="*/ 16 h 24"/>
                <a:gd name="T24" fmla="*/ 18 w 19"/>
                <a:gd name="T25" fmla="*/ 17 h 24"/>
                <a:gd name="T26" fmla="*/ 15 w 19"/>
                <a:gd name="T27" fmla="*/ 18 h 24"/>
                <a:gd name="T28" fmla="*/ 13 w 19"/>
                <a:gd name="T29" fmla="*/ 19 h 24"/>
                <a:gd name="T30" fmla="*/ 9 w 19"/>
                <a:gd name="T31" fmla="*/ 18 h 24"/>
                <a:gd name="T32" fmla="*/ 7 w 19"/>
                <a:gd name="T33" fmla="*/ 16 h 24"/>
                <a:gd name="T34" fmla="*/ 6 w 19"/>
                <a:gd name="T35" fmla="*/ 12 h 24"/>
                <a:gd name="T36" fmla="*/ 7 w 19"/>
                <a:gd name="T37" fmla="*/ 9 h 24"/>
                <a:gd name="T38" fmla="*/ 9 w 19"/>
                <a:gd name="T39" fmla="*/ 6 h 24"/>
                <a:gd name="T40" fmla="*/ 13 w 19"/>
                <a:gd name="T41" fmla="*/ 6 h 24"/>
                <a:gd name="T42" fmla="*/ 15 w 19"/>
                <a:gd name="T43" fmla="*/ 6 h 24"/>
                <a:gd name="T44" fmla="*/ 18 w 19"/>
                <a:gd name="T45" fmla="*/ 7 h 24"/>
                <a:gd name="T46" fmla="*/ 19 w 19"/>
                <a:gd name="T47" fmla="*/ 9 h 24"/>
                <a:gd name="T48" fmla="*/ 19 w 19"/>
                <a:gd name="T49" fmla="*/ 3 h 24"/>
                <a:gd name="T50" fmla="*/ 16 w 19"/>
                <a:gd name="T51" fmla="*/ 1 h 24"/>
                <a:gd name="T52" fmla="*/ 12 w 19"/>
                <a:gd name="T5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" h="24">
                  <a:moveTo>
                    <a:pt x="12" y="0"/>
                  </a:moveTo>
                  <a:cubicBezTo>
                    <a:pt x="11" y="0"/>
                    <a:pt x="9" y="1"/>
                    <a:pt x="7" y="1"/>
                  </a:cubicBezTo>
                  <a:cubicBezTo>
                    <a:pt x="6" y="2"/>
                    <a:pt x="4" y="3"/>
                    <a:pt x="3" y="4"/>
                  </a:cubicBezTo>
                  <a:cubicBezTo>
                    <a:pt x="2" y="5"/>
                    <a:pt x="1" y="6"/>
                    <a:pt x="1" y="7"/>
                  </a:cubicBezTo>
                  <a:cubicBezTo>
                    <a:pt x="0" y="9"/>
                    <a:pt x="0" y="10"/>
                    <a:pt x="0" y="12"/>
                  </a:cubicBezTo>
                  <a:cubicBezTo>
                    <a:pt x="0" y="14"/>
                    <a:pt x="0" y="16"/>
                    <a:pt x="1" y="17"/>
                  </a:cubicBezTo>
                  <a:cubicBezTo>
                    <a:pt x="1" y="18"/>
                    <a:pt x="2" y="20"/>
                    <a:pt x="3" y="21"/>
                  </a:cubicBezTo>
                  <a:cubicBezTo>
                    <a:pt x="4" y="22"/>
                    <a:pt x="6" y="23"/>
                    <a:pt x="7" y="23"/>
                  </a:cubicBezTo>
                  <a:cubicBezTo>
                    <a:pt x="9" y="24"/>
                    <a:pt x="11" y="24"/>
                    <a:pt x="12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8" y="17"/>
                    <a:pt x="18" y="17"/>
                  </a:cubicBezTo>
                  <a:cubicBezTo>
                    <a:pt x="17" y="18"/>
                    <a:pt x="16" y="18"/>
                    <a:pt x="15" y="18"/>
                  </a:cubicBezTo>
                  <a:cubicBezTo>
                    <a:pt x="15" y="19"/>
                    <a:pt x="14" y="19"/>
                    <a:pt x="13" y="19"/>
                  </a:cubicBezTo>
                  <a:cubicBezTo>
                    <a:pt x="11" y="19"/>
                    <a:pt x="10" y="19"/>
                    <a:pt x="9" y="18"/>
                  </a:cubicBezTo>
                  <a:cubicBezTo>
                    <a:pt x="8" y="18"/>
                    <a:pt x="7" y="17"/>
                    <a:pt x="7" y="16"/>
                  </a:cubicBezTo>
                  <a:cubicBezTo>
                    <a:pt x="6" y="15"/>
                    <a:pt x="6" y="14"/>
                    <a:pt x="6" y="12"/>
                  </a:cubicBezTo>
                  <a:cubicBezTo>
                    <a:pt x="6" y="11"/>
                    <a:pt x="6" y="10"/>
                    <a:pt x="7" y="9"/>
                  </a:cubicBezTo>
                  <a:cubicBezTo>
                    <a:pt x="7" y="8"/>
                    <a:pt x="8" y="7"/>
                    <a:pt x="9" y="6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5" y="6"/>
                  </a:cubicBezTo>
                  <a:cubicBezTo>
                    <a:pt x="16" y="6"/>
                    <a:pt x="17" y="7"/>
                    <a:pt x="18" y="7"/>
                  </a:cubicBezTo>
                  <a:cubicBezTo>
                    <a:pt x="18" y="8"/>
                    <a:pt x="19" y="8"/>
                    <a:pt x="19" y="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8" y="1"/>
                    <a:pt x="16" y="1"/>
                  </a:cubicBezTo>
                  <a:cubicBezTo>
                    <a:pt x="15" y="1"/>
                    <a:pt x="14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6" name="Rectangle 83">
              <a:extLst>
                <a:ext uri="{FF2B5EF4-FFF2-40B4-BE49-F238E27FC236}">
                  <a16:creationId xmlns:a16="http://schemas.microsoft.com/office/drawing/2014/main" id="{E852A67A-CA54-499F-8079-F87826EDE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1" y="1150126"/>
              <a:ext cx="36513" cy="166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7" name="Freeform 84">
              <a:extLst>
                <a:ext uri="{FF2B5EF4-FFF2-40B4-BE49-F238E27FC236}">
                  <a16:creationId xmlns:a16="http://schemas.microsoft.com/office/drawing/2014/main" id="{70B71F81-6BDE-43AD-A654-CB523EA58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713" y="1143776"/>
              <a:ext cx="136525" cy="173037"/>
            </a:xfrm>
            <a:custGeom>
              <a:avLst/>
              <a:gdLst>
                <a:gd name="T0" fmla="*/ 12 w 19"/>
                <a:gd name="T1" fmla="*/ 0 h 24"/>
                <a:gd name="T2" fmla="*/ 7 w 19"/>
                <a:gd name="T3" fmla="*/ 1 h 24"/>
                <a:gd name="T4" fmla="*/ 3 w 19"/>
                <a:gd name="T5" fmla="*/ 4 h 24"/>
                <a:gd name="T6" fmla="*/ 1 w 19"/>
                <a:gd name="T7" fmla="*/ 7 h 24"/>
                <a:gd name="T8" fmla="*/ 0 w 19"/>
                <a:gd name="T9" fmla="*/ 12 h 24"/>
                <a:gd name="T10" fmla="*/ 1 w 19"/>
                <a:gd name="T11" fmla="*/ 17 h 24"/>
                <a:gd name="T12" fmla="*/ 3 w 19"/>
                <a:gd name="T13" fmla="*/ 21 h 24"/>
                <a:gd name="T14" fmla="*/ 7 w 19"/>
                <a:gd name="T15" fmla="*/ 23 h 24"/>
                <a:gd name="T16" fmla="*/ 12 w 19"/>
                <a:gd name="T17" fmla="*/ 24 h 24"/>
                <a:gd name="T18" fmla="*/ 16 w 19"/>
                <a:gd name="T19" fmla="*/ 23 h 24"/>
                <a:gd name="T20" fmla="*/ 19 w 19"/>
                <a:gd name="T21" fmla="*/ 22 h 24"/>
                <a:gd name="T22" fmla="*/ 19 w 19"/>
                <a:gd name="T23" fmla="*/ 16 h 24"/>
                <a:gd name="T24" fmla="*/ 18 w 19"/>
                <a:gd name="T25" fmla="*/ 17 h 24"/>
                <a:gd name="T26" fmla="*/ 16 w 19"/>
                <a:gd name="T27" fmla="*/ 18 h 24"/>
                <a:gd name="T28" fmla="*/ 13 w 19"/>
                <a:gd name="T29" fmla="*/ 19 h 24"/>
                <a:gd name="T30" fmla="*/ 9 w 19"/>
                <a:gd name="T31" fmla="*/ 18 h 24"/>
                <a:gd name="T32" fmla="*/ 7 w 19"/>
                <a:gd name="T33" fmla="*/ 16 h 24"/>
                <a:gd name="T34" fmla="*/ 6 w 19"/>
                <a:gd name="T35" fmla="*/ 12 h 24"/>
                <a:gd name="T36" fmla="*/ 7 w 19"/>
                <a:gd name="T37" fmla="*/ 9 h 24"/>
                <a:gd name="T38" fmla="*/ 9 w 19"/>
                <a:gd name="T39" fmla="*/ 6 h 24"/>
                <a:gd name="T40" fmla="*/ 13 w 19"/>
                <a:gd name="T41" fmla="*/ 6 h 24"/>
                <a:gd name="T42" fmla="*/ 16 w 19"/>
                <a:gd name="T43" fmla="*/ 6 h 24"/>
                <a:gd name="T44" fmla="*/ 18 w 19"/>
                <a:gd name="T45" fmla="*/ 7 h 24"/>
                <a:gd name="T46" fmla="*/ 19 w 19"/>
                <a:gd name="T47" fmla="*/ 9 h 24"/>
                <a:gd name="T48" fmla="*/ 19 w 19"/>
                <a:gd name="T49" fmla="*/ 3 h 24"/>
                <a:gd name="T50" fmla="*/ 16 w 19"/>
                <a:gd name="T51" fmla="*/ 1 h 24"/>
                <a:gd name="T52" fmla="*/ 12 w 19"/>
                <a:gd name="T5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" h="24">
                  <a:moveTo>
                    <a:pt x="12" y="0"/>
                  </a:moveTo>
                  <a:cubicBezTo>
                    <a:pt x="11" y="0"/>
                    <a:pt x="9" y="1"/>
                    <a:pt x="7" y="1"/>
                  </a:cubicBezTo>
                  <a:cubicBezTo>
                    <a:pt x="6" y="2"/>
                    <a:pt x="5" y="3"/>
                    <a:pt x="3" y="4"/>
                  </a:cubicBezTo>
                  <a:cubicBezTo>
                    <a:pt x="2" y="5"/>
                    <a:pt x="1" y="6"/>
                    <a:pt x="1" y="7"/>
                  </a:cubicBezTo>
                  <a:cubicBezTo>
                    <a:pt x="0" y="9"/>
                    <a:pt x="0" y="10"/>
                    <a:pt x="0" y="12"/>
                  </a:cubicBezTo>
                  <a:cubicBezTo>
                    <a:pt x="0" y="14"/>
                    <a:pt x="0" y="16"/>
                    <a:pt x="1" y="17"/>
                  </a:cubicBezTo>
                  <a:cubicBezTo>
                    <a:pt x="1" y="18"/>
                    <a:pt x="2" y="20"/>
                    <a:pt x="3" y="21"/>
                  </a:cubicBezTo>
                  <a:cubicBezTo>
                    <a:pt x="5" y="22"/>
                    <a:pt x="6" y="23"/>
                    <a:pt x="7" y="23"/>
                  </a:cubicBezTo>
                  <a:cubicBezTo>
                    <a:pt x="9" y="24"/>
                    <a:pt x="11" y="24"/>
                    <a:pt x="12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8" y="23"/>
                    <a:pt x="19" y="22"/>
                    <a:pt x="19" y="22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8" y="17"/>
                    <a:pt x="18" y="17"/>
                  </a:cubicBezTo>
                  <a:cubicBezTo>
                    <a:pt x="17" y="18"/>
                    <a:pt x="16" y="18"/>
                    <a:pt x="16" y="18"/>
                  </a:cubicBezTo>
                  <a:cubicBezTo>
                    <a:pt x="15" y="19"/>
                    <a:pt x="14" y="19"/>
                    <a:pt x="13" y="19"/>
                  </a:cubicBezTo>
                  <a:cubicBezTo>
                    <a:pt x="11" y="19"/>
                    <a:pt x="10" y="19"/>
                    <a:pt x="9" y="18"/>
                  </a:cubicBezTo>
                  <a:cubicBezTo>
                    <a:pt x="8" y="18"/>
                    <a:pt x="7" y="17"/>
                    <a:pt x="7" y="16"/>
                  </a:cubicBezTo>
                  <a:cubicBezTo>
                    <a:pt x="6" y="15"/>
                    <a:pt x="6" y="14"/>
                    <a:pt x="6" y="12"/>
                  </a:cubicBezTo>
                  <a:cubicBezTo>
                    <a:pt x="6" y="11"/>
                    <a:pt x="6" y="10"/>
                    <a:pt x="7" y="9"/>
                  </a:cubicBezTo>
                  <a:cubicBezTo>
                    <a:pt x="7" y="8"/>
                    <a:pt x="8" y="7"/>
                    <a:pt x="9" y="6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6" y="6"/>
                    <a:pt x="17" y="7"/>
                    <a:pt x="18" y="7"/>
                  </a:cubicBezTo>
                  <a:cubicBezTo>
                    <a:pt x="18" y="8"/>
                    <a:pt x="19" y="8"/>
                    <a:pt x="19" y="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8" y="1"/>
                    <a:pt x="16" y="1"/>
                  </a:cubicBezTo>
                  <a:cubicBezTo>
                    <a:pt x="15" y="1"/>
                    <a:pt x="14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8" name="Freeform 85">
              <a:extLst>
                <a:ext uri="{FF2B5EF4-FFF2-40B4-BE49-F238E27FC236}">
                  <a16:creationId xmlns:a16="http://schemas.microsoft.com/office/drawing/2014/main" id="{0E355EF9-BCBA-4307-AB17-4EE4EAC16C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4751" y="1150126"/>
              <a:ext cx="144463" cy="166687"/>
            </a:xfrm>
            <a:custGeom>
              <a:avLst/>
              <a:gdLst>
                <a:gd name="T0" fmla="*/ 19 w 20"/>
                <a:gd name="T1" fmla="*/ 5 h 23"/>
                <a:gd name="T2" fmla="*/ 14 w 20"/>
                <a:gd name="T3" fmla="*/ 1 h 23"/>
                <a:gd name="T4" fmla="*/ 8 w 20"/>
                <a:gd name="T5" fmla="*/ 0 h 23"/>
                <a:gd name="T6" fmla="*/ 6 w 20"/>
                <a:gd name="T7" fmla="*/ 0 h 23"/>
                <a:gd name="T8" fmla="*/ 3 w 20"/>
                <a:gd name="T9" fmla="*/ 0 h 23"/>
                <a:gd name="T10" fmla="*/ 0 w 20"/>
                <a:gd name="T11" fmla="*/ 0 h 23"/>
                <a:gd name="T12" fmla="*/ 0 w 20"/>
                <a:gd name="T13" fmla="*/ 23 h 23"/>
                <a:gd name="T14" fmla="*/ 3 w 20"/>
                <a:gd name="T15" fmla="*/ 23 h 23"/>
                <a:gd name="T16" fmla="*/ 6 w 20"/>
                <a:gd name="T17" fmla="*/ 23 h 23"/>
                <a:gd name="T18" fmla="*/ 8 w 20"/>
                <a:gd name="T19" fmla="*/ 23 h 23"/>
                <a:gd name="T20" fmla="*/ 14 w 20"/>
                <a:gd name="T21" fmla="*/ 21 h 23"/>
                <a:gd name="T22" fmla="*/ 19 w 20"/>
                <a:gd name="T23" fmla="*/ 17 h 23"/>
                <a:gd name="T24" fmla="*/ 20 w 20"/>
                <a:gd name="T25" fmla="*/ 11 h 23"/>
                <a:gd name="T26" fmla="*/ 19 w 20"/>
                <a:gd name="T27" fmla="*/ 5 h 23"/>
                <a:gd name="T28" fmla="*/ 14 w 20"/>
                <a:gd name="T29" fmla="*/ 14 h 23"/>
                <a:gd name="T30" fmla="*/ 12 w 20"/>
                <a:gd name="T31" fmla="*/ 16 h 23"/>
                <a:gd name="T32" fmla="*/ 10 w 20"/>
                <a:gd name="T33" fmla="*/ 17 h 23"/>
                <a:gd name="T34" fmla="*/ 8 w 20"/>
                <a:gd name="T35" fmla="*/ 18 h 23"/>
                <a:gd name="T36" fmla="*/ 6 w 20"/>
                <a:gd name="T37" fmla="*/ 18 h 23"/>
                <a:gd name="T38" fmla="*/ 6 w 20"/>
                <a:gd name="T39" fmla="*/ 5 h 23"/>
                <a:gd name="T40" fmla="*/ 8 w 20"/>
                <a:gd name="T41" fmla="*/ 5 h 23"/>
                <a:gd name="T42" fmla="*/ 10 w 20"/>
                <a:gd name="T43" fmla="*/ 5 h 23"/>
                <a:gd name="T44" fmla="*/ 12 w 20"/>
                <a:gd name="T45" fmla="*/ 6 h 23"/>
                <a:gd name="T46" fmla="*/ 14 w 20"/>
                <a:gd name="T47" fmla="*/ 8 h 23"/>
                <a:gd name="T48" fmla="*/ 14 w 20"/>
                <a:gd name="T49" fmla="*/ 11 h 23"/>
                <a:gd name="T50" fmla="*/ 14 w 20"/>
                <a:gd name="T51" fmla="*/ 1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" h="23">
                  <a:moveTo>
                    <a:pt x="19" y="5"/>
                  </a:moveTo>
                  <a:cubicBezTo>
                    <a:pt x="18" y="4"/>
                    <a:pt x="16" y="2"/>
                    <a:pt x="14" y="1"/>
                  </a:cubicBezTo>
                  <a:cubicBezTo>
                    <a:pt x="13" y="0"/>
                    <a:pt x="10" y="0"/>
                    <a:pt x="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3" y="22"/>
                    <a:pt x="14" y="21"/>
                  </a:cubicBezTo>
                  <a:cubicBezTo>
                    <a:pt x="16" y="20"/>
                    <a:pt x="18" y="19"/>
                    <a:pt x="19" y="17"/>
                  </a:cubicBezTo>
                  <a:cubicBezTo>
                    <a:pt x="20" y="16"/>
                    <a:pt x="20" y="14"/>
                    <a:pt x="20" y="11"/>
                  </a:cubicBezTo>
                  <a:cubicBezTo>
                    <a:pt x="20" y="9"/>
                    <a:pt x="20" y="7"/>
                    <a:pt x="19" y="5"/>
                  </a:cubicBezTo>
                  <a:close/>
                  <a:moveTo>
                    <a:pt x="14" y="14"/>
                  </a:moveTo>
                  <a:cubicBezTo>
                    <a:pt x="13" y="15"/>
                    <a:pt x="13" y="16"/>
                    <a:pt x="12" y="16"/>
                  </a:cubicBezTo>
                  <a:cubicBezTo>
                    <a:pt x="12" y="17"/>
                    <a:pt x="11" y="17"/>
                    <a:pt x="10" y="17"/>
                  </a:cubicBezTo>
                  <a:cubicBezTo>
                    <a:pt x="9" y="18"/>
                    <a:pt x="9" y="18"/>
                    <a:pt x="8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5"/>
                    <a:pt x="9" y="5"/>
                    <a:pt x="10" y="5"/>
                  </a:cubicBezTo>
                  <a:cubicBezTo>
                    <a:pt x="11" y="5"/>
                    <a:pt x="12" y="6"/>
                    <a:pt x="12" y="6"/>
                  </a:cubicBezTo>
                  <a:cubicBezTo>
                    <a:pt x="13" y="7"/>
                    <a:pt x="13" y="7"/>
                    <a:pt x="14" y="8"/>
                  </a:cubicBezTo>
                  <a:cubicBezTo>
                    <a:pt x="14" y="9"/>
                    <a:pt x="14" y="10"/>
                    <a:pt x="14" y="11"/>
                  </a:cubicBezTo>
                  <a:cubicBezTo>
                    <a:pt x="14" y="12"/>
                    <a:pt x="14" y="13"/>
                    <a:pt x="1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9" name="Rectangle 86">
              <a:extLst>
                <a:ext uri="{FF2B5EF4-FFF2-40B4-BE49-F238E27FC236}">
                  <a16:creationId xmlns:a16="http://schemas.microsoft.com/office/drawing/2014/main" id="{28244625-A96B-4681-8432-087BE43AE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176" y="1331101"/>
              <a:ext cx="109538" cy="1095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80" name="Группа 223">
            <a:extLst>
              <a:ext uri="{FF2B5EF4-FFF2-40B4-BE49-F238E27FC236}">
                <a16:creationId xmlns:a16="http://schemas.microsoft.com/office/drawing/2014/main" id="{57146707-1E36-495E-B90D-E4F458AF9A38}"/>
              </a:ext>
            </a:extLst>
          </p:cNvPr>
          <p:cNvGrpSpPr>
            <a:grpSpLocks noChangeAspect="1"/>
          </p:cNvGrpSpPr>
          <p:nvPr/>
        </p:nvGrpSpPr>
        <p:grpSpPr>
          <a:xfrm>
            <a:off x="3785718" y="3055888"/>
            <a:ext cx="350047" cy="275999"/>
            <a:chOff x="4836278" y="4670887"/>
            <a:chExt cx="1137357" cy="896763"/>
          </a:xfrm>
          <a:solidFill>
            <a:srgbClr val="FFFFFF"/>
          </a:solidFill>
        </p:grpSpPr>
        <p:sp>
          <p:nvSpPr>
            <p:cNvPr id="181" name="Полилиния: фигура 62">
              <a:extLst>
                <a:ext uri="{FF2B5EF4-FFF2-40B4-BE49-F238E27FC236}">
                  <a16:creationId xmlns:a16="http://schemas.microsoft.com/office/drawing/2014/main" id="{B439D3BA-2C87-4E4E-957D-86F1CAB5B377}"/>
                </a:ext>
              </a:extLst>
            </p:cNvPr>
            <p:cNvSpPr/>
            <p:nvPr/>
          </p:nvSpPr>
          <p:spPr>
            <a:xfrm>
              <a:off x="5361212" y="5277843"/>
              <a:ext cx="330818" cy="27340"/>
            </a:xfrm>
            <a:custGeom>
              <a:avLst/>
              <a:gdLst>
                <a:gd name="connsiteX0" fmla="*/ 0 w 330818"/>
                <a:gd name="connsiteY0" fmla="*/ 0 h 27340"/>
                <a:gd name="connsiteX1" fmla="*/ 330818 w 330818"/>
                <a:gd name="connsiteY1" fmla="*/ 0 h 27340"/>
                <a:gd name="connsiteX2" fmla="*/ 330818 w 330818"/>
                <a:gd name="connsiteY2" fmla="*/ 27340 h 27340"/>
                <a:gd name="connsiteX3" fmla="*/ 0 w 33081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818" h="27340">
                  <a:moveTo>
                    <a:pt x="0" y="0"/>
                  </a:moveTo>
                  <a:lnTo>
                    <a:pt x="330818" y="0"/>
                  </a:lnTo>
                  <a:lnTo>
                    <a:pt x="330818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63">
              <a:extLst>
                <a:ext uri="{FF2B5EF4-FFF2-40B4-BE49-F238E27FC236}">
                  <a16:creationId xmlns:a16="http://schemas.microsoft.com/office/drawing/2014/main" id="{0C279786-EE2F-44C5-BC80-E09AC0B88085}"/>
                </a:ext>
              </a:extLst>
            </p:cNvPr>
            <p:cNvSpPr/>
            <p:nvPr/>
          </p:nvSpPr>
          <p:spPr>
            <a:xfrm>
              <a:off x="5156159" y="4829461"/>
              <a:ext cx="817476" cy="565945"/>
            </a:xfrm>
            <a:custGeom>
              <a:avLst/>
              <a:gdLst>
                <a:gd name="connsiteX0" fmla="*/ 803806 w 817476"/>
                <a:gd name="connsiteY0" fmla="*/ 565945 h 565945"/>
                <a:gd name="connsiteX1" fmla="*/ 202319 w 817476"/>
                <a:gd name="connsiteY1" fmla="*/ 565945 h 565945"/>
                <a:gd name="connsiteX2" fmla="*/ 202319 w 817476"/>
                <a:gd name="connsiteY2" fmla="*/ 538605 h 565945"/>
                <a:gd name="connsiteX3" fmla="*/ 790136 w 817476"/>
                <a:gd name="connsiteY3" fmla="*/ 538605 h 565945"/>
                <a:gd name="connsiteX4" fmla="*/ 790136 w 817476"/>
                <a:gd name="connsiteY4" fmla="*/ 27340 h 565945"/>
                <a:gd name="connsiteX5" fmla="*/ 27340 w 817476"/>
                <a:gd name="connsiteY5" fmla="*/ 27340 h 565945"/>
                <a:gd name="connsiteX6" fmla="*/ 27340 w 817476"/>
                <a:gd name="connsiteY6" fmla="*/ 235127 h 565945"/>
                <a:gd name="connsiteX7" fmla="*/ 0 w 817476"/>
                <a:gd name="connsiteY7" fmla="*/ 235127 h 565945"/>
                <a:gd name="connsiteX8" fmla="*/ 0 w 817476"/>
                <a:gd name="connsiteY8" fmla="*/ 13670 h 565945"/>
                <a:gd name="connsiteX9" fmla="*/ 13670 w 817476"/>
                <a:gd name="connsiteY9" fmla="*/ 0 h 565945"/>
                <a:gd name="connsiteX10" fmla="*/ 803806 w 817476"/>
                <a:gd name="connsiteY10" fmla="*/ 0 h 565945"/>
                <a:gd name="connsiteX11" fmla="*/ 817477 w 817476"/>
                <a:gd name="connsiteY11" fmla="*/ 13670 h 565945"/>
                <a:gd name="connsiteX12" fmla="*/ 817477 w 817476"/>
                <a:gd name="connsiteY12" fmla="*/ 552275 h 565945"/>
                <a:gd name="connsiteX13" fmla="*/ 803806 w 817476"/>
                <a:gd name="connsiteY13" fmla="*/ 565945 h 565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17476" h="565945">
                  <a:moveTo>
                    <a:pt x="803806" y="565945"/>
                  </a:moveTo>
                  <a:lnTo>
                    <a:pt x="202319" y="565945"/>
                  </a:lnTo>
                  <a:lnTo>
                    <a:pt x="202319" y="538605"/>
                  </a:lnTo>
                  <a:lnTo>
                    <a:pt x="790136" y="538605"/>
                  </a:lnTo>
                  <a:lnTo>
                    <a:pt x="790136" y="27340"/>
                  </a:lnTo>
                  <a:lnTo>
                    <a:pt x="27340" y="27340"/>
                  </a:lnTo>
                  <a:lnTo>
                    <a:pt x="27340" y="235127"/>
                  </a:lnTo>
                  <a:lnTo>
                    <a:pt x="0" y="235127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803806" y="0"/>
                  </a:lnTo>
                  <a:cubicBezTo>
                    <a:pt x="812009" y="0"/>
                    <a:pt x="817477" y="5468"/>
                    <a:pt x="817477" y="13670"/>
                  </a:cubicBezTo>
                  <a:lnTo>
                    <a:pt x="817477" y="552275"/>
                  </a:lnTo>
                  <a:cubicBezTo>
                    <a:pt x="817477" y="560477"/>
                    <a:pt x="812009" y="565945"/>
                    <a:pt x="803806" y="565945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64">
              <a:extLst>
                <a:ext uri="{FF2B5EF4-FFF2-40B4-BE49-F238E27FC236}">
                  <a16:creationId xmlns:a16="http://schemas.microsoft.com/office/drawing/2014/main" id="{A5865370-05D2-43BE-B894-08A67824C40C}"/>
                </a:ext>
              </a:extLst>
            </p:cNvPr>
            <p:cNvSpPr/>
            <p:nvPr/>
          </p:nvSpPr>
          <p:spPr>
            <a:xfrm>
              <a:off x="5508850" y="5381736"/>
              <a:ext cx="177712" cy="177712"/>
            </a:xfrm>
            <a:custGeom>
              <a:avLst/>
              <a:gdLst>
                <a:gd name="connsiteX0" fmla="*/ 0 w 177712"/>
                <a:gd name="connsiteY0" fmla="*/ 0 h 177712"/>
                <a:gd name="connsiteX1" fmla="*/ 177712 w 177712"/>
                <a:gd name="connsiteY1" fmla="*/ 0 h 177712"/>
                <a:gd name="connsiteX2" fmla="*/ 177712 w 177712"/>
                <a:gd name="connsiteY2" fmla="*/ 177712 h 177712"/>
                <a:gd name="connsiteX3" fmla="*/ 0 w 177712"/>
                <a:gd name="connsiteY3" fmla="*/ 177712 h 17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712" h="177712">
                  <a:moveTo>
                    <a:pt x="0" y="0"/>
                  </a:moveTo>
                  <a:lnTo>
                    <a:pt x="177712" y="0"/>
                  </a:lnTo>
                  <a:lnTo>
                    <a:pt x="177712" y="177712"/>
                  </a:lnTo>
                  <a:lnTo>
                    <a:pt x="0" y="17771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65">
              <a:extLst>
                <a:ext uri="{FF2B5EF4-FFF2-40B4-BE49-F238E27FC236}">
                  <a16:creationId xmlns:a16="http://schemas.microsoft.com/office/drawing/2014/main" id="{30CB775C-4EE1-4241-993F-0F4F26CA4703}"/>
                </a:ext>
              </a:extLst>
            </p:cNvPr>
            <p:cNvSpPr/>
            <p:nvPr/>
          </p:nvSpPr>
          <p:spPr>
            <a:xfrm>
              <a:off x="5372148" y="5534842"/>
              <a:ext cx="451115" cy="27340"/>
            </a:xfrm>
            <a:custGeom>
              <a:avLst/>
              <a:gdLst>
                <a:gd name="connsiteX0" fmla="*/ 0 w 451115"/>
                <a:gd name="connsiteY0" fmla="*/ 0 h 27340"/>
                <a:gd name="connsiteX1" fmla="*/ 451116 w 451115"/>
                <a:gd name="connsiteY1" fmla="*/ 0 h 27340"/>
                <a:gd name="connsiteX2" fmla="*/ 451116 w 451115"/>
                <a:gd name="connsiteY2" fmla="*/ 27340 h 27340"/>
                <a:gd name="connsiteX3" fmla="*/ 0 w 451115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115" h="27340">
                  <a:moveTo>
                    <a:pt x="0" y="0"/>
                  </a:moveTo>
                  <a:lnTo>
                    <a:pt x="451116" y="0"/>
                  </a:lnTo>
                  <a:lnTo>
                    <a:pt x="451116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66">
              <a:extLst>
                <a:ext uri="{FF2B5EF4-FFF2-40B4-BE49-F238E27FC236}">
                  <a16:creationId xmlns:a16="http://schemas.microsoft.com/office/drawing/2014/main" id="{D4E7AAE2-042F-4113-BB7D-68899E585148}"/>
                </a:ext>
              </a:extLst>
            </p:cNvPr>
            <p:cNvSpPr/>
            <p:nvPr/>
          </p:nvSpPr>
          <p:spPr>
            <a:xfrm>
              <a:off x="5733041" y="5250502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67">
              <a:extLst>
                <a:ext uri="{FF2B5EF4-FFF2-40B4-BE49-F238E27FC236}">
                  <a16:creationId xmlns:a16="http://schemas.microsoft.com/office/drawing/2014/main" id="{0556515B-7416-443D-8AE5-C237ED003C81}"/>
                </a:ext>
              </a:extLst>
            </p:cNvPr>
            <p:cNvSpPr/>
            <p:nvPr/>
          </p:nvSpPr>
          <p:spPr>
            <a:xfrm>
              <a:off x="4918299" y="511106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68">
              <a:extLst>
                <a:ext uri="{FF2B5EF4-FFF2-40B4-BE49-F238E27FC236}">
                  <a16:creationId xmlns:a16="http://schemas.microsoft.com/office/drawing/2014/main" id="{6109812A-14AC-4CF6-83A3-90A352D27DED}"/>
                </a:ext>
              </a:extLst>
            </p:cNvPr>
            <p:cNvSpPr/>
            <p:nvPr/>
          </p:nvSpPr>
          <p:spPr>
            <a:xfrm>
              <a:off x="5839668" y="5250502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6 w 65616"/>
                <a:gd name="connsiteY1" fmla="*/ 0 h 65616"/>
                <a:gd name="connsiteX2" fmla="*/ 65616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6" y="0"/>
                  </a:lnTo>
                  <a:lnTo>
                    <a:pt x="65616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69">
              <a:extLst>
                <a:ext uri="{FF2B5EF4-FFF2-40B4-BE49-F238E27FC236}">
                  <a16:creationId xmlns:a16="http://schemas.microsoft.com/office/drawing/2014/main" id="{C321B90B-D788-488A-A3CC-F4130BAE516F}"/>
                </a:ext>
              </a:extLst>
            </p:cNvPr>
            <p:cNvSpPr/>
            <p:nvPr/>
          </p:nvSpPr>
          <p:spPr>
            <a:xfrm>
              <a:off x="5065937" y="5122003"/>
              <a:ext cx="240594" cy="445647"/>
            </a:xfrm>
            <a:custGeom>
              <a:avLst/>
              <a:gdLst>
                <a:gd name="connsiteX0" fmla="*/ 226925 w 240594"/>
                <a:gd name="connsiteY0" fmla="*/ 445647 h 445647"/>
                <a:gd name="connsiteX1" fmla="*/ 13670 w 240594"/>
                <a:gd name="connsiteY1" fmla="*/ 445647 h 445647"/>
                <a:gd name="connsiteX2" fmla="*/ 0 w 240594"/>
                <a:gd name="connsiteY2" fmla="*/ 431977 h 445647"/>
                <a:gd name="connsiteX3" fmla="*/ 0 w 240594"/>
                <a:gd name="connsiteY3" fmla="*/ 13670 h 445647"/>
                <a:gd name="connsiteX4" fmla="*/ 13670 w 240594"/>
                <a:gd name="connsiteY4" fmla="*/ 0 h 445647"/>
                <a:gd name="connsiteX5" fmla="*/ 226925 w 240594"/>
                <a:gd name="connsiteY5" fmla="*/ 0 h 445647"/>
                <a:gd name="connsiteX6" fmla="*/ 240595 w 240594"/>
                <a:gd name="connsiteY6" fmla="*/ 13670 h 445647"/>
                <a:gd name="connsiteX7" fmla="*/ 240595 w 240594"/>
                <a:gd name="connsiteY7" fmla="*/ 431977 h 445647"/>
                <a:gd name="connsiteX8" fmla="*/ 226925 w 240594"/>
                <a:gd name="connsiteY8" fmla="*/ 445647 h 445647"/>
                <a:gd name="connsiteX9" fmla="*/ 27340 w 240594"/>
                <a:gd name="connsiteY9" fmla="*/ 418307 h 445647"/>
                <a:gd name="connsiteX10" fmla="*/ 213254 w 240594"/>
                <a:gd name="connsiteY10" fmla="*/ 418307 h 445647"/>
                <a:gd name="connsiteX11" fmla="*/ 213254 w 240594"/>
                <a:gd name="connsiteY11" fmla="*/ 27340 h 445647"/>
                <a:gd name="connsiteX12" fmla="*/ 27340 w 240594"/>
                <a:gd name="connsiteY12" fmla="*/ 27340 h 445647"/>
                <a:gd name="connsiteX13" fmla="*/ 27340 w 240594"/>
                <a:gd name="connsiteY13" fmla="*/ 418307 h 44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594" h="445647">
                  <a:moveTo>
                    <a:pt x="226925" y="445647"/>
                  </a:moveTo>
                  <a:lnTo>
                    <a:pt x="13670" y="445647"/>
                  </a:lnTo>
                  <a:cubicBezTo>
                    <a:pt x="5468" y="445647"/>
                    <a:pt x="0" y="440179"/>
                    <a:pt x="0" y="431977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26925" y="0"/>
                  </a:lnTo>
                  <a:cubicBezTo>
                    <a:pt x="235127" y="0"/>
                    <a:pt x="240595" y="5468"/>
                    <a:pt x="240595" y="13670"/>
                  </a:cubicBezTo>
                  <a:lnTo>
                    <a:pt x="240595" y="431977"/>
                  </a:lnTo>
                  <a:cubicBezTo>
                    <a:pt x="240595" y="440179"/>
                    <a:pt x="235127" y="445647"/>
                    <a:pt x="226925" y="445647"/>
                  </a:cubicBezTo>
                  <a:close/>
                  <a:moveTo>
                    <a:pt x="27340" y="418307"/>
                  </a:moveTo>
                  <a:lnTo>
                    <a:pt x="213254" y="418307"/>
                  </a:lnTo>
                  <a:lnTo>
                    <a:pt x="213254" y="27340"/>
                  </a:lnTo>
                  <a:lnTo>
                    <a:pt x="27340" y="27340"/>
                  </a:lnTo>
                  <a:lnTo>
                    <a:pt x="27340" y="41830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70">
              <a:extLst>
                <a:ext uri="{FF2B5EF4-FFF2-40B4-BE49-F238E27FC236}">
                  <a16:creationId xmlns:a16="http://schemas.microsoft.com/office/drawing/2014/main" id="{67CAD15C-74E1-4D43-BD04-F97DA0D17143}"/>
                </a:ext>
              </a:extLst>
            </p:cNvPr>
            <p:cNvSpPr/>
            <p:nvPr/>
          </p:nvSpPr>
          <p:spPr>
            <a:xfrm>
              <a:off x="5150692" y="543641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71">
              <a:extLst>
                <a:ext uri="{FF2B5EF4-FFF2-40B4-BE49-F238E27FC236}">
                  <a16:creationId xmlns:a16="http://schemas.microsoft.com/office/drawing/2014/main" id="{626440F2-AF93-47D3-A44F-B54D5670DFB8}"/>
                </a:ext>
              </a:extLst>
            </p:cNvPr>
            <p:cNvSpPr/>
            <p:nvPr/>
          </p:nvSpPr>
          <p:spPr>
            <a:xfrm>
              <a:off x="4836278" y="4670887"/>
              <a:ext cx="404637" cy="590551"/>
            </a:xfrm>
            <a:custGeom>
              <a:avLst/>
              <a:gdLst>
                <a:gd name="connsiteX0" fmla="*/ 172244 w 404637"/>
                <a:gd name="connsiteY0" fmla="*/ 590551 h 590551"/>
                <a:gd name="connsiteX1" fmla="*/ 13670 w 404637"/>
                <a:gd name="connsiteY1" fmla="*/ 590551 h 590551"/>
                <a:gd name="connsiteX2" fmla="*/ 0 w 404637"/>
                <a:gd name="connsiteY2" fmla="*/ 576881 h 590551"/>
                <a:gd name="connsiteX3" fmla="*/ 0 w 404637"/>
                <a:gd name="connsiteY3" fmla="*/ 13670 h 590551"/>
                <a:gd name="connsiteX4" fmla="*/ 13670 w 404637"/>
                <a:gd name="connsiteY4" fmla="*/ 0 h 590551"/>
                <a:gd name="connsiteX5" fmla="*/ 390967 w 404637"/>
                <a:gd name="connsiteY5" fmla="*/ 0 h 590551"/>
                <a:gd name="connsiteX6" fmla="*/ 404637 w 404637"/>
                <a:gd name="connsiteY6" fmla="*/ 13670 h 590551"/>
                <a:gd name="connsiteX7" fmla="*/ 404637 w 404637"/>
                <a:gd name="connsiteY7" fmla="*/ 103893 h 590551"/>
                <a:gd name="connsiteX8" fmla="*/ 377297 w 404637"/>
                <a:gd name="connsiteY8" fmla="*/ 103893 h 590551"/>
                <a:gd name="connsiteX9" fmla="*/ 377297 w 404637"/>
                <a:gd name="connsiteY9" fmla="*/ 27341 h 590551"/>
                <a:gd name="connsiteX10" fmla="*/ 27340 w 404637"/>
                <a:gd name="connsiteY10" fmla="*/ 27341 h 590551"/>
                <a:gd name="connsiteX11" fmla="*/ 27340 w 404637"/>
                <a:gd name="connsiteY11" fmla="*/ 563211 h 590551"/>
                <a:gd name="connsiteX12" fmla="*/ 172244 w 404637"/>
                <a:gd name="connsiteY12" fmla="*/ 563211 h 590551"/>
                <a:gd name="connsiteX13" fmla="*/ 172244 w 404637"/>
                <a:gd name="connsiteY13" fmla="*/ 590551 h 590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4637" h="590551">
                  <a:moveTo>
                    <a:pt x="172244" y="590551"/>
                  </a:moveTo>
                  <a:lnTo>
                    <a:pt x="13670" y="590551"/>
                  </a:lnTo>
                  <a:cubicBezTo>
                    <a:pt x="5468" y="590551"/>
                    <a:pt x="0" y="585083"/>
                    <a:pt x="0" y="57688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90967" y="0"/>
                  </a:lnTo>
                  <a:cubicBezTo>
                    <a:pt x="399169" y="0"/>
                    <a:pt x="404637" y="5468"/>
                    <a:pt x="404637" y="13670"/>
                  </a:cubicBezTo>
                  <a:lnTo>
                    <a:pt x="404637" y="103893"/>
                  </a:lnTo>
                  <a:lnTo>
                    <a:pt x="377297" y="103893"/>
                  </a:lnTo>
                  <a:lnTo>
                    <a:pt x="377297" y="27341"/>
                  </a:lnTo>
                  <a:lnTo>
                    <a:pt x="27340" y="27341"/>
                  </a:lnTo>
                  <a:lnTo>
                    <a:pt x="27340" y="563211"/>
                  </a:lnTo>
                  <a:lnTo>
                    <a:pt x="172244" y="563211"/>
                  </a:lnTo>
                  <a:lnTo>
                    <a:pt x="172244" y="59055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81">
              <a:extLst>
                <a:ext uri="{FF2B5EF4-FFF2-40B4-BE49-F238E27FC236}">
                  <a16:creationId xmlns:a16="http://schemas.microsoft.com/office/drawing/2014/main" id="{3343615E-BCBC-40E8-9796-8C476BD9C551}"/>
                </a:ext>
              </a:extLst>
            </p:cNvPr>
            <p:cNvSpPr/>
            <p:nvPr/>
          </p:nvSpPr>
          <p:spPr>
            <a:xfrm>
              <a:off x="5210840" y="4875940"/>
              <a:ext cx="194116" cy="185913"/>
            </a:xfrm>
            <a:custGeom>
              <a:avLst/>
              <a:gdLst>
                <a:gd name="connsiteX0" fmla="*/ 27340 w 194116"/>
                <a:gd name="connsiteY0" fmla="*/ 185914 h 185913"/>
                <a:gd name="connsiteX1" fmla="*/ 0 w 194116"/>
                <a:gd name="connsiteY1" fmla="*/ 185914 h 185913"/>
                <a:gd name="connsiteX2" fmla="*/ 0 w 194116"/>
                <a:gd name="connsiteY2" fmla="*/ 13670 h 185913"/>
                <a:gd name="connsiteX3" fmla="*/ 13670 w 194116"/>
                <a:gd name="connsiteY3" fmla="*/ 0 h 185913"/>
                <a:gd name="connsiteX4" fmla="*/ 194117 w 194116"/>
                <a:gd name="connsiteY4" fmla="*/ 0 h 185913"/>
                <a:gd name="connsiteX5" fmla="*/ 194117 w 194116"/>
                <a:gd name="connsiteY5" fmla="*/ 27340 h 185913"/>
                <a:gd name="connsiteX6" fmla="*/ 27340 w 194116"/>
                <a:gd name="connsiteY6" fmla="*/ 27340 h 185913"/>
                <a:gd name="connsiteX7" fmla="*/ 27340 w 194116"/>
                <a:gd name="connsiteY7" fmla="*/ 185914 h 18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116" h="185913">
                  <a:moveTo>
                    <a:pt x="27340" y="185914"/>
                  </a:moveTo>
                  <a:lnTo>
                    <a:pt x="0" y="185914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94117" y="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8591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2" name="Группа 458">
            <a:extLst>
              <a:ext uri="{FF2B5EF4-FFF2-40B4-BE49-F238E27FC236}">
                <a16:creationId xmlns:a16="http://schemas.microsoft.com/office/drawing/2014/main" id="{CDD5F74C-79FF-404B-994C-EC3DB7555250}"/>
              </a:ext>
            </a:extLst>
          </p:cNvPr>
          <p:cNvGrpSpPr>
            <a:grpSpLocks noChangeAspect="1"/>
          </p:cNvGrpSpPr>
          <p:nvPr/>
        </p:nvGrpSpPr>
        <p:grpSpPr>
          <a:xfrm>
            <a:off x="3780881" y="3753966"/>
            <a:ext cx="417125" cy="329846"/>
            <a:chOff x="4900713" y="2779304"/>
            <a:chExt cx="1272453" cy="1006206"/>
          </a:xfrm>
          <a:solidFill>
            <a:srgbClr val="FFFFFF"/>
          </a:solidFill>
        </p:grpSpPr>
        <p:sp>
          <p:nvSpPr>
            <p:cNvPr id="193" name="Полилиния: фигура 29">
              <a:extLst>
                <a:ext uri="{FF2B5EF4-FFF2-40B4-BE49-F238E27FC236}">
                  <a16:creationId xmlns:a16="http://schemas.microsoft.com/office/drawing/2014/main" id="{9F2BA0EF-86ED-477D-A2A3-661DED57F7C8}"/>
                </a:ext>
              </a:extLst>
            </p:cNvPr>
            <p:cNvSpPr/>
            <p:nvPr/>
          </p:nvSpPr>
          <p:spPr>
            <a:xfrm>
              <a:off x="5761694" y="2858832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0">
              <a:extLst>
                <a:ext uri="{FF2B5EF4-FFF2-40B4-BE49-F238E27FC236}">
                  <a16:creationId xmlns:a16="http://schemas.microsoft.com/office/drawing/2014/main" id="{5E7FBB23-16FB-4421-AC58-5093CFD16A99}"/>
                </a:ext>
              </a:extLst>
            </p:cNvPr>
            <p:cNvSpPr/>
            <p:nvPr/>
          </p:nvSpPr>
          <p:spPr>
            <a:xfrm>
              <a:off x="5761694" y="3622996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95" name="Рисунок 25">
              <a:extLst>
                <a:ext uri="{FF2B5EF4-FFF2-40B4-BE49-F238E27FC236}">
                  <a16:creationId xmlns:a16="http://schemas.microsoft.com/office/drawing/2014/main" id="{D3CDD4C6-5A5A-4744-B5FD-0B30ADF48C3D}"/>
                </a:ext>
              </a:extLst>
            </p:cNvPr>
            <p:cNvGrpSpPr/>
            <p:nvPr/>
          </p:nvGrpSpPr>
          <p:grpSpPr>
            <a:xfrm>
              <a:off x="5249946" y="3159657"/>
              <a:ext cx="456423" cy="221296"/>
              <a:chOff x="5249946" y="3159657"/>
              <a:chExt cx="456423" cy="221296"/>
            </a:xfrm>
            <a:grpFill/>
          </p:grpSpPr>
          <p:sp>
            <p:nvSpPr>
              <p:cNvPr id="196" name="Полилиния: фигура 32">
                <a:extLst>
                  <a:ext uri="{FF2B5EF4-FFF2-40B4-BE49-F238E27FC236}">
                    <a16:creationId xmlns:a16="http://schemas.microsoft.com/office/drawing/2014/main" id="{BE35237E-C40C-4F5F-A3C9-6F117C018283}"/>
                  </a:ext>
                </a:extLst>
              </p:cNvPr>
              <p:cNvSpPr/>
              <p:nvPr/>
            </p:nvSpPr>
            <p:spPr>
              <a:xfrm>
                <a:off x="5249946" y="3159657"/>
                <a:ext cx="210923" cy="221296"/>
              </a:xfrm>
              <a:custGeom>
                <a:avLst/>
                <a:gdLst>
                  <a:gd name="connsiteX0" fmla="*/ 0 w 210923"/>
                  <a:gd name="connsiteY0" fmla="*/ 221296 h 221296"/>
                  <a:gd name="connsiteX1" fmla="*/ 48409 w 210923"/>
                  <a:gd name="connsiteY1" fmla="*/ 221296 h 221296"/>
                  <a:gd name="connsiteX2" fmla="*/ 69155 w 210923"/>
                  <a:gd name="connsiteY2" fmla="*/ 172888 h 221296"/>
                  <a:gd name="connsiteX3" fmla="*/ 141768 w 210923"/>
                  <a:gd name="connsiteY3" fmla="*/ 172888 h 221296"/>
                  <a:gd name="connsiteX4" fmla="*/ 162515 w 210923"/>
                  <a:gd name="connsiteY4" fmla="*/ 221296 h 221296"/>
                  <a:gd name="connsiteX5" fmla="*/ 210923 w 210923"/>
                  <a:gd name="connsiteY5" fmla="*/ 221296 h 221296"/>
                  <a:gd name="connsiteX6" fmla="*/ 103733 w 210923"/>
                  <a:gd name="connsiteY6" fmla="*/ 0 h 221296"/>
                  <a:gd name="connsiteX7" fmla="*/ 0 w 210923"/>
                  <a:gd name="connsiteY7" fmla="*/ 221296 h 221296"/>
                  <a:gd name="connsiteX8" fmla="*/ 131395 w 210923"/>
                  <a:gd name="connsiteY8" fmla="*/ 141768 h 221296"/>
                  <a:gd name="connsiteX9" fmla="*/ 79529 w 210923"/>
                  <a:gd name="connsiteY9" fmla="*/ 141768 h 221296"/>
                  <a:gd name="connsiteX10" fmla="*/ 107190 w 210923"/>
                  <a:gd name="connsiteY10" fmla="*/ 82986 h 221296"/>
                  <a:gd name="connsiteX11" fmla="*/ 131395 w 210923"/>
                  <a:gd name="connsiteY11" fmla="*/ 141768 h 221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0923" h="221296">
                    <a:moveTo>
                      <a:pt x="0" y="221296"/>
                    </a:moveTo>
                    <a:lnTo>
                      <a:pt x="48409" y="221296"/>
                    </a:lnTo>
                    <a:lnTo>
                      <a:pt x="69155" y="172888"/>
                    </a:lnTo>
                    <a:lnTo>
                      <a:pt x="141768" y="172888"/>
                    </a:lnTo>
                    <a:lnTo>
                      <a:pt x="162515" y="221296"/>
                    </a:lnTo>
                    <a:lnTo>
                      <a:pt x="210923" y="221296"/>
                    </a:lnTo>
                    <a:lnTo>
                      <a:pt x="103733" y="0"/>
                    </a:lnTo>
                    <a:lnTo>
                      <a:pt x="0" y="221296"/>
                    </a:lnTo>
                    <a:close/>
                    <a:moveTo>
                      <a:pt x="131395" y="141768"/>
                    </a:moveTo>
                    <a:lnTo>
                      <a:pt x="79529" y="141768"/>
                    </a:lnTo>
                    <a:lnTo>
                      <a:pt x="107190" y="82986"/>
                    </a:lnTo>
                    <a:lnTo>
                      <a:pt x="131395" y="141768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7" name="Полилиния: фигура 33">
                <a:extLst>
                  <a:ext uri="{FF2B5EF4-FFF2-40B4-BE49-F238E27FC236}">
                    <a16:creationId xmlns:a16="http://schemas.microsoft.com/office/drawing/2014/main" id="{B532AB82-7BBC-4B9E-8F3D-710D307A7BA4}"/>
                  </a:ext>
                </a:extLst>
              </p:cNvPr>
              <p:cNvSpPr/>
              <p:nvPr/>
            </p:nvSpPr>
            <p:spPr>
              <a:xfrm>
                <a:off x="5481616" y="3173488"/>
                <a:ext cx="145225" cy="207465"/>
              </a:xfrm>
              <a:custGeom>
                <a:avLst/>
                <a:gdLst>
                  <a:gd name="connsiteX0" fmla="*/ 110648 w 145225"/>
                  <a:gd name="connsiteY0" fmla="*/ 6915 h 207465"/>
                  <a:gd name="connsiteX1" fmla="*/ 69155 w 145225"/>
                  <a:gd name="connsiteY1" fmla="*/ 0 h 207465"/>
                  <a:gd name="connsiteX2" fmla="*/ 44951 w 145225"/>
                  <a:gd name="connsiteY2" fmla="*/ 0 h 207465"/>
                  <a:gd name="connsiteX3" fmla="*/ 27662 w 145225"/>
                  <a:gd name="connsiteY3" fmla="*/ 0 h 207465"/>
                  <a:gd name="connsiteX4" fmla="*/ 0 w 145225"/>
                  <a:gd name="connsiteY4" fmla="*/ 0 h 207465"/>
                  <a:gd name="connsiteX5" fmla="*/ 0 w 145225"/>
                  <a:gd name="connsiteY5" fmla="*/ 207465 h 207465"/>
                  <a:gd name="connsiteX6" fmla="*/ 41493 w 145225"/>
                  <a:gd name="connsiteY6" fmla="*/ 207465 h 207465"/>
                  <a:gd name="connsiteX7" fmla="*/ 41493 w 145225"/>
                  <a:gd name="connsiteY7" fmla="*/ 131395 h 207465"/>
                  <a:gd name="connsiteX8" fmla="*/ 65697 w 145225"/>
                  <a:gd name="connsiteY8" fmla="*/ 131395 h 207465"/>
                  <a:gd name="connsiteX9" fmla="*/ 107190 w 145225"/>
                  <a:gd name="connsiteY9" fmla="*/ 124479 h 207465"/>
                  <a:gd name="connsiteX10" fmla="*/ 134852 w 145225"/>
                  <a:gd name="connsiteY10" fmla="*/ 100275 h 207465"/>
                  <a:gd name="connsiteX11" fmla="*/ 145226 w 145225"/>
                  <a:gd name="connsiteY11" fmla="*/ 65697 h 207465"/>
                  <a:gd name="connsiteX12" fmla="*/ 134852 w 145225"/>
                  <a:gd name="connsiteY12" fmla="*/ 31120 h 207465"/>
                  <a:gd name="connsiteX13" fmla="*/ 110648 w 145225"/>
                  <a:gd name="connsiteY13" fmla="*/ 6915 h 207465"/>
                  <a:gd name="connsiteX14" fmla="*/ 96817 w 145225"/>
                  <a:gd name="connsiteY14" fmla="*/ 89902 h 207465"/>
                  <a:gd name="connsiteX15" fmla="*/ 69155 w 145225"/>
                  <a:gd name="connsiteY15" fmla="*/ 96817 h 207465"/>
                  <a:gd name="connsiteX16" fmla="*/ 44951 w 145225"/>
                  <a:gd name="connsiteY16" fmla="*/ 96817 h 207465"/>
                  <a:gd name="connsiteX17" fmla="*/ 44951 w 145225"/>
                  <a:gd name="connsiteY17" fmla="*/ 34578 h 207465"/>
                  <a:gd name="connsiteX18" fmla="*/ 69155 w 145225"/>
                  <a:gd name="connsiteY18" fmla="*/ 34578 h 207465"/>
                  <a:gd name="connsiteX19" fmla="*/ 96817 w 145225"/>
                  <a:gd name="connsiteY19" fmla="*/ 41493 h 207465"/>
                  <a:gd name="connsiteX20" fmla="*/ 107190 w 145225"/>
                  <a:gd name="connsiteY20" fmla="*/ 65697 h 207465"/>
                  <a:gd name="connsiteX21" fmla="*/ 96817 w 145225"/>
                  <a:gd name="connsiteY21" fmla="*/ 89902 h 20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225" h="207465">
                    <a:moveTo>
                      <a:pt x="110648" y="6915"/>
                    </a:moveTo>
                    <a:cubicBezTo>
                      <a:pt x="100275" y="0"/>
                      <a:pt x="86444" y="0"/>
                      <a:pt x="69155" y="0"/>
                    </a:cubicBezTo>
                    <a:lnTo>
                      <a:pt x="44951" y="0"/>
                    </a:lnTo>
                    <a:lnTo>
                      <a:pt x="27662" y="0"/>
                    </a:lnTo>
                    <a:lnTo>
                      <a:pt x="0" y="0"/>
                    </a:lnTo>
                    <a:lnTo>
                      <a:pt x="0" y="207465"/>
                    </a:lnTo>
                    <a:lnTo>
                      <a:pt x="41493" y="207465"/>
                    </a:lnTo>
                    <a:lnTo>
                      <a:pt x="41493" y="131395"/>
                    </a:lnTo>
                    <a:lnTo>
                      <a:pt x="65697" y="131395"/>
                    </a:lnTo>
                    <a:cubicBezTo>
                      <a:pt x="82986" y="131395"/>
                      <a:pt x="96817" y="127937"/>
                      <a:pt x="107190" y="124479"/>
                    </a:cubicBezTo>
                    <a:cubicBezTo>
                      <a:pt x="117564" y="117564"/>
                      <a:pt x="127937" y="110648"/>
                      <a:pt x="134852" y="100275"/>
                    </a:cubicBezTo>
                    <a:cubicBezTo>
                      <a:pt x="141768" y="89902"/>
                      <a:pt x="145226" y="79528"/>
                      <a:pt x="145226" y="65697"/>
                    </a:cubicBezTo>
                    <a:cubicBezTo>
                      <a:pt x="145226" y="51866"/>
                      <a:pt x="141768" y="41493"/>
                      <a:pt x="134852" y="31120"/>
                    </a:cubicBezTo>
                    <a:cubicBezTo>
                      <a:pt x="131395" y="20746"/>
                      <a:pt x="124479" y="13831"/>
                      <a:pt x="110648" y="6915"/>
                    </a:cubicBezTo>
                    <a:close/>
                    <a:moveTo>
                      <a:pt x="96817" y="89902"/>
                    </a:moveTo>
                    <a:cubicBezTo>
                      <a:pt x="89902" y="93359"/>
                      <a:pt x="82986" y="96817"/>
                      <a:pt x="69155" y="96817"/>
                    </a:cubicBezTo>
                    <a:lnTo>
                      <a:pt x="44951" y="96817"/>
                    </a:lnTo>
                    <a:lnTo>
                      <a:pt x="44951" y="34578"/>
                    </a:lnTo>
                    <a:lnTo>
                      <a:pt x="69155" y="34578"/>
                    </a:lnTo>
                    <a:cubicBezTo>
                      <a:pt x="79528" y="34578"/>
                      <a:pt x="89902" y="38035"/>
                      <a:pt x="96817" y="41493"/>
                    </a:cubicBezTo>
                    <a:cubicBezTo>
                      <a:pt x="103733" y="44951"/>
                      <a:pt x="107190" y="55324"/>
                      <a:pt x="107190" y="65697"/>
                    </a:cubicBezTo>
                    <a:cubicBezTo>
                      <a:pt x="107190" y="76071"/>
                      <a:pt x="103733" y="82986"/>
                      <a:pt x="96817" y="89902"/>
                    </a:cubicBez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8" name="Полилиния: фигура 34">
                <a:extLst>
                  <a:ext uri="{FF2B5EF4-FFF2-40B4-BE49-F238E27FC236}">
                    <a16:creationId xmlns:a16="http://schemas.microsoft.com/office/drawing/2014/main" id="{BF1362EC-CC47-438F-BB79-7677AC1DCA08}"/>
                  </a:ext>
                </a:extLst>
              </p:cNvPr>
              <p:cNvSpPr/>
              <p:nvPr/>
            </p:nvSpPr>
            <p:spPr>
              <a:xfrm>
                <a:off x="5661419" y="3173488"/>
                <a:ext cx="44950" cy="207465"/>
              </a:xfrm>
              <a:custGeom>
                <a:avLst/>
                <a:gdLst>
                  <a:gd name="connsiteX0" fmla="*/ 0 w 44950"/>
                  <a:gd name="connsiteY0" fmla="*/ 0 h 207465"/>
                  <a:gd name="connsiteX1" fmla="*/ 44951 w 44950"/>
                  <a:gd name="connsiteY1" fmla="*/ 0 h 207465"/>
                  <a:gd name="connsiteX2" fmla="*/ 44951 w 44950"/>
                  <a:gd name="connsiteY2" fmla="*/ 207465 h 207465"/>
                  <a:gd name="connsiteX3" fmla="*/ 0 w 44950"/>
                  <a:gd name="connsiteY3" fmla="*/ 207465 h 20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50" h="207465">
                    <a:moveTo>
                      <a:pt x="0" y="0"/>
                    </a:moveTo>
                    <a:lnTo>
                      <a:pt x="44951" y="0"/>
                    </a:lnTo>
                    <a:lnTo>
                      <a:pt x="44951" y="207465"/>
                    </a:lnTo>
                    <a:lnTo>
                      <a:pt x="0" y="207465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9" name="Полилиния: фигура 35">
              <a:extLst>
                <a:ext uri="{FF2B5EF4-FFF2-40B4-BE49-F238E27FC236}">
                  <a16:creationId xmlns:a16="http://schemas.microsoft.com/office/drawing/2014/main" id="{87BF6FC5-0015-430D-B919-0C214F3C21D6}"/>
                </a:ext>
              </a:extLst>
            </p:cNvPr>
            <p:cNvSpPr/>
            <p:nvPr/>
          </p:nvSpPr>
          <p:spPr>
            <a:xfrm>
              <a:off x="5094347" y="3032584"/>
              <a:ext cx="830539" cy="452101"/>
            </a:xfrm>
            <a:custGeom>
              <a:avLst/>
              <a:gdLst>
                <a:gd name="connsiteX0" fmla="*/ 570530 w 830539"/>
                <a:gd name="connsiteY0" fmla="*/ 452101 h 452101"/>
                <a:gd name="connsiteX1" fmla="*/ 408015 w 830539"/>
                <a:gd name="connsiteY1" fmla="*/ 452101 h 452101"/>
                <a:gd name="connsiteX2" fmla="*/ 114106 w 830539"/>
                <a:gd name="connsiteY2" fmla="*/ 452101 h 452101"/>
                <a:gd name="connsiteX3" fmla="*/ 110648 w 830539"/>
                <a:gd name="connsiteY3" fmla="*/ 452101 h 452101"/>
                <a:gd name="connsiteX4" fmla="*/ 107190 w 830539"/>
                <a:gd name="connsiteY4" fmla="*/ 452101 h 452101"/>
                <a:gd name="connsiteX5" fmla="*/ 6916 w 830539"/>
                <a:gd name="connsiteY5" fmla="*/ 362200 h 452101"/>
                <a:gd name="connsiteX6" fmla="*/ 27662 w 830539"/>
                <a:gd name="connsiteY6" fmla="*/ 234263 h 452101"/>
                <a:gd name="connsiteX7" fmla="*/ 100275 w 830539"/>
                <a:gd name="connsiteY7" fmla="*/ 196228 h 452101"/>
                <a:gd name="connsiteX8" fmla="*/ 134852 w 830539"/>
                <a:gd name="connsiteY8" fmla="*/ 82122 h 452101"/>
                <a:gd name="connsiteX9" fmla="*/ 266247 w 830539"/>
                <a:gd name="connsiteY9" fmla="*/ 6051 h 452101"/>
                <a:gd name="connsiteX10" fmla="*/ 401100 w 830539"/>
                <a:gd name="connsiteY10" fmla="*/ 19882 h 452101"/>
                <a:gd name="connsiteX11" fmla="*/ 439135 w 830539"/>
                <a:gd name="connsiteY11" fmla="*/ 47544 h 452101"/>
                <a:gd name="connsiteX12" fmla="*/ 466797 w 830539"/>
                <a:gd name="connsiteY12" fmla="*/ 33713 h 452101"/>
                <a:gd name="connsiteX13" fmla="*/ 643143 w 830539"/>
                <a:gd name="connsiteY13" fmla="*/ 51002 h 452101"/>
                <a:gd name="connsiteX14" fmla="*/ 701925 w 830539"/>
                <a:gd name="connsiteY14" fmla="*/ 154735 h 452101"/>
                <a:gd name="connsiteX15" fmla="*/ 826404 w 830539"/>
                <a:gd name="connsiteY15" fmla="*/ 258467 h 452101"/>
                <a:gd name="connsiteX16" fmla="*/ 812573 w 830539"/>
                <a:gd name="connsiteY16" fmla="*/ 365658 h 452101"/>
                <a:gd name="connsiteX17" fmla="*/ 708840 w 830539"/>
                <a:gd name="connsiteY17" fmla="*/ 452101 h 452101"/>
                <a:gd name="connsiteX18" fmla="*/ 705382 w 830539"/>
                <a:gd name="connsiteY18" fmla="*/ 452101 h 452101"/>
                <a:gd name="connsiteX19" fmla="*/ 570530 w 830539"/>
                <a:gd name="connsiteY19" fmla="*/ 452101 h 452101"/>
                <a:gd name="connsiteX20" fmla="*/ 245501 w 830539"/>
                <a:gd name="connsiteY20" fmla="*/ 414066 h 452101"/>
                <a:gd name="connsiteX21" fmla="*/ 408015 w 830539"/>
                <a:gd name="connsiteY21" fmla="*/ 414066 h 452101"/>
                <a:gd name="connsiteX22" fmla="*/ 698467 w 830539"/>
                <a:gd name="connsiteY22" fmla="*/ 414066 h 452101"/>
                <a:gd name="connsiteX23" fmla="*/ 781453 w 830539"/>
                <a:gd name="connsiteY23" fmla="*/ 344911 h 452101"/>
                <a:gd name="connsiteX24" fmla="*/ 791826 w 830539"/>
                <a:gd name="connsiteY24" fmla="*/ 265383 h 452101"/>
                <a:gd name="connsiteX25" fmla="*/ 688093 w 830539"/>
                <a:gd name="connsiteY25" fmla="*/ 185854 h 452101"/>
                <a:gd name="connsiteX26" fmla="*/ 670805 w 830539"/>
                <a:gd name="connsiteY26" fmla="*/ 185854 h 452101"/>
                <a:gd name="connsiteX27" fmla="*/ 670805 w 830539"/>
                <a:gd name="connsiteY27" fmla="*/ 168566 h 452101"/>
                <a:gd name="connsiteX28" fmla="*/ 625854 w 830539"/>
                <a:gd name="connsiteY28" fmla="*/ 78664 h 452101"/>
                <a:gd name="connsiteX29" fmla="*/ 484086 w 830539"/>
                <a:gd name="connsiteY29" fmla="*/ 64833 h 452101"/>
                <a:gd name="connsiteX30" fmla="*/ 452966 w 830539"/>
                <a:gd name="connsiteY30" fmla="*/ 82122 h 452101"/>
                <a:gd name="connsiteX31" fmla="*/ 439135 w 830539"/>
                <a:gd name="connsiteY31" fmla="*/ 92495 h 452101"/>
                <a:gd name="connsiteX32" fmla="*/ 428762 w 830539"/>
                <a:gd name="connsiteY32" fmla="*/ 78664 h 452101"/>
                <a:gd name="connsiteX33" fmla="*/ 390726 w 830539"/>
                <a:gd name="connsiteY33" fmla="*/ 47544 h 452101"/>
                <a:gd name="connsiteX34" fmla="*/ 276620 w 830539"/>
                <a:gd name="connsiteY34" fmla="*/ 37171 h 452101"/>
                <a:gd name="connsiteX35" fmla="*/ 165972 w 830539"/>
                <a:gd name="connsiteY35" fmla="*/ 99411 h 452101"/>
                <a:gd name="connsiteX36" fmla="*/ 141768 w 830539"/>
                <a:gd name="connsiteY36" fmla="*/ 199685 h 452101"/>
                <a:gd name="connsiteX37" fmla="*/ 141768 w 830539"/>
                <a:gd name="connsiteY37" fmla="*/ 227347 h 452101"/>
                <a:gd name="connsiteX38" fmla="*/ 124479 w 830539"/>
                <a:gd name="connsiteY38" fmla="*/ 227347 h 452101"/>
                <a:gd name="connsiteX39" fmla="*/ 58782 w 830539"/>
                <a:gd name="connsiteY39" fmla="*/ 255010 h 452101"/>
                <a:gd name="connsiteX40" fmla="*/ 44951 w 830539"/>
                <a:gd name="connsiteY40" fmla="*/ 348369 h 452101"/>
                <a:gd name="connsiteX41" fmla="*/ 114106 w 830539"/>
                <a:gd name="connsiteY41" fmla="*/ 414066 h 452101"/>
                <a:gd name="connsiteX42" fmla="*/ 245501 w 830539"/>
                <a:gd name="connsiteY42" fmla="*/ 414066 h 45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30539" h="452101">
                  <a:moveTo>
                    <a:pt x="570530" y="452101"/>
                  </a:moveTo>
                  <a:cubicBezTo>
                    <a:pt x="511748" y="452101"/>
                    <a:pt x="459882" y="452101"/>
                    <a:pt x="408015" y="452101"/>
                  </a:cubicBezTo>
                  <a:cubicBezTo>
                    <a:pt x="318114" y="452101"/>
                    <a:pt x="224754" y="448644"/>
                    <a:pt x="114106" y="452101"/>
                  </a:cubicBezTo>
                  <a:lnTo>
                    <a:pt x="110648" y="452101"/>
                  </a:lnTo>
                  <a:lnTo>
                    <a:pt x="107190" y="452101"/>
                  </a:lnTo>
                  <a:cubicBezTo>
                    <a:pt x="58782" y="441728"/>
                    <a:pt x="20746" y="407151"/>
                    <a:pt x="6916" y="362200"/>
                  </a:cubicBezTo>
                  <a:cubicBezTo>
                    <a:pt x="-6916" y="310334"/>
                    <a:pt x="0" y="261925"/>
                    <a:pt x="27662" y="234263"/>
                  </a:cubicBezTo>
                  <a:cubicBezTo>
                    <a:pt x="51866" y="210059"/>
                    <a:pt x="79528" y="199685"/>
                    <a:pt x="100275" y="196228"/>
                  </a:cubicBezTo>
                  <a:cubicBezTo>
                    <a:pt x="100275" y="172023"/>
                    <a:pt x="100275" y="123615"/>
                    <a:pt x="134852" y="82122"/>
                  </a:cubicBezTo>
                  <a:cubicBezTo>
                    <a:pt x="179803" y="23340"/>
                    <a:pt x="242043" y="9509"/>
                    <a:pt x="266247" y="6051"/>
                  </a:cubicBezTo>
                  <a:cubicBezTo>
                    <a:pt x="290451" y="2593"/>
                    <a:pt x="345776" y="-11238"/>
                    <a:pt x="401100" y="19882"/>
                  </a:cubicBezTo>
                  <a:cubicBezTo>
                    <a:pt x="414931" y="26798"/>
                    <a:pt x="428762" y="37171"/>
                    <a:pt x="439135" y="47544"/>
                  </a:cubicBezTo>
                  <a:cubicBezTo>
                    <a:pt x="446051" y="44086"/>
                    <a:pt x="456424" y="40629"/>
                    <a:pt x="466797" y="33713"/>
                  </a:cubicBezTo>
                  <a:cubicBezTo>
                    <a:pt x="511748" y="16424"/>
                    <a:pt x="587818" y="16424"/>
                    <a:pt x="643143" y="51002"/>
                  </a:cubicBezTo>
                  <a:cubicBezTo>
                    <a:pt x="667347" y="68291"/>
                    <a:pt x="698467" y="99411"/>
                    <a:pt x="701925" y="154735"/>
                  </a:cubicBezTo>
                  <a:cubicBezTo>
                    <a:pt x="784911" y="158192"/>
                    <a:pt x="816030" y="234263"/>
                    <a:pt x="826404" y="258467"/>
                  </a:cubicBezTo>
                  <a:cubicBezTo>
                    <a:pt x="833319" y="282671"/>
                    <a:pt x="833319" y="324165"/>
                    <a:pt x="812573" y="365658"/>
                  </a:cubicBezTo>
                  <a:cubicBezTo>
                    <a:pt x="798742" y="393320"/>
                    <a:pt x="767622" y="431355"/>
                    <a:pt x="708840" y="452101"/>
                  </a:cubicBezTo>
                  <a:lnTo>
                    <a:pt x="705382" y="452101"/>
                  </a:lnTo>
                  <a:cubicBezTo>
                    <a:pt x="653516" y="452101"/>
                    <a:pt x="612023" y="452101"/>
                    <a:pt x="570530" y="452101"/>
                  </a:cubicBezTo>
                  <a:close/>
                  <a:moveTo>
                    <a:pt x="245501" y="414066"/>
                  </a:moveTo>
                  <a:cubicBezTo>
                    <a:pt x="304283" y="414066"/>
                    <a:pt x="356149" y="414066"/>
                    <a:pt x="408015" y="414066"/>
                  </a:cubicBezTo>
                  <a:cubicBezTo>
                    <a:pt x="497917" y="414066"/>
                    <a:pt x="587818" y="417524"/>
                    <a:pt x="698467" y="414066"/>
                  </a:cubicBezTo>
                  <a:cubicBezTo>
                    <a:pt x="746875" y="396777"/>
                    <a:pt x="767622" y="369115"/>
                    <a:pt x="781453" y="344911"/>
                  </a:cubicBezTo>
                  <a:cubicBezTo>
                    <a:pt x="798742" y="310334"/>
                    <a:pt x="798742" y="279214"/>
                    <a:pt x="791826" y="265383"/>
                  </a:cubicBezTo>
                  <a:cubicBezTo>
                    <a:pt x="784911" y="244636"/>
                    <a:pt x="757249" y="178939"/>
                    <a:pt x="688093" y="185854"/>
                  </a:cubicBezTo>
                  <a:lnTo>
                    <a:pt x="670805" y="185854"/>
                  </a:lnTo>
                  <a:lnTo>
                    <a:pt x="670805" y="168566"/>
                  </a:lnTo>
                  <a:cubicBezTo>
                    <a:pt x="670805" y="127072"/>
                    <a:pt x="656974" y="99411"/>
                    <a:pt x="625854" y="78664"/>
                  </a:cubicBezTo>
                  <a:cubicBezTo>
                    <a:pt x="584361" y="51002"/>
                    <a:pt x="518663" y="47544"/>
                    <a:pt x="484086" y="64833"/>
                  </a:cubicBezTo>
                  <a:cubicBezTo>
                    <a:pt x="463339" y="71748"/>
                    <a:pt x="456424" y="78664"/>
                    <a:pt x="452966" y="82122"/>
                  </a:cubicBezTo>
                  <a:lnTo>
                    <a:pt x="439135" y="92495"/>
                  </a:lnTo>
                  <a:lnTo>
                    <a:pt x="428762" y="78664"/>
                  </a:lnTo>
                  <a:cubicBezTo>
                    <a:pt x="418388" y="64833"/>
                    <a:pt x="404558" y="54460"/>
                    <a:pt x="390726" y="47544"/>
                  </a:cubicBezTo>
                  <a:cubicBezTo>
                    <a:pt x="345776" y="23340"/>
                    <a:pt x="297367" y="33713"/>
                    <a:pt x="276620" y="37171"/>
                  </a:cubicBezTo>
                  <a:cubicBezTo>
                    <a:pt x="255874" y="40629"/>
                    <a:pt x="204008" y="51002"/>
                    <a:pt x="165972" y="99411"/>
                  </a:cubicBezTo>
                  <a:cubicBezTo>
                    <a:pt x="138310" y="137446"/>
                    <a:pt x="138310" y="178939"/>
                    <a:pt x="141768" y="199685"/>
                  </a:cubicBezTo>
                  <a:lnTo>
                    <a:pt x="141768" y="227347"/>
                  </a:lnTo>
                  <a:lnTo>
                    <a:pt x="124479" y="227347"/>
                  </a:lnTo>
                  <a:cubicBezTo>
                    <a:pt x="110648" y="227347"/>
                    <a:pt x="86444" y="230805"/>
                    <a:pt x="58782" y="255010"/>
                  </a:cubicBezTo>
                  <a:cubicBezTo>
                    <a:pt x="31120" y="282671"/>
                    <a:pt x="38035" y="327622"/>
                    <a:pt x="44951" y="348369"/>
                  </a:cubicBezTo>
                  <a:cubicBezTo>
                    <a:pt x="55324" y="382946"/>
                    <a:pt x="82986" y="407151"/>
                    <a:pt x="114106" y="414066"/>
                  </a:cubicBezTo>
                  <a:cubicBezTo>
                    <a:pt x="159057" y="414066"/>
                    <a:pt x="204008" y="414066"/>
                    <a:pt x="245501" y="414066"/>
                  </a:cubicBez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36">
              <a:extLst>
                <a:ext uri="{FF2B5EF4-FFF2-40B4-BE49-F238E27FC236}">
                  <a16:creationId xmlns:a16="http://schemas.microsoft.com/office/drawing/2014/main" id="{29993775-160D-4C8C-9C4D-B5D3BA4EC57D}"/>
                </a:ext>
              </a:extLst>
            </p:cNvPr>
            <p:cNvSpPr/>
            <p:nvPr/>
          </p:nvSpPr>
          <p:spPr>
            <a:xfrm>
              <a:off x="4900713" y="2779304"/>
              <a:ext cx="829861" cy="1006206"/>
            </a:xfrm>
            <a:custGeom>
              <a:avLst/>
              <a:gdLst>
                <a:gd name="connsiteX0" fmla="*/ 622396 w 829861"/>
                <a:gd name="connsiteY0" fmla="*/ 1006207 h 1006206"/>
                <a:gd name="connsiteX1" fmla="*/ 401100 w 829861"/>
                <a:gd name="connsiteY1" fmla="*/ 1006207 h 1006206"/>
                <a:gd name="connsiteX2" fmla="*/ 383811 w 829861"/>
                <a:gd name="connsiteY2" fmla="*/ 892101 h 1006206"/>
                <a:gd name="connsiteX3" fmla="*/ 363064 w 829861"/>
                <a:gd name="connsiteY3" fmla="*/ 885185 h 1006206"/>
                <a:gd name="connsiteX4" fmla="*/ 314656 w 829861"/>
                <a:gd name="connsiteY4" fmla="*/ 864439 h 1006206"/>
                <a:gd name="connsiteX5" fmla="*/ 221296 w 829861"/>
                <a:gd name="connsiteY5" fmla="*/ 930136 h 1006206"/>
                <a:gd name="connsiteX6" fmla="*/ 76071 w 829861"/>
                <a:gd name="connsiteY6" fmla="*/ 784911 h 1006206"/>
                <a:gd name="connsiteX7" fmla="*/ 138310 w 829861"/>
                <a:gd name="connsiteY7" fmla="*/ 691551 h 1006206"/>
                <a:gd name="connsiteX8" fmla="*/ 107190 w 829861"/>
                <a:gd name="connsiteY8" fmla="*/ 625854 h 1006206"/>
                <a:gd name="connsiteX9" fmla="*/ 0 w 829861"/>
                <a:gd name="connsiteY9" fmla="*/ 608565 h 1006206"/>
                <a:gd name="connsiteX10" fmla="*/ 0 w 829861"/>
                <a:gd name="connsiteY10" fmla="*/ 404557 h 1006206"/>
                <a:gd name="connsiteX11" fmla="*/ 114106 w 829861"/>
                <a:gd name="connsiteY11" fmla="*/ 383811 h 1006206"/>
                <a:gd name="connsiteX12" fmla="*/ 121021 w 829861"/>
                <a:gd name="connsiteY12" fmla="*/ 363064 h 1006206"/>
                <a:gd name="connsiteX13" fmla="*/ 141768 w 829861"/>
                <a:gd name="connsiteY13" fmla="*/ 318114 h 1006206"/>
                <a:gd name="connsiteX14" fmla="*/ 76071 w 829861"/>
                <a:gd name="connsiteY14" fmla="*/ 224754 h 1006206"/>
                <a:gd name="connsiteX15" fmla="*/ 221296 w 829861"/>
                <a:gd name="connsiteY15" fmla="*/ 79528 h 1006206"/>
                <a:gd name="connsiteX16" fmla="*/ 314656 w 829861"/>
                <a:gd name="connsiteY16" fmla="*/ 141768 h 1006206"/>
                <a:gd name="connsiteX17" fmla="*/ 383811 w 829861"/>
                <a:gd name="connsiteY17" fmla="*/ 110648 h 1006206"/>
                <a:gd name="connsiteX18" fmla="*/ 401100 w 829861"/>
                <a:gd name="connsiteY18" fmla="*/ 0 h 1006206"/>
                <a:gd name="connsiteX19" fmla="*/ 629312 w 829861"/>
                <a:gd name="connsiteY19" fmla="*/ 0 h 1006206"/>
                <a:gd name="connsiteX20" fmla="*/ 643143 w 829861"/>
                <a:gd name="connsiteY20" fmla="*/ 103733 h 1006206"/>
                <a:gd name="connsiteX21" fmla="*/ 816030 w 829861"/>
                <a:gd name="connsiteY21" fmla="*/ 103733 h 1006206"/>
                <a:gd name="connsiteX22" fmla="*/ 816030 w 829861"/>
                <a:gd name="connsiteY22" fmla="*/ 138310 h 1006206"/>
                <a:gd name="connsiteX23" fmla="*/ 612023 w 829861"/>
                <a:gd name="connsiteY23" fmla="*/ 138310 h 1006206"/>
                <a:gd name="connsiteX24" fmla="*/ 598192 w 829861"/>
                <a:gd name="connsiteY24" fmla="*/ 34578 h 1006206"/>
                <a:gd name="connsiteX25" fmla="*/ 428762 w 829861"/>
                <a:gd name="connsiteY25" fmla="*/ 34578 h 1006206"/>
                <a:gd name="connsiteX26" fmla="*/ 414931 w 829861"/>
                <a:gd name="connsiteY26" fmla="*/ 138310 h 1006206"/>
                <a:gd name="connsiteX27" fmla="*/ 404557 w 829861"/>
                <a:gd name="connsiteY27" fmla="*/ 141768 h 1006206"/>
                <a:gd name="connsiteX28" fmla="*/ 325029 w 829861"/>
                <a:gd name="connsiteY28" fmla="*/ 176345 h 1006206"/>
                <a:gd name="connsiteX29" fmla="*/ 314656 w 829861"/>
                <a:gd name="connsiteY29" fmla="*/ 186719 h 1006206"/>
                <a:gd name="connsiteX30" fmla="*/ 228212 w 829861"/>
                <a:gd name="connsiteY30" fmla="*/ 127937 h 1006206"/>
                <a:gd name="connsiteX31" fmla="*/ 124479 w 829861"/>
                <a:gd name="connsiteY31" fmla="*/ 231670 h 1006206"/>
                <a:gd name="connsiteX32" fmla="*/ 183261 w 829861"/>
                <a:gd name="connsiteY32" fmla="*/ 318114 h 1006206"/>
                <a:gd name="connsiteX33" fmla="*/ 179803 w 829861"/>
                <a:gd name="connsiteY33" fmla="*/ 325029 h 1006206"/>
                <a:gd name="connsiteX34" fmla="*/ 155599 w 829861"/>
                <a:gd name="connsiteY34" fmla="*/ 380353 h 1006206"/>
                <a:gd name="connsiteX35" fmla="*/ 141768 w 829861"/>
                <a:gd name="connsiteY35" fmla="*/ 408015 h 1006206"/>
                <a:gd name="connsiteX36" fmla="*/ 138310 w 829861"/>
                <a:gd name="connsiteY36" fmla="*/ 414931 h 1006206"/>
                <a:gd name="connsiteX37" fmla="*/ 34578 w 829861"/>
                <a:gd name="connsiteY37" fmla="*/ 432219 h 1006206"/>
                <a:gd name="connsiteX38" fmla="*/ 34578 w 829861"/>
                <a:gd name="connsiteY38" fmla="*/ 577445 h 1006206"/>
                <a:gd name="connsiteX39" fmla="*/ 141768 w 829861"/>
                <a:gd name="connsiteY39" fmla="*/ 591276 h 1006206"/>
                <a:gd name="connsiteX40" fmla="*/ 145226 w 829861"/>
                <a:gd name="connsiteY40" fmla="*/ 601649 h 1006206"/>
                <a:gd name="connsiteX41" fmla="*/ 179803 w 829861"/>
                <a:gd name="connsiteY41" fmla="*/ 681178 h 1006206"/>
                <a:gd name="connsiteX42" fmla="*/ 186719 w 829861"/>
                <a:gd name="connsiteY42" fmla="*/ 691551 h 1006206"/>
                <a:gd name="connsiteX43" fmla="*/ 127937 w 829861"/>
                <a:gd name="connsiteY43" fmla="*/ 777995 h 1006206"/>
                <a:gd name="connsiteX44" fmla="*/ 231670 w 829861"/>
                <a:gd name="connsiteY44" fmla="*/ 881728 h 1006206"/>
                <a:gd name="connsiteX45" fmla="*/ 318113 w 829861"/>
                <a:gd name="connsiteY45" fmla="*/ 822946 h 1006206"/>
                <a:gd name="connsiteX46" fmla="*/ 328487 w 829861"/>
                <a:gd name="connsiteY46" fmla="*/ 826403 h 1006206"/>
                <a:gd name="connsiteX47" fmla="*/ 383811 w 829861"/>
                <a:gd name="connsiteY47" fmla="*/ 850608 h 1006206"/>
                <a:gd name="connsiteX48" fmla="*/ 411473 w 829861"/>
                <a:gd name="connsiteY48" fmla="*/ 864439 h 1006206"/>
                <a:gd name="connsiteX49" fmla="*/ 421846 w 829861"/>
                <a:gd name="connsiteY49" fmla="*/ 867896 h 1006206"/>
                <a:gd name="connsiteX50" fmla="*/ 435677 w 829861"/>
                <a:gd name="connsiteY50" fmla="*/ 971629 h 1006206"/>
                <a:gd name="connsiteX51" fmla="*/ 598192 w 829861"/>
                <a:gd name="connsiteY51" fmla="*/ 971629 h 1006206"/>
                <a:gd name="connsiteX52" fmla="*/ 615481 w 829861"/>
                <a:gd name="connsiteY52" fmla="*/ 871354 h 1006206"/>
                <a:gd name="connsiteX53" fmla="*/ 829862 w 829861"/>
                <a:gd name="connsiteY53" fmla="*/ 871354 h 1006206"/>
                <a:gd name="connsiteX54" fmla="*/ 829862 w 829861"/>
                <a:gd name="connsiteY54" fmla="*/ 905932 h 1006206"/>
                <a:gd name="connsiteX55" fmla="*/ 646600 w 829861"/>
                <a:gd name="connsiteY55" fmla="*/ 905932 h 1006206"/>
                <a:gd name="connsiteX56" fmla="*/ 622396 w 829861"/>
                <a:gd name="connsiteY56" fmla="*/ 1006207 h 1006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29861" h="1006206">
                  <a:moveTo>
                    <a:pt x="622396" y="1006207"/>
                  </a:moveTo>
                  <a:lnTo>
                    <a:pt x="401100" y="1006207"/>
                  </a:lnTo>
                  <a:lnTo>
                    <a:pt x="383811" y="892101"/>
                  </a:lnTo>
                  <a:cubicBezTo>
                    <a:pt x="376895" y="888643"/>
                    <a:pt x="369980" y="885185"/>
                    <a:pt x="363064" y="885185"/>
                  </a:cubicBezTo>
                  <a:cubicBezTo>
                    <a:pt x="345776" y="878270"/>
                    <a:pt x="331945" y="871354"/>
                    <a:pt x="314656" y="864439"/>
                  </a:cubicBezTo>
                  <a:lnTo>
                    <a:pt x="221296" y="930136"/>
                  </a:lnTo>
                  <a:lnTo>
                    <a:pt x="76071" y="784911"/>
                  </a:lnTo>
                  <a:lnTo>
                    <a:pt x="138310" y="691551"/>
                  </a:lnTo>
                  <a:cubicBezTo>
                    <a:pt x="124479" y="670805"/>
                    <a:pt x="117564" y="650058"/>
                    <a:pt x="107190" y="625854"/>
                  </a:cubicBezTo>
                  <a:lnTo>
                    <a:pt x="0" y="608565"/>
                  </a:lnTo>
                  <a:lnTo>
                    <a:pt x="0" y="404557"/>
                  </a:lnTo>
                  <a:lnTo>
                    <a:pt x="114106" y="383811"/>
                  </a:lnTo>
                  <a:cubicBezTo>
                    <a:pt x="117564" y="376895"/>
                    <a:pt x="121021" y="369980"/>
                    <a:pt x="121021" y="363064"/>
                  </a:cubicBezTo>
                  <a:cubicBezTo>
                    <a:pt x="127937" y="345775"/>
                    <a:pt x="134853" y="331944"/>
                    <a:pt x="141768" y="318114"/>
                  </a:cubicBezTo>
                  <a:lnTo>
                    <a:pt x="76071" y="224754"/>
                  </a:lnTo>
                  <a:lnTo>
                    <a:pt x="221296" y="79528"/>
                  </a:lnTo>
                  <a:lnTo>
                    <a:pt x="314656" y="141768"/>
                  </a:lnTo>
                  <a:cubicBezTo>
                    <a:pt x="335402" y="127937"/>
                    <a:pt x="356149" y="121021"/>
                    <a:pt x="383811" y="110648"/>
                  </a:cubicBezTo>
                  <a:lnTo>
                    <a:pt x="401100" y="0"/>
                  </a:lnTo>
                  <a:lnTo>
                    <a:pt x="629312" y="0"/>
                  </a:lnTo>
                  <a:lnTo>
                    <a:pt x="643143" y="103733"/>
                  </a:lnTo>
                  <a:lnTo>
                    <a:pt x="816030" y="103733"/>
                  </a:lnTo>
                  <a:lnTo>
                    <a:pt x="816030" y="138310"/>
                  </a:lnTo>
                  <a:lnTo>
                    <a:pt x="612023" y="138310"/>
                  </a:lnTo>
                  <a:lnTo>
                    <a:pt x="598192" y="34578"/>
                  </a:lnTo>
                  <a:lnTo>
                    <a:pt x="428762" y="34578"/>
                  </a:lnTo>
                  <a:lnTo>
                    <a:pt x="414931" y="138310"/>
                  </a:lnTo>
                  <a:lnTo>
                    <a:pt x="404557" y="141768"/>
                  </a:lnTo>
                  <a:cubicBezTo>
                    <a:pt x="373438" y="152141"/>
                    <a:pt x="352691" y="159057"/>
                    <a:pt x="325029" y="176345"/>
                  </a:cubicBezTo>
                  <a:lnTo>
                    <a:pt x="314656" y="186719"/>
                  </a:lnTo>
                  <a:lnTo>
                    <a:pt x="228212" y="127937"/>
                  </a:lnTo>
                  <a:lnTo>
                    <a:pt x="124479" y="231670"/>
                  </a:lnTo>
                  <a:lnTo>
                    <a:pt x="183261" y="318114"/>
                  </a:lnTo>
                  <a:lnTo>
                    <a:pt x="179803" y="325029"/>
                  </a:lnTo>
                  <a:cubicBezTo>
                    <a:pt x="172888" y="342318"/>
                    <a:pt x="162514" y="359607"/>
                    <a:pt x="155599" y="380353"/>
                  </a:cubicBezTo>
                  <a:cubicBezTo>
                    <a:pt x="152141" y="390726"/>
                    <a:pt x="148684" y="401100"/>
                    <a:pt x="141768" y="408015"/>
                  </a:cubicBezTo>
                  <a:lnTo>
                    <a:pt x="138310" y="414931"/>
                  </a:lnTo>
                  <a:lnTo>
                    <a:pt x="34578" y="432219"/>
                  </a:lnTo>
                  <a:lnTo>
                    <a:pt x="34578" y="577445"/>
                  </a:lnTo>
                  <a:lnTo>
                    <a:pt x="141768" y="591276"/>
                  </a:lnTo>
                  <a:lnTo>
                    <a:pt x="145226" y="601649"/>
                  </a:lnTo>
                  <a:cubicBezTo>
                    <a:pt x="155599" y="632769"/>
                    <a:pt x="162514" y="653516"/>
                    <a:pt x="179803" y="681178"/>
                  </a:cubicBezTo>
                  <a:lnTo>
                    <a:pt x="186719" y="691551"/>
                  </a:lnTo>
                  <a:lnTo>
                    <a:pt x="127937" y="777995"/>
                  </a:lnTo>
                  <a:lnTo>
                    <a:pt x="231670" y="881728"/>
                  </a:lnTo>
                  <a:lnTo>
                    <a:pt x="318113" y="822946"/>
                  </a:lnTo>
                  <a:lnTo>
                    <a:pt x="328487" y="826403"/>
                  </a:lnTo>
                  <a:cubicBezTo>
                    <a:pt x="345776" y="833319"/>
                    <a:pt x="363064" y="843692"/>
                    <a:pt x="383811" y="850608"/>
                  </a:cubicBezTo>
                  <a:cubicBezTo>
                    <a:pt x="394184" y="854066"/>
                    <a:pt x="404557" y="857523"/>
                    <a:pt x="411473" y="864439"/>
                  </a:cubicBezTo>
                  <a:lnTo>
                    <a:pt x="421846" y="867896"/>
                  </a:lnTo>
                  <a:lnTo>
                    <a:pt x="435677" y="971629"/>
                  </a:lnTo>
                  <a:lnTo>
                    <a:pt x="598192" y="971629"/>
                  </a:lnTo>
                  <a:lnTo>
                    <a:pt x="615481" y="871354"/>
                  </a:lnTo>
                  <a:lnTo>
                    <a:pt x="829862" y="871354"/>
                  </a:lnTo>
                  <a:lnTo>
                    <a:pt x="829862" y="905932"/>
                  </a:lnTo>
                  <a:lnTo>
                    <a:pt x="646600" y="905932"/>
                  </a:lnTo>
                  <a:lnTo>
                    <a:pt x="622396" y="1006207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37">
              <a:extLst>
                <a:ext uri="{FF2B5EF4-FFF2-40B4-BE49-F238E27FC236}">
                  <a16:creationId xmlns:a16="http://schemas.microsoft.com/office/drawing/2014/main" id="{1792A5B8-4D88-4ED3-9F35-C9FBB7678CD7}"/>
                </a:ext>
              </a:extLst>
            </p:cNvPr>
            <p:cNvSpPr/>
            <p:nvPr/>
          </p:nvSpPr>
          <p:spPr>
            <a:xfrm>
              <a:off x="6069434" y="3463939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38">
              <a:extLst>
                <a:ext uri="{FF2B5EF4-FFF2-40B4-BE49-F238E27FC236}">
                  <a16:creationId xmlns:a16="http://schemas.microsoft.com/office/drawing/2014/main" id="{F7CB20E6-C359-4474-BE7E-BE6BCF12AFA8}"/>
                </a:ext>
              </a:extLst>
            </p:cNvPr>
            <p:cNvSpPr/>
            <p:nvPr/>
          </p:nvSpPr>
          <p:spPr>
            <a:xfrm>
              <a:off x="5865427" y="3498517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39">
              <a:extLst>
                <a:ext uri="{FF2B5EF4-FFF2-40B4-BE49-F238E27FC236}">
                  <a16:creationId xmlns:a16="http://schemas.microsoft.com/office/drawing/2014/main" id="{CD57CC90-2674-4D37-BF61-F4D46963601A}"/>
                </a:ext>
              </a:extLst>
            </p:cNvPr>
            <p:cNvSpPr/>
            <p:nvPr/>
          </p:nvSpPr>
          <p:spPr>
            <a:xfrm>
              <a:off x="5989906" y="3014431"/>
              <a:ext cx="138310" cy="138310"/>
            </a:xfrm>
            <a:custGeom>
              <a:avLst/>
              <a:gdLst>
                <a:gd name="connsiteX0" fmla="*/ 138310 w 138310"/>
                <a:gd name="connsiteY0" fmla="*/ 138310 h 138310"/>
                <a:gd name="connsiteX1" fmla="*/ 0 w 138310"/>
                <a:gd name="connsiteY1" fmla="*/ 138310 h 138310"/>
                <a:gd name="connsiteX2" fmla="*/ 0 w 138310"/>
                <a:gd name="connsiteY2" fmla="*/ 0 h 138310"/>
                <a:gd name="connsiteX3" fmla="*/ 138310 w 138310"/>
                <a:gd name="connsiteY3" fmla="*/ 0 h 138310"/>
                <a:gd name="connsiteX4" fmla="*/ 138310 w 138310"/>
                <a:gd name="connsiteY4" fmla="*/ 138310 h 138310"/>
                <a:gd name="connsiteX5" fmla="*/ 38035 w 138310"/>
                <a:gd name="connsiteY5" fmla="*/ 103733 h 138310"/>
                <a:gd name="connsiteX6" fmla="*/ 107190 w 138310"/>
                <a:gd name="connsiteY6" fmla="*/ 103733 h 138310"/>
                <a:gd name="connsiteX7" fmla="*/ 107190 w 138310"/>
                <a:gd name="connsiteY7" fmla="*/ 34578 h 138310"/>
                <a:gd name="connsiteX8" fmla="*/ 38035 w 138310"/>
                <a:gd name="connsiteY8" fmla="*/ 34578 h 138310"/>
                <a:gd name="connsiteX9" fmla="*/ 38035 w 138310"/>
                <a:gd name="connsiteY9" fmla="*/ 103733 h 13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310" h="138310">
                  <a:moveTo>
                    <a:pt x="138310" y="138310"/>
                  </a:moveTo>
                  <a:lnTo>
                    <a:pt x="0" y="138310"/>
                  </a:lnTo>
                  <a:lnTo>
                    <a:pt x="0" y="0"/>
                  </a:lnTo>
                  <a:lnTo>
                    <a:pt x="138310" y="0"/>
                  </a:lnTo>
                  <a:lnTo>
                    <a:pt x="138310" y="138310"/>
                  </a:lnTo>
                  <a:close/>
                  <a:moveTo>
                    <a:pt x="38035" y="103733"/>
                  </a:moveTo>
                  <a:lnTo>
                    <a:pt x="107190" y="103733"/>
                  </a:lnTo>
                  <a:lnTo>
                    <a:pt x="107190" y="34578"/>
                  </a:lnTo>
                  <a:lnTo>
                    <a:pt x="38035" y="34578"/>
                  </a:lnTo>
                  <a:lnTo>
                    <a:pt x="38035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40">
              <a:extLst>
                <a:ext uri="{FF2B5EF4-FFF2-40B4-BE49-F238E27FC236}">
                  <a16:creationId xmlns:a16="http://schemas.microsoft.com/office/drawing/2014/main" id="{F54F3E6D-8FA2-4D8B-B948-CE9AD12F1C51}"/>
                </a:ext>
              </a:extLst>
            </p:cNvPr>
            <p:cNvSpPr/>
            <p:nvPr/>
          </p:nvSpPr>
          <p:spPr>
            <a:xfrm>
              <a:off x="5806645" y="3069755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5" name="Группа 376">
            <a:extLst>
              <a:ext uri="{FF2B5EF4-FFF2-40B4-BE49-F238E27FC236}">
                <a16:creationId xmlns:a16="http://schemas.microsoft.com/office/drawing/2014/main" id="{0A11230B-60AD-44D4-9FEA-541129BFB406}"/>
              </a:ext>
            </a:extLst>
          </p:cNvPr>
          <p:cNvGrpSpPr>
            <a:grpSpLocks noChangeAspect="1"/>
          </p:cNvGrpSpPr>
          <p:nvPr/>
        </p:nvGrpSpPr>
        <p:grpSpPr>
          <a:xfrm>
            <a:off x="3828085" y="4445834"/>
            <a:ext cx="313492" cy="320105"/>
            <a:chOff x="4865688" y="853264"/>
            <a:chExt cx="752476" cy="768350"/>
          </a:xfrm>
          <a:solidFill>
            <a:srgbClr val="FFFFFF"/>
          </a:solidFill>
        </p:grpSpPr>
        <p:sp>
          <p:nvSpPr>
            <p:cNvPr id="206" name="Rectangle 99">
              <a:extLst>
                <a:ext uri="{FF2B5EF4-FFF2-40B4-BE49-F238E27FC236}">
                  <a16:creationId xmlns:a16="http://schemas.microsoft.com/office/drawing/2014/main" id="{4084AAAD-64FD-4403-AD98-6B4295273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601" y="99137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7" name="Freeform 100">
              <a:extLst>
                <a:ext uri="{FF2B5EF4-FFF2-40B4-BE49-F238E27FC236}">
                  <a16:creationId xmlns:a16="http://schemas.microsoft.com/office/drawing/2014/main" id="{63C31679-5323-4E22-8672-D1E3434B0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85326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30 w 42"/>
                <a:gd name="T3" fmla="*/ 42 h 42"/>
                <a:gd name="T4" fmla="*/ 30 w 42"/>
                <a:gd name="T5" fmla="*/ 38 h 42"/>
                <a:gd name="T6" fmla="*/ 38 w 42"/>
                <a:gd name="T7" fmla="*/ 38 h 42"/>
                <a:gd name="T8" fmla="*/ 38 w 42"/>
                <a:gd name="T9" fmla="*/ 4 h 42"/>
                <a:gd name="T10" fmla="*/ 4 w 42"/>
                <a:gd name="T11" fmla="*/ 4 h 42"/>
                <a:gd name="T12" fmla="*/ 4 w 42"/>
                <a:gd name="T13" fmla="*/ 15 h 42"/>
                <a:gd name="T14" fmla="*/ 0 w 42"/>
                <a:gd name="T15" fmla="*/ 15 h 42"/>
                <a:gd name="T16" fmla="*/ 0 w 42"/>
                <a:gd name="T17" fmla="*/ 2 h 42"/>
                <a:gd name="T18" fmla="*/ 2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8" name="Freeform 101">
              <a:extLst>
                <a:ext uri="{FF2B5EF4-FFF2-40B4-BE49-F238E27FC236}">
                  <a16:creationId xmlns:a16="http://schemas.microsoft.com/office/drawing/2014/main" id="{D0DBA3C4-6A1A-4FA1-B369-4075F66B7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042176"/>
              <a:ext cx="107950" cy="115887"/>
            </a:xfrm>
            <a:custGeom>
              <a:avLst/>
              <a:gdLst>
                <a:gd name="T0" fmla="*/ 15 w 15"/>
                <a:gd name="T1" fmla="*/ 16 h 16"/>
                <a:gd name="T2" fmla="*/ 2 w 15"/>
                <a:gd name="T3" fmla="*/ 16 h 16"/>
                <a:gd name="T4" fmla="*/ 0 w 15"/>
                <a:gd name="T5" fmla="*/ 14 h 16"/>
                <a:gd name="T6" fmla="*/ 0 w 15"/>
                <a:gd name="T7" fmla="*/ 0 h 16"/>
                <a:gd name="T8" fmla="*/ 4 w 15"/>
                <a:gd name="T9" fmla="*/ 0 h 16"/>
                <a:gd name="T10" fmla="*/ 4 w 15"/>
                <a:gd name="T11" fmla="*/ 12 h 16"/>
                <a:gd name="T12" fmla="*/ 15 w 15"/>
                <a:gd name="T13" fmla="*/ 12 h 16"/>
                <a:gd name="T14" fmla="*/ 15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15" y="16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5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5" y="12"/>
                    <a:pt x="15" y="12"/>
                    <a:pt x="15" y="12"/>
                  </a:cubicBezTo>
                  <a:lnTo>
                    <a:pt x="1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9" name="Freeform 102">
              <a:extLst>
                <a:ext uri="{FF2B5EF4-FFF2-40B4-BE49-F238E27FC236}">
                  <a16:creationId xmlns:a16="http://schemas.microsoft.com/office/drawing/2014/main" id="{30FA1854-4A64-4573-8910-1D112EE4F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853264"/>
              <a:ext cx="303213" cy="304800"/>
            </a:xfrm>
            <a:custGeom>
              <a:avLst/>
              <a:gdLst>
                <a:gd name="T0" fmla="*/ 14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40 w 42"/>
                <a:gd name="T11" fmla="*/ 0 h 42"/>
                <a:gd name="T12" fmla="*/ 42 w 42"/>
                <a:gd name="T13" fmla="*/ 2 h 42"/>
                <a:gd name="T14" fmla="*/ 42 w 42"/>
                <a:gd name="T15" fmla="*/ 12 h 42"/>
                <a:gd name="T16" fmla="*/ 38 w 42"/>
                <a:gd name="T17" fmla="*/ 12 h 42"/>
                <a:gd name="T18" fmla="*/ 38 w 42"/>
                <a:gd name="T19" fmla="*/ 4 h 42"/>
                <a:gd name="T20" fmla="*/ 4 w 42"/>
                <a:gd name="T21" fmla="*/ 4 h 42"/>
                <a:gd name="T22" fmla="*/ 4 w 42"/>
                <a:gd name="T23" fmla="*/ 38 h 42"/>
                <a:gd name="T24" fmla="*/ 14 w 42"/>
                <a:gd name="T25" fmla="*/ 38 h 42"/>
                <a:gd name="T26" fmla="*/ 14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14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4" y="38"/>
                    <a:pt x="14" y="38"/>
                    <a:pt x="14" y="38"/>
                  </a:cubicBezTo>
                  <a:lnTo>
                    <a:pt x="14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0" name="Freeform 103">
              <a:extLst>
                <a:ext uri="{FF2B5EF4-FFF2-40B4-BE49-F238E27FC236}">
                  <a16:creationId xmlns:a16="http://schemas.microsoft.com/office/drawing/2014/main" id="{77F42B7C-F9EE-4B07-AB46-EE53620E9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1" y="1048526"/>
              <a:ext cx="114300" cy="109537"/>
            </a:xfrm>
            <a:custGeom>
              <a:avLst/>
              <a:gdLst>
                <a:gd name="T0" fmla="*/ 14 w 16"/>
                <a:gd name="T1" fmla="*/ 15 h 15"/>
                <a:gd name="T2" fmla="*/ 0 w 16"/>
                <a:gd name="T3" fmla="*/ 15 h 15"/>
                <a:gd name="T4" fmla="*/ 0 w 16"/>
                <a:gd name="T5" fmla="*/ 11 h 15"/>
                <a:gd name="T6" fmla="*/ 12 w 16"/>
                <a:gd name="T7" fmla="*/ 11 h 15"/>
                <a:gd name="T8" fmla="*/ 12 w 16"/>
                <a:gd name="T9" fmla="*/ 0 h 15"/>
                <a:gd name="T10" fmla="*/ 16 w 16"/>
                <a:gd name="T11" fmla="*/ 0 h 15"/>
                <a:gd name="T12" fmla="*/ 16 w 16"/>
                <a:gd name="T13" fmla="*/ 13 h 15"/>
                <a:gd name="T14" fmla="*/ 14 w 16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14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4"/>
                    <a:pt x="15" y="15"/>
                    <a:pt x="1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1" name="Rectangle 104">
              <a:extLst>
                <a:ext uri="{FF2B5EF4-FFF2-40B4-BE49-F238E27FC236}">
                  <a16:creationId xmlns:a16="http://schemas.microsoft.com/office/drawing/2014/main" id="{91A15C27-BD00-4F29-9CC7-428FFD3BE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476" y="1048526"/>
              <a:ext cx="30163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2" name="Rectangle 105">
              <a:extLst>
                <a:ext uri="{FF2B5EF4-FFF2-40B4-BE49-F238E27FC236}">
                  <a16:creationId xmlns:a16="http://schemas.microsoft.com/office/drawing/2014/main" id="{D6E572FD-185F-4A0A-A81B-B5C7372E5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688" y="145492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" name="Rectangle 106">
              <a:extLst>
                <a:ext uri="{FF2B5EF4-FFF2-40B4-BE49-F238E27FC236}">
                  <a16:creationId xmlns:a16="http://schemas.microsoft.com/office/drawing/2014/main" id="{9BFDE006-0B99-436F-88CF-B4364721F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1" y="1113614"/>
              <a:ext cx="28575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" name="Rectangle 107">
              <a:extLst>
                <a:ext uri="{FF2B5EF4-FFF2-40B4-BE49-F238E27FC236}">
                  <a16:creationId xmlns:a16="http://schemas.microsoft.com/office/drawing/2014/main" id="{6C5CE334-C128-4B17-8C7C-7697D07AC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" name="Rectangle 108">
              <a:extLst>
                <a:ext uri="{FF2B5EF4-FFF2-40B4-BE49-F238E27FC236}">
                  <a16:creationId xmlns:a16="http://schemas.microsoft.com/office/drawing/2014/main" id="{4F207E4E-F47C-401F-89CE-1536D2DE2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" name="Rectangle 109">
              <a:extLst>
                <a:ext uri="{FF2B5EF4-FFF2-40B4-BE49-F238E27FC236}">
                  <a16:creationId xmlns:a16="http://schemas.microsoft.com/office/drawing/2014/main" id="{1E2F8A49-BDB0-44A2-B2F1-1A71019D4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" name="Rectangle 110">
              <a:extLst>
                <a:ext uri="{FF2B5EF4-FFF2-40B4-BE49-F238E27FC236}">
                  <a16:creationId xmlns:a16="http://schemas.microsoft.com/office/drawing/2014/main" id="{DF9FE51D-DF21-46BF-919D-24DA355F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8" name="Freeform 111">
              <a:extLst>
                <a:ext uri="{FF2B5EF4-FFF2-40B4-BE49-F238E27FC236}">
                  <a16:creationId xmlns:a16="http://schemas.microsoft.com/office/drawing/2014/main" id="{8EEA82E4-9009-49A5-BD4C-A3656602B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12 w 42"/>
                <a:gd name="T11" fmla="*/ 0 h 42"/>
                <a:gd name="T12" fmla="*/ 12 w 42"/>
                <a:gd name="T13" fmla="*/ 4 h 42"/>
                <a:gd name="T14" fmla="*/ 4 w 42"/>
                <a:gd name="T15" fmla="*/ 4 h 42"/>
                <a:gd name="T16" fmla="*/ 4 w 42"/>
                <a:gd name="T17" fmla="*/ 38 h 42"/>
                <a:gd name="T18" fmla="*/ 38 w 42"/>
                <a:gd name="T19" fmla="*/ 38 h 42"/>
                <a:gd name="T20" fmla="*/ 38 w 42"/>
                <a:gd name="T21" fmla="*/ 27 h 42"/>
                <a:gd name="T22" fmla="*/ 42 w 42"/>
                <a:gd name="T23" fmla="*/ 27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9" name="Freeform 112">
              <a:extLst>
                <a:ext uri="{FF2B5EF4-FFF2-40B4-BE49-F238E27FC236}">
                  <a16:creationId xmlns:a16="http://schemas.microsoft.com/office/drawing/2014/main" id="{39D648C4-9709-4C44-BD51-FDDB7F40E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951" y="1316814"/>
              <a:ext cx="107950" cy="109537"/>
            </a:xfrm>
            <a:custGeom>
              <a:avLst/>
              <a:gdLst>
                <a:gd name="T0" fmla="*/ 15 w 15"/>
                <a:gd name="T1" fmla="*/ 15 h 15"/>
                <a:gd name="T2" fmla="*/ 11 w 15"/>
                <a:gd name="T3" fmla="*/ 15 h 15"/>
                <a:gd name="T4" fmla="*/ 11 w 15"/>
                <a:gd name="T5" fmla="*/ 4 h 15"/>
                <a:gd name="T6" fmla="*/ 0 w 15"/>
                <a:gd name="T7" fmla="*/ 4 h 15"/>
                <a:gd name="T8" fmla="*/ 0 w 15"/>
                <a:gd name="T9" fmla="*/ 0 h 15"/>
                <a:gd name="T10" fmla="*/ 13 w 15"/>
                <a:gd name="T11" fmla="*/ 0 h 15"/>
                <a:gd name="T12" fmla="*/ 15 w 15"/>
                <a:gd name="T13" fmla="*/ 2 h 15"/>
                <a:gd name="T14" fmla="*/ 15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15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5" y="1"/>
                    <a:pt x="15" y="2"/>
                  </a:cubicBezTo>
                  <a:lnTo>
                    <a:pt x="15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0" name="Freeform 113">
              <a:extLst>
                <a:ext uri="{FF2B5EF4-FFF2-40B4-BE49-F238E27FC236}">
                  <a16:creationId xmlns:a16="http://schemas.microsoft.com/office/drawing/2014/main" id="{90E165CF-C730-42D1-8583-A84DC5F73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9 h 42"/>
                <a:gd name="T8" fmla="*/ 4 w 42"/>
                <a:gd name="T9" fmla="*/ 29 h 42"/>
                <a:gd name="T10" fmla="*/ 4 w 42"/>
                <a:gd name="T11" fmla="*/ 38 h 42"/>
                <a:gd name="T12" fmla="*/ 38 w 42"/>
                <a:gd name="T13" fmla="*/ 38 h 42"/>
                <a:gd name="T14" fmla="*/ 38 w 42"/>
                <a:gd name="T15" fmla="*/ 4 h 42"/>
                <a:gd name="T16" fmla="*/ 28 w 42"/>
                <a:gd name="T17" fmla="*/ 4 h 42"/>
                <a:gd name="T18" fmla="*/ 28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1" name="Freeform 114">
              <a:extLst>
                <a:ext uri="{FF2B5EF4-FFF2-40B4-BE49-F238E27FC236}">
                  <a16:creationId xmlns:a16="http://schemas.microsoft.com/office/drawing/2014/main" id="{D1D370E8-A1FE-4E81-A818-243E98B24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115888" cy="101600"/>
            </a:xfrm>
            <a:custGeom>
              <a:avLst/>
              <a:gdLst>
                <a:gd name="T0" fmla="*/ 4 w 16"/>
                <a:gd name="T1" fmla="*/ 14 h 14"/>
                <a:gd name="T2" fmla="*/ 0 w 16"/>
                <a:gd name="T3" fmla="*/ 14 h 14"/>
                <a:gd name="T4" fmla="*/ 0 w 16"/>
                <a:gd name="T5" fmla="*/ 2 h 14"/>
                <a:gd name="T6" fmla="*/ 2 w 16"/>
                <a:gd name="T7" fmla="*/ 0 h 14"/>
                <a:gd name="T8" fmla="*/ 16 w 16"/>
                <a:gd name="T9" fmla="*/ 0 h 14"/>
                <a:gd name="T10" fmla="*/ 16 w 16"/>
                <a:gd name="T11" fmla="*/ 4 h 14"/>
                <a:gd name="T12" fmla="*/ 4 w 16"/>
                <a:gd name="T13" fmla="*/ 4 h 14"/>
                <a:gd name="T14" fmla="*/ 4 w 16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4">
                  <a:moveTo>
                    <a:pt x="4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22" name="Группа 219">
            <a:extLst>
              <a:ext uri="{FF2B5EF4-FFF2-40B4-BE49-F238E27FC236}">
                <a16:creationId xmlns:a16="http://schemas.microsoft.com/office/drawing/2014/main" id="{78C0DC74-2BBB-4D12-BA06-7F235D432064}"/>
              </a:ext>
            </a:extLst>
          </p:cNvPr>
          <p:cNvGrpSpPr>
            <a:grpSpLocks noChangeAspect="1"/>
          </p:cNvGrpSpPr>
          <p:nvPr/>
        </p:nvGrpSpPr>
        <p:grpSpPr>
          <a:xfrm>
            <a:off x="3882553" y="5132959"/>
            <a:ext cx="189261" cy="349912"/>
            <a:chOff x="1615585" y="4703060"/>
            <a:chExt cx="470254" cy="869423"/>
          </a:xfrm>
          <a:solidFill>
            <a:srgbClr val="FFFFFF"/>
          </a:solidFill>
        </p:grpSpPr>
        <p:sp>
          <p:nvSpPr>
            <p:cNvPr id="223" name="Полилиния: фигура 92">
              <a:extLst>
                <a:ext uri="{FF2B5EF4-FFF2-40B4-BE49-F238E27FC236}">
                  <a16:creationId xmlns:a16="http://schemas.microsoft.com/office/drawing/2014/main" id="{D2C100BB-3F14-4B32-A868-DE5465CC2A60}"/>
                </a:ext>
              </a:extLst>
            </p:cNvPr>
            <p:cNvSpPr/>
            <p:nvPr/>
          </p:nvSpPr>
          <p:spPr>
            <a:xfrm>
              <a:off x="1615585" y="4703060"/>
              <a:ext cx="470254" cy="869423"/>
            </a:xfrm>
            <a:custGeom>
              <a:avLst/>
              <a:gdLst>
                <a:gd name="connsiteX0" fmla="*/ 456584 w 470254"/>
                <a:gd name="connsiteY0" fmla="*/ 869423 h 869423"/>
                <a:gd name="connsiteX1" fmla="*/ 13670 w 470254"/>
                <a:gd name="connsiteY1" fmla="*/ 869423 h 869423"/>
                <a:gd name="connsiteX2" fmla="*/ 0 w 470254"/>
                <a:gd name="connsiteY2" fmla="*/ 855753 h 869423"/>
                <a:gd name="connsiteX3" fmla="*/ 0 w 470254"/>
                <a:gd name="connsiteY3" fmla="*/ 13670 h 869423"/>
                <a:gd name="connsiteX4" fmla="*/ 13670 w 470254"/>
                <a:gd name="connsiteY4" fmla="*/ 0 h 869423"/>
                <a:gd name="connsiteX5" fmla="*/ 456584 w 470254"/>
                <a:gd name="connsiteY5" fmla="*/ 0 h 869423"/>
                <a:gd name="connsiteX6" fmla="*/ 470254 w 470254"/>
                <a:gd name="connsiteY6" fmla="*/ 13670 h 869423"/>
                <a:gd name="connsiteX7" fmla="*/ 470254 w 470254"/>
                <a:gd name="connsiteY7" fmla="*/ 194116 h 869423"/>
                <a:gd name="connsiteX8" fmla="*/ 442914 w 470254"/>
                <a:gd name="connsiteY8" fmla="*/ 194116 h 869423"/>
                <a:gd name="connsiteX9" fmla="*/ 442914 w 470254"/>
                <a:gd name="connsiteY9" fmla="*/ 27340 h 869423"/>
                <a:gd name="connsiteX10" fmla="*/ 27340 w 470254"/>
                <a:gd name="connsiteY10" fmla="*/ 27340 h 869423"/>
                <a:gd name="connsiteX11" fmla="*/ 27340 w 470254"/>
                <a:gd name="connsiteY11" fmla="*/ 842083 h 869423"/>
                <a:gd name="connsiteX12" fmla="*/ 442914 w 470254"/>
                <a:gd name="connsiteY12" fmla="*/ 842083 h 869423"/>
                <a:gd name="connsiteX13" fmla="*/ 442914 w 470254"/>
                <a:gd name="connsiteY13" fmla="*/ 617892 h 869423"/>
                <a:gd name="connsiteX14" fmla="*/ 470254 w 470254"/>
                <a:gd name="connsiteY14" fmla="*/ 617892 h 869423"/>
                <a:gd name="connsiteX15" fmla="*/ 470254 w 470254"/>
                <a:gd name="connsiteY15" fmla="*/ 855753 h 869423"/>
                <a:gd name="connsiteX16" fmla="*/ 456584 w 470254"/>
                <a:gd name="connsiteY16" fmla="*/ 869423 h 86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254" h="869423">
                  <a:moveTo>
                    <a:pt x="456584" y="869423"/>
                  </a:moveTo>
                  <a:lnTo>
                    <a:pt x="13670" y="869423"/>
                  </a:lnTo>
                  <a:cubicBezTo>
                    <a:pt x="5468" y="869423"/>
                    <a:pt x="0" y="863955"/>
                    <a:pt x="0" y="8557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456584" y="0"/>
                  </a:lnTo>
                  <a:cubicBezTo>
                    <a:pt x="464786" y="0"/>
                    <a:pt x="470254" y="5468"/>
                    <a:pt x="470254" y="13670"/>
                  </a:cubicBezTo>
                  <a:lnTo>
                    <a:pt x="470254" y="194116"/>
                  </a:lnTo>
                  <a:lnTo>
                    <a:pt x="442914" y="194116"/>
                  </a:lnTo>
                  <a:lnTo>
                    <a:pt x="442914" y="27340"/>
                  </a:lnTo>
                  <a:lnTo>
                    <a:pt x="27340" y="27340"/>
                  </a:lnTo>
                  <a:lnTo>
                    <a:pt x="27340" y="842083"/>
                  </a:lnTo>
                  <a:lnTo>
                    <a:pt x="442914" y="842083"/>
                  </a:lnTo>
                  <a:lnTo>
                    <a:pt x="442914" y="617892"/>
                  </a:lnTo>
                  <a:lnTo>
                    <a:pt x="470254" y="617892"/>
                  </a:lnTo>
                  <a:lnTo>
                    <a:pt x="470254" y="855753"/>
                  </a:lnTo>
                  <a:cubicBezTo>
                    <a:pt x="470254" y="861221"/>
                    <a:pt x="464786" y="869423"/>
                    <a:pt x="456584" y="86942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4" name="Полилиния: фигура 93">
              <a:extLst>
                <a:ext uri="{FF2B5EF4-FFF2-40B4-BE49-F238E27FC236}">
                  <a16:creationId xmlns:a16="http://schemas.microsoft.com/office/drawing/2014/main" id="{A6330D39-DB29-4C1F-94A5-E40FACE27696}"/>
                </a:ext>
              </a:extLst>
            </p:cNvPr>
            <p:cNvSpPr/>
            <p:nvPr/>
          </p:nvSpPr>
          <p:spPr>
            <a:xfrm>
              <a:off x="1815170" y="5416643"/>
              <a:ext cx="84755" cy="82021"/>
            </a:xfrm>
            <a:custGeom>
              <a:avLst/>
              <a:gdLst>
                <a:gd name="connsiteX0" fmla="*/ 0 w 84755"/>
                <a:gd name="connsiteY0" fmla="*/ 0 h 82021"/>
                <a:gd name="connsiteX1" fmla="*/ 84755 w 84755"/>
                <a:gd name="connsiteY1" fmla="*/ 0 h 82021"/>
                <a:gd name="connsiteX2" fmla="*/ 84755 w 84755"/>
                <a:gd name="connsiteY2" fmla="*/ 82021 h 82021"/>
                <a:gd name="connsiteX3" fmla="*/ 0 w 84755"/>
                <a:gd name="connsiteY3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5" h="82021">
                  <a:moveTo>
                    <a:pt x="0" y="0"/>
                  </a:moveTo>
                  <a:lnTo>
                    <a:pt x="84755" y="0"/>
                  </a:lnTo>
                  <a:lnTo>
                    <a:pt x="84755" y="82021"/>
                  </a:lnTo>
                  <a:lnTo>
                    <a:pt x="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25" name="Рисунок 18">
              <a:extLst>
                <a:ext uri="{FF2B5EF4-FFF2-40B4-BE49-F238E27FC236}">
                  <a16:creationId xmlns:a16="http://schemas.microsoft.com/office/drawing/2014/main" id="{4435D64A-AF8A-4D82-B4FD-B3E7A4EDDFE0}"/>
                </a:ext>
              </a:extLst>
            </p:cNvPr>
            <p:cNvGrpSpPr/>
            <p:nvPr/>
          </p:nvGrpSpPr>
          <p:grpSpPr>
            <a:xfrm>
              <a:off x="1741351" y="4815155"/>
              <a:ext cx="341754" cy="582349"/>
              <a:chOff x="1741351" y="4815155"/>
              <a:chExt cx="341754" cy="582349"/>
            </a:xfrm>
            <a:grpFill/>
          </p:grpSpPr>
          <p:sp>
            <p:nvSpPr>
              <p:cNvPr id="226" name="Полилиния: фигура 95">
                <a:extLst>
                  <a:ext uri="{FF2B5EF4-FFF2-40B4-BE49-F238E27FC236}">
                    <a16:creationId xmlns:a16="http://schemas.microsoft.com/office/drawing/2014/main" id="{907B6AD2-C72D-4DDE-84E0-343F61141532}"/>
                  </a:ext>
                </a:extLst>
              </p:cNvPr>
              <p:cNvSpPr/>
              <p:nvPr/>
            </p:nvSpPr>
            <p:spPr>
              <a:xfrm>
                <a:off x="1741351" y="4815155"/>
                <a:ext cx="341754" cy="582349"/>
              </a:xfrm>
              <a:custGeom>
                <a:avLst/>
                <a:gdLst>
                  <a:gd name="connsiteX0" fmla="*/ 339020 w 341754"/>
                  <a:gd name="connsiteY0" fmla="*/ 582350 h 582349"/>
                  <a:gd name="connsiteX1" fmla="*/ 240595 w 341754"/>
                  <a:gd name="connsiteY1" fmla="*/ 582350 h 582349"/>
                  <a:gd name="connsiteX2" fmla="*/ 226925 w 341754"/>
                  <a:gd name="connsiteY2" fmla="*/ 571414 h 582349"/>
                  <a:gd name="connsiteX3" fmla="*/ 218723 w 341754"/>
                  <a:gd name="connsiteY3" fmla="*/ 516733 h 582349"/>
                  <a:gd name="connsiteX4" fmla="*/ 210521 w 341754"/>
                  <a:gd name="connsiteY4" fmla="*/ 513999 h 582349"/>
                  <a:gd name="connsiteX5" fmla="*/ 185914 w 341754"/>
                  <a:gd name="connsiteY5" fmla="*/ 503063 h 582349"/>
                  <a:gd name="connsiteX6" fmla="*/ 142170 w 341754"/>
                  <a:gd name="connsiteY6" fmla="*/ 533137 h 582349"/>
                  <a:gd name="connsiteX7" fmla="*/ 125766 w 341754"/>
                  <a:gd name="connsiteY7" fmla="*/ 530403 h 582349"/>
                  <a:gd name="connsiteX8" fmla="*/ 54681 w 341754"/>
                  <a:gd name="connsiteY8" fmla="*/ 459318 h 582349"/>
                  <a:gd name="connsiteX9" fmla="*/ 51947 w 341754"/>
                  <a:gd name="connsiteY9" fmla="*/ 442914 h 582349"/>
                  <a:gd name="connsiteX10" fmla="*/ 82021 w 341754"/>
                  <a:gd name="connsiteY10" fmla="*/ 399169 h 582349"/>
                  <a:gd name="connsiteX11" fmla="*/ 65617 w 341754"/>
                  <a:gd name="connsiteY11" fmla="*/ 363627 h 582349"/>
                  <a:gd name="connsiteX12" fmla="*/ 10936 w 341754"/>
                  <a:gd name="connsiteY12" fmla="*/ 355425 h 582349"/>
                  <a:gd name="connsiteX13" fmla="*/ 0 w 341754"/>
                  <a:gd name="connsiteY13" fmla="*/ 341754 h 582349"/>
                  <a:gd name="connsiteX14" fmla="*/ 0 w 341754"/>
                  <a:gd name="connsiteY14" fmla="*/ 240595 h 582349"/>
                  <a:gd name="connsiteX15" fmla="*/ 10936 w 341754"/>
                  <a:gd name="connsiteY15" fmla="*/ 226925 h 582349"/>
                  <a:gd name="connsiteX16" fmla="*/ 65617 w 341754"/>
                  <a:gd name="connsiteY16" fmla="*/ 218723 h 582349"/>
                  <a:gd name="connsiteX17" fmla="*/ 68351 w 341754"/>
                  <a:gd name="connsiteY17" fmla="*/ 210521 h 582349"/>
                  <a:gd name="connsiteX18" fmla="*/ 79287 w 341754"/>
                  <a:gd name="connsiteY18" fmla="*/ 185914 h 582349"/>
                  <a:gd name="connsiteX19" fmla="*/ 49213 w 341754"/>
                  <a:gd name="connsiteY19" fmla="*/ 142170 h 582349"/>
                  <a:gd name="connsiteX20" fmla="*/ 51947 w 341754"/>
                  <a:gd name="connsiteY20" fmla="*/ 125766 h 582349"/>
                  <a:gd name="connsiteX21" fmla="*/ 123032 w 341754"/>
                  <a:gd name="connsiteY21" fmla="*/ 54681 h 582349"/>
                  <a:gd name="connsiteX22" fmla="*/ 139436 w 341754"/>
                  <a:gd name="connsiteY22" fmla="*/ 51947 h 582349"/>
                  <a:gd name="connsiteX23" fmla="*/ 183180 w 341754"/>
                  <a:gd name="connsiteY23" fmla="*/ 82021 h 582349"/>
                  <a:gd name="connsiteX24" fmla="*/ 218723 w 341754"/>
                  <a:gd name="connsiteY24" fmla="*/ 65617 h 582349"/>
                  <a:gd name="connsiteX25" fmla="*/ 226925 w 341754"/>
                  <a:gd name="connsiteY25" fmla="*/ 10936 h 582349"/>
                  <a:gd name="connsiteX26" fmla="*/ 240595 w 341754"/>
                  <a:gd name="connsiteY26" fmla="*/ 0 h 582349"/>
                  <a:gd name="connsiteX27" fmla="*/ 341754 w 341754"/>
                  <a:gd name="connsiteY27" fmla="*/ 0 h 582349"/>
                  <a:gd name="connsiteX28" fmla="*/ 341754 w 341754"/>
                  <a:gd name="connsiteY28" fmla="*/ 27340 h 582349"/>
                  <a:gd name="connsiteX29" fmla="*/ 254265 w 341754"/>
                  <a:gd name="connsiteY29" fmla="*/ 27340 h 582349"/>
                  <a:gd name="connsiteX30" fmla="*/ 246063 w 341754"/>
                  <a:gd name="connsiteY30" fmla="*/ 76553 h 582349"/>
                  <a:gd name="connsiteX31" fmla="*/ 235127 w 341754"/>
                  <a:gd name="connsiteY31" fmla="*/ 87489 h 582349"/>
                  <a:gd name="connsiteX32" fmla="*/ 191382 w 341754"/>
                  <a:gd name="connsiteY32" fmla="*/ 106628 h 582349"/>
                  <a:gd name="connsiteX33" fmla="*/ 174978 w 341754"/>
                  <a:gd name="connsiteY33" fmla="*/ 106628 h 582349"/>
                  <a:gd name="connsiteX34" fmla="*/ 133968 w 341754"/>
                  <a:gd name="connsiteY34" fmla="*/ 76553 h 582349"/>
                  <a:gd name="connsiteX35" fmla="*/ 79287 w 341754"/>
                  <a:gd name="connsiteY35" fmla="*/ 131234 h 582349"/>
                  <a:gd name="connsiteX36" fmla="*/ 109361 w 341754"/>
                  <a:gd name="connsiteY36" fmla="*/ 172244 h 582349"/>
                  <a:gd name="connsiteX37" fmla="*/ 109361 w 341754"/>
                  <a:gd name="connsiteY37" fmla="*/ 185914 h 582349"/>
                  <a:gd name="connsiteX38" fmla="*/ 95691 w 341754"/>
                  <a:gd name="connsiteY38" fmla="*/ 215989 h 582349"/>
                  <a:gd name="connsiteX39" fmla="*/ 87489 w 341754"/>
                  <a:gd name="connsiteY39" fmla="*/ 232393 h 582349"/>
                  <a:gd name="connsiteX40" fmla="*/ 76553 w 341754"/>
                  <a:gd name="connsiteY40" fmla="*/ 240595 h 582349"/>
                  <a:gd name="connsiteX41" fmla="*/ 24606 w 341754"/>
                  <a:gd name="connsiteY41" fmla="*/ 248797 h 582349"/>
                  <a:gd name="connsiteX42" fmla="*/ 24606 w 341754"/>
                  <a:gd name="connsiteY42" fmla="*/ 325350 h 582349"/>
                  <a:gd name="connsiteX43" fmla="*/ 76553 w 341754"/>
                  <a:gd name="connsiteY43" fmla="*/ 333552 h 582349"/>
                  <a:gd name="connsiteX44" fmla="*/ 87489 w 341754"/>
                  <a:gd name="connsiteY44" fmla="*/ 344489 h 582349"/>
                  <a:gd name="connsiteX45" fmla="*/ 106627 w 341754"/>
                  <a:gd name="connsiteY45" fmla="*/ 388233 h 582349"/>
                  <a:gd name="connsiteX46" fmla="*/ 106627 w 341754"/>
                  <a:gd name="connsiteY46" fmla="*/ 404637 h 582349"/>
                  <a:gd name="connsiteX47" fmla="*/ 76553 w 341754"/>
                  <a:gd name="connsiteY47" fmla="*/ 445648 h 582349"/>
                  <a:gd name="connsiteX48" fmla="*/ 131234 w 341754"/>
                  <a:gd name="connsiteY48" fmla="*/ 500329 h 582349"/>
                  <a:gd name="connsiteX49" fmla="*/ 172244 w 341754"/>
                  <a:gd name="connsiteY49" fmla="*/ 470254 h 582349"/>
                  <a:gd name="connsiteX50" fmla="*/ 185914 w 341754"/>
                  <a:gd name="connsiteY50" fmla="*/ 470254 h 582349"/>
                  <a:gd name="connsiteX51" fmla="*/ 215989 w 341754"/>
                  <a:gd name="connsiteY51" fmla="*/ 483924 h 582349"/>
                  <a:gd name="connsiteX52" fmla="*/ 232393 w 341754"/>
                  <a:gd name="connsiteY52" fmla="*/ 492126 h 582349"/>
                  <a:gd name="connsiteX53" fmla="*/ 240595 w 341754"/>
                  <a:gd name="connsiteY53" fmla="*/ 503063 h 582349"/>
                  <a:gd name="connsiteX54" fmla="*/ 248797 w 341754"/>
                  <a:gd name="connsiteY54" fmla="*/ 552275 h 582349"/>
                  <a:gd name="connsiteX55" fmla="*/ 336286 w 341754"/>
                  <a:gd name="connsiteY55" fmla="*/ 552275 h 582349"/>
                  <a:gd name="connsiteX56" fmla="*/ 336286 w 341754"/>
                  <a:gd name="connsiteY56" fmla="*/ 582350 h 58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341754" h="582349">
                    <a:moveTo>
                      <a:pt x="339020" y="582350"/>
                    </a:moveTo>
                    <a:lnTo>
                      <a:pt x="240595" y="582350"/>
                    </a:lnTo>
                    <a:cubicBezTo>
                      <a:pt x="235127" y="582350"/>
                      <a:pt x="226925" y="576882"/>
                      <a:pt x="226925" y="571414"/>
                    </a:cubicBezTo>
                    <a:lnTo>
                      <a:pt x="218723" y="516733"/>
                    </a:lnTo>
                    <a:lnTo>
                      <a:pt x="210521" y="513999"/>
                    </a:lnTo>
                    <a:cubicBezTo>
                      <a:pt x="202319" y="511264"/>
                      <a:pt x="194117" y="505796"/>
                      <a:pt x="185914" y="503063"/>
                    </a:cubicBezTo>
                    <a:lnTo>
                      <a:pt x="142170" y="533137"/>
                    </a:lnTo>
                    <a:cubicBezTo>
                      <a:pt x="136702" y="535871"/>
                      <a:pt x="128500" y="535871"/>
                      <a:pt x="125766" y="530403"/>
                    </a:cubicBezTo>
                    <a:lnTo>
                      <a:pt x="54681" y="459318"/>
                    </a:lnTo>
                    <a:cubicBezTo>
                      <a:pt x="49213" y="453850"/>
                      <a:pt x="49213" y="448382"/>
                      <a:pt x="51947" y="442914"/>
                    </a:cubicBezTo>
                    <a:lnTo>
                      <a:pt x="82021" y="399169"/>
                    </a:lnTo>
                    <a:cubicBezTo>
                      <a:pt x="76553" y="388233"/>
                      <a:pt x="71085" y="377297"/>
                      <a:pt x="65617" y="363627"/>
                    </a:cubicBezTo>
                    <a:lnTo>
                      <a:pt x="10936" y="355425"/>
                    </a:lnTo>
                    <a:cubicBezTo>
                      <a:pt x="5468" y="355425"/>
                      <a:pt x="0" y="349957"/>
                      <a:pt x="0" y="341754"/>
                    </a:cubicBezTo>
                    <a:lnTo>
                      <a:pt x="0" y="240595"/>
                    </a:lnTo>
                    <a:cubicBezTo>
                      <a:pt x="0" y="235127"/>
                      <a:pt x="5468" y="226925"/>
                      <a:pt x="10936" y="226925"/>
                    </a:cubicBezTo>
                    <a:lnTo>
                      <a:pt x="65617" y="218723"/>
                    </a:lnTo>
                    <a:lnTo>
                      <a:pt x="68351" y="210521"/>
                    </a:lnTo>
                    <a:cubicBezTo>
                      <a:pt x="71085" y="202319"/>
                      <a:pt x="76553" y="194117"/>
                      <a:pt x="79287" y="185914"/>
                    </a:cubicBezTo>
                    <a:lnTo>
                      <a:pt x="49213" y="142170"/>
                    </a:lnTo>
                    <a:cubicBezTo>
                      <a:pt x="46479" y="136702"/>
                      <a:pt x="46479" y="128500"/>
                      <a:pt x="51947" y="125766"/>
                    </a:cubicBezTo>
                    <a:lnTo>
                      <a:pt x="123032" y="54681"/>
                    </a:lnTo>
                    <a:cubicBezTo>
                      <a:pt x="128500" y="49213"/>
                      <a:pt x="133968" y="49213"/>
                      <a:pt x="139436" y="51947"/>
                    </a:cubicBezTo>
                    <a:lnTo>
                      <a:pt x="183180" y="82021"/>
                    </a:lnTo>
                    <a:cubicBezTo>
                      <a:pt x="194117" y="76553"/>
                      <a:pt x="205053" y="71085"/>
                      <a:pt x="218723" y="65617"/>
                    </a:cubicBezTo>
                    <a:lnTo>
                      <a:pt x="226925" y="10936"/>
                    </a:lnTo>
                    <a:cubicBezTo>
                      <a:pt x="226925" y="5468"/>
                      <a:pt x="232393" y="0"/>
                      <a:pt x="240595" y="0"/>
                    </a:cubicBezTo>
                    <a:lnTo>
                      <a:pt x="341754" y="0"/>
                    </a:lnTo>
                    <a:lnTo>
                      <a:pt x="341754" y="27340"/>
                    </a:lnTo>
                    <a:lnTo>
                      <a:pt x="254265" y="27340"/>
                    </a:lnTo>
                    <a:lnTo>
                      <a:pt x="246063" y="76553"/>
                    </a:lnTo>
                    <a:cubicBezTo>
                      <a:pt x="246063" y="82021"/>
                      <a:pt x="240595" y="87489"/>
                      <a:pt x="235127" y="87489"/>
                    </a:cubicBezTo>
                    <a:cubicBezTo>
                      <a:pt x="218723" y="92957"/>
                      <a:pt x="205053" y="98425"/>
                      <a:pt x="191382" y="106628"/>
                    </a:cubicBezTo>
                    <a:cubicBezTo>
                      <a:pt x="185914" y="109361"/>
                      <a:pt x="180446" y="109361"/>
                      <a:pt x="174978" y="106628"/>
                    </a:cubicBezTo>
                    <a:lnTo>
                      <a:pt x="133968" y="76553"/>
                    </a:lnTo>
                    <a:lnTo>
                      <a:pt x="79287" y="131234"/>
                    </a:lnTo>
                    <a:lnTo>
                      <a:pt x="109361" y="172244"/>
                    </a:lnTo>
                    <a:cubicBezTo>
                      <a:pt x="112095" y="177712"/>
                      <a:pt x="112095" y="180446"/>
                      <a:pt x="109361" y="185914"/>
                    </a:cubicBezTo>
                    <a:cubicBezTo>
                      <a:pt x="103893" y="194117"/>
                      <a:pt x="101159" y="205053"/>
                      <a:pt x="95691" y="215989"/>
                    </a:cubicBezTo>
                    <a:lnTo>
                      <a:pt x="87489" y="232393"/>
                    </a:lnTo>
                    <a:cubicBezTo>
                      <a:pt x="84755" y="237861"/>
                      <a:pt x="82021" y="240595"/>
                      <a:pt x="76553" y="240595"/>
                    </a:cubicBezTo>
                    <a:lnTo>
                      <a:pt x="24606" y="248797"/>
                    </a:lnTo>
                    <a:lnTo>
                      <a:pt x="24606" y="325350"/>
                    </a:lnTo>
                    <a:lnTo>
                      <a:pt x="76553" y="333552"/>
                    </a:lnTo>
                    <a:cubicBezTo>
                      <a:pt x="82021" y="333552"/>
                      <a:pt x="87489" y="339021"/>
                      <a:pt x="87489" y="344489"/>
                    </a:cubicBezTo>
                    <a:cubicBezTo>
                      <a:pt x="92957" y="360893"/>
                      <a:pt x="98425" y="374563"/>
                      <a:pt x="106627" y="388233"/>
                    </a:cubicBezTo>
                    <a:cubicBezTo>
                      <a:pt x="109361" y="393701"/>
                      <a:pt x="109361" y="399169"/>
                      <a:pt x="106627" y="404637"/>
                    </a:cubicBezTo>
                    <a:lnTo>
                      <a:pt x="76553" y="445648"/>
                    </a:lnTo>
                    <a:lnTo>
                      <a:pt x="131234" y="500329"/>
                    </a:lnTo>
                    <a:lnTo>
                      <a:pt x="172244" y="470254"/>
                    </a:lnTo>
                    <a:cubicBezTo>
                      <a:pt x="177712" y="467520"/>
                      <a:pt x="180446" y="467520"/>
                      <a:pt x="185914" y="470254"/>
                    </a:cubicBezTo>
                    <a:cubicBezTo>
                      <a:pt x="194117" y="475722"/>
                      <a:pt x="205053" y="478456"/>
                      <a:pt x="215989" y="483924"/>
                    </a:cubicBezTo>
                    <a:lnTo>
                      <a:pt x="232393" y="492126"/>
                    </a:lnTo>
                    <a:cubicBezTo>
                      <a:pt x="237861" y="494861"/>
                      <a:pt x="240595" y="497594"/>
                      <a:pt x="240595" y="503063"/>
                    </a:cubicBezTo>
                    <a:lnTo>
                      <a:pt x="248797" y="552275"/>
                    </a:lnTo>
                    <a:lnTo>
                      <a:pt x="336286" y="552275"/>
                    </a:lnTo>
                    <a:lnTo>
                      <a:pt x="336286" y="582350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27" name="Полилиния: фигура 96">
                <a:extLst>
                  <a:ext uri="{FF2B5EF4-FFF2-40B4-BE49-F238E27FC236}">
                    <a16:creationId xmlns:a16="http://schemas.microsoft.com/office/drawing/2014/main" id="{96BF372C-FE0A-4FA3-9874-F9C4A6F20EEB}"/>
                  </a:ext>
                </a:extLst>
              </p:cNvPr>
              <p:cNvSpPr/>
              <p:nvPr/>
            </p:nvSpPr>
            <p:spPr>
              <a:xfrm>
                <a:off x="1921797" y="4987399"/>
                <a:ext cx="158574" cy="229658"/>
              </a:xfrm>
              <a:custGeom>
                <a:avLst/>
                <a:gdLst>
                  <a:gd name="connsiteX0" fmla="*/ 114829 w 158574"/>
                  <a:gd name="connsiteY0" fmla="*/ 229659 h 229658"/>
                  <a:gd name="connsiteX1" fmla="*/ 0 w 158574"/>
                  <a:gd name="connsiteY1" fmla="*/ 114829 h 229658"/>
                  <a:gd name="connsiteX2" fmla="*/ 114829 w 158574"/>
                  <a:gd name="connsiteY2" fmla="*/ 0 h 229658"/>
                  <a:gd name="connsiteX3" fmla="*/ 158574 w 158574"/>
                  <a:gd name="connsiteY3" fmla="*/ 5468 h 229658"/>
                  <a:gd name="connsiteX4" fmla="*/ 150372 w 158574"/>
                  <a:gd name="connsiteY4" fmla="*/ 30075 h 229658"/>
                  <a:gd name="connsiteX5" fmla="*/ 117563 w 158574"/>
                  <a:gd name="connsiteY5" fmla="*/ 24606 h 229658"/>
                  <a:gd name="connsiteX6" fmla="*/ 30074 w 158574"/>
                  <a:gd name="connsiteY6" fmla="*/ 112096 h 229658"/>
                  <a:gd name="connsiteX7" fmla="*/ 117563 w 158574"/>
                  <a:gd name="connsiteY7" fmla="*/ 199585 h 229658"/>
                  <a:gd name="connsiteX8" fmla="*/ 150372 w 158574"/>
                  <a:gd name="connsiteY8" fmla="*/ 194117 h 229658"/>
                  <a:gd name="connsiteX9" fmla="*/ 158574 w 158574"/>
                  <a:gd name="connsiteY9" fmla="*/ 218723 h 229658"/>
                  <a:gd name="connsiteX10" fmla="*/ 114829 w 158574"/>
                  <a:gd name="connsiteY10" fmla="*/ 229659 h 22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574" h="229658">
                    <a:moveTo>
                      <a:pt x="114829" y="229659"/>
                    </a:moveTo>
                    <a:cubicBezTo>
                      <a:pt x="51947" y="229659"/>
                      <a:pt x="0" y="177712"/>
                      <a:pt x="0" y="114829"/>
                    </a:cubicBezTo>
                    <a:cubicBezTo>
                      <a:pt x="0" y="51947"/>
                      <a:pt x="51947" y="0"/>
                      <a:pt x="114829" y="0"/>
                    </a:cubicBezTo>
                    <a:cubicBezTo>
                      <a:pt x="125766" y="0"/>
                      <a:pt x="144904" y="2734"/>
                      <a:pt x="158574" y="5468"/>
                    </a:cubicBezTo>
                    <a:lnTo>
                      <a:pt x="150372" y="30075"/>
                    </a:lnTo>
                    <a:cubicBezTo>
                      <a:pt x="142170" y="27340"/>
                      <a:pt x="128500" y="24606"/>
                      <a:pt x="117563" y="24606"/>
                    </a:cubicBezTo>
                    <a:cubicBezTo>
                      <a:pt x="68351" y="24606"/>
                      <a:pt x="30074" y="62883"/>
                      <a:pt x="30074" y="112096"/>
                    </a:cubicBezTo>
                    <a:cubicBezTo>
                      <a:pt x="30074" y="161308"/>
                      <a:pt x="68351" y="199585"/>
                      <a:pt x="117563" y="199585"/>
                    </a:cubicBezTo>
                    <a:cubicBezTo>
                      <a:pt x="128500" y="199585"/>
                      <a:pt x="142170" y="196850"/>
                      <a:pt x="150372" y="194117"/>
                    </a:cubicBezTo>
                    <a:lnTo>
                      <a:pt x="158574" y="218723"/>
                    </a:lnTo>
                    <a:cubicBezTo>
                      <a:pt x="144904" y="226925"/>
                      <a:pt x="125766" y="229659"/>
                      <a:pt x="114829" y="229659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28" name="Полилиния: фигура 97">
              <a:extLst>
                <a:ext uri="{FF2B5EF4-FFF2-40B4-BE49-F238E27FC236}">
                  <a16:creationId xmlns:a16="http://schemas.microsoft.com/office/drawing/2014/main" id="{92D6E796-9EE2-40C9-BBEC-467210925AAB}"/>
                </a:ext>
              </a:extLst>
            </p:cNvPr>
            <p:cNvSpPr/>
            <p:nvPr/>
          </p:nvSpPr>
          <p:spPr>
            <a:xfrm>
              <a:off x="1686670" y="4774145"/>
              <a:ext cx="202318" cy="185914"/>
            </a:xfrm>
            <a:custGeom>
              <a:avLst/>
              <a:gdLst>
                <a:gd name="connsiteX0" fmla="*/ 27340 w 202318"/>
                <a:gd name="connsiteY0" fmla="*/ 185914 h 185914"/>
                <a:gd name="connsiteX1" fmla="*/ 0 w 202318"/>
                <a:gd name="connsiteY1" fmla="*/ 185914 h 185914"/>
                <a:gd name="connsiteX2" fmla="*/ 0 w 202318"/>
                <a:gd name="connsiteY2" fmla="*/ 13670 h 185914"/>
                <a:gd name="connsiteX3" fmla="*/ 13670 w 202318"/>
                <a:gd name="connsiteY3" fmla="*/ 0 h 185914"/>
                <a:gd name="connsiteX4" fmla="*/ 202319 w 202318"/>
                <a:gd name="connsiteY4" fmla="*/ 0 h 185914"/>
                <a:gd name="connsiteX5" fmla="*/ 202319 w 202318"/>
                <a:gd name="connsiteY5" fmla="*/ 27340 h 185914"/>
                <a:gd name="connsiteX6" fmla="*/ 27340 w 202318"/>
                <a:gd name="connsiteY6" fmla="*/ 27340 h 185914"/>
                <a:gd name="connsiteX7" fmla="*/ 27340 w 202318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318" h="185914">
                  <a:moveTo>
                    <a:pt x="27340" y="185914"/>
                  </a:moveTo>
                  <a:lnTo>
                    <a:pt x="0" y="185914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02319" y="0"/>
                  </a:lnTo>
                  <a:lnTo>
                    <a:pt x="202319" y="27340"/>
                  </a:lnTo>
                  <a:lnTo>
                    <a:pt x="27340" y="27340"/>
                  </a:lnTo>
                  <a:lnTo>
                    <a:pt x="27340" y="18591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9" name="Rectangle 12">
            <a:extLst>
              <a:ext uri="{FF2B5EF4-FFF2-40B4-BE49-F238E27FC236}">
                <a16:creationId xmlns:a16="http://schemas.microsoft.com/office/drawing/2014/main" id="{04B7A4E7-6695-4CA5-8F71-97E1DBB289E2}"/>
              </a:ext>
            </a:extLst>
          </p:cNvPr>
          <p:cNvSpPr/>
          <p:nvPr/>
        </p:nvSpPr>
        <p:spPr bwMode="auto">
          <a:xfrm>
            <a:off x="605367" y="2280834"/>
            <a:ext cx="5959356" cy="487924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0" name="TextBox 7">
            <a:extLst>
              <a:ext uri="{FF2B5EF4-FFF2-40B4-BE49-F238E27FC236}">
                <a16:creationId xmlns:a16="http://schemas.microsoft.com/office/drawing/2014/main" id="{58B32B27-9C89-4CB4-B035-1011C37016E6}"/>
              </a:ext>
            </a:extLst>
          </p:cNvPr>
          <p:cNvSpPr txBox="1"/>
          <p:nvPr/>
        </p:nvSpPr>
        <p:spPr bwMode="auto">
          <a:xfrm>
            <a:off x="1853918" y="2377107"/>
            <a:ext cx="4506421" cy="25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Применение ИИ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всех этапах автоматизации тестирования </a:t>
            </a:r>
          </a:p>
        </p:txBody>
      </p:sp>
      <p:grpSp>
        <p:nvGrpSpPr>
          <p:cNvPr id="231" name="Группа 458">
            <a:extLst>
              <a:ext uri="{FF2B5EF4-FFF2-40B4-BE49-F238E27FC236}">
                <a16:creationId xmlns:a16="http://schemas.microsoft.com/office/drawing/2014/main" id="{ED65A1FA-40D3-44D3-BE20-7C1467DEE599}"/>
              </a:ext>
            </a:extLst>
          </p:cNvPr>
          <p:cNvGrpSpPr>
            <a:grpSpLocks noChangeAspect="1"/>
          </p:cNvGrpSpPr>
          <p:nvPr/>
        </p:nvGrpSpPr>
        <p:grpSpPr>
          <a:xfrm>
            <a:off x="1175049" y="2360957"/>
            <a:ext cx="417125" cy="329846"/>
            <a:chOff x="4900713" y="2779304"/>
            <a:chExt cx="1272453" cy="1006206"/>
          </a:xfrm>
          <a:solidFill>
            <a:srgbClr val="FFFFFF"/>
          </a:solidFill>
        </p:grpSpPr>
        <p:sp>
          <p:nvSpPr>
            <p:cNvPr id="232" name="Полилиния: фигура 29">
              <a:extLst>
                <a:ext uri="{FF2B5EF4-FFF2-40B4-BE49-F238E27FC236}">
                  <a16:creationId xmlns:a16="http://schemas.microsoft.com/office/drawing/2014/main" id="{7404A012-D4E9-45F3-AE67-8F28C68A0040}"/>
                </a:ext>
              </a:extLst>
            </p:cNvPr>
            <p:cNvSpPr/>
            <p:nvPr/>
          </p:nvSpPr>
          <p:spPr>
            <a:xfrm>
              <a:off x="5761694" y="2858832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3" name="Полилиния: фигура 30">
              <a:extLst>
                <a:ext uri="{FF2B5EF4-FFF2-40B4-BE49-F238E27FC236}">
                  <a16:creationId xmlns:a16="http://schemas.microsoft.com/office/drawing/2014/main" id="{C876692A-4D55-48A3-A3F8-BA3D01F9098E}"/>
                </a:ext>
              </a:extLst>
            </p:cNvPr>
            <p:cNvSpPr/>
            <p:nvPr/>
          </p:nvSpPr>
          <p:spPr>
            <a:xfrm>
              <a:off x="5761694" y="3622996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34" name="Рисунок 25">
              <a:extLst>
                <a:ext uri="{FF2B5EF4-FFF2-40B4-BE49-F238E27FC236}">
                  <a16:creationId xmlns:a16="http://schemas.microsoft.com/office/drawing/2014/main" id="{A7909832-D4DF-45ED-A70A-1AE8322F06FA}"/>
                </a:ext>
              </a:extLst>
            </p:cNvPr>
            <p:cNvGrpSpPr/>
            <p:nvPr/>
          </p:nvGrpSpPr>
          <p:grpSpPr>
            <a:xfrm>
              <a:off x="5351190" y="3159657"/>
              <a:ext cx="355179" cy="221296"/>
              <a:chOff x="5351190" y="3159657"/>
              <a:chExt cx="355179" cy="221296"/>
            </a:xfrm>
            <a:grpFill/>
          </p:grpSpPr>
          <p:sp>
            <p:nvSpPr>
              <p:cNvPr id="235" name="Полилиния: фигура 32">
                <a:extLst>
                  <a:ext uri="{FF2B5EF4-FFF2-40B4-BE49-F238E27FC236}">
                    <a16:creationId xmlns:a16="http://schemas.microsoft.com/office/drawing/2014/main" id="{4BB7150F-2102-4893-BB59-BE84FCE377B7}"/>
                  </a:ext>
                </a:extLst>
              </p:cNvPr>
              <p:cNvSpPr/>
              <p:nvPr/>
            </p:nvSpPr>
            <p:spPr>
              <a:xfrm>
                <a:off x="5351190" y="3159657"/>
                <a:ext cx="210923" cy="221296"/>
              </a:xfrm>
              <a:custGeom>
                <a:avLst/>
                <a:gdLst>
                  <a:gd name="connsiteX0" fmla="*/ 0 w 210923"/>
                  <a:gd name="connsiteY0" fmla="*/ 221296 h 221296"/>
                  <a:gd name="connsiteX1" fmla="*/ 48409 w 210923"/>
                  <a:gd name="connsiteY1" fmla="*/ 221296 h 221296"/>
                  <a:gd name="connsiteX2" fmla="*/ 69155 w 210923"/>
                  <a:gd name="connsiteY2" fmla="*/ 172888 h 221296"/>
                  <a:gd name="connsiteX3" fmla="*/ 141768 w 210923"/>
                  <a:gd name="connsiteY3" fmla="*/ 172888 h 221296"/>
                  <a:gd name="connsiteX4" fmla="*/ 162515 w 210923"/>
                  <a:gd name="connsiteY4" fmla="*/ 221296 h 221296"/>
                  <a:gd name="connsiteX5" fmla="*/ 210923 w 210923"/>
                  <a:gd name="connsiteY5" fmla="*/ 221296 h 221296"/>
                  <a:gd name="connsiteX6" fmla="*/ 103733 w 210923"/>
                  <a:gd name="connsiteY6" fmla="*/ 0 h 221296"/>
                  <a:gd name="connsiteX7" fmla="*/ 0 w 210923"/>
                  <a:gd name="connsiteY7" fmla="*/ 221296 h 221296"/>
                  <a:gd name="connsiteX8" fmla="*/ 131395 w 210923"/>
                  <a:gd name="connsiteY8" fmla="*/ 141768 h 221296"/>
                  <a:gd name="connsiteX9" fmla="*/ 79529 w 210923"/>
                  <a:gd name="connsiteY9" fmla="*/ 141768 h 221296"/>
                  <a:gd name="connsiteX10" fmla="*/ 107190 w 210923"/>
                  <a:gd name="connsiteY10" fmla="*/ 82986 h 221296"/>
                  <a:gd name="connsiteX11" fmla="*/ 131395 w 210923"/>
                  <a:gd name="connsiteY11" fmla="*/ 141768 h 221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0923" h="221296">
                    <a:moveTo>
                      <a:pt x="0" y="221296"/>
                    </a:moveTo>
                    <a:lnTo>
                      <a:pt x="48409" y="221296"/>
                    </a:lnTo>
                    <a:lnTo>
                      <a:pt x="69155" y="172888"/>
                    </a:lnTo>
                    <a:lnTo>
                      <a:pt x="141768" y="172888"/>
                    </a:lnTo>
                    <a:lnTo>
                      <a:pt x="162515" y="221296"/>
                    </a:lnTo>
                    <a:lnTo>
                      <a:pt x="210923" y="221296"/>
                    </a:lnTo>
                    <a:lnTo>
                      <a:pt x="103733" y="0"/>
                    </a:lnTo>
                    <a:lnTo>
                      <a:pt x="0" y="221296"/>
                    </a:lnTo>
                    <a:close/>
                    <a:moveTo>
                      <a:pt x="131395" y="141768"/>
                    </a:moveTo>
                    <a:lnTo>
                      <a:pt x="79529" y="141768"/>
                    </a:lnTo>
                    <a:lnTo>
                      <a:pt x="107190" y="82986"/>
                    </a:lnTo>
                    <a:lnTo>
                      <a:pt x="131395" y="141768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6" name="Полилиния: фигура 34">
                <a:extLst>
                  <a:ext uri="{FF2B5EF4-FFF2-40B4-BE49-F238E27FC236}">
                    <a16:creationId xmlns:a16="http://schemas.microsoft.com/office/drawing/2014/main" id="{7C36232A-6522-4C76-879D-7CCB7130243D}"/>
                  </a:ext>
                </a:extLst>
              </p:cNvPr>
              <p:cNvSpPr/>
              <p:nvPr/>
            </p:nvSpPr>
            <p:spPr>
              <a:xfrm>
                <a:off x="5661419" y="3173488"/>
                <a:ext cx="44950" cy="207465"/>
              </a:xfrm>
              <a:custGeom>
                <a:avLst/>
                <a:gdLst>
                  <a:gd name="connsiteX0" fmla="*/ 0 w 44950"/>
                  <a:gd name="connsiteY0" fmla="*/ 0 h 207465"/>
                  <a:gd name="connsiteX1" fmla="*/ 44951 w 44950"/>
                  <a:gd name="connsiteY1" fmla="*/ 0 h 207465"/>
                  <a:gd name="connsiteX2" fmla="*/ 44951 w 44950"/>
                  <a:gd name="connsiteY2" fmla="*/ 207465 h 207465"/>
                  <a:gd name="connsiteX3" fmla="*/ 0 w 44950"/>
                  <a:gd name="connsiteY3" fmla="*/ 207465 h 20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50" h="207465">
                    <a:moveTo>
                      <a:pt x="0" y="0"/>
                    </a:moveTo>
                    <a:lnTo>
                      <a:pt x="44951" y="0"/>
                    </a:lnTo>
                    <a:lnTo>
                      <a:pt x="44951" y="207465"/>
                    </a:lnTo>
                    <a:lnTo>
                      <a:pt x="0" y="207465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37" name="Полилиния: фигура 35">
              <a:extLst>
                <a:ext uri="{FF2B5EF4-FFF2-40B4-BE49-F238E27FC236}">
                  <a16:creationId xmlns:a16="http://schemas.microsoft.com/office/drawing/2014/main" id="{7D5B76CB-35AA-43BE-8953-30145AA585A5}"/>
                </a:ext>
              </a:extLst>
            </p:cNvPr>
            <p:cNvSpPr/>
            <p:nvPr/>
          </p:nvSpPr>
          <p:spPr>
            <a:xfrm>
              <a:off x="5094347" y="3032584"/>
              <a:ext cx="830539" cy="452101"/>
            </a:xfrm>
            <a:custGeom>
              <a:avLst/>
              <a:gdLst>
                <a:gd name="connsiteX0" fmla="*/ 570530 w 830539"/>
                <a:gd name="connsiteY0" fmla="*/ 452101 h 452101"/>
                <a:gd name="connsiteX1" fmla="*/ 408015 w 830539"/>
                <a:gd name="connsiteY1" fmla="*/ 452101 h 452101"/>
                <a:gd name="connsiteX2" fmla="*/ 114106 w 830539"/>
                <a:gd name="connsiteY2" fmla="*/ 452101 h 452101"/>
                <a:gd name="connsiteX3" fmla="*/ 110648 w 830539"/>
                <a:gd name="connsiteY3" fmla="*/ 452101 h 452101"/>
                <a:gd name="connsiteX4" fmla="*/ 107190 w 830539"/>
                <a:gd name="connsiteY4" fmla="*/ 452101 h 452101"/>
                <a:gd name="connsiteX5" fmla="*/ 6916 w 830539"/>
                <a:gd name="connsiteY5" fmla="*/ 362200 h 452101"/>
                <a:gd name="connsiteX6" fmla="*/ 27662 w 830539"/>
                <a:gd name="connsiteY6" fmla="*/ 234263 h 452101"/>
                <a:gd name="connsiteX7" fmla="*/ 100275 w 830539"/>
                <a:gd name="connsiteY7" fmla="*/ 196228 h 452101"/>
                <a:gd name="connsiteX8" fmla="*/ 134852 w 830539"/>
                <a:gd name="connsiteY8" fmla="*/ 82122 h 452101"/>
                <a:gd name="connsiteX9" fmla="*/ 266247 w 830539"/>
                <a:gd name="connsiteY9" fmla="*/ 6051 h 452101"/>
                <a:gd name="connsiteX10" fmla="*/ 401100 w 830539"/>
                <a:gd name="connsiteY10" fmla="*/ 19882 h 452101"/>
                <a:gd name="connsiteX11" fmla="*/ 439135 w 830539"/>
                <a:gd name="connsiteY11" fmla="*/ 47544 h 452101"/>
                <a:gd name="connsiteX12" fmla="*/ 466797 w 830539"/>
                <a:gd name="connsiteY12" fmla="*/ 33713 h 452101"/>
                <a:gd name="connsiteX13" fmla="*/ 643143 w 830539"/>
                <a:gd name="connsiteY13" fmla="*/ 51002 h 452101"/>
                <a:gd name="connsiteX14" fmla="*/ 701925 w 830539"/>
                <a:gd name="connsiteY14" fmla="*/ 154735 h 452101"/>
                <a:gd name="connsiteX15" fmla="*/ 826404 w 830539"/>
                <a:gd name="connsiteY15" fmla="*/ 258467 h 452101"/>
                <a:gd name="connsiteX16" fmla="*/ 812573 w 830539"/>
                <a:gd name="connsiteY16" fmla="*/ 365658 h 452101"/>
                <a:gd name="connsiteX17" fmla="*/ 708840 w 830539"/>
                <a:gd name="connsiteY17" fmla="*/ 452101 h 452101"/>
                <a:gd name="connsiteX18" fmla="*/ 705382 w 830539"/>
                <a:gd name="connsiteY18" fmla="*/ 452101 h 452101"/>
                <a:gd name="connsiteX19" fmla="*/ 570530 w 830539"/>
                <a:gd name="connsiteY19" fmla="*/ 452101 h 452101"/>
                <a:gd name="connsiteX20" fmla="*/ 245501 w 830539"/>
                <a:gd name="connsiteY20" fmla="*/ 414066 h 452101"/>
                <a:gd name="connsiteX21" fmla="*/ 408015 w 830539"/>
                <a:gd name="connsiteY21" fmla="*/ 414066 h 452101"/>
                <a:gd name="connsiteX22" fmla="*/ 698467 w 830539"/>
                <a:gd name="connsiteY22" fmla="*/ 414066 h 452101"/>
                <a:gd name="connsiteX23" fmla="*/ 781453 w 830539"/>
                <a:gd name="connsiteY23" fmla="*/ 344911 h 452101"/>
                <a:gd name="connsiteX24" fmla="*/ 791826 w 830539"/>
                <a:gd name="connsiteY24" fmla="*/ 265383 h 452101"/>
                <a:gd name="connsiteX25" fmla="*/ 688093 w 830539"/>
                <a:gd name="connsiteY25" fmla="*/ 185854 h 452101"/>
                <a:gd name="connsiteX26" fmla="*/ 670805 w 830539"/>
                <a:gd name="connsiteY26" fmla="*/ 185854 h 452101"/>
                <a:gd name="connsiteX27" fmla="*/ 670805 w 830539"/>
                <a:gd name="connsiteY27" fmla="*/ 168566 h 452101"/>
                <a:gd name="connsiteX28" fmla="*/ 625854 w 830539"/>
                <a:gd name="connsiteY28" fmla="*/ 78664 h 452101"/>
                <a:gd name="connsiteX29" fmla="*/ 484086 w 830539"/>
                <a:gd name="connsiteY29" fmla="*/ 64833 h 452101"/>
                <a:gd name="connsiteX30" fmla="*/ 452966 w 830539"/>
                <a:gd name="connsiteY30" fmla="*/ 82122 h 452101"/>
                <a:gd name="connsiteX31" fmla="*/ 439135 w 830539"/>
                <a:gd name="connsiteY31" fmla="*/ 92495 h 452101"/>
                <a:gd name="connsiteX32" fmla="*/ 428762 w 830539"/>
                <a:gd name="connsiteY32" fmla="*/ 78664 h 452101"/>
                <a:gd name="connsiteX33" fmla="*/ 390726 w 830539"/>
                <a:gd name="connsiteY33" fmla="*/ 47544 h 452101"/>
                <a:gd name="connsiteX34" fmla="*/ 276620 w 830539"/>
                <a:gd name="connsiteY34" fmla="*/ 37171 h 452101"/>
                <a:gd name="connsiteX35" fmla="*/ 165972 w 830539"/>
                <a:gd name="connsiteY35" fmla="*/ 99411 h 452101"/>
                <a:gd name="connsiteX36" fmla="*/ 141768 w 830539"/>
                <a:gd name="connsiteY36" fmla="*/ 199685 h 452101"/>
                <a:gd name="connsiteX37" fmla="*/ 141768 w 830539"/>
                <a:gd name="connsiteY37" fmla="*/ 227347 h 452101"/>
                <a:gd name="connsiteX38" fmla="*/ 124479 w 830539"/>
                <a:gd name="connsiteY38" fmla="*/ 227347 h 452101"/>
                <a:gd name="connsiteX39" fmla="*/ 58782 w 830539"/>
                <a:gd name="connsiteY39" fmla="*/ 255010 h 452101"/>
                <a:gd name="connsiteX40" fmla="*/ 44951 w 830539"/>
                <a:gd name="connsiteY40" fmla="*/ 348369 h 452101"/>
                <a:gd name="connsiteX41" fmla="*/ 114106 w 830539"/>
                <a:gd name="connsiteY41" fmla="*/ 414066 h 452101"/>
                <a:gd name="connsiteX42" fmla="*/ 245501 w 830539"/>
                <a:gd name="connsiteY42" fmla="*/ 414066 h 45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30539" h="452101">
                  <a:moveTo>
                    <a:pt x="570530" y="452101"/>
                  </a:moveTo>
                  <a:cubicBezTo>
                    <a:pt x="511748" y="452101"/>
                    <a:pt x="459882" y="452101"/>
                    <a:pt x="408015" y="452101"/>
                  </a:cubicBezTo>
                  <a:cubicBezTo>
                    <a:pt x="318114" y="452101"/>
                    <a:pt x="224754" y="448644"/>
                    <a:pt x="114106" y="452101"/>
                  </a:cubicBezTo>
                  <a:lnTo>
                    <a:pt x="110648" y="452101"/>
                  </a:lnTo>
                  <a:lnTo>
                    <a:pt x="107190" y="452101"/>
                  </a:lnTo>
                  <a:cubicBezTo>
                    <a:pt x="58782" y="441728"/>
                    <a:pt x="20746" y="407151"/>
                    <a:pt x="6916" y="362200"/>
                  </a:cubicBezTo>
                  <a:cubicBezTo>
                    <a:pt x="-6916" y="310334"/>
                    <a:pt x="0" y="261925"/>
                    <a:pt x="27662" y="234263"/>
                  </a:cubicBezTo>
                  <a:cubicBezTo>
                    <a:pt x="51866" y="210059"/>
                    <a:pt x="79528" y="199685"/>
                    <a:pt x="100275" y="196228"/>
                  </a:cubicBezTo>
                  <a:cubicBezTo>
                    <a:pt x="100275" y="172023"/>
                    <a:pt x="100275" y="123615"/>
                    <a:pt x="134852" y="82122"/>
                  </a:cubicBezTo>
                  <a:cubicBezTo>
                    <a:pt x="179803" y="23340"/>
                    <a:pt x="242043" y="9509"/>
                    <a:pt x="266247" y="6051"/>
                  </a:cubicBezTo>
                  <a:cubicBezTo>
                    <a:pt x="290451" y="2593"/>
                    <a:pt x="345776" y="-11238"/>
                    <a:pt x="401100" y="19882"/>
                  </a:cubicBezTo>
                  <a:cubicBezTo>
                    <a:pt x="414931" y="26798"/>
                    <a:pt x="428762" y="37171"/>
                    <a:pt x="439135" y="47544"/>
                  </a:cubicBezTo>
                  <a:cubicBezTo>
                    <a:pt x="446051" y="44086"/>
                    <a:pt x="456424" y="40629"/>
                    <a:pt x="466797" y="33713"/>
                  </a:cubicBezTo>
                  <a:cubicBezTo>
                    <a:pt x="511748" y="16424"/>
                    <a:pt x="587818" y="16424"/>
                    <a:pt x="643143" y="51002"/>
                  </a:cubicBezTo>
                  <a:cubicBezTo>
                    <a:pt x="667347" y="68291"/>
                    <a:pt x="698467" y="99411"/>
                    <a:pt x="701925" y="154735"/>
                  </a:cubicBezTo>
                  <a:cubicBezTo>
                    <a:pt x="784911" y="158192"/>
                    <a:pt x="816030" y="234263"/>
                    <a:pt x="826404" y="258467"/>
                  </a:cubicBezTo>
                  <a:cubicBezTo>
                    <a:pt x="833319" y="282671"/>
                    <a:pt x="833319" y="324165"/>
                    <a:pt x="812573" y="365658"/>
                  </a:cubicBezTo>
                  <a:cubicBezTo>
                    <a:pt x="798742" y="393320"/>
                    <a:pt x="767622" y="431355"/>
                    <a:pt x="708840" y="452101"/>
                  </a:cubicBezTo>
                  <a:lnTo>
                    <a:pt x="705382" y="452101"/>
                  </a:lnTo>
                  <a:cubicBezTo>
                    <a:pt x="653516" y="452101"/>
                    <a:pt x="612023" y="452101"/>
                    <a:pt x="570530" y="452101"/>
                  </a:cubicBezTo>
                  <a:close/>
                  <a:moveTo>
                    <a:pt x="245501" y="414066"/>
                  </a:moveTo>
                  <a:cubicBezTo>
                    <a:pt x="304283" y="414066"/>
                    <a:pt x="356149" y="414066"/>
                    <a:pt x="408015" y="414066"/>
                  </a:cubicBezTo>
                  <a:cubicBezTo>
                    <a:pt x="497917" y="414066"/>
                    <a:pt x="587818" y="417524"/>
                    <a:pt x="698467" y="414066"/>
                  </a:cubicBezTo>
                  <a:cubicBezTo>
                    <a:pt x="746875" y="396777"/>
                    <a:pt x="767622" y="369115"/>
                    <a:pt x="781453" y="344911"/>
                  </a:cubicBezTo>
                  <a:cubicBezTo>
                    <a:pt x="798742" y="310334"/>
                    <a:pt x="798742" y="279214"/>
                    <a:pt x="791826" y="265383"/>
                  </a:cubicBezTo>
                  <a:cubicBezTo>
                    <a:pt x="784911" y="244636"/>
                    <a:pt x="757249" y="178939"/>
                    <a:pt x="688093" y="185854"/>
                  </a:cubicBezTo>
                  <a:lnTo>
                    <a:pt x="670805" y="185854"/>
                  </a:lnTo>
                  <a:lnTo>
                    <a:pt x="670805" y="168566"/>
                  </a:lnTo>
                  <a:cubicBezTo>
                    <a:pt x="670805" y="127072"/>
                    <a:pt x="656974" y="99411"/>
                    <a:pt x="625854" y="78664"/>
                  </a:cubicBezTo>
                  <a:cubicBezTo>
                    <a:pt x="584361" y="51002"/>
                    <a:pt x="518663" y="47544"/>
                    <a:pt x="484086" y="64833"/>
                  </a:cubicBezTo>
                  <a:cubicBezTo>
                    <a:pt x="463339" y="71748"/>
                    <a:pt x="456424" y="78664"/>
                    <a:pt x="452966" y="82122"/>
                  </a:cubicBezTo>
                  <a:lnTo>
                    <a:pt x="439135" y="92495"/>
                  </a:lnTo>
                  <a:lnTo>
                    <a:pt x="428762" y="78664"/>
                  </a:lnTo>
                  <a:cubicBezTo>
                    <a:pt x="418388" y="64833"/>
                    <a:pt x="404558" y="54460"/>
                    <a:pt x="390726" y="47544"/>
                  </a:cubicBezTo>
                  <a:cubicBezTo>
                    <a:pt x="345776" y="23340"/>
                    <a:pt x="297367" y="33713"/>
                    <a:pt x="276620" y="37171"/>
                  </a:cubicBezTo>
                  <a:cubicBezTo>
                    <a:pt x="255874" y="40629"/>
                    <a:pt x="204008" y="51002"/>
                    <a:pt x="165972" y="99411"/>
                  </a:cubicBezTo>
                  <a:cubicBezTo>
                    <a:pt x="138310" y="137446"/>
                    <a:pt x="138310" y="178939"/>
                    <a:pt x="141768" y="199685"/>
                  </a:cubicBezTo>
                  <a:lnTo>
                    <a:pt x="141768" y="227347"/>
                  </a:lnTo>
                  <a:lnTo>
                    <a:pt x="124479" y="227347"/>
                  </a:lnTo>
                  <a:cubicBezTo>
                    <a:pt x="110648" y="227347"/>
                    <a:pt x="86444" y="230805"/>
                    <a:pt x="58782" y="255010"/>
                  </a:cubicBezTo>
                  <a:cubicBezTo>
                    <a:pt x="31120" y="282671"/>
                    <a:pt x="38035" y="327622"/>
                    <a:pt x="44951" y="348369"/>
                  </a:cubicBezTo>
                  <a:cubicBezTo>
                    <a:pt x="55324" y="382946"/>
                    <a:pt x="82986" y="407151"/>
                    <a:pt x="114106" y="414066"/>
                  </a:cubicBezTo>
                  <a:cubicBezTo>
                    <a:pt x="159057" y="414066"/>
                    <a:pt x="204008" y="414066"/>
                    <a:pt x="245501" y="414066"/>
                  </a:cubicBez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8" name="Полилиния: фигура 36">
              <a:extLst>
                <a:ext uri="{FF2B5EF4-FFF2-40B4-BE49-F238E27FC236}">
                  <a16:creationId xmlns:a16="http://schemas.microsoft.com/office/drawing/2014/main" id="{41C98917-BF8A-48BB-A652-6B8195FC727F}"/>
                </a:ext>
              </a:extLst>
            </p:cNvPr>
            <p:cNvSpPr/>
            <p:nvPr/>
          </p:nvSpPr>
          <p:spPr>
            <a:xfrm>
              <a:off x="4900713" y="2779304"/>
              <a:ext cx="829861" cy="1006206"/>
            </a:xfrm>
            <a:custGeom>
              <a:avLst/>
              <a:gdLst>
                <a:gd name="connsiteX0" fmla="*/ 622396 w 829861"/>
                <a:gd name="connsiteY0" fmla="*/ 1006207 h 1006206"/>
                <a:gd name="connsiteX1" fmla="*/ 401100 w 829861"/>
                <a:gd name="connsiteY1" fmla="*/ 1006207 h 1006206"/>
                <a:gd name="connsiteX2" fmla="*/ 383811 w 829861"/>
                <a:gd name="connsiteY2" fmla="*/ 892101 h 1006206"/>
                <a:gd name="connsiteX3" fmla="*/ 363064 w 829861"/>
                <a:gd name="connsiteY3" fmla="*/ 885185 h 1006206"/>
                <a:gd name="connsiteX4" fmla="*/ 314656 w 829861"/>
                <a:gd name="connsiteY4" fmla="*/ 864439 h 1006206"/>
                <a:gd name="connsiteX5" fmla="*/ 221296 w 829861"/>
                <a:gd name="connsiteY5" fmla="*/ 930136 h 1006206"/>
                <a:gd name="connsiteX6" fmla="*/ 76071 w 829861"/>
                <a:gd name="connsiteY6" fmla="*/ 784911 h 1006206"/>
                <a:gd name="connsiteX7" fmla="*/ 138310 w 829861"/>
                <a:gd name="connsiteY7" fmla="*/ 691551 h 1006206"/>
                <a:gd name="connsiteX8" fmla="*/ 107190 w 829861"/>
                <a:gd name="connsiteY8" fmla="*/ 625854 h 1006206"/>
                <a:gd name="connsiteX9" fmla="*/ 0 w 829861"/>
                <a:gd name="connsiteY9" fmla="*/ 608565 h 1006206"/>
                <a:gd name="connsiteX10" fmla="*/ 0 w 829861"/>
                <a:gd name="connsiteY10" fmla="*/ 404557 h 1006206"/>
                <a:gd name="connsiteX11" fmla="*/ 114106 w 829861"/>
                <a:gd name="connsiteY11" fmla="*/ 383811 h 1006206"/>
                <a:gd name="connsiteX12" fmla="*/ 121021 w 829861"/>
                <a:gd name="connsiteY12" fmla="*/ 363064 h 1006206"/>
                <a:gd name="connsiteX13" fmla="*/ 141768 w 829861"/>
                <a:gd name="connsiteY13" fmla="*/ 318114 h 1006206"/>
                <a:gd name="connsiteX14" fmla="*/ 76071 w 829861"/>
                <a:gd name="connsiteY14" fmla="*/ 224754 h 1006206"/>
                <a:gd name="connsiteX15" fmla="*/ 221296 w 829861"/>
                <a:gd name="connsiteY15" fmla="*/ 79528 h 1006206"/>
                <a:gd name="connsiteX16" fmla="*/ 314656 w 829861"/>
                <a:gd name="connsiteY16" fmla="*/ 141768 h 1006206"/>
                <a:gd name="connsiteX17" fmla="*/ 383811 w 829861"/>
                <a:gd name="connsiteY17" fmla="*/ 110648 h 1006206"/>
                <a:gd name="connsiteX18" fmla="*/ 401100 w 829861"/>
                <a:gd name="connsiteY18" fmla="*/ 0 h 1006206"/>
                <a:gd name="connsiteX19" fmla="*/ 629312 w 829861"/>
                <a:gd name="connsiteY19" fmla="*/ 0 h 1006206"/>
                <a:gd name="connsiteX20" fmla="*/ 643143 w 829861"/>
                <a:gd name="connsiteY20" fmla="*/ 103733 h 1006206"/>
                <a:gd name="connsiteX21" fmla="*/ 816030 w 829861"/>
                <a:gd name="connsiteY21" fmla="*/ 103733 h 1006206"/>
                <a:gd name="connsiteX22" fmla="*/ 816030 w 829861"/>
                <a:gd name="connsiteY22" fmla="*/ 138310 h 1006206"/>
                <a:gd name="connsiteX23" fmla="*/ 612023 w 829861"/>
                <a:gd name="connsiteY23" fmla="*/ 138310 h 1006206"/>
                <a:gd name="connsiteX24" fmla="*/ 598192 w 829861"/>
                <a:gd name="connsiteY24" fmla="*/ 34578 h 1006206"/>
                <a:gd name="connsiteX25" fmla="*/ 428762 w 829861"/>
                <a:gd name="connsiteY25" fmla="*/ 34578 h 1006206"/>
                <a:gd name="connsiteX26" fmla="*/ 414931 w 829861"/>
                <a:gd name="connsiteY26" fmla="*/ 138310 h 1006206"/>
                <a:gd name="connsiteX27" fmla="*/ 404557 w 829861"/>
                <a:gd name="connsiteY27" fmla="*/ 141768 h 1006206"/>
                <a:gd name="connsiteX28" fmla="*/ 325029 w 829861"/>
                <a:gd name="connsiteY28" fmla="*/ 176345 h 1006206"/>
                <a:gd name="connsiteX29" fmla="*/ 314656 w 829861"/>
                <a:gd name="connsiteY29" fmla="*/ 186719 h 1006206"/>
                <a:gd name="connsiteX30" fmla="*/ 228212 w 829861"/>
                <a:gd name="connsiteY30" fmla="*/ 127937 h 1006206"/>
                <a:gd name="connsiteX31" fmla="*/ 124479 w 829861"/>
                <a:gd name="connsiteY31" fmla="*/ 231670 h 1006206"/>
                <a:gd name="connsiteX32" fmla="*/ 183261 w 829861"/>
                <a:gd name="connsiteY32" fmla="*/ 318114 h 1006206"/>
                <a:gd name="connsiteX33" fmla="*/ 179803 w 829861"/>
                <a:gd name="connsiteY33" fmla="*/ 325029 h 1006206"/>
                <a:gd name="connsiteX34" fmla="*/ 155599 w 829861"/>
                <a:gd name="connsiteY34" fmla="*/ 380353 h 1006206"/>
                <a:gd name="connsiteX35" fmla="*/ 141768 w 829861"/>
                <a:gd name="connsiteY35" fmla="*/ 408015 h 1006206"/>
                <a:gd name="connsiteX36" fmla="*/ 138310 w 829861"/>
                <a:gd name="connsiteY36" fmla="*/ 414931 h 1006206"/>
                <a:gd name="connsiteX37" fmla="*/ 34578 w 829861"/>
                <a:gd name="connsiteY37" fmla="*/ 432219 h 1006206"/>
                <a:gd name="connsiteX38" fmla="*/ 34578 w 829861"/>
                <a:gd name="connsiteY38" fmla="*/ 577445 h 1006206"/>
                <a:gd name="connsiteX39" fmla="*/ 141768 w 829861"/>
                <a:gd name="connsiteY39" fmla="*/ 591276 h 1006206"/>
                <a:gd name="connsiteX40" fmla="*/ 145226 w 829861"/>
                <a:gd name="connsiteY40" fmla="*/ 601649 h 1006206"/>
                <a:gd name="connsiteX41" fmla="*/ 179803 w 829861"/>
                <a:gd name="connsiteY41" fmla="*/ 681178 h 1006206"/>
                <a:gd name="connsiteX42" fmla="*/ 186719 w 829861"/>
                <a:gd name="connsiteY42" fmla="*/ 691551 h 1006206"/>
                <a:gd name="connsiteX43" fmla="*/ 127937 w 829861"/>
                <a:gd name="connsiteY43" fmla="*/ 777995 h 1006206"/>
                <a:gd name="connsiteX44" fmla="*/ 231670 w 829861"/>
                <a:gd name="connsiteY44" fmla="*/ 881728 h 1006206"/>
                <a:gd name="connsiteX45" fmla="*/ 318113 w 829861"/>
                <a:gd name="connsiteY45" fmla="*/ 822946 h 1006206"/>
                <a:gd name="connsiteX46" fmla="*/ 328487 w 829861"/>
                <a:gd name="connsiteY46" fmla="*/ 826403 h 1006206"/>
                <a:gd name="connsiteX47" fmla="*/ 383811 w 829861"/>
                <a:gd name="connsiteY47" fmla="*/ 850608 h 1006206"/>
                <a:gd name="connsiteX48" fmla="*/ 411473 w 829861"/>
                <a:gd name="connsiteY48" fmla="*/ 864439 h 1006206"/>
                <a:gd name="connsiteX49" fmla="*/ 421846 w 829861"/>
                <a:gd name="connsiteY49" fmla="*/ 867896 h 1006206"/>
                <a:gd name="connsiteX50" fmla="*/ 435677 w 829861"/>
                <a:gd name="connsiteY50" fmla="*/ 971629 h 1006206"/>
                <a:gd name="connsiteX51" fmla="*/ 598192 w 829861"/>
                <a:gd name="connsiteY51" fmla="*/ 971629 h 1006206"/>
                <a:gd name="connsiteX52" fmla="*/ 615481 w 829861"/>
                <a:gd name="connsiteY52" fmla="*/ 871354 h 1006206"/>
                <a:gd name="connsiteX53" fmla="*/ 829862 w 829861"/>
                <a:gd name="connsiteY53" fmla="*/ 871354 h 1006206"/>
                <a:gd name="connsiteX54" fmla="*/ 829862 w 829861"/>
                <a:gd name="connsiteY54" fmla="*/ 905932 h 1006206"/>
                <a:gd name="connsiteX55" fmla="*/ 646600 w 829861"/>
                <a:gd name="connsiteY55" fmla="*/ 905932 h 1006206"/>
                <a:gd name="connsiteX56" fmla="*/ 622396 w 829861"/>
                <a:gd name="connsiteY56" fmla="*/ 1006207 h 1006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29861" h="1006206">
                  <a:moveTo>
                    <a:pt x="622396" y="1006207"/>
                  </a:moveTo>
                  <a:lnTo>
                    <a:pt x="401100" y="1006207"/>
                  </a:lnTo>
                  <a:lnTo>
                    <a:pt x="383811" y="892101"/>
                  </a:lnTo>
                  <a:cubicBezTo>
                    <a:pt x="376895" y="888643"/>
                    <a:pt x="369980" y="885185"/>
                    <a:pt x="363064" y="885185"/>
                  </a:cubicBezTo>
                  <a:cubicBezTo>
                    <a:pt x="345776" y="878270"/>
                    <a:pt x="331945" y="871354"/>
                    <a:pt x="314656" y="864439"/>
                  </a:cubicBezTo>
                  <a:lnTo>
                    <a:pt x="221296" y="930136"/>
                  </a:lnTo>
                  <a:lnTo>
                    <a:pt x="76071" y="784911"/>
                  </a:lnTo>
                  <a:lnTo>
                    <a:pt x="138310" y="691551"/>
                  </a:lnTo>
                  <a:cubicBezTo>
                    <a:pt x="124479" y="670805"/>
                    <a:pt x="117564" y="650058"/>
                    <a:pt x="107190" y="625854"/>
                  </a:cubicBezTo>
                  <a:lnTo>
                    <a:pt x="0" y="608565"/>
                  </a:lnTo>
                  <a:lnTo>
                    <a:pt x="0" y="404557"/>
                  </a:lnTo>
                  <a:lnTo>
                    <a:pt x="114106" y="383811"/>
                  </a:lnTo>
                  <a:cubicBezTo>
                    <a:pt x="117564" y="376895"/>
                    <a:pt x="121021" y="369980"/>
                    <a:pt x="121021" y="363064"/>
                  </a:cubicBezTo>
                  <a:cubicBezTo>
                    <a:pt x="127937" y="345775"/>
                    <a:pt x="134853" y="331944"/>
                    <a:pt x="141768" y="318114"/>
                  </a:cubicBezTo>
                  <a:lnTo>
                    <a:pt x="76071" y="224754"/>
                  </a:lnTo>
                  <a:lnTo>
                    <a:pt x="221296" y="79528"/>
                  </a:lnTo>
                  <a:lnTo>
                    <a:pt x="314656" y="141768"/>
                  </a:lnTo>
                  <a:cubicBezTo>
                    <a:pt x="335402" y="127937"/>
                    <a:pt x="356149" y="121021"/>
                    <a:pt x="383811" y="110648"/>
                  </a:cubicBezTo>
                  <a:lnTo>
                    <a:pt x="401100" y="0"/>
                  </a:lnTo>
                  <a:lnTo>
                    <a:pt x="629312" y="0"/>
                  </a:lnTo>
                  <a:lnTo>
                    <a:pt x="643143" y="103733"/>
                  </a:lnTo>
                  <a:lnTo>
                    <a:pt x="816030" y="103733"/>
                  </a:lnTo>
                  <a:lnTo>
                    <a:pt x="816030" y="138310"/>
                  </a:lnTo>
                  <a:lnTo>
                    <a:pt x="612023" y="138310"/>
                  </a:lnTo>
                  <a:lnTo>
                    <a:pt x="598192" y="34578"/>
                  </a:lnTo>
                  <a:lnTo>
                    <a:pt x="428762" y="34578"/>
                  </a:lnTo>
                  <a:lnTo>
                    <a:pt x="414931" y="138310"/>
                  </a:lnTo>
                  <a:lnTo>
                    <a:pt x="404557" y="141768"/>
                  </a:lnTo>
                  <a:cubicBezTo>
                    <a:pt x="373438" y="152141"/>
                    <a:pt x="352691" y="159057"/>
                    <a:pt x="325029" y="176345"/>
                  </a:cubicBezTo>
                  <a:lnTo>
                    <a:pt x="314656" y="186719"/>
                  </a:lnTo>
                  <a:lnTo>
                    <a:pt x="228212" y="127937"/>
                  </a:lnTo>
                  <a:lnTo>
                    <a:pt x="124479" y="231670"/>
                  </a:lnTo>
                  <a:lnTo>
                    <a:pt x="183261" y="318114"/>
                  </a:lnTo>
                  <a:lnTo>
                    <a:pt x="179803" y="325029"/>
                  </a:lnTo>
                  <a:cubicBezTo>
                    <a:pt x="172888" y="342318"/>
                    <a:pt x="162514" y="359607"/>
                    <a:pt x="155599" y="380353"/>
                  </a:cubicBezTo>
                  <a:cubicBezTo>
                    <a:pt x="152141" y="390726"/>
                    <a:pt x="148684" y="401100"/>
                    <a:pt x="141768" y="408015"/>
                  </a:cubicBezTo>
                  <a:lnTo>
                    <a:pt x="138310" y="414931"/>
                  </a:lnTo>
                  <a:lnTo>
                    <a:pt x="34578" y="432219"/>
                  </a:lnTo>
                  <a:lnTo>
                    <a:pt x="34578" y="577445"/>
                  </a:lnTo>
                  <a:lnTo>
                    <a:pt x="141768" y="591276"/>
                  </a:lnTo>
                  <a:lnTo>
                    <a:pt x="145226" y="601649"/>
                  </a:lnTo>
                  <a:cubicBezTo>
                    <a:pt x="155599" y="632769"/>
                    <a:pt x="162514" y="653516"/>
                    <a:pt x="179803" y="681178"/>
                  </a:cubicBezTo>
                  <a:lnTo>
                    <a:pt x="186719" y="691551"/>
                  </a:lnTo>
                  <a:lnTo>
                    <a:pt x="127937" y="777995"/>
                  </a:lnTo>
                  <a:lnTo>
                    <a:pt x="231670" y="881728"/>
                  </a:lnTo>
                  <a:lnTo>
                    <a:pt x="318113" y="822946"/>
                  </a:lnTo>
                  <a:lnTo>
                    <a:pt x="328487" y="826403"/>
                  </a:lnTo>
                  <a:cubicBezTo>
                    <a:pt x="345776" y="833319"/>
                    <a:pt x="363064" y="843692"/>
                    <a:pt x="383811" y="850608"/>
                  </a:cubicBezTo>
                  <a:cubicBezTo>
                    <a:pt x="394184" y="854066"/>
                    <a:pt x="404557" y="857523"/>
                    <a:pt x="411473" y="864439"/>
                  </a:cubicBezTo>
                  <a:lnTo>
                    <a:pt x="421846" y="867896"/>
                  </a:lnTo>
                  <a:lnTo>
                    <a:pt x="435677" y="971629"/>
                  </a:lnTo>
                  <a:lnTo>
                    <a:pt x="598192" y="971629"/>
                  </a:lnTo>
                  <a:lnTo>
                    <a:pt x="615481" y="871354"/>
                  </a:lnTo>
                  <a:lnTo>
                    <a:pt x="829862" y="871354"/>
                  </a:lnTo>
                  <a:lnTo>
                    <a:pt x="829862" y="905932"/>
                  </a:lnTo>
                  <a:lnTo>
                    <a:pt x="646600" y="905932"/>
                  </a:lnTo>
                  <a:lnTo>
                    <a:pt x="622396" y="1006207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9" name="Полилиния: фигура 37">
              <a:extLst>
                <a:ext uri="{FF2B5EF4-FFF2-40B4-BE49-F238E27FC236}">
                  <a16:creationId xmlns:a16="http://schemas.microsoft.com/office/drawing/2014/main" id="{AB92DCE0-0C46-46EF-A406-1E21481450E0}"/>
                </a:ext>
              </a:extLst>
            </p:cNvPr>
            <p:cNvSpPr/>
            <p:nvPr/>
          </p:nvSpPr>
          <p:spPr>
            <a:xfrm>
              <a:off x="6069434" y="3463939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0" name="Полилиния: фигура 38">
              <a:extLst>
                <a:ext uri="{FF2B5EF4-FFF2-40B4-BE49-F238E27FC236}">
                  <a16:creationId xmlns:a16="http://schemas.microsoft.com/office/drawing/2014/main" id="{5EBC2D15-7763-44C0-B61E-432B229A8F0F}"/>
                </a:ext>
              </a:extLst>
            </p:cNvPr>
            <p:cNvSpPr/>
            <p:nvPr/>
          </p:nvSpPr>
          <p:spPr>
            <a:xfrm>
              <a:off x="5865427" y="3498517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1" name="Полилиния: фигура 39">
              <a:extLst>
                <a:ext uri="{FF2B5EF4-FFF2-40B4-BE49-F238E27FC236}">
                  <a16:creationId xmlns:a16="http://schemas.microsoft.com/office/drawing/2014/main" id="{C7ADC3E3-250D-4703-A77F-F70692A9BA18}"/>
                </a:ext>
              </a:extLst>
            </p:cNvPr>
            <p:cNvSpPr/>
            <p:nvPr/>
          </p:nvSpPr>
          <p:spPr>
            <a:xfrm>
              <a:off x="5989906" y="3014431"/>
              <a:ext cx="138310" cy="138310"/>
            </a:xfrm>
            <a:custGeom>
              <a:avLst/>
              <a:gdLst>
                <a:gd name="connsiteX0" fmla="*/ 138310 w 138310"/>
                <a:gd name="connsiteY0" fmla="*/ 138310 h 138310"/>
                <a:gd name="connsiteX1" fmla="*/ 0 w 138310"/>
                <a:gd name="connsiteY1" fmla="*/ 138310 h 138310"/>
                <a:gd name="connsiteX2" fmla="*/ 0 w 138310"/>
                <a:gd name="connsiteY2" fmla="*/ 0 h 138310"/>
                <a:gd name="connsiteX3" fmla="*/ 138310 w 138310"/>
                <a:gd name="connsiteY3" fmla="*/ 0 h 138310"/>
                <a:gd name="connsiteX4" fmla="*/ 138310 w 138310"/>
                <a:gd name="connsiteY4" fmla="*/ 138310 h 138310"/>
                <a:gd name="connsiteX5" fmla="*/ 38035 w 138310"/>
                <a:gd name="connsiteY5" fmla="*/ 103733 h 138310"/>
                <a:gd name="connsiteX6" fmla="*/ 107190 w 138310"/>
                <a:gd name="connsiteY6" fmla="*/ 103733 h 138310"/>
                <a:gd name="connsiteX7" fmla="*/ 107190 w 138310"/>
                <a:gd name="connsiteY7" fmla="*/ 34578 h 138310"/>
                <a:gd name="connsiteX8" fmla="*/ 38035 w 138310"/>
                <a:gd name="connsiteY8" fmla="*/ 34578 h 138310"/>
                <a:gd name="connsiteX9" fmla="*/ 38035 w 138310"/>
                <a:gd name="connsiteY9" fmla="*/ 103733 h 13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310" h="138310">
                  <a:moveTo>
                    <a:pt x="138310" y="138310"/>
                  </a:moveTo>
                  <a:lnTo>
                    <a:pt x="0" y="138310"/>
                  </a:lnTo>
                  <a:lnTo>
                    <a:pt x="0" y="0"/>
                  </a:lnTo>
                  <a:lnTo>
                    <a:pt x="138310" y="0"/>
                  </a:lnTo>
                  <a:lnTo>
                    <a:pt x="138310" y="138310"/>
                  </a:lnTo>
                  <a:close/>
                  <a:moveTo>
                    <a:pt x="38035" y="103733"/>
                  </a:moveTo>
                  <a:lnTo>
                    <a:pt x="107190" y="103733"/>
                  </a:lnTo>
                  <a:lnTo>
                    <a:pt x="107190" y="34578"/>
                  </a:lnTo>
                  <a:lnTo>
                    <a:pt x="38035" y="34578"/>
                  </a:lnTo>
                  <a:lnTo>
                    <a:pt x="38035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2" name="Полилиния: фигура 40">
              <a:extLst>
                <a:ext uri="{FF2B5EF4-FFF2-40B4-BE49-F238E27FC236}">
                  <a16:creationId xmlns:a16="http://schemas.microsoft.com/office/drawing/2014/main" id="{306EA00B-1E1F-447B-A772-93ADED4C5351}"/>
                </a:ext>
              </a:extLst>
            </p:cNvPr>
            <p:cNvSpPr/>
            <p:nvPr/>
          </p:nvSpPr>
          <p:spPr>
            <a:xfrm>
              <a:off x="5806645" y="3069755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43" name="Text Placeholder 7">
            <a:extLst>
              <a:ext uri="{FF2B5EF4-FFF2-40B4-BE49-F238E27FC236}">
                <a16:creationId xmlns:a16="http://schemas.microsoft.com/office/drawing/2014/main" id="{39F49D4C-2401-4577-B1BE-DE07FE1B07ED}"/>
              </a:ext>
            </a:extLst>
          </p:cNvPr>
          <p:cNvSpPr txBox="1">
            <a:spLocks/>
          </p:cNvSpPr>
          <p:nvPr/>
        </p:nvSpPr>
        <p:spPr>
          <a:xfrm>
            <a:off x="8295738" y="2223673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D70EF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Повышение скорости и эффективности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44" name="Rectangle 287">
            <a:extLst>
              <a:ext uri="{FF2B5EF4-FFF2-40B4-BE49-F238E27FC236}">
                <a16:creationId xmlns:a16="http://schemas.microsoft.com/office/drawing/2014/main" id="{2F59C969-7013-418F-B60E-3C372E4EB3BA}"/>
              </a:ext>
            </a:extLst>
          </p:cNvPr>
          <p:cNvSpPr/>
          <p:nvPr/>
        </p:nvSpPr>
        <p:spPr>
          <a:xfrm>
            <a:off x="8318628" y="2427919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комплексного внедрения ИИ во все процессы</a:t>
            </a:r>
          </a:p>
        </p:txBody>
      </p:sp>
      <p:grpSp>
        <p:nvGrpSpPr>
          <p:cNvPr id="245" name="Группа 194">
            <a:extLst>
              <a:ext uri="{FF2B5EF4-FFF2-40B4-BE49-F238E27FC236}">
                <a16:creationId xmlns:a16="http://schemas.microsoft.com/office/drawing/2014/main" id="{3B9E3B9D-85D0-45C1-849B-D264EAFCBF9F}"/>
              </a:ext>
            </a:extLst>
          </p:cNvPr>
          <p:cNvGrpSpPr>
            <a:grpSpLocks noChangeAspect="1"/>
          </p:cNvGrpSpPr>
          <p:nvPr/>
        </p:nvGrpSpPr>
        <p:grpSpPr>
          <a:xfrm>
            <a:off x="7613728" y="2339923"/>
            <a:ext cx="387900" cy="325763"/>
            <a:chOff x="8605523" y="2869849"/>
            <a:chExt cx="990409" cy="831756"/>
          </a:xfrm>
          <a:solidFill>
            <a:srgbClr val="000000"/>
          </a:solidFill>
        </p:grpSpPr>
        <p:sp>
          <p:nvSpPr>
            <p:cNvPr id="246" name="Полилиния: фигура 457">
              <a:extLst>
                <a:ext uri="{FF2B5EF4-FFF2-40B4-BE49-F238E27FC236}">
                  <a16:creationId xmlns:a16="http://schemas.microsoft.com/office/drawing/2014/main" id="{A9201214-84DA-4E09-A6FF-E8EFBA4622D2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7" name="Полилиния: фигура 458">
              <a:extLst>
                <a:ext uri="{FF2B5EF4-FFF2-40B4-BE49-F238E27FC236}">
                  <a16:creationId xmlns:a16="http://schemas.microsoft.com/office/drawing/2014/main" id="{B9D6287C-6268-4CA9-9FDD-D8D044FB3AEA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8" name="Полилиния: фигура 459">
              <a:extLst>
                <a:ext uri="{FF2B5EF4-FFF2-40B4-BE49-F238E27FC236}">
                  <a16:creationId xmlns:a16="http://schemas.microsoft.com/office/drawing/2014/main" id="{705CAD4D-FBE8-4CDD-8147-2B87D2696029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9" name="Полилиния: фигура 460">
              <a:extLst>
                <a:ext uri="{FF2B5EF4-FFF2-40B4-BE49-F238E27FC236}">
                  <a16:creationId xmlns:a16="http://schemas.microsoft.com/office/drawing/2014/main" id="{2F2B76A2-33CE-49A0-8EC0-CA5D515EB2C0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0" name="Полилиния: фигура 540">
              <a:extLst>
                <a:ext uri="{FF2B5EF4-FFF2-40B4-BE49-F238E27FC236}">
                  <a16:creationId xmlns:a16="http://schemas.microsoft.com/office/drawing/2014/main" id="{F86806FA-6C67-42D4-B676-3AD6D90D229A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1" name="Полилиния: фигура 541">
              <a:extLst>
                <a:ext uri="{FF2B5EF4-FFF2-40B4-BE49-F238E27FC236}">
                  <a16:creationId xmlns:a16="http://schemas.microsoft.com/office/drawing/2014/main" id="{1D088D6D-B708-440B-9246-A292E52B4080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2" name="Полилиния: фигура 542">
              <a:extLst>
                <a:ext uri="{FF2B5EF4-FFF2-40B4-BE49-F238E27FC236}">
                  <a16:creationId xmlns:a16="http://schemas.microsoft.com/office/drawing/2014/main" id="{D09F0596-01C1-4EE9-8F63-A7EF2BD43CC6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3" name="Полилиния: фигура 543">
              <a:extLst>
                <a:ext uri="{FF2B5EF4-FFF2-40B4-BE49-F238E27FC236}">
                  <a16:creationId xmlns:a16="http://schemas.microsoft.com/office/drawing/2014/main" id="{FA726A04-7A0D-4C3E-B9EE-FC5D329FE279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4" name="Полилиния: фигура 544">
              <a:extLst>
                <a:ext uri="{FF2B5EF4-FFF2-40B4-BE49-F238E27FC236}">
                  <a16:creationId xmlns:a16="http://schemas.microsoft.com/office/drawing/2014/main" id="{B8555C04-829E-4D76-8747-DBB3E7976434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5" name="Полилиния: фигура 545">
              <a:extLst>
                <a:ext uri="{FF2B5EF4-FFF2-40B4-BE49-F238E27FC236}">
                  <a16:creationId xmlns:a16="http://schemas.microsoft.com/office/drawing/2014/main" id="{4BBAF580-246D-4648-AE1D-6D75258BE492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rgbClr val="FFFFFF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6" name="Полилиния: фигура 566">
              <a:extLst>
                <a:ext uri="{FF2B5EF4-FFF2-40B4-BE49-F238E27FC236}">
                  <a16:creationId xmlns:a16="http://schemas.microsoft.com/office/drawing/2014/main" id="{495FC5DE-55D9-4A3F-9FC2-743A9B6F3FAA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7" name="Полилиния: фигура 568">
              <a:extLst>
                <a:ext uri="{FF2B5EF4-FFF2-40B4-BE49-F238E27FC236}">
                  <a16:creationId xmlns:a16="http://schemas.microsoft.com/office/drawing/2014/main" id="{56A96E49-3A9B-4F93-B9A1-63B6180A4AF5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70B99E08-2769-4C41-8150-E23F2C1ED8D1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Активности в рамках внедрения автоматизации тестирования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233C2222-0064-430D-8563-38820E0970E6}"/>
              </a:ext>
            </a:extLst>
          </p:cNvPr>
          <p:cNvSpPr/>
          <p:nvPr/>
        </p:nvSpPr>
        <p:spPr bwMode="auto">
          <a:xfrm>
            <a:off x="501535" y="1195211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19D836A1-09C0-4E1C-942C-8134F2BFF89F}"/>
              </a:ext>
            </a:extLst>
          </p:cNvPr>
          <p:cNvSpPr txBox="1"/>
          <p:nvPr/>
        </p:nvSpPr>
        <p:spPr bwMode="auto">
          <a:xfrm>
            <a:off x="693666" y="2253316"/>
            <a:ext cx="3287394" cy="68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4"/>
              </a:lnSpc>
              <a:spcBef>
                <a:spcPts val="1692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Анализ текущего процесса разработки, жизненного цикла тестирования и существующих артефактов тестирования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67B8F2CE-19D4-4F83-9D9E-7117EE2363EC}"/>
              </a:ext>
            </a:extLst>
          </p:cNvPr>
          <p:cNvSpPr txBox="1"/>
          <p:nvPr/>
        </p:nvSpPr>
        <p:spPr bwMode="auto">
          <a:xfrm>
            <a:off x="4483547" y="2253316"/>
            <a:ext cx="3518280" cy="68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Выбор и обоснование технологий </a:t>
            </a:r>
            <a:b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</a:b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и инструментария для организации автоматизации на проекте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DCF106D5-ADF2-4D12-B568-08845B9AB3EE}"/>
              </a:ext>
            </a:extLst>
          </p:cNvPr>
          <p:cNvSpPr txBox="1"/>
          <p:nvPr/>
        </p:nvSpPr>
        <p:spPr bwMode="auto">
          <a:xfrm>
            <a:off x="693535" y="4720319"/>
            <a:ext cx="2829711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36"/>
              </a:lnSpc>
              <a:spcBef>
                <a:spcPts val="1728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Встраивание задач автоматизации в CI/CD-процесс на проекте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AAAEFFF9-B86F-4887-836E-6032D607FDE4}"/>
              </a:ext>
            </a:extLst>
          </p:cNvPr>
          <p:cNvSpPr txBox="1"/>
          <p:nvPr/>
        </p:nvSpPr>
        <p:spPr bwMode="auto">
          <a:xfrm>
            <a:off x="4483547" y="4720319"/>
            <a:ext cx="3208198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68"/>
              </a:lnSpc>
              <a:spcBef>
                <a:spcPts val="1764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Адаптация существующих тест-кейсов </a:t>
            </a:r>
            <a:b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</a:b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и их последующая автоматизация</a:t>
            </a: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0EA630CA-8C5A-45D7-9F2A-8F46CD78758A}"/>
              </a:ext>
            </a:extLst>
          </p:cNvPr>
          <p:cNvSpPr txBox="1"/>
          <p:nvPr/>
        </p:nvSpPr>
        <p:spPr bwMode="auto">
          <a:xfrm>
            <a:off x="8259563" y="2253316"/>
            <a:ext cx="3084036" cy="893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Разработка фреймворка автоматизации для тестирования необходимого функционала (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web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 UI, API/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services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,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mobile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client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)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843AA433-84F9-4363-A08B-1897FE633F9D}"/>
              </a:ext>
            </a:extLst>
          </p:cNvPr>
          <p:cNvSpPr txBox="1"/>
          <p:nvPr/>
        </p:nvSpPr>
        <p:spPr bwMode="auto">
          <a:xfrm>
            <a:off x="8237328" y="4720319"/>
            <a:ext cx="3261137" cy="68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4"/>
              </a:lnSpc>
              <a:spcBef>
                <a:spcPts val="1692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Настройка требуемой частоты выполнения </a:t>
            </a:r>
            <a:r>
              <a:rPr kumimoji="0" lang="ru-RU" sz="11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автотестов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, </a:t>
            </a:r>
            <a:r>
              <a:rPr kumimoji="0" lang="ru-RU" sz="11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параллелизация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 </a:t>
            </a:r>
            <a:r>
              <a:rPr kumimoji="0" lang="ru-RU" sz="11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автотестов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, настройка отчетности</a:t>
            </a: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E033A4C4-08DA-41AB-AC87-13E61C45496A}"/>
              </a:ext>
            </a:extLst>
          </p:cNvPr>
          <p:cNvSpPr/>
          <p:nvPr/>
        </p:nvSpPr>
        <p:spPr bwMode="auto">
          <a:xfrm>
            <a:off x="8033166" y="1195211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F0040809-7C97-436E-A42F-0C3A1A2BBA85}"/>
              </a:ext>
            </a:extLst>
          </p:cNvPr>
          <p:cNvSpPr/>
          <p:nvPr/>
        </p:nvSpPr>
        <p:spPr bwMode="auto">
          <a:xfrm>
            <a:off x="4281189" y="1195211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D8F1AD79-C351-40E7-8839-169AA654DAA0}"/>
              </a:ext>
            </a:extLst>
          </p:cNvPr>
          <p:cNvSpPr/>
          <p:nvPr/>
        </p:nvSpPr>
        <p:spPr bwMode="auto">
          <a:xfrm>
            <a:off x="501535" y="3681377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4BD1E8B1-9C85-429F-94C0-568AD3127593}"/>
              </a:ext>
            </a:extLst>
          </p:cNvPr>
          <p:cNvSpPr/>
          <p:nvPr/>
        </p:nvSpPr>
        <p:spPr bwMode="auto">
          <a:xfrm>
            <a:off x="8033166" y="3678835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5A5A72D3-438C-49B8-A555-DDAF6CFDBC45}"/>
              </a:ext>
            </a:extLst>
          </p:cNvPr>
          <p:cNvSpPr/>
          <p:nvPr/>
        </p:nvSpPr>
        <p:spPr bwMode="auto">
          <a:xfrm>
            <a:off x="4281189" y="3681377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000000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grpSp>
        <p:nvGrpSpPr>
          <p:cNvPr id="33" name="Группа 101">
            <a:extLst>
              <a:ext uri="{FF2B5EF4-FFF2-40B4-BE49-F238E27FC236}">
                <a16:creationId xmlns:a16="http://schemas.microsoft.com/office/drawing/2014/main" id="{A84639EA-B766-4FC7-B2FB-80EC4034AD06}"/>
              </a:ext>
            </a:extLst>
          </p:cNvPr>
          <p:cNvGrpSpPr>
            <a:grpSpLocks noChangeAspect="1"/>
          </p:cNvGrpSpPr>
          <p:nvPr/>
        </p:nvGrpSpPr>
        <p:grpSpPr>
          <a:xfrm>
            <a:off x="809487" y="1435493"/>
            <a:ext cx="187220" cy="378340"/>
            <a:chOff x="709299" y="904822"/>
            <a:chExt cx="432256" cy="873515"/>
          </a:xfrm>
          <a:solidFill>
            <a:srgbClr val="000000"/>
          </a:solidFill>
        </p:grpSpPr>
        <p:sp>
          <p:nvSpPr>
            <p:cNvPr id="34" name="Полилиния: фигура 499">
              <a:extLst>
                <a:ext uri="{FF2B5EF4-FFF2-40B4-BE49-F238E27FC236}">
                  <a16:creationId xmlns:a16="http://schemas.microsoft.com/office/drawing/2014/main" id="{C26C5F73-8EFD-4564-AB99-6B72B6C761C0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grpFill/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35" name="Рисунок 476">
              <a:extLst>
                <a:ext uri="{FF2B5EF4-FFF2-40B4-BE49-F238E27FC236}">
                  <a16:creationId xmlns:a16="http://schemas.microsoft.com/office/drawing/2014/main" id="{11BE578C-9F0E-4163-AE48-8EB81B458E87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grpFill/>
          </p:grpSpPr>
          <p:sp>
            <p:nvSpPr>
              <p:cNvPr id="36" name="Полилиния: фигура 501">
                <a:extLst>
                  <a:ext uri="{FF2B5EF4-FFF2-40B4-BE49-F238E27FC236}">
                    <a16:creationId xmlns:a16="http://schemas.microsoft.com/office/drawing/2014/main" id="{4EC1BBB5-7C9C-4196-905C-AA4F7631B8DE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DDB6D3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502">
                <a:extLst>
                  <a:ext uri="{FF2B5EF4-FFF2-40B4-BE49-F238E27FC236}">
                    <a16:creationId xmlns:a16="http://schemas.microsoft.com/office/drawing/2014/main" id="{D49BCC2C-7F8F-4CAF-8CFF-0ADCFA670D97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DDB6D3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8" name="Группа 102">
            <a:extLst>
              <a:ext uri="{FF2B5EF4-FFF2-40B4-BE49-F238E27FC236}">
                <a16:creationId xmlns:a16="http://schemas.microsoft.com/office/drawing/2014/main" id="{CD0C29F9-C832-444F-80A4-29E5DF6F8D99}"/>
              </a:ext>
            </a:extLst>
          </p:cNvPr>
          <p:cNvGrpSpPr>
            <a:grpSpLocks noChangeAspect="1"/>
          </p:cNvGrpSpPr>
          <p:nvPr/>
        </p:nvGrpSpPr>
        <p:grpSpPr>
          <a:xfrm>
            <a:off x="4570272" y="1421277"/>
            <a:ext cx="324695" cy="379752"/>
            <a:chOff x="1571161" y="904822"/>
            <a:chExt cx="749659" cy="876775"/>
          </a:xfrm>
          <a:solidFill>
            <a:srgbClr val="000000"/>
          </a:solidFill>
        </p:grpSpPr>
        <p:sp>
          <p:nvSpPr>
            <p:cNvPr id="39" name="Полилиния: фигура 504">
              <a:extLst>
                <a:ext uri="{FF2B5EF4-FFF2-40B4-BE49-F238E27FC236}">
                  <a16:creationId xmlns:a16="http://schemas.microsoft.com/office/drawing/2014/main" id="{A855E106-DAE7-4373-A772-8298A30C2B66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grpFill/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0" name="Рисунок 481">
              <a:extLst>
                <a:ext uri="{FF2B5EF4-FFF2-40B4-BE49-F238E27FC236}">
                  <a16:creationId xmlns:a16="http://schemas.microsoft.com/office/drawing/2014/main" id="{0B5EEFAB-2126-475F-9F8B-DBE91E7FA15F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grpFill/>
          </p:grpSpPr>
          <p:sp>
            <p:nvSpPr>
              <p:cNvPr id="41" name="Полилиния: фигура 506">
                <a:extLst>
                  <a:ext uri="{FF2B5EF4-FFF2-40B4-BE49-F238E27FC236}">
                    <a16:creationId xmlns:a16="http://schemas.microsoft.com/office/drawing/2014/main" id="{4DA72607-5E87-4CD1-A8DF-506D0DD2CD81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DDB6D3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507">
                <a:extLst>
                  <a:ext uri="{FF2B5EF4-FFF2-40B4-BE49-F238E27FC236}">
                    <a16:creationId xmlns:a16="http://schemas.microsoft.com/office/drawing/2014/main" id="{9DAAB5D8-1A50-4EBF-8F0A-6028A144C58E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DDB6D3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3" name="Группа 103">
            <a:extLst>
              <a:ext uri="{FF2B5EF4-FFF2-40B4-BE49-F238E27FC236}">
                <a16:creationId xmlns:a16="http://schemas.microsoft.com/office/drawing/2014/main" id="{7E221D44-C262-4382-9318-EE93EA6DB04A}"/>
              </a:ext>
            </a:extLst>
          </p:cNvPr>
          <p:cNvGrpSpPr>
            <a:grpSpLocks noChangeAspect="1"/>
          </p:cNvGrpSpPr>
          <p:nvPr/>
        </p:nvGrpSpPr>
        <p:grpSpPr>
          <a:xfrm>
            <a:off x="8383546" y="1421277"/>
            <a:ext cx="290814" cy="395281"/>
            <a:chOff x="2784188" y="876468"/>
            <a:chExt cx="671434" cy="912628"/>
          </a:xfrm>
          <a:solidFill>
            <a:srgbClr val="000000"/>
          </a:solidFill>
        </p:grpSpPr>
        <p:sp>
          <p:nvSpPr>
            <p:cNvPr id="44" name="Полилиния: фигура 509">
              <a:extLst>
                <a:ext uri="{FF2B5EF4-FFF2-40B4-BE49-F238E27FC236}">
                  <a16:creationId xmlns:a16="http://schemas.microsoft.com/office/drawing/2014/main" id="{D2454984-E36A-401B-8B42-68013684C35A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grpFill/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5" name="Полилиния: фигура 510">
              <a:extLst>
                <a:ext uri="{FF2B5EF4-FFF2-40B4-BE49-F238E27FC236}">
                  <a16:creationId xmlns:a16="http://schemas.microsoft.com/office/drawing/2014/main" id="{C9149FE9-75E1-4882-8C60-DD902B576BA8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DDB6D3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46" name="Группа 104">
            <a:extLst>
              <a:ext uri="{FF2B5EF4-FFF2-40B4-BE49-F238E27FC236}">
                <a16:creationId xmlns:a16="http://schemas.microsoft.com/office/drawing/2014/main" id="{D4E051E0-671A-4208-82DB-CB1710BB5FC0}"/>
              </a:ext>
            </a:extLst>
          </p:cNvPr>
          <p:cNvGrpSpPr>
            <a:grpSpLocks noChangeAspect="1"/>
          </p:cNvGrpSpPr>
          <p:nvPr/>
        </p:nvGrpSpPr>
        <p:grpSpPr>
          <a:xfrm>
            <a:off x="809487" y="3957727"/>
            <a:ext cx="345871" cy="369869"/>
            <a:chOff x="3862546" y="921118"/>
            <a:chExt cx="798550" cy="853959"/>
          </a:xfrm>
          <a:solidFill>
            <a:srgbClr val="000000"/>
          </a:solidFill>
        </p:grpSpPr>
        <p:sp>
          <p:nvSpPr>
            <p:cNvPr id="47" name="Полилиния: фигура 76">
              <a:extLst>
                <a:ext uri="{FF2B5EF4-FFF2-40B4-BE49-F238E27FC236}">
                  <a16:creationId xmlns:a16="http://schemas.microsoft.com/office/drawing/2014/main" id="{C4C6549A-9BA0-410B-9379-4F89B71FC66B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grpFill/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8" name="Рисунок 485">
              <a:extLst>
                <a:ext uri="{FF2B5EF4-FFF2-40B4-BE49-F238E27FC236}">
                  <a16:creationId xmlns:a16="http://schemas.microsoft.com/office/drawing/2014/main" id="{C8E1D26E-D41F-478E-B787-92AD665D9CE4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grpFill/>
          </p:grpSpPr>
          <p:sp>
            <p:nvSpPr>
              <p:cNvPr id="49" name="Полилиния: фигура 78">
                <a:extLst>
                  <a:ext uri="{FF2B5EF4-FFF2-40B4-BE49-F238E27FC236}">
                    <a16:creationId xmlns:a16="http://schemas.microsoft.com/office/drawing/2014/main" id="{DD22B53B-A2A0-4393-9591-E9C59D9BEF7A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DDB6D3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79">
                <a:extLst>
                  <a:ext uri="{FF2B5EF4-FFF2-40B4-BE49-F238E27FC236}">
                    <a16:creationId xmlns:a16="http://schemas.microsoft.com/office/drawing/2014/main" id="{F2DEB310-AFDC-444E-9A7F-05B909DC2D7E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DDB6D3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Группа 105">
            <a:extLst>
              <a:ext uri="{FF2B5EF4-FFF2-40B4-BE49-F238E27FC236}">
                <a16:creationId xmlns:a16="http://schemas.microsoft.com/office/drawing/2014/main" id="{F378BD63-C8AA-4BCB-A2C8-AD5E90A871C4}"/>
              </a:ext>
            </a:extLst>
          </p:cNvPr>
          <p:cNvGrpSpPr>
            <a:grpSpLocks noChangeAspect="1"/>
          </p:cNvGrpSpPr>
          <p:nvPr/>
        </p:nvGrpSpPr>
        <p:grpSpPr>
          <a:xfrm>
            <a:off x="4594273" y="3949223"/>
            <a:ext cx="300694" cy="382575"/>
            <a:chOff x="5133962" y="904822"/>
            <a:chExt cx="694248" cy="883294"/>
          </a:xfrm>
          <a:solidFill>
            <a:srgbClr val="000000"/>
          </a:solidFill>
        </p:grpSpPr>
        <p:sp>
          <p:nvSpPr>
            <p:cNvPr id="52" name="Полилиния: фигура 81">
              <a:extLst>
                <a:ext uri="{FF2B5EF4-FFF2-40B4-BE49-F238E27FC236}">
                  <a16:creationId xmlns:a16="http://schemas.microsoft.com/office/drawing/2014/main" id="{3C0578B0-FE52-4268-90CB-63318A1970AA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grpFill/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3" name="Полилиния: фигура 82">
              <a:extLst>
                <a:ext uri="{FF2B5EF4-FFF2-40B4-BE49-F238E27FC236}">
                  <a16:creationId xmlns:a16="http://schemas.microsoft.com/office/drawing/2014/main" id="{5D62FD8F-C156-4A4B-94E3-D6D5451C6A9E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grpFill/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4" name="Полилиния: фигура 83">
              <a:extLst>
                <a:ext uri="{FF2B5EF4-FFF2-40B4-BE49-F238E27FC236}">
                  <a16:creationId xmlns:a16="http://schemas.microsoft.com/office/drawing/2014/main" id="{40C2E9A3-2D32-4D75-A3D8-6A2D4EFA85D3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DDB6D3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55" name="Группа 106">
            <a:extLst>
              <a:ext uri="{FF2B5EF4-FFF2-40B4-BE49-F238E27FC236}">
                <a16:creationId xmlns:a16="http://schemas.microsoft.com/office/drawing/2014/main" id="{98722D72-BCC1-4D79-A262-59A28DF1C462}"/>
              </a:ext>
            </a:extLst>
          </p:cNvPr>
          <p:cNvGrpSpPr>
            <a:grpSpLocks noChangeAspect="1"/>
          </p:cNvGrpSpPr>
          <p:nvPr/>
        </p:nvGrpSpPr>
        <p:grpSpPr>
          <a:xfrm>
            <a:off x="8377194" y="3951969"/>
            <a:ext cx="303519" cy="378340"/>
            <a:chOff x="6275002" y="904822"/>
            <a:chExt cx="700768" cy="873515"/>
          </a:xfrm>
          <a:solidFill>
            <a:srgbClr val="000000"/>
          </a:solidFill>
        </p:grpSpPr>
        <p:sp>
          <p:nvSpPr>
            <p:cNvPr id="56" name="Полилиния: фигура 85">
              <a:extLst>
                <a:ext uri="{FF2B5EF4-FFF2-40B4-BE49-F238E27FC236}">
                  <a16:creationId xmlns:a16="http://schemas.microsoft.com/office/drawing/2014/main" id="{5C7B2314-A24D-4CB6-8952-A3D6F8CB66D4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grpFill/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7" name="Полилиния: фигура 86">
              <a:extLst>
                <a:ext uri="{FF2B5EF4-FFF2-40B4-BE49-F238E27FC236}">
                  <a16:creationId xmlns:a16="http://schemas.microsoft.com/office/drawing/2014/main" id="{A732A168-9AAC-4ED1-925E-ED7BFEC616D8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DDB6D3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ED2C281-5D73-4336-9312-C2232E81B3D8}"/>
              </a:ext>
            </a:extLst>
          </p:cNvPr>
          <p:cNvSpPr>
            <a:spLocks noGrp="1"/>
          </p:cNvSpPr>
          <p:nvPr/>
        </p:nvSpPr>
        <p:spPr>
          <a:xfrm>
            <a:off x="515936" y="2673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Автоматизированное тестирование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85D3245-09CC-40DA-9DB5-D620FAE5738A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Наши сервисы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35C3E8E-5258-4D43-9803-EC0E16CC66E2}"/>
              </a:ext>
            </a:extLst>
          </p:cNvPr>
          <p:cNvSpPr>
            <a:spLocks noGrp="1"/>
          </p:cNvSpPr>
          <p:nvPr/>
        </p:nvSpPr>
        <p:spPr>
          <a:xfrm>
            <a:off x="545808" y="1395849"/>
            <a:ext cx="4984529" cy="4972641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1530"/>
              </a:spcBef>
              <a:buFont typeface="Stapel" panose="020B0604020202020204" pitchFamily="34" charset="0"/>
              <a:buChar char="•"/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Оценка и стратегия внедрения сбалансированного автоматизированного тестирования</a:t>
            </a:r>
          </a:p>
          <a:p>
            <a:pPr marL="285750" indent="-285750">
              <a:spcBef>
                <a:spcPts val="1530"/>
              </a:spcBef>
              <a:buFont typeface="Stapel" panose="020B0604020202020204" pitchFamily="34" charset="0"/>
              <a:buChar char="•"/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Автоматизация тестирования: </a:t>
            </a:r>
          </a:p>
          <a:p>
            <a:pPr marL="1028700" lvl="1">
              <a:spcBef>
                <a:spcPts val="1530"/>
              </a:spcBef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UI (</a:t>
            </a:r>
            <a:r>
              <a:rPr lang="en-US" dirty="0" sz="1150" b="0">
                <a:solidFill>
                  <a:srgbClr val="000000"/>
                </a:solidFill>
                <a:latin typeface="Stapel"/>
              </a:rPr>
              <a:t>WEB, Desktop</a:t>
            </a:r>
            <a:r>
              <a:rPr lang="ru-RU" dirty="0" sz="1150" b="0">
                <a:solidFill>
                  <a:srgbClr val="000000"/>
                </a:solidFill>
                <a:latin typeface="Stapel"/>
              </a:rPr>
              <a:t>)</a:t>
            </a:r>
          </a:p>
          <a:p>
            <a:pPr marL="1028700" lvl="1">
              <a:spcBef>
                <a:spcPts val="1530"/>
              </a:spcBef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API и веб сервисов</a:t>
            </a:r>
          </a:p>
          <a:p>
            <a:pPr marL="1028700" lvl="1">
              <a:spcBef>
                <a:spcPts val="1530"/>
              </a:spcBef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Интеграции</a:t>
            </a:r>
          </a:p>
          <a:p>
            <a:pPr marL="1028700" lvl="1">
              <a:spcBef>
                <a:spcPts val="1530"/>
              </a:spcBef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Мобильных приложений</a:t>
            </a:r>
          </a:p>
          <a:p>
            <a:pPr marL="285750" indent="-285750">
              <a:spcBef>
                <a:spcPts val="1530"/>
              </a:spcBef>
              <a:buFont typeface="Stapel" panose="020B0604020202020204" pitchFamily="34" charset="0"/>
              <a:buChar char="•"/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Применение ферм и облачных сервисов</a:t>
            </a:r>
          </a:p>
          <a:p>
            <a:pPr marL="285750" indent="-285750">
              <a:spcBef>
                <a:spcPts val="1530"/>
              </a:spcBef>
              <a:buFont typeface="Stapel" panose="020B0604020202020204" pitchFamily="34" charset="0"/>
              <a:buChar char="•"/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Разработка акселераторов, фреймворков и решений для автоматизации тестирования</a:t>
            </a:r>
          </a:p>
          <a:p>
            <a:pPr marL="285750" indent="-285750">
              <a:spcBef>
                <a:spcPts val="1530"/>
              </a:spcBef>
              <a:buFont typeface="Stapel" panose="020B0604020202020204" pitchFamily="34" charset="0"/>
              <a:buChar char="•"/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Встраивание </a:t>
            </a:r>
            <a:r>
              <a:rPr lang="ru-RU" dirty="0" err="1" sz="1150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dirty="0" sz="1150" b="0">
                <a:solidFill>
                  <a:srgbClr val="000000"/>
                </a:solidFill>
                <a:latin typeface="Stapel"/>
              </a:rPr>
              <a:t> в процессы непрерывной интеграции и поставки</a:t>
            </a:r>
          </a:p>
          <a:p>
            <a:pPr marL="285750" indent="-285750">
              <a:spcBef>
                <a:spcPts val="1530"/>
              </a:spcBef>
              <a:buFont typeface="Stapel" panose="020B0604020202020204" pitchFamily="34" charset="0"/>
              <a:buChar char="•"/>
            </a:pPr>
            <a:r>
              <a:rPr lang="ru-RU" dirty="0" sz="1150" b="0">
                <a:solidFill>
                  <a:srgbClr val="000000"/>
                </a:solidFill>
                <a:latin typeface="Stapel"/>
              </a:rPr>
              <a:t>Аудит и консультирование в области автоматизации тестирования</a:t>
            </a:r>
          </a:p>
          <a:p>
            <a:pPr>
              <a:spcBef>
                <a:spcPts val="1530"/>
              </a:spcBef>
            </a:pPr>
            <a:endParaRPr lang="ru-RU" dirty="0" sz="1500"/>
          </a:p>
          <a:p>
            <a:pPr marL="285750" indent="-285750">
              <a:buFont typeface="Stapel" panose="020B0604020202020204" pitchFamily="34" charset="0"/>
              <a:buChar char="•"/>
            </a:pPr>
            <a:endParaRPr lang="en-US" dirty="0" sz="150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C84CDA9-7555-451B-92C9-8B346F1637E1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Ключевые факты</a:t>
            </a:r>
            <a:endParaRPr lang="en-US" dirty="0"/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4F9E89A6-E7BD-4C83-B6E9-5014C0AA1572}"/>
              </a:ext>
            </a:extLst>
          </p:cNvPr>
          <p:cNvSpPr txBox="1"/>
          <p:nvPr/>
        </p:nvSpPr>
        <p:spPr>
          <a:xfrm>
            <a:off x="6824614" y="1541813"/>
            <a:ext cx="18062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900" b="0" kern="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15</a:t>
            </a:r>
            <a:r>
              <a:rPr kumimoji="0" lang="ru-RU" sz="3900" b="0" i="0" u="none" strike="noStrike" kern="0" cap="none" spc="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+</a:t>
            </a:r>
            <a:endParaRPr kumimoji="0" lang="en-US" sz="3900" b="1" i="0" u="none" strike="noStrike" kern="0" cap="none" spc="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</a:endParaRP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729DD7E-8409-4554-8B55-CB7EA712B9A2}"/>
              </a:ext>
            </a:extLst>
          </p:cNvPr>
          <p:cNvSpPr txBox="1">
            <a:spLocks/>
          </p:cNvSpPr>
          <p:nvPr/>
        </p:nvSpPr>
        <p:spPr>
          <a:xfrm>
            <a:off x="8223876" y="1667897"/>
            <a:ext cx="3452185" cy="363383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200" i="0" u="none" strike="noStrike" kern="1200" cap="none" spc="13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+mn-ea"/>
                <a:cs typeface="+mn-cs"/>
              </a:rPr>
              <a:t>Лет опыта в автоматизации тестирования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8DDAA43E-2321-4CD3-A23A-6FBBFFDDE6CE}"/>
              </a:ext>
            </a:extLst>
          </p:cNvPr>
          <p:cNvSpPr txBox="1"/>
          <p:nvPr/>
        </p:nvSpPr>
        <p:spPr>
          <a:xfrm>
            <a:off x="6824614" y="2371428"/>
            <a:ext cx="18062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900" b="0" kern="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4</a:t>
            </a:r>
            <a:r>
              <a:rPr kumimoji="0" lang="ru-RU" sz="3900" b="0" i="0" u="none" strike="noStrike" kern="0" cap="none" spc="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0+</a:t>
            </a:r>
            <a:endParaRPr kumimoji="0" lang="en-US" sz="3900" b="1" i="0" u="none" strike="noStrike" kern="0" cap="none" spc="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</a:endParaRP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1512812-0F06-413A-BAD6-08C9E171BC04}"/>
              </a:ext>
            </a:extLst>
          </p:cNvPr>
          <p:cNvSpPr txBox="1">
            <a:spLocks/>
          </p:cNvSpPr>
          <p:nvPr/>
        </p:nvSpPr>
        <p:spPr>
          <a:xfrm>
            <a:off x="8223876" y="2497512"/>
            <a:ext cx="3452185" cy="363383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200" i="0" u="none" strike="noStrike" kern="1200" cap="none" spc="13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+mn-ea"/>
                <a:cs typeface="+mn-cs"/>
              </a:rPr>
              <a:t>Инженеров по автоматизации тестирования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4FFDA0CA-BC74-4D06-9D4C-916A47F0EBCB}"/>
              </a:ext>
            </a:extLst>
          </p:cNvPr>
          <p:cNvSpPr txBox="1">
            <a:spLocks/>
          </p:cNvSpPr>
          <p:nvPr/>
        </p:nvSpPr>
        <p:spPr>
          <a:xfrm>
            <a:off x="6661661" y="3520686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Технологические стеки</a:t>
            </a:r>
          </a:p>
        </p:txBody>
      </p:sp>
      <p:pic>
        <p:nvPicPr>
          <p:cNvPr id="30" name="Picture 10" descr="Icon&#10;&#10;Description automatically generated">
            <a:extLst>
              <a:ext uri="{FF2B5EF4-FFF2-40B4-BE49-F238E27FC236}">
                <a16:creationId xmlns:a16="http://schemas.microsoft.com/office/drawing/2014/main" id="{1D80C7CD-3750-4047-93FA-DF174DB13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961" y="4236994"/>
            <a:ext cx="609210" cy="609210"/>
          </a:xfrm>
          <a:prstGeom prst="rect">
            <a:avLst/>
          </a:prstGeom>
        </p:spPr>
      </p:pic>
      <p:pic>
        <p:nvPicPr>
          <p:cNvPr id="31" name="Picture 15" descr="Icon&#10;&#10;Description automatically generated">
            <a:extLst>
              <a:ext uri="{FF2B5EF4-FFF2-40B4-BE49-F238E27FC236}">
                <a16:creationId xmlns:a16="http://schemas.microsoft.com/office/drawing/2014/main" id="{EEFE9B0F-F0F2-4686-9EB3-01C0F8DA7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961" y="5445785"/>
            <a:ext cx="609210" cy="609210"/>
          </a:xfrm>
          <a:prstGeom prst="rect">
            <a:avLst/>
          </a:prstGeom>
        </p:spPr>
      </p:pic>
      <p:pic>
        <p:nvPicPr>
          <p:cNvPr id="32" name="Picture 16" descr="Logo, icon&#10;&#10;Description automatically generated">
            <a:extLst>
              <a:ext uri="{FF2B5EF4-FFF2-40B4-BE49-F238E27FC236}">
                <a16:creationId xmlns:a16="http://schemas.microsoft.com/office/drawing/2014/main" id="{27ED7A92-C717-45BA-9990-10FBF9A50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943" y="4192696"/>
            <a:ext cx="968643" cy="609210"/>
          </a:xfrm>
          <a:prstGeom prst="rect">
            <a:avLst/>
          </a:prstGeom>
        </p:spPr>
      </p:pic>
      <p:pic>
        <p:nvPicPr>
          <p:cNvPr id="33" name="Picture 17" descr="Logo&#10;&#10;Description automatically generated">
            <a:extLst>
              <a:ext uri="{FF2B5EF4-FFF2-40B4-BE49-F238E27FC236}">
                <a16:creationId xmlns:a16="http://schemas.microsoft.com/office/drawing/2014/main" id="{2C5479C0-064C-48C8-8AB5-0FA74E2D0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310" y="5445785"/>
            <a:ext cx="609210" cy="609210"/>
          </a:xfrm>
          <a:prstGeom prst="rect">
            <a:avLst/>
          </a:prstGeom>
        </p:spPr>
      </p:pic>
      <p:sp>
        <p:nvSpPr>
          <p:cNvPr id="34" name="Rectangle 18">
            <a:extLst>
              <a:ext uri="{FF2B5EF4-FFF2-40B4-BE49-F238E27FC236}">
                <a16:creationId xmlns:a16="http://schemas.microsoft.com/office/drawing/2014/main" id="{B4130B19-ACBF-41E1-8F29-FEEE238AFA1A}"/>
              </a:ext>
            </a:extLst>
          </p:cNvPr>
          <p:cNvSpPr/>
          <p:nvPr/>
        </p:nvSpPr>
        <p:spPr>
          <a:xfrm>
            <a:off x="6824614" y="4023077"/>
            <a:ext cx="2034906" cy="1049915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6F18CE32-1589-4451-83F3-E0F00C52B6BD}"/>
              </a:ext>
            </a:extLst>
          </p:cNvPr>
          <p:cNvSpPr/>
          <p:nvPr/>
        </p:nvSpPr>
        <p:spPr>
          <a:xfrm>
            <a:off x="9021964" y="4023077"/>
            <a:ext cx="2034906" cy="1049915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69F2F1DC-37B4-4DC4-9372-13E25B11E8A0}"/>
              </a:ext>
            </a:extLst>
          </p:cNvPr>
          <p:cNvSpPr/>
          <p:nvPr/>
        </p:nvSpPr>
        <p:spPr>
          <a:xfrm>
            <a:off x="6824614" y="5228532"/>
            <a:ext cx="2034906" cy="1049915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ED80A1F9-9F74-4C58-9F0D-4FD3852A0999}"/>
              </a:ext>
            </a:extLst>
          </p:cNvPr>
          <p:cNvSpPr/>
          <p:nvPr/>
        </p:nvSpPr>
        <p:spPr>
          <a:xfrm>
            <a:off x="9021964" y="5221524"/>
            <a:ext cx="2034906" cy="1049915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8F64B703-B35B-4CD6-A607-9623655382DE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Инструменты автоматизации тестирования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C3BC193D-E5D9-4A25-B143-F2E0D382AB3F}"/>
              </a:ext>
            </a:extLst>
          </p:cNvPr>
          <p:cNvSpPr/>
          <p:nvPr/>
        </p:nvSpPr>
        <p:spPr>
          <a:xfrm>
            <a:off x="576326" y="860908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EACD9D95-FCEF-4B36-954A-A6A5A9FCB143}"/>
              </a:ext>
            </a:extLst>
          </p:cNvPr>
          <p:cNvSpPr/>
          <p:nvPr/>
        </p:nvSpPr>
        <p:spPr>
          <a:xfrm>
            <a:off x="4361050" y="860908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5CA45378-0937-48C0-8315-CC397C1D4F5E}"/>
              </a:ext>
            </a:extLst>
          </p:cNvPr>
          <p:cNvSpPr/>
          <p:nvPr/>
        </p:nvSpPr>
        <p:spPr>
          <a:xfrm>
            <a:off x="8145774" y="860908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0B4831FD-1AE1-4EFA-95E3-77EA81CBEE87}"/>
              </a:ext>
            </a:extLst>
          </p:cNvPr>
          <p:cNvSpPr/>
          <p:nvPr/>
        </p:nvSpPr>
        <p:spPr>
          <a:xfrm>
            <a:off x="567145" y="3174210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4CC001F1-C33C-4D71-AC39-B90F2E2D987D}"/>
              </a:ext>
            </a:extLst>
          </p:cNvPr>
          <p:cNvSpPr/>
          <p:nvPr/>
        </p:nvSpPr>
        <p:spPr>
          <a:xfrm>
            <a:off x="4351869" y="3174210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04C79CC5-88DD-4198-9D8B-397088B3EEC9}"/>
              </a:ext>
            </a:extLst>
          </p:cNvPr>
          <p:cNvSpPr/>
          <p:nvPr/>
        </p:nvSpPr>
        <p:spPr>
          <a:xfrm>
            <a:off x="8136593" y="3174210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B42E7CA4-D120-4F93-B96A-70F26A1D3176}"/>
              </a:ext>
            </a:extLst>
          </p:cNvPr>
          <p:cNvSpPr txBox="1"/>
          <p:nvPr/>
        </p:nvSpPr>
        <p:spPr>
          <a:xfrm>
            <a:off x="868652" y="889670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Юнит-тестирование</a:t>
            </a:r>
            <a:endParaRPr lang="en-US" sz="1400" b="1" dirty="0">
              <a:solidFill>
                <a:srgbClr val="8F0D6B"/>
              </a:solidFill>
              <a:cs typeface="Stapel"/>
              <a:sym typeface="Stapel"/>
            </a:endParaRPr>
          </a:p>
        </p:txBody>
      </p:sp>
      <p:sp>
        <p:nvSpPr>
          <p:cNvPr id="28" name="TextBox 31">
            <a:extLst>
              <a:ext uri="{FF2B5EF4-FFF2-40B4-BE49-F238E27FC236}">
                <a16:creationId xmlns:a16="http://schemas.microsoft.com/office/drawing/2014/main" id="{8F410CEA-DB36-42E8-B03D-3ADEFEB048E2}"/>
              </a:ext>
            </a:extLst>
          </p:cNvPr>
          <p:cNvSpPr txBox="1"/>
          <p:nvPr/>
        </p:nvSpPr>
        <p:spPr>
          <a:xfrm>
            <a:off x="4653376" y="889670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API / Web-</a:t>
            </a: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сервисы</a:t>
            </a:r>
          </a:p>
        </p:txBody>
      </p:sp>
      <p:sp>
        <p:nvSpPr>
          <p:cNvPr id="29" name="TextBox 46">
            <a:extLst>
              <a:ext uri="{FF2B5EF4-FFF2-40B4-BE49-F238E27FC236}">
                <a16:creationId xmlns:a16="http://schemas.microsoft.com/office/drawing/2014/main" id="{84E0382C-3888-422F-AEEC-7F9913BE3C70}"/>
              </a:ext>
            </a:extLst>
          </p:cNvPr>
          <p:cNvSpPr txBox="1"/>
          <p:nvPr/>
        </p:nvSpPr>
        <p:spPr>
          <a:xfrm>
            <a:off x="8474265" y="889670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Web UI / Desktop</a:t>
            </a:r>
          </a:p>
        </p:txBody>
      </p:sp>
      <p:sp>
        <p:nvSpPr>
          <p:cNvPr id="30" name="TextBox 47">
            <a:extLst>
              <a:ext uri="{FF2B5EF4-FFF2-40B4-BE49-F238E27FC236}">
                <a16:creationId xmlns:a16="http://schemas.microsoft.com/office/drawing/2014/main" id="{355936F1-C45B-4412-8FC1-314B7F8ABBBD}"/>
              </a:ext>
            </a:extLst>
          </p:cNvPr>
          <p:cNvSpPr txBox="1"/>
          <p:nvPr/>
        </p:nvSpPr>
        <p:spPr>
          <a:xfrm>
            <a:off x="859471" y="3272975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Мобильные приложения</a:t>
            </a:r>
            <a:endParaRPr lang="en-US" sz="1400" b="1" dirty="0">
              <a:solidFill>
                <a:srgbClr val="8F0D6B"/>
              </a:solidFill>
              <a:cs typeface="Stapel"/>
              <a:sym typeface="Stapel"/>
            </a:endParaRPr>
          </a:p>
        </p:txBody>
      </p:sp>
      <p:sp>
        <p:nvSpPr>
          <p:cNvPr id="31" name="TextBox 55">
            <a:extLst>
              <a:ext uri="{FF2B5EF4-FFF2-40B4-BE49-F238E27FC236}">
                <a16:creationId xmlns:a16="http://schemas.microsoft.com/office/drawing/2014/main" id="{D34D2144-3264-4947-AB77-6C16EF8741A2}"/>
              </a:ext>
            </a:extLst>
          </p:cNvPr>
          <p:cNvSpPr txBox="1"/>
          <p:nvPr/>
        </p:nvSpPr>
        <p:spPr>
          <a:xfrm>
            <a:off x="4644195" y="3272975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BDD</a:t>
            </a:r>
            <a:endParaRPr lang="ru-RU" sz="1400" b="1" dirty="0">
              <a:solidFill>
                <a:srgbClr val="8F0D6B"/>
              </a:solidFill>
              <a:cs typeface="Stapel"/>
              <a:sym typeface="Stapel"/>
            </a:endParaRPr>
          </a:p>
        </p:txBody>
      </p:sp>
      <p:sp>
        <p:nvSpPr>
          <p:cNvPr id="32" name="TextBox 57">
            <a:extLst>
              <a:ext uri="{FF2B5EF4-FFF2-40B4-BE49-F238E27FC236}">
                <a16:creationId xmlns:a16="http://schemas.microsoft.com/office/drawing/2014/main" id="{0CE89354-EF40-4EA0-AF4C-72DC5AC636DC}"/>
              </a:ext>
            </a:extLst>
          </p:cNvPr>
          <p:cNvSpPr txBox="1"/>
          <p:nvPr/>
        </p:nvSpPr>
        <p:spPr>
          <a:xfrm>
            <a:off x="8430047" y="3272975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Многофункциональные</a:t>
            </a:r>
          </a:p>
        </p:txBody>
      </p:sp>
      <p:pic>
        <p:nvPicPr>
          <p:cNvPr id="33" name="Picture 28">
            <a:extLst>
              <a:ext uri="{FF2B5EF4-FFF2-40B4-BE49-F238E27FC236}">
                <a16:creationId xmlns:a16="http://schemas.microsoft.com/office/drawing/2014/main" id="{9A8FFAC2-D63C-4507-ACEB-829F2F02B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068" y="1305962"/>
            <a:ext cx="1083170" cy="40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2">
            <a:extLst>
              <a:ext uri="{FF2B5EF4-FFF2-40B4-BE49-F238E27FC236}">
                <a16:creationId xmlns:a16="http://schemas.microsoft.com/office/drawing/2014/main" id="{B506ED11-9E90-47E7-AD90-FA55CA53D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116" y="1390626"/>
            <a:ext cx="1353839" cy="274320"/>
          </a:xfrm>
          <a:prstGeom prst="rect">
            <a:avLst/>
          </a:prstGeom>
        </p:spPr>
      </p:pic>
      <p:pic>
        <p:nvPicPr>
          <p:cNvPr id="35" name="Picture 22" descr="Image result for restsharp">
            <a:extLst>
              <a:ext uri="{FF2B5EF4-FFF2-40B4-BE49-F238E27FC236}">
                <a16:creationId xmlns:a16="http://schemas.microsoft.com/office/drawing/2014/main" id="{6F7BD1C9-08D7-4EC3-B32C-FC3AD0BD7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1334" y="1949886"/>
            <a:ext cx="1046285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6">
            <a:extLst>
              <a:ext uri="{FF2B5EF4-FFF2-40B4-BE49-F238E27FC236}">
                <a16:creationId xmlns:a16="http://schemas.microsoft.com/office/drawing/2014/main" id="{70E8213F-693E-4527-8766-1EA89898C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585" y="2475179"/>
            <a:ext cx="1046697" cy="274320"/>
          </a:xfrm>
          <a:prstGeom prst="rect">
            <a:avLst/>
          </a:prstGeom>
        </p:spPr>
      </p:pic>
      <p:pic>
        <p:nvPicPr>
          <p:cNvPr id="37" name="Picture 87">
            <a:extLst>
              <a:ext uri="{FF2B5EF4-FFF2-40B4-BE49-F238E27FC236}">
                <a16:creationId xmlns:a16="http://schemas.microsoft.com/office/drawing/2014/main" id="{ECE38D5F-C8E2-48C4-8DF5-D1FC6ADE4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1320" y="4815595"/>
            <a:ext cx="737886" cy="274320"/>
          </a:xfrm>
          <a:prstGeom prst="rect">
            <a:avLst/>
          </a:prstGeom>
        </p:spPr>
      </p:pic>
      <p:pic>
        <p:nvPicPr>
          <p:cNvPr id="38" name="Picture 95">
            <a:extLst>
              <a:ext uri="{FF2B5EF4-FFF2-40B4-BE49-F238E27FC236}">
                <a16:creationId xmlns:a16="http://schemas.microsoft.com/office/drawing/2014/main" id="{88A9A4D0-A7A3-477F-96BC-7A4D4F5010C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3803" y="3763473"/>
            <a:ext cx="992988" cy="274320"/>
          </a:xfrm>
          <a:prstGeom prst="rect">
            <a:avLst/>
          </a:prstGeom>
        </p:spPr>
      </p:pic>
      <p:pic>
        <p:nvPicPr>
          <p:cNvPr id="39" name="Picture 46" descr="Espresso Framework | Espresso Mobile Testing With Perfecto">
            <a:extLst>
              <a:ext uri="{FF2B5EF4-FFF2-40B4-BE49-F238E27FC236}">
                <a16:creationId xmlns:a16="http://schemas.microsoft.com/office/drawing/2014/main" id="{A55EEB7C-BC0C-4E60-8F08-A70A0960C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77735" y="4040039"/>
            <a:ext cx="93313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1">
            <a:extLst>
              <a:ext uri="{FF2B5EF4-FFF2-40B4-BE49-F238E27FC236}">
                <a16:creationId xmlns:a16="http://schemas.microsoft.com/office/drawing/2014/main" id="{15BFB68A-AC07-4EDA-B855-3821825E97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9826" y="4748162"/>
            <a:ext cx="845820" cy="274320"/>
          </a:xfrm>
          <a:prstGeom prst="rect">
            <a:avLst/>
          </a:prstGeom>
        </p:spPr>
      </p:pic>
      <p:pic>
        <p:nvPicPr>
          <p:cNvPr id="41" name="Picture 110">
            <a:extLst>
              <a:ext uri="{FF2B5EF4-FFF2-40B4-BE49-F238E27FC236}">
                <a16:creationId xmlns:a16="http://schemas.microsoft.com/office/drawing/2014/main" id="{79C4F54F-F852-4205-B013-8018504C92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6103" y="2386781"/>
            <a:ext cx="1285366" cy="254808"/>
          </a:xfrm>
          <a:prstGeom prst="rect">
            <a:avLst/>
          </a:prstGeom>
        </p:spPr>
      </p:pic>
      <p:pic>
        <p:nvPicPr>
          <p:cNvPr id="42" name="Picture 116">
            <a:extLst>
              <a:ext uri="{FF2B5EF4-FFF2-40B4-BE49-F238E27FC236}">
                <a16:creationId xmlns:a16="http://schemas.microsoft.com/office/drawing/2014/main" id="{61A5F827-8629-42F8-92B2-A7446DF805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0617" y="4491160"/>
            <a:ext cx="577516" cy="548640"/>
          </a:xfrm>
          <a:prstGeom prst="rect">
            <a:avLst/>
          </a:prstGeom>
        </p:spPr>
      </p:pic>
      <p:pic>
        <p:nvPicPr>
          <p:cNvPr id="43" name="Picture 36" descr="WebDriver | Selenium">
            <a:extLst>
              <a:ext uri="{FF2B5EF4-FFF2-40B4-BE49-F238E27FC236}">
                <a16:creationId xmlns:a16="http://schemas.microsoft.com/office/drawing/2014/main" id="{1CCEA454-B6F9-44E6-A116-0EC142E0E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502" y="1589908"/>
            <a:ext cx="1305315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8" descr="Mobile App Testing Services | Mobile Application Testing Company | Calidad  Infotech">
            <a:extLst>
              <a:ext uri="{FF2B5EF4-FFF2-40B4-BE49-F238E27FC236}">
                <a16:creationId xmlns:a16="http://schemas.microsoft.com/office/drawing/2014/main" id="{444134AD-023A-4C60-A99B-DEB1AC6BB6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90" b="25333"/>
          <a:stretch/>
        </p:blipFill>
        <p:spPr bwMode="auto">
          <a:xfrm>
            <a:off x="8400520" y="2185121"/>
            <a:ext cx="1582339" cy="40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0" descr="Quick Start | selenide">
            <a:extLst>
              <a:ext uri="{FF2B5EF4-FFF2-40B4-BE49-F238E27FC236}">
                <a16:creationId xmlns:a16="http://schemas.microsoft.com/office/drawing/2014/main" id="{CC38ED83-F67E-4DE9-AAAA-4CE170174E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209996" y="1332005"/>
            <a:ext cx="95267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Рисунок 125">
            <a:extLst>
              <a:ext uri="{FF2B5EF4-FFF2-40B4-BE49-F238E27FC236}">
                <a16:creationId xmlns:a16="http://schemas.microsoft.com/office/drawing/2014/main" id="{5CA682F8-2E21-43BA-B390-B2992FF8092B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9498" y="1845213"/>
            <a:ext cx="1011693" cy="274320"/>
          </a:xfrm>
          <a:prstGeom prst="rect">
            <a:avLst/>
          </a:prstGeom>
        </p:spPr>
      </p:pic>
      <p:pic>
        <p:nvPicPr>
          <p:cNvPr id="47" name="Picture 6" descr="NUnit | Jenkins plugin">
            <a:extLst>
              <a:ext uri="{FF2B5EF4-FFF2-40B4-BE49-F238E27FC236}">
                <a16:creationId xmlns:a16="http://schemas.microsoft.com/office/drawing/2014/main" id="{9B667209-3614-45E4-AE9F-3DDA53CE6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68" y="1354620"/>
            <a:ext cx="565784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 descr="Mocha Node.js JavaScript Software Testing npm, Github, logo, sign png |  PNGEgg">
            <a:extLst>
              <a:ext uri="{FF2B5EF4-FFF2-40B4-BE49-F238E27FC236}">
                <a16:creationId xmlns:a16="http://schemas.microsoft.com/office/drawing/2014/main" id="{EF9924A2-F918-4F60-9AFE-70D19C345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clrChange>
              <a:clrFrom>
                <a:srgbClr val="F5F4F4"/>
              </a:clrFrom>
              <a:clrTo>
                <a:srgbClr val="F5F4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19" y="1748995"/>
            <a:ext cx="495563" cy="562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0">
            <a:extLst>
              <a:ext uri="{FF2B5EF4-FFF2-40B4-BE49-F238E27FC236}">
                <a16:creationId xmlns:a16="http://schemas.microsoft.com/office/drawing/2014/main" id="{B58C8D97-4676-457E-9472-0E7205C1B7B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0551" y="1811813"/>
            <a:ext cx="878408" cy="274320"/>
          </a:xfrm>
          <a:prstGeom prst="rect">
            <a:avLst/>
          </a:prstGeom>
        </p:spPr>
      </p:pic>
      <p:pic>
        <p:nvPicPr>
          <p:cNvPr id="50" name="Picture 48" descr="Software Testing, Monitoring, Developer Tools | SmartBear">
            <a:extLst>
              <a:ext uri="{FF2B5EF4-FFF2-40B4-BE49-F238E27FC236}">
                <a16:creationId xmlns:a16="http://schemas.microsoft.com/office/drawing/2014/main" id="{D5E6DD4D-C0C2-40E5-9DCB-9710DD6FE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74" r="481"/>
          <a:stretch/>
        </p:blipFill>
        <p:spPr bwMode="auto">
          <a:xfrm>
            <a:off x="4571941" y="3723334"/>
            <a:ext cx="1417179" cy="36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2" descr="What is JBehave?">
            <a:extLst>
              <a:ext uri="{FF2B5EF4-FFF2-40B4-BE49-F238E27FC236}">
                <a16:creationId xmlns:a16="http://schemas.microsoft.com/office/drawing/2014/main" id="{53F18233-BBE7-4191-9DAF-D900D08EB7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69694" y="3601234"/>
            <a:ext cx="759363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Picture background">
            <a:extLst>
              <a:ext uri="{FF2B5EF4-FFF2-40B4-BE49-F238E27FC236}">
                <a16:creationId xmlns:a16="http://schemas.microsoft.com/office/drawing/2014/main" id="{C906C13B-DBDD-4153-8B36-666910A7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817" y="2226317"/>
            <a:ext cx="1205787" cy="375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Picture background">
            <a:extLst>
              <a:ext uri="{FF2B5EF4-FFF2-40B4-BE49-F238E27FC236}">
                <a16:creationId xmlns:a16="http://schemas.microsoft.com/office/drawing/2014/main" id="{E2195D75-1140-4CC8-B286-042366A3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46" y="4394285"/>
            <a:ext cx="1713300" cy="51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 descr="Logo">
            <a:extLst>
              <a:ext uri="{FF2B5EF4-FFF2-40B4-BE49-F238E27FC236}">
                <a16:creationId xmlns:a16="http://schemas.microsoft.com/office/drawing/2014/main" id="{59D3C34C-92F1-4FC6-A034-2D0A4C2D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793" y="4018727"/>
            <a:ext cx="761857" cy="72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5">
            <a:extLst>
              <a:ext uri="{FF2B5EF4-FFF2-40B4-BE49-F238E27FC236}">
                <a16:creationId xmlns:a16="http://schemas.microsoft.com/office/drawing/2014/main" id="{F9320EDF-28A3-4BEE-A45A-90881CBB8A8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68810" y="2389708"/>
            <a:ext cx="1200318" cy="419158"/>
          </a:xfrm>
          <a:prstGeom prst="rect">
            <a:avLst/>
          </a:prstGeom>
        </p:spPr>
      </p:pic>
      <p:pic>
        <p:nvPicPr>
          <p:cNvPr id="56" name="Picture 12" descr="Picture background">
            <a:extLst>
              <a:ext uri="{FF2B5EF4-FFF2-40B4-BE49-F238E27FC236}">
                <a16:creationId xmlns:a16="http://schemas.microsoft.com/office/drawing/2014/main" id="{1C003B10-811C-46F9-BED3-116B691F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09" y="2119533"/>
            <a:ext cx="815473" cy="81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8" descr="Picture background">
            <a:extLst>
              <a:ext uri="{FF2B5EF4-FFF2-40B4-BE49-F238E27FC236}">
                <a16:creationId xmlns:a16="http://schemas.microsoft.com/office/drawing/2014/main" id="{197B28EE-A9B7-46B0-B961-0ECAA8D30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489" y="4595941"/>
            <a:ext cx="1167583" cy="656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0" descr="serenity-bdd">
            <a:extLst>
              <a:ext uri="{FF2B5EF4-FFF2-40B4-BE49-F238E27FC236}">
                <a16:creationId xmlns:a16="http://schemas.microsoft.com/office/drawing/2014/main" id="{0E4476B2-F872-4A7F-8E90-E0F409A12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336" y="4452356"/>
            <a:ext cx="1333049" cy="29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2" descr="Picture background">
            <a:extLst>
              <a:ext uri="{FF2B5EF4-FFF2-40B4-BE49-F238E27FC236}">
                <a16:creationId xmlns:a16="http://schemas.microsoft.com/office/drawing/2014/main" id="{EA95F1BD-233A-4342-B71A-2CBB90143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785" y="3723334"/>
            <a:ext cx="1674618" cy="33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19">
            <a:extLst>
              <a:ext uri="{FF2B5EF4-FFF2-40B4-BE49-F238E27FC236}">
                <a16:creationId xmlns:a16="http://schemas.microsoft.com/office/drawing/2014/main" id="{D8709AF4-41BF-46BB-ABB8-5E34847F6BD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162" y="4210806"/>
            <a:ext cx="1582087" cy="419890"/>
          </a:xfrm>
          <a:prstGeom prst="rect">
            <a:avLst/>
          </a:prstGeom>
        </p:spPr>
      </p:pic>
      <p:pic>
        <p:nvPicPr>
          <p:cNvPr id="61" name="Picture 28" descr="Picture background">
            <a:extLst>
              <a:ext uri="{FF2B5EF4-FFF2-40B4-BE49-F238E27FC236}">
                <a16:creationId xmlns:a16="http://schemas.microsoft.com/office/drawing/2014/main" id="{D6E7B565-0D5E-4800-8080-C27BD0487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68" y="1134754"/>
            <a:ext cx="1150827" cy="64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ctangle 51">
            <a:extLst>
              <a:ext uri="{FF2B5EF4-FFF2-40B4-BE49-F238E27FC236}">
                <a16:creationId xmlns:a16="http://schemas.microsoft.com/office/drawing/2014/main" id="{3E66E093-AE8C-4C14-BC32-377C18077977}"/>
              </a:ext>
            </a:extLst>
          </p:cNvPr>
          <p:cNvSpPr/>
          <p:nvPr/>
        </p:nvSpPr>
        <p:spPr>
          <a:xfrm>
            <a:off x="576326" y="5475047"/>
            <a:ext cx="11078387" cy="513544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52">
            <a:extLst>
              <a:ext uri="{FF2B5EF4-FFF2-40B4-BE49-F238E27FC236}">
                <a16:creationId xmlns:a16="http://schemas.microsoft.com/office/drawing/2014/main" id="{1FC07FA5-C18A-45C2-9245-BF3E94A44024}"/>
              </a:ext>
            </a:extLst>
          </p:cNvPr>
          <p:cNvSpPr txBox="1"/>
          <p:nvPr/>
        </p:nvSpPr>
        <p:spPr>
          <a:xfrm>
            <a:off x="418933" y="5559842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Авто-отчеты и тест кейсы:</a:t>
            </a:r>
            <a:endParaRPr lang="en-US" sz="1400" b="1" dirty="0">
              <a:solidFill>
                <a:srgbClr val="8F0D6B"/>
              </a:solidFill>
              <a:cs typeface="Stapel"/>
              <a:sym typeface="Stapel"/>
            </a:endParaRPr>
          </a:p>
        </p:txBody>
      </p:sp>
      <p:pic>
        <p:nvPicPr>
          <p:cNvPr id="64" name="Picture 9">
            <a:extLst>
              <a:ext uri="{FF2B5EF4-FFF2-40B4-BE49-F238E27FC236}">
                <a16:creationId xmlns:a16="http://schemas.microsoft.com/office/drawing/2014/main" id="{4FEC57FE-389A-4122-B87D-D21859126FC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57103" y="5493507"/>
            <a:ext cx="1473113" cy="465194"/>
          </a:xfrm>
          <a:prstGeom prst="rect">
            <a:avLst/>
          </a:prstGeom>
        </p:spPr>
      </p:pic>
      <p:pic>
        <p:nvPicPr>
          <p:cNvPr id="65" name="Picture 11">
            <a:extLst>
              <a:ext uri="{FF2B5EF4-FFF2-40B4-BE49-F238E27FC236}">
                <a16:creationId xmlns:a16="http://schemas.microsoft.com/office/drawing/2014/main" id="{5F3D013C-C858-41FD-B12A-C2FC2647596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98111" y="5519771"/>
            <a:ext cx="952729" cy="417254"/>
          </a:xfrm>
          <a:prstGeom prst="rect">
            <a:avLst/>
          </a:prstGeom>
        </p:spPr>
      </p:pic>
      <p:pic>
        <p:nvPicPr>
          <p:cNvPr id="66" name="Picture 17">
            <a:extLst>
              <a:ext uri="{FF2B5EF4-FFF2-40B4-BE49-F238E27FC236}">
                <a16:creationId xmlns:a16="http://schemas.microsoft.com/office/drawing/2014/main" id="{9136CBF2-6B83-4DD5-A929-86A6FD6255A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218735" y="5548877"/>
            <a:ext cx="994042" cy="372766"/>
          </a:xfrm>
          <a:prstGeom prst="rect">
            <a:avLst/>
          </a:prstGeom>
        </p:spPr>
      </p:pic>
      <p:pic>
        <p:nvPicPr>
          <p:cNvPr id="67" name="Picture 18">
            <a:extLst>
              <a:ext uri="{FF2B5EF4-FFF2-40B4-BE49-F238E27FC236}">
                <a16:creationId xmlns:a16="http://schemas.microsoft.com/office/drawing/2014/main" id="{D85447D1-D24D-43E8-B181-D1B547C946C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80672" y="5539368"/>
            <a:ext cx="733527" cy="438211"/>
          </a:xfrm>
          <a:prstGeom prst="rect">
            <a:avLst/>
          </a:prstGeom>
        </p:spPr>
      </p:pic>
      <p:pic>
        <p:nvPicPr>
          <p:cNvPr id="68" name="Picture 24">
            <a:extLst>
              <a:ext uri="{FF2B5EF4-FFF2-40B4-BE49-F238E27FC236}">
                <a16:creationId xmlns:a16="http://schemas.microsoft.com/office/drawing/2014/main" id="{F8B61445-3CA7-41DA-A392-DF80CCCD818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749" y="3612914"/>
            <a:ext cx="619856" cy="619856"/>
          </a:xfrm>
          <a:prstGeom prst="rect">
            <a:avLst/>
          </a:prstGeom>
        </p:spPr>
      </p:pic>
      <p:pic>
        <p:nvPicPr>
          <p:cNvPr id="69" name="Picture 26">
            <a:extLst>
              <a:ext uri="{FF2B5EF4-FFF2-40B4-BE49-F238E27FC236}">
                <a16:creationId xmlns:a16="http://schemas.microsoft.com/office/drawing/2014/main" id="{8FDE7E59-7E72-4983-B54D-0D7E7AB81CF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094" y="5587316"/>
            <a:ext cx="1029829" cy="295888"/>
          </a:xfrm>
          <a:prstGeom prst="rect">
            <a:avLst/>
          </a:prstGeom>
        </p:spPr>
      </p:pic>
      <p:pic>
        <p:nvPicPr>
          <p:cNvPr id="70" name="Picture 10">
            <a:extLst>
              <a:ext uri="{FF2B5EF4-FFF2-40B4-BE49-F238E27FC236}">
                <a16:creationId xmlns:a16="http://schemas.microsoft.com/office/drawing/2014/main" id="{045979EF-321D-4CF3-8302-E8BBB0137BA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799" y="4187553"/>
            <a:ext cx="1285875" cy="219075"/>
          </a:xfrm>
          <a:prstGeom prst="rect">
            <a:avLst/>
          </a:prstGeom>
        </p:spPr>
      </p:pic>
      <p:pic>
        <p:nvPicPr>
          <p:cNvPr id="71" name="Picture 20">
            <a:extLst>
              <a:ext uri="{FF2B5EF4-FFF2-40B4-BE49-F238E27FC236}">
                <a16:creationId xmlns:a16="http://schemas.microsoft.com/office/drawing/2014/main" id="{5C8F9EAA-381C-457A-B430-601CB13AF0A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797" y="1822931"/>
            <a:ext cx="1207261" cy="340436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Внедрение практик </a:t>
            </a:r>
          </a:p>
          <a:p>
            <a:r>
              <a:rPr lang="ru-RU"/>
              <a:t>непрерывного тестирования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BBF9BA2F-124A-41FE-B059-12C55FD75C03}"/>
              </a:ext>
            </a:extLst>
          </p:cNvPr>
          <p:cNvSpPr/>
          <p:nvPr/>
        </p:nvSpPr>
        <p:spPr bwMode="auto">
          <a:xfrm>
            <a:off x="3215164" y="4874222"/>
            <a:ext cx="2976948" cy="886318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: Rounded Corners 293">
            <a:extLst>
              <a:ext uri="{FF2B5EF4-FFF2-40B4-BE49-F238E27FC236}">
                <a16:creationId xmlns:a16="http://schemas.microsoft.com/office/drawing/2014/main" id="{A9D92AB8-FE36-4FDA-993C-83A3806F8DBE}"/>
              </a:ext>
            </a:extLst>
          </p:cNvPr>
          <p:cNvSpPr/>
          <p:nvPr/>
        </p:nvSpPr>
        <p:spPr>
          <a:xfrm>
            <a:off x="607759" y="1219049"/>
            <a:ext cx="11039967" cy="1171643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практик непрерывного тестирования</a:t>
            </a:r>
          </a:p>
        </p:txBody>
      </p:sp>
      <p:grpSp>
        <p:nvGrpSpPr>
          <p:cNvPr id="23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3247849"/>
            <a:ext cx="300473" cy="135942"/>
            <a:chOff x="10329863" y="3142398"/>
            <a:chExt cx="817563" cy="369887"/>
          </a:xfrm>
        </p:grpSpPr>
        <p:sp>
          <p:nvSpPr>
            <p:cNvPr id="24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5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6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27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038441"/>
            <a:ext cx="300473" cy="135942"/>
            <a:chOff x="10329863" y="3142398"/>
            <a:chExt cx="817563" cy="369887"/>
          </a:xfrm>
        </p:grpSpPr>
        <p:sp>
          <p:nvSpPr>
            <p:cNvPr id="28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9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0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31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896000"/>
            <a:ext cx="300473" cy="135942"/>
            <a:chOff x="10329863" y="3142398"/>
            <a:chExt cx="817563" cy="369887"/>
          </a:xfrm>
        </p:grpSpPr>
        <p:sp>
          <p:nvSpPr>
            <p:cNvPr id="32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3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35" name="TextBox 290">
            <a:extLst>
              <a:ext uri="{FF2B5EF4-FFF2-40B4-BE49-F238E27FC236}">
                <a16:creationId xmlns:a16="http://schemas.microsoft.com/office/drawing/2014/main" id="{BE7BD9F9-9373-40AC-93D5-5A31747411BE}"/>
              </a:ext>
            </a:extLst>
          </p:cNvPr>
          <p:cNvSpPr txBox="1"/>
          <p:nvPr/>
        </p:nvSpPr>
        <p:spPr>
          <a:xfrm>
            <a:off x="1640080" y="1556504"/>
            <a:ext cx="4018770" cy="410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  <a:defRPr/>
            </a:pP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Сократить время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получения обратной связи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 качестве каждой новой версии системы</a:t>
            </a:r>
          </a:p>
        </p:txBody>
      </p:sp>
      <p:sp>
        <p:nvSpPr>
          <p:cNvPr id="36" name="Rectangle 291">
            <a:extLst>
              <a:ext uri="{FF2B5EF4-FFF2-40B4-BE49-F238E27FC236}">
                <a16:creationId xmlns:a16="http://schemas.microsoft.com/office/drawing/2014/main" id="{ECA2060D-FDF1-4B36-9E27-CBB07805857B}"/>
              </a:ext>
            </a:extLst>
          </p:cNvPr>
          <p:cNvSpPr/>
          <p:nvPr/>
        </p:nvSpPr>
        <p:spPr>
          <a:xfrm>
            <a:off x="7665193" y="1541181"/>
            <a:ext cx="3919048" cy="410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Максимально быстро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идентифицировать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возможную проблему и ее источник</a:t>
            </a:r>
          </a:p>
        </p:txBody>
      </p:sp>
      <p:sp>
        <p:nvSpPr>
          <p:cNvPr id="37" name="TextBox 292">
            <a:extLst>
              <a:ext uri="{FF2B5EF4-FFF2-40B4-BE49-F238E27FC236}">
                <a16:creationId xmlns:a16="http://schemas.microsoft.com/office/drawing/2014/main" id="{DA89BC08-9497-4BE6-A1E9-36A72BA4CBEE}"/>
              </a:ext>
            </a:extLst>
          </p:cNvPr>
          <p:cNvSpPr txBox="1"/>
          <p:nvPr/>
        </p:nvSpPr>
        <p:spPr>
          <a:xfrm>
            <a:off x="538376" y="843782"/>
            <a:ext cx="4500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en-US" sz="1050" b="1" i="0" u="none" strike="noStrike" kern="1200" cap="none" spc="3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8" name="TextBox 313">
            <a:extLst>
              <a:ext uri="{FF2B5EF4-FFF2-40B4-BE49-F238E27FC236}">
                <a16:creationId xmlns:a16="http://schemas.microsoft.com/office/drawing/2014/main" id="{EA9B5D1E-F94D-49D6-A289-0A873F7A7954}"/>
              </a:ext>
            </a:extLst>
          </p:cNvPr>
          <p:cNvSpPr txBox="1"/>
          <p:nvPr/>
        </p:nvSpPr>
        <p:spPr>
          <a:xfrm>
            <a:off x="538376" y="2513069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grpSp>
        <p:nvGrpSpPr>
          <p:cNvPr id="39" name="Группа 400">
            <a:extLst>
              <a:ext uri="{FF2B5EF4-FFF2-40B4-BE49-F238E27FC236}">
                <a16:creationId xmlns:a16="http://schemas.microsoft.com/office/drawing/2014/main" id="{D207F270-F228-4FB0-9D1E-E9B56050035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5626221"/>
            <a:ext cx="300473" cy="135942"/>
            <a:chOff x="10329863" y="3142398"/>
            <a:chExt cx="817563" cy="369887"/>
          </a:xfrm>
        </p:grpSpPr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671123F8-3B9E-4959-9532-47ADF4839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1" name="Rectangle 42">
              <a:extLst>
                <a:ext uri="{FF2B5EF4-FFF2-40B4-BE49-F238E27FC236}">
                  <a16:creationId xmlns:a16="http://schemas.microsoft.com/office/drawing/2014/main" id="{49F8F1C3-96C0-4E90-89D9-62C7F18A9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3A45B9E0-EDEF-4DF4-8E31-280FE5A8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43" name="TextBox 462">
            <a:extLst>
              <a:ext uri="{FF2B5EF4-FFF2-40B4-BE49-F238E27FC236}">
                <a16:creationId xmlns:a16="http://schemas.microsoft.com/office/drawing/2014/main" id="{758E19F7-9E35-41B6-8DF2-D6C333A07490}"/>
              </a:ext>
            </a:extLst>
          </p:cNvPr>
          <p:cNvSpPr txBox="1"/>
          <p:nvPr/>
        </p:nvSpPr>
        <p:spPr>
          <a:xfrm>
            <a:off x="7625168" y="2559251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688AF33-C03C-4711-8D46-BD8A8033EB04}"/>
              </a:ext>
            </a:extLst>
          </p:cNvPr>
          <p:cNvSpPr txBox="1">
            <a:spLocks/>
          </p:cNvSpPr>
          <p:nvPr/>
        </p:nvSpPr>
        <p:spPr>
          <a:xfrm>
            <a:off x="8308265" y="2956194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D70EF"/>
              </a:buClr>
              <a:buSzTx/>
              <a:buFont typeface="+mj-lt"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Ускорение цикла разработки</a:t>
            </a:r>
            <a:endParaRPr kumimoji="0" lang="en-US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5" name="Rectangle 464">
            <a:extLst>
              <a:ext uri="{FF2B5EF4-FFF2-40B4-BE49-F238E27FC236}">
                <a16:creationId xmlns:a16="http://schemas.microsoft.com/office/drawing/2014/main" id="{6B1D159D-9F56-47D4-9492-85BBFCCD3D1F}"/>
              </a:ext>
            </a:extLst>
          </p:cNvPr>
          <p:cNvSpPr/>
          <p:nvPr/>
        </p:nvSpPr>
        <p:spPr>
          <a:xfrm>
            <a:off x="8308264" y="527541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D70EF"/>
              </a:buClr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Повышение эффективности команд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6" name="Rectangle 465">
            <a:extLst>
              <a:ext uri="{FF2B5EF4-FFF2-40B4-BE49-F238E27FC236}">
                <a16:creationId xmlns:a16="http://schemas.microsoft.com/office/drawing/2014/main" id="{BB939DFB-C0C4-428A-84F2-4B18B0D50EE0}"/>
              </a:ext>
            </a:extLst>
          </p:cNvPr>
          <p:cNvSpPr/>
          <p:nvPr/>
        </p:nvSpPr>
        <p:spPr>
          <a:xfrm>
            <a:off x="8308265" y="3823105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Упрощение внедрения изменений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7" name="Rectangle 466">
            <a:extLst>
              <a:ext uri="{FF2B5EF4-FFF2-40B4-BE49-F238E27FC236}">
                <a16:creationId xmlns:a16="http://schemas.microsoft.com/office/drawing/2014/main" id="{630D5A25-18D9-4A2B-8047-7ADF2314AB5A}"/>
              </a:ext>
            </a:extLst>
          </p:cNvPr>
          <p:cNvSpPr/>
          <p:nvPr/>
        </p:nvSpPr>
        <p:spPr>
          <a:xfrm>
            <a:off x="8308265" y="4535630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D70EF"/>
              </a:buClr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Сокращение рисков и издержек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6BBB0E90-66AF-4EED-8BE1-DD3343EEC40B}"/>
              </a:ext>
            </a:extLst>
          </p:cNvPr>
          <p:cNvSpPr/>
          <p:nvPr/>
        </p:nvSpPr>
        <p:spPr>
          <a:xfrm>
            <a:off x="8308265" y="3171203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более быстрое выявление и исправление ошибок за счет тестирования на каждом этапе разработки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BE979077-9F52-4DFB-BFAF-747BECE09486}"/>
              </a:ext>
            </a:extLst>
          </p:cNvPr>
          <p:cNvSpPr/>
          <p:nvPr/>
        </p:nvSpPr>
        <p:spPr>
          <a:xfrm>
            <a:off x="8308265" y="4014984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непрерывного выполнения автоматизированных тестов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D847CA13-1881-4429-B08F-22575CC2AD07}"/>
              </a:ext>
            </a:extLst>
          </p:cNvPr>
          <p:cNvSpPr/>
          <p:nvPr/>
        </p:nvSpPr>
        <p:spPr>
          <a:xfrm>
            <a:off x="8308265" y="5494756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 lvl="0">
              <a:spcBef>
                <a:spcPts val="1000"/>
              </a:spcBef>
              <a:buClr>
                <a:srgbClr val="7D70EF"/>
              </a:buClr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устранение пробелов между разработкой, тестированием и поддержкой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1" name="Rectangle 11">
            <a:extLst>
              <a:ext uri="{FF2B5EF4-FFF2-40B4-BE49-F238E27FC236}">
                <a16:creationId xmlns:a16="http://schemas.microsoft.com/office/drawing/2014/main" id="{5B699D4E-491F-426A-89EF-E9190B57B350}"/>
              </a:ext>
            </a:extLst>
          </p:cNvPr>
          <p:cNvSpPr/>
          <p:nvPr/>
        </p:nvSpPr>
        <p:spPr>
          <a:xfrm>
            <a:off x="8308265" y="4746052"/>
            <a:ext cx="3255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7D70EF"/>
              </a:buClr>
              <a:buSzTx/>
              <a:buFontTx/>
              <a:buNone/>
              <a:tabLst/>
              <a:defRPr/>
            </a:pP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</a:t>
            </a:r>
            <a:r>
              <a:rPr kumimoji="0" lang="ru-RU" sz="9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 исправление дефектов, т.к. они выявляются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9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 релиза в автоматическом режиме</a:t>
            </a:r>
          </a:p>
        </p:txBody>
      </p:sp>
      <p:grpSp>
        <p:nvGrpSpPr>
          <p:cNvPr id="52" name="Группа 194">
            <a:extLst>
              <a:ext uri="{FF2B5EF4-FFF2-40B4-BE49-F238E27FC236}">
                <a16:creationId xmlns:a16="http://schemas.microsoft.com/office/drawing/2014/main" id="{A8E10B09-3D4C-492C-A1A0-030F8D13781E}"/>
              </a:ext>
            </a:extLst>
          </p:cNvPr>
          <p:cNvGrpSpPr>
            <a:grpSpLocks noChangeAspect="1"/>
          </p:cNvGrpSpPr>
          <p:nvPr/>
        </p:nvGrpSpPr>
        <p:grpSpPr>
          <a:xfrm>
            <a:off x="7691655" y="3074718"/>
            <a:ext cx="408851" cy="343358"/>
            <a:chOff x="8605523" y="2869849"/>
            <a:chExt cx="990409" cy="831756"/>
          </a:xfrm>
          <a:solidFill>
            <a:srgbClr val="000000"/>
          </a:solidFill>
        </p:grpSpPr>
        <p:sp>
          <p:nvSpPr>
            <p:cNvPr id="53" name="Полилиния: фигура 457">
              <a:extLst>
                <a:ext uri="{FF2B5EF4-FFF2-40B4-BE49-F238E27FC236}">
                  <a16:creationId xmlns:a16="http://schemas.microsoft.com/office/drawing/2014/main" id="{CA0A8EAB-1217-4D0E-BC52-1C6668908DCA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4" name="Полилиния: фигура 458">
              <a:extLst>
                <a:ext uri="{FF2B5EF4-FFF2-40B4-BE49-F238E27FC236}">
                  <a16:creationId xmlns:a16="http://schemas.microsoft.com/office/drawing/2014/main" id="{2329EF57-1A0A-4601-BF5B-3E8EBDD90A81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5" name="Полилиния: фигура 459">
              <a:extLst>
                <a:ext uri="{FF2B5EF4-FFF2-40B4-BE49-F238E27FC236}">
                  <a16:creationId xmlns:a16="http://schemas.microsoft.com/office/drawing/2014/main" id="{8828B301-9ECB-4385-8B1C-3793AD1AA7F2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6" name="Полилиния: фигура 460">
              <a:extLst>
                <a:ext uri="{FF2B5EF4-FFF2-40B4-BE49-F238E27FC236}">
                  <a16:creationId xmlns:a16="http://schemas.microsoft.com/office/drawing/2014/main" id="{E63B14F9-09B8-4001-B473-F6BE76DE8A4F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7" name="Полилиния: фигура 540">
              <a:extLst>
                <a:ext uri="{FF2B5EF4-FFF2-40B4-BE49-F238E27FC236}">
                  <a16:creationId xmlns:a16="http://schemas.microsoft.com/office/drawing/2014/main" id="{B272AB3E-598A-44C6-9DA2-E49C06BA81BE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8" name="Полилиния: фигура 541">
              <a:extLst>
                <a:ext uri="{FF2B5EF4-FFF2-40B4-BE49-F238E27FC236}">
                  <a16:creationId xmlns:a16="http://schemas.microsoft.com/office/drawing/2014/main" id="{BD7C236C-3133-4B87-B2CA-0704387007C9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9" name="Полилиния: фигура 542">
              <a:extLst>
                <a:ext uri="{FF2B5EF4-FFF2-40B4-BE49-F238E27FC236}">
                  <a16:creationId xmlns:a16="http://schemas.microsoft.com/office/drawing/2014/main" id="{BE757AC7-4BFB-4921-B8EB-55822B588FA5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FFFFFF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0" name="Полилиния: фигура 543">
              <a:extLst>
                <a:ext uri="{FF2B5EF4-FFF2-40B4-BE49-F238E27FC236}">
                  <a16:creationId xmlns:a16="http://schemas.microsoft.com/office/drawing/2014/main" id="{CD2B5694-02A2-4A1A-B3C6-90FF28A796D5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1" name="Полилиния: фигура 544">
              <a:extLst>
                <a:ext uri="{FF2B5EF4-FFF2-40B4-BE49-F238E27FC236}">
                  <a16:creationId xmlns:a16="http://schemas.microsoft.com/office/drawing/2014/main" id="{9D5BA230-6473-4EAA-92C2-A10859FE3E83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2" name="Полилиния: фигура 545">
              <a:extLst>
                <a:ext uri="{FF2B5EF4-FFF2-40B4-BE49-F238E27FC236}">
                  <a16:creationId xmlns:a16="http://schemas.microsoft.com/office/drawing/2014/main" id="{231BA72F-53FC-49BC-BA4D-07FEFE71B65E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rgbClr val="FFFFFF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3" name="Полилиния: фигура 566">
              <a:extLst>
                <a:ext uri="{FF2B5EF4-FFF2-40B4-BE49-F238E27FC236}">
                  <a16:creationId xmlns:a16="http://schemas.microsoft.com/office/drawing/2014/main" id="{F145EE0C-786E-4226-979A-CBDB309BBAC7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4" name="Полилиния: фигура 568">
              <a:extLst>
                <a:ext uri="{FF2B5EF4-FFF2-40B4-BE49-F238E27FC236}">
                  <a16:creationId xmlns:a16="http://schemas.microsoft.com/office/drawing/2014/main" id="{C7053DBC-6773-450C-B8C8-F6F3A5264218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5" name="Группа 302">
            <a:extLst>
              <a:ext uri="{FF2B5EF4-FFF2-40B4-BE49-F238E27FC236}">
                <a16:creationId xmlns:a16="http://schemas.microsoft.com/office/drawing/2014/main" id="{6BE8A819-78BE-43A2-8ACB-ACDD43AA3E54}"/>
              </a:ext>
            </a:extLst>
          </p:cNvPr>
          <p:cNvGrpSpPr>
            <a:grpSpLocks noChangeAspect="1"/>
          </p:cNvGrpSpPr>
          <p:nvPr/>
        </p:nvGrpSpPr>
        <p:grpSpPr>
          <a:xfrm>
            <a:off x="7718238" y="3878650"/>
            <a:ext cx="394289" cy="389990"/>
            <a:chOff x="4039551" y="1016321"/>
            <a:chExt cx="994520" cy="983675"/>
          </a:xfrm>
        </p:grpSpPr>
        <p:sp>
          <p:nvSpPr>
            <p:cNvPr id="66" name="Полилиния: фигура 8">
              <a:extLst>
                <a:ext uri="{FF2B5EF4-FFF2-40B4-BE49-F238E27FC236}">
                  <a16:creationId xmlns:a16="http://schemas.microsoft.com/office/drawing/2014/main" id="{E859083C-B194-44AF-AC3D-40EA7B399941}"/>
                </a:ext>
              </a:extLst>
            </p:cNvPr>
            <p:cNvSpPr/>
            <p:nvPr/>
          </p:nvSpPr>
          <p:spPr>
            <a:xfrm>
              <a:off x="4039551" y="1016321"/>
              <a:ext cx="582551" cy="751942"/>
            </a:xfrm>
            <a:custGeom>
              <a:avLst/>
              <a:gdLst>
                <a:gd name="connsiteX0" fmla="*/ 263919 w 582551"/>
                <a:gd name="connsiteY0" fmla="*/ 751942 h 751942"/>
                <a:gd name="connsiteX1" fmla="*/ 0 w 582551"/>
                <a:gd name="connsiteY1" fmla="*/ 751942 h 751942"/>
                <a:gd name="connsiteX2" fmla="*/ 0 w 582551"/>
                <a:gd name="connsiteY2" fmla="*/ 581361 h 751942"/>
                <a:gd name="connsiteX3" fmla="*/ 19311 w 582551"/>
                <a:gd name="connsiteY3" fmla="*/ 587798 h 751942"/>
                <a:gd name="connsiteX4" fmla="*/ 144833 w 582551"/>
                <a:gd name="connsiteY4" fmla="*/ 552394 h 751942"/>
                <a:gd name="connsiteX5" fmla="*/ 154489 w 582551"/>
                <a:gd name="connsiteY5" fmla="*/ 413998 h 751942"/>
                <a:gd name="connsiteX6" fmla="*/ 22530 w 582551"/>
                <a:gd name="connsiteY6" fmla="*/ 365720 h 751942"/>
                <a:gd name="connsiteX7" fmla="*/ 0 w 582551"/>
                <a:gd name="connsiteY7" fmla="*/ 368939 h 751942"/>
                <a:gd name="connsiteX8" fmla="*/ 0 w 582551"/>
                <a:gd name="connsiteY8" fmla="*/ 169390 h 751942"/>
                <a:gd name="connsiteX9" fmla="*/ 70808 w 582551"/>
                <a:gd name="connsiteY9" fmla="*/ 169390 h 751942"/>
                <a:gd name="connsiteX10" fmla="*/ 164144 w 582551"/>
                <a:gd name="connsiteY10" fmla="*/ 169390 h 751942"/>
                <a:gd name="connsiteX11" fmla="*/ 180237 w 582551"/>
                <a:gd name="connsiteY11" fmla="*/ 162953 h 751942"/>
                <a:gd name="connsiteX12" fmla="*/ 180237 w 582551"/>
                <a:gd name="connsiteY12" fmla="*/ 146861 h 751942"/>
                <a:gd name="connsiteX13" fmla="*/ 212422 w 582551"/>
                <a:gd name="connsiteY13" fmla="*/ 21339 h 751942"/>
                <a:gd name="connsiteX14" fmla="*/ 344381 w 582551"/>
                <a:gd name="connsiteY14" fmla="*/ 24557 h 751942"/>
                <a:gd name="connsiteX15" fmla="*/ 373348 w 582551"/>
                <a:gd name="connsiteY15" fmla="*/ 153298 h 751942"/>
                <a:gd name="connsiteX16" fmla="*/ 373348 w 582551"/>
                <a:gd name="connsiteY16" fmla="*/ 159735 h 751942"/>
                <a:gd name="connsiteX17" fmla="*/ 376567 w 582551"/>
                <a:gd name="connsiteY17" fmla="*/ 162953 h 751942"/>
                <a:gd name="connsiteX18" fmla="*/ 395878 w 582551"/>
                <a:gd name="connsiteY18" fmla="*/ 166172 h 751942"/>
                <a:gd name="connsiteX19" fmla="*/ 514963 w 582551"/>
                <a:gd name="connsiteY19" fmla="*/ 166172 h 751942"/>
                <a:gd name="connsiteX20" fmla="*/ 582552 w 582551"/>
                <a:gd name="connsiteY20" fmla="*/ 166172 h 751942"/>
                <a:gd name="connsiteX21" fmla="*/ 582552 w 582551"/>
                <a:gd name="connsiteY21" fmla="*/ 320661 h 751942"/>
                <a:gd name="connsiteX22" fmla="*/ 550366 w 582551"/>
                <a:gd name="connsiteY22" fmla="*/ 320661 h 751942"/>
                <a:gd name="connsiteX23" fmla="*/ 550366 w 582551"/>
                <a:gd name="connsiteY23" fmla="*/ 201576 h 751942"/>
                <a:gd name="connsiteX24" fmla="*/ 514963 w 582551"/>
                <a:gd name="connsiteY24" fmla="*/ 201576 h 751942"/>
                <a:gd name="connsiteX25" fmla="*/ 395878 w 582551"/>
                <a:gd name="connsiteY25" fmla="*/ 201576 h 751942"/>
                <a:gd name="connsiteX26" fmla="*/ 363693 w 582551"/>
                <a:gd name="connsiteY26" fmla="*/ 195139 h 751942"/>
                <a:gd name="connsiteX27" fmla="*/ 344381 w 582551"/>
                <a:gd name="connsiteY27" fmla="*/ 172609 h 751942"/>
                <a:gd name="connsiteX28" fmla="*/ 347600 w 582551"/>
                <a:gd name="connsiteY28" fmla="*/ 140424 h 751942"/>
                <a:gd name="connsiteX29" fmla="*/ 325070 w 582551"/>
                <a:gd name="connsiteY29" fmla="*/ 50305 h 751942"/>
                <a:gd name="connsiteX30" fmla="*/ 231733 w 582551"/>
                <a:gd name="connsiteY30" fmla="*/ 47087 h 751942"/>
                <a:gd name="connsiteX31" fmla="*/ 209204 w 582551"/>
                <a:gd name="connsiteY31" fmla="*/ 133987 h 751942"/>
                <a:gd name="connsiteX32" fmla="*/ 209204 w 582551"/>
                <a:gd name="connsiteY32" fmla="*/ 179046 h 751942"/>
                <a:gd name="connsiteX33" fmla="*/ 167363 w 582551"/>
                <a:gd name="connsiteY33" fmla="*/ 198357 h 751942"/>
                <a:gd name="connsiteX34" fmla="*/ 74026 w 582551"/>
                <a:gd name="connsiteY34" fmla="*/ 198357 h 751942"/>
                <a:gd name="connsiteX35" fmla="*/ 35404 w 582551"/>
                <a:gd name="connsiteY35" fmla="*/ 198357 h 751942"/>
                <a:gd name="connsiteX36" fmla="*/ 35404 w 582551"/>
                <a:gd name="connsiteY36" fmla="*/ 327098 h 751942"/>
                <a:gd name="connsiteX37" fmla="*/ 183456 w 582551"/>
                <a:gd name="connsiteY37" fmla="*/ 394687 h 751942"/>
                <a:gd name="connsiteX38" fmla="*/ 173800 w 582551"/>
                <a:gd name="connsiteY38" fmla="*/ 568487 h 751942"/>
                <a:gd name="connsiteX39" fmla="*/ 35404 w 582551"/>
                <a:gd name="connsiteY39" fmla="*/ 619983 h 751942"/>
                <a:gd name="connsiteX40" fmla="*/ 35404 w 582551"/>
                <a:gd name="connsiteY40" fmla="*/ 716539 h 751942"/>
                <a:gd name="connsiteX41" fmla="*/ 267137 w 582551"/>
                <a:gd name="connsiteY41" fmla="*/ 716539 h 751942"/>
                <a:gd name="connsiteX42" fmla="*/ 267137 w 582551"/>
                <a:gd name="connsiteY42" fmla="*/ 751942 h 75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82551" h="751942">
                  <a:moveTo>
                    <a:pt x="263919" y="751942"/>
                  </a:moveTo>
                  <a:lnTo>
                    <a:pt x="0" y="751942"/>
                  </a:lnTo>
                  <a:lnTo>
                    <a:pt x="0" y="581361"/>
                  </a:lnTo>
                  <a:lnTo>
                    <a:pt x="19311" y="587798"/>
                  </a:lnTo>
                  <a:cubicBezTo>
                    <a:pt x="70808" y="600672"/>
                    <a:pt x="115867" y="587798"/>
                    <a:pt x="144833" y="552394"/>
                  </a:cubicBezTo>
                  <a:cubicBezTo>
                    <a:pt x="173800" y="513772"/>
                    <a:pt x="177018" y="455839"/>
                    <a:pt x="154489" y="413998"/>
                  </a:cubicBezTo>
                  <a:cubicBezTo>
                    <a:pt x="125522" y="365720"/>
                    <a:pt x="83681" y="349627"/>
                    <a:pt x="22530" y="365720"/>
                  </a:cubicBezTo>
                  <a:lnTo>
                    <a:pt x="0" y="368939"/>
                  </a:lnTo>
                  <a:lnTo>
                    <a:pt x="0" y="169390"/>
                  </a:lnTo>
                  <a:lnTo>
                    <a:pt x="70808" y="169390"/>
                  </a:lnTo>
                  <a:cubicBezTo>
                    <a:pt x="102993" y="169390"/>
                    <a:pt x="131959" y="169390"/>
                    <a:pt x="164144" y="169390"/>
                  </a:cubicBezTo>
                  <a:cubicBezTo>
                    <a:pt x="173800" y="169390"/>
                    <a:pt x="177018" y="166172"/>
                    <a:pt x="180237" y="162953"/>
                  </a:cubicBezTo>
                  <a:cubicBezTo>
                    <a:pt x="183456" y="159735"/>
                    <a:pt x="180237" y="153298"/>
                    <a:pt x="180237" y="146861"/>
                  </a:cubicBezTo>
                  <a:cubicBezTo>
                    <a:pt x="157707" y="101802"/>
                    <a:pt x="173800" y="50305"/>
                    <a:pt x="212422" y="21339"/>
                  </a:cubicBezTo>
                  <a:cubicBezTo>
                    <a:pt x="251044" y="-7628"/>
                    <a:pt x="308978" y="-7628"/>
                    <a:pt x="344381" y="24557"/>
                  </a:cubicBezTo>
                  <a:cubicBezTo>
                    <a:pt x="383004" y="56742"/>
                    <a:pt x="395878" y="111457"/>
                    <a:pt x="373348" y="153298"/>
                  </a:cubicBezTo>
                  <a:cubicBezTo>
                    <a:pt x="373348" y="156516"/>
                    <a:pt x="370129" y="159735"/>
                    <a:pt x="373348" y="159735"/>
                  </a:cubicBezTo>
                  <a:cubicBezTo>
                    <a:pt x="373348" y="159735"/>
                    <a:pt x="376567" y="162953"/>
                    <a:pt x="376567" y="162953"/>
                  </a:cubicBezTo>
                  <a:cubicBezTo>
                    <a:pt x="383004" y="166172"/>
                    <a:pt x="389440" y="166172"/>
                    <a:pt x="395878" y="166172"/>
                  </a:cubicBezTo>
                  <a:cubicBezTo>
                    <a:pt x="434500" y="166172"/>
                    <a:pt x="476341" y="166172"/>
                    <a:pt x="514963" y="166172"/>
                  </a:cubicBezTo>
                  <a:lnTo>
                    <a:pt x="582552" y="166172"/>
                  </a:lnTo>
                  <a:lnTo>
                    <a:pt x="582552" y="320661"/>
                  </a:lnTo>
                  <a:lnTo>
                    <a:pt x="550366" y="320661"/>
                  </a:lnTo>
                  <a:lnTo>
                    <a:pt x="550366" y="201576"/>
                  </a:lnTo>
                  <a:lnTo>
                    <a:pt x="514963" y="201576"/>
                  </a:lnTo>
                  <a:cubicBezTo>
                    <a:pt x="476341" y="201576"/>
                    <a:pt x="434500" y="201576"/>
                    <a:pt x="395878" y="201576"/>
                  </a:cubicBezTo>
                  <a:cubicBezTo>
                    <a:pt x="389440" y="201576"/>
                    <a:pt x="376567" y="201576"/>
                    <a:pt x="363693" y="195139"/>
                  </a:cubicBezTo>
                  <a:cubicBezTo>
                    <a:pt x="354037" y="191920"/>
                    <a:pt x="347600" y="182265"/>
                    <a:pt x="344381" y="172609"/>
                  </a:cubicBezTo>
                  <a:cubicBezTo>
                    <a:pt x="341163" y="162953"/>
                    <a:pt x="341163" y="150079"/>
                    <a:pt x="347600" y="140424"/>
                  </a:cubicBezTo>
                  <a:cubicBezTo>
                    <a:pt x="360474" y="111457"/>
                    <a:pt x="350818" y="72835"/>
                    <a:pt x="325070" y="50305"/>
                  </a:cubicBezTo>
                  <a:cubicBezTo>
                    <a:pt x="299322" y="27776"/>
                    <a:pt x="260700" y="27776"/>
                    <a:pt x="231733" y="47087"/>
                  </a:cubicBezTo>
                  <a:cubicBezTo>
                    <a:pt x="202767" y="66398"/>
                    <a:pt x="193111" y="101802"/>
                    <a:pt x="209204" y="133987"/>
                  </a:cubicBezTo>
                  <a:cubicBezTo>
                    <a:pt x="215641" y="150079"/>
                    <a:pt x="215641" y="166172"/>
                    <a:pt x="209204" y="179046"/>
                  </a:cubicBezTo>
                  <a:cubicBezTo>
                    <a:pt x="202767" y="188702"/>
                    <a:pt x="189893" y="198357"/>
                    <a:pt x="167363" y="198357"/>
                  </a:cubicBezTo>
                  <a:cubicBezTo>
                    <a:pt x="135178" y="198357"/>
                    <a:pt x="106211" y="198357"/>
                    <a:pt x="74026" y="198357"/>
                  </a:cubicBezTo>
                  <a:lnTo>
                    <a:pt x="35404" y="198357"/>
                  </a:lnTo>
                  <a:lnTo>
                    <a:pt x="35404" y="327098"/>
                  </a:lnTo>
                  <a:cubicBezTo>
                    <a:pt x="99774" y="317442"/>
                    <a:pt x="151270" y="339972"/>
                    <a:pt x="183456" y="394687"/>
                  </a:cubicBezTo>
                  <a:cubicBezTo>
                    <a:pt x="215641" y="446183"/>
                    <a:pt x="212422" y="520209"/>
                    <a:pt x="173800" y="568487"/>
                  </a:cubicBezTo>
                  <a:cubicBezTo>
                    <a:pt x="141615" y="610328"/>
                    <a:pt x="90119" y="629639"/>
                    <a:pt x="35404" y="619983"/>
                  </a:cubicBezTo>
                  <a:lnTo>
                    <a:pt x="35404" y="716539"/>
                  </a:lnTo>
                  <a:lnTo>
                    <a:pt x="267137" y="716539"/>
                  </a:lnTo>
                  <a:lnTo>
                    <a:pt x="267137" y="751942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: фигура 60">
              <a:extLst>
                <a:ext uri="{FF2B5EF4-FFF2-40B4-BE49-F238E27FC236}">
                  <a16:creationId xmlns:a16="http://schemas.microsoft.com/office/drawing/2014/main" id="{00DA05F6-613F-420F-BF20-A405EE4F17AC}"/>
                </a:ext>
              </a:extLst>
            </p:cNvPr>
            <p:cNvSpPr/>
            <p:nvPr/>
          </p:nvSpPr>
          <p:spPr>
            <a:xfrm>
              <a:off x="4455475" y="1359290"/>
              <a:ext cx="369394" cy="537714"/>
            </a:xfrm>
            <a:custGeom>
              <a:avLst/>
              <a:gdLst>
                <a:gd name="connsiteX0" fmla="*/ 359738 w 369394"/>
                <a:gd name="connsiteY0" fmla="*/ 537715 h 537714"/>
                <a:gd name="connsiteX1" fmla="*/ 179502 w 369394"/>
                <a:gd name="connsiteY1" fmla="*/ 441159 h 537714"/>
                <a:gd name="connsiteX2" fmla="*/ 169846 w 369394"/>
                <a:gd name="connsiteY2" fmla="*/ 373570 h 537714"/>
                <a:gd name="connsiteX3" fmla="*/ 156972 w 369394"/>
                <a:gd name="connsiteY3" fmla="*/ 296326 h 537714"/>
                <a:gd name="connsiteX4" fmla="*/ 131224 w 369394"/>
                <a:gd name="connsiteY4" fmla="*/ 264141 h 537714"/>
                <a:gd name="connsiteX5" fmla="*/ 86165 w 369394"/>
                <a:gd name="connsiteY5" fmla="*/ 219082 h 537714"/>
                <a:gd name="connsiteX6" fmla="*/ 5702 w 369394"/>
                <a:gd name="connsiteY6" fmla="*/ 42063 h 537714"/>
                <a:gd name="connsiteX7" fmla="*/ 70072 w 369394"/>
                <a:gd name="connsiteY7" fmla="*/ 222 h 537714"/>
                <a:gd name="connsiteX8" fmla="*/ 169846 w 369394"/>
                <a:gd name="connsiteY8" fmla="*/ 67811 h 537714"/>
                <a:gd name="connsiteX9" fmla="*/ 221342 w 369394"/>
                <a:gd name="connsiteY9" fmla="*/ 125744 h 537714"/>
                <a:gd name="connsiteX10" fmla="*/ 369394 w 369394"/>
                <a:gd name="connsiteY10" fmla="*/ 225519 h 537714"/>
                <a:gd name="connsiteX11" fmla="*/ 356520 w 369394"/>
                <a:gd name="connsiteY11" fmla="*/ 254485 h 537714"/>
                <a:gd name="connsiteX12" fmla="*/ 198813 w 369394"/>
                <a:gd name="connsiteY12" fmla="*/ 148274 h 537714"/>
                <a:gd name="connsiteX13" fmla="*/ 144098 w 369394"/>
                <a:gd name="connsiteY13" fmla="*/ 90341 h 537714"/>
                <a:gd name="connsiteX14" fmla="*/ 70072 w 369394"/>
                <a:gd name="connsiteY14" fmla="*/ 32407 h 537714"/>
                <a:gd name="connsiteX15" fmla="*/ 31450 w 369394"/>
                <a:gd name="connsiteY15" fmla="*/ 54937 h 537714"/>
                <a:gd name="connsiteX16" fmla="*/ 108694 w 369394"/>
                <a:gd name="connsiteY16" fmla="*/ 196552 h 537714"/>
                <a:gd name="connsiteX17" fmla="*/ 150535 w 369394"/>
                <a:gd name="connsiteY17" fmla="*/ 238393 h 537714"/>
                <a:gd name="connsiteX18" fmla="*/ 185939 w 369394"/>
                <a:gd name="connsiteY18" fmla="*/ 280233 h 537714"/>
                <a:gd name="connsiteX19" fmla="*/ 202031 w 369394"/>
                <a:gd name="connsiteY19" fmla="*/ 370352 h 537714"/>
                <a:gd name="connsiteX20" fmla="*/ 208468 w 369394"/>
                <a:gd name="connsiteY20" fmla="*/ 425067 h 537714"/>
                <a:gd name="connsiteX21" fmla="*/ 362957 w 369394"/>
                <a:gd name="connsiteY21" fmla="*/ 505530 h 537714"/>
                <a:gd name="connsiteX22" fmla="*/ 359738 w 369394"/>
                <a:gd name="connsiteY22" fmla="*/ 537715 h 53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9394" h="537714">
                  <a:moveTo>
                    <a:pt x="359738" y="537715"/>
                  </a:moveTo>
                  <a:cubicBezTo>
                    <a:pt x="263183" y="521622"/>
                    <a:pt x="202031" y="489437"/>
                    <a:pt x="179502" y="441159"/>
                  </a:cubicBezTo>
                  <a:cubicBezTo>
                    <a:pt x="169846" y="415411"/>
                    <a:pt x="169846" y="396100"/>
                    <a:pt x="169846" y="373570"/>
                  </a:cubicBezTo>
                  <a:cubicBezTo>
                    <a:pt x="169846" y="351041"/>
                    <a:pt x="169846" y="325293"/>
                    <a:pt x="156972" y="296326"/>
                  </a:cubicBezTo>
                  <a:cubicBezTo>
                    <a:pt x="150535" y="280233"/>
                    <a:pt x="144098" y="277015"/>
                    <a:pt x="131224" y="264141"/>
                  </a:cubicBezTo>
                  <a:cubicBezTo>
                    <a:pt x="121568" y="254485"/>
                    <a:pt x="105476" y="241611"/>
                    <a:pt x="86165" y="219082"/>
                  </a:cubicBezTo>
                  <a:cubicBezTo>
                    <a:pt x="47542" y="174022"/>
                    <a:pt x="-20046" y="96778"/>
                    <a:pt x="5702" y="42063"/>
                  </a:cubicBezTo>
                  <a:cubicBezTo>
                    <a:pt x="15357" y="19533"/>
                    <a:pt x="44324" y="3441"/>
                    <a:pt x="70072" y="222"/>
                  </a:cubicBezTo>
                  <a:cubicBezTo>
                    <a:pt x="111913" y="-2996"/>
                    <a:pt x="137661" y="29189"/>
                    <a:pt x="169846" y="67811"/>
                  </a:cubicBezTo>
                  <a:cubicBezTo>
                    <a:pt x="185939" y="83904"/>
                    <a:pt x="202031" y="106433"/>
                    <a:pt x="221342" y="125744"/>
                  </a:cubicBezTo>
                  <a:cubicBezTo>
                    <a:pt x="263183" y="167585"/>
                    <a:pt x="311461" y="199770"/>
                    <a:pt x="369394" y="225519"/>
                  </a:cubicBezTo>
                  <a:lnTo>
                    <a:pt x="356520" y="254485"/>
                  </a:lnTo>
                  <a:cubicBezTo>
                    <a:pt x="295368" y="228737"/>
                    <a:pt x="240653" y="190115"/>
                    <a:pt x="198813" y="148274"/>
                  </a:cubicBezTo>
                  <a:cubicBezTo>
                    <a:pt x="176283" y="128963"/>
                    <a:pt x="160191" y="106433"/>
                    <a:pt x="144098" y="90341"/>
                  </a:cubicBezTo>
                  <a:cubicBezTo>
                    <a:pt x="111913" y="51719"/>
                    <a:pt x="92602" y="32407"/>
                    <a:pt x="70072" y="32407"/>
                  </a:cubicBezTo>
                  <a:cubicBezTo>
                    <a:pt x="53979" y="32407"/>
                    <a:pt x="37887" y="42063"/>
                    <a:pt x="31450" y="54937"/>
                  </a:cubicBezTo>
                  <a:cubicBezTo>
                    <a:pt x="15357" y="90341"/>
                    <a:pt x="76509" y="161148"/>
                    <a:pt x="108694" y="196552"/>
                  </a:cubicBezTo>
                  <a:cubicBezTo>
                    <a:pt x="128005" y="219082"/>
                    <a:pt x="140879" y="228737"/>
                    <a:pt x="150535" y="238393"/>
                  </a:cubicBezTo>
                  <a:cubicBezTo>
                    <a:pt x="163409" y="251267"/>
                    <a:pt x="173065" y="257704"/>
                    <a:pt x="185939" y="280233"/>
                  </a:cubicBezTo>
                  <a:cubicBezTo>
                    <a:pt x="205250" y="315637"/>
                    <a:pt x="205250" y="344604"/>
                    <a:pt x="202031" y="370352"/>
                  </a:cubicBezTo>
                  <a:cubicBezTo>
                    <a:pt x="202031" y="389663"/>
                    <a:pt x="202031" y="405756"/>
                    <a:pt x="208468" y="425067"/>
                  </a:cubicBezTo>
                  <a:cubicBezTo>
                    <a:pt x="224561" y="463689"/>
                    <a:pt x="279276" y="492656"/>
                    <a:pt x="362957" y="505530"/>
                  </a:cubicBezTo>
                  <a:lnTo>
                    <a:pt x="359738" y="537715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: фигура 61">
              <a:extLst>
                <a:ext uri="{FF2B5EF4-FFF2-40B4-BE49-F238E27FC236}">
                  <a16:creationId xmlns:a16="http://schemas.microsoft.com/office/drawing/2014/main" id="{63CA6474-FAA0-4110-8DE5-6E1B4421055F}"/>
                </a:ext>
              </a:extLst>
            </p:cNvPr>
            <p:cNvSpPr/>
            <p:nvPr/>
          </p:nvSpPr>
          <p:spPr>
            <a:xfrm>
              <a:off x="4673598" y="1388478"/>
              <a:ext cx="360473" cy="572896"/>
            </a:xfrm>
            <a:custGeom>
              <a:avLst/>
              <a:gdLst>
                <a:gd name="connsiteX0" fmla="*/ 331507 w 360473"/>
                <a:gd name="connsiteY0" fmla="*/ 572896 h 572896"/>
                <a:gd name="connsiteX1" fmla="*/ 273574 w 360473"/>
                <a:gd name="connsiteY1" fmla="*/ 360474 h 572896"/>
                <a:gd name="connsiteX2" fmla="*/ 276792 w 360473"/>
                <a:gd name="connsiteY2" fmla="*/ 305759 h 572896"/>
                <a:gd name="connsiteX3" fmla="*/ 270355 w 360473"/>
                <a:gd name="connsiteY3" fmla="*/ 212422 h 572896"/>
                <a:gd name="connsiteX4" fmla="*/ 196329 w 360473"/>
                <a:gd name="connsiteY4" fmla="*/ 115867 h 572896"/>
                <a:gd name="connsiteX5" fmla="*/ 0 w 360473"/>
                <a:gd name="connsiteY5" fmla="*/ 32185 h 572896"/>
                <a:gd name="connsiteX6" fmla="*/ 3218 w 360473"/>
                <a:gd name="connsiteY6" fmla="*/ 0 h 572896"/>
                <a:gd name="connsiteX7" fmla="*/ 215641 w 360473"/>
                <a:gd name="connsiteY7" fmla="*/ 93337 h 572896"/>
                <a:gd name="connsiteX8" fmla="*/ 299322 w 360473"/>
                <a:gd name="connsiteY8" fmla="*/ 202767 h 572896"/>
                <a:gd name="connsiteX9" fmla="*/ 308978 w 360473"/>
                <a:gd name="connsiteY9" fmla="*/ 312196 h 572896"/>
                <a:gd name="connsiteX10" fmla="*/ 305759 w 360473"/>
                <a:gd name="connsiteY10" fmla="*/ 363693 h 572896"/>
                <a:gd name="connsiteX11" fmla="*/ 360474 w 360473"/>
                <a:gd name="connsiteY11" fmla="*/ 560022 h 572896"/>
                <a:gd name="connsiteX12" fmla="*/ 331507 w 360473"/>
                <a:gd name="connsiteY12" fmla="*/ 572896 h 57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0473" h="572896">
                  <a:moveTo>
                    <a:pt x="331507" y="572896"/>
                  </a:moveTo>
                  <a:cubicBezTo>
                    <a:pt x="292885" y="502089"/>
                    <a:pt x="273574" y="428063"/>
                    <a:pt x="273574" y="360474"/>
                  </a:cubicBezTo>
                  <a:cubicBezTo>
                    <a:pt x="273574" y="341163"/>
                    <a:pt x="276792" y="321852"/>
                    <a:pt x="276792" y="305759"/>
                  </a:cubicBezTo>
                  <a:cubicBezTo>
                    <a:pt x="280011" y="273574"/>
                    <a:pt x="283229" y="247826"/>
                    <a:pt x="270355" y="212422"/>
                  </a:cubicBezTo>
                  <a:cubicBezTo>
                    <a:pt x="254263" y="164144"/>
                    <a:pt x="218859" y="138396"/>
                    <a:pt x="196329" y="115867"/>
                  </a:cubicBezTo>
                  <a:cubicBezTo>
                    <a:pt x="128741" y="57933"/>
                    <a:pt x="51496" y="38622"/>
                    <a:pt x="0" y="32185"/>
                  </a:cubicBezTo>
                  <a:lnTo>
                    <a:pt x="3218" y="0"/>
                  </a:lnTo>
                  <a:cubicBezTo>
                    <a:pt x="61152" y="6437"/>
                    <a:pt x="144833" y="28967"/>
                    <a:pt x="215641" y="93337"/>
                  </a:cubicBezTo>
                  <a:cubicBezTo>
                    <a:pt x="241389" y="115867"/>
                    <a:pt x="280011" y="148052"/>
                    <a:pt x="299322" y="202767"/>
                  </a:cubicBezTo>
                  <a:cubicBezTo>
                    <a:pt x="315415" y="244607"/>
                    <a:pt x="312196" y="276793"/>
                    <a:pt x="308978" y="312196"/>
                  </a:cubicBezTo>
                  <a:cubicBezTo>
                    <a:pt x="308978" y="328289"/>
                    <a:pt x="305759" y="344381"/>
                    <a:pt x="305759" y="363693"/>
                  </a:cubicBezTo>
                  <a:cubicBezTo>
                    <a:pt x="305759" y="428063"/>
                    <a:pt x="325070" y="495652"/>
                    <a:pt x="360474" y="560022"/>
                  </a:cubicBezTo>
                  <a:lnTo>
                    <a:pt x="331507" y="572896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: фигура 62">
              <a:extLst>
                <a:ext uri="{FF2B5EF4-FFF2-40B4-BE49-F238E27FC236}">
                  <a16:creationId xmlns:a16="http://schemas.microsoft.com/office/drawing/2014/main" id="{478168CB-996E-4724-ACB0-297DEF22CAE7}"/>
                </a:ext>
              </a:extLst>
            </p:cNvPr>
            <p:cNvSpPr/>
            <p:nvPr/>
          </p:nvSpPr>
          <p:spPr>
            <a:xfrm>
              <a:off x="4622102" y="1864819"/>
              <a:ext cx="96555" cy="135177"/>
            </a:xfrm>
            <a:custGeom>
              <a:avLst/>
              <a:gdLst>
                <a:gd name="connsiteX0" fmla="*/ 96556 w 96555"/>
                <a:gd name="connsiteY0" fmla="*/ 135178 h 135177"/>
                <a:gd name="connsiteX1" fmla="*/ 64370 w 96555"/>
                <a:gd name="connsiteY1" fmla="*/ 135178 h 135177"/>
                <a:gd name="connsiteX2" fmla="*/ 48278 w 96555"/>
                <a:gd name="connsiteY2" fmla="*/ 74026 h 135177"/>
                <a:gd name="connsiteX3" fmla="*/ 0 w 96555"/>
                <a:gd name="connsiteY3" fmla="*/ 28967 h 135177"/>
                <a:gd name="connsiteX4" fmla="*/ 12874 w 96555"/>
                <a:gd name="connsiteY4" fmla="*/ 0 h 135177"/>
                <a:gd name="connsiteX5" fmla="*/ 77244 w 96555"/>
                <a:gd name="connsiteY5" fmla="*/ 57933 h 135177"/>
                <a:gd name="connsiteX6" fmla="*/ 96556 w 96555"/>
                <a:gd name="connsiteY6" fmla="*/ 135178 h 135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555" h="135177">
                  <a:moveTo>
                    <a:pt x="96556" y="135178"/>
                  </a:moveTo>
                  <a:lnTo>
                    <a:pt x="64370" y="135178"/>
                  </a:lnTo>
                  <a:cubicBezTo>
                    <a:pt x="64370" y="119085"/>
                    <a:pt x="61152" y="96556"/>
                    <a:pt x="48278" y="74026"/>
                  </a:cubicBezTo>
                  <a:cubicBezTo>
                    <a:pt x="32185" y="48278"/>
                    <a:pt x="9656" y="35404"/>
                    <a:pt x="0" y="28967"/>
                  </a:cubicBezTo>
                  <a:lnTo>
                    <a:pt x="12874" y="0"/>
                  </a:lnTo>
                  <a:cubicBezTo>
                    <a:pt x="28967" y="6437"/>
                    <a:pt x="54715" y="25748"/>
                    <a:pt x="77244" y="57933"/>
                  </a:cubicBezTo>
                  <a:cubicBezTo>
                    <a:pt x="93337" y="86900"/>
                    <a:pt x="96556" y="115867"/>
                    <a:pt x="96556" y="135178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: фигура 127">
              <a:extLst>
                <a:ext uri="{FF2B5EF4-FFF2-40B4-BE49-F238E27FC236}">
                  <a16:creationId xmlns:a16="http://schemas.microsoft.com/office/drawing/2014/main" id="{A44343D0-0A64-42A8-BC2B-7E7DB1B30CB7}"/>
                </a:ext>
              </a:extLst>
            </p:cNvPr>
            <p:cNvSpPr/>
            <p:nvPr/>
          </p:nvSpPr>
          <p:spPr>
            <a:xfrm>
              <a:off x="4496580" y="1694238"/>
              <a:ext cx="77244" cy="77244"/>
            </a:xfrm>
            <a:custGeom>
              <a:avLst/>
              <a:gdLst>
                <a:gd name="connsiteX0" fmla="*/ 0 w 77244"/>
                <a:gd name="connsiteY0" fmla="*/ 0 h 77244"/>
                <a:gd name="connsiteX1" fmla="*/ 77245 w 77244"/>
                <a:gd name="connsiteY1" fmla="*/ 0 h 77244"/>
                <a:gd name="connsiteX2" fmla="*/ 77245 w 77244"/>
                <a:gd name="connsiteY2" fmla="*/ 77244 h 77244"/>
                <a:gd name="connsiteX3" fmla="*/ 0 w 77244"/>
                <a:gd name="connsiteY3" fmla="*/ 77244 h 7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244" h="77244">
                  <a:moveTo>
                    <a:pt x="0" y="0"/>
                  </a:moveTo>
                  <a:lnTo>
                    <a:pt x="77245" y="0"/>
                  </a:lnTo>
                  <a:lnTo>
                    <a:pt x="77245" y="77244"/>
                  </a:lnTo>
                  <a:lnTo>
                    <a:pt x="0" y="77244"/>
                  </a:lnTo>
                  <a:close/>
                </a:path>
              </a:pathLst>
            </a:custGeom>
            <a:solidFill>
              <a:srgbClr val="FFFFFF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: фигура 128">
              <a:extLst>
                <a:ext uri="{FF2B5EF4-FFF2-40B4-BE49-F238E27FC236}">
                  <a16:creationId xmlns:a16="http://schemas.microsoft.com/office/drawing/2014/main" id="{B362D1F3-C4CD-41ED-9893-E6BBDB2083CB}"/>
                </a:ext>
              </a:extLst>
            </p:cNvPr>
            <p:cNvSpPr/>
            <p:nvPr/>
          </p:nvSpPr>
          <p:spPr>
            <a:xfrm>
              <a:off x="4358184" y="1694238"/>
              <a:ext cx="77244" cy="77244"/>
            </a:xfrm>
            <a:custGeom>
              <a:avLst/>
              <a:gdLst>
                <a:gd name="connsiteX0" fmla="*/ 0 w 77244"/>
                <a:gd name="connsiteY0" fmla="*/ 0 h 77244"/>
                <a:gd name="connsiteX1" fmla="*/ 77244 w 77244"/>
                <a:gd name="connsiteY1" fmla="*/ 0 h 77244"/>
                <a:gd name="connsiteX2" fmla="*/ 77244 w 77244"/>
                <a:gd name="connsiteY2" fmla="*/ 77244 h 77244"/>
                <a:gd name="connsiteX3" fmla="*/ 0 w 77244"/>
                <a:gd name="connsiteY3" fmla="*/ 77244 h 7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244" h="77244">
                  <a:moveTo>
                    <a:pt x="0" y="0"/>
                  </a:moveTo>
                  <a:lnTo>
                    <a:pt x="77244" y="0"/>
                  </a:lnTo>
                  <a:lnTo>
                    <a:pt x="77244" y="77244"/>
                  </a:lnTo>
                  <a:lnTo>
                    <a:pt x="0" y="77244"/>
                  </a:lnTo>
                  <a:close/>
                </a:path>
              </a:pathLst>
            </a:custGeom>
            <a:solidFill>
              <a:srgbClr val="FFFFFF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2" name="Группа 274">
            <a:extLst>
              <a:ext uri="{FF2B5EF4-FFF2-40B4-BE49-F238E27FC236}">
                <a16:creationId xmlns:a16="http://schemas.microsoft.com/office/drawing/2014/main" id="{510D835F-0203-496E-AF0D-A51ABE52DBBB}"/>
              </a:ext>
            </a:extLst>
          </p:cNvPr>
          <p:cNvGrpSpPr>
            <a:grpSpLocks noChangeAspect="1"/>
          </p:cNvGrpSpPr>
          <p:nvPr/>
        </p:nvGrpSpPr>
        <p:grpSpPr>
          <a:xfrm>
            <a:off x="7710011" y="4637341"/>
            <a:ext cx="373568" cy="400110"/>
            <a:chOff x="5581651" y="2116137"/>
            <a:chExt cx="893762" cy="957263"/>
          </a:xfrm>
        </p:grpSpPr>
        <p:sp>
          <p:nvSpPr>
            <p:cNvPr id="73" name="Rectangle 344">
              <a:extLst>
                <a:ext uri="{FF2B5EF4-FFF2-40B4-BE49-F238E27FC236}">
                  <a16:creationId xmlns:a16="http://schemas.microsoft.com/office/drawing/2014/main" id="{F328DF89-DE76-46F0-AB00-9A0E5B83A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878137"/>
              <a:ext cx="115887" cy="1158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" name="Rectangle 345">
              <a:extLst>
                <a:ext uri="{FF2B5EF4-FFF2-40B4-BE49-F238E27FC236}">
                  <a16:creationId xmlns:a16="http://schemas.microsoft.com/office/drawing/2014/main" id="{AF84C545-7FAA-41EA-AF53-22EAA8026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1" y="2878137"/>
              <a:ext cx="115887" cy="1158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" name="Rectangle 346">
              <a:extLst>
                <a:ext uri="{FF2B5EF4-FFF2-40B4-BE49-F238E27FC236}">
                  <a16:creationId xmlns:a16="http://schemas.microsoft.com/office/drawing/2014/main" id="{80FE7C3D-FFC4-4AC5-AE0F-5926E26D3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711450"/>
              <a:ext cx="115887" cy="1238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BEB6DE0B-B422-4B99-9C65-834EF218D9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1651" y="2609850"/>
              <a:ext cx="468312" cy="463550"/>
            </a:xfrm>
            <a:custGeom>
              <a:avLst/>
              <a:gdLst>
                <a:gd name="T0" fmla="*/ 24 w 65"/>
                <a:gd name="T1" fmla="*/ 57 h 64"/>
                <a:gd name="T2" fmla="*/ 21 w 65"/>
                <a:gd name="T3" fmla="*/ 56 h 64"/>
                <a:gd name="T4" fmla="*/ 13 w 65"/>
                <a:gd name="T5" fmla="*/ 59 h 64"/>
                <a:gd name="T6" fmla="*/ 6 w 65"/>
                <a:gd name="T7" fmla="*/ 48 h 64"/>
                <a:gd name="T8" fmla="*/ 7 w 65"/>
                <a:gd name="T9" fmla="*/ 41 h 64"/>
                <a:gd name="T10" fmla="*/ 0 w 65"/>
                <a:gd name="T11" fmla="*/ 38 h 64"/>
                <a:gd name="T12" fmla="*/ 1 w 65"/>
                <a:gd name="T13" fmla="*/ 25 h 64"/>
                <a:gd name="T14" fmla="*/ 7 w 65"/>
                <a:gd name="T15" fmla="*/ 23 h 64"/>
                <a:gd name="T16" fmla="*/ 5 w 65"/>
                <a:gd name="T17" fmla="*/ 16 h 64"/>
                <a:gd name="T18" fmla="*/ 13 w 65"/>
                <a:gd name="T19" fmla="*/ 6 h 64"/>
                <a:gd name="T20" fmla="*/ 20 w 65"/>
                <a:gd name="T21" fmla="*/ 9 h 64"/>
                <a:gd name="T22" fmla="*/ 24 w 65"/>
                <a:gd name="T23" fmla="*/ 2 h 64"/>
                <a:gd name="T24" fmla="*/ 39 w 65"/>
                <a:gd name="T25" fmla="*/ 0 h 64"/>
                <a:gd name="T26" fmla="*/ 42 w 65"/>
                <a:gd name="T27" fmla="*/ 7 h 64"/>
                <a:gd name="T28" fmla="*/ 49 w 65"/>
                <a:gd name="T29" fmla="*/ 6 h 64"/>
                <a:gd name="T30" fmla="*/ 60 w 65"/>
                <a:gd name="T31" fmla="*/ 14 h 64"/>
                <a:gd name="T32" fmla="*/ 57 w 65"/>
                <a:gd name="T33" fmla="*/ 21 h 64"/>
                <a:gd name="T34" fmla="*/ 58 w 65"/>
                <a:gd name="T35" fmla="*/ 24 h 64"/>
                <a:gd name="T36" fmla="*/ 65 w 65"/>
                <a:gd name="T37" fmla="*/ 27 h 64"/>
                <a:gd name="T38" fmla="*/ 64 w 65"/>
                <a:gd name="T39" fmla="*/ 40 h 64"/>
                <a:gd name="T40" fmla="*/ 57 w 65"/>
                <a:gd name="T41" fmla="*/ 44 h 64"/>
                <a:gd name="T42" fmla="*/ 59 w 65"/>
                <a:gd name="T43" fmla="*/ 51 h 64"/>
                <a:gd name="T44" fmla="*/ 49 w 65"/>
                <a:gd name="T45" fmla="*/ 59 h 64"/>
                <a:gd name="T46" fmla="*/ 42 w 65"/>
                <a:gd name="T47" fmla="*/ 57 h 64"/>
                <a:gd name="T48" fmla="*/ 41 w 65"/>
                <a:gd name="T49" fmla="*/ 63 h 64"/>
                <a:gd name="T50" fmla="*/ 27 w 65"/>
                <a:gd name="T51" fmla="*/ 64 h 64"/>
                <a:gd name="T52" fmla="*/ 38 w 65"/>
                <a:gd name="T53" fmla="*/ 55 h 64"/>
                <a:gd name="T54" fmla="*/ 41 w 65"/>
                <a:gd name="T55" fmla="*/ 53 h 64"/>
                <a:gd name="T56" fmla="*/ 46 w 65"/>
                <a:gd name="T57" fmla="*/ 52 h 64"/>
                <a:gd name="T58" fmla="*/ 55 w 65"/>
                <a:gd name="T59" fmla="*/ 49 h 64"/>
                <a:gd name="T60" fmla="*/ 52 w 65"/>
                <a:gd name="T61" fmla="*/ 43 h 64"/>
                <a:gd name="T62" fmla="*/ 56 w 65"/>
                <a:gd name="T63" fmla="*/ 37 h 64"/>
                <a:gd name="T64" fmla="*/ 61 w 65"/>
                <a:gd name="T65" fmla="*/ 29 h 64"/>
                <a:gd name="T66" fmla="*/ 55 w 65"/>
                <a:gd name="T67" fmla="*/ 27 h 64"/>
                <a:gd name="T68" fmla="*/ 53 w 65"/>
                <a:gd name="T69" fmla="*/ 21 h 64"/>
                <a:gd name="T70" fmla="*/ 56 w 65"/>
                <a:gd name="T71" fmla="*/ 15 h 64"/>
                <a:gd name="T72" fmla="*/ 46 w 65"/>
                <a:gd name="T73" fmla="*/ 13 h 64"/>
                <a:gd name="T74" fmla="*/ 39 w 65"/>
                <a:gd name="T75" fmla="*/ 11 h 64"/>
                <a:gd name="T76" fmla="*/ 37 w 65"/>
                <a:gd name="T77" fmla="*/ 4 h 64"/>
                <a:gd name="T78" fmla="*/ 27 w 65"/>
                <a:gd name="T79" fmla="*/ 9 h 64"/>
                <a:gd name="T80" fmla="*/ 21 w 65"/>
                <a:gd name="T81" fmla="*/ 13 h 64"/>
                <a:gd name="T82" fmla="*/ 15 w 65"/>
                <a:gd name="T83" fmla="*/ 10 h 64"/>
                <a:gd name="T84" fmla="*/ 13 w 65"/>
                <a:gd name="T85" fmla="*/ 19 h 64"/>
                <a:gd name="T86" fmla="*/ 11 w 65"/>
                <a:gd name="T87" fmla="*/ 25 h 64"/>
                <a:gd name="T88" fmla="*/ 9 w 65"/>
                <a:gd name="T89" fmla="*/ 28 h 64"/>
                <a:gd name="T90" fmla="*/ 4 w 65"/>
                <a:gd name="T91" fmla="*/ 36 h 64"/>
                <a:gd name="T92" fmla="*/ 11 w 65"/>
                <a:gd name="T93" fmla="*/ 38 h 64"/>
                <a:gd name="T94" fmla="*/ 13 w 65"/>
                <a:gd name="T95" fmla="*/ 45 h 64"/>
                <a:gd name="T96" fmla="*/ 15 w 65"/>
                <a:gd name="T97" fmla="*/ 55 h 64"/>
                <a:gd name="T98" fmla="*/ 21 w 65"/>
                <a:gd name="T99" fmla="*/ 52 h 64"/>
                <a:gd name="T100" fmla="*/ 26 w 65"/>
                <a:gd name="T101" fmla="*/ 54 h 64"/>
                <a:gd name="T102" fmla="*/ 28 w 65"/>
                <a:gd name="T103" fmla="*/ 60 h 64"/>
                <a:gd name="T104" fmla="*/ 38 w 65"/>
                <a:gd name="T105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" h="64">
                  <a:moveTo>
                    <a:pt x="25" y="63"/>
                  </a:move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5" y="50"/>
                    <a:pt x="5" y="49"/>
                    <a:pt x="6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8" y="43"/>
                    <a:pt x="8" y="42"/>
                    <a:pt x="7" y="41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1" y="25"/>
                    <a:pt x="1" y="25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4"/>
                    <a:pt x="6" y="1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5" y="5"/>
                    <a:pt x="16" y="6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1"/>
                    <a:pt x="25" y="0"/>
                    <a:pt x="2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1" y="1"/>
                    <a:pt x="41" y="2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8"/>
                    <a:pt x="44" y="8"/>
                    <a:pt x="45" y="9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0" y="5"/>
                    <a:pt x="51" y="5"/>
                    <a:pt x="52" y="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5"/>
                    <a:pt x="60" y="16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5" y="25"/>
                    <a:pt x="65" y="26"/>
                    <a:pt x="65" y="2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9"/>
                    <a:pt x="65" y="40"/>
                    <a:pt x="64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7" y="43"/>
                    <a:pt x="57" y="4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9"/>
                    <a:pt x="60" y="50"/>
                    <a:pt x="59" y="51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9"/>
                    <a:pt x="50" y="59"/>
                    <a:pt x="49" y="59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4" y="56"/>
                    <a:pt x="43" y="56"/>
                    <a:pt x="42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0" y="64"/>
                    <a:pt x="40" y="64"/>
                    <a:pt x="39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64"/>
                    <a:pt x="25" y="64"/>
                    <a:pt x="25" y="63"/>
                  </a:cubicBezTo>
                  <a:close/>
                  <a:moveTo>
                    <a:pt x="38" y="55"/>
                  </a:moveTo>
                  <a:cubicBezTo>
                    <a:pt x="38" y="55"/>
                    <a:pt x="38" y="54"/>
                    <a:pt x="39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2" y="53"/>
                    <a:pt x="43" y="52"/>
                    <a:pt x="44" y="52"/>
                  </a:cubicBezTo>
                  <a:cubicBezTo>
                    <a:pt x="44" y="51"/>
                    <a:pt x="45" y="51"/>
                    <a:pt x="46" y="5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2" y="44"/>
                    <a:pt x="52" y="43"/>
                  </a:cubicBezTo>
                  <a:cubicBezTo>
                    <a:pt x="54" y="41"/>
                    <a:pt x="54" y="40"/>
                    <a:pt x="55" y="38"/>
                  </a:cubicBezTo>
                  <a:cubicBezTo>
                    <a:pt x="55" y="37"/>
                    <a:pt x="55" y="37"/>
                    <a:pt x="56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5" y="27"/>
                    <a:pt x="55" y="27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3" y="22"/>
                    <a:pt x="53" y="21"/>
                  </a:cubicBezTo>
                  <a:cubicBezTo>
                    <a:pt x="52" y="21"/>
                    <a:pt x="52" y="20"/>
                    <a:pt x="53" y="1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3"/>
                    <a:pt x="45" y="13"/>
                    <a:pt x="44" y="13"/>
                  </a:cubicBezTo>
                  <a:cubicBezTo>
                    <a:pt x="42" y="12"/>
                    <a:pt x="41" y="11"/>
                    <a:pt x="39" y="11"/>
                  </a:cubicBezTo>
                  <a:cubicBezTo>
                    <a:pt x="38" y="11"/>
                    <a:pt x="38" y="10"/>
                    <a:pt x="38" y="9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10"/>
                    <a:pt x="27" y="11"/>
                    <a:pt x="26" y="11"/>
                  </a:cubicBezTo>
                  <a:cubicBezTo>
                    <a:pt x="24" y="11"/>
                    <a:pt x="23" y="12"/>
                    <a:pt x="21" y="13"/>
                  </a:cubicBezTo>
                  <a:cubicBezTo>
                    <a:pt x="21" y="13"/>
                    <a:pt x="20" y="13"/>
                    <a:pt x="19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20"/>
                    <a:pt x="13" y="21"/>
                    <a:pt x="13" y="21"/>
                  </a:cubicBezTo>
                  <a:cubicBezTo>
                    <a:pt x="12" y="22"/>
                    <a:pt x="12" y="24"/>
                    <a:pt x="11" y="25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8"/>
                    <a:pt x="9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37"/>
                    <a:pt x="10" y="37"/>
                    <a:pt x="11" y="38"/>
                  </a:cubicBezTo>
                  <a:cubicBezTo>
                    <a:pt x="11" y="40"/>
                    <a:pt x="12" y="41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20" y="51"/>
                    <a:pt x="21" y="51"/>
                    <a:pt x="21" y="52"/>
                  </a:cubicBezTo>
                  <a:cubicBezTo>
                    <a:pt x="22" y="52"/>
                    <a:pt x="24" y="53"/>
                    <a:pt x="25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5"/>
                    <a:pt x="28" y="55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7" y="60"/>
                    <a:pt x="37" y="60"/>
                    <a:pt x="37" y="60"/>
                  </a:cubicBezTo>
                  <a:lnTo>
                    <a:pt x="38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10E6FCF0-56BC-496C-BC9E-F42418757D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6113" y="2747962"/>
              <a:ext cx="179387" cy="188912"/>
            </a:xfrm>
            <a:custGeom>
              <a:avLst/>
              <a:gdLst>
                <a:gd name="T0" fmla="*/ 0 w 25"/>
                <a:gd name="T1" fmla="*/ 13 h 26"/>
                <a:gd name="T2" fmla="*/ 13 w 25"/>
                <a:gd name="T3" fmla="*/ 0 h 26"/>
                <a:gd name="T4" fmla="*/ 13 w 25"/>
                <a:gd name="T5" fmla="*/ 0 h 26"/>
                <a:gd name="T6" fmla="*/ 25 w 25"/>
                <a:gd name="T7" fmla="*/ 13 h 26"/>
                <a:gd name="T8" fmla="*/ 13 w 25"/>
                <a:gd name="T9" fmla="*/ 26 h 26"/>
                <a:gd name="T10" fmla="*/ 0 w 25"/>
                <a:gd name="T11" fmla="*/ 13 h 26"/>
                <a:gd name="T12" fmla="*/ 4 w 25"/>
                <a:gd name="T13" fmla="*/ 13 h 26"/>
                <a:gd name="T14" fmla="*/ 13 w 25"/>
                <a:gd name="T15" fmla="*/ 22 h 26"/>
                <a:gd name="T16" fmla="*/ 21 w 25"/>
                <a:gd name="T17" fmla="*/ 13 h 26"/>
                <a:gd name="T18" fmla="*/ 13 w 25"/>
                <a:gd name="T19" fmla="*/ 4 h 26"/>
                <a:gd name="T20" fmla="*/ 4 w 25"/>
                <a:gd name="T2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26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6"/>
                    <a:pt x="25" y="13"/>
                  </a:cubicBezTo>
                  <a:cubicBezTo>
                    <a:pt x="25" y="20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  <a:moveTo>
                    <a:pt x="4" y="13"/>
                  </a:moveTo>
                  <a:cubicBezTo>
                    <a:pt x="4" y="18"/>
                    <a:pt x="8" y="22"/>
                    <a:pt x="13" y="22"/>
                  </a:cubicBezTo>
                  <a:cubicBezTo>
                    <a:pt x="17" y="22"/>
                    <a:pt x="21" y="18"/>
                    <a:pt x="21" y="13"/>
                  </a:cubicBezTo>
                  <a:cubicBezTo>
                    <a:pt x="21" y="8"/>
                    <a:pt x="17" y="4"/>
                    <a:pt x="13" y="4"/>
                  </a:cubicBezTo>
                  <a:cubicBezTo>
                    <a:pt x="8" y="4"/>
                    <a:pt x="4" y="8"/>
                    <a:pt x="4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3ACCAE26-3346-4DCD-B1F0-4B5D00C76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1" y="2398712"/>
              <a:ext cx="114300" cy="284162"/>
            </a:xfrm>
            <a:custGeom>
              <a:avLst/>
              <a:gdLst>
                <a:gd name="T0" fmla="*/ 11 w 16"/>
                <a:gd name="T1" fmla="*/ 31 h 39"/>
                <a:gd name="T2" fmla="*/ 10 w 16"/>
                <a:gd name="T3" fmla="*/ 31 h 39"/>
                <a:gd name="T4" fmla="*/ 4 w 16"/>
                <a:gd name="T5" fmla="*/ 31 h 39"/>
                <a:gd name="T6" fmla="*/ 3 w 16"/>
                <a:gd name="T7" fmla="*/ 38 h 39"/>
                <a:gd name="T8" fmla="*/ 0 w 16"/>
                <a:gd name="T9" fmla="*/ 39 h 39"/>
                <a:gd name="T10" fmla="*/ 0 w 16"/>
                <a:gd name="T11" fmla="*/ 0 h 39"/>
                <a:gd name="T12" fmla="*/ 16 w 16"/>
                <a:gd name="T13" fmla="*/ 0 h 39"/>
                <a:gd name="T14" fmla="*/ 16 w 16"/>
                <a:gd name="T15" fmla="*/ 31 h 39"/>
                <a:gd name="T16" fmla="*/ 11 w 16"/>
                <a:gd name="T17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9">
                  <a:moveTo>
                    <a:pt x="11" y="31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7" y="31"/>
                    <a:pt x="4" y="31"/>
                    <a:pt x="4" y="3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1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1"/>
                    <a:pt x="13" y="31"/>
                    <a:pt x="11" y="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9" name="Freeform 11">
              <a:extLst>
                <a:ext uri="{FF2B5EF4-FFF2-40B4-BE49-F238E27FC236}">
                  <a16:creationId xmlns:a16="http://schemas.microsoft.com/office/drawing/2014/main" id="{1FBE2B97-AFE8-47F6-92B5-FFF3AE2C8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2551112"/>
              <a:ext cx="115887" cy="442912"/>
            </a:xfrm>
            <a:custGeom>
              <a:avLst/>
              <a:gdLst>
                <a:gd name="T0" fmla="*/ 7 w 16"/>
                <a:gd name="T1" fmla="*/ 58 h 61"/>
                <a:gd name="T2" fmla="*/ 3 w 16"/>
                <a:gd name="T3" fmla="*/ 52 h 61"/>
                <a:gd name="T4" fmla="*/ 5 w 16"/>
                <a:gd name="T5" fmla="*/ 47 h 61"/>
                <a:gd name="T6" fmla="*/ 12 w 16"/>
                <a:gd name="T7" fmla="*/ 46 h 61"/>
                <a:gd name="T8" fmla="*/ 12 w 16"/>
                <a:gd name="T9" fmla="*/ 35 h 61"/>
                <a:gd name="T10" fmla="*/ 6 w 16"/>
                <a:gd name="T11" fmla="*/ 34 h 61"/>
                <a:gd name="T12" fmla="*/ 3 w 16"/>
                <a:gd name="T13" fmla="*/ 29 h 61"/>
                <a:gd name="T14" fmla="*/ 7 w 16"/>
                <a:gd name="T15" fmla="*/ 23 h 61"/>
                <a:gd name="T16" fmla="*/ 0 w 16"/>
                <a:gd name="T17" fmla="*/ 15 h 61"/>
                <a:gd name="T18" fmla="*/ 0 w 16"/>
                <a:gd name="T19" fmla="*/ 0 h 61"/>
                <a:gd name="T20" fmla="*/ 16 w 16"/>
                <a:gd name="T21" fmla="*/ 0 h 61"/>
                <a:gd name="T22" fmla="*/ 16 w 16"/>
                <a:gd name="T23" fmla="*/ 61 h 61"/>
                <a:gd name="T24" fmla="*/ 3 w 16"/>
                <a:gd name="T25" fmla="*/ 61 h 61"/>
                <a:gd name="T26" fmla="*/ 7 w 16"/>
                <a:gd name="T27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61">
                  <a:moveTo>
                    <a:pt x="7" y="58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4" y="50"/>
                    <a:pt x="5" y="49"/>
                    <a:pt x="5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2"/>
                    <a:pt x="4" y="30"/>
                    <a:pt x="3" y="2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3" y="61"/>
                    <a:pt x="3" y="61"/>
                    <a:pt x="3" y="61"/>
                  </a:cubicBezTo>
                  <a:lnTo>
                    <a:pt x="7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0" name="Freeform 27">
              <a:extLst>
                <a:ext uri="{FF2B5EF4-FFF2-40B4-BE49-F238E27FC236}">
                  <a16:creationId xmlns:a16="http://schemas.microsoft.com/office/drawing/2014/main" id="{36BDA825-48F2-4A15-B895-DA0D55350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838" y="2116137"/>
              <a:ext cx="604837" cy="485775"/>
            </a:xfrm>
            <a:custGeom>
              <a:avLst/>
              <a:gdLst>
                <a:gd name="T0" fmla="*/ 227 w 381"/>
                <a:gd name="T1" fmla="*/ 201 h 306"/>
                <a:gd name="T2" fmla="*/ 14 w 381"/>
                <a:gd name="T3" fmla="*/ 0 h 306"/>
                <a:gd name="T4" fmla="*/ 0 w 381"/>
                <a:gd name="T5" fmla="*/ 14 h 306"/>
                <a:gd name="T6" fmla="*/ 213 w 381"/>
                <a:gd name="T7" fmla="*/ 215 h 306"/>
                <a:gd name="T8" fmla="*/ 218 w 381"/>
                <a:gd name="T9" fmla="*/ 206 h 306"/>
                <a:gd name="T10" fmla="*/ 213 w 381"/>
                <a:gd name="T11" fmla="*/ 215 h 306"/>
                <a:gd name="T12" fmla="*/ 372 w 381"/>
                <a:gd name="T13" fmla="*/ 306 h 306"/>
                <a:gd name="T14" fmla="*/ 381 w 381"/>
                <a:gd name="T15" fmla="*/ 288 h 306"/>
                <a:gd name="T16" fmla="*/ 227 w 381"/>
                <a:gd name="T17" fmla="*/ 20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06">
                  <a:moveTo>
                    <a:pt x="227" y="201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213" y="215"/>
                  </a:lnTo>
                  <a:lnTo>
                    <a:pt x="218" y="206"/>
                  </a:lnTo>
                  <a:lnTo>
                    <a:pt x="213" y="215"/>
                  </a:lnTo>
                  <a:lnTo>
                    <a:pt x="372" y="306"/>
                  </a:lnTo>
                  <a:lnTo>
                    <a:pt x="381" y="288"/>
                  </a:lnTo>
                  <a:lnTo>
                    <a:pt x="227" y="201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" name="Freeform 28">
              <a:extLst>
                <a:ext uri="{FF2B5EF4-FFF2-40B4-BE49-F238E27FC236}">
                  <a16:creationId xmlns:a16="http://schemas.microsoft.com/office/drawing/2014/main" id="{D749B46F-2764-49C2-82CF-040711592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6" y="2471737"/>
              <a:ext cx="173037" cy="146050"/>
            </a:xfrm>
            <a:custGeom>
              <a:avLst/>
              <a:gdLst>
                <a:gd name="T0" fmla="*/ 0 w 109"/>
                <a:gd name="T1" fmla="*/ 92 h 92"/>
                <a:gd name="T2" fmla="*/ 109 w 109"/>
                <a:gd name="T3" fmla="*/ 92 h 92"/>
                <a:gd name="T4" fmla="*/ 50 w 109"/>
                <a:gd name="T5" fmla="*/ 0 h 92"/>
                <a:gd name="T6" fmla="*/ 0 w 109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2">
                  <a:moveTo>
                    <a:pt x="0" y="92"/>
                  </a:moveTo>
                  <a:lnTo>
                    <a:pt x="109" y="92"/>
                  </a:lnTo>
                  <a:lnTo>
                    <a:pt x="5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82" name="Группа 112">
            <a:extLst>
              <a:ext uri="{FF2B5EF4-FFF2-40B4-BE49-F238E27FC236}">
                <a16:creationId xmlns:a16="http://schemas.microsoft.com/office/drawing/2014/main" id="{D5D3F00F-F40D-4DF9-823B-00585D357E76}"/>
              </a:ext>
            </a:extLst>
          </p:cNvPr>
          <p:cNvGrpSpPr>
            <a:grpSpLocks noChangeAspect="1"/>
          </p:cNvGrpSpPr>
          <p:nvPr/>
        </p:nvGrpSpPr>
        <p:grpSpPr>
          <a:xfrm>
            <a:off x="7688251" y="5396649"/>
            <a:ext cx="404066" cy="367754"/>
            <a:chOff x="3095625" y="824834"/>
            <a:chExt cx="830263" cy="755650"/>
          </a:xfrm>
        </p:grpSpPr>
        <p:sp>
          <p:nvSpPr>
            <p:cNvPr id="83" name="Freeform 24">
              <a:extLst>
                <a:ext uri="{FF2B5EF4-FFF2-40B4-BE49-F238E27FC236}">
                  <a16:creationId xmlns:a16="http://schemas.microsoft.com/office/drawing/2014/main" id="{500ABB56-CCF2-437A-AB82-63EB8F984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325" y="1293146"/>
              <a:ext cx="87313" cy="287338"/>
            </a:xfrm>
            <a:custGeom>
              <a:avLst/>
              <a:gdLst>
                <a:gd name="T0" fmla="*/ 55 w 55"/>
                <a:gd name="T1" fmla="*/ 181 h 181"/>
                <a:gd name="T2" fmla="*/ 0 w 55"/>
                <a:gd name="T3" fmla="*/ 181 h 181"/>
                <a:gd name="T4" fmla="*/ 9 w 55"/>
                <a:gd name="T5" fmla="*/ 0 h 181"/>
                <a:gd name="T6" fmla="*/ 41 w 55"/>
                <a:gd name="T7" fmla="*/ 0 h 181"/>
                <a:gd name="T8" fmla="*/ 55 w 55"/>
                <a:gd name="T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81">
                  <a:moveTo>
                    <a:pt x="55" y="181"/>
                  </a:moveTo>
                  <a:lnTo>
                    <a:pt x="0" y="181"/>
                  </a:lnTo>
                  <a:lnTo>
                    <a:pt x="9" y="0"/>
                  </a:lnTo>
                  <a:lnTo>
                    <a:pt x="41" y="0"/>
                  </a:lnTo>
                  <a:lnTo>
                    <a:pt x="55" y="181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4" name="Rectangle 25">
              <a:extLst>
                <a:ext uri="{FF2B5EF4-FFF2-40B4-BE49-F238E27FC236}">
                  <a16:creationId xmlns:a16="http://schemas.microsoft.com/office/drawing/2014/main" id="{D2E12711-C6CD-496D-BD27-CC9CDDE87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63" y="1513809"/>
              <a:ext cx="71438" cy="666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Rectangle 26">
              <a:extLst>
                <a:ext uri="{FF2B5EF4-FFF2-40B4-BE49-F238E27FC236}">
                  <a16:creationId xmlns:a16="http://schemas.microsoft.com/office/drawing/2014/main" id="{81AEDD26-9564-4D05-BC0F-A4E1C591F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63" y="1389984"/>
              <a:ext cx="71438" cy="65088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08562E0-8080-4ABF-B12E-A80CB7201C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62313" y="956596"/>
              <a:ext cx="280988" cy="277813"/>
            </a:xfrm>
            <a:custGeom>
              <a:avLst/>
              <a:gdLst>
                <a:gd name="T0" fmla="*/ 20 w 39"/>
                <a:gd name="T1" fmla="*/ 38 h 38"/>
                <a:gd name="T2" fmla="*/ 0 w 39"/>
                <a:gd name="T3" fmla="*/ 19 h 38"/>
                <a:gd name="T4" fmla="*/ 20 w 39"/>
                <a:gd name="T5" fmla="*/ 0 h 38"/>
                <a:gd name="T6" fmla="*/ 39 w 39"/>
                <a:gd name="T7" fmla="*/ 19 h 38"/>
                <a:gd name="T8" fmla="*/ 20 w 39"/>
                <a:gd name="T9" fmla="*/ 38 h 38"/>
                <a:gd name="T10" fmla="*/ 20 w 39"/>
                <a:gd name="T11" fmla="*/ 4 h 38"/>
                <a:gd name="T12" fmla="*/ 4 w 39"/>
                <a:gd name="T13" fmla="*/ 19 h 38"/>
                <a:gd name="T14" fmla="*/ 20 w 39"/>
                <a:gd name="T15" fmla="*/ 34 h 38"/>
                <a:gd name="T16" fmla="*/ 35 w 39"/>
                <a:gd name="T17" fmla="*/ 19 h 38"/>
                <a:gd name="T18" fmla="*/ 20 w 39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38">
                  <a:moveTo>
                    <a:pt x="20" y="38"/>
                  </a:moveTo>
                  <a:cubicBezTo>
                    <a:pt x="9" y="38"/>
                    <a:pt x="0" y="30"/>
                    <a:pt x="0" y="19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0" y="0"/>
                    <a:pt x="39" y="8"/>
                    <a:pt x="39" y="19"/>
                  </a:cubicBezTo>
                  <a:cubicBezTo>
                    <a:pt x="39" y="30"/>
                    <a:pt x="30" y="38"/>
                    <a:pt x="20" y="38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4"/>
                    <a:pt x="20" y="34"/>
                  </a:cubicBezTo>
                  <a:cubicBezTo>
                    <a:pt x="28" y="34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7A26BBF3-156E-4E5A-AC48-FE5AFF121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213" y="1286796"/>
              <a:ext cx="238125" cy="285750"/>
            </a:xfrm>
            <a:custGeom>
              <a:avLst/>
              <a:gdLst>
                <a:gd name="T0" fmla="*/ 33 w 33"/>
                <a:gd name="T1" fmla="*/ 39 h 39"/>
                <a:gd name="T2" fmla="*/ 29 w 33"/>
                <a:gd name="T3" fmla="*/ 39 h 39"/>
                <a:gd name="T4" fmla="*/ 29 w 33"/>
                <a:gd name="T5" fmla="*/ 34 h 39"/>
                <a:gd name="T6" fmla="*/ 29 w 33"/>
                <a:gd name="T7" fmla="*/ 23 h 39"/>
                <a:gd name="T8" fmla="*/ 24 w 33"/>
                <a:gd name="T9" fmla="*/ 9 h 39"/>
                <a:gd name="T10" fmla="*/ 7 w 33"/>
                <a:gd name="T11" fmla="*/ 4 h 39"/>
                <a:gd name="T12" fmla="*/ 0 w 33"/>
                <a:gd name="T13" fmla="*/ 4 h 39"/>
                <a:gd name="T14" fmla="*/ 0 w 33"/>
                <a:gd name="T15" fmla="*/ 0 h 39"/>
                <a:gd name="T16" fmla="*/ 7 w 33"/>
                <a:gd name="T17" fmla="*/ 0 h 39"/>
                <a:gd name="T18" fmla="*/ 27 w 33"/>
                <a:gd name="T19" fmla="*/ 7 h 39"/>
                <a:gd name="T20" fmla="*/ 33 w 33"/>
                <a:gd name="T21" fmla="*/ 23 h 39"/>
                <a:gd name="T22" fmla="*/ 33 w 33"/>
                <a:gd name="T23" fmla="*/ 34 h 39"/>
                <a:gd name="T24" fmla="*/ 33 w 33"/>
                <a:gd name="T2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9">
                  <a:moveTo>
                    <a:pt x="33" y="39"/>
                  </a:moveTo>
                  <a:cubicBezTo>
                    <a:pt x="29" y="39"/>
                    <a:pt x="29" y="39"/>
                    <a:pt x="29" y="39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9" y="30"/>
                    <a:pt x="29" y="27"/>
                    <a:pt x="29" y="23"/>
                  </a:cubicBezTo>
                  <a:cubicBezTo>
                    <a:pt x="29" y="19"/>
                    <a:pt x="27" y="13"/>
                    <a:pt x="24" y="9"/>
                  </a:cubicBezTo>
                  <a:cubicBezTo>
                    <a:pt x="21" y="7"/>
                    <a:pt x="17" y="4"/>
                    <a:pt x="7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16" y="0"/>
                    <a:pt x="22" y="2"/>
                    <a:pt x="27" y="7"/>
                  </a:cubicBezTo>
                  <a:cubicBezTo>
                    <a:pt x="32" y="12"/>
                    <a:pt x="33" y="21"/>
                    <a:pt x="33" y="23"/>
                  </a:cubicBezTo>
                  <a:cubicBezTo>
                    <a:pt x="33" y="27"/>
                    <a:pt x="33" y="30"/>
                    <a:pt x="33" y="34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77A9BE51-5332-4637-8B96-F30EA4EB8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625" y="1286796"/>
              <a:ext cx="246063" cy="285750"/>
            </a:xfrm>
            <a:custGeom>
              <a:avLst/>
              <a:gdLst>
                <a:gd name="T0" fmla="*/ 4 w 34"/>
                <a:gd name="T1" fmla="*/ 39 h 39"/>
                <a:gd name="T2" fmla="*/ 0 w 34"/>
                <a:gd name="T3" fmla="*/ 39 h 39"/>
                <a:gd name="T4" fmla="*/ 1 w 34"/>
                <a:gd name="T5" fmla="*/ 20 h 39"/>
                <a:gd name="T6" fmla="*/ 8 w 34"/>
                <a:gd name="T7" fmla="*/ 5 h 39"/>
                <a:gd name="T8" fmla="*/ 34 w 34"/>
                <a:gd name="T9" fmla="*/ 0 h 39"/>
                <a:gd name="T10" fmla="*/ 34 w 34"/>
                <a:gd name="T11" fmla="*/ 4 h 39"/>
                <a:gd name="T12" fmla="*/ 11 w 34"/>
                <a:gd name="T13" fmla="*/ 8 h 39"/>
                <a:gd name="T14" fmla="*/ 5 w 34"/>
                <a:gd name="T15" fmla="*/ 20 h 39"/>
                <a:gd name="T16" fmla="*/ 4 w 34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9">
                  <a:moveTo>
                    <a:pt x="4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17"/>
                    <a:pt x="2" y="10"/>
                    <a:pt x="8" y="5"/>
                  </a:cubicBezTo>
                  <a:cubicBezTo>
                    <a:pt x="14" y="0"/>
                    <a:pt x="22" y="0"/>
                    <a:pt x="34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2" y="4"/>
                    <a:pt x="15" y="5"/>
                    <a:pt x="11" y="8"/>
                  </a:cubicBezTo>
                  <a:cubicBezTo>
                    <a:pt x="6" y="12"/>
                    <a:pt x="5" y="18"/>
                    <a:pt x="5" y="20"/>
                  </a:cubicBezTo>
                  <a:lnTo>
                    <a:pt x="4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BD9B7813-C945-4D36-965B-C4EACC383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813" y="824834"/>
              <a:ext cx="346075" cy="476250"/>
            </a:xfrm>
            <a:custGeom>
              <a:avLst/>
              <a:gdLst>
                <a:gd name="T0" fmla="*/ 38 w 48"/>
                <a:gd name="T1" fmla="*/ 65 h 65"/>
                <a:gd name="T2" fmla="*/ 34 w 48"/>
                <a:gd name="T3" fmla="*/ 65 h 65"/>
                <a:gd name="T4" fmla="*/ 34 w 48"/>
                <a:gd name="T5" fmla="*/ 29 h 65"/>
                <a:gd name="T6" fmla="*/ 36 w 48"/>
                <a:gd name="T7" fmla="*/ 27 h 65"/>
                <a:gd name="T8" fmla="*/ 42 w 48"/>
                <a:gd name="T9" fmla="*/ 27 h 65"/>
                <a:gd name="T10" fmla="*/ 24 w 48"/>
                <a:gd name="T11" fmla="*/ 5 h 65"/>
                <a:gd name="T12" fmla="*/ 7 w 48"/>
                <a:gd name="T13" fmla="*/ 27 h 65"/>
                <a:gd name="T14" fmla="*/ 13 w 48"/>
                <a:gd name="T15" fmla="*/ 27 h 65"/>
                <a:gd name="T16" fmla="*/ 15 w 48"/>
                <a:gd name="T17" fmla="*/ 29 h 65"/>
                <a:gd name="T18" fmla="*/ 15 w 48"/>
                <a:gd name="T19" fmla="*/ 44 h 65"/>
                <a:gd name="T20" fmla="*/ 11 w 48"/>
                <a:gd name="T21" fmla="*/ 44 h 65"/>
                <a:gd name="T22" fmla="*/ 11 w 48"/>
                <a:gd name="T23" fmla="*/ 31 h 65"/>
                <a:gd name="T24" fmla="*/ 3 w 48"/>
                <a:gd name="T25" fmla="*/ 31 h 65"/>
                <a:gd name="T26" fmla="*/ 1 w 48"/>
                <a:gd name="T27" fmla="*/ 30 h 65"/>
                <a:gd name="T28" fmla="*/ 1 w 48"/>
                <a:gd name="T29" fmla="*/ 28 h 65"/>
                <a:gd name="T30" fmla="*/ 22 w 48"/>
                <a:gd name="T31" fmla="*/ 1 h 65"/>
                <a:gd name="T32" fmla="*/ 24 w 48"/>
                <a:gd name="T33" fmla="*/ 0 h 65"/>
                <a:gd name="T34" fmla="*/ 26 w 48"/>
                <a:gd name="T35" fmla="*/ 1 h 65"/>
                <a:gd name="T36" fmla="*/ 48 w 48"/>
                <a:gd name="T37" fmla="*/ 28 h 65"/>
                <a:gd name="T38" fmla="*/ 48 w 48"/>
                <a:gd name="T39" fmla="*/ 30 h 65"/>
                <a:gd name="T40" fmla="*/ 46 w 48"/>
                <a:gd name="T41" fmla="*/ 31 h 65"/>
                <a:gd name="T42" fmla="*/ 38 w 48"/>
                <a:gd name="T43" fmla="*/ 31 h 65"/>
                <a:gd name="T44" fmla="*/ 38 w 48"/>
                <a:gd name="T45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65">
                  <a:moveTo>
                    <a:pt x="38" y="65"/>
                  </a:moveTo>
                  <a:cubicBezTo>
                    <a:pt x="34" y="65"/>
                    <a:pt x="34" y="65"/>
                    <a:pt x="34" y="65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8"/>
                    <a:pt x="35" y="27"/>
                    <a:pt x="36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5" y="28"/>
                    <a:pt x="15" y="29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2" y="31"/>
                    <a:pt x="1" y="31"/>
                    <a:pt x="1" y="30"/>
                  </a:cubicBezTo>
                  <a:cubicBezTo>
                    <a:pt x="0" y="29"/>
                    <a:pt x="1" y="29"/>
                    <a:pt x="1" y="28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3" y="0"/>
                    <a:pt x="23" y="0"/>
                    <a:pt x="24" y="0"/>
                  </a:cubicBezTo>
                  <a:cubicBezTo>
                    <a:pt x="25" y="0"/>
                    <a:pt x="25" y="0"/>
                    <a:pt x="26" y="1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9"/>
                    <a:pt x="48" y="30"/>
                  </a:cubicBezTo>
                  <a:cubicBezTo>
                    <a:pt x="47" y="31"/>
                    <a:pt x="47" y="31"/>
                    <a:pt x="46" y="31"/>
                  </a:cubicBezTo>
                  <a:cubicBezTo>
                    <a:pt x="38" y="31"/>
                    <a:pt x="38" y="31"/>
                    <a:pt x="38" y="31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90" name="Группа 101">
            <a:extLst>
              <a:ext uri="{FF2B5EF4-FFF2-40B4-BE49-F238E27FC236}">
                <a16:creationId xmlns:a16="http://schemas.microsoft.com/office/drawing/2014/main" id="{7C59058C-6037-4226-B49D-205A174ED518}"/>
              </a:ext>
            </a:extLst>
          </p:cNvPr>
          <p:cNvGrpSpPr>
            <a:grpSpLocks noChangeAspect="1"/>
          </p:cNvGrpSpPr>
          <p:nvPr/>
        </p:nvGrpSpPr>
        <p:grpSpPr>
          <a:xfrm>
            <a:off x="1217278" y="1570068"/>
            <a:ext cx="189354" cy="382652"/>
            <a:chOff x="709299" y="904822"/>
            <a:chExt cx="432256" cy="873515"/>
          </a:xfrm>
        </p:grpSpPr>
        <p:sp>
          <p:nvSpPr>
            <p:cNvPr id="91" name="Полилиния: фигура 499">
              <a:extLst>
                <a:ext uri="{FF2B5EF4-FFF2-40B4-BE49-F238E27FC236}">
                  <a16:creationId xmlns:a16="http://schemas.microsoft.com/office/drawing/2014/main" id="{576E9117-EF7E-44F5-A8F7-1A5C0327E2D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92" name="Рисунок 476">
              <a:extLst>
                <a:ext uri="{FF2B5EF4-FFF2-40B4-BE49-F238E27FC236}">
                  <a16:creationId xmlns:a16="http://schemas.microsoft.com/office/drawing/2014/main" id="{BE528D84-99EF-4887-A57D-C6FA01B161E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FFFFFF"/>
            </a:solidFill>
          </p:grpSpPr>
          <p:sp>
            <p:nvSpPr>
              <p:cNvPr id="93" name="Полилиния: фигура 501">
                <a:extLst>
                  <a:ext uri="{FF2B5EF4-FFF2-40B4-BE49-F238E27FC236}">
                    <a16:creationId xmlns:a16="http://schemas.microsoft.com/office/drawing/2014/main" id="{297F759E-749E-41C0-B2E0-C43CCD9389F5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94" name="Полилиния: фигура 502">
                <a:extLst>
                  <a:ext uri="{FF2B5EF4-FFF2-40B4-BE49-F238E27FC236}">
                    <a16:creationId xmlns:a16="http://schemas.microsoft.com/office/drawing/2014/main" id="{89F1BB4C-DF51-41E4-B75D-F5EAA9FBF8F1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Группа 102">
            <a:extLst>
              <a:ext uri="{FF2B5EF4-FFF2-40B4-BE49-F238E27FC236}">
                <a16:creationId xmlns:a16="http://schemas.microsoft.com/office/drawing/2014/main" id="{9D6CDAD8-FB33-4897-86A7-566A8F4F3E41}"/>
              </a:ext>
            </a:extLst>
          </p:cNvPr>
          <p:cNvGrpSpPr>
            <a:grpSpLocks noChangeAspect="1"/>
          </p:cNvGrpSpPr>
          <p:nvPr/>
        </p:nvGrpSpPr>
        <p:grpSpPr>
          <a:xfrm>
            <a:off x="7109692" y="1580521"/>
            <a:ext cx="301922" cy="353117"/>
            <a:chOff x="1571161" y="904822"/>
            <a:chExt cx="749659" cy="876775"/>
          </a:xfrm>
        </p:grpSpPr>
        <p:sp>
          <p:nvSpPr>
            <p:cNvPr id="96" name="Полилиния: фигура 504">
              <a:extLst>
                <a:ext uri="{FF2B5EF4-FFF2-40B4-BE49-F238E27FC236}">
                  <a16:creationId xmlns:a16="http://schemas.microsoft.com/office/drawing/2014/main" id="{4E8E4EDE-CE87-4607-B774-6FA02CCCC6E2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97" name="Рисунок 481">
              <a:extLst>
                <a:ext uri="{FF2B5EF4-FFF2-40B4-BE49-F238E27FC236}">
                  <a16:creationId xmlns:a16="http://schemas.microsoft.com/office/drawing/2014/main" id="{6AE35A43-86AE-48EA-9C63-CC71C2E0A756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FFFFFF"/>
            </a:solidFill>
          </p:grpSpPr>
          <p:sp>
            <p:nvSpPr>
              <p:cNvPr id="98" name="Полилиния: фигура 506">
                <a:extLst>
                  <a:ext uri="{FF2B5EF4-FFF2-40B4-BE49-F238E27FC236}">
                    <a16:creationId xmlns:a16="http://schemas.microsoft.com/office/drawing/2014/main" id="{B0FF13F2-7664-480E-B4B3-926CB7B08A9E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99" name="Полилиния: фигура 507">
                <a:extLst>
                  <a:ext uri="{FF2B5EF4-FFF2-40B4-BE49-F238E27FC236}">
                    <a16:creationId xmlns:a16="http://schemas.microsoft.com/office/drawing/2014/main" id="{ED93E4E0-852C-4641-97D7-F8CF3FAE91F0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0" name="Rectangle 12">
            <a:extLst>
              <a:ext uri="{FF2B5EF4-FFF2-40B4-BE49-F238E27FC236}">
                <a16:creationId xmlns:a16="http://schemas.microsoft.com/office/drawing/2014/main" id="{A86782BB-C2F4-41FF-9FCF-5C4024E7B320}"/>
              </a:ext>
            </a:extLst>
          </p:cNvPr>
          <p:cNvSpPr/>
          <p:nvPr/>
        </p:nvSpPr>
        <p:spPr bwMode="auto">
          <a:xfrm>
            <a:off x="578069" y="2993948"/>
            <a:ext cx="2510878" cy="884702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01" name="Rectangle 402">
            <a:extLst>
              <a:ext uri="{FF2B5EF4-FFF2-40B4-BE49-F238E27FC236}">
                <a16:creationId xmlns:a16="http://schemas.microsoft.com/office/drawing/2014/main" id="{31E4AF72-2EE0-436A-A50C-8712734D2B32}"/>
              </a:ext>
            </a:extLst>
          </p:cNvPr>
          <p:cNvSpPr/>
          <p:nvPr/>
        </p:nvSpPr>
        <p:spPr>
          <a:xfrm>
            <a:off x="1350557" y="3152829"/>
            <a:ext cx="173045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Аудит и оценка </a:t>
            </a:r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существующих  процессов </a:t>
            </a:r>
            <a:r>
              <a:rPr lang="en-US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</a:t>
            </a:r>
            <a:endParaRPr lang="ru-RU" sz="1100" b="1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102" name="Rectangle 407">
            <a:extLst>
              <a:ext uri="{FF2B5EF4-FFF2-40B4-BE49-F238E27FC236}">
                <a16:creationId xmlns:a16="http://schemas.microsoft.com/office/drawing/2014/main" id="{AE922860-A2D6-49EB-ABEE-64D25958C312}"/>
              </a:ext>
            </a:extLst>
          </p:cNvPr>
          <p:cNvSpPr/>
          <p:nvPr/>
        </p:nvSpPr>
        <p:spPr>
          <a:xfrm>
            <a:off x="3931009" y="5017299"/>
            <a:ext cx="228408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Внедрение инструментов 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мониторинга</a:t>
            </a:r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качества </a:t>
            </a:r>
            <a:b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настройка 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отчетности</a:t>
            </a:r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</a:p>
        </p:txBody>
      </p:sp>
      <p:grpSp>
        <p:nvGrpSpPr>
          <p:cNvPr id="103" name="Группа 282">
            <a:extLst>
              <a:ext uri="{FF2B5EF4-FFF2-40B4-BE49-F238E27FC236}">
                <a16:creationId xmlns:a16="http://schemas.microsoft.com/office/drawing/2014/main" id="{7A83AAB1-98DF-400D-8C5B-53BBE8D7A8A0}"/>
              </a:ext>
            </a:extLst>
          </p:cNvPr>
          <p:cNvGrpSpPr>
            <a:grpSpLocks noChangeAspect="1"/>
          </p:cNvGrpSpPr>
          <p:nvPr/>
        </p:nvGrpSpPr>
        <p:grpSpPr>
          <a:xfrm>
            <a:off x="3433084" y="5155072"/>
            <a:ext cx="361717" cy="324618"/>
            <a:chOff x="7837518" y="1036462"/>
            <a:chExt cx="852856" cy="765383"/>
          </a:xfrm>
        </p:grpSpPr>
        <p:sp>
          <p:nvSpPr>
            <p:cNvPr id="104" name="Полилиния: фигура 35">
              <a:extLst>
                <a:ext uri="{FF2B5EF4-FFF2-40B4-BE49-F238E27FC236}">
                  <a16:creationId xmlns:a16="http://schemas.microsoft.com/office/drawing/2014/main" id="{377B7E23-878E-40C5-AC12-B65F19435968}"/>
                </a:ext>
              </a:extLst>
            </p:cNvPr>
            <p:cNvSpPr/>
            <p:nvPr/>
          </p:nvSpPr>
          <p:spPr>
            <a:xfrm>
              <a:off x="8165540" y="1613233"/>
              <a:ext cx="185878" cy="185878"/>
            </a:xfrm>
            <a:custGeom>
              <a:avLst/>
              <a:gdLst>
                <a:gd name="connsiteX0" fmla="*/ 0 w 185878"/>
                <a:gd name="connsiteY0" fmla="*/ 0 h 185878"/>
                <a:gd name="connsiteX1" fmla="*/ 185879 w 185878"/>
                <a:gd name="connsiteY1" fmla="*/ 0 h 185878"/>
                <a:gd name="connsiteX2" fmla="*/ 185879 w 185878"/>
                <a:gd name="connsiteY2" fmla="*/ 185879 h 185878"/>
                <a:gd name="connsiteX3" fmla="*/ 0 w 185878"/>
                <a:gd name="connsiteY3" fmla="*/ 185879 h 185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878" h="185878">
                  <a:moveTo>
                    <a:pt x="0" y="0"/>
                  </a:moveTo>
                  <a:lnTo>
                    <a:pt x="185879" y="0"/>
                  </a:lnTo>
                  <a:lnTo>
                    <a:pt x="185879" y="185879"/>
                  </a:lnTo>
                  <a:lnTo>
                    <a:pt x="0" y="185879"/>
                  </a:ln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36">
              <a:extLst>
                <a:ext uri="{FF2B5EF4-FFF2-40B4-BE49-F238E27FC236}">
                  <a16:creationId xmlns:a16="http://schemas.microsoft.com/office/drawing/2014/main" id="{113D6625-4FC7-4D3C-BD19-FA5F2145502F}"/>
                </a:ext>
              </a:extLst>
            </p:cNvPr>
            <p:cNvSpPr/>
            <p:nvPr/>
          </p:nvSpPr>
          <p:spPr>
            <a:xfrm>
              <a:off x="8023397" y="1774510"/>
              <a:ext cx="472897" cy="27335"/>
            </a:xfrm>
            <a:custGeom>
              <a:avLst/>
              <a:gdLst>
                <a:gd name="connsiteX0" fmla="*/ 0 w 472897"/>
                <a:gd name="connsiteY0" fmla="*/ 0 h 27335"/>
                <a:gd name="connsiteX1" fmla="*/ 472897 w 472897"/>
                <a:gd name="connsiteY1" fmla="*/ 0 h 27335"/>
                <a:gd name="connsiteX2" fmla="*/ 472897 w 472897"/>
                <a:gd name="connsiteY2" fmla="*/ 27335 h 27335"/>
                <a:gd name="connsiteX3" fmla="*/ 0 w 472897"/>
                <a:gd name="connsiteY3" fmla="*/ 27335 h 27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897" h="27335">
                  <a:moveTo>
                    <a:pt x="0" y="0"/>
                  </a:moveTo>
                  <a:lnTo>
                    <a:pt x="472897" y="0"/>
                  </a:lnTo>
                  <a:lnTo>
                    <a:pt x="472897" y="27335"/>
                  </a:lnTo>
                  <a:lnTo>
                    <a:pt x="0" y="27335"/>
                  </a:lnTo>
                  <a:close/>
                </a:path>
              </a:pathLst>
            </a:custGeom>
            <a:solidFill>
              <a:srgbClr val="FFFFFF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37">
              <a:extLst>
                <a:ext uri="{FF2B5EF4-FFF2-40B4-BE49-F238E27FC236}">
                  <a16:creationId xmlns:a16="http://schemas.microsoft.com/office/drawing/2014/main" id="{7033AD05-08C0-43D6-B8B8-F61729ABA984}"/>
                </a:ext>
              </a:extLst>
            </p:cNvPr>
            <p:cNvSpPr/>
            <p:nvPr/>
          </p:nvSpPr>
          <p:spPr>
            <a:xfrm>
              <a:off x="7894922" y="1085665"/>
              <a:ext cx="202279" cy="194079"/>
            </a:xfrm>
            <a:custGeom>
              <a:avLst/>
              <a:gdLst>
                <a:gd name="connsiteX0" fmla="*/ 27335 w 202279"/>
                <a:gd name="connsiteY0" fmla="*/ 194079 h 194079"/>
                <a:gd name="connsiteX1" fmla="*/ 0 w 202279"/>
                <a:gd name="connsiteY1" fmla="*/ 194079 h 194079"/>
                <a:gd name="connsiteX2" fmla="*/ 0 w 202279"/>
                <a:gd name="connsiteY2" fmla="*/ 13668 h 194079"/>
                <a:gd name="connsiteX3" fmla="*/ 13668 w 202279"/>
                <a:gd name="connsiteY3" fmla="*/ 0 h 194079"/>
                <a:gd name="connsiteX4" fmla="*/ 202280 w 202279"/>
                <a:gd name="connsiteY4" fmla="*/ 0 h 194079"/>
                <a:gd name="connsiteX5" fmla="*/ 202280 w 202279"/>
                <a:gd name="connsiteY5" fmla="*/ 27335 h 194079"/>
                <a:gd name="connsiteX6" fmla="*/ 27335 w 202279"/>
                <a:gd name="connsiteY6" fmla="*/ 27335 h 194079"/>
                <a:gd name="connsiteX7" fmla="*/ 27335 w 202279"/>
                <a:gd name="connsiteY7" fmla="*/ 194079 h 19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279" h="194079">
                  <a:moveTo>
                    <a:pt x="27335" y="194079"/>
                  </a:moveTo>
                  <a:lnTo>
                    <a:pt x="0" y="194079"/>
                  </a:lnTo>
                  <a:lnTo>
                    <a:pt x="0" y="13668"/>
                  </a:lnTo>
                  <a:cubicBezTo>
                    <a:pt x="0" y="5467"/>
                    <a:pt x="5467" y="0"/>
                    <a:pt x="13668" y="0"/>
                  </a:cubicBezTo>
                  <a:lnTo>
                    <a:pt x="202280" y="0"/>
                  </a:lnTo>
                  <a:lnTo>
                    <a:pt x="202280" y="27335"/>
                  </a:lnTo>
                  <a:lnTo>
                    <a:pt x="27335" y="27335"/>
                  </a:lnTo>
                  <a:lnTo>
                    <a:pt x="27335" y="194079"/>
                  </a:ln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38">
              <a:extLst>
                <a:ext uri="{FF2B5EF4-FFF2-40B4-BE49-F238E27FC236}">
                  <a16:creationId xmlns:a16="http://schemas.microsoft.com/office/drawing/2014/main" id="{D8049624-DAEB-4F77-82E0-B9867B5DD208}"/>
                </a:ext>
              </a:extLst>
            </p:cNvPr>
            <p:cNvSpPr/>
            <p:nvPr/>
          </p:nvSpPr>
          <p:spPr>
            <a:xfrm>
              <a:off x="7837518" y="1036462"/>
              <a:ext cx="852856" cy="590438"/>
            </a:xfrm>
            <a:custGeom>
              <a:avLst/>
              <a:gdLst>
                <a:gd name="connsiteX0" fmla="*/ 839189 w 852856"/>
                <a:gd name="connsiteY0" fmla="*/ 590439 h 590438"/>
                <a:gd name="connsiteX1" fmla="*/ 16401 w 852856"/>
                <a:gd name="connsiteY1" fmla="*/ 590439 h 590438"/>
                <a:gd name="connsiteX2" fmla="*/ 2734 w 852856"/>
                <a:gd name="connsiteY2" fmla="*/ 576771 h 590438"/>
                <a:gd name="connsiteX3" fmla="*/ 2734 w 852856"/>
                <a:gd name="connsiteY3" fmla="*/ 456497 h 590438"/>
                <a:gd name="connsiteX4" fmla="*/ 30069 w 852856"/>
                <a:gd name="connsiteY4" fmla="*/ 456497 h 590438"/>
                <a:gd name="connsiteX5" fmla="*/ 30069 w 852856"/>
                <a:gd name="connsiteY5" fmla="*/ 563104 h 590438"/>
                <a:gd name="connsiteX6" fmla="*/ 825521 w 852856"/>
                <a:gd name="connsiteY6" fmla="*/ 563104 h 590438"/>
                <a:gd name="connsiteX7" fmla="*/ 825521 w 852856"/>
                <a:gd name="connsiteY7" fmla="*/ 27335 h 590438"/>
                <a:gd name="connsiteX8" fmla="*/ 27335 w 852856"/>
                <a:gd name="connsiteY8" fmla="*/ 27335 h 590438"/>
                <a:gd name="connsiteX9" fmla="*/ 27335 w 852856"/>
                <a:gd name="connsiteY9" fmla="*/ 308887 h 590438"/>
                <a:gd name="connsiteX10" fmla="*/ 0 w 852856"/>
                <a:gd name="connsiteY10" fmla="*/ 308887 h 590438"/>
                <a:gd name="connsiteX11" fmla="*/ 0 w 852856"/>
                <a:gd name="connsiteY11" fmla="*/ 13668 h 590438"/>
                <a:gd name="connsiteX12" fmla="*/ 13668 w 852856"/>
                <a:gd name="connsiteY12" fmla="*/ 0 h 590438"/>
                <a:gd name="connsiteX13" fmla="*/ 839189 w 852856"/>
                <a:gd name="connsiteY13" fmla="*/ 0 h 590438"/>
                <a:gd name="connsiteX14" fmla="*/ 852856 w 852856"/>
                <a:gd name="connsiteY14" fmla="*/ 13668 h 590438"/>
                <a:gd name="connsiteX15" fmla="*/ 852856 w 852856"/>
                <a:gd name="connsiteY15" fmla="*/ 576771 h 590438"/>
                <a:gd name="connsiteX16" fmla="*/ 839189 w 852856"/>
                <a:gd name="connsiteY16" fmla="*/ 590439 h 59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856" h="590438">
                  <a:moveTo>
                    <a:pt x="839189" y="590439"/>
                  </a:moveTo>
                  <a:lnTo>
                    <a:pt x="16401" y="590439"/>
                  </a:lnTo>
                  <a:cubicBezTo>
                    <a:pt x="8201" y="590439"/>
                    <a:pt x="2734" y="584972"/>
                    <a:pt x="2734" y="576771"/>
                  </a:cubicBezTo>
                  <a:lnTo>
                    <a:pt x="2734" y="456497"/>
                  </a:lnTo>
                  <a:lnTo>
                    <a:pt x="30069" y="456497"/>
                  </a:lnTo>
                  <a:lnTo>
                    <a:pt x="30069" y="563104"/>
                  </a:lnTo>
                  <a:lnTo>
                    <a:pt x="825521" y="563104"/>
                  </a:lnTo>
                  <a:lnTo>
                    <a:pt x="825521" y="27335"/>
                  </a:lnTo>
                  <a:lnTo>
                    <a:pt x="27335" y="27335"/>
                  </a:lnTo>
                  <a:lnTo>
                    <a:pt x="27335" y="308887"/>
                  </a:lnTo>
                  <a:lnTo>
                    <a:pt x="0" y="308887"/>
                  </a:lnTo>
                  <a:lnTo>
                    <a:pt x="0" y="13668"/>
                  </a:lnTo>
                  <a:cubicBezTo>
                    <a:pt x="0" y="5467"/>
                    <a:pt x="5467" y="0"/>
                    <a:pt x="13668" y="0"/>
                  </a:cubicBezTo>
                  <a:lnTo>
                    <a:pt x="839189" y="0"/>
                  </a:lnTo>
                  <a:cubicBezTo>
                    <a:pt x="847389" y="0"/>
                    <a:pt x="852856" y="5467"/>
                    <a:pt x="852856" y="13668"/>
                  </a:cubicBezTo>
                  <a:lnTo>
                    <a:pt x="852856" y="576771"/>
                  </a:lnTo>
                  <a:cubicBezTo>
                    <a:pt x="852856" y="584972"/>
                    <a:pt x="844655" y="590439"/>
                    <a:pt x="839189" y="590439"/>
                  </a:cubicBez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8" name="Рисунок 2">
              <a:extLst>
                <a:ext uri="{FF2B5EF4-FFF2-40B4-BE49-F238E27FC236}">
                  <a16:creationId xmlns:a16="http://schemas.microsoft.com/office/drawing/2014/main" id="{4E3437EA-D45E-4078-A7BF-06990C990D35}"/>
                </a:ext>
              </a:extLst>
            </p:cNvPr>
            <p:cNvGrpSpPr/>
            <p:nvPr/>
          </p:nvGrpSpPr>
          <p:grpSpPr>
            <a:xfrm>
              <a:off x="7963260" y="1164937"/>
              <a:ext cx="595905" cy="360823"/>
              <a:chOff x="7431212" y="1023821"/>
              <a:chExt cx="595905" cy="360823"/>
            </a:xfrm>
            <a:solidFill>
              <a:srgbClr val="FFFFFF"/>
            </a:solidFill>
          </p:grpSpPr>
          <p:sp>
            <p:nvSpPr>
              <p:cNvPr id="109" name="Полилиния: фигура 40">
                <a:extLst>
                  <a:ext uri="{FF2B5EF4-FFF2-40B4-BE49-F238E27FC236}">
                    <a16:creationId xmlns:a16="http://schemas.microsoft.com/office/drawing/2014/main" id="{389C402E-CDB6-482D-BD3E-81A4EE969575}"/>
                  </a:ext>
                </a:extLst>
              </p:cNvPr>
              <p:cNvSpPr/>
              <p:nvPr/>
            </p:nvSpPr>
            <p:spPr>
              <a:xfrm>
                <a:off x="7431212" y="1023821"/>
                <a:ext cx="595905" cy="194079"/>
              </a:xfrm>
              <a:custGeom>
                <a:avLst/>
                <a:gdLst>
                  <a:gd name="connsiteX0" fmla="*/ 13668 w 595905"/>
                  <a:gd name="connsiteY0" fmla="*/ 194079 h 194079"/>
                  <a:gd name="connsiteX1" fmla="*/ 0 w 595905"/>
                  <a:gd name="connsiteY1" fmla="*/ 169478 h 194079"/>
                  <a:gd name="connsiteX2" fmla="*/ 243282 w 595905"/>
                  <a:gd name="connsiteY2" fmla="*/ 46470 h 194079"/>
                  <a:gd name="connsiteX3" fmla="*/ 256950 w 595905"/>
                  <a:gd name="connsiteY3" fmla="*/ 46470 h 194079"/>
                  <a:gd name="connsiteX4" fmla="*/ 390892 w 595905"/>
                  <a:gd name="connsiteY4" fmla="*/ 131209 h 194079"/>
                  <a:gd name="connsiteX5" fmla="*/ 579504 w 595905"/>
                  <a:gd name="connsiteY5" fmla="*/ 0 h 194079"/>
                  <a:gd name="connsiteX6" fmla="*/ 595905 w 595905"/>
                  <a:gd name="connsiteY6" fmla="*/ 21868 h 194079"/>
                  <a:gd name="connsiteX7" fmla="*/ 399093 w 595905"/>
                  <a:gd name="connsiteY7" fmla="*/ 158544 h 194079"/>
                  <a:gd name="connsiteX8" fmla="*/ 382692 w 595905"/>
                  <a:gd name="connsiteY8" fmla="*/ 158544 h 194079"/>
                  <a:gd name="connsiteX9" fmla="*/ 248750 w 595905"/>
                  <a:gd name="connsiteY9" fmla="*/ 71071 h 194079"/>
                  <a:gd name="connsiteX10" fmla="*/ 13668 w 595905"/>
                  <a:gd name="connsiteY10" fmla="*/ 194079 h 19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5905" h="194079">
                    <a:moveTo>
                      <a:pt x="13668" y="194079"/>
                    </a:moveTo>
                    <a:lnTo>
                      <a:pt x="0" y="169478"/>
                    </a:lnTo>
                    <a:lnTo>
                      <a:pt x="243282" y="46470"/>
                    </a:lnTo>
                    <a:cubicBezTo>
                      <a:pt x="248750" y="43736"/>
                      <a:pt x="251483" y="43736"/>
                      <a:pt x="256950" y="46470"/>
                    </a:cubicBezTo>
                    <a:lnTo>
                      <a:pt x="390892" y="131209"/>
                    </a:lnTo>
                    <a:lnTo>
                      <a:pt x="579504" y="0"/>
                    </a:lnTo>
                    <a:lnTo>
                      <a:pt x="595905" y="21868"/>
                    </a:lnTo>
                    <a:lnTo>
                      <a:pt x="399093" y="158544"/>
                    </a:lnTo>
                    <a:cubicBezTo>
                      <a:pt x="393626" y="161277"/>
                      <a:pt x="388158" y="161277"/>
                      <a:pt x="382692" y="158544"/>
                    </a:cubicBezTo>
                    <a:lnTo>
                      <a:pt x="248750" y="71071"/>
                    </a:lnTo>
                    <a:lnTo>
                      <a:pt x="13668" y="194079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0" name="Полилиния: фигура 41">
                <a:extLst>
                  <a:ext uri="{FF2B5EF4-FFF2-40B4-BE49-F238E27FC236}">
                    <a16:creationId xmlns:a16="http://schemas.microsoft.com/office/drawing/2014/main" id="{E0B84216-0110-4D48-A62B-B7EBFA4CDD78}"/>
                  </a:ext>
                </a:extLst>
              </p:cNvPr>
              <p:cNvSpPr/>
              <p:nvPr/>
            </p:nvSpPr>
            <p:spPr>
              <a:xfrm>
                <a:off x="7923244" y="1179631"/>
                <a:ext cx="73804" cy="205013"/>
              </a:xfrm>
              <a:custGeom>
                <a:avLst/>
                <a:gdLst>
                  <a:gd name="connsiteX0" fmla="*/ 0 w 73804"/>
                  <a:gd name="connsiteY0" fmla="*/ 0 h 205013"/>
                  <a:gd name="connsiteX1" fmla="*/ 73805 w 73804"/>
                  <a:gd name="connsiteY1" fmla="*/ 0 h 205013"/>
                  <a:gd name="connsiteX2" fmla="*/ 73805 w 73804"/>
                  <a:gd name="connsiteY2" fmla="*/ 205013 h 205013"/>
                  <a:gd name="connsiteX3" fmla="*/ 0 w 73804"/>
                  <a:gd name="connsiteY3" fmla="*/ 205013 h 205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205013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205013"/>
                    </a:lnTo>
                    <a:lnTo>
                      <a:pt x="0" y="205013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1" name="Полилиния: фигура 42">
                <a:extLst>
                  <a:ext uri="{FF2B5EF4-FFF2-40B4-BE49-F238E27FC236}">
                    <a16:creationId xmlns:a16="http://schemas.microsoft.com/office/drawing/2014/main" id="{AF14D7B4-5E55-41F6-A5E6-88D59AE5D791}"/>
                  </a:ext>
                </a:extLst>
              </p:cNvPr>
              <p:cNvSpPr/>
              <p:nvPr/>
            </p:nvSpPr>
            <p:spPr>
              <a:xfrm>
                <a:off x="7786569" y="1305373"/>
                <a:ext cx="73804" cy="79271"/>
              </a:xfrm>
              <a:custGeom>
                <a:avLst/>
                <a:gdLst>
                  <a:gd name="connsiteX0" fmla="*/ 0 w 73804"/>
                  <a:gd name="connsiteY0" fmla="*/ 0 h 79271"/>
                  <a:gd name="connsiteX1" fmla="*/ 73805 w 73804"/>
                  <a:gd name="connsiteY1" fmla="*/ 0 h 79271"/>
                  <a:gd name="connsiteX2" fmla="*/ 73805 w 73804"/>
                  <a:gd name="connsiteY2" fmla="*/ 79272 h 79271"/>
                  <a:gd name="connsiteX3" fmla="*/ 0 w 73804"/>
                  <a:gd name="connsiteY3" fmla="*/ 79272 h 79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79271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79272"/>
                    </a:lnTo>
                    <a:lnTo>
                      <a:pt x="0" y="79272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2" name="Полилиния: фигура 43">
                <a:extLst>
                  <a:ext uri="{FF2B5EF4-FFF2-40B4-BE49-F238E27FC236}">
                    <a16:creationId xmlns:a16="http://schemas.microsoft.com/office/drawing/2014/main" id="{3E2ED189-EE7C-4F77-B0A0-C50179D63D20}"/>
                  </a:ext>
                </a:extLst>
              </p:cNvPr>
              <p:cNvSpPr/>
              <p:nvPr/>
            </p:nvSpPr>
            <p:spPr>
              <a:xfrm>
                <a:off x="7633492" y="1179631"/>
                <a:ext cx="73804" cy="205013"/>
              </a:xfrm>
              <a:custGeom>
                <a:avLst/>
                <a:gdLst>
                  <a:gd name="connsiteX0" fmla="*/ 0 w 73804"/>
                  <a:gd name="connsiteY0" fmla="*/ 0 h 205013"/>
                  <a:gd name="connsiteX1" fmla="*/ 73805 w 73804"/>
                  <a:gd name="connsiteY1" fmla="*/ 0 h 205013"/>
                  <a:gd name="connsiteX2" fmla="*/ 73805 w 73804"/>
                  <a:gd name="connsiteY2" fmla="*/ 205013 h 205013"/>
                  <a:gd name="connsiteX3" fmla="*/ 0 w 73804"/>
                  <a:gd name="connsiteY3" fmla="*/ 205013 h 205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205013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205013"/>
                    </a:lnTo>
                    <a:lnTo>
                      <a:pt x="0" y="205013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3" name="Полилиния: фигура 44">
                <a:extLst>
                  <a:ext uri="{FF2B5EF4-FFF2-40B4-BE49-F238E27FC236}">
                    <a16:creationId xmlns:a16="http://schemas.microsoft.com/office/drawing/2014/main" id="{8C6E0FFC-D398-4624-8E39-3948AD80806A}"/>
                  </a:ext>
                </a:extLst>
              </p:cNvPr>
              <p:cNvSpPr/>
              <p:nvPr/>
            </p:nvSpPr>
            <p:spPr>
              <a:xfrm>
                <a:off x="7496816" y="1305373"/>
                <a:ext cx="73804" cy="79271"/>
              </a:xfrm>
              <a:custGeom>
                <a:avLst/>
                <a:gdLst>
                  <a:gd name="connsiteX0" fmla="*/ 0 w 73804"/>
                  <a:gd name="connsiteY0" fmla="*/ 0 h 79271"/>
                  <a:gd name="connsiteX1" fmla="*/ 73805 w 73804"/>
                  <a:gd name="connsiteY1" fmla="*/ 0 h 79271"/>
                  <a:gd name="connsiteX2" fmla="*/ 73805 w 73804"/>
                  <a:gd name="connsiteY2" fmla="*/ 79272 h 79271"/>
                  <a:gd name="connsiteX3" fmla="*/ 0 w 73804"/>
                  <a:gd name="connsiteY3" fmla="*/ 79272 h 79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79271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79272"/>
                    </a:lnTo>
                    <a:lnTo>
                      <a:pt x="0" y="79272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114" name="Rectangle 12">
            <a:extLst>
              <a:ext uri="{FF2B5EF4-FFF2-40B4-BE49-F238E27FC236}">
                <a16:creationId xmlns:a16="http://schemas.microsoft.com/office/drawing/2014/main" id="{590D06DB-0497-4C79-A8D4-08AC5499E331}"/>
              </a:ext>
            </a:extLst>
          </p:cNvPr>
          <p:cNvSpPr/>
          <p:nvPr/>
        </p:nvSpPr>
        <p:spPr bwMode="auto">
          <a:xfrm>
            <a:off x="578069" y="3930891"/>
            <a:ext cx="2510878" cy="884702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5" name="Rectangle 617">
            <a:extLst>
              <a:ext uri="{FF2B5EF4-FFF2-40B4-BE49-F238E27FC236}">
                <a16:creationId xmlns:a16="http://schemas.microsoft.com/office/drawing/2014/main" id="{76E9C868-0E44-4674-98C2-B1E0B9F7ECA0}"/>
              </a:ext>
            </a:extLst>
          </p:cNvPr>
          <p:cNvSpPr/>
          <p:nvPr/>
        </p:nvSpPr>
        <p:spPr>
          <a:xfrm>
            <a:off x="1350557" y="4144178"/>
            <a:ext cx="17463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Построение эффективного 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SDLC</a:t>
            </a:r>
          </a:p>
        </p:txBody>
      </p:sp>
      <p:sp>
        <p:nvSpPr>
          <p:cNvPr id="116" name="Rectangle 12">
            <a:extLst>
              <a:ext uri="{FF2B5EF4-FFF2-40B4-BE49-F238E27FC236}">
                <a16:creationId xmlns:a16="http://schemas.microsoft.com/office/drawing/2014/main" id="{B2E4DE6C-C6EE-4A01-A1C3-BA9A86F5C600}"/>
              </a:ext>
            </a:extLst>
          </p:cNvPr>
          <p:cNvSpPr/>
          <p:nvPr/>
        </p:nvSpPr>
        <p:spPr bwMode="auto">
          <a:xfrm>
            <a:off x="578069" y="4875838"/>
            <a:ext cx="2510878" cy="884702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7" name="Rectangle 632">
            <a:extLst>
              <a:ext uri="{FF2B5EF4-FFF2-40B4-BE49-F238E27FC236}">
                <a16:creationId xmlns:a16="http://schemas.microsoft.com/office/drawing/2014/main" id="{D67205D2-8DA8-4922-87CD-2B7C1EB6DE57}"/>
              </a:ext>
            </a:extLst>
          </p:cNvPr>
          <p:cNvSpPr/>
          <p:nvPr/>
        </p:nvSpPr>
        <p:spPr>
          <a:xfrm>
            <a:off x="1350557" y="5016237"/>
            <a:ext cx="168751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Внедрение автоматизированных </a:t>
            </a:r>
            <a:b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b="0" spc="30" dirty="0" err="1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Quality</a:t>
            </a:r>
            <a:r>
              <a:rPr lang="ru-RU" sz="10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r>
              <a:rPr lang="ru-RU" sz="1050" b="0" spc="30" dirty="0" err="1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Gates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118" name="Группа 199">
            <a:extLst>
              <a:ext uri="{FF2B5EF4-FFF2-40B4-BE49-F238E27FC236}">
                <a16:creationId xmlns:a16="http://schemas.microsoft.com/office/drawing/2014/main" id="{0BCB89CA-140F-4945-8E79-02886FE37E99}"/>
              </a:ext>
            </a:extLst>
          </p:cNvPr>
          <p:cNvGrpSpPr>
            <a:grpSpLocks noChangeAspect="1"/>
          </p:cNvGrpSpPr>
          <p:nvPr/>
        </p:nvGrpSpPr>
        <p:grpSpPr>
          <a:xfrm>
            <a:off x="789005" y="5135906"/>
            <a:ext cx="402953" cy="409452"/>
            <a:chOff x="8394580" y="2022509"/>
            <a:chExt cx="847550" cy="861220"/>
          </a:xfrm>
        </p:grpSpPr>
        <p:sp>
          <p:nvSpPr>
            <p:cNvPr id="119" name="Полилиния: фигура 151">
              <a:extLst>
                <a:ext uri="{FF2B5EF4-FFF2-40B4-BE49-F238E27FC236}">
                  <a16:creationId xmlns:a16="http://schemas.microsoft.com/office/drawing/2014/main" id="{7CD5F76C-30CF-4C1B-AF09-F49DA427B463}"/>
                </a:ext>
              </a:extLst>
            </p:cNvPr>
            <p:cNvSpPr/>
            <p:nvPr/>
          </p:nvSpPr>
          <p:spPr>
            <a:xfrm>
              <a:off x="8587672" y="2294887"/>
              <a:ext cx="236152" cy="422066"/>
            </a:xfrm>
            <a:custGeom>
              <a:avLst/>
              <a:gdLst>
                <a:gd name="connsiteX0" fmla="*/ 222482 w 236152"/>
                <a:gd name="connsiteY0" fmla="*/ 422067 h 422066"/>
                <a:gd name="connsiteX1" fmla="*/ 208812 w 236152"/>
                <a:gd name="connsiteY1" fmla="*/ 408396 h 422066"/>
                <a:gd name="connsiteX2" fmla="*/ 208812 w 236152"/>
                <a:gd name="connsiteY2" fmla="*/ 115855 h 422066"/>
                <a:gd name="connsiteX3" fmla="*/ 9227 w 236152"/>
                <a:gd name="connsiteY3" fmla="*/ 28366 h 422066"/>
                <a:gd name="connsiteX4" fmla="*/ 1025 w 236152"/>
                <a:gd name="connsiteY4" fmla="*/ 9227 h 422066"/>
                <a:gd name="connsiteX5" fmla="*/ 20163 w 236152"/>
                <a:gd name="connsiteY5" fmla="*/ 1025 h 422066"/>
                <a:gd name="connsiteX6" fmla="*/ 227950 w 236152"/>
                <a:gd name="connsiteY6" fmla="*/ 93982 h 422066"/>
                <a:gd name="connsiteX7" fmla="*/ 236153 w 236152"/>
                <a:gd name="connsiteY7" fmla="*/ 107653 h 422066"/>
                <a:gd name="connsiteX8" fmla="*/ 236153 w 236152"/>
                <a:gd name="connsiteY8" fmla="*/ 408396 h 422066"/>
                <a:gd name="connsiteX9" fmla="*/ 222482 w 236152"/>
                <a:gd name="connsiteY9" fmla="*/ 422067 h 422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6152" h="422066">
                  <a:moveTo>
                    <a:pt x="222482" y="422067"/>
                  </a:moveTo>
                  <a:cubicBezTo>
                    <a:pt x="214280" y="422067"/>
                    <a:pt x="208812" y="416598"/>
                    <a:pt x="208812" y="408396"/>
                  </a:cubicBezTo>
                  <a:lnTo>
                    <a:pt x="208812" y="115855"/>
                  </a:lnTo>
                  <a:lnTo>
                    <a:pt x="9227" y="28366"/>
                  </a:lnTo>
                  <a:cubicBezTo>
                    <a:pt x="1025" y="25632"/>
                    <a:pt x="-1709" y="17429"/>
                    <a:pt x="1025" y="9227"/>
                  </a:cubicBezTo>
                  <a:cubicBezTo>
                    <a:pt x="3760" y="1025"/>
                    <a:pt x="11961" y="-1709"/>
                    <a:pt x="20163" y="1025"/>
                  </a:cubicBezTo>
                  <a:lnTo>
                    <a:pt x="227950" y="93982"/>
                  </a:lnTo>
                  <a:cubicBezTo>
                    <a:pt x="233418" y="96716"/>
                    <a:pt x="236153" y="102184"/>
                    <a:pt x="236153" y="107653"/>
                  </a:cubicBezTo>
                  <a:lnTo>
                    <a:pt x="236153" y="408396"/>
                  </a:lnTo>
                  <a:cubicBezTo>
                    <a:pt x="236153" y="416598"/>
                    <a:pt x="230684" y="422067"/>
                    <a:pt x="222482" y="422067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: фигура 152">
              <a:extLst>
                <a:ext uri="{FF2B5EF4-FFF2-40B4-BE49-F238E27FC236}">
                  <a16:creationId xmlns:a16="http://schemas.microsoft.com/office/drawing/2014/main" id="{3D8C92B5-EDA4-4E5A-A048-ED18E7A32944}"/>
                </a:ext>
              </a:extLst>
            </p:cNvPr>
            <p:cNvSpPr/>
            <p:nvPr/>
          </p:nvSpPr>
          <p:spPr>
            <a:xfrm>
              <a:off x="8553154" y="2306848"/>
              <a:ext cx="227998" cy="399169"/>
            </a:xfrm>
            <a:custGeom>
              <a:avLst/>
              <a:gdLst>
                <a:gd name="connsiteX0" fmla="*/ 213255 w 227998"/>
                <a:gd name="connsiteY0" fmla="*/ 399169 h 399169"/>
                <a:gd name="connsiteX1" fmla="*/ 207787 w 227998"/>
                <a:gd name="connsiteY1" fmla="*/ 396435 h 399169"/>
                <a:gd name="connsiteX2" fmla="*/ 8203 w 227998"/>
                <a:gd name="connsiteY2" fmla="*/ 284340 h 399169"/>
                <a:gd name="connsiteX3" fmla="*/ 0 w 227998"/>
                <a:gd name="connsiteY3" fmla="*/ 273403 h 399169"/>
                <a:gd name="connsiteX4" fmla="*/ 0 w 227998"/>
                <a:gd name="connsiteY4" fmla="*/ 13670 h 399169"/>
                <a:gd name="connsiteX5" fmla="*/ 13670 w 227998"/>
                <a:gd name="connsiteY5" fmla="*/ 0 h 399169"/>
                <a:gd name="connsiteX6" fmla="*/ 27340 w 227998"/>
                <a:gd name="connsiteY6" fmla="*/ 13670 h 399169"/>
                <a:gd name="connsiteX7" fmla="*/ 27340 w 227998"/>
                <a:gd name="connsiteY7" fmla="*/ 265201 h 399169"/>
                <a:gd name="connsiteX8" fmla="*/ 221457 w 227998"/>
                <a:gd name="connsiteY8" fmla="*/ 374563 h 399169"/>
                <a:gd name="connsiteX9" fmla="*/ 226925 w 227998"/>
                <a:gd name="connsiteY9" fmla="*/ 393701 h 399169"/>
                <a:gd name="connsiteX10" fmla="*/ 213255 w 227998"/>
                <a:gd name="connsiteY10" fmla="*/ 399169 h 39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7998" h="399169">
                  <a:moveTo>
                    <a:pt x="213255" y="399169"/>
                  </a:moveTo>
                  <a:cubicBezTo>
                    <a:pt x="210521" y="399169"/>
                    <a:pt x="207787" y="399169"/>
                    <a:pt x="207787" y="396435"/>
                  </a:cubicBezTo>
                  <a:lnTo>
                    <a:pt x="8203" y="284340"/>
                  </a:lnTo>
                  <a:cubicBezTo>
                    <a:pt x="2734" y="281605"/>
                    <a:pt x="0" y="276137"/>
                    <a:pt x="0" y="27340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cubicBezTo>
                    <a:pt x="21873" y="0"/>
                    <a:pt x="27340" y="5468"/>
                    <a:pt x="27340" y="13670"/>
                  </a:cubicBezTo>
                  <a:lnTo>
                    <a:pt x="27340" y="265201"/>
                  </a:lnTo>
                  <a:lnTo>
                    <a:pt x="221457" y="374563"/>
                  </a:lnTo>
                  <a:cubicBezTo>
                    <a:pt x="226925" y="377297"/>
                    <a:pt x="229660" y="385499"/>
                    <a:pt x="226925" y="393701"/>
                  </a:cubicBezTo>
                  <a:cubicBezTo>
                    <a:pt x="221457" y="396435"/>
                    <a:pt x="215989" y="399169"/>
                    <a:pt x="213255" y="399169"/>
                  </a:cubicBez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: фигура 153">
              <a:extLst>
                <a:ext uri="{FF2B5EF4-FFF2-40B4-BE49-F238E27FC236}">
                  <a16:creationId xmlns:a16="http://schemas.microsoft.com/office/drawing/2014/main" id="{33F84B41-3A84-4090-8AEB-38E7011325B3}"/>
                </a:ext>
              </a:extLst>
            </p:cNvPr>
            <p:cNvSpPr/>
            <p:nvPr/>
          </p:nvSpPr>
          <p:spPr>
            <a:xfrm>
              <a:off x="8841889" y="2282242"/>
              <a:ext cx="244401" cy="429243"/>
            </a:xfrm>
            <a:custGeom>
              <a:avLst/>
              <a:gdLst>
                <a:gd name="connsiteX0" fmla="*/ 12009 w 244401"/>
                <a:gd name="connsiteY0" fmla="*/ 429243 h 429243"/>
                <a:gd name="connsiteX1" fmla="*/ 1073 w 244401"/>
                <a:gd name="connsiteY1" fmla="*/ 421041 h 429243"/>
                <a:gd name="connsiteX2" fmla="*/ 6541 w 244401"/>
                <a:gd name="connsiteY2" fmla="*/ 401903 h 429243"/>
                <a:gd name="connsiteX3" fmla="*/ 217061 w 244401"/>
                <a:gd name="connsiteY3" fmla="*/ 289808 h 429243"/>
                <a:gd name="connsiteX4" fmla="*/ 217061 w 244401"/>
                <a:gd name="connsiteY4" fmla="*/ 13670 h 429243"/>
                <a:gd name="connsiteX5" fmla="*/ 230731 w 244401"/>
                <a:gd name="connsiteY5" fmla="*/ 0 h 429243"/>
                <a:gd name="connsiteX6" fmla="*/ 244402 w 244401"/>
                <a:gd name="connsiteY6" fmla="*/ 13670 h 429243"/>
                <a:gd name="connsiteX7" fmla="*/ 244402 w 244401"/>
                <a:gd name="connsiteY7" fmla="*/ 298010 h 429243"/>
                <a:gd name="connsiteX8" fmla="*/ 236200 w 244401"/>
                <a:gd name="connsiteY8" fmla="*/ 308946 h 429243"/>
                <a:gd name="connsiteX9" fmla="*/ 17477 w 244401"/>
                <a:gd name="connsiteY9" fmla="*/ 426509 h 429243"/>
                <a:gd name="connsiteX10" fmla="*/ 12009 w 244401"/>
                <a:gd name="connsiteY10" fmla="*/ 429243 h 429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4401" h="429243">
                  <a:moveTo>
                    <a:pt x="12009" y="429243"/>
                  </a:moveTo>
                  <a:cubicBezTo>
                    <a:pt x="6541" y="429243"/>
                    <a:pt x="1073" y="426509"/>
                    <a:pt x="1073" y="421041"/>
                  </a:cubicBezTo>
                  <a:cubicBezTo>
                    <a:pt x="-1662" y="415573"/>
                    <a:pt x="1073" y="407371"/>
                    <a:pt x="6541" y="401903"/>
                  </a:cubicBezTo>
                  <a:lnTo>
                    <a:pt x="217061" y="289808"/>
                  </a:lnTo>
                  <a:lnTo>
                    <a:pt x="217061" y="13670"/>
                  </a:lnTo>
                  <a:cubicBezTo>
                    <a:pt x="217061" y="5468"/>
                    <a:pt x="222530" y="0"/>
                    <a:pt x="230731" y="0"/>
                  </a:cubicBezTo>
                  <a:cubicBezTo>
                    <a:pt x="238934" y="0"/>
                    <a:pt x="244402" y="5468"/>
                    <a:pt x="244402" y="13670"/>
                  </a:cubicBezTo>
                  <a:lnTo>
                    <a:pt x="244402" y="298010"/>
                  </a:lnTo>
                  <a:cubicBezTo>
                    <a:pt x="244402" y="303478"/>
                    <a:pt x="241668" y="308946"/>
                    <a:pt x="236200" y="308946"/>
                  </a:cubicBezTo>
                  <a:lnTo>
                    <a:pt x="17477" y="426509"/>
                  </a:lnTo>
                  <a:cubicBezTo>
                    <a:pt x="17477" y="426509"/>
                    <a:pt x="14743" y="429243"/>
                    <a:pt x="12009" y="429243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: фигура 154">
              <a:extLst>
                <a:ext uri="{FF2B5EF4-FFF2-40B4-BE49-F238E27FC236}">
                  <a16:creationId xmlns:a16="http://schemas.microsoft.com/office/drawing/2014/main" id="{C70CAA6D-AC1E-4E46-8B33-A33432097A49}"/>
                </a:ext>
              </a:extLst>
            </p:cNvPr>
            <p:cNvSpPr/>
            <p:nvPr/>
          </p:nvSpPr>
          <p:spPr>
            <a:xfrm>
              <a:off x="8839155" y="2300308"/>
              <a:ext cx="198995" cy="110433"/>
            </a:xfrm>
            <a:custGeom>
              <a:avLst/>
              <a:gdLst>
                <a:gd name="connsiteX0" fmla="*/ 14742 w 198995"/>
                <a:gd name="connsiteY0" fmla="*/ 110434 h 110433"/>
                <a:gd name="connsiteX1" fmla="*/ 1072 w 198995"/>
                <a:gd name="connsiteY1" fmla="*/ 102232 h 110433"/>
                <a:gd name="connsiteX2" fmla="*/ 6541 w 198995"/>
                <a:gd name="connsiteY2" fmla="*/ 83094 h 110433"/>
                <a:gd name="connsiteX3" fmla="*/ 178785 w 198995"/>
                <a:gd name="connsiteY3" fmla="*/ 1073 h 110433"/>
                <a:gd name="connsiteX4" fmla="*/ 197923 w 198995"/>
                <a:gd name="connsiteY4" fmla="*/ 6541 h 110433"/>
                <a:gd name="connsiteX5" fmla="*/ 192455 w 198995"/>
                <a:gd name="connsiteY5" fmla="*/ 25679 h 110433"/>
                <a:gd name="connsiteX6" fmla="*/ 20211 w 198995"/>
                <a:gd name="connsiteY6" fmla="*/ 107700 h 110433"/>
                <a:gd name="connsiteX7" fmla="*/ 14742 w 198995"/>
                <a:gd name="connsiteY7" fmla="*/ 110434 h 110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995" h="110433">
                  <a:moveTo>
                    <a:pt x="14742" y="110434"/>
                  </a:moveTo>
                  <a:cubicBezTo>
                    <a:pt x="9275" y="110434"/>
                    <a:pt x="3806" y="107700"/>
                    <a:pt x="1072" y="102232"/>
                  </a:cubicBezTo>
                  <a:cubicBezTo>
                    <a:pt x="-1661" y="96764"/>
                    <a:pt x="1072" y="88562"/>
                    <a:pt x="6541" y="83094"/>
                  </a:cubicBezTo>
                  <a:lnTo>
                    <a:pt x="178785" y="1073"/>
                  </a:lnTo>
                  <a:cubicBezTo>
                    <a:pt x="186987" y="-1661"/>
                    <a:pt x="192455" y="1073"/>
                    <a:pt x="197923" y="6541"/>
                  </a:cubicBezTo>
                  <a:cubicBezTo>
                    <a:pt x="200657" y="12009"/>
                    <a:pt x="197923" y="20211"/>
                    <a:pt x="192455" y="25679"/>
                  </a:cubicBezTo>
                  <a:lnTo>
                    <a:pt x="20211" y="107700"/>
                  </a:lnTo>
                  <a:cubicBezTo>
                    <a:pt x="17477" y="110434"/>
                    <a:pt x="17477" y="110434"/>
                    <a:pt x="14742" y="110434"/>
                  </a:cubicBez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: фигура 155">
              <a:extLst>
                <a:ext uri="{FF2B5EF4-FFF2-40B4-BE49-F238E27FC236}">
                  <a16:creationId xmlns:a16="http://schemas.microsoft.com/office/drawing/2014/main" id="{15FB5BF0-D99F-4E34-AFEA-29B9EDC027EE}"/>
                </a:ext>
              </a:extLst>
            </p:cNvPr>
            <p:cNvSpPr/>
            <p:nvPr/>
          </p:nvSpPr>
          <p:spPr>
            <a:xfrm>
              <a:off x="8571267" y="2157160"/>
              <a:ext cx="485974" cy="128841"/>
            </a:xfrm>
            <a:custGeom>
              <a:avLst/>
              <a:gdLst>
                <a:gd name="connsiteX0" fmla="*/ 471280 w 485974"/>
                <a:gd name="connsiteY0" fmla="*/ 127816 h 128841"/>
                <a:gd name="connsiteX1" fmla="*/ 465811 w 485974"/>
                <a:gd name="connsiteY1" fmla="*/ 127816 h 128841"/>
                <a:gd name="connsiteX2" fmla="*/ 238887 w 485974"/>
                <a:gd name="connsiteY2" fmla="*/ 32125 h 128841"/>
                <a:gd name="connsiteX3" fmla="*/ 20164 w 485974"/>
                <a:gd name="connsiteY3" fmla="*/ 127816 h 128841"/>
                <a:gd name="connsiteX4" fmla="*/ 1025 w 485974"/>
                <a:gd name="connsiteY4" fmla="*/ 119614 h 128841"/>
                <a:gd name="connsiteX5" fmla="*/ 9227 w 485974"/>
                <a:gd name="connsiteY5" fmla="*/ 100476 h 128841"/>
                <a:gd name="connsiteX6" fmla="*/ 233418 w 485974"/>
                <a:gd name="connsiteY6" fmla="*/ 2050 h 128841"/>
                <a:gd name="connsiteX7" fmla="*/ 244354 w 485974"/>
                <a:gd name="connsiteY7" fmla="*/ 2050 h 128841"/>
                <a:gd name="connsiteX8" fmla="*/ 476747 w 485974"/>
                <a:gd name="connsiteY8" fmla="*/ 100476 h 128841"/>
                <a:gd name="connsiteX9" fmla="*/ 484950 w 485974"/>
                <a:gd name="connsiteY9" fmla="*/ 119614 h 128841"/>
                <a:gd name="connsiteX10" fmla="*/ 471280 w 485974"/>
                <a:gd name="connsiteY10" fmla="*/ 127816 h 12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974" h="128841">
                  <a:moveTo>
                    <a:pt x="471280" y="127816"/>
                  </a:moveTo>
                  <a:cubicBezTo>
                    <a:pt x="468545" y="127816"/>
                    <a:pt x="468545" y="127816"/>
                    <a:pt x="465811" y="127816"/>
                  </a:cubicBezTo>
                  <a:lnTo>
                    <a:pt x="238887" y="32125"/>
                  </a:lnTo>
                  <a:lnTo>
                    <a:pt x="20164" y="127816"/>
                  </a:lnTo>
                  <a:cubicBezTo>
                    <a:pt x="11961" y="130550"/>
                    <a:pt x="6494" y="127816"/>
                    <a:pt x="1025" y="119614"/>
                  </a:cubicBezTo>
                  <a:cubicBezTo>
                    <a:pt x="-1709" y="111412"/>
                    <a:pt x="1025" y="105944"/>
                    <a:pt x="9227" y="100476"/>
                  </a:cubicBezTo>
                  <a:lnTo>
                    <a:pt x="233418" y="2050"/>
                  </a:lnTo>
                  <a:cubicBezTo>
                    <a:pt x="236153" y="-683"/>
                    <a:pt x="241620" y="-683"/>
                    <a:pt x="244354" y="2050"/>
                  </a:cubicBezTo>
                  <a:lnTo>
                    <a:pt x="476747" y="100476"/>
                  </a:lnTo>
                  <a:cubicBezTo>
                    <a:pt x="484950" y="103210"/>
                    <a:pt x="487683" y="111412"/>
                    <a:pt x="484950" y="119614"/>
                  </a:cubicBezTo>
                  <a:cubicBezTo>
                    <a:pt x="482216" y="125082"/>
                    <a:pt x="476747" y="127816"/>
                    <a:pt x="471280" y="127816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156">
              <a:extLst>
                <a:ext uri="{FF2B5EF4-FFF2-40B4-BE49-F238E27FC236}">
                  <a16:creationId xmlns:a16="http://schemas.microsoft.com/office/drawing/2014/main" id="{7224969E-7F1B-4356-A70F-EFDFB40A7E46}"/>
                </a:ext>
              </a:extLst>
            </p:cNvPr>
            <p:cNvSpPr/>
            <p:nvPr/>
          </p:nvSpPr>
          <p:spPr>
            <a:xfrm>
              <a:off x="8542218" y="2749762"/>
              <a:ext cx="147637" cy="133967"/>
            </a:xfrm>
            <a:custGeom>
              <a:avLst/>
              <a:gdLst>
                <a:gd name="connsiteX0" fmla="*/ 95691 w 147637"/>
                <a:gd name="connsiteY0" fmla="*/ 133968 h 133967"/>
                <a:gd name="connsiteX1" fmla="*/ 0 w 147637"/>
                <a:gd name="connsiteY1" fmla="*/ 21872 h 133967"/>
                <a:gd name="connsiteX2" fmla="*/ 147638 w 147637"/>
                <a:gd name="connsiteY2" fmla="*/ 0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7637" h="133967">
                  <a:moveTo>
                    <a:pt x="95691" y="133968"/>
                  </a:moveTo>
                  <a:lnTo>
                    <a:pt x="0" y="21872"/>
                  </a:lnTo>
                  <a:lnTo>
                    <a:pt x="147638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57">
              <a:extLst>
                <a:ext uri="{FF2B5EF4-FFF2-40B4-BE49-F238E27FC236}">
                  <a16:creationId xmlns:a16="http://schemas.microsoft.com/office/drawing/2014/main" id="{C4FB362D-8F03-4D8B-A0DF-E3B7ACB0B2BF}"/>
                </a:ext>
              </a:extLst>
            </p:cNvPr>
            <p:cNvSpPr/>
            <p:nvPr/>
          </p:nvSpPr>
          <p:spPr>
            <a:xfrm>
              <a:off x="8916781" y="2427146"/>
              <a:ext cx="71085" cy="125765"/>
            </a:xfrm>
            <a:custGeom>
              <a:avLst/>
              <a:gdLst>
                <a:gd name="connsiteX0" fmla="*/ 71085 w 71085"/>
                <a:gd name="connsiteY0" fmla="*/ 92957 h 125765"/>
                <a:gd name="connsiteX1" fmla="*/ 0 w 71085"/>
                <a:gd name="connsiteY1" fmla="*/ 125766 h 125765"/>
                <a:gd name="connsiteX2" fmla="*/ 0 w 71085"/>
                <a:gd name="connsiteY2" fmla="*/ 35542 h 125765"/>
                <a:gd name="connsiteX3" fmla="*/ 71085 w 71085"/>
                <a:gd name="connsiteY3" fmla="*/ 0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5" h="125765">
                  <a:moveTo>
                    <a:pt x="71085" y="92957"/>
                  </a:moveTo>
                  <a:lnTo>
                    <a:pt x="0" y="125766"/>
                  </a:lnTo>
                  <a:lnTo>
                    <a:pt x="0" y="35542"/>
                  </a:lnTo>
                  <a:lnTo>
                    <a:pt x="71085" y="0"/>
                  </a:ln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58">
              <a:extLst>
                <a:ext uri="{FF2B5EF4-FFF2-40B4-BE49-F238E27FC236}">
                  <a16:creationId xmlns:a16="http://schemas.microsoft.com/office/drawing/2014/main" id="{141A8C66-C23E-4F41-B929-CB189BD4CABC}"/>
                </a:ext>
              </a:extLst>
            </p:cNvPr>
            <p:cNvSpPr/>
            <p:nvPr/>
          </p:nvSpPr>
          <p:spPr>
            <a:xfrm>
              <a:off x="8643378" y="2421678"/>
              <a:ext cx="73818" cy="125765"/>
            </a:xfrm>
            <a:custGeom>
              <a:avLst/>
              <a:gdLst>
                <a:gd name="connsiteX0" fmla="*/ 0 w 73818"/>
                <a:gd name="connsiteY0" fmla="*/ 90223 h 125765"/>
                <a:gd name="connsiteX1" fmla="*/ 73818 w 73818"/>
                <a:gd name="connsiteY1" fmla="*/ 125766 h 125765"/>
                <a:gd name="connsiteX2" fmla="*/ 73818 w 73818"/>
                <a:gd name="connsiteY2" fmla="*/ 35543 h 125765"/>
                <a:gd name="connsiteX3" fmla="*/ 0 w 73818"/>
                <a:gd name="connsiteY3" fmla="*/ 0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" h="125765">
                  <a:moveTo>
                    <a:pt x="0" y="90223"/>
                  </a:moveTo>
                  <a:lnTo>
                    <a:pt x="73818" y="125766"/>
                  </a:lnTo>
                  <a:lnTo>
                    <a:pt x="73818" y="35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59">
              <a:extLst>
                <a:ext uri="{FF2B5EF4-FFF2-40B4-BE49-F238E27FC236}">
                  <a16:creationId xmlns:a16="http://schemas.microsoft.com/office/drawing/2014/main" id="{139A2C58-48E8-4AF5-9B14-B50584ECD29C}"/>
                </a:ext>
              </a:extLst>
            </p:cNvPr>
            <p:cNvSpPr/>
            <p:nvPr/>
          </p:nvSpPr>
          <p:spPr>
            <a:xfrm>
              <a:off x="8648845" y="2339657"/>
              <a:ext cx="593285" cy="524934"/>
            </a:xfrm>
            <a:custGeom>
              <a:avLst/>
              <a:gdLst>
                <a:gd name="connsiteX0" fmla="*/ 169510 w 593285"/>
                <a:gd name="connsiteY0" fmla="*/ 524935 h 524934"/>
                <a:gd name="connsiteX1" fmla="*/ 0 w 593285"/>
                <a:gd name="connsiteY1" fmla="*/ 489392 h 524934"/>
                <a:gd name="connsiteX2" fmla="*/ 10937 w 593285"/>
                <a:gd name="connsiteY2" fmla="*/ 464786 h 524934"/>
                <a:gd name="connsiteX3" fmla="*/ 169510 w 593285"/>
                <a:gd name="connsiteY3" fmla="*/ 497594 h 524934"/>
                <a:gd name="connsiteX4" fmla="*/ 563211 w 593285"/>
                <a:gd name="connsiteY4" fmla="*/ 103893 h 524934"/>
                <a:gd name="connsiteX5" fmla="*/ 552275 w 593285"/>
                <a:gd name="connsiteY5" fmla="*/ 5468 h 524934"/>
                <a:gd name="connsiteX6" fmla="*/ 579616 w 593285"/>
                <a:gd name="connsiteY6" fmla="*/ 0 h 524934"/>
                <a:gd name="connsiteX7" fmla="*/ 593286 w 593285"/>
                <a:gd name="connsiteY7" fmla="*/ 103893 h 524934"/>
                <a:gd name="connsiteX8" fmla="*/ 169510 w 593285"/>
                <a:gd name="connsiteY8" fmla="*/ 524935 h 524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3285" h="524934">
                  <a:moveTo>
                    <a:pt x="169510" y="524935"/>
                  </a:moveTo>
                  <a:cubicBezTo>
                    <a:pt x="109361" y="524935"/>
                    <a:pt x="54681" y="513999"/>
                    <a:pt x="0" y="489392"/>
                  </a:cubicBezTo>
                  <a:lnTo>
                    <a:pt x="10937" y="464786"/>
                  </a:lnTo>
                  <a:cubicBezTo>
                    <a:pt x="60149" y="486658"/>
                    <a:pt x="114830" y="497594"/>
                    <a:pt x="169510" y="497594"/>
                  </a:cubicBezTo>
                  <a:cubicBezTo>
                    <a:pt x="388233" y="497594"/>
                    <a:pt x="563211" y="319882"/>
                    <a:pt x="563211" y="103893"/>
                  </a:cubicBezTo>
                  <a:cubicBezTo>
                    <a:pt x="563211" y="71085"/>
                    <a:pt x="560477" y="38277"/>
                    <a:pt x="552275" y="5468"/>
                  </a:cubicBezTo>
                  <a:lnTo>
                    <a:pt x="579616" y="0"/>
                  </a:lnTo>
                  <a:cubicBezTo>
                    <a:pt x="587818" y="32809"/>
                    <a:pt x="593286" y="68351"/>
                    <a:pt x="593286" y="103893"/>
                  </a:cubicBezTo>
                  <a:cubicBezTo>
                    <a:pt x="590552" y="336286"/>
                    <a:pt x="401903" y="524935"/>
                    <a:pt x="169510" y="524935"/>
                  </a:cubicBez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60">
              <a:extLst>
                <a:ext uri="{FF2B5EF4-FFF2-40B4-BE49-F238E27FC236}">
                  <a16:creationId xmlns:a16="http://schemas.microsoft.com/office/drawing/2014/main" id="{4D8C8031-6720-4DB3-8150-AEA6A945F726}"/>
                </a:ext>
              </a:extLst>
            </p:cNvPr>
            <p:cNvSpPr/>
            <p:nvPr/>
          </p:nvSpPr>
          <p:spPr>
            <a:xfrm>
              <a:off x="8394580" y="2274040"/>
              <a:ext cx="60149" cy="317148"/>
            </a:xfrm>
            <a:custGeom>
              <a:avLst/>
              <a:gdLst>
                <a:gd name="connsiteX0" fmla="*/ 27340 w 60149"/>
                <a:gd name="connsiteY0" fmla="*/ 317148 h 317148"/>
                <a:gd name="connsiteX1" fmla="*/ 0 w 60149"/>
                <a:gd name="connsiteY1" fmla="*/ 169510 h 317148"/>
                <a:gd name="connsiteX2" fmla="*/ 35542 w 60149"/>
                <a:gd name="connsiteY2" fmla="*/ 0 h 317148"/>
                <a:gd name="connsiteX3" fmla="*/ 60149 w 60149"/>
                <a:gd name="connsiteY3" fmla="*/ 10936 h 317148"/>
                <a:gd name="connsiteX4" fmla="*/ 27340 w 60149"/>
                <a:gd name="connsiteY4" fmla="*/ 169510 h 317148"/>
                <a:gd name="connsiteX5" fmla="*/ 51946 w 60149"/>
                <a:gd name="connsiteY5" fmla="*/ 308946 h 317148"/>
                <a:gd name="connsiteX6" fmla="*/ 27340 w 60149"/>
                <a:gd name="connsiteY6" fmla="*/ 317148 h 31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149" h="317148">
                  <a:moveTo>
                    <a:pt x="27340" y="317148"/>
                  </a:moveTo>
                  <a:cubicBezTo>
                    <a:pt x="8202" y="270669"/>
                    <a:pt x="0" y="218723"/>
                    <a:pt x="0" y="169510"/>
                  </a:cubicBezTo>
                  <a:cubicBezTo>
                    <a:pt x="0" y="109361"/>
                    <a:pt x="10936" y="51947"/>
                    <a:pt x="35542" y="0"/>
                  </a:cubicBezTo>
                  <a:lnTo>
                    <a:pt x="60149" y="10936"/>
                  </a:lnTo>
                  <a:cubicBezTo>
                    <a:pt x="38276" y="60149"/>
                    <a:pt x="27340" y="114829"/>
                    <a:pt x="27340" y="169510"/>
                  </a:cubicBezTo>
                  <a:cubicBezTo>
                    <a:pt x="27340" y="215989"/>
                    <a:pt x="35542" y="265201"/>
                    <a:pt x="51946" y="308946"/>
                  </a:cubicBezTo>
                  <a:lnTo>
                    <a:pt x="27340" y="31714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61">
              <a:extLst>
                <a:ext uri="{FF2B5EF4-FFF2-40B4-BE49-F238E27FC236}">
                  <a16:creationId xmlns:a16="http://schemas.microsoft.com/office/drawing/2014/main" id="{4274A31E-24FB-4F36-A771-D3292109305F}"/>
                </a:ext>
              </a:extLst>
            </p:cNvPr>
            <p:cNvSpPr/>
            <p:nvPr/>
          </p:nvSpPr>
          <p:spPr>
            <a:xfrm>
              <a:off x="8534016" y="2022509"/>
              <a:ext cx="535870" cy="128499"/>
            </a:xfrm>
            <a:custGeom>
              <a:avLst/>
              <a:gdLst>
                <a:gd name="connsiteX0" fmla="*/ 19138 w 535870"/>
                <a:gd name="connsiteY0" fmla="*/ 128500 h 128499"/>
                <a:gd name="connsiteX1" fmla="*/ 0 w 535870"/>
                <a:gd name="connsiteY1" fmla="*/ 109361 h 128499"/>
                <a:gd name="connsiteX2" fmla="*/ 284339 w 535870"/>
                <a:gd name="connsiteY2" fmla="*/ 0 h 128499"/>
                <a:gd name="connsiteX3" fmla="*/ 535871 w 535870"/>
                <a:gd name="connsiteY3" fmla="*/ 82021 h 128499"/>
                <a:gd name="connsiteX4" fmla="*/ 519467 w 535870"/>
                <a:gd name="connsiteY4" fmla="*/ 103893 h 128499"/>
                <a:gd name="connsiteX5" fmla="*/ 284339 w 535870"/>
                <a:gd name="connsiteY5" fmla="*/ 27340 h 128499"/>
                <a:gd name="connsiteX6" fmla="*/ 19138 w 535870"/>
                <a:gd name="connsiteY6" fmla="*/ 128500 h 12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5870" h="128499">
                  <a:moveTo>
                    <a:pt x="19138" y="128500"/>
                  </a:moveTo>
                  <a:lnTo>
                    <a:pt x="0" y="109361"/>
                  </a:lnTo>
                  <a:cubicBezTo>
                    <a:pt x="76553" y="38277"/>
                    <a:pt x="177712" y="0"/>
                    <a:pt x="284339" y="0"/>
                  </a:cubicBezTo>
                  <a:cubicBezTo>
                    <a:pt x="374562" y="0"/>
                    <a:pt x="462052" y="30074"/>
                    <a:pt x="535871" y="82021"/>
                  </a:cubicBezTo>
                  <a:lnTo>
                    <a:pt x="519467" y="103893"/>
                  </a:lnTo>
                  <a:cubicBezTo>
                    <a:pt x="451116" y="51947"/>
                    <a:pt x="369095" y="27340"/>
                    <a:pt x="284339" y="27340"/>
                  </a:cubicBezTo>
                  <a:cubicBezTo>
                    <a:pt x="185914" y="24606"/>
                    <a:pt x="90223" y="62883"/>
                    <a:pt x="19138" y="128500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162">
              <a:extLst>
                <a:ext uri="{FF2B5EF4-FFF2-40B4-BE49-F238E27FC236}">
                  <a16:creationId xmlns:a16="http://schemas.microsoft.com/office/drawing/2014/main" id="{BC5B05A3-79B6-4EB2-8320-09A1B5DFB746}"/>
                </a:ext>
              </a:extLst>
            </p:cNvPr>
            <p:cNvSpPr/>
            <p:nvPr/>
          </p:nvSpPr>
          <p:spPr>
            <a:xfrm>
              <a:off x="9004270" y="2055317"/>
              <a:ext cx="142170" cy="139435"/>
            </a:xfrm>
            <a:custGeom>
              <a:avLst/>
              <a:gdLst>
                <a:gd name="connsiteX0" fmla="*/ 95691 w 142170"/>
                <a:gd name="connsiteY0" fmla="*/ 0 h 139435"/>
                <a:gd name="connsiteX1" fmla="*/ 142170 w 142170"/>
                <a:gd name="connsiteY1" fmla="*/ 139436 h 139435"/>
                <a:gd name="connsiteX2" fmla="*/ 0 w 142170"/>
                <a:gd name="connsiteY2" fmla="*/ 103893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170" h="139435">
                  <a:moveTo>
                    <a:pt x="95691" y="0"/>
                  </a:moveTo>
                  <a:lnTo>
                    <a:pt x="142170" y="139436"/>
                  </a:lnTo>
                  <a:lnTo>
                    <a:pt x="0" y="103893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1" name="Группа 195">
            <a:extLst>
              <a:ext uri="{FF2B5EF4-FFF2-40B4-BE49-F238E27FC236}">
                <a16:creationId xmlns:a16="http://schemas.microsoft.com/office/drawing/2014/main" id="{8284A031-0B8D-41D2-AE75-7B03F0CD6DC3}"/>
              </a:ext>
            </a:extLst>
          </p:cNvPr>
          <p:cNvGrpSpPr>
            <a:grpSpLocks noChangeAspect="1"/>
          </p:cNvGrpSpPr>
          <p:nvPr/>
        </p:nvGrpSpPr>
        <p:grpSpPr>
          <a:xfrm>
            <a:off x="821076" y="4192731"/>
            <a:ext cx="370882" cy="357282"/>
            <a:chOff x="1502079" y="2071721"/>
            <a:chExt cx="820210" cy="790135"/>
          </a:xfrm>
        </p:grpSpPr>
        <p:sp>
          <p:nvSpPr>
            <p:cNvPr id="132" name="Полилиния: фигура 119">
              <a:extLst>
                <a:ext uri="{FF2B5EF4-FFF2-40B4-BE49-F238E27FC236}">
                  <a16:creationId xmlns:a16="http://schemas.microsoft.com/office/drawing/2014/main" id="{2633F866-F9A5-49B4-BC22-A06436F5C7FF}"/>
                </a:ext>
              </a:extLst>
            </p:cNvPr>
            <p:cNvSpPr/>
            <p:nvPr/>
          </p:nvSpPr>
          <p:spPr>
            <a:xfrm>
              <a:off x="2084428" y="2353327"/>
              <a:ext cx="142169" cy="153105"/>
            </a:xfrm>
            <a:custGeom>
              <a:avLst/>
              <a:gdLst>
                <a:gd name="connsiteX0" fmla="*/ 142170 w 142169"/>
                <a:gd name="connsiteY0" fmla="*/ 153106 h 153105"/>
                <a:gd name="connsiteX1" fmla="*/ 0 w 142169"/>
                <a:gd name="connsiteY1" fmla="*/ 76553 h 153105"/>
                <a:gd name="connsiteX2" fmla="*/ 142170 w 142169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169" h="153105">
                  <a:moveTo>
                    <a:pt x="142170" y="153106"/>
                  </a:moveTo>
                  <a:lnTo>
                    <a:pt x="0" y="76553"/>
                  </a:lnTo>
                  <a:lnTo>
                    <a:pt x="142170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120">
              <a:extLst>
                <a:ext uri="{FF2B5EF4-FFF2-40B4-BE49-F238E27FC236}">
                  <a16:creationId xmlns:a16="http://schemas.microsoft.com/office/drawing/2014/main" id="{2064FFBA-1B49-4FA2-9DB2-2FD6C07166D9}"/>
                </a:ext>
              </a:extLst>
            </p:cNvPr>
            <p:cNvSpPr/>
            <p:nvPr/>
          </p:nvSpPr>
          <p:spPr>
            <a:xfrm>
              <a:off x="1532153" y="2082658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8 h 120297"/>
                <a:gd name="connsiteX3" fmla="*/ 0 w 125765"/>
                <a:gd name="connsiteY3" fmla="*/ 120298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8"/>
                  </a:lnTo>
                  <a:lnTo>
                    <a:pt x="0" y="12029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121">
              <a:extLst>
                <a:ext uri="{FF2B5EF4-FFF2-40B4-BE49-F238E27FC236}">
                  <a16:creationId xmlns:a16="http://schemas.microsoft.com/office/drawing/2014/main" id="{9C8CA0CD-B514-4AE0-8D33-132191A41B85}"/>
                </a:ext>
              </a:extLst>
            </p:cNvPr>
            <p:cNvSpPr/>
            <p:nvPr/>
          </p:nvSpPr>
          <p:spPr>
            <a:xfrm>
              <a:off x="1819227" y="2708751"/>
              <a:ext cx="139435" cy="153105"/>
            </a:xfrm>
            <a:custGeom>
              <a:avLst/>
              <a:gdLst>
                <a:gd name="connsiteX0" fmla="*/ 0 w 139435"/>
                <a:gd name="connsiteY0" fmla="*/ 153106 h 153105"/>
                <a:gd name="connsiteX1" fmla="*/ 139436 w 139435"/>
                <a:gd name="connsiteY1" fmla="*/ 76553 h 153105"/>
                <a:gd name="connsiteX2" fmla="*/ 0 w 139435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435" h="153105">
                  <a:moveTo>
                    <a:pt x="0" y="153106"/>
                  </a:moveTo>
                  <a:lnTo>
                    <a:pt x="139436" y="7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122">
              <a:extLst>
                <a:ext uri="{FF2B5EF4-FFF2-40B4-BE49-F238E27FC236}">
                  <a16:creationId xmlns:a16="http://schemas.microsoft.com/office/drawing/2014/main" id="{604DC720-97E1-4FF4-BE49-4BB77F7A1191}"/>
                </a:ext>
              </a:extLst>
            </p:cNvPr>
            <p:cNvSpPr/>
            <p:nvPr/>
          </p:nvSpPr>
          <p:spPr>
            <a:xfrm>
              <a:off x="2002407" y="2725156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7 h 120297"/>
                <a:gd name="connsiteX3" fmla="*/ 0 w 125765"/>
                <a:gd name="connsiteY3" fmla="*/ 120297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7"/>
                  </a:lnTo>
                  <a:lnTo>
                    <a:pt x="0" y="12029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123">
              <a:extLst>
                <a:ext uri="{FF2B5EF4-FFF2-40B4-BE49-F238E27FC236}">
                  <a16:creationId xmlns:a16="http://schemas.microsoft.com/office/drawing/2014/main" id="{4CA5CF76-A1A0-4E82-A1F0-CD86F52B2E29}"/>
                </a:ext>
              </a:extLst>
            </p:cNvPr>
            <p:cNvSpPr/>
            <p:nvPr/>
          </p:nvSpPr>
          <p:spPr>
            <a:xfrm>
              <a:off x="1726270" y="2071721"/>
              <a:ext cx="153105" cy="147637"/>
            </a:xfrm>
            <a:custGeom>
              <a:avLst/>
              <a:gdLst>
                <a:gd name="connsiteX0" fmla="*/ 153106 w 153105"/>
                <a:gd name="connsiteY0" fmla="*/ 147638 h 147637"/>
                <a:gd name="connsiteX1" fmla="*/ 0 w 153105"/>
                <a:gd name="connsiteY1" fmla="*/ 147638 h 147637"/>
                <a:gd name="connsiteX2" fmla="*/ 0 w 153105"/>
                <a:gd name="connsiteY2" fmla="*/ 0 h 147637"/>
                <a:gd name="connsiteX3" fmla="*/ 153106 w 153105"/>
                <a:gd name="connsiteY3" fmla="*/ 0 h 147637"/>
                <a:gd name="connsiteX4" fmla="*/ 153106 w 153105"/>
                <a:gd name="connsiteY4" fmla="*/ 147638 h 147637"/>
                <a:gd name="connsiteX5" fmla="*/ 27340 w 153105"/>
                <a:gd name="connsiteY5" fmla="*/ 120298 h 147637"/>
                <a:gd name="connsiteX6" fmla="*/ 125766 w 153105"/>
                <a:gd name="connsiteY6" fmla="*/ 120298 h 147637"/>
                <a:gd name="connsiteX7" fmla="*/ 125766 w 153105"/>
                <a:gd name="connsiteY7" fmla="*/ 27340 h 147637"/>
                <a:gd name="connsiteX8" fmla="*/ 27340 w 153105"/>
                <a:gd name="connsiteY8" fmla="*/ 27340 h 147637"/>
                <a:gd name="connsiteX9" fmla="*/ 27340 w 153105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5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27340" y="120298"/>
                  </a:moveTo>
                  <a:lnTo>
                    <a:pt x="125766" y="120298"/>
                  </a:lnTo>
                  <a:lnTo>
                    <a:pt x="125766" y="27340"/>
                  </a:lnTo>
                  <a:lnTo>
                    <a:pt x="27340" y="27340"/>
                  </a:lnTo>
                  <a:lnTo>
                    <a:pt x="27340" y="12029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124">
              <a:extLst>
                <a:ext uri="{FF2B5EF4-FFF2-40B4-BE49-F238E27FC236}">
                  <a16:creationId xmlns:a16="http://schemas.microsoft.com/office/drawing/2014/main" id="{7F2B8A72-7D69-41CF-90E7-7A16337EE6F2}"/>
                </a:ext>
              </a:extLst>
            </p:cNvPr>
            <p:cNvSpPr/>
            <p:nvPr/>
          </p:nvSpPr>
          <p:spPr>
            <a:xfrm>
              <a:off x="2169183" y="2711485"/>
              <a:ext cx="153106" cy="147637"/>
            </a:xfrm>
            <a:custGeom>
              <a:avLst/>
              <a:gdLst>
                <a:gd name="connsiteX0" fmla="*/ 153106 w 153106"/>
                <a:gd name="connsiteY0" fmla="*/ 147638 h 147637"/>
                <a:gd name="connsiteX1" fmla="*/ 0 w 153106"/>
                <a:gd name="connsiteY1" fmla="*/ 147638 h 147637"/>
                <a:gd name="connsiteX2" fmla="*/ 0 w 153106"/>
                <a:gd name="connsiteY2" fmla="*/ 0 h 147637"/>
                <a:gd name="connsiteX3" fmla="*/ 153106 w 153106"/>
                <a:gd name="connsiteY3" fmla="*/ 0 h 147637"/>
                <a:gd name="connsiteX4" fmla="*/ 153106 w 153106"/>
                <a:gd name="connsiteY4" fmla="*/ 147638 h 147637"/>
                <a:gd name="connsiteX5" fmla="*/ 30074 w 153106"/>
                <a:gd name="connsiteY5" fmla="*/ 120298 h 147637"/>
                <a:gd name="connsiteX6" fmla="*/ 128500 w 153106"/>
                <a:gd name="connsiteY6" fmla="*/ 120298 h 147637"/>
                <a:gd name="connsiteX7" fmla="*/ 128500 w 153106"/>
                <a:gd name="connsiteY7" fmla="*/ 27340 h 147637"/>
                <a:gd name="connsiteX8" fmla="*/ 30074 w 153106"/>
                <a:gd name="connsiteY8" fmla="*/ 27340 h 147637"/>
                <a:gd name="connsiteX9" fmla="*/ 30074 w 153106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30074" y="120298"/>
                  </a:moveTo>
                  <a:lnTo>
                    <a:pt x="128500" y="120298"/>
                  </a:lnTo>
                  <a:lnTo>
                    <a:pt x="128500" y="27340"/>
                  </a:lnTo>
                  <a:lnTo>
                    <a:pt x="30074" y="27340"/>
                  </a:lnTo>
                  <a:lnTo>
                    <a:pt x="30074" y="12029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38" name="Рисунок 12">
              <a:extLst>
                <a:ext uri="{FF2B5EF4-FFF2-40B4-BE49-F238E27FC236}">
                  <a16:creationId xmlns:a16="http://schemas.microsoft.com/office/drawing/2014/main" id="{98623A01-C591-4B31-9B86-C0F4140AFAE8}"/>
                </a:ext>
              </a:extLst>
            </p:cNvPr>
            <p:cNvGrpSpPr/>
            <p:nvPr/>
          </p:nvGrpSpPr>
          <p:grpSpPr>
            <a:xfrm>
              <a:off x="1636046" y="2249434"/>
              <a:ext cx="418307" cy="415573"/>
              <a:chOff x="1636046" y="2249434"/>
              <a:chExt cx="418307" cy="415573"/>
            </a:xfrm>
            <a:solidFill>
              <a:srgbClr val="000000"/>
            </a:solidFill>
          </p:grpSpPr>
          <p:sp>
            <p:nvSpPr>
              <p:cNvPr id="139" name="Полилиния: фигура 126">
                <a:extLst>
                  <a:ext uri="{FF2B5EF4-FFF2-40B4-BE49-F238E27FC236}">
                    <a16:creationId xmlns:a16="http://schemas.microsoft.com/office/drawing/2014/main" id="{12D003F4-023C-46EB-B728-13FED30A1D1E}"/>
                  </a:ext>
                </a:extLst>
              </p:cNvPr>
              <p:cNvSpPr/>
              <p:nvPr/>
            </p:nvSpPr>
            <p:spPr>
              <a:xfrm>
                <a:off x="1636046" y="2249434"/>
                <a:ext cx="418307" cy="415573"/>
              </a:xfrm>
              <a:custGeom>
                <a:avLst/>
                <a:gdLst>
                  <a:gd name="connsiteX0" fmla="*/ 251531 w 418307"/>
                  <a:gd name="connsiteY0" fmla="*/ 415573 h 415573"/>
                  <a:gd name="connsiteX1" fmla="*/ 174978 w 418307"/>
                  <a:gd name="connsiteY1" fmla="*/ 415573 h 415573"/>
                  <a:gd name="connsiteX2" fmla="*/ 161308 w 418307"/>
                  <a:gd name="connsiteY2" fmla="*/ 404637 h 415573"/>
                  <a:gd name="connsiteX3" fmla="*/ 155840 w 418307"/>
                  <a:gd name="connsiteY3" fmla="*/ 369095 h 415573"/>
                  <a:gd name="connsiteX4" fmla="*/ 150372 w 418307"/>
                  <a:gd name="connsiteY4" fmla="*/ 366361 h 415573"/>
                  <a:gd name="connsiteX5" fmla="*/ 133968 w 418307"/>
                  <a:gd name="connsiteY5" fmla="*/ 360893 h 415573"/>
                  <a:gd name="connsiteX6" fmla="*/ 103893 w 418307"/>
                  <a:gd name="connsiteY6" fmla="*/ 380031 h 415573"/>
                  <a:gd name="connsiteX7" fmla="*/ 87489 w 418307"/>
                  <a:gd name="connsiteY7" fmla="*/ 377297 h 415573"/>
                  <a:gd name="connsiteX8" fmla="*/ 38276 w 418307"/>
                  <a:gd name="connsiteY8" fmla="*/ 328084 h 415573"/>
                  <a:gd name="connsiteX9" fmla="*/ 35542 w 418307"/>
                  <a:gd name="connsiteY9" fmla="*/ 311680 h 415573"/>
                  <a:gd name="connsiteX10" fmla="*/ 54681 w 418307"/>
                  <a:gd name="connsiteY10" fmla="*/ 284340 h 415573"/>
                  <a:gd name="connsiteX11" fmla="*/ 46479 w 418307"/>
                  <a:gd name="connsiteY11" fmla="*/ 265201 h 415573"/>
                  <a:gd name="connsiteX12" fmla="*/ 10936 w 418307"/>
                  <a:gd name="connsiteY12" fmla="*/ 259733 h 415573"/>
                  <a:gd name="connsiteX13" fmla="*/ 0 w 418307"/>
                  <a:gd name="connsiteY13" fmla="*/ 246063 h 415573"/>
                  <a:gd name="connsiteX14" fmla="*/ 0 w 418307"/>
                  <a:gd name="connsiteY14" fmla="*/ 174978 h 415573"/>
                  <a:gd name="connsiteX15" fmla="*/ 10936 w 418307"/>
                  <a:gd name="connsiteY15" fmla="*/ 161308 h 415573"/>
                  <a:gd name="connsiteX16" fmla="*/ 46479 w 418307"/>
                  <a:gd name="connsiteY16" fmla="*/ 155840 h 415573"/>
                  <a:gd name="connsiteX17" fmla="*/ 49213 w 418307"/>
                  <a:gd name="connsiteY17" fmla="*/ 150372 h 415573"/>
                  <a:gd name="connsiteX18" fmla="*/ 54681 w 418307"/>
                  <a:gd name="connsiteY18" fmla="*/ 133968 h 415573"/>
                  <a:gd name="connsiteX19" fmla="*/ 35542 w 418307"/>
                  <a:gd name="connsiteY19" fmla="*/ 103893 h 415573"/>
                  <a:gd name="connsiteX20" fmla="*/ 38276 w 418307"/>
                  <a:gd name="connsiteY20" fmla="*/ 87489 h 415573"/>
                  <a:gd name="connsiteX21" fmla="*/ 87489 w 418307"/>
                  <a:gd name="connsiteY21" fmla="*/ 38277 h 415573"/>
                  <a:gd name="connsiteX22" fmla="*/ 103893 w 418307"/>
                  <a:gd name="connsiteY22" fmla="*/ 35542 h 415573"/>
                  <a:gd name="connsiteX23" fmla="*/ 131234 w 418307"/>
                  <a:gd name="connsiteY23" fmla="*/ 54681 h 415573"/>
                  <a:gd name="connsiteX24" fmla="*/ 150372 w 418307"/>
                  <a:gd name="connsiteY24" fmla="*/ 46479 h 415573"/>
                  <a:gd name="connsiteX25" fmla="*/ 155840 w 418307"/>
                  <a:gd name="connsiteY25" fmla="*/ 10936 h 415573"/>
                  <a:gd name="connsiteX26" fmla="*/ 169510 w 418307"/>
                  <a:gd name="connsiteY26" fmla="*/ 0 h 415573"/>
                  <a:gd name="connsiteX27" fmla="*/ 248797 w 418307"/>
                  <a:gd name="connsiteY27" fmla="*/ 0 h 415573"/>
                  <a:gd name="connsiteX28" fmla="*/ 262467 w 418307"/>
                  <a:gd name="connsiteY28" fmla="*/ 10936 h 415573"/>
                  <a:gd name="connsiteX29" fmla="*/ 267935 w 418307"/>
                  <a:gd name="connsiteY29" fmla="*/ 46479 h 415573"/>
                  <a:gd name="connsiteX30" fmla="*/ 287074 w 418307"/>
                  <a:gd name="connsiteY30" fmla="*/ 54681 h 415573"/>
                  <a:gd name="connsiteX31" fmla="*/ 314414 w 418307"/>
                  <a:gd name="connsiteY31" fmla="*/ 35542 h 415573"/>
                  <a:gd name="connsiteX32" fmla="*/ 330818 w 418307"/>
                  <a:gd name="connsiteY32" fmla="*/ 38277 h 415573"/>
                  <a:gd name="connsiteX33" fmla="*/ 380031 w 418307"/>
                  <a:gd name="connsiteY33" fmla="*/ 87489 h 415573"/>
                  <a:gd name="connsiteX34" fmla="*/ 382765 w 418307"/>
                  <a:gd name="connsiteY34" fmla="*/ 103893 h 415573"/>
                  <a:gd name="connsiteX35" fmla="*/ 363627 w 418307"/>
                  <a:gd name="connsiteY35" fmla="*/ 133968 h 415573"/>
                  <a:gd name="connsiteX36" fmla="*/ 369095 w 418307"/>
                  <a:gd name="connsiteY36" fmla="*/ 147638 h 415573"/>
                  <a:gd name="connsiteX37" fmla="*/ 371829 w 418307"/>
                  <a:gd name="connsiteY37" fmla="*/ 153106 h 415573"/>
                  <a:gd name="connsiteX38" fmla="*/ 407371 w 418307"/>
                  <a:gd name="connsiteY38" fmla="*/ 158574 h 415573"/>
                  <a:gd name="connsiteX39" fmla="*/ 418307 w 418307"/>
                  <a:gd name="connsiteY39" fmla="*/ 172244 h 415573"/>
                  <a:gd name="connsiteX40" fmla="*/ 418307 w 418307"/>
                  <a:gd name="connsiteY40" fmla="*/ 243329 h 415573"/>
                  <a:gd name="connsiteX41" fmla="*/ 407371 w 418307"/>
                  <a:gd name="connsiteY41" fmla="*/ 256999 h 415573"/>
                  <a:gd name="connsiteX42" fmla="*/ 371829 w 418307"/>
                  <a:gd name="connsiteY42" fmla="*/ 262467 h 415573"/>
                  <a:gd name="connsiteX43" fmla="*/ 363627 w 418307"/>
                  <a:gd name="connsiteY43" fmla="*/ 281606 h 415573"/>
                  <a:gd name="connsiteX44" fmla="*/ 382765 w 418307"/>
                  <a:gd name="connsiteY44" fmla="*/ 308946 h 415573"/>
                  <a:gd name="connsiteX45" fmla="*/ 380031 w 418307"/>
                  <a:gd name="connsiteY45" fmla="*/ 325350 h 415573"/>
                  <a:gd name="connsiteX46" fmla="*/ 330818 w 418307"/>
                  <a:gd name="connsiteY46" fmla="*/ 374563 h 415573"/>
                  <a:gd name="connsiteX47" fmla="*/ 314414 w 418307"/>
                  <a:gd name="connsiteY47" fmla="*/ 377297 h 415573"/>
                  <a:gd name="connsiteX48" fmla="*/ 289808 w 418307"/>
                  <a:gd name="connsiteY48" fmla="*/ 360893 h 415573"/>
                  <a:gd name="connsiteX49" fmla="*/ 273403 w 418307"/>
                  <a:gd name="connsiteY49" fmla="*/ 366361 h 415573"/>
                  <a:gd name="connsiteX50" fmla="*/ 267935 w 418307"/>
                  <a:gd name="connsiteY50" fmla="*/ 369095 h 415573"/>
                  <a:gd name="connsiteX51" fmla="*/ 265201 w 418307"/>
                  <a:gd name="connsiteY51" fmla="*/ 404637 h 415573"/>
                  <a:gd name="connsiteX52" fmla="*/ 251531 w 418307"/>
                  <a:gd name="connsiteY52" fmla="*/ 415573 h 415573"/>
                  <a:gd name="connsiteX53" fmla="*/ 188648 w 418307"/>
                  <a:gd name="connsiteY53" fmla="*/ 388233 h 415573"/>
                  <a:gd name="connsiteX54" fmla="*/ 240595 w 418307"/>
                  <a:gd name="connsiteY54" fmla="*/ 388233 h 415573"/>
                  <a:gd name="connsiteX55" fmla="*/ 246063 w 418307"/>
                  <a:gd name="connsiteY55" fmla="*/ 358159 h 415573"/>
                  <a:gd name="connsiteX56" fmla="*/ 254265 w 418307"/>
                  <a:gd name="connsiteY56" fmla="*/ 347222 h 415573"/>
                  <a:gd name="connsiteX57" fmla="*/ 265201 w 418307"/>
                  <a:gd name="connsiteY57" fmla="*/ 341754 h 415573"/>
                  <a:gd name="connsiteX58" fmla="*/ 287074 w 418307"/>
                  <a:gd name="connsiteY58" fmla="*/ 333552 h 415573"/>
                  <a:gd name="connsiteX59" fmla="*/ 300744 w 418307"/>
                  <a:gd name="connsiteY59" fmla="*/ 333552 h 415573"/>
                  <a:gd name="connsiteX60" fmla="*/ 328084 w 418307"/>
                  <a:gd name="connsiteY60" fmla="*/ 352690 h 415573"/>
                  <a:gd name="connsiteX61" fmla="*/ 360893 w 418307"/>
                  <a:gd name="connsiteY61" fmla="*/ 319882 h 415573"/>
                  <a:gd name="connsiteX62" fmla="*/ 341754 w 418307"/>
                  <a:gd name="connsiteY62" fmla="*/ 292542 h 415573"/>
                  <a:gd name="connsiteX63" fmla="*/ 341754 w 418307"/>
                  <a:gd name="connsiteY63" fmla="*/ 276138 h 415573"/>
                  <a:gd name="connsiteX64" fmla="*/ 355425 w 418307"/>
                  <a:gd name="connsiteY64" fmla="*/ 246063 h 415573"/>
                  <a:gd name="connsiteX65" fmla="*/ 366361 w 418307"/>
                  <a:gd name="connsiteY65" fmla="*/ 235127 h 415573"/>
                  <a:gd name="connsiteX66" fmla="*/ 399169 w 418307"/>
                  <a:gd name="connsiteY66" fmla="*/ 229659 h 415573"/>
                  <a:gd name="connsiteX67" fmla="*/ 399169 w 418307"/>
                  <a:gd name="connsiteY67" fmla="*/ 183180 h 415573"/>
                  <a:gd name="connsiteX68" fmla="*/ 366361 w 418307"/>
                  <a:gd name="connsiteY68" fmla="*/ 177712 h 415573"/>
                  <a:gd name="connsiteX69" fmla="*/ 355425 w 418307"/>
                  <a:gd name="connsiteY69" fmla="*/ 169510 h 415573"/>
                  <a:gd name="connsiteX70" fmla="*/ 349956 w 418307"/>
                  <a:gd name="connsiteY70" fmla="*/ 158574 h 415573"/>
                  <a:gd name="connsiteX71" fmla="*/ 341754 w 418307"/>
                  <a:gd name="connsiteY71" fmla="*/ 136702 h 415573"/>
                  <a:gd name="connsiteX72" fmla="*/ 341754 w 418307"/>
                  <a:gd name="connsiteY72" fmla="*/ 123032 h 415573"/>
                  <a:gd name="connsiteX73" fmla="*/ 360893 w 418307"/>
                  <a:gd name="connsiteY73" fmla="*/ 95691 h 415573"/>
                  <a:gd name="connsiteX74" fmla="*/ 328084 w 418307"/>
                  <a:gd name="connsiteY74" fmla="*/ 62883 h 415573"/>
                  <a:gd name="connsiteX75" fmla="*/ 300744 w 418307"/>
                  <a:gd name="connsiteY75" fmla="*/ 82021 h 415573"/>
                  <a:gd name="connsiteX76" fmla="*/ 284340 w 418307"/>
                  <a:gd name="connsiteY76" fmla="*/ 82021 h 415573"/>
                  <a:gd name="connsiteX77" fmla="*/ 254265 w 418307"/>
                  <a:gd name="connsiteY77" fmla="*/ 68351 h 415573"/>
                  <a:gd name="connsiteX78" fmla="*/ 243329 w 418307"/>
                  <a:gd name="connsiteY78" fmla="*/ 57415 h 415573"/>
                  <a:gd name="connsiteX79" fmla="*/ 237861 w 418307"/>
                  <a:gd name="connsiteY79" fmla="*/ 27340 h 415573"/>
                  <a:gd name="connsiteX80" fmla="*/ 183180 w 418307"/>
                  <a:gd name="connsiteY80" fmla="*/ 27340 h 415573"/>
                  <a:gd name="connsiteX81" fmla="*/ 183180 w 418307"/>
                  <a:gd name="connsiteY81" fmla="*/ 62883 h 415573"/>
                  <a:gd name="connsiteX82" fmla="*/ 172244 w 418307"/>
                  <a:gd name="connsiteY82" fmla="*/ 73819 h 415573"/>
                  <a:gd name="connsiteX83" fmla="*/ 142170 w 418307"/>
                  <a:gd name="connsiteY83" fmla="*/ 87489 h 415573"/>
                  <a:gd name="connsiteX84" fmla="*/ 125766 w 418307"/>
                  <a:gd name="connsiteY84" fmla="*/ 87489 h 415573"/>
                  <a:gd name="connsiteX85" fmla="*/ 98425 w 418307"/>
                  <a:gd name="connsiteY85" fmla="*/ 68351 h 415573"/>
                  <a:gd name="connsiteX86" fmla="*/ 65617 w 418307"/>
                  <a:gd name="connsiteY86" fmla="*/ 101159 h 415573"/>
                  <a:gd name="connsiteX87" fmla="*/ 84755 w 418307"/>
                  <a:gd name="connsiteY87" fmla="*/ 128500 h 415573"/>
                  <a:gd name="connsiteX88" fmla="*/ 84755 w 418307"/>
                  <a:gd name="connsiteY88" fmla="*/ 142170 h 415573"/>
                  <a:gd name="connsiteX89" fmla="*/ 73819 w 418307"/>
                  <a:gd name="connsiteY89" fmla="*/ 164042 h 415573"/>
                  <a:gd name="connsiteX90" fmla="*/ 73819 w 418307"/>
                  <a:gd name="connsiteY90" fmla="*/ 172244 h 415573"/>
                  <a:gd name="connsiteX91" fmla="*/ 62883 w 418307"/>
                  <a:gd name="connsiteY91" fmla="*/ 180446 h 415573"/>
                  <a:gd name="connsiteX92" fmla="*/ 30074 w 418307"/>
                  <a:gd name="connsiteY92" fmla="*/ 185914 h 415573"/>
                  <a:gd name="connsiteX93" fmla="*/ 30074 w 418307"/>
                  <a:gd name="connsiteY93" fmla="*/ 232393 h 415573"/>
                  <a:gd name="connsiteX94" fmla="*/ 62883 w 418307"/>
                  <a:gd name="connsiteY94" fmla="*/ 237861 h 415573"/>
                  <a:gd name="connsiteX95" fmla="*/ 73819 w 418307"/>
                  <a:gd name="connsiteY95" fmla="*/ 248797 h 415573"/>
                  <a:gd name="connsiteX96" fmla="*/ 87489 w 418307"/>
                  <a:gd name="connsiteY96" fmla="*/ 278872 h 415573"/>
                  <a:gd name="connsiteX97" fmla="*/ 87489 w 418307"/>
                  <a:gd name="connsiteY97" fmla="*/ 295276 h 415573"/>
                  <a:gd name="connsiteX98" fmla="*/ 68351 w 418307"/>
                  <a:gd name="connsiteY98" fmla="*/ 322616 h 415573"/>
                  <a:gd name="connsiteX99" fmla="*/ 101159 w 418307"/>
                  <a:gd name="connsiteY99" fmla="*/ 355425 h 415573"/>
                  <a:gd name="connsiteX100" fmla="*/ 128500 w 418307"/>
                  <a:gd name="connsiteY100" fmla="*/ 336286 h 415573"/>
                  <a:gd name="connsiteX101" fmla="*/ 142170 w 418307"/>
                  <a:gd name="connsiteY101" fmla="*/ 336286 h 415573"/>
                  <a:gd name="connsiteX102" fmla="*/ 164042 w 418307"/>
                  <a:gd name="connsiteY102" fmla="*/ 344488 h 415573"/>
                  <a:gd name="connsiteX103" fmla="*/ 174978 w 418307"/>
                  <a:gd name="connsiteY103" fmla="*/ 349956 h 415573"/>
                  <a:gd name="connsiteX104" fmla="*/ 183180 w 418307"/>
                  <a:gd name="connsiteY104" fmla="*/ 360893 h 415573"/>
                  <a:gd name="connsiteX105" fmla="*/ 188648 w 418307"/>
                  <a:gd name="connsiteY105" fmla="*/ 388233 h 415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18307" h="415573">
                    <a:moveTo>
                      <a:pt x="251531" y="415573"/>
                    </a:moveTo>
                    <a:lnTo>
                      <a:pt x="174978" y="415573"/>
                    </a:lnTo>
                    <a:cubicBezTo>
                      <a:pt x="169510" y="415573"/>
                      <a:pt x="161308" y="410105"/>
                      <a:pt x="161308" y="404637"/>
                    </a:cubicBezTo>
                    <a:lnTo>
                      <a:pt x="155840" y="369095"/>
                    </a:lnTo>
                    <a:lnTo>
                      <a:pt x="150372" y="366361"/>
                    </a:lnTo>
                    <a:cubicBezTo>
                      <a:pt x="144904" y="363627"/>
                      <a:pt x="139436" y="360893"/>
                      <a:pt x="133968" y="360893"/>
                    </a:cubicBezTo>
                    <a:lnTo>
                      <a:pt x="103893" y="380031"/>
                    </a:lnTo>
                    <a:cubicBezTo>
                      <a:pt x="98425" y="382765"/>
                      <a:pt x="90223" y="382765"/>
                      <a:pt x="87489" y="377297"/>
                    </a:cubicBezTo>
                    <a:lnTo>
                      <a:pt x="38276" y="328084"/>
                    </a:lnTo>
                    <a:cubicBezTo>
                      <a:pt x="32808" y="322616"/>
                      <a:pt x="32808" y="317148"/>
                      <a:pt x="35542" y="311680"/>
                    </a:cubicBezTo>
                    <a:lnTo>
                      <a:pt x="54681" y="284340"/>
                    </a:lnTo>
                    <a:cubicBezTo>
                      <a:pt x="51947" y="278872"/>
                      <a:pt x="49213" y="270669"/>
                      <a:pt x="46479" y="265201"/>
                    </a:cubicBezTo>
                    <a:lnTo>
                      <a:pt x="10936" y="259733"/>
                    </a:lnTo>
                    <a:cubicBezTo>
                      <a:pt x="5468" y="259733"/>
                      <a:pt x="0" y="254265"/>
                      <a:pt x="0" y="246063"/>
                    </a:cubicBezTo>
                    <a:lnTo>
                      <a:pt x="0" y="174978"/>
                    </a:lnTo>
                    <a:cubicBezTo>
                      <a:pt x="0" y="169510"/>
                      <a:pt x="5468" y="161308"/>
                      <a:pt x="10936" y="161308"/>
                    </a:cubicBezTo>
                    <a:lnTo>
                      <a:pt x="46479" y="155840"/>
                    </a:lnTo>
                    <a:lnTo>
                      <a:pt x="49213" y="150372"/>
                    </a:lnTo>
                    <a:cubicBezTo>
                      <a:pt x="51947" y="144904"/>
                      <a:pt x="54681" y="139436"/>
                      <a:pt x="54681" y="133968"/>
                    </a:cubicBezTo>
                    <a:lnTo>
                      <a:pt x="35542" y="103893"/>
                    </a:lnTo>
                    <a:cubicBezTo>
                      <a:pt x="32808" y="98425"/>
                      <a:pt x="32808" y="90223"/>
                      <a:pt x="38276" y="87489"/>
                    </a:cubicBezTo>
                    <a:lnTo>
                      <a:pt x="87489" y="38277"/>
                    </a:lnTo>
                    <a:cubicBezTo>
                      <a:pt x="92957" y="32808"/>
                      <a:pt x="98425" y="32808"/>
                      <a:pt x="103893" y="35542"/>
                    </a:cubicBezTo>
                    <a:lnTo>
                      <a:pt x="131234" y="54681"/>
                    </a:lnTo>
                    <a:cubicBezTo>
                      <a:pt x="136702" y="51947"/>
                      <a:pt x="144904" y="49213"/>
                      <a:pt x="150372" y="46479"/>
                    </a:cubicBezTo>
                    <a:lnTo>
                      <a:pt x="155840" y="10936"/>
                    </a:lnTo>
                    <a:cubicBezTo>
                      <a:pt x="155840" y="5468"/>
                      <a:pt x="161308" y="0"/>
                      <a:pt x="169510" y="0"/>
                    </a:cubicBezTo>
                    <a:lnTo>
                      <a:pt x="248797" y="0"/>
                    </a:lnTo>
                    <a:cubicBezTo>
                      <a:pt x="254265" y="0"/>
                      <a:pt x="262467" y="5468"/>
                      <a:pt x="262467" y="10936"/>
                    </a:cubicBezTo>
                    <a:lnTo>
                      <a:pt x="267935" y="46479"/>
                    </a:lnTo>
                    <a:cubicBezTo>
                      <a:pt x="276138" y="49213"/>
                      <a:pt x="281606" y="51947"/>
                      <a:pt x="287074" y="54681"/>
                    </a:cubicBezTo>
                    <a:lnTo>
                      <a:pt x="314414" y="35542"/>
                    </a:lnTo>
                    <a:cubicBezTo>
                      <a:pt x="319882" y="32808"/>
                      <a:pt x="328084" y="32808"/>
                      <a:pt x="330818" y="38277"/>
                    </a:cubicBezTo>
                    <a:lnTo>
                      <a:pt x="380031" y="87489"/>
                    </a:lnTo>
                    <a:cubicBezTo>
                      <a:pt x="385499" y="92957"/>
                      <a:pt x="385499" y="98425"/>
                      <a:pt x="382765" y="103893"/>
                    </a:cubicBezTo>
                    <a:lnTo>
                      <a:pt x="363627" y="133968"/>
                    </a:lnTo>
                    <a:cubicBezTo>
                      <a:pt x="366361" y="139436"/>
                      <a:pt x="369095" y="144904"/>
                      <a:pt x="369095" y="147638"/>
                    </a:cubicBezTo>
                    <a:lnTo>
                      <a:pt x="371829" y="153106"/>
                    </a:lnTo>
                    <a:lnTo>
                      <a:pt x="407371" y="158574"/>
                    </a:lnTo>
                    <a:cubicBezTo>
                      <a:pt x="412839" y="158574"/>
                      <a:pt x="418307" y="164042"/>
                      <a:pt x="418307" y="172244"/>
                    </a:cubicBezTo>
                    <a:lnTo>
                      <a:pt x="418307" y="243329"/>
                    </a:lnTo>
                    <a:cubicBezTo>
                      <a:pt x="418307" y="248797"/>
                      <a:pt x="412839" y="256999"/>
                      <a:pt x="407371" y="256999"/>
                    </a:cubicBezTo>
                    <a:lnTo>
                      <a:pt x="371829" y="262467"/>
                    </a:lnTo>
                    <a:cubicBezTo>
                      <a:pt x="369095" y="270669"/>
                      <a:pt x="366361" y="276138"/>
                      <a:pt x="363627" y="281606"/>
                    </a:cubicBezTo>
                    <a:lnTo>
                      <a:pt x="382765" y="308946"/>
                    </a:lnTo>
                    <a:cubicBezTo>
                      <a:pt x="385499" y="314414"/>
                      <a:pt x="385499" y="322616"/>
                      <a:pt x="380031" y="325350"/>
                    </a:cubicBezTo>
                    <a:lnTo>
                      <a:pt x="330818" y="374563"/>
                    </a:lnTo>
                    <a:cubicBezTo>
                      <a:pt x="325350" y="380031"/>
                      <a:pt x="319882" y="380031"/>
                      <a:pt x="314414" y="377297"/>
                    </a:cubicBezTo>
                    <a:lnTo>
                      <a:pt x="289808" y="360893"/>
                    </a:lnTo>
                    <a:cubicBezTo>
                      <a:pt x="284340" y="363627"/>
                      <a:pt x="278872" y="366361"/>
                      <a:pt x="273403" y="366361"/>
                    </a:cubicBezTo>
                    <a:lnTo>
                      <a:pt x="267935" y="369095"/>
                    </a:lnTo>
                    <a:lnTo>
                      <a:pt x="265201" y="404637"/>
                    </a:lnTo>
                    <a:cubicBezTo>
                      <a:pt x="265201" y="410105"/>
                      <a:pt x="259733" y="415573"/>
                      <a:pt x="251531" y="415573"/>
                    </a:cubicBezTo>
                    <a:close/>
                    <a:moveTo>
                      <a:pt x="188648" y="388233"/>
                    </a:moveTo>
                    <a:lnTo>
                      <a:pt x="240595" y="388233"/>
                    </a:lnTo>
                    <a:lnTo>
                      <a:pt x="246063" y="358159"/>
                    </a:lnTo>
                    <a:cubicBezTo>
                      <a:pt x="246063" y="352690"/>
                      <a:pt x="248797" y="349956"/>
                      <a:pt x="254265" y="347222"/>
                    </a:cubicBezTo>
                    <a:lnTo>
                      <a:pt x="265201" y="341754"/>
                    </a:lnTo>
                    <a:cubicBezTo>
                      <a:pt x="273403" y="339020"/>
                      <a:pt x="278872" y="336286"/>
                      <a:pt x="287074" y="333552"/>
                    </a:cubicBezTo>
                    <a:cubicBezTo>
                      <a:pt x="292542" y="330818"/>
                      <a:pt x="298010" y="330818"/>
                      <a:pt x="300744" y="333552"/>
                    </a:cubicBezTo>
                    <a:lnTo>
                      <a:pt x="328084" y="352690"/>
                    </a:lnTo>
                    <a:lnTo>
                      <a:pt x="360893" y="319882"/>
                    </a:lnTo>
                    <a:lnTo>
                      <a:pt x="341754" y="292542"/>
                    </a:lnTo>
                    <a:cubicBezTo>
                      <a:pt x="339020" y="287074"/>
                      <a:pt x="339020" y="281606"/>
                      <a:pt x="341754" y="276138"/>
                    </a:cubicBezTo>
                    <a:cubicBezTo>
                      <a:pt x="347222" y="267935"/>
                      <a:pt x="349956" y="256999"/>
                      <a:pt x="355425" y="246063"/>
                    </a:cubicBezTo>
                    <a:cubicBezTo>
                      <a:pt x="358159" y="240595"/>
                      <a:pt x="360893" y="237861"/>
                      <a:pt x="366361" y="235127"/>
                    </a:cubicBezTo>
                    <a:lnTo>
                      <a:pt x="399169" y="229659"/>
                    </a:lnTo>
                    <a:lnTo>
                      <a:pt x="399169" y="183180"/>
                    </a:lnTo>
                    <a:lnTo>
                      <a:pt x="366361" y="177712"/>
                    </a:lnTo>
                    <a:cubicBezTo>
                      <a:pt x="360893" y="177712"/>
                      <a:pt x="358159" y="174978"/>
                      <a:pt x="355425" y="169510"/>
                    </a:cubicBezTo>
                    <a:lnTo>
                      <a:pt x="349956" y="158574"/>
                    </a:lnTo>
                    <a:cubicBezTo>
                      <a:pt x="347222" y="150372"/>
                      <a:pt x="344488" y="144904"/>
                      <a:pt x="341754" y="136702"/>
                    </a:cubicBezTo>
                    <a:cubicBezTo>
                      <a:pt x="339020" y="131234"/>
                      <a:pt x="339020" y="125766"/>
                      <a:pt x="341754" y="123032"/>
                    </a:cubicBezTo>
                    <a:lnTo>
                      <a:pt x="360893" y="95691"/>
                    </a:lnTo>
                    <a:lnTo>
                      <a:pt x="328084" y="62883"/>
                    </a:lnTo>
                    <a:lnTo>
                      <a:pt x="300744" y="82021"/>
                    </a:lnTo>
                    <a:cubicBezTo>
                      <a:pt x="295276" y="84755"/>
                      <a:pt x="289808" y="84755"/>
                      <a:pt x="284340" y="82021"/>
                    </a:cubicBezTo>
                    <a:cubicBezTo>
                      <a:pt x="276138" y="76553"/>
                      <a:pt x="265201" y="71085"/>
                      <a:pt x="254265" y="68351"/>
                    </a:cubicBezTo>
                    <a:cubicBezTo>
                      <a:pt x="248797" y="65617"/>
                      <a:pt x="246063" y="62883"/>
                      <a:pt x="243329" y="57415"/>
                    </a:cubicBezTo>
                    <a:lnTo>
                      <a:pt x="237861" y="27340"/>
                    </a:lnTo>
                    <a:lnTo>
                      <a:pt x="183180" y="27340"/>
                    </a:lnTo>
                    <a:lnTo>
                      <a:pt x="183180" y="62883"/>
                    </a:lnTo>
                    <a:cubicBezTo>
                      <a:pt x="183180" y="68351"/>
                      <a:pt x="177712" y="73819"/>
                      <a:pt x="172244" y="73819"/>
                    </a:cubicBezTo>
                    <a:cubicBezTo>
                      <a:pt x="161308" y="76553"/>
                      <a:pt x="153106" y="79287"/>
                      <a:pt x="142170" y="87489"/>
                    </a:cubicBezTo>
                    <a:cubicBezTo>
                      <a:pt x="136702" y="90223"/>
                      <a:pt x="131234" y="90223"/>
                      <a:pt x="125766" y="87489"/>
                    </a:cubicBezTo>
                    <a:lnTo>
                      <a:pt x="98425" y="68351"/>
                    </a:lnTo>
                    <a:lnTo>
                      <a:pt x="65617" y="101159"/>
                    </a:lnTo>
                    <a:lnTo>
                      <a:pt x="84755" y="128500"/>
                    </a:lnTo>
                    <a:cubicBezTo>
                      <a:pt x="87489" y="133968"/>
                      <a:pt x="87489" y="136702"/>
                      <a:pt x="84755" y="142170"/>
                    </a:cubicBezTo>
                    <a:cubicBezTo>
                      <a:pt x="82021" y="147638"/>
                      <a:pt x="79287" y="155840"/>
                      <a:pt x="73819" y="164042"/>
                    </a:cubicBezTo>
                    <a:lnTo>
                      <a:pt x="73819" y="172244"/>
                    </a:lnTo>
                    <a:cubicBezTo>
                      <a:pt x="71085" y="177712"/>
                      <a:pt x="68351" y="180446"/>
                      <a:pt x="62883" y="180446"/>
                    </a:cubicBezTo>
                    <a:lnTo>
                      <a:pt x="30074" y="185914"/>
                    </a:lnTo>
                    <a:lnTo>
                      <a:pt x="30074" y="232393"/>
                    </a:lnTo>
                    <a:lnTo>
                      <a:pt x="62883" y="237861"/>
                    </a:lnTo>
                    <a:cubicBezTo>
                      <a:pt x="68351" y="237861"/>
                      <a:pt x="73819" y="243329"/>
                      <a:pt x="73819" y="248797"/>
                    </a:cubicBezTo>
                    <a:cubicBezTo>
                      <a:pt x="76553" y="259733"/>
                      <a:pt x="79287" y="267935"/>
                      <a:pt x="87489" y="278872"/>
                    </a:cubicBezTo>
                    <a:cubicBezTo>
                      <a:pt x="90223" y="284340"/>
                      <a:pt x="90223" y="289808"/>
                      <a:pt x="87489" y="295276"/>
                    </a:cubicBezTo>
                    <a:lnTo>
                      <a:pt x="68351" y="322616"/>
                    </a:lnTo>
                    <a:lnTo>
                      <a:pt x="101159" y="355425"/>
                    </a:lnTo>
                    <a:lnTo>
                      <a:pt x="128500" y="336286"/>
                    </a:lnTo>
                    <a:cubicBezTo>
                      <a:pt x="131234" y="333552"/>
                      <a:pt x="136702" y="333552"/>
                      <a:pt x="142170" y="336286"/>
                    </a:cubicBezTo>
                    <a:cubicBezTo>
                      <a:pt x="147638" y="339020"/>
                      <a:pt x="155840" y="341754"/>
                      <a:pt x="164042" y="344488"/>
                    </a:cubicBezTo>
                    <a:lnTo>
                      <a:pt x="174978" y="349956"/>
                    </a:lnTo>
                    <a:cubicBezTo>
                      <a:pt x="180446" y="352690"/>
                      <a:pt x="183180" y="355425"/>
                      <a:pt x="183180" y="360893"/>
                    </a:cubicBezTo>
                    <a:lnTo>
                      <a:pt x="188648" y="388233"/>
                    </a:lnTo>
                    <a:close/>
                  </a:path>
                </a:pathLst>
              </a:custGeom>
              <a:solidFill>
                <a:srgbClr val="FFFFFF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0" name="Полилиния: фигура 127">
                <a:extLst>
                  <a:ext uri="{FF2B5EF4-FFF2-40B4-BE49-F238E27FC236}">
                    <a16:creationId xmlns:a16="http://schemas.microsoft.com/office/drawing/2014/main" id="{CAFDA2ED-F5E0-4EA4-A828-B2B1DF3ED060}"/>
                  </a:ext>
                </a:extLst>
              </p:cNvPr>
              <p:cNvSpPr/>
              <p:nvPr/>
            </p:nvSpPr>
            <p:spPr>
              <a:xfrm>
                <a:off x="1767280" y="2369731"/>
                <a:ext cx="164042" cy="169510"/>
              </a:xfrm>
              <a:custGeom>
                <a:avLst/>
                <a:gdLst>
                  <a:gd name="connsiteX0" fmla="*/ 82021 w 164042"/>
                  <a:gd name="connsiteY0" fmla="*/ 169510 h 169510"/>
                  <a:gd name="connsiteX1" fmla="*/ 0 w 164042"/>
                  <a:gd name="connsiteY1" fmla="*/ 84755 h 169510"/>
                  <a:gd name="connsiteX2" fmla="*/ 82021 w 164042"/>
                  <a:gd name="connsiteY2" fmla="*/ 0 h 169510"/>
                  <a:gd name="connsiteX3" fmla="*/ 82021 w 164042"/>
                  <a:gd name="connsiteY3" fmla="*/ 0 h 169510"/>
                  <a:gd name="connsiteX4" fmla="*/ 164042 w 164042"/>
                  <a:gd name="connsiteY4" fmla="*/ 84755 h 169510"/>
                  <a:gd name="connsiteX5" fmla="*/ 82021 w 164042"/>
                  <a:gd name="connsiteY5" fmla="*/ 169510 h 169510"/>
                  <a:gd name="connsiteX6" fmla="*/ 82021 w 164042"/>
                  <a:gd name="connsiteY6" fmla="*/ 30075 h 169510"/>
                  <a:gd name="connsiteX7" fmla="*/ 27340 w 164042"/>
                  <a:gd name="connsiteY7" fmla="*/ 87489 h 169510"/>
                  <a:gd name="connsiteX8" fmla="*/ 82021 w 164042"/>
                  <a:gd name="connsiteY8" fmla="*/ 144904 h 169510"/>
                  <a:gd name="connsiteX9" fmla="*/ 136702 w 164042"/>
                  <a:gd name="connsiteY9" fmla="*/ 87489 h 169510"/>
                  <a:gd name="connsiteX10" fmla="*/ 82021 w 164042"/>
                  <a:gd name="connsiteY10" fmla="*/ 30075 h 16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042" h="169510">
                    <a:moveTo>
                      <a:pt x="82021" y="169510"/>
                    </a:moveTo>
                    <a:cubicBezTo>
                      <a:pt x="35542" y="169510"/>
                      <a:pt x="0" y="131234"/>
                      <a:pt x="0" y="84755"/>
                    </a:cubicBezTo>
                    <a:cubicBezTo>
                      <a:pt x="0" y="38277"/>
                      <a:pt x="38276" y="2734"/>
                      <a:pt x="82021" y="0"/>
                    </a:cubicBezTo>
                    <a:cubicBezTo>
                      <a:pt x="82021" y="0"/>
                      <a:pt x="82021" y="0"/>
                      <a:pt x="82021" y="0"/>
                    </a:cubicBezTo>
                    <a:cubicBezTo>
                      <a:pt x="128500" y="0"/>
                      <a:pt x="164042" y="38277"/>
                      <a:pt x="164042" y="84755"/>
                    </a:cubicBezTo>
                    <a:cubicBezTo>
                      <a:pt x="164042" y="131234"/>
                      <a:pt x="128500" y="169510"/>
                      <a:pt x="82021" y="169510"/>
                    </a:cubicBezTo>
                    <a:close/>
                    <a:moveTo>
                      <a:pt x="82021" y="30075"/>
                    </a:moveTo>
                    <a:cubicBezTo>
                      <a:pt x="51947" y="30075"/>
                      <a:pt x="27340" y="54681"/>
                      <a:pt x="27340" y="87489"/>
                    </a:cubicBezTo>
                    <a:cubicBezTo>
                      <a:pt x="27340" y="117564"/>
                      <a:pt x="51947" y="142170"/>
                      <a:pt x="82021" y="144904"/>
                    </a:cubicBezTo>
                    <a:cubicBezTo>
                      <a:pt x="112095" y="144904"/>
                      <a:pt x="136702" y="120298"/>
                      <a:pt x="136702" y="87489"/>
                    </a:cubicBezTo>
                    <a:cubicBezTo>
                      <a:pt x="139436" y="57415"/>
                      <a:pt x="114829" y="30075"/>
                      <a:pt x="82021" y="300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41" name="Полилиния: фигура 128">
              <a:extLst>
                <a:ext uri="{FF2B5EF4-FFF2-40B4-BE49-F238E27FC236}">
                  <a16:creationId xmlns:a16="http://schemas.microsoft.com/office/drawing/2014/main" id="{119C7BD3-E5CE-49B9-BB8A-8A62DE200EB3}"/>
                </a:ext>
              </a:extLst>
            </p:cNvPr>
            <p:cNvSpPr/>
            <p:nvPr/>
          </p:nvSpPr>
          <p:spPr>
            <a:xfrm>
              <a:off x="1939524" y="2129136"/>
              <a:ext cx="377296" cy="314414"/>
            </a:xfrm>
            <a:custGeom>
              <a:avLst/>
              <a:gdLst>
                <a:gd name="connsiteX0" fmla="*/ 377297 w 377296"/>
                <a:gd name="connsiteY0" fmla="*/ 314414 h 314414"/>
                <a:gd name="connsiteX1" fmla="*/ 246063 w 377296"/>
                <a:gd name="connsiteY1" fmla="*/ 314414 h 314414"/>
                <a:gd name="connsiteX2" fmla="*/ 246063 w 377296"/>
                <a:gd name="connsiteY2" fmla="*/ 287074 h 314414"/>
                <a:gd name="connsiteX3" fmla="*/ 349956 w 377296"/>
                <a:gd name="connsiteY3" fmla="*/ 287074 h 314414"/>
                <a:gd name="connsiteX4" fmla="*/ 349956 w 377296"/>
                <a:gd name="connsiteY4" fmla="*/ 27340 h 314414"/>
                <a:gd name="connsiteX5" fmla="*/ 0 w 377296"/>
                <a:gd name="connsiteY5" fmla="*/ 27340 h 314414"/>
                <a:gd name="connsiteX6" fmla="*/ 0 w 377296"/>
                <a:gd name="connsiteY6" fmla="*/ 0 h 314414"/>
                <a:gd name="connsiteX7" fmla="*/ 377297 w 377296"/>
                <a:gd name="connsiteY7" fmla="*/ 0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7296" h="314414">
                  <a:moveTo>
                    <a:pt x="377297" y="314414"/>
                  </a:moveTo>
                  <a:lnTo>
                    <a:pt x="246063" y="314414"/>
                  </a:lnTo>
                  <a:lnTo>
                    <a:pt x="246063" y="287074"/>
                  </a:lnTo>
                  <a:lnTo>
                    <a:pt x="349956" y="287074"/>
                  </a:lnTo>
                  <a:lnTo>
                    <a:pt x="34995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77297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29">
              <a:extLst>
                <a:ext uri="{FF2B5EF4-FFF2-40B4-BE49-F238E27FC236}">
                  <a16:creationId xmlns:a16="http://schemas.microsoft.com/office/drawing/2014/main" id="{EB94B17E-153C-46F0-800A-0AAE84DFAAD1}"/>
                </a:ext>
              </a:extLst>
            </p:cNvPr>
            <p:cNvSpPr/>
            <p:nvPr/>
          </p:nvSpPr>
          <p:spPr>
            <a:xfrm>
              <a:off x="1502079" y="2479093"/>
              <a:ext cx="339020" cy="314414"/>
            </a:xfrm>
            <a:custGeom>
              <a:avLst/>
              <a:gdLst>
                <a:gd name="connsiteX0" fmla="*/ 339020 w 339020"/>
                <a:gd name="connsiteY0" fmla="*/ 314414 h 314414"/>
                <a:gd name="connsiteX1" fmla="*/ 0 w 339020"/>
                <a:gd name="connsiteY1" fmla="*/ 314414 h 314414"/>
                <a:gd name="connsiteX2" fmla="*/ 0 w 339020"/>
                <a:gd name="connsiteY2" fmla="*/ 0 h 314414"/>
                <a:gd name="connsiteX3" fmla="*/ 98425 w 339020"/>
                <a:gd name="connsiteY3" fmla="*/ 0 h 314414"/>
                <a:gd name="connsiteX4" fmla="*/ 98425 w 339020"/>
                <a:gd name="connsiteY4" fmla="*/ 27340 h 314414"/>
                <a:gd name="connsiteX5" fmla="*/ 27340 w 339020"/>
                <a:gd name="connsiteY5" fmla="*/ 27340 h 314414"/>
                <a:gd name="connsiteX6" fmla="*/ 27340 w 339020"/>
                <a:gd name="connsiteY6" fmla="*/ 287074 h 314414"/>
                <a:gd name="connsiteX7" fmla="*/ 339020 w 339020"/>
                <a:gd name="connsiteY7" fmla="*/ 287074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020" h="314414">
                  <a:moveTo>
                    <a:pt x="339020" y="314414"/>
                  </a:moveTo>
                  <a:lnTo>
                    <a:pt x="0" y="314414"/>
                  </a:lnTo>
                  <a:lnTo>
                    <a:pt x="0" y="0"/>
                  </a:lnTo>
                  <a:lnTo>
                    <a:pt x="98425" y="0"/>
                  </a:lnTo>
                  <a:lnTo>
                    <a:pt x="98425" y="27340"/>
                  </a:lnTo>
                  <a:lnTo>
                    <a:pt x="27340" y="27340"/>
                  </a:lnTo>
                  <a:lnTo>
                    <a:pt x="27340" y="287074"/>
                  </a:lnTo>
                  <a:lnTo>
                    <a:pt x="339020" y="287074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43" name="Rectangle 12">
            <a:extLst>
              <a:ext uri="{FF2B5EF4-FFF2-40B4-BE49-F238E27FC236}">
                <a16:creationId xmlns:a16="http://schemas.microsoft.com/office/drawing/2014/main" id="{21F5CD71-082D-4152-91BA-33EACC76559C}"/>
              </a:ext>
            </a:extLst>
          </p:cNvPr>
          <p:cNvSpPr/>
          <p:nvPr/>
        </p:nvSpPr>
        <p:spPr bwMode="auto">
          <a:xfrm>
            <a:off x="3215164" y="3928950"/>
            <a:ext cx="2976948" cy="886318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44" name="Rectangle 162">
            <a:extLst>
              <a:ext uri="{FF2B5EF4-FFF2-40B4-BE49-F238E27FC236}">
                <a16:creationId xmlns:a16="http://schemas.microsoft.com/office/drawing/2014/main" id="{CF0BB36C-7C22-4F56-816B-ED31F5A4DFBC}"/>
              </a:ext>
            </a:extLst>
          </p:cNvPr>
          <p:cNvSpPr/>
          <p:nvPr/>
        </p:nvSpPr>
        <p:spPr>
          <a:xfrm>
            <a:off x="3931009" y="4073160"/>
            <a:ext cx="228408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Построение </a:t>
            </a:r>
            <a:r>
              <a:rPr lang="ru-RU" sz="1050" b="0" spc="30" dirty="0" err="1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DevTestOps</a:t>
            </a:r>
            <a:r>
              <a:rPr lang="ru-RU" sz="10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b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автоматического конвейера с проверками качества</a:t>
            </a:r>
          </a:p>
        </p:txBody>
      </p:sp>
      <p:sp>
        <p:nvSpPr>
          <p:cNvPr id="145" name="Rectangle 12">
            <a:extLst>
              <a:ext uri="{FF2B5EF4-FFF2-40B4-BE49-F238E27FC236}">
                <a16:creationId xmlns:a16="http://schemas.microsoft.com/office/drawing/2014/main" id="{A985D074-A51D-43F5-A4FF-8BF47484EDE2}"/>
              </a:ext>
            </a:extLst>
          </p:cNvPr>
          <p:cNvSpPr/>
          <p:nvPr/>
        </p:nvSpPr>
        <p:spPr bwMode="auto">
          <a:xfrm>
            <a:off x="3215164" y="2993948"/>
            <a:ext cx="2976948" cy="886318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46" name="Rectangle 175">
            <a:extLst>
              <a:ext uri="{FF2B5EF4-FFF2-40B4-BE49-F238E27FC236}">
                <a16:creationId xmlns:a16="http://schemas.microsoft.com/office/drawing/2014/main" id="{E6AE3DF5-4BEC-4D80-B136-6334938BC1DA}"/>
              </a:ext>
            </a:extLst>
          </p:cNvPr>
          <p:cNvSpPr/>
          <p:nvPr/>
        </p:nvSpPr>
        <p:spPr>
          <a:xfrm>
            <a:off x="3931009" y="3137025"/>
            <a:ext cx="231049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Построение процессов 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непрерывного тестирования</a:t>
            </a:r>
          </a:p>
        </p:txBody>
      </p:sp>
      <p:grpSp>
        <p:nvGrpSpPr>
          <p:cNvPr id="147" name="Группа 530">
            <a:extLst>
              <a:ext uri="{FF2B5EF4-FFF2-40B4-BE49-F238E27FC236}">
                <a16:creationId xmlns:a16="http://schemas.microsoft.com/office/drawing/2014/main" id="{FDFE369A-AE5F-4C3C-A94F-C7D5D579C31C}"/>
              </a:ext>
            </a:extLst>
          </p:cNvPr>
          <p:cNvGrpSpPr>
            <a:grpSpLocks noChangeAspect="1"/>
          </p:cNvGrpSpPr>
          <p:nvPr/>
        </p:nvGrpSpPr>
        <p:grpSpPr>
          <a:xfrm>
            <a:off x="3422467" y="3299078"/>
            <a:ext cx="438968" cy="318931"/>
            <a:chOff x="4632875" y="2937660"/>
            <a:chExt cx="1131704" cy="822237"/>
          </a:xfrm>
          <a:solidFill>
            <a:srgbClr val="000000"/>
          </a:solidFill>
        </p:grpSpPr>
        <p:sp>
          <p:nvSpPr>
            <p:cNvPr id="148" name="Полилиния: фигура 60">
              <a:extLst>
                <a:ext uri="{FF2B5EF4-FFF2-40B4-BE49-F238E27FC236}">
                  <a16:creationId xmlns:a16="http://schemas.microsoft.com/office/drawing/2014/main" id="{E3A84286-2DCF-4679-916B-BD7899A55954}"/>
                </a:ext>
              </a:extLst>
            </p:cNvPr>
            <p:cNvSpPr/>
            <p:nvPr/>
          </p:nvSpPr>
          <p:spPr>
            <a:xfrm>
              <a:off x="4632875" y="2937660"/>
              <a:ext cx="945136" cy="721286"/>
            </a:xfrm>
            <a:custGeom>
              <a:avLst/>
              <a:gdLst>
                <a:gd name="connsiteX0" fmla="*/ 123600 w 945136"/>
                <a:gd name="connsiteY0" fmla="*/ 721286 h 721286"/>
                <a:gd name="connsiteX1" fmla="*/ 6875 w 945136"/>
                <a:gd name="connsiteY1" fmla="*/ 500455 h 721286"/>
                <a:gd name="connsiteX2" fmla="*/ 205623 w 945136"/>
                <a:gd name="connsiteY2" fmla="*/ 61948 h 721286"/>
                <a:gd name="connsiteX3" fmla="*/ 612583 w 945136"/>
                <a:gd name="connsiteY3" fmla="*/ 43019 h 721286"/>
                <a:gd name="connsiteX4" fmla="*/ 849188 w 945136"/>
                <a:gd name="connsiteY4" fmla="*/ 342719 h 721286"/>
                <a:gd name="connsiteX5" fmla="*/ 855498 w 945136"/>
                <a:gd name="connsiteY5" fmla="*/ 390040 h 721286"/>
                <a:gd name="connsiteX6" fmla="*/ 855498 w 945136"/>
                <a:gd name="connsiteY6" fmla="*/ 393194 h 721286"/>
                <a:gd name="connsiteX7" fmla="*/ 899664 w 945136"/>
                <a:gd name="connsiteY7" fmla="*/ 393194 h 721286"/>
                <a:gd name="connsiteX8" fmla="*/ 928057 w 945136"/>
                <a:gd name="connsiteY8" fmla="*/ 393194 h 721286"/>
                <a:gd name="connsiteX9" fmla="*/ 943830 w 945136"/>
                <a:gd name="connsiteY9" fmla="*/ 402658 h 721286"/>
                <a:gd name="connsiteX10" fmla="*/ 940675 w 945136"/>
                <a:gd name="connsiteY10" fmla="*/ 421587 h 721286"/>
                <a:gd name="connsiteX11" fmla="*/ 789248 w 945136"/>
                <a:gd name="connsiteY11" fmla="*/ 557240 h 721286"/>
                <a:gd name="connsiteX12" fmla="*/ 767165 w 945136"/>
                <a:gd name="connsiteY12" fmla="*/ 557240 h 721286"/>
                <a:gd name="connsiteX13" fmla="*/ 628357 w 945136"/>
                <a:gd name="connsiteY13" fmla="*/ 427896 h 721286"/>
                <a:gd name="connsiteX14" fmla="*/ 625202 w 945136"/>
                <a:gd name="connsiteY14" fmla="*/ 412123 h 721286"/>
                <a:gd name="connsiteX15" fmla="*/ 637821 w 945136"/>
                <a:gd name="connsiteY15" fmla="*/ 402658 h 721286"/>
                <a:gd name="connsiteX16" fmla="*/ 719844 w 945136"/>
                <a:gd name="connsiteY16" fmla="*/ 396349 h 721286"/>
                <a:gd name="connsiteX17" fmla="*/ 713535 w 945136"/>
                <a:gd name="connsiteY17" fmla="*/ 364802 h 721286"/>
                <a:gd name="connsiteX18" fmla="*/ 464311 w 945136"/>
                <a:gd name="connsiteY18" fmla="*/ 131352 h 721286"/>
                <a:gd name="connsiteX19" fmla="*/ 177230 w 945136"/>
                <a:gd name="connsiteY19" fmla="*/ 260695 h 721286"/>
                <a:gd name="connsiteX20" fmla="*/ 180385 w 945136"/>
                <a:gd name="connsiteY20" fmla="*/ 579324 h 721286"/>
                <a:gd name="connsiteX21" fmla="*/ 221397 w 945136"/>
                <a:gd name="connsiteY21" fmla="*/ 629799 h 721286"/>
                <a:gd name="connsiteX22" fmla="*/ 199313 w 945136"/>
                <a:gd name="connsiteY22" fmla="*/ 651882 h 721286"/>
                <a:gd name="connsiteX23" fmla="*/ 155147 w 945136"/>
                <a:gd name="connsiteY23" fmla="*/ 598252 h 721286"/>
                <a:gd name="connsiteX24" fmla="*/ 151992 w 945136"/>
                <a:gd name="connsiteY24" fmla="*/ 244922 h 721286"/>
                <a:gd name="connsiteX25" fmla="*/ 467466 w 945136"/>
                <a:gd name="connsiteY25" fmla="*/ 102959 h 721286"/>
                <a:gd name="connsiteX26" fmla="*/ 745082 w 945136"/>
                <a:gd name="connsiteY26" fmla="*/ 361647 h 721286"/>
                <a:gd name="connsiteX27" fmla="*/ 751391 w 945136"/>
                <a:gd name="connsiteY27" fmla="*/ 393194 h 721286"/>
                <a:gd name="connsiteX28" fmla="*/ 754546 w 945136"/>
                <a:gd name="connsiteY28" fmla="*/ 408968 h 721286"/>
                <a:gd name="connsiteX29" fmla="*/ 751391 w 945136"/>
                <a:gd name="connsiteY29" fmla="*/ 421587 h 721286"/>
                <a:gd name="connsiteX30" fmla="*/ 745082 w 945136"/>
                <a:gd name="connsiteY30" fmla="*/ 427896 h 721286"/>
                <a:gd name="connsiteX31" fmla="*/ 681987 w 945136"/>
                <a:gd name="connsiteY31" fmla="*/ 431051 h 721286"/>
                <a:gd name="connsiteX32" fmla="*/ 782939 w 945136"/>
                <a:gd name="connsiteY32" fmla="*/ 525693 h 721286"/>
                <a:gd name="connsiteX33" fmla="*/ 896509 w 945136"/>
                <a:gd name="connsiteY33" fmla="*/ 424742 h 721286"/>
                <a:gd name="connsiteX34" fmla="*/ 855498 w 945136"/>
                <a:gd name="connsiteY34" fmla="*/ 424742 h 721286"/>
                <a:gd name="connsiteX35" fmla="*/ 830260 w 945136"/>
                <a:gd name="connsiteY35" fmla="*/ 402658 h 721286"/>
                <a:gd name="connsiteX36" fmla="*/ 830260 w 945136"/>
                <a:gd name="connsiteY36" fmla="*/ 393194 h 721286"/>
                <a:gd name="connsiteX37" fmla="*/ 823950 w 945136"/>
                <a:gd name="connsiteY37" fmla="*/ 349028 h 721286"/>
                <a:gd name="connsiteX38" fmla="*/ 603119 w 945136"/>
                <a:gd name="connsiteY38" fmla="*/ 71412 h 721286"/>
                <a:gd name="connsiteX39" fmla="*/ 227706 w 945136"/>
                <a:gd name="connsiteY39" fmla="*/ 87185 h 721286"/>
                <a:gd name="connsiteX40" fmla="*/ 44732 w 945136"/>
                <a:gd name="connsiteY40" fmla="*/ 490991 h 721286"/>
                <a:gd name="connsiteX41" fmla="*/ 151992 w 945136"/>
                <a:gd name="connsiteY41" fmla="*/ 696049 h 721286"/>
                <a:gd name="connsiteX42" fmla="*/ 123600 w 945136"/>
                <a:gd name="connsiteY42" fmla="*/ 721286 h 72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45136" h="721286">
                  <a:moveTo>
                    <a:pt x="123600" y="721286"/>
                  </a:moveTo>
                  <a:cubicBezTo>
                    <a:pt x="63660" y="664501"/>
                    <a:pt x="22648" y="588788"/>
                    <a:pt x="6875" y="500455"/>
                  </a:cubicBezTo>
                  <a:cubicBezTo>
                    <a:pt x="-24673" y="326945"/>
                    <a:pt x="54196" y="150280"/>
                    <a:pt x="205623" y="61948"/>
                  </a:cubicBezTo>
                  <a:cubicBezTo>
                    <a:pt x="334967" y="-13766"/>
                    <a:pt x="473775" y="-20076"/>
                    <a:pt x="612583" y="43019"/>
                  </a:cubicBezTo>
                  <a:cubicBezTo>
                    <a:pt x="738773" y="99804"/>
                    <a:pt x="817641" y="200756"/>
                    <a:pt x="849188" y="342719"/>
                  </a:cubicBezTo>
                  <a:cubicBezTo>
                    <a:pt x="852343" y="358492"/>
                    <a:pt x="855498" y="374266"/>
                    <a:pt x="855498" y="390040"/>
                  </a:cubicBezTo>
                  <a:lnTo>
                    <a:pt x="855498" y="393194"/>
                  </a:lnTo>
                  <a:cubicBezTo>
                    <a:pt x="871271" y="393194"/>
                    <a:pt x="887045" y="393194"/>
                    <a:pt x="899664" y="393194"/>
                  </a:cubicBezTo>
                  <a:lnTo>
                    <a:pt x="928057" y="393194"/>
                  </a:lnTo>
                  <a:cubicBezTo>
                    <a:pt x="934366" y="393194"/>
                    <a:pt x="940675" y="396349"/>
                    <a:pt x="943830" y="402658"/>
                  </a:cubicBezTo>
                  <a:cubicBezTo>
                    <a:pt x="946985" y="408968"/>
                    <a:pt x="943830" y="418432"/>
                    <a:pt x="940675" y="421587"/>
                  </a:cubicBezTo>
                  <a:lnTo>
                    <a:pt x="789248" y="557240"/>
                  </a:lnTo>
                  <a:cubicBezTo>
                    <a:pt x="782939" y="563550"/>
                    <a:pt x="773475" y="563550"/>
                    <a:pt x="767165" y="557240"/>
                  </a:cubicBezTo>
                  <a:lnTo>
                    <a:pt x="628357" y="427896"/>
                  </a:lnTo>
                  <a:cubicBezTo>
                    <a:pt x="625202" y="424742"/>
                    <a:pt x="622047" y="418432"/>
                    <a:pt x="625202" y="412123"/>
                  </a:cubicBezTo>
                  <a:cubicBezTo>
                    <a:pt x="628357" y="405813"/>
                    <a:pt x="631512" y="402658"/>
                    <a:pt x="637821" y="402658"/>
                  </a:cubicBezTo>
                  <a:lnTo>
                    <a:pt x="719844" y="396349"/>
                  </a:lnTo>
                  <a:cubicBezTo>
                    <a:pt x="716689" y="386885"/>
                    <a:pt x="716689" y="377421"/>
                    <a:pt x="713535" y="364802"/>
                  </a:cubicBezTo>
                  <a:cubicBezTo>
                    <a:pt x="694606" y="241767"/>
                    <a:pt x="587345" y="143970"/>
                    <a:pt x="464311" y="131352"/>
                  </a:cubicBezTo>
                  <a:cubicBezTo>
                    <a:pt x="341276" y="118733"/>
                    <a:pt x="243480" y="162899"/>
                    <a:pt x="177230" y="260695"/>
                  </a:cubicBezTo>
                  <a:cubicBezTo>
                    <a:pt x="110981" y="358492"/>
                    <a:pt x="114136" y="478372"/>
                    <a:pt x="180385" y="579324"/>
                  </a:cubicBezTo>
                  <a:cubicBezTo>
                    <a:pt x="193004" y="598252"/>
                    <a:pt x="205623" y="614026"/>
                    <a:pt x="221397" y="629799"/>
                  </a:cubicBezTo>
                  <a:lnTo>
                    <a:pt x="199313" y="651882"/>
                  </a:lnTo>
                  <a:cubicBezTo>
                    <a:pt x="183540" y="636109"/>
                    <a:pt x="167766" y="617180"/>
                    <a:pt x="155147" y="598252"/>
                  </a:cubicBezTo>
                  <a:cubicBezTo>
                    <a:pt x="79434" y="487836"/>
                    <a:pt x="76279" y="352183"/>
                    <a:pt x="151992" y="244922"/>
                  </a:cubicBezTo>
                  <a:cubicBezTo>
                    <a:pt x="224551" y="137661"/>
                    <a:pt x="334967" y="90340"/>
                    <a:pt x="467466" y="102959"/>
                  </a:cubicBezTo>
                  <a:cubicBezTo>
                    <a:pt x="606274" y="118733"/>
                    <a:pt x="722999" y="225993"/>
                    <a:pt x="745082" y="361647"/>
                  </a:cubicBezTo>
                  <a:cubicBezTo>
                    <a:pt x="748237" y="371111"/>
                    <a:pt x="748237" y="383730"/>
                    <a:pt x="751391" y="393194"/>
                  </a:cubicBezTo>
                  <a:lnTo>
                    <a:pt x="754546" y="408968"/>
                  </a:lnTo>
                  <a:cubicBezTo>
                    <a:pt x="754546" y="412123"/>
                    <a:pt x="754546" y="418432"/>
                    <a:pt x="751391" y="421587"/>
                  </a:cubicBezTo>
                  <a:cubicBezTo>
                    <a:pt x="751391" y="424742"/>
                    <a:pt x="748237" y="427896"/>
                    <a:pt x="745082" y="427896"/>
                  </a:cubicBezTo>
                  <a:lnTo>
                    <a:pt x="681987" y="431051"/>
                  </a:lnTo>
                  <a:lnTo>
                    <a:pt x="782939" y="525693"/>
                  </a:lnTo>
                  <a:lnTo>
                    <a:pt x="896509" y="424742"/>
                  </a:lnTo>
                  <a:cubicBezTo>
                    <a:pt x="883890" y="424742"/>
                    <a:pt x="868117" y="424742"/>
                    <a:pt x="855498" y="424742"/>
                  </a:cubicBezTo>
                  <a:cubicBezTo>
                    <a:pt x="849188" y="424742"/>
                    <a:pt x="833415" y="421587"/>
                    <a:pt x="830260" y="402658"/>
                  </a:cubicBezTo>
                  <a:lnTo>
                    <a:pt x="830260" y="393194"/>
                  </a:lnTo>
                  <a:cubicBezTo>
                    <a:pt x="827105" y="377421"/>
                    <a:pt x="827105" y="361647"/>
                    <a:pt x="823950" y="349028"/>
                  </a:cubicBezTo>
                  <a:cubicBezTo>
                    <a:pt x="795558" y="219684"/>
                    <a:pt x="719844" y="125042"/>
                    <a:pt x="603119" y="71412"/>
                  </a:cubicBezTo>
                  <a:cubicBezTo>
                    <a:pt x="473775" y="11472"/>
                    <a:pt x="347586" y="17781"/>
                    <a:pt x="227706" y="87185"/>
                  </a:cubicBezTo>
                  <a:cubicBezTo>
                    <a:pt x="88898" y="169208"/>
                    <a:pt x="13184" y="333254"/>
                    <a:pt x="44732" y="490991"/>
                  </a:cubicBezTo>
                  <a:cubicBezTo>
                    <a:pt x="60505" y="573014"/>
                    <a:pt x="95207" y="642418"/>
                    <a:pt x="151992" y="696049"/>
                  </a:cubicBezTo>
                  <a:lnTo>
                    <a:pt x="123600" y="721286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61">
              <a:extLst>
                <a:ext uri="{FF2B5EF4-FFF2-40B4-BE49-F238E27FC236}">
                  <a16:creationId xmlns:a16="http://schemas.microsoft.com/office/drawing/2014/main" id="{3157D343-B792-45E6-8185-1246ABEBDF60}"/>
                </a:ext>
              </a:extLst>
            </p:cNvPr>
            <p:cNvSpPr/>
            <p:nvPr/>
          </p:nvSpPr>
          <p:spPr>
            <a:xfrm>
              <a:off x="4863735" y="2993298"/>
              <a:ext cx="900844" cy="766599"/>
            </a:xfrm>
            <a:custGeom>
              <a:avLst/>
              <a:gdLst>
                <a:gd name="connsiteX0" fmla="*/ 498448 w 900844"/>
                <a:gd name="connsiteY0" fmla="*/ 766600 h 766599"/>
                <a:gd name="connsiteX1" fmla="*/ 208212 w 900844"/>
                <a:gd name="connsiteY1" fmla="*/ 643565 h 766599"/>
                <a:gd name="connsiteX2" fmla="*/ 104106 w 900844"/>
                <a:gd name="connsiteY2" fmla="*/ 444817 h 766599"/>
                <a:gd name="connsiteX3" fmla="*/ 97797 w 900844"/>
                <a:gd name="connsiteY3" fmla="*/ 388032 h 766599"/>
                <a:gd name="connsiteX4" fmla="*/ 97797 w 900844"/>
                <a:gd name="connsiteY4" fmla="*/ 384877 h 766599"/>
                <a:gd name="connsiteX5" fmla="*/ 50476 w 900844"/>
                <a:gd name="connsiteY5" fmla="*/ 384877 h 766599"/>
                <a:gd name="connsiteX6" fmla="*/ 25238 w 900844"/>
                <a:gd name="connsiteY6" fmla="*/ 384877 h 766599"/>
                <a:gd name="connsiteX7" fmla="*/ 0 w 900844"/>
                <a:gd name="connsiteY7" fmla="*/ 365949 h 766599"/>
                <a:gd name="connsiteX8" fmla="*/ 9464 w 900844"/>
                <a:gd name="connsiteY8" fmla="*/ 343866 h 766599"/>
                <a:gd name="connsiteX9" fmla="*/ 160892 w 900844"/>
                <a:gd name="connsiteY9" fmla="*/ 205057 h 766599"/>
                <a:gd name="connsiteX10" fmla="*/ 164046 w 900844"/>
                <a:gd name="connsiteY10" fmla="*/ 201903 h 766599"/>
                <a:gd name="connsiteX11" fmla="*/ 186129 w 900844"/>
                <a:gd name="connsiteY11" fmla="*/ 201903 h 766599"/>
                <a:gd name="connsiteX12" fmla="*/ 337556 w 900844"/>
                <a:gd name="connsiteY12" fmla="*/ 362794 h 766599"/>
                <a:gd name="connsiteX13" fmla="*/ 340711 w 900844"/>
                <a:gd name="connsiteY13" fmla="*/ 378568 h 766599"/>
                <a:gd name="connsiteX14" fmla="*/ 328092 w 900844"/>
                <a:gd name="connsiteY14" fmla="*/ 388032 h 766599"/>
                <a:gd name="connsiteX15" fmla="*/ 318628 w 900844"/>
                <a:gd name="connsiteY15" fmla="*/ 388032 h 766599"/>
                <a:gd name="connsiteX16" fmla="*/ 302854 w 900844"/>
                <a:gd name="connsiteY16" fmla="*/ 388032 h 766599"/>
                <a:gd name="connsiteX17" fmla="*/ 242914 w 900844"/>
                <a:gd name="connsiteY17" fmla="*/ 388032 h 766599"/>
                <a:gd name="connsiteX18" fmla="*/ 283926 w 900844"/>
                <a:gd name="connsiteY18" fmla="*/ 514221 h 766599"/>
                <a:gd name="connsiteX19" fmla="*/ 485829 w 900844"/>
                <a:gd name="connsiteY19" fmla="*/ 624637 h 766599"/>
                <a:gd name="connsiteX20" fmla="*/ 697196 w 900844"/>
                <a:gd name="connsiteY20" fmla="*/ 533150 h 766599"/>
                <a:gd name="connsiteX21" fmla="*/ 697196 w 900844"/>
                <a:gd name="connsiteY21" fmla="*/ 201903 h 766599"/>
                <a:gd name="connsiteX22" fmla="*/ 580471 w 900844"/>
                <a:gd name="connsiteY22" fmla="*/ 123034 h 766599"/>
                <a:gd name="connsiteX23" fmla="*/ 561542 w 900844"/>
                <a:gd name="connsiteY23" fmla="*/ 116725 h 766599"/>
                <a:gd name="connsiteX24" fmla="*/ 574161 w 900844"/>
                <a:gd name="connsiteY24" fmla="*/ 88332 h 766599"/>
                <a:gd name="connsiteX25" fmla="*/ 589935 w 900844"/>
                <a:gd name="connsiteY25" fmla="*/ 94642 h 766599"/>
                <a:gd name="connsiteX26" fmla="*/ 719279 w 900844"/>
                <a:gd name="connsiteY26" fmla="*/ 182974 h 766599"/>
                <a:gd name="connsiteX27" fmla="*/ 719279 w 900844"/>
                <a:gd name="connsiteY27" fmla="*/ 555233 h 766599"/>
                <a:gd name="connsiteX28" fmla="*/ 482674 w 900844"/>
                <a:gd name="connsiteY28" fmla="*/ 659339 h 766599"/>
                <a:gd name="connsiteX29" fmla="*/ 255533 w 900844"/>
                <a:gd name="connsiteY29" fmla="*/ 536304 h 766599"/>
                <a:gd name="connsiteX30" fmla="*/ 208212 w 900844"/>
                <a:gd name="connsiteY30" fmla="*/ 384877 h 766599"/>
                <a:gd name="connsiteX31" fmla="*/ 230296 w 900844"/>
                <a:gd name="connsiteY31" fmla="*/ 362794 h 766599"/>
                <a:gd name="connsiteX32" fmla="*/ 230296 w 900844"/>
                <a:gd name="connsiteY32" fmla="*/ 362794 h 766599"/>
                <a:gd name="connsiteX33" fmla="*/ 287081 w 900844"/>
                <a:gd name="connsiteY33" fmla="*/ 362794 h 766599"/>
                <a:gd name="connsiteX34" fmla="*/ 170356 w 900844"/>
                <a:gd name="connsiteY34" fmla="*/ 239760 h 766599"/>
                <a:gd name="connsiteX35" fmla="*/ 41012 w 900844"/>
                <a:gd name="connsiteY35" fmla="*/ 356485 h 766599"/>
                <a:gd name="connsiteX36" fmla="*/ 44166 w 900844"/>
                <a:gd name="connsiteY36" fmla="*/ 356485 h 766599"/>
                <a:gd name="connsiteX37" fmla="*/ 97797 w 900844"/>
                <a:gd name="connsiteY37" fmla="*/ 356485 h 766599"/>
                <a:gd name="connsiteX38" fmla="*/ 97797 w 900844"/>
                <a:gd name="connsiteY38" fmla="*/ 356485 h 766599"/>
                <a:gd name="connsiteX39" fmla="*/ 123035 w 900844"/>
                <a:gd name="connsiteY39" fmla="*/ 378568 h 766599"/>
                <a:gd name="connsiteX40" fmla="*/ 123035 w 900844"/>
                <a:gd name="connsiteY40" fmla="*/ 388032 h 766599"/>
                <a:gd name="connsiteX41" fmla="*/ 129344 w 900844"/>
                <a:gd name="connsiteY41" fmla="*/ 441662 h 766599"/>
                <a:gd name="connsiteX42" fmla="*/ 223986 w 900844"/>
                <a:gd name="connsiteY42" fmla="*/ 624637 h 766599"/>
                <a:gd name="connsiteX43" fmla="*/ 558388 w 900844"/>
                <a:gd name="connsiteY43" fmla="*/ 735052 h 766599"/>
                <a:gd name="connsiteX44" fmla="*/ 801302 w 900844"/>
                <a:gd name="connsiteY44" fmla="*/ 586780 h 766599"/>
                <a:gd name="connsiteX45" fmla="*/ 864397 w 900844"/>
                <a:gd name="connsiteY45" fmla="*/ 328092 h 766599"/>
                <a:gd name="connsiteX46" fmla="*/ 725588 w 900844"/>
                <a:gd name="connsiteY46" fmla="*/ 97797 h 766599"/>
                <a:gd name="connsiteX47" fmla="*/ 571007 w 900844"/>
                <a:gd name="connsiteY47" fmla="*/ 31547 h 766599"/>
                <a:gd name="connsiteX48" fmla="*/ 577316 w 900844"/>
                <a:gd name="connsiteY48" fmla="*/ 0 h 766599"/>
                <a:gd name="connsiteX49" fmla="*/ 744517 w 900844"/>
                <a:gd name="connsiteY49" fmla="*/ 72559 h 766599"/>
                <a:gd name="connsiteX50" fmla="*/ 895944 w 900844"/>
                <a:gd name="connsiteY50" fmla="*/ 321783 h 766599"/>
                <a:gd name="connsiteX51" fmla="*/ 826540 w 900844"/>
                <a:gd name="connsiteY51" fmla="*/ 602554 h 766599"/>
                <a:gd name="connsiteX52" fmla="*/ 564697 w 900844"/>
                <a:gd name="connsiteY52" fmla="*/ 763445 h 766599"/>
                <a:gd name="connsiteX53" fmla="*/ 498448 w 900844"/>
                <a:gd name="connsiteY53" fmla="*/ 766600 h 766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900844" h="766599">
                  <a:moveTo>
                    <a:pt x="498448" y="766600"/>
                  </a:moveTo>
                  <a:cubicBezTo>
                    <a:pt x="388032" y="766600"/>
                    <a:pt x="290235" y="725588"/>
                    <a:pt x="208212" y="643565"/>
                  </a:cubicBezTo>
                  <a:cubicBezTo>
                    <a:pt x="154582" y="589935"/>
                    <a:pt x="119880" y="523686"/>
                    <a:pt x="104106" y="444817"/>
                  </a:cubicBezTo>
                  <a:cubicBezTo>
                    <a:pt x="100952" y="425889"/>
                    <a:pt x="97797" y="406960"/>
                    <a:pt x="97797" y="388032"/>
                  </a:cubicBezTo>
                  <a:lnTo>
                    <a:pt x="97797" y="384877"/>
                  </a:lnTo>
                  <a:cubicBezTo>
                    <a:pt x="82023" y="384877"/>
                    <a:pt x="66250" y="384877"/>
                    <a:pt x="50476" y="384877"/>
                  </a:cubicBezTo>
                  <a:lnTo>
                    <a:pt x="25238" y="384877"/>
                  </a:lnTo>
                  <a:cubicBezTo>
                    <a:pt x="6310" y="384877"/>
                    <a:pt x="0" y="369104"/>
                    <a:pt x="0" y="365949"/>
                  </a:cubicBezTo>
                  <a:cubicBezTo>
                    <a:pt x="0" y="356485"/>
                    <a:pt x="3155" y="350175"/>
                    <a:pt x="9464" y="343866"/>
                  </a:cubicBezTo>
                  <a:cubicBezTo>
                    <a:pt x="59940" y="296545"/>
                    <a:pt x="110416" y="252378"/>
                    <a:pt x="160892" y="205057"/>
                  </a:cubicBezTo>
                  <a:cubicBezTo>
                    <a:pt x="160892" y="205057"/>
                    <a:pt x="164046" y="201903"/>
                    <a:pt x="164046" y="201903"/>
                  </a:cubicBezTo>
                  <a:cubicBezTo>
                    <a:pt x="170356" y="195593"/>
                    <a:pt x="182975" y="195593"/>
                    <a:pt x="186129" y="201903"/>
                  </a:cubicBezTo>
                  <a:lnTo>
                    <a:pt x="337556" y="362794"/>
                  </a:lnTo>
                  <a:cubicBezTo>
                    <a:pt x="340711" y="365949"/>
                    <a:pt x="343866" y="372258"/>
                    <a:pt x="340711" y="378568"/>
                  </a:cubicBezTo>
                  <a:cubicBezTo>
                    <a:pt x="337556" y="384877"/>
                    <a:pt x="334402" y="388032"/>
                    <a:pt x="328092" y="388032"/>
                  </a:cubicBezTo>
                  <a:cubicBezTo>
                    <a:pt x="321783" y="388032"/>
                    <a:pt x="321783" y="388032"/>
                    <a:pt x="318628" y="388032"/>
                  </a:cubicBezTo>
                  <a:lnTo>
                    <a:pt x="302854" y="388032"/>
                  </a:lnTo>
                  <a:cubicBezTo>
                    <a:pt x="283926" y="388032"/>
                    <a:pt x="261843" y="388032"/>
                    <a:pt x="242914" y="388032"/>
                  </a:cubicBezTo>
                  <a:cubicBezTo>
                    <a:pt x="242914" y="432198"/>
                    <a:pt x="258688" y="473210"/>
                    <a:pt x="283926" y="514221"/>
                  </a:cubicBezTo>
                  <a:cubicBezTo>
                    <a:pt x="331247" y="580471"/>
                    <a:pt x="403806" y="621482"/>
                    <a:pt x="485829" y="624637"/>
                  </a:cubicBezTo>
                  <a:cubicBezTo>
                    <a:pt x="567852" y="627792"/>
                    <a:pt x="643565" y="596244"/>
                    <a:pt x="697196" y="533150"/>
                  </a:cubicBezTo>
                  <a:cubicBezTo>
                    <a:pt x="776064" y="438508"/>
                    <a:pt x="776064" y="299699"/>
                    <a:pt x="697196" y="201903"/>
                  </a:cubicBezTo>
                  <a:cubicBezTo>
                    <a:pt x="665649" y="164046"/>
                    <a:pt x="627792" y="135653"/>
                    <a:pt x="580471" y="123034"/>
                  </a:cubicBezTo>
                  <a:cubicBezTo>
                    <a:pt x="574161" y="119880"/>
                    <a:pt x="567852" y="119880"/>
                    <a:pt x="561542" y="116725"/>
                  </a:cubicBezTo>
                  <a:lnTo>
                    <a:pt x="574161" y="88332"/>
                  </a:lnTo>
                  <a:cubicBezTo>
                    <a:pt x="580471" y="91487"/>
                    <a:pt x="583625" y="91487"/>
                    <a:pt x="589935" y="94642"/>
                  </a:cubicBezTo>
                  <a:cubicBezTo>
                    <a:pt x="640411" y="110415"/>
                    <a:pt x="684577" y="141963"/>
                    <a:pt x="719279" y="182974"/>
                  </a:cubicBezTo>
                  <a:cubicBezTo>
                    <a:pt x="810766" y="293390"/>
                    <a:pt x="810766" y="447972"/>
                    <a:pt x="719279" y="555233"/>
                  </a:cubicBezTo>
                  <a:cubicBezTo>
                    <a:pt x="659339" y="624637"/>
                    <a:pt x="574161" y="662494"/>
                    <a:pt x="482674" y="659339"/>
                  </a:cubicBezTo>
                  <a:cubicBezTo>
                    <a:pt x="391187" y="656184"/>
                    <a:pt x="309164" y="608863"/>
                    <a:pt x="255533" y="536304"/>
                  </a:cubicBezTo>
                  <a:cubicBezTo>
                    <a:pt x="223986" y="488983"/>
                    <a:pt x="205058" y="438508"/>
                    <a:pt x="208212" y="384877"/>
                  </a:cubicBezTo>
                  <a:cubicBezTo>
                    <a:pt x="208212" y="369104"/>
                    <a:pt x="217677" y="362794"/>
                    <a:pt x="230296" y="362794"/>
                  </a:cubicBezTo>
                  <a:cubicBezTo>
                    <a:pt x="230296" y="362794"/>
                    <a:pt x="230296" y="362794"/>
                    <a:pt x="230296" y="362794"/>
                  </a:cubicBezTo>
                  <a:cubicBezTo>
                    <a:pt x="249224" y="362794"/>
                    <a:pt x="268152" y="362794"/>
                    <a:pt x="287081" y="362794"/>
                  </a:cubicBezTo>
                  <a:lnTo>
                    <a:pt x="170356" y="239760"/>
                  </a:lnTo>
                  <a:cubicBezTo>
                    <a:pt x="126189" y="277616"/>
                    <a:pt x="85178" y="318628"/>
                    <a:pt x="41012" y="356485"/>
                  </a:cubicBezTo>
                  <a:lnTo>
                    <a:pt x="44166" y="356485"/>
                  </a:lnTo>
                  <a:cubicBezTo>
                    <a:pt x="63095" y="356485"/>
                    <a:pt x="78868" y="356485"/>
                    <a:pt x="97797" y="356485"/>
                  </a:cubicBezTo>
                  <a:cubicBezTo>
                    <a:pt x="97797" y="356485"/>
                    <a:pt x="97797" y="356485"/>
                    <a:pt x="97797" y="356485"/>
                  </a:cubicBezTo>
                  <a:cubicBezTo>
                    <a:pt x="110416" y="356485"/>
                    <a:pt x="119880" y="362794"/>
                    <a:pt x="123035" y="378568"/>
                  </a:cubicBezTo>
                  <a:lnTo>
                    <a:pt x="123035" y="388032"/>
                  </a:lnTo>
                  <a:cubicBezTo>
                    <a:pt x="126189" y="406960"/>
                    <a:pt x="126189" y="425889"/>
                    <a:pt x="129344" y="441662"/>
                  </a:cubicBezTo>
                  <a:cubicBezTo>
                    <a:pt x="141963" y="514221"/>
                    <a:pt x="173510" y="577316"/>
                    <a:pt x="223986" y="624637"/>
                  </a:cubicBezTo>
                  <a:cubicBezTo>
                    <a:pt x="315473" y="716124"/>
                    <a:pt x="429044" y="753981"/>
                    <a:pt x="558388" y="735052"/>
                  </a:cubicBezTo>
                  <a:cubicBezTo>
                    <a:pt x="659339" y="719279"/>
                    <a:pt x="741362" y="671958"/>
                    <a:pt x="801302" y="586780"/>
                  </a:cubicBezTo>
                  <a:cubicBezTo>
                    <a:pt x="858087" y="507912"/>
                    <a:pt x="877016" y="422734"/>
                    <a:pt x="864397" y="328092"/>
                  </a:cubicBezTo>
                  <a:cubicBezTo>
                    <a:pt x="848623" y="233450"/>
                    <a:pt x="801302" y="154582"/>
                    <a:pt x="725588" y="97797"/>
                  </a:cubicBezTo>
                  <a:cubicBezTo>
                    <a:pt x="678267" y="63095"/>
                    <a:pt x="624637" y="41011"/>
                    <a:pt x="571007" y="31547"/>
                  </a:cubicBezTo>
                  <a:lnTo>
                    <a:pt x="577316" y="0"/>
                  </a:lnTo>
                  <a:cubicBezTo>
                    <a:pt x="637256" y="9464"/>
                    <a:pt x="694041" y="34702"/>
                    <a:pt x="744517" y="72559"/>
                  </a:cubicBezTo>
                  <a:cubicBezTo>
                    <a:pt x="829695" y="135653"/>
                    <a:pt x="880170" y="217676"/>
                    <a:pt x="895944" y="321783"/>
                  </a:cubicBezTo>
                  <a:cubicBezTo>
                    <a:pt x="911718" y="422734"/>
                    <a:pt x="889635" y="517376"/>
                    <a:pt x="826540" y="602554"/>
                  </a:cubicBezTo>
                  <a:cubicBezTo>
                    <a:pt x="760291" y="694041"/>
                    <a:pt x="671958" y="747671"/>
                    <a:pt x="564697" y="763445"/>
                  </a:cubicBezTo>
                  <a:cubicBezTo>
                    <a:pt x="545769" y="763445"/>
                    <a:pt x="520531" y="766600"/>
                    <a:pt x="498448" y="76660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0" name="Рисунок 2">
              <a:extLst>
                <a:ext uri="{FF2B5EF4-FFF2-40B4-BE49-F238E27FC236}">
                  <a16:creationId xmlns:a16="http://schemas.microsoft.com/office/drawing/2014/main" id="{9E57A6E7-797D-47AC-94C8-6C94B213D26E}"/>
                </a:ext>
              </a:extLst>
            </p:cNvPr>
            <p:cNvGrpSpPr/>
            <p:nvPr/>
          </p:nvGrpSpPr>
          <p:grpSpPr>
            <a:xfrm>
              <a:off x="4828970" y="3661798"/>
              <a:ext cx="224522" cy="90938"/>
              <a:chOff x="2881264" y="3593316"/>
              <a:chExt cx="224522" cy="90938"/>
            </a:xfrm>
            <a:grpFill/>
          </p:grpSpPr>
          <p:sp>
            <p:nvSpPr>
              <p:cNvPr id="151" name="Полилиния: фигура 447">
                <a:extLst>
                  <a:ext uri="{FF2B5EF4-FFF2-40B4-BE49-F238E27FC236}">
                    <a16:creationId xmlns:a16="http://schemas.microsoft.com/office/drawing/2014/main" id="{919B62D5-3564-40A4-B08E-0782652BC166}"/>
                  </a:ext>
                </a:extLst>
              </p:cNvPr>
              <p:cNvSpPr/>
              <p:nvPr/>
            </p:nvSpPr>
            <p:spPr>
              <a:xfrm rot="5400000">
                <a:off x="3019031" y="3597499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2" name="Полилиния: фигура 448">
                <a:extLst>
                  <a:ext uri="{FF2B5EF4-FFF2-40B4-BE49-F238E27FC236}">
                    <a16:creationId xmlns:a16="http://schemas.microsoft.com/office/drawing/2014/main" id="{7857D40A-2C6E-49E0-9D14-193D52ADBA9E}"/>
                  </a:ext>
                </a:extLst>
              </p:cNvPr>
              <p:cNvSpPr/>
              <p:nvPr/>
            </p:nvSpPr>
            <p:spPr>
              <a:xfrm rot="5400000">
                <a:off x="2879687" y="3594893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53" name="Группа 240">
            <a:extLst>
              <a:ext uri="{FF2B5EF4-FFF2-40B4-BE49-F238E27FC236}">
                <a16:creationId xmlns:a16="http://schemas.microsoft.com/office/drawing/2014/main" id="{DBC8A0FA-2CED-49ED-8841-4D4926C52F47}"/>
              </a:ext>
            </a:extLst>
          </p:cNvPr>
          <p:cNvGrpSpPr>
            <a:grpSpLocks noChangeAspect="1"/>
          </p:cNvGrpSpPr>
          <p:nvPr/>
        </p:nvGrpSpPr>
        <p:grpSpPr>
          <a:xfrm>
            <a:off x="847002" y="3254867"/>
            <a:ext cx="325648" cy="396285"/>
            <a:chOff x="5048122" y="5215862"/>
            <a:chExt cx="743657" cy="904964"/>
          </a:xfrm>
        </p:grpSpPr>
        <p:sp>
          <p:nvSpPr>
            <p:cNvPr id="154" name="Полилиния: фигура 53">
              <a:extLst>
                <a:ext uri="{FF2B5EF4-FFF2-40B4-BE49-F238E27FC236}">
                  <a16:creationId xmlns:a16="http://schemas.microsoft.com/office/drawing/2014/main" id="{4BBFE77A-68FB-4EE1-B871-69259E1A88FA}"/>
                </a:ext>
              </a:extLst>
            </p:cNvPr>
            <p:cNvSpPr/>
            <p:nvPr/>
          </p:nvSpPr>
          <p:spPr>
            <a:xfrm>
              <a:off x="5244972" y="5951317"/>
              <a:ext cx="240595" cy="79287"/>
            </a:xfrm>
            <a:custGeom>
              <a:avLst/>
              <a:gdLst>
                <a:gd name="connsiteX0" fmla="*/ 0 w 240595"/>
                <a:gd name="connsiteY0" fmla="*/ 0 h 79287"/>
                <a:gd name="connsiteX1" fmla="*/ 240595 w 240595"/>
                <a:gd name="connsiteY1" fmla="*/ 0 h 79287"/>
                <a:gd name="connsiteX2" fmla="*/ 240595 w 240595"/>
                <a:gd name="connsiteY2" fmla="*/ 79287 h 79287"/>
                <a:gd name="connsiteX3" fmla="*/ 0 w 240595"/>
                <a:gd name="connsiteY3" fmla="*/ 79287 h 7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595" h="79287">
                  <a:moveTo>
                    <a:pt x="0" y="0"/>
                  </a:moveTo>
                  <a:lnTo>
                    <a:pt x="240595" y="0"/>
                  </a:lnTo>
                  <a:lnTo>
                    <a:pt x="240595" y="79287"/>
                  </a:lnTo>
                  <a:lnTo>
                    <a:pt x="0" y="7928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54">
              <a:extLst>
                <a:ext uri="{FF2B5EF4-FFF2-40B4-BE49-F238E27FC236}">
                  <a16:creationId xmlns:a16="http://schemas.microsoft.com/office/drawing/2014/main" id="{D77CAF56-8573-44F6-859D-99D935180958}"/>
                </a:ext>
              </a:extLst>
            </p:cNvPr>
            <p:cNvSpPr/>
            <p:nvPr/>
          </p:nvSpPr>
          <p:spPr>
            <a:xfrm>
              <a:off x="5283249" y="6060678"/>
              <a:ext cx="158574" cy="60148"/>
            </a:xfrm>
            <a:custGeom>
              <a:avLst/>
              <a:gdLst>
                <a:gd name="connsiteX0" fmla="*/ 0 w 158574"/>
                <a:gd name="connsiteY0" fmla="*/ 0 h 60148"/>
                <a:gd name="connsiteX1" fmla="*/ 158574 w 158574"/>
                <a:gd name="connsiteY1" fmla="*/ 0 h 60148"/>
                <a:gd name="connsiteX2" fmla="*/ 158574 w 158574"/>
                <a:gd name="connsiteY2" fmla="*/ 60149 h 60148"/>
                <a:gd name="connsiteX3" fmla="*/ 0 w 158574"/>
                <a:gd name="connsiteY3" fmla="*/ 60149 h 6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4" h="60148">
                  <a:moveTo>
                    <a:pt x="0" y="0"/>
                  </a:moveTo>
                  <a:lnTo>
                    <a:pt x="158574" y="0"/>
                  </a:lnTo>
                  <a:lnTo>
                    <a:pt x="158574" y="60149"/>
                  </a:lnTo>
                  <a:lnTo>
                    <a:pt x="0" y="6014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6" name="Рисунок 12">
              <a:extLst>
                <a:ext uri="{FF2B5EF4-FFF2-40B4-BE49-F238E27FC236}">
                  <a16:creationId xmlns:a16="http://schemas.microsoft.com/office/drawing/2014/main" id="{683AC989-438F-4C84-AD26-2452DCC5B6EE}"/>
                </a:ext>
              </a:extLst>
            </p:cNvPr>
            <p:cNvGrpSpPr/>
            <p:nvPr/>
          </p:nvGrpSpPr>
          <p:grpSpPr>
            <a:xfrm>
              <a:off x="5373472" y="5215862"/>
              <a:ext cx="418307" cy="415573"/>
              <a:chOff x="5373472" y="5215862"/>
              <a:chExt cx="418307" cy="415573"/>
            </a:xfrm>
            <a:solidFill>
              <a:srgbClr val="000000"/>
            </a:solidFill>
          </p:grpSpPr>
          <p:sp>
            <p:nvSpPr>
              <p:cNvPr id="157" name="Полилиния: фигура 56">
                <a:extLst>
                  <a:ext uri="{FF2B5EF4-FFF2-40B4-BE49-F238E27FC236}">
                    <a16:creationId xmlns:a16="http://schemas.microsoft.com/office/drawing/2014/main" id="{8EDA5147-8837-4DB3-8990-03DFA5BF34F7}"/>
                  </a:ext>
                </a:extLst>
              </p:cNvPr>
              <p:cNvSpPr/>
              <p:nvPr/>
            </p:nvSpPr>
            <p:spPr>
              <a:xfrm>
                <a:off x="5373472" y="5215862"/>
                <a:ext cx="418307" cy="415573"/>
              </a:xfrm>
              <a:custGeom>
                <a:avLst/>
                <a:gdLst>
                  <a:gd name="connsiteX0" fmla="*/ 251531 w 418307"/>
                  <a:gd name="connsiteY0" fmla="*/ 415573 h 415573"/>
                  <a:gd name="connsiteX1" fmla="*/ 174978 w 418307"/>
                  <a:gd name="connsiteY1" fmla="*/ 415573 h 415573"/>
                  <a:gd name="connsiteX2" fmla="*/ 161308 w 418307"/>
                  <a:gd name="connsiteY2" fmla="*/ 404637 h 415573"/>
                  <a:gd name="connsiteX3" fmla="*/ 155840 w 418307"/>
                  <a:gd name="connsiteY3" fmla="*/ 369095 h 415573"/>
                  <a:gd name="connsiteX4" fmla="*/ 150372 w 418307"/>
                  <a:gd name="connsiteY4" fmla="*/ 366361 h 415573"/>
                  <a:gd name="connsiteX5" fmla="*/ 133968 w 418307"/>
                  <a:gd name="connsiteY5" fmla="*/ 360893 h 415573"/>
                  <a:gd name="connsiteX6" fmla="*/ 103893 w 418307"/>
                  <a:gd name="connsiteY6" fmla="*/ 380031 h 415573"/>
                  <a:gd name="connsiteX7" fmla="*/ 87489 w 418307"/>
                  <a:gd name="connsiteY7" fmla="*/ 377297 h 415573"/>
                  <a:gd name="connsiteX8" fmla="*/ 38276 w 418307"/>
                  <a:gd name="connsiteY8" fmla="*/ 328084 h 415573"/>
                  <a:gd name="connsiteX9" fmla="*/ 35543 w 418307"/>
                  <a:gd name="connsiteY9" fmla="*/ 311680 h 415573"/>
                  <a:gd name="connsiteX10" fmla="*/ 54681 w 418307"/>
                  <a:gd name="connsiteY10" fmla="*/ 284339 h 415573"/>
                  <a:gd name="connsiteX11" fmla="*/ 46479 w 418307"/>
                  <a:gd name="connsiteY11" fmla="*/ 265201 h 415573"/>
                  <a:gd name="connsiteX12" fmla="*/ 10936 w 418307"/>
                  <a:gd name="connsiteY12" fmla="*/ 259733 h 415573"/>
                  <a:gd name="connsiteX13" fmla="*/ 0 w 418307"/>
                  <a:gd name="connsiteY13" fmla="*/ 246063 h 415573"/>
                  <a:gd name="connsiteX14" fmla="*/ 0 w 418307"/>
                  <a:gd name="connsiteY14" fmla="*/ 174978 h 415573"/>
                  <a:gd name="connsiteX15" fmla="*/ 10936 w 418307"/>
                  <a:gd name="connsiteY15" fmla="*/ 161308 h 415573"/>
                  <a:gd name="connsiteX16" fmla="*/ 46479 w 418307"/>
                  <a:gd name="connsiteY16" fmla="*/ 155840 h 415573"/>
                  <a:gd name="connsiteX17" fmla="*/ 49213 w 418307"/>
                  <a:gd name="connsiteY17" fmla="*/ 150372 h 415573"/>
                  <a:gd name="connsiteX18" fmla="*/ 54681 w 418307"/>
                  <a:gd name="connsiteY18" fmla="*/ 133968 h 415573"/>
                  <a:gd name="connsiteX19" fmla="*/ 35543 w 418307"/>
                  <a:gd name="connsiteY19" fmla="*/ 103893 h 415573"/>
                  <a:gd name="connsiteX20" fmla="*/ 38276 w 418307"/>
                  <a:gd name="connsiteY20" fmla="*/ 87489 h 415573"/>
                  <a:gd name="connsiteX21" fmla="*/ 87489 w 418307"/>
                  <a:gd name="connsiteY21" fmla="*/ 38276 h 415573"/>
                  <a:gd name="connsiteX22" fmla="*/ 103893 w 418307"/>
                  <a:gd name="connsiteY22" fmla="*/ 35543 h 415573"/>
                  <a:gd name="connsiteX23" fmla="*/ 131234 w 418307"/>
                  <a:gd name="connsiteY23" fmla="*/ 54681 h 415573"/>
                  <a:gd name="connsiteX24" fmla="*/ 150372 w 418307"/>
                  <a:gd name="connsiteY24" fmla="*/ 46479 h 415573"/>
                  <a:gd name="connsiteX25" fmla="*/ 155840 w 418307"/>
                  <a:gd name="connsiteY25" fmla="*/ 10936 h 415573"/>
                  <a:gd name="connsiteX26" fmla="*/ 169510 w 418307"/>
                  <a:gd name="connsiteY26" fmla="*/ 0 h 415573"/>
                  <a:gd name="connsiteX27" fmla="*/ 248797 w 418307"/>
                  <a:gd name="connsiteY27" fmla="*/ 0 h 415573"/>
                  <a:gd name="connsiteX28" fmla="*/ 262468 w 418307"/>
                  <a:gd name="connsiteY28" fmla="*/ 10936 h 415573"/>
                  <a:gd name="connsiteX29" fmla="*/ 267936 w 418307"/>
                  <a:gd name="connsiteY29" fmla="*/ 46479 h 415573"/>
                  <a:gd name="connsiteX30" fmla="*/ 287074 w 418307"/>
                  <a:gd name="connsiteY30" fmla="*/ 54681 h 415573"/>
                  <a:gd name="connsiteX31" fmla="*/ 314414 w 418307"/>
                  <a:gd name="connsiteY31" fmla="*/ 35543 h 415573"/>
                  <a:gd name="connsiteX32" fmla="*/ 330818 w 418307"/>
                  <a:gd name="connsiteY32" fmla="*/ 38276 h 415573"/>
                  <a:gd name="connsiteX33" fmla="*/ 380031 w 418307"/>
                  <a:gd name="connsiteY33" fmla="*/ 87489 h 415573"/>
                  <a:gd name="connsiteX34" fmla="*/ 382765 w 418307"/>
                  <a:gd name="connsiteY34" fmla="*/ 103893 h 415573"/>
                  <a:gd name="connsiteX35" fmla="*/ 363627 w 418307"/>
                  <a:gd name="connsiteY35" fmla="*/ 133968 h 415573"/>
                  <a:gd name="connsiteX36" fmla="*/ 369095 w 418307"/>
                  <a:gd name="connsiteY36" fmla="*/ 150372 h 415573"/>
                  <a:gd name="connsiteX37" fmla="*/ 371829 w 418307"/>
                  <a:gd name="connsiteY37" fmla="*/ 155840 h 415573"/>
                  <a:gd name="connsiteX38" fmla="*/ 407371 w 418307"/>
                  <a:gd name="connsiteY38" fmla="*/ 161308 h 415573"/>
                  <a:gd name="connsiteX39" fmla="*/ 418307 w 418307"/>
                  <a:gd name="connsiteY39" fmla="*/ 174978 h 415573"/>
                  <a:gd name="connsiteX40" fmla="*/ 418307 w 418307"/>
                  <a:gd name="connsiteY40" fmla="*/ 246063 h 415573"/>
                  <a:gd name="connsiteX41" fmla="*/ 407371 w 418307"/>
                  <a:gd name="connsiteY41" fmla="*/ 259733 h 415573"/>
                  <a:gd name="connsiteX42" fmla="*/ 371829 w 418307"/>
                  <a:gd name="connsiteY42" fmla="*/ 265201 h 415573"/>
                  <a:gd name="connsiteX43" fmla="*/ 363627 w 418307"/>
                  <a:gd name="connsiteY43" fmla="*/ 284339 h 415573"/>
                  <a:gd name="connsiteX44" fmla="*/ 382765 w 418307"/>
                  <a:gd name="connsiteY44" fmla="*/ 311680 h 415573"/>
                  <a:gd name="connsiteX45" fmla="*/ 380031 w 418307"/>
                  <a:gd name="connsiteY45" fmla="*/ 328084 h 415573"/>
                  <a:gd name="connsiteX46" fmla="*/ 330818 w 418307"/>
                  <a:gd name="connsiteY46" fmla="*/ 377297 h 415573"/>
                  <a:gd name="connsiteX47" fmla="*/ 314414 w 418307"/>
                  <a:gd name="connsiteY47" fmla="*/ 380031 h 415573"/>
                  <a:gd name="connsiteX48" fmla="*/ 284339 w 418307"/>
                  <a:gd name="connsiteY48" fmla="*/ 360893 h 415573"/>
                  <a:gd name="connsiteX49" fmla="*/ 267936 w 418307"/>
                  <a:gd name="connsiteY49" fmla="*/ 366361 h 415573"/>
                  <a:gd name="connsiteX50" fmla="*/ 262468 w 418307"/>
                  <a:gd name="connsiteY50" fmla="*/ 369095 h 415573"/>
                  <a:gd name="connsiteX51" fmla="*/ 256999 w 418307"/>
                  <a:gd name="connsiteY51" fmla="*/ 404637 h 415573"/>
                  <a:gd name="connsiteX52" fmla="*/ 251531 w 418307"/>
                  <a:gd name="connsiteY52" fmla="*/ 415573 h 415573"/>
                  <a:gd name="connsiteX53" fmla="*/ 185914 w 418307"/>
                  <a:gd name="connsiteY53" fmla="*/ 388233 h 415573"/>
                  <a:gd name="connsiteX54" fmla="*/ 237861 w 418307"/>
                  <a:gd name="connsiteY54" fmla="*/ 388233 h 415573"/>
                  <a:gd name="connsiteX55" fmla="*/ 243329 w 418307"/>
                  <a:gd name="connsiteY55" fmla="*/ 358158 h 415573"/>
                  <a:gd name="connsiteX56" fmla="*/ 251531 w 418307"/>
                  <a:gd name="connsiteY56" fmla="*/ 347222 h 415573"/>
                  <a:gd name="connsiteX57" fmla="*/ 262468 w 418307"/>
                  <a:gd name="connsiteY57" fmla="*/ 341754 h 415573"/>
                  <a:gd name="connsiteX58" fmla="*/ 284339 w 418307"/>
                  <a:gd name="connsiteY58" fmla="*/ 333552 h 415573"/>
                  <a:gd name="connsiteX59" fmla="*/ 298010 w 418307"/>
                  <a:gd name="connsiteY59" fmla="*/ 333552 h 415573"/>
                  <a:gd name="connsiteX60" fmla="*/ 325350 w 418307"/>
                  <a:gd name="connsiteY60" fmla="*/ 352690 h 415573"/>
                  <a:gd name="connsiteX61" fmla="*/ 358159 w 418307"/>
                  <a:gd name="connsiteY61" fmla="*/ 319882 h 415573"/>
                  <a:gd name="connsiteX62" fmla="*/ 339020 w 418307"/>
                  <a:gd name="connsiteY62" fmla="*/ 292542 h 415573"/>
                  <a:gd name="connsiteX63" fmla="*/ 339020 w 418307"/>
                  <a:gd name="connsiteY63" fmla="*/ 276137 h 415573"/>
                  <a:gd name="connsiteX64" fmla="*/ 352690 w 418307"/>
                  <a:gd name="connsiteY64" fmla="*/ 246063 h 415573"/>
                  <a:gd name="connsiteX65" fmla="*/ 363627 w 418307"/>
                  <a:gd name="connsiteY65" fmla="*/ 235127 h 415573"/>
                  <a:gd name="connsiteX66" fmla="*/ 396435 w 418307"/>
                  <a:gd name="connsiteY66" fmla="*/ 229659 h 415573"/>
                  <a:gd name="connsiteX67" fmla="*/ 396435 w 418307"/>
                  <a:gd name="connsiteY67" fmla="*/ 183180 h 415573"/>
                  <a:gd name="connsiteX68" fmla="*/ 363627 w 418307"/>
                  <a:gd name="connsiteY68" fmla="*/ 177712 h 415573"/>
                  <a:gd name="connsiteX69" fmla="*/ 352690 w 418307"/>
                  <a:gd name="connsiteY69" fmla="*/ 169510 h 415573"/>
                  <a:gd name="connsiteX70" fmla="*/ 347222 w 418307"/>
                  <a:gd name="connsiteY70" fmla="*/ 158574 h 415573"/>
                  <a:gd name="connsiteX71" fmla="*/ 339020 w 418307"/>
                  <a:gd name="connsiteY71" fmla="*/ 136702 h 415573"/>
                  <a:gd name="connsiteX72" fmla="*/ 339020 w 418307"/>
                  <a:gd name="connsiteY72" fmla="*/ 123032 h 415573"/>
                  <a:gd name="connsiteX73" fmla="*/ 358159 w 418307"/>
                  <a:gd name="connsiteY73" fmla="*/ 95691 h 415573"/>
                  <a:gd name="connsiteX74" fmla="*/ 325350 w 418307"/>
                  <a:gd name="connsiteY74" fmla="*/ 62883 h 415573"/>
                  <a:gd name="connsiteX75" fmla="*/ 298010 w 418307"/>
                  <a:gd name="connsiteY75" fmla="*/ 82021 h 415573"/>
                  <a:gd name="connsiteX76" fmla="*/ 281606 w 418307"/>
                  <a:gd name="connsiteY76" fmla="*/ 82021 h 415573"/>
                  <a:gd name="connsiteX77" fmla="*/ 251531 w 418307"/>
                  <a:gd name="connsiteY77" fmla="*/ 68351 h 415573"/>
                  <a:gd name="connsiteX78" fmla="*/ 240595 w 418307"/>
                  <a:gd name="connsiteY78" fmla="*/ 57414 h 415573"/>
                  <a:gd name="connsiteX79" fmla="*/ 235127 w 418307"/>
                  <a:gd name="connsiteY79" fmla="*/ 27340 h 415573"/>
                  <a:gd name="connsiteX80" fmla="*/ 180446 w 418307"/>
                  <a:gd name="connsiteY80" fmla="*/ 27340 h 415573"/>
                  <a:gd name="connsiteX81" fmla="*/ 174978 w 418307"/>
                  <a:gd name="connsiteY81" fmla="*/ 57414 h 415573"/>
                  <a:gd name="connsiteX82" fmla="*/ 164042 w 418307"/>
                  <a:gd name="connsiteY82" fmla="*/ 68351 h 415573"/>
                  <a:gd name="connsiteX83" fmla="*/ 133968 w 418307"/>
                  <a:gd name="connsiteY83" fmla="*/ 82021 h 415573"/>
                  <a:gd name="connsiteX84" fmla="*/ 117564 w 418307"/>
                  <a:gd name="connsiteY84" fmla="*/ 82021 h 415573"/>
                  <a:gd name="connsiteX85" fmla="*/ 90223 w 418307"/>
                  <a:gd name="connsiteY85" fmla="*/ 62883 h 415573"/>
                  <a:gd name="connsiteX86" fmla="*/ 57415 w 418307"/>
                  <a:gd name="connsiteY86" fmla="*/ 95691 h 415573"/>
                  <a:gd name="connsiteX87" fmla="*/ 76553 w 418307"/>
                  <a:gd name="connsiteY87" fmla="*/ 123032 h 415573"/>
                  <a:gd name="connsiteX88" fmla="*/ 76553 w 418307"/>
                  <a:gd name="connsiteY88" fmla="*/ 136702 h 415573"/>
                  <a:gd name="connsiteX89" fmla="*/ 68351 w 418307"/>
                  <a:gd name="connsiteY89" fmla="*/ 158574 h 415573"/>
                  <a:gd name="connsiteX90" fmla="*/ 62883 w 418307"/>
                  <a:gd name="connsiteY90" fmla="*/ 169510 h 415573"/>
                  <a:gd name="connsiteX91" fmla="*/ 51946 w 418307"/>
                  <a:gd name="connsiteY91" fmla="*/ 177712 h 415573"/>
                  <a:gd name="connsiteX92" fmla="*/ 19138 w 418307"/>
                  <a:gd name="connsiteY92" fmla="*/ 183180 h 415573"/>
                  <a:gd name="connsiteX93" fmla="*/ 19138 w 418307"/>
                  <a:gd name="connsiteY93" fmla="*/ 229659 h 415573"/>
                  <a:gd name="connsiteX94" fmla="*/ 51946 w 418307"/>
                  <a:gd name="connsiteY94" fmla="*/ 235127 h 415573"/>
                  <a:gd name="connsiteX95" fmla="*/ 62883 w 418307"/>
                  <a:gd name="connsiteY95" fmla="*/ 246063 h 415573"/>
                  <a:gd name="connsiteX96" fmla="*/ 76553 w 418307"/>
                  <a:gd name="connsiteY96" fmla="*/ 276137 h 415573"/>
                  <a:gd name="connsiteX97" fmla="*/ 76553 w 418307"/>
                  <a:gd name="connsiteY97" fmla="*/ 292542 h 415573"/>
                  <a:gd name="connsiteX98" fmla="*/ 57415 w 418307"/>
                  <a:gd name="connsiteY98" fmla="*/ 319882 h 415573"/>
                  <a:gd name="connsiteX99" fmla="*/ 90223 w 418307"/>
                  <a:gd name="connsiteY99" fmla="*/ 352690 h 415573"/>
                  <a:gd name="connsiteX100" fmla="*/ 117564 w 418307"/>
                  <a:gd name="connsiteY100" fmla="*/ 333552 h 415573"/>
                  <a:gd name="connsiteX101" fmla="*/ 131234 w 418307"/>
                  <a:gd name="connsiteY101" fmla="*/ 333552 h 415573"/>
                  <a:gd name="connsiteX102" fmla="*/ 153106 w 418307"/>
                  <a:gd name="connsiteY102" fmla="*/ 341754 h 415573"/>
                  <a:gd name="connsiteX103" fmla="*/ 164042 w 418307"/>
                  <a:gd name="connsiteY103" fmla="*/ 347222 h 415573"/>
                  <a:gd name="connsiteX104" fmla="*/ 172244 w 418307"/>
                  <a:gd name="connsiteY104" fmla="*/ 358158 h 415573"/>
                  <a:gd name="connsiteX105" fmla="*/ 185914 w 418307"/>
                  <a:gd name="connsiteY105" fmla="*/ 388233 h 415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18307" h="415573">
                    <a:moveTo>
                      <a:pt x="251531" y="415573"/>
                    </a:moveTo>
                    <a:lnTo>
                      <a:pt x="174978" y="415573"/>
                    </a:lnTo>
                    <a:cubicBezTo>
                      <a:pt x="169510" y="415573"/>
                      <a:pt x="161308" y="410105"/>
                      <a:pt x="161308" y="404637"/>
                    </a:cubicBezTo>
                    <a:lnTo>
                      <a:pt x="155840" y="369095"/>
                    </a:lnTo>
                    <a:lnTo>
                      <a:pt x="150372" y="366361"/>
                    </a:lnTo>
                    <a:cubicBezTo>
                      <a:pt x="144904" y="363627"/>
                      <a:pt x="139436" y="360893"/>
                      <a:pt x="133968" y="360893"/>
                    </a:cubicBezTo>
                    <a:lnTo>
                      <a:pt x="103893" y="380031"/>
                    </a:lnTo>
                    <a:cubicBezTo>
                      <a:pt x="98425" y="382765"/>
                      <a:pt x="90223" y="382765"/>
                      <a:pt x="87489" y="377297"/>
                    </a:cubicBezTo>
                    <a:lnTo>
                      <a:pt x="38276" y="328084"/>
                    </a:lnTo>
                    <a:cubicBezTo>
                      <a:pt x="32808" y="322616"/>
                      <a:pt x="32808" y="317148"/>
                      <a:pt x="35543" y="311680"/>
                    </a:cubicBezTo>
                    <a:lnTo>
                      <a:pt x="54681" y="284339"/>
                    </a:lnTo>
                    <a:cubicBezTo>
                      <a:pt x="51946" y="278871"/>
                      <a:pt x="49213" y="270669"/>
                      <a:pt x="46479" y="265201"/>
                    </a:cubicBezTo>
                    <a:lnTo>
                      <a:pt x="10936" y="259733"/>
                    </a:lnTo>
                    <a:cubicBezTo>
                      <a:pt x="5468" y="259733"/>
                      <a:pt x="0" y="254265"/>
                      <a:pt x="0" y="246063"/>
                    </a:cubicBezTo>
                    <a:lnTo>
                      <a:pt x="0" y="174978"/>
                    </a:lnTo>
                    <a:cubicBezTo>
                      <a:pt x="0" y="169510"/>
                      <a:pt x="5468" y="161308"/>
                      <a:pt x="10936" y="161308"/>
                    </a:cubicBezTo>
                    <a:lnTo>
                      <a:pt x="46479" y="155840"/>
                    </a:lnTo>
                    <a:lnTo>
                      <a:pt x="49213" y="150372"/>
                    </a:lnTo>
                    <a:cubicBezTo>
                      <a:pt x="51946" y="144904"/>
                      <a:pt x="54681" y="139436"/>
                      <a:pt x="54681" y="133968"/>
                    </a:cubicBezTo>
                    <a:lnTo>
                      <a:pt x="35543" y="103893"/>
                    </a:lnTo>
                    <a:cubicBezTo>
                      <a:pt x="32808" y="98425"/>
                      <a:pt x="32808" y="90223"/>
                      <a:pt x="38276" y="87489"/>
                    </a:cubicBezTo>
                    <a:lnTo>
                      <a:pt x="87489" y="38276"/>
                    </a:lnTo>
                    <a:cubicBezTo>
                      <a:pt x="92957" y="32808"/>
                      <a:pt x="98425" y="32808"/>
                      <a:pt x="103893" y="35543"/>
                    </a:cubicBezTo>
                    <a:lnTo>
                      <a:pt x="131234" y="54681"/>
                    </a:lnTo>
                    <a:cubicBezTo>
                      <a:pt x="136702" y="51946"/>
                      <a:pt x="144904" y="49213"/>
                      <a:pt x="150372" y="46479"/>
                    </a:cubicBezTo>
                    <a:lnTo>
                      <a:pt x="155840" y="10936"/>
                    </a:lnTo>
                    <a:cubicBezTo>
                      <a:pt x="155840" y="5468"/>
                      <a:pt x="161308" y="0"/>
                      <a:pt x="169510" y="0"/>
                    </a:cubicBezTo>
                    <a:lnTo>
                      <a:pt x="248797" y="0"/>
                    </a:lnTo>
                    <a:cubicBezTo>
                      <a:pt x="254265" y="0"/>
                      <a:pt x="262468" y="5468"/>
                      <a:pt x="262468" y="10936"/>
                    </a:cubicBezTo>
                    <a:lnTo>
                      <a:pt x="267936" y="46479"/>
                    </a:lnTo>
                    <a:cubicBezTo>
                      <a:pt x="276138" y="49213"/>
                      <a:pt x="281606" y="51946"/>
                      <a:pt x="287074" y="54681"/>
                    </a:cubicBezTo>
                    <a:lnTo>
                      <a:pt x="314414" y="35543"/>
                    </a:lnTo>
                    <a:cubicBezTo>
                      <a:pt x="319882" y="32808"/>
                      <a:pt x="328084" y="32808"/>
                      <a:pt x="330818" y="38276"/>
                    </a:cubicBezTo>
                    <a:lnTo>
                      <a:pt x="380031" y="87489"/>
                    </a:lnTo>
                    <a:cubicBezTo>
                      <a:pt x="385499" y="92957"/>
                      <a:pt x="385499" y="98425"/>
                      <a:pt x="382765" y="103893"/>
                    </a:cubicBezTo>
                    <a:lnTo>
                      <a:pt x="363627" y="133968"/>
                    </a:lnTo>
                    <a:cubicBezTo>
                      <a:pt x="366361" y="139436"/>
                      <a:pt x="369095" y="144904"/>
                      <a:pt x="369095" y="150372"/>
                    </a:cubicBezTo>
                    <a:lnTo>
                      <a:pt x="371829" y="155840"/>
                    </a:lnTo>
                    <a:lnTo>
                      <a:pt x="407371" y="161308"/>
                    </a:lnTo>
                    <a:cubicBezTo>
                      <a:pt x="412839" y="161308"/>
                      <a:pt x="418307" y="166776"/>
                      <a:pt x="418307" y="174978"/>
                    </a:cubicBezTo>
                    <a:lnTo>
                      <a:pt x="418307" y="246063"/>
                    </a:lnTo>
                    <a:cubicBezTo>
                      <a:pt x="418307" y="251531"/>
                      <a:pt x="412839" y="259733"/>
                      <a:pt x="407371" y="259733"/>
                    </a:cubicBezTo>
                    <a:lnTo>
                      <a:pt x="371829" y="265201"/>
                    </a:lnTo>
                    <a:cubicBezTo>
                      <a:pt x="369095" y="273403"/>
                      <a:pt x="366361" y="278871"/>
                      <a:pt x="363627" y="284339"/>
                    </a:cubicBezTo>
                    <a:lnTo>
                      <a:pt x="382765" y="311680"/>
                    </a:lnTo>
                    <a:cubicBezTo>
                      <a:pt x="385499" y="317148"/>
                      <a:pt x="385499" y="325350"/>
                      <a:pt x="380031" y="328084"/>
                    </a:cubicBezTo>
                    <a:lnTo>
                      <a:pt x="330818" y="377297"/>
                    </a:lnTo>
                    <a:cubicBezTo>
                      <a:pt x="325350" y="382765"/>
                      <a:pt x="319882" y="382765"/>
                      <a:pt x="314414" y="380031"/>
                    </a:cubicBezTo>
                    <a:lnTo>
                      <a:pt x="284339" y="360893"/>
                    </a:lnTo>
                    <a:cubicBezTo>
                      <a:pt x="278871" y="363627"/>
                      <a:pt x="273403" y="366361"/>
                      <a:pt x="267936" y="366361"/>
                    </a:cubicBezTo>
                    <a:lnTo>
                      <a:pt x="262468" y="369095"/>
                    </a:lnTo>
                    <a:lnTo>
                      <a:pt x="256999" y="404637"/>
                    </a:lnTo>
                    <a:cubicBezTo>
                      <a:pt x="265201" y="410105"/>
                      <a:pt x="259733" y="415573"/>
                      <a:pt x="251531" y="415573"/>
                    </a:cubicBezTo>
                    <a:close/>
                    <a:moveTo>
                      <a:pt x="185914" y="388233"/>
                    </a:moveTo>
                    <a:lnTo>
                      <a:pt x="237861" y="388233"/>
                    </a:lnTo>
                    <a:lnTo>
                      <a:pt x="243329" y="358158"/>
                    </a:lnTo>
                    <a:cubicBezTo>
                      <a:pt x="243329" y="352690"/>
                      <a:pt x="246063" y="349957"/>
                      <a:pt x="251531" y="347222"/>
                    </a:cubicBezTo>
                    <a:lnTo>
                      <a:pt x="262468" y="341754"/>
                    </a:lnTo>
                    <a:cubicBezTo>
                      <a:pt x="270669" y="339020"/>
                      <a:pt x="276138" y="336286"/>
                      <a:pt x="284339" y="333552"/>
                    </a:cubicBezTo>
                    <a:cubicBezTo>
                      <a:pt x="289808" y="330818"/>
                      <a:pt x="295276" y="330818"/>
                      <a:pt x="298010" y="333552"/>
                    </a:cubicBezTo>
                    <a:lnTo>
                      <a:pt x="325350" y="352690"/>
                    </a:lnTo>
                    <a:lnTo>
                      <a:pt x="358159" y="319882"/>
                    </a:lnTo>
                    <a:lnTo>
                      <a:pt x="339020" y="292542"/>
                    </a:lnTo>
                    <a:cubicBezTo>
                      <a:pt x="336286" y="287074"/>
                      <a:pt x="336286" y="281606"/>
                      <a:pt x="339020" y="276137"/>
                    </a:cubicBezTo>
                    <a:cubicBezTo>
                      <a:pt x="344489" y="267936"/>
                      <a:pt x="349957" y="256999"/>
                      <a:pt x="352690" y="246063"/>
                    </a:cubicBezTo>
                    <a:cubicBezTo>
                      <a:pt x="355425" y="240595"/>
                      <a:pt x="358159" y="237861"/>
                      <a:pt x="363627" y="235127"/>
                    </a:cubicBezTo>
                    <a:lnTo>
                      <a:pt x="396435" y="229659"/>
                    </a:lnTo>
                    <a:lnTo>
                      <a:pt x="396435" y="183180"/>
                    </a:lnTo>
                    <a:lnTo>
                      <a:pt x="363627" y="177712"/>
                    </a:lnTo>
                    <a:cubicBezTo>
                      <a:pt x="358159" y="177712"/>
                      <a:pt x="355425" y="174978"/>
                      <a:pt x="352690" y="169510"/>
                    </a:cubicBezTo>
                    <a:lnTo>
                      <a:pt x="347222" y="158574"/>
                    </a:lnTo>
                    <a:cubicBezTo>
                      <a:pt x="344489" y="150372"/>
                      <a:pt x="341754" y="144904"/>
                      <a:pt x="339020" y="136702"/>
                    </a:cubicBezTo>
                    <a:cubicBezTo>
                      <a:pt x="336286" y="131234"/>
                      <a:pt x="336286" y="125765"/>
                      <a:pt x="339020" y="123032"/>
                    </a:cubicBezTo>
                    <a:lnTo>
                      <a:pt x="358159" y="95691"/>
                    </a:lnTo>
                    <a:lnTo>
                      <a:pt x="325350" y="62883"/>
                    </a:lnTo>
                    <a:lnTo>
                      <a:pt x="298010" y="82021"/>
                    </a:lnTo>
                    <a:cubicBezTo>
                      <a:pt x="292542" y="84755"/>
                      <a:pt x="287074" y="84755"/>
                      <a:pt x="281606" y="82021"/>
                    </a:cubicBezTo>
                    <a:cubicBezTo>
                      <a:pt x="273403" y="76553"/>
                      <a:pt x="262468" y="73819"/>
                      <a:pt x="251531" y="68351"/>
                    </a:cubicBezTo>
                    <a:cubicBezTo>
                      <a:pt x="246063" y="65617"/>
                      <a:pt x="243329" y="62883"/>
                      <a:pt x="240595" y="57414"/>
                    </a:cubicBezTo>
                    <a:lnTo>
                      <a:pt x="235127" y="27340"/>
                    </a:lnTo>
                    <a:lnTo>
                      <a:pt x="180446" y="27340"/>
                    </a:lnTo>
                    <a:lnTo>
                      <a:pt x="174978" y="57414"/>
                    </a:lnTo>
                    <a:cubicBezTo>
                      <a:pt x="174978" y="62883"/>
                      <a:pt x="169510" y="68351"/>
                      <a:pt x="164042" y="68351"/>
                    </a:cubicBezTo>
                    <a:cubicBezTo>
                      <a:pt x="153106" y="71085"/>
                      <a:pt x="144904" y="73819"/>
                      <a:pt x="133968" y="82021"/>
                    </a:cubicBezTo>
                    <a:cubicBezTo>
                      <a:pt x="128500" y="84755"/>
                      <a:pt x="123032" y="84755"/>
                      <a:pt x="117564" y="82021"/>
                    </a:cubicBezTo>
                    <a:lnTo>
                      <a:pt x="90223" y="62883"/>
                    </a:lnTo>
                    <a:lnTo>
                      <a:pt x="57415" y="95691"/>
                    </a:lnTo>
                    <a:lnTo>
                      <a:pt x="76553" y="123032"/>
                    </a:lnTo>
                    <a:cubicBezTo>
                      <a:pt x="79287" y="128500"/>
                      <a:pt x="79287" y="131234"/>
                      <a:pt x="76553" y="136702"/>
                    </a:cubicBezTo>
                    <a:cubicBezTo>
                      <a:pt x="73819" y="142170"/>
                      <a:pt x="71085" y="150372"/>
                      <a:pt x="68351" y="158574"/>
                    </a:cubicBezTo>
                    <a:lnTo>
                      <a:pt x="62883" y="169510"/>
                    </a:lnTo>
                    <a:cubicBezTo>
                      <a:pt x="60149" y="174978"/>
                      <a:pt x="57415" y="177712"/>
                      <a:pt x="51946" y="177712"/>
                    </a:cubicBezTo>
                    <a:lnTo>
                      <a:pt x="19138" y="183180"/>
                    </a:lnTo>
                    <a:lnTo>
                      <a:pt x="19138" y="229659"/>
                    </a:lnTo>
                    <a:lnTo>
                      <a:pt x="51946" y="235127"/>
                    </a:lnTo>
                    <a:cubicBezTo>
                      <a:pt x="57415" y="235127"/>
                      <a:pt x="62883" y="240595"/>
                      <a:pt x="62883" y="246063"/>
                    </a:cubicBezTo>
                    <a:cubicBezTo>
                      <a:pt x="65617" y="256999"/>
                      <a:pt x="68351" y="265201"/>
                      <a:pt x="76553" y="276137"/>
                    </a:cubicBezTo>
                    <a:cubicBezTo>
                      <a:pt x="79287" y="281606"/>
                      <a:pt x="79287" y="287074"/>
                      <a:pt x="76553" y="292542"/>
                    </a:cubicBezTo>
                    <a:lnTo>
                      <a:pt x="57415" y="319882"/>
                    </a:lnTo>
                    <a:lnTo>
                      <a:pt x="90223" y="352690"/>
                    </a:lnTo>
                    <a:lnTo>
                      <a:pt x="117564" y="333552"/>
                    </a:lnTo>
                    <a:cubicBezTo>
                      <a:pt x="123032" y="330818"/>
                      <a:pt x="125766" y="330818"/>
                      <a:pt x="131234" y="333552"/>
                    </a:cubicBezTo>
                    <a:cubicBezTo>
                      <a:pt x="136702" y="336286"/>
                      <a:pt x="144904" y="339020"/>
                      <a:pt x="153106" y="341754"/>
                    </a:cubicBezTo>
                    <a:lnTo>
                      <a:pt x="164042" y="347222"/>
                    </a:lnTo>
                    <a:cubicBezTo>
                      <a:pt x="169510" y="349957"/>
                      <a:pt x="172244" y="352690"/>
                      <a:pt x="172244" y="358158"/>
                    </a:cubicBezTo>
                    <a:lnTo>
                      <a:pt x="185914" y="388233"/>
                    </a:lnTo>
                    <a:close/>
                  </a:path>
                </a:pathLst>
              </a:custGeom>
              <a:solidFill>
                <a:srgbClr val="FFFFFF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8" name="Полилиния: фигура 57">
                <a:extLst>
                  <a:ext uri="{FF2B5EF4-FFF2-40B4-BE49-F238E27FC236}">
                    <a16:creationId xmlns:a16="http://schemas.microsoft.com/office/drawing/2014/main" id="{E9A9FA90-7EDE-4A9C-8BC9-B97B191FB17C}"/>
                  </a:ext>
                </a:extLst>
              </p:cNvPr>
              <p:cNvSpPr/>
              <p:nvPr/>
            </p:nvSpPr>
            <p:spPr>
              <a:xfrm>
                <a:off x="5504706" y="5336159"/>
                <a:ext cx="164042" cy="169510"/>
              </a:xfrm>
              <a:custGeom>
                <a:avLst/>
                <a:gdLst>
                  <a:gd name="connsiteX0" fmla="*/ 82021 w 164042"/>
                  <a:gd name="connsiteY0" fmla="*/ 169510 h 169510"/>
                  <a:gd name="connsiteX1" fmla="*/ 0 w 164042"/>
                  <a:gd name="connsiteY1" fmla="*/ 84755 h 169510"/>
                  <a:gd name="connsiteX2" fmla="*/ 82021 w 164042"/>
                  <a:gd name="connsiteY2" fmla="*/ 0 h 169510"/>
                  <a:gd name="connsiteX3" fmla="*/ 82021 w 164042"/>
                  <a:gd name="connsiteY3" fmla="*/ 0 h 169510"/>
                  <a:gd name="connsiteX4" fmla="*/ 164042 w 164042"/>
                  <a:gd name="connsiteY4" fmla="*/ 84755 h 169510"/>
                  <a:gd name="connsiteX5" fmla="*/ 82021 w 164042"/>
                  <a:gd name="connsiteY5" fmla="*/ 169510 h 169510"/>
                  <a:gd name="connsiteX6" fmla="*/ 82021 w 164042"/>
                  <a:gd name="connsiteY6" fmla="*/ 30075 h 169510"/>
                  <a:gd name="connsiteX7" fmla="*/ 27340 w 164042"/>
                  <a:gd name="connsiteY7" fmla="*/ 87489 h 169510"/>
                  <a:gd name="connsiteX8" fmla="*/ 82021 w 164042"/>
                  <a:gd name="connsiteY8" fmla="*/ 144904 h 169510"/>
                  <a:gd name="connsiteX9" fmla="*/ 136702 w 164042"/>
                  <a:gd name="connsiteY9" fmla="*/ 87489 h 169510"/>
                  <a:gd name="connsiteX10" fmla="*/ 82021 w 164042"/>
                  <a:gd name="connsiteY10" fmla="*/ 30075 h 16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042" h="169510">
                    <a:moveTo>
                      <a:pt x="82021" y="169510"/>
                    </a:moveTo>
                    <a:cubicBezTo>
                      <a:pt x="35543" y="169510"/>
                      <a:pt x="0" y="131234"/>
                      <a:pt x="0" y="84755"/>
                    </a:cubicBezTo>
                    <a:cubicBezTo>
                      <a:pt x="0" y="38277"/>
                      <a:pt x="38276" y="2734"/>
                      <a:pt x="82021" y="0"/>
                    </a:cubicBezTo>
                    <a:cubicBezTo>
                      <a:pt x="82021" y="0"/>
                      <a:pt x="82021" y="0"/>
                      <a:pt x="82021" y="0"/>
                    </a:cubicBezTo>
                    <a:cubicBezTo>
                      <a:pt x="128500" y="0"/>
                      <a:pt x="164042" y="38277"/>
                      <a:pt x="164042" y="84755"/>
                    </a:cubicBezTo>
                    <a:cubicBezTo>
                      <a:pt x="164042" y="131234"/>
                      <a:pt x="128500" y="169510"/>
                      <a:pt x="82021" y="169510"/>
                    </a:cubicBezTo>
                    <a:close/>
                    <a:moveTo>
                      <a:pt x="82021" y="30075"/>
                    </a:moveTo>
                    <a:cubicBezTo>
                      <a:pt x="51946" y="30075"/>
                      <a:pt x="27340" y="54681"/>
                      <a:pt x="27340" y="87489"/>
                    </a:cubicBezTo>
                    <a:cubicBezTo>
                      <a:pt x="27340" y="117564"/>
                      <a:pt x="51946" y="142170"/>
                      <a:pt x="82021" y="144904"/>
                    </a:cubicBezTo>
                    <a:cubicBezTo>
                      <a:pt x="112095" y="144904"/>
                      <a:pt x="136702" y="120298"/>
                      <a:pt x="136702" y="87489"/>
                    </a:cubicBezTo>
                    <a:cubicBezTo>
                      <a:pt x="136702" y="54681"/>
                      <a:pt x="112095" y="30075"/>
                      <a:pt x="82021" y="300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59" name="Полилиния: фигура 58">
              <a:extLst>
                <a:ext uri="{FF2B5EF4-FFF2-40B4-BE49-F238E27FC236}">
                  <a16:creationId xmlns:a16="http://schemas.microsoft.com/office/drawing/2014/main" id="{AB2DEBA6-9EB8-41CD-A2B3-233841892479}"/>
                </a:ext>
              </a:extLst>
            </p:cNvPr>
            <p:cNvSpPr/>
            <p:nvPr/>
          </p:nvSpPr>
          <p:spPr>
            <a:xfrm>
              <a:off x="5048122" y="5224064"/>
              <a:ext cx="339020" cy="683508"/>
            </a:xfrm>
            <a:custGeom>
              <a:avLst/>
              <a:gdLst>
                <a:gd name="connsiteX0" fmla="*/ 224191 w 339020"/>
                <a:gd name="connsiteY0" fmla="*/ 683509 h 683508"/>
                <a:gd name="connsiteX1" fmla="*/ 196850 w 339020"/>
                <a:gd name="connsiteY1" fmla="*/ 683509 h 683508"/>
                <a:gd name="connsiteX2" fmla="*/ 196850 w 339020"/>
                <a:gd name="connsiteY2" fmla="*/ 601488 h 683508"/>
                <a:gd name="connsiteX3" fmla="*/ 0 w 339020"/>
                <a:gd name="connsiteY3" fmla="*/ 311680 h 683508"/>
                <a:gd name="connsiteX4" fmla="*/ 311680 w 339020"/>
                <a:gd name="connsiteY4" fmla="*/ 0 h 683508"/>
                <a:gd name="connsiteX5" fmla="*/ 339020 w 339020"/>
                <a:gd name="connsiteY5" fmla="*/ 0 h 683508"/>
                <a:gd name="connsiteX6" fmla="*/ 336286 w 339020"/>
                <a:gd name="connsiteY6" fmla="*/ 27340 h 683508"/>
                <a:gd name="connsiteX7" fmla="*/ 311680 w 339020"/>
                <a:gd name="connsiteY7" fmla="*/ 27340 h 683508"/>
                <a:gd name="connsiteX8" fmla="*/ 27340 w 339020"/>
                <a:gd name="connsiteY8" fmla="*/ 311680 h 683508"/>
                <a:gd name="connsiteX9" fmla="*/ 215989 w 339020"/>
                <a:gd name="connsiteY9" fmla="*/ 579615 h 683508"/>
                <a:gd name="connsiteX10" fmla="*/ 224191 w 339020"/>
                <a:gd name="connsiteY10" fmla="*/ 582349 h 683508"/>
                <a:gd name="connsiteX11" fmla="*/ 224191 w 339020"/>
                <a:gd name="connsiteY11" fmla="*/ 683509 h 68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9020" h="683508">
                  <a:moveTo>
                    <a:pt x="224191" y="683509"/>
                  </a:moveTo>
                  <a:lnTo>
                    <a:pt x="196850" y="683509"/>
                  </a:lnTo>
                  <a:lnTo>
                    <a:pt x="196850" y="601488"/>
                  </a:lnTo>
                  <a:cubicBezTo>
                    <a:pt x="79287" y="555009"/>
                    <a:pt x="0" y="440179"/>
                    <a:pt x="0" y="311680"/>
                  </a:cubicBezTo>
                  <a:cubicBezTo>
                    <a:pt x="0" y="139436"/>
                    <a:pt x="139436" y="0"/>
                    <a:pt x="311680" y="0"/>
                  </a:cubicBezTo>
                  <a:cubicBezTo>
                    <a:pt x="319882" y="0"/>
                    <a:pt x="328084" y="0"/>
                    <a:pt x="339020" y="0"/>
                  </a:cubicBezTo>
                  <a:lnTo>
                    <a:pt x="336286" y="27340"/>
                  </a:lnTo>
                  <a:cubicBezTo>
                    <a:pt x="328084" y="27340"/>
                    <a:pt x="319882" y="27340"/>
                    <a:pt x="311680" y="27340"/>
                  </a:cubicBezTo>
                  <a:cubicBezTo>
                    <a:pt x="155840" y="27340"/>
                    <a:pt x="27340" y="155840"/>
                    <a:pt x="27340" y="311680"/>
                  </a:cubicBezTo>
                  <a:cubicBezTo>
                    <a:pt x="27340" y="431977"/>
                    <a:pt x="103893" y="538605"/>
                    <a:pt x="215989" y="579615"/>
                  </a:cubicBezTo>
                  <a:lnTo>
                    <a:pt x="224191" y="582349"/>
                  </a:lnTo>
                  <a:lnTo>
                    <a:pt x="224191" y="68350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59">
              <a:extLst>
                <a:ext uri="{FF2B5EF4-FFF2-40B4-BE49-F238E27FC236}">
                  <a16:creationId xmlns:a16="http://schemas.microsoft.com/office/drawing/2014/main" id="{DD3BE9A9-B7EC-4375-9C63-4CBDE445446B}"/>
                </a:ext>
              </a:extLst>
            </p:cNvPr>
            <p:cNvSpPr/>
            <p:nvPr/>
          </p:nvSpPr>
          <p:spPr>
            <a:xfrm>
              <a:off x="5452759" y="5658775"/>
              <a:ext cx="185914" cy="248797"/>
            </a:xfrm>
            <a:custGeom>
              <a:avLst/>
              <a:gdLst>
                <a:gd name="connsiteX0" fmla="*/ 27340 w 185914"/>
                <a:gd name="connsiteY0" fmla="*/ 248797 h 248797"/>
                <a:gd name="connsiteX1" fmla="*/ 0 w 185914"/>
                <a:gd name="connsiteY1" fmla="*/ 248797 h 248797"/>
                <a:gd name="connsiteX2" fmla="*/ 0 w 185914"/>
                <a:gd name="connsiteY2" fmla="*/ 144904 h 248797"/>
                <a:gd name="connsiteX3" fmla="*/ 8202 w 185914"/>
                <a:gd name="connsiteY3" fmla="*/ 142170 h 248797"/>
                <a:gd name="connsiteX4" fmla="*/ 161308 w 185914"/>
                <a:gd name="connsiteY4" fmla="*/ 0 h 248797"/>
                <a:gd name="connsiteX5" fmla="*/ 185914 w 185914"/>
                <a:gd name="connsiteY5" fmla="*/ 10936 h 248797"/>
                <a:gd name="connsiteX6" fmla="*/ 27340 w 185914"/>
                <a:gd name="connsiteY6" fmla="*/ 164042 h 248797"/>
                <a:gd name="connsiteX7" fmla="*/ 27340 w 185914"/>
                <a:gd name="connsiteY7" fmla="*/ 248797 h 24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14" h="248797">
                  <a:moveTo>
                    <a:pt x="27340" y="248797"/>
                  </a:moveTo>
                  <a:lnTo>
                    <a:pt x="0" y="248797"/>
                  </a:lnTo>
                  <a:lnTo>
                    <a:pt x="0" y="144904"/>
                  </a:lnTo>
                  <a:lnTo>
                    <a:pt x="8202" y="142170"/>
                  </a:lnTo>
                  <a:cubicBezTo>
                    <a:pt x="76553" y="114829"/>
                    <a:pt x="128500" y="65617"/>
                    <a:pt x="161308" y="0"/>
                  </a:cubicBezTo>
                  <a:lnTo>
                    <a:pt x="185914" y="10936"/>
                  </a:lnTo>
                  <a:cubicBezTo>
                    <a:pt x="153106" y="79287"/>
                    <a:pt x="95691" y="133968"/>
                    <a:pt x="27340" y="164042"/>
                  </a:cubicBezTo>
                  <a:lnTo>
                    <a:pt x="27340" y="24879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60">
              <a:extLst>
                <a:ext uri="{FF2B5EF4-FFF2-40B4-BE49-F238E27FC236}">
                  <a16:creationId xmlns:a16="http://schemas.microsoft.com/office/drawing/2014/main" id="{A4125F2E-7766-4701-8FDB-7D73DBB980BC}"/>
                </a:ext>
              </a:extLst>
            </p:cNvPr>
            <p:cNvSpPr/>
            <p:nvPr/>
          </p:nvSpPr>
          <p:spPr>
            <a:xfrm>
              <a:off x="5346132" y="5579488"/>
              <a:ext cx="27340" cy="328084"/>
            </a:xfrm>
            <a:custGeom>
              <a:avLst/>
              <a:gdLst>
                <a:gd name="connsiteX0" fmla="*/ 0 w 27340"/>
                <a:gd name="connsiteY0" fmla="*/ 0 h 328084"/>
                <a:gd name="connsiteX1" fmla="*/ 27340 w 27340"/>
                <a:gd name="connsiteY1" fmla="*/ 0 h 328084"/>
                <a:gd name="connsiteX2" fmla="*/ 27340 w 27340"/>
                <a:gd name="connsiteY2" fmla="*/ 328084 h 328084"/>
                <a:gd name="connsiteX3" fmla="*/ 0 w 27340"/>
                <a:gd name="connsiteY3" fmla="*/ 328084 h 328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328084">
                  <a:moveTo>
                    <a:pt x="0" y="0"/>
                  </a:moveTo>
                  <a:lnTo>
                    <a:pt x="27340" y="0"/>
                  </a:lnTo>
                  <a:lnTo>
                    <a:pt x="27340" y="328084"/>
                  </a:lnTo>
                  <a:lnTo>
                    <a:pt x="0" y="328084"/>
                  </a:ln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61">
              <a:extLst>
                <a:ext uri="{FF2B5EF4-FFF2-40B4-BE49-F238E27FC236}">
                  <a16:creationId xmlns:a16="http://schemas.microsoft.com/office/drawing/2014/main" id="{72BDFD80-ABA7-407D-BCAE-39D5B1BCCE05}"/>
                </a:ext>
              </a:extLst>
            </p:cNvPr>
            <p:cNvSpPr/>
            <p:nvPr/>
          </p:nvSpPr>
          <p:spPr>
            <a:xfrm rot="10800000">
              <a:off x="5212929" y="5464905"/>
              <a:ext cx="95691" cy="92957"/>
            </a:xfrm>
            <a:custGeom>
              <a:avLst/>
              <a:gdLst>
                <a:gd name="connsiteX0" fmla="*/ 0 w 95691"/>
                <a:gd name="connsiteY0" fmla="*/ 0 h 92957"/>
                <a:gd name="connsiteX1" fmla="*/ 95691 w 95691"/>
                <a:gd name="connsiteY1" fmla="*/ 0 h 92957"/>
                <a:gd name="connsiteX2" fmla="*/ 95691 w 95691"/>
                <a:gd name="connsiteY2" fmla="*/ 92957 h 92957"/>
                <a:gd name="connsiteX3" fmla="*/ 0 w 95691"/>
                <a:gd name="connsiteY3" fmla="*/ 92957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92957">
                  <a:moveTo>
                    <a:pt x="0" y="0"/>
                  </a:moveTo>
                  <a:lnTo>
                    <a:pt x="95691" y="0"/>
                  </a:lnTo>
                  <a:lnTo>
                    <a:pt x="95691" y="92957"/>
                  </a:lnTo>
                  <a:lnTo>
                    <a:pt x="0" y="92957"/>
                  </a:ln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3" name="Группа 241">
            <a:extLst>
              <a:ext uri="{FF2B5EF4-FFF2-40B4-BE49-F238E27FC236}">
                <a16:creationId xmlns:a16="http://schemas.microsoft.com/office/drawing/2014/main" id="{35D66948-B6C6-47DD-8414-C3ECDB6FE8B2}"/>
              </a:ext>
            </a:extLst>
          </p:cNvPr>
          <p:cNvGrpSpPr>
            <a:grpSpLocks noChangeAspect="1"/>
          </p:cNvGrpSpPr>
          <p:nvPr/>
        </p:nvGrpSpPr>
        <p:grpSpPr>
          <a:xfrm>
            <a:off x="3428608" y="4143425"/>
            <a:ext cx="439238" cy="448282"/>
            <a:chOff x="6497160" y="5202191"/>
            <a:chExt cx="929571" cy="948710"/>
          </a:xfrm>
        </p:grpSpPr>
        <p:sp>
          <p:nvSpPr>
            <p:cNvPr id="164" name="Полилиния: фигура 35">
              <a:extLst>
                <a:ext uri="{FF2B5EF4-FFF2-40B4-BE49-F238E27FC236}">
                  <a16:creationId xmlns:a16="http://schemas.microsoft.com/office/drawing/2014/main" id="{7770F019-FF0B-44BE-8497-35D563D48828}"/>
                </a:ext>
              </a:extLst>
            </p:cNvPr>
            <p:cNvSpPr/>
            <p:nvPr/>
          </p:nvSpPr>
          <p:spPr>
            <a:xfrm>
              <a:off x="6776032" y="5478329"/>
              <a:ext cx="388232" cy="390967"/>
            </a:xfrm>
            <a:custGeom>
              <a:avLst/>
              <a:gdLst>
                <a:gd name="connsiteX0" fmla="*/ 388233 w 388232"/>
                <a:gd name="connsiteY0" fmla="*/ 390967 h 390967"/>
                <a:gd name="connsiteX1" fmla="*/ 0 w 388232"/>
                <a:gd name="connsiteY1" fmla="*/ 390967 h 390967"/>
                <a:gd name="connsiteX2" fmla="*/ 0 w 388232"/>
                <a:gd name="connsiteY2" fmla="*/ 319882 h 390967"/>
                <a:gd name="connsiteX3" fmla="*/ 27340 w 388232"/>
                <a:gd name="connsiteY3" fmla="*/ 319882 h 390967"/>
                <a:gd name="connsiteX4" fmla="*/ 27340 w 388232"/>
                <a:gd name="connsiteY4" fmla="*/ 363627 h 390967"/>
                <a:gd name="connsiteX5" fmla="*/ 360893 w 388232"/>
                <a:gd name="connsiteY5" fmla="*/ 363627 h 390967"/>
                <a:gd name="connsiteX6" fmla="*/ 360893 w 388232"/>
                <a:gd name="connsiteY6" fmla="*/ 27340 h 390967"/>
                <a:gd name="connsiteX7" fmla="*/ 27340 w 388232"/>
                <a:gd name="connsiteY7" fmla="*/ 27340 h 390967"/>
                <a:gd name="connsiteX8" fmla="*/ 27340 w 388232"/>
                <a:gd name="connsiteY8" fmla="*/ 183181 h 390967"/>
                <a:gd name="connsiteX9" fmla="*/ 0 w 388232"/>
                <a:gd name="connsiteY9" fmla="*/ 183181 h 390967"/>
                <a:gd name="connsiteX10" fmla="*/ 0 w 388232"/>
                <a:gd name="connsiteY10" fmla="*/ 0 h 390967"/>
                <a:gd name="connsiteX11" fmla="*/ 388233 w 388232"/>
                <a:gd name="connsiteY11" fmla="*/ 0 h 39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232" h="390967">
                  <a:moveTo>
                    <a:pt x="388233" y="390967"/>
                  </a:moveTo>
                  <a:lnTo>
                    <a:pt x="0" y="390967"/>
                  </a:lnTo>
                  <a:lnTo>
                    <a:pt x="0" y="319882"/>
                  </a:lnTo>
                  <a:lnTo>
                    <a:pt x="27340" y="319882"/>
                  </a:lnTo>
                  <a:lnTo>
                    <a:pt x="27340" y="363627"/>
                  </a:lnTo>
                  <a:lnTo>
                    <a:pt x="360893" y="363627"/>
                  </a:lnTo>
                  <a:lnTo>
                    <a:pt x="360893" y="27340"/>
                  </a:lnTo>
                  <a:lnTo>
                    <a:pt x="27340" y="27340"/>
                  </a:lnTo>
                  <a:lnTo>
                    <a:pt x="27340" y="183181"/>
                  </a:lnTo>
                  <a:lnTo>
                    <a:pt x="0" y="183181"/>
                  </a:lnTo>
                  <a:lnTo>
                    <a:pt x="0" y="0"/>
                  </a:lnTo>
                  <a:lnTo>
                    <a:pt x="388233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6">
              <a:extLst>
                <a:ext uri="{FF2B5EF4-FFF2-40B4-BE49-F238E27FC236}">
                  <a16:creationId xmlns:a16="http://schemas.microsoft.com/office/drawing/2014/main" id="{C5D27492-8E2D-495F-BC26-9D14EF0030EE}"/>
                </a:ext>
              </a:extLst>
            </p:cNvPr>
            <p:cNvSpPr/>
            <p:nvPr/>
          </p:nvSpPr>
          <p:spPr>
            <a:xfrm>
              <a:off x="6871723" y="5576754"/>
              <a:ext cx="196850" cy="196850"/>
            </a:xfrm>
            <a:custGeom>
              <a:avLst/>
              <a:gdLst>
                <a:gd name="connsiteX0" fmla="*/ 196850 w 196850"/>
                <a:gd name="connsiteY0" fmla="*/ 196850 h 196850"/>
                <a:gd name="connsiteX1" fmla="*/ 0 w 196850"/>
                <a:gd name="connsiteY1" fmla="*/ 196850 h 196850"/>
                <a:gd name="connsiteX2" fmla="*/ 0 w 196850"/>
                <a:gd name="connsiteY2" fmla="*/ 0 h 196850"/>
                <a:gd name="connsiteX3" fmla="*/ 196850 w 196850"/>
                <a:gd name="connsiteY3" fmla="*/ 0 h 196850"/>
                <a:gd name="connsiteX4" fmla="*/ 196850 w 196850"/>
                <a:gd name="connsiteY4" fmla="*/ 196850 h 196850"/>
                <a:gd name="connsiteX5" fmla="*/ 27340 w 196850"/>
                <a:gd name="connsiteY5" fmla="*/ 169510 h 196850"/>
                <a:gd name="connsiteX6" fmla="*/ 169510 w 196850"/>
                <a:gd name="connsiteY6" fmla="*/ 169510 h 196850"/>
                <a:gd name="connsiteX7" fmla="*/ 169510 w 196850"/>
                <a:gd name="connsiteY7" fmla="*/ 27340 h 196850"/>
                <a:gd name="connsiteX8" fmla="*/ 27340 w 196850"/>
                <a:gd name="connsiteY8" fmla="*/ 27340 h 196850"/>
                <a:gd name="connsiteX9" fmla="*/ 27340 w 196850"/>
                <a:gd name="connsiteY9" fmla="*/ 169510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850" h="196850">
                  <a:moveTo>
                    <a:pt x="196850" y="196850"/>
                  </a:moveTo>
                  <a:lnTo>
                    <a:pt x="0" y="196850"/>
                  </a:lnTo>
                  <a:lnTo>
                    <a:pt x="0" y="0"/>
                  </a:lnTo>
                  <a:lnTo>
                    <a:pt x="196850" y="0"/>
                  </a:lnTo>
                  <a:lnTo>
                    <a:pt x="196850" y="196850"/>
                  </a:lnTo>
                  <a:close/>
                  <a:moveTo>
                    <a:pt x="27340" y="169510"/>
                  </a:moveTo>
                  <a:lnTo>
                    <a:pt x="169510" y="169510"/>
                  </a:lnTo>
                  <a:lnTo>
                    <a:pt x="169510" y="27340"/>
                  </a:lnTo>
                  <a:lnTo>
                    <a:pt x="27340" y="27340"/>
                  </a:lnTo>
                  <a:lnTo>
                    <a:pt x="27340" y="169510"/>
                  </a:ln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7">
              <a:extLst>
                <a:ext uri="{FF2B5EF4-FFF2-40B4-BE49-F238E27FC236}">
                  <a16:creationId xmlns:a16="http://schemas.microsoft.com/office/drawing/2014/main" id="{A44184FF-8AC9-437A-A601-FBF30B88CF2E}"/>
                </a:ext>
              </a:extLst>
            </p:cNvPr>
            <p:cNvSpPr/>
            <p:nvPr/>
          </p:nvSpPr>
          <p:spPr>
            <a:xfrm>
              <a:off x="7287296" y="5732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: фигура 38">
              <a:extLst>
                <a:ext uri="{FF2B5EF4-FFF2-40B4-BE49-F238E27FC236}">
                  <a16:creationId xmlns:a16="http://schemas.microsoft.com/office/drawing/2014/main" id="{4A471C3A-F64A-47C9-874C-42F425D6554D}"/>
                </a:ext>
              </a:extLst>
            </p:cNvPr>
            <p:cNvSpPr/>
            <p:nvPr/>
          </p:nvSpPr>
          <p:spPr>
            <a:xfrm>
              <a:off x="7205275" y="5647839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1 h 27340"/>
                <a:gd name="connsiteX3" fmla="*/ 0 w 221456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: фигура 39">
              <a:extLst>
                <a:ext uri="{FF2B5EF4-FFF2-40B4-BE49-F238E27FC236}">
                  <a16:creationId xmlns:a16="http://schemas.microsoft.com/office/drawing/2014/main" id="{42A5B718-55EB-4C48-8D6F-6B2B3A1697FC}"/>
                </a:ext>
              </a:extLst>
            </p:cNvPr>
            <p:cNvSpPr/>
            <p:nvPr/>
          </p:nvSpPr>
          <p:spPr>
            <a:xfrm>
              <a:off x="7205275" y="5524807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1 h 27340"/>
                <a:gd name="connsiteX3" fmla="*/ 0 w 95691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40">
              <a:extLst>
                <a:ext uri="{FF2B5EF4-FFF2-40B4-BE49-F238E27FC236}">
                  <a16:creationId xmlns:a16="http://schemas.microsoft.com/office/drawing/2014/main" id="{3C120E55-1749-477C-B993-A7156AA26094}"/>
                </a:ext>
              </a:extLst>
            </p:cNvPr>
            <p:cNvSpPr/>
            <p:nvPr/>
          </p:nvSpPr>
          <p:spPr>
            <a:xfrm>
              <a:off x="7205275" y="577360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41">
              <a:extLst>
                <a:ext uri="{FF2B5EF4-FFF2-40B4-BE49-F238E27FC236}">
                  <a16:creationId xmlns:a16="http://schemas.microsoft.com/office/drawing/2014/main" id="{45A6FF4B-6E65-4A6A-8991-F5844ED42659}"/>
                </a:ext>
              </a:extLst>
            </p:cNvPr>
            <p:cNvSpPr/>
            <p:nvPr/>
          </p:nvSpPr>
          <p:spPr>
            <a:xfrm rot="16200000">
              <a:off x="7036725" y="5242327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42">
              <a:extLst>
                <a:ext uri="{FF2B5EF4-FFF2-40B4-BE49-F238E27FC236}">
                  <a16:creationId xmlns:a16="http://schemas.microsoft.com/office/drawing/2014/main" id="{DFB36247-2B07-4560-B224-D57D26D893F8}"/>
                </a:ext>
              </a:extLst>
            </p:cNvPr>
            <p:cNvSpPr/>
            <p:nvPr/>
          </p:nvSpPr>
          <p:spPr>
            <a:xfrm>
              <a:off x="6956478" y="5202191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43">
              <a:extLst>
                <a:ext uri="{FF2B5EF4-FFF2-40B4-BE49-F238E27FC236}">
                  <a16:creationId xmlns:a16="http://schemas.microsoft.com/office/drawing/2014/main" id="{0CF1651E-D83C-4987-AB57-212239C16BB4}"/>
                </a:ext>
              </a:extLst>
            </p:cNvPr>
            <p:cNvSpPr/>
            <p:nvPr/>
          </p:nvSpPr>
          <p:spPr>
            <a:xfrm>
              <a:off x="6830712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44">
              <a:extLst>
                <a:ext uri="{FF2B5EF4-FFF2-40B4-BE49-F238E27FC236}">
                  <a16:creationId xmlns:a16="http://schemas.microsoft.com/office/drawing/2014/main" id="{19D8D7B6-DE86-4C91-B820-F97586BB74DB}"/>
                </a:ext>
              </a:extLst>
            </p:cNvPr>
            <p:cNvSpPr/>
            <p:nvPr/>
          </p:nvSpPr>
          <p:spPr>
            <a:xfrm>
              <a:off x="7079510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45">
              <a:extLst>
                <a:ext uri="{FF2B5EF4-FFF2-40B4-BE49-F238E27FC236}">
                  <a16:creationId xmlns:a16="http://schemas.microsoft.com/office/drawing/2014/main" id="{037837E2-0C43-4B4A-97C9-0340348EBE63}"/>
                </a:ext>
              </a:extLst>
            </p:cNvPr>
            <p:cNvSpPr/>
            <p:nvPr/>
          </p:nvSpPr>
          <p:spPr>
            <a:xfrm rot="10800000">
              <a:off x="6533523" y="5521499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46">
              <a:extLst>
                <a:ext uri="{FF2B5EF4-FFF2-40B4-BE49-F238E27FC236}">
                  <a16:creationId xmlns:a16="http://schemas.microsoft.com/office/drawing/2014/main" id="{6742EB1B-1793-420A-BDC7-002A9A174DD9}"/>
                </a:ext>
              </a:extLst>
            </p:cNvPr>
            <p:cNvSpPr/>
            <p:nvPr/>
          </p:nvSpPr>
          <p:spPr>
            <a:xfrm>
              <a:off x="6497160" y="5677913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0 h 27340"/>
                <a:gd name="connsiteX3" fmla="*/ 0 w 221456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47">
              <a:extLst>
                <a:ext uri="{FF2B5EF4-FFF2-40B4-BE49-F238E27FC236}">
                  <a16:creationId xmlns:a16="http://schemas.microsoft.com/office/drawing/2014/main" id="{49E6FB81-BB0E-4E1C-98B6-A9BCE1FF8809}"/>
                </a:ext>
              </a:extLst>
            </p:cNvPr>
            <p:cNvSpPr/>
            <p:nvPr/>
          </p:nvSpPr>
          <p:spPr>
            <a:xfrm>
              <a:off x="6622926" y="580094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48">
              <a:extLst>
                <a:ext uri="{FF2B5EF4-FFF2-40B4-BE49-F238E27FC236}">
                  <a16:creationId xmlns:a16="http://schemas.microsoft.com/office/drawing/2014/main" id="{4B091F86-8A5A-4B64-A556-7D48C78EBBDB}"/>
                </a:ext>
              </a:extLst>
            </p:cNvPr>
            <p:cNvSpPr/>
            <p:nvPr/>
          </p:nvSpPr>
          <p:spPr>
            <a:xfrm>
              <a:off x="6622926" y="5554882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49">
              <a:extLst>
                <a:ext uri="{FF2B5EF4-FFF2-40B4-BE49-F238E27FC236}">
                  <a16:creationId xmlns:a16="http://schemas.microsoft.com/office/drawing/2014/main" id="{203D52A4-82CB-4CEA-8D3F-420C25372AB2}"/>
                </a:ext>
              </a:extLst>
            </p:cNvPr>
            <p:cNvSpPr/>
            <p:nvPr/>
          </p:nvSpPr>
          <p:spPr>
            <a:xfrm rot="5400000">
              <a:off x="6784371" y="6011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50">
              <a:extLst>
                <a:ext uri="{FF2B5EF4-FFF2-40B4-BE49-F238E27FC236}">
                  <a16:creationId xmlns:a16="http://schemas.microsoft.com/office/drawing/2014/main" id="{90249975-1631-4F6D-B039-D16C0EA41408}"/>
                </a:ext>
              </a:extLst>
            </p:cNvPr>
            <p:cNvSpPr/>
            <p:nvPr/>
          </p:nvSpPr>
          <p:spPr>
            <a:xfrm>
              <a:off x="6942808" y="5929445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51">
              <a:extLst>
                <a:ext uri="{FF2B5EF4-FFF2-40B4-BE49-F238E27FC236}">
                  <a16:creationId xmlns:a16="http://schemas.microsoft.com/office/drawing/2014/main" id="{6160453E-AC13-460A-B578-481EB98E4061}"/>
                </a:ext>
              </a:extLst>
            </p:cNvPr>
            <p:cNvSpPr/>
            <p:nvPr/>
          </p:nvSpPr>
          <p:spPr>
            <a:xfrm>
              <a:off x="7065839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52">
              <a:extLst>
                <a:ext uri="{FF2B5EF4-FFF2-40B4-BE49-F238E27FC236}">
                  <a16:creationId xmlns:a16="http://schemas.microsoft.com/office/drawing/2014/main" id="{20437CA2-AFE9-4326-9871-A6E869DC1130}"/>
                </a:ext>
              </a:extLst>
            </p:cNvPr>
            <p:cNvSpPr/>
            <p:nvPr/>
          </p:nvSpPr>
          <p:spPr>
            <a:xfrm>
              <a:off x="6819776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0" name="Прямая соединительная линия 77">
            <a:extLst>
              <a:ext uri="{FF2B5EF4-FFF2-40B4-BE49-F238E27FC236}">
                <a16:creationId xmlns:a16="http://schemas.microsoft.com/office/drawing/2014/main" id="{C0631D0C-577B-4058-B8F5-80F2C3A34329}"/>
              </a:ext>
            </a:extLst>
          </p:cNvPr>
          <p:cNvCxnSpPr/>
          <p:nvPr/>
        </p:nvCxnSpPr>
        <p:spPr>
          <a:xfrm>
            <a:off x="10064488" y="1417363"/>
            <a:ext cx="0" cy="4103274"/>
          </a:xfrm>
          <a:prstGeom prst="line">
            <a:avLst/>
          </a:prstGeom>
          <a:ln>
            <a:solidFill>
              <a:srgbClr val="000000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1" name="Прямая соединительная линия 76">
            <a:extLst>
              <a:ext uri="{FF2B5EF4-FFF2-40B4-BE49-F238E27FC236}">
                <a16:creationId xmlns:a16="http://schemas.microsoft.com/office/drawing/2014/main" id="{8597ED74-A629-4F37-A5A9-DB7449066CAC}"/>
              </a:ext>
            </a:extLst>
          </p:cNvPr>
          <p:cNvCxnSpPr/>
          <p:nvPr/>
        </p:nvCxnSpPr>
        <p:spPr>
          <a:xfrm>
            <a:off x="8206232" y="1417363"/>
            <a:ext cx="0" cy="4103274"/>
          </a:xfrm>
          <a:prstGeom prst="line">
            <a:avLst/>
          </a:prstGeom>
          <a:ln>
            <a:solidFill>
              <a:srgbClr val="000000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2" name="Прямая соединительная линия 75">
            <a:extLst>
              <a:ext uri="{FF2B5EF4-FFF2-40B4-BE49-F238E27FC236}">
                <a16:creationId xmlns:a16="http://schemas.microsoft.com/office/drawing/2014/main" id="{13D764B5-F61F-4177-BBAC-DD45FE714192}"/>
              </a:ext>
            </a:extLst>
          </p:cNvPr>
          <p:cNvCxnSpPr/>
          <p:nvPr/>
        </p:nvCxnSpPr>
        <p:spPr>
          <a:xfrm>
            <a:off x="6202562" y="1385505"/>
            <a:ext cx="0" cy="4103274"/>
          </a:xfrm>
          <a:prstGeom prst="line">
            <a:avLst/>
          </a:prstGeom>
          <a:ln>
            <a:solidFill>
              <a:srgbClr val="000000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3" name="Прямая соединительная линия 74">
            <a:extLst>
              <a:ext uri="{FF2B5EF4-FFF2-40B4-BE49-F238E27FC236}">
                <a16:creationId xmlns:a16="http://schemas.microsoft.com/office/drawing/2014/main" id="{A14C9FC4-8A64-400D-907A-6925B35727F9}"/>
              </a:ext>
            </a:extLst>
          </p:cNvPr>
          <p:cNvCxnSpPr/>
          <p:nvPr/>
        </p:nvCxnSpPr>
        <p:spPr>
          <a:xfrm>
            <a:off x="4477817" y="1369627"/>
            <a:ext cx="0" cy="4103274"/>
          </a:xfrm>
          <a:prstGeom prst="line">
            <a:avLst/>
          </a:prstGeom>
          <a:ln>
            <a:solidFill>
              <a:srgbClr val="000000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4" name="Прямая соединительная линия 19">
            <a:extLst>
              <a:ext uri="{FF2B5EF4-FFF2-40B4-BE49-F238E27FC236}">
                <a16:creationId xmlns:a16="http://schemas.microsoft.com/office/drawing/2014/main" id="{A61C2952-78AF-47E9-BCC8-C584250499B4}"/>
              </a:ext>
            </a:extLst>
          </p:cNvPr>
          <p:cNvCxnSpPr/>
          <p:nvPr/>
        </p:nvCxnSpPr>
        <p:spPr>
          <a:xfrm>
            <a:off x="2554680" y="1385505"/>
            <a:ext cx="0" cy="4103274"/>
          </a:xfrm>
          <a:prstGeom prst="line">
            <a:avLst/>
          </a:prstGeom>
          <a:ln>
            <a:solidFill>
              <a:srgbClr val="000000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25" name="Стрелка: вправо 3">
            <a:extLst>
              <a:ext uri="{FF2B5EF4-FFF2-40B4-BE49-F238E27FC236}">
                <a16:creationId xmlns:a16="http://schemas.microsoft.com/office/drawing/2014/main" id="{14AE49C8-E858-5864-D52C-0557588CA799}"/>
              </a:ext>
            </a:extLst>
          </p:cNvPr>
          <p:cNvSpPr/>
          <p:nvPr/>
        </p:nvSpPr>
        <p:spPr>
          <a:xfrm>
            <a:off x="634529" y="2913375"/>
            <a:ext cx="517647" cy="236538"/>
          </a:xfrm>
          <a:prstGeom prst="rightArrow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000000"/>
              </a:solidFill>
            </a:endParaRPr>
          </a:p>
        </p:txBody>
      </p:sp>
      <p:sp>
        <p:nvSpPr>
          <p:cNvPr id="26" name="Oval 14">
            <a:extLst>
              <a:ext uri="{FF2B5EF4-FFF2-40B4-BE49-F238E27FC236}">
                <a16:creationId xmlns:a16="http://schemas.microsoft.com/office/drawing/2014/main" id="{ADFFBF49-1365-56EB-CE1E-1E8183E3A793}"/>
              </a:ext>
            </a:extLst>
          </p:cNvPr>
          <p:cNvSpPr/>
          <p:nvPr/>
        </p:nvSpPr>
        <p:spPr>
          <a:xfrm>
            <a:off x="1183291" y="2719729"/>
            <a:ext cx="644525" cy="644525"/>
          </a:xfrm>
          <a:prstGeom prst="ellipse">
            <a:avLst/>
          </a:prstGeom>
          <a:solidFill>
            <a:srgbClr val="000000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FFFFFF"/>
              </a:solidFill>
            </a:endParaRPr>
          </a:p>
        </p:txBody>
      </p:sp>
      <p:sp>
        <p:nvSpPr>
          <p:cNvPr id="27" name="Стрелка: вправо 5">
            <a:extLst>
              <a:ext uri="{FF2B5EF4-FFF2-40B4-BE49-F238E27FC236}">
                <a16:creationId xmlns:a16="http://schemas.microsoft.com/office/drawing/2014/main" id="{0C80A9D5-DF5C-266D-622C-AD28370DA9CB}"/>
              </a:ext>
            </a:extLst>
          </p:cNvPr>
          <p:cNvSpPr/>
          <p:nvPr/>
        </p:nvSpPr>
        <p:spPr>
          <a:xfrm>
            <a:off x="1891317" y="2913375"/>
            <a:ext cx="1294378" cy="236538"/>
          </a:xfrm>
          <a:prstGeom prst="rightArrow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000000"/>
              </a:solidFill>
            </a:endParaRPr>
          </a:p>
        </p:txBody>
      </p:sp>
      <p:sp>
        <p:nvSpPr>
          <p:cNvPr id="28" name="Oval 37">
            <a:extLst>
              <a:ext uri="{FF2B5EF4-FFF2-40B4-BE49-F238E27FC236}">
                <a16:creationId xmlns:a16="http://schemas.microsoft.com/office/drawing/2014/main" id="{0ABCFED5-946E-ACD1-E864-AF4D6BBFA47A}"/>
              </a:ext>
            </a:extLst>
          </p:cNvPr>
          <p:cNvSpPr/>
          <p:nvPr/>
        </p:nvSpPr>
        <p:spPr>
          <a:xfrm>
            <a:off x="3257132" y="2729225"/>
            <a:ext cx="644525" cy="644525"/>
          </a:xfrm>
          <a:prstGeom prst="ellipse">
            <a:avLst/>
          </a:prstGeom>
          <a:solidFill>
            <a:srgbClr val="000000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FFFFFF"/>
              </a:solidFill>
            </a:endParaRPr>
          </a:p>
        </p:txBody>
      </p:sp>
      <p:sp>
        <p:nvSpPr>
          <p:cNvPr id="29" name="Стрелка: вправо 7">
            <a:extLst>
              <a:ext uri="{FF2B5EF4-FFF2-40B4-BE49-F238E27FC236}">
                <a16:creationId xmlns:a16="http://schemas.microsoft.com/office/drawing/2014/main" id="{5606B73F-ADFC-0986-BC11-1C39F59A56DC}"/>
              </a:ext>
            </a:extLst>
          </p:cNvPr>
          <p:cNvSpPr/>
          <p:nvPr/>
        </p:nvSpPr>
        <p:spPr>
          <a:xfrm>
            <a:off x="4020719" y="2908613"/>
            <a:ext cx="993775" cy="238125"/>
          </a:xfrm>
          <a:prstGeom prst="rightArrow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000000"/>
              </a:solidFill>
            </a:endParaRPr>
          </a:p>
        </p:txBody>
      </p:sp>
      <p:sp>
        <p:nvSpPr>
          <p:cNvPr id="30" name="Oval 59">
            <a:extLst>
              <a:ext uri="{FF2B5EF4-FFF2-40B4-BE49-F238E27FC236}">
                <a16:creationId xmlns:a16="http://schemas.microsoft.com/office/drawing/2014/main" id="{E7CB46C9-7D44-22A3-078D-B23A2094885A}"/>
              </a:ext>
            </a:extLst>
          </p:cNvPr>
          <p:cNvSpPr/>
          <p:nvPr/>
        </p:nvSpPr>
        <p:spPr>
          <a:xfrm>
            <a:off x="5071644" y="2714938"/>
            <a:ext cx="644525" cy="644525"/>
          </a:xfrm>
          <a:prstGeom prst="ellipse">
            <a:avLst/>
          </a:prstGeom>
          <a:solidFill>
            <a:srgbClr val="000000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FFFFFF"/>
              </a:solidFill>
            </a:endParaRPr>
          </a:p>
        </p:txBody>
      </p:sp>
      <p:sp>
        <p:nvSpPr>
          <p:cNvPr id="31" name="Oval 82">
            <a:extLst>
              <a:ext uri="{FF2B5EF4-FFF2-40B4-BE49-F238E27FC236}">
                <a16:creationId xmlns:a16="http://schemas.microsoft.com/office/drawing/2014/main" id="{D7FD6F16-62C8-B7C8-1053-72C4A0C06B4E}"/>
              </a:ext>
            </a:extLst>
          </p:cNvPr>
          <p:cNvSpPr/>
          <p:nvPr/>
        </p:nvSpPr>
        <p:spPr>
          <a:xfrm>
            <a:off x="6869760" y="2695093"/>
            <a:ext cx="644525" cy="644525"/>
          </a:xfrm>
          <a:prstGeom prst="ellipse">
            <a:avLst/>
          </a:prstGeom>
          <a:solidFill>
            <a:srgbClr val="000000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 dirty="0">
              <a:solidFill>
                <a:srgbClr val="FFFFFF"/>
              </a:solidFill>
            </a:endParaRPr>
          </a:p>
        </p:txBody>
      </p:sp>
      <p:sp>
        <p:nvSpPr>
          <p:cNvPr id="32" name="Стрелка: вправо 10">
            <a:extLst>
              <a:ext uri="{FF2B5EF4-FFF2-40B4-BE49-F238E27FC236}">
                <a16:creationId xmlns:a16="http://schemas.microsoft.com/office/drawing/2014/main" id="{7AE736C3-F0EB-CC83-D1E3-A2B8930B0C66}"/>
              </a:ext>
            </a:extLst>
          </p:cNvPr>
          <p:cNvSpPr/>
          <p:nvPr/>
        </p:nvSpPr>
        <p:spPr>
          <a:xfrm>
            <a:off x="5795544" y="2899088"/>
            <a:ext cx="1006475" cy="236537"/>
          </a:xfrm>
          <a:prstGeom prst="rightArrow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000000"/>
              </a:solidFill>
            </a:endParaRPr>
          </a:p>
        </p:txBody>
      </p:sp>
      <p:sp>
        <p:nvSpPr>
          <p:cNvPr id="33" name="Oval 88">
            <a:extLst>
              <a:ext uri="{FF2B5EF4-FFF2-40B4-BE49-F238E27FC236}">
                <a16:creationId xmlns:a16="http://schemas.microsoft.com/office/drawing/2014/main" id="{438DD1A1-EB59-EB45-002C-88AB5C26A8DC}"/>
              </a:ext>
            </a:extLst>
          </p:cNvPr>
          <p:cNvSpPr/>
          <p:nvPr/>
        </p:nvSpPr>
        <p:spPr>
          <a:xfrm>
            <a:off x="8743532" y="2729225"/>
            <a:ext cx="644525" cy="644525"/>
          </a:xfrm>
          <a:prstGeom prst="ellipse">
            <a:avLst/>
          </a:prstGeom>
          <a:solidFill>
            <a:srgbClr val="000000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FFFFFF"/>
              </a:solidFill>
            </a:endParaRPr>
          </a:p>
        </p:txBody>
      </p:sp>
      <p:sp>
        <p:nvSpPr>
          <p:cNvPr id="34" name="Стрелка: вправо 12">
            <a:extLst>
              <a:ext uri="{FF2B5EF4-FFF2-40B4-BE49-F238E27FC236}">
                <a16:creationId xmlns:a16="http://schemas.microsoft.com/office/drawing/2014/main" id="{D63A0997-D4E8-0F12-B41F-828011D48839}"/>
              </a:ext>
            </a:extLst>
          </p:cNvPr>
          <p:cNvSpPr/>
          <p:nvPr/>
        </p:nvSpPr>
        <p:spPr>
          <a:xfrm>
            <a:off x="7605294" y="2899088"/>
            <a:ext cx="1074738" cy="236537"/>
          </a:xfrm>
          <a:prstGeom prst="rightArrow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000000"/>
              </a:solidFill>
            </a:endParaRPr>
          </a:p>
        </p:txBody>
      </p:sp>
      <p:sp>
        <p:nvSpPr>
          <p:cNvPr id="35" name="Oval 91">
            <a:extLst>
              <a:ext uri="{FF2B5EF4-FFF2-40B4-BE49-F238E27FC236}">
                <a16:creationId xmlns:a16="http://schemas.microsoft.com/office/drawing/2014/main" id="{1ACFB4CD-8BE7-F81B-E0F4-8CFF34179245}"/>
              </a:ext>
            </a:extLst>
          </p:cNvPr>
          <p:cNvSpPr/>
          <p:nvPr/>
        </p:nvSpPr>
        <p:spPr>
          <a:xfrm>
            <a:off x="10592969" y="2733988"/>
            <a:ext cx="644525" cy="644525"/>
          </a:xfrm>
          <a:prstGeom prst="ellipse">
            <a:avLst/>
          </a:prstGeom>
          <a:solidFill>
            <a:srgbClr val="000000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FFFFFF"/>
              </a:solidFill>
            </a:endParaRPr>
          </a:p>
        </p:txBody>
      </p:sp>
      <p:sp>
        <p:nvSpPr>
          <p:cNvPr id="36" name="Стрелка: вправо 14">
            <a:extLst>
              <a:ext uri="{FF2B5EF4-FFF2-40B4-BE49-F238E27FC236}">
                <a16:creationId xmlns:a16="http://schemas.microsoft.com/office/drawing/2014/main" id="{8A43E311-461F-D90B-FEF9-7F0E22BC7635}"/>
              </a:ext>
            </a:extLst>
          </p:cNvPr>
          <p:cNvSpPr/>
          <p:nvPr/>
        </p:nvSpPr>
        <p:spPr>
          <a:xfrm>
            <a:off x="9475369" y="2908613"/>
            <a:ext cx="1101725" cy="238125"/>
          </a:xfrm>
          <a:prstGeom prst="rightArrow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000000"/>
              </a:solidFill>
            </a:endParaRP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DAED2281-1B5D-8CDF-A7A7-68EFEDD7687A}"/>
              </a:ext>
            </a:extLst>
          </p:cNvPr>
          <p:cNvSpPr txBox="1"/>
          <p:nvPr/>
        </p:nvSpPr>
        <p:spPr>
          <a:xfrm>
            <a:off x="458788" y="5712778"/>
            <a:ext cx="609917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Расширенные</a:t>
            </a:r>
            <a:r>
              <a:rPr lang="en-US" sz="1600" b="0" spc="3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sz="1600" b="0" spc="3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проверки</a:t>
            </a:r>
            <a:endParaRPr lang="en-US" sz="1600" b="1" spc="30" dirty="0">
              <a:solidFill>
                <a:srgbClr val="7D70EF"/>
              </a:solidFill>
            </a:endParaRP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2B66973F-F2D6-FE56-498A-765A51072109}"/>
              </a:ext>
            </a:extLst>
          </p:cNvPr>
          <p:cNvSpPr txBox="1"/>
          <p:nvPr/>
        </p:nvSpPr>
        <p:spPr>
          <a:xfrm>
            <a:off x="1198659" y="3475632"/>
            <a:ext cx="587969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0" spc="14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КОД</a:t>
            </a:r>
            <a:endParaRPr lang="en-US" sz="1200" b="1" spc="140" dirty="0">
              <a:solidFill>
                <a:srgbClr val="7D70EF"/>
              </a:solidFill>
            </a:endParaRPr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10A929DA-2CED-9D63-E3B2-95FE464FAE04}"/>
              </a:ext>
            </a:extLst>
          </p:cNvPr>
          <p:cNvSpPr txBox="1"/>
          <p:nvPr/>
        </p:nvSpPr>
        <p:spPr>
          <a:xfrm>
            <a:off x="2828133" y="3445188"/>
            <a:ext cx="1407758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0" spc="14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ФИЧА-ВЕТКА</a:t>
            </a:r>
            <a:endParaRPr lang="en-US" sz="1200" b="1" spc="140" dirty="0">
              <a:solidFill>
                <a:srgbClr val="7D70EF"/>
              </a:solidFill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61DD1754-D93A-5661-2512-7A38AB16DC99}"/>
              </a:ext>
            </a:extLst>
          </p:cNvPr>
          <p:cNvSpPr txBox="1"/>
          <p:nvPr/>
        </p:nvSpPr>
        <p:spPr>
          <a:xfrm>
            <a:off x="6392341" y="3422589"/>
            <a:ext cx="1616789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spc="14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MASTER-</a:t>
            </a:r>
            <a:r>
              <a:rPr lang="ru-RU" sz="1200" b="0" spc="14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ВЕТКА</a:t>
            </a:r>
            <a:endParaRPr lang="en-US" sz="1200" b="1" spc="140" dirty="0">
              <a:solidFill>
                <a:srgbClr val="7D70EF"/>
              </a:solidFill>
            </a:endParaRP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1801DCC6-EC77-992A-2683-DDDA7C38E5CC}"/>
              </a:ext>
            </a:extLst>
          </p:cNvPr>
          <p:cNvSpPr txBox="1"/>
          <p:nvPr/>
        </p:nvSpPr>
        <p:spPr>
          <a:xfrm>
            <a:off x="8263128" y="3441598"/>
            <a:ext cx="1807867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0" spc="14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РАЗВЕРТЫВАНИЕ</a:t>
            </a:r>
            <a:endParaRPr lang="en-US" sz="1200" b="1" spc="140" dirty="0">
              <a:solidFill>
                <a:srgbClr val="7D70EF"/>
              </a:solidFill>
            </a:endParaRP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34EA0B49-8E87-4748-2E44-2046F25EDDF5}"/>
              </a:ext>
            </a:extLst>
          </p:cNvPr>
          <p:cNvSpPr txBox="1"/>
          <p:nvPr/>
        </p:nvSpPr>
        <p:spPr>
          <a:xfrm>
            <a:off x="10421652" y="3422963"/>
            <a:ext cx="975267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0" spc="14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ВЫПУСК</a:t>
            </a:r>
            <a:endParaRPr lang="en-US" sz="1200" b="1" spc="140" dirty="0">
              <a:solidFill>
                <a:srgbClr val="7D70EF"/>
              </a:solidFill>
            </a:endParaRPr>
          </a:p>
        </p:txBody>
      </p:sp>
      <p:sp>
        <p:nvSpPr>
          <p:cNvPr id="43" name="TextBox 23">
            <a:extLst>
              <a:ext uri="{FF2B5EF4-FFF2-40B4-BE49-F238E27FC236}">
                <a16:creationId xmlns:a16="http://schemas.microsoft.com/office/drawing/2014/main" id="{67E6B823-7D69-B848-3F82-72097FA2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03" y="1956246"/>
            <a:ext cx="1543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Сканирование качества кода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5CE0C16F-6F8A-2114-13B9-12D696F0F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963" y="1521138"/>
            <a:ext cx="14922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Юнит-тесты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773D1322-8B6C-76D2-0771-AD953A4A5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550" y="1830700"/>
            <a:ext cx="15135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>
                <a:solidFill>
                  <a:srgbClr val="000000"/>
                </a:solidFill>
                <a:latin typeface="+mn-lt"/>
              </a:rPr>
              <a:t>Покрытие кода</a:t>
            </a:r>
            <a:endParaRPr lang="en-US" altLang="en-RU" sz="1200" spc="5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4B94B123-1B30-1424-595A-E2E0F756C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901" y="2145025"/>
            <a:ext cx="15814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Тесты контрактов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7FB10B8C-6C5B-CC9A-13C0-DA0F2B653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200" y="1976551"/>
            <a:ext cx="15232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00" spc="50" dirty="0" err="1">
                <a:solidFill>
                  <a:srgbClr val="000000"/>
                </a:solidFill>
                <a:latin typeface="+mn-lt"/>
              </a:rPr>
              <a:t>Ревью</a:t>
            </a:r>
            <a:r>
              <a:rPr lang="ru-RU" altLang="en-RU" sz="1100" spc="50" dirty="0">
                <a:solidFill>
                  <a:srgbClr val="000000"/>
                </a:solidFill>
                <a:latin typeface="+mn-lt"/>
              </a:rPr>
              <a:t> разработчиком</a:t>
            </a:r>
            <a:endParaRPr lang="en-US" altLang="en-RU" sz="11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" name="TextBox 28">
            <a:extLst>
              <a:ext uri="{FF2B5EF4-FFF2-40B4-BE49-F238E27FC236}">
                <a16:creationId xmlns:a16="http://schemas.microsoft.com/office/drawing/2014/main" id="{F46D5298-D429-BC47-6799-5DCB64526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341" y="1521333"/>
            <a:ext cx="115345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en-US" altLang="en-RU" sz="1150" spc="50" dirty="0">
                <a:solidFill>
                  <a:srgbClr val="000000"/>
                </a:solidFill>
                <a:latin typeface="+mn-lt"/>
              </a:rPr>
              <a:t>Unit</a:t>
            </a:r>
            <a:r>
              <a:rPr lang="ru-RU" altLang="en-RU" sz="1150" spc="50" dirty="0">
                <a:solidFill>
                  <a:srgbClr val="000000"/>
                </a:solidFill>
                <a:latin typeface="+mn-lt"/>
              </a:rPr>
              <a:t>-тесты</a:t>
            </a:r>
            <a:endParaRPr lang="en-US" altLang="en-RU" sz="115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9" name="TextBox 29">
            <a:extLst>
              <a:ext uri="{FF2B5EF4-FFF2-40B4-BE49-F238E27FC236}">
                <a16:creationId xmlns:a16="http://schemas.microsoft.com/office/drawing/2014/main" id="{9D11D8F3-2373-5E30-4772-4DE0A974D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341" y="1843596"/>
            <a:ext cx="15135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>
                <a:solidFill>
                  <a:srgbClr val="000000"/>
                </a:solidFill>
                <a:latin typeface="+mn-lt"/>
              </a:rPr>
              <a:t>Покрытие кода</a:t>
            </a:r>
            <a:endParaRPr lang="en-US" altLang="en-RU" sz="1200" spc="5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186BCB3F-9F20-8F28-14C9-F7A332B69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404" y="2238883"/>
            <a:ext cx="172675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>
                <a:solidFill>
                  <a:srgbClr val="000000"/>
                </a:solidFill>
                <a:latin typeface="+mn-lt"/>
              </a:rPr>
              <a:t>Тесты контрактов</a:t>
            </a:r>
            <a:endParaRPr lang="en-US" altLang="en-RU" sz="1200" spc="5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1" name="TextBox 31">
            <a:extLst>
              <a:ext uri="{FF2B5EF4-FFF2-40B4-BE49-F238E27FC236}">
                <a16:creationId xmlns:a16="http://schemas.microsoft.com/office/drawing/2014/main" id="{658B3B0E-F884-5576-C6AD-D282A57DE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1160" y="1522271"/>
            <a:ext cx="15204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Приемочные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2" name="TextBox 32">
            <a:extLst>
              <a:ext uri="{FF2B5EF4-FFF2-40B4-BE49-F238E27FC236}">
                <a16:creationId xmlns:a16="http://schemas.microsoft.com/office/drawing/2014/main" id="{79EA9D71-02E8-921C-B5F4-34DDF7400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460" y="2052496"/>
            <a:ext cx="16423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00" spc="50" dirty="0">
                <a:solidFill>
                  <a:srgbClr val="000000"/>
                </a:solidFill>
                <a:latin typeface="+mn-lt"/>
              </a:rPr>
              <a:t>Функциональная автоматизация</a:t>
            </a:r>
            <a:endParaRPr lang="en-US" altLang="en-RU" sz="11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3" name="TextBox 33">
            <a:extLst>
              <a:ext uri="{FF2B5EF4-FFF2-40B4-BE49-F238E27FC236}">
                <a16:creationId xmlns:a16="http://schemas.microsoft.com/office/drawing/2014/main" id="{0AB9376F-F676-0D8A-974C-A186D5E69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2600" y="1927912"/>
            <a:ext cx="1610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Системный мониторинг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4" name="TextBox 34">
            <a:extLst>
              <a:ext uri="{FF2B5EF4-FFF2-40B4-BE49-F238E27FC236}">
                <a16:creationId xmlns:a16="http://schemas.microsoft.com/office/drawing/2014/main" id="{A3429413-BF2E-5BEA-653A-E8162480C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603" y="3853749"/>
            <a:ext cx="14541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750" spc="50" dirty="0">
                <a:solidFill>
                  <a:srgbClr val="000000"/>
                </a:solidFill>
                <a:latin typeface="+mn-lt"/>
              </a:rPr>
              <a:t>Статическое сканирование</a:t>
            </a:r>
            <a:r>
              <a:rPr lang="en-US" altLang="en-RU" sz="750" spc="5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altLang="en-RU" sz="750" spc="50" dirty="0" err="1">
                <a:solidFill>
                  <a:srgbClr val="000000"/>
                </a:solidFill>
                <a:latin typeface="+mn-lt"/>
              </a:rPr>
              <a:t>безопасностиприложения</a:t>
            </a:r>
            <a:endParaRPr lang="en-US" altLang="en-RU" sz="75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5" name="TextBox 35">
            <a:extLst>
              <a:ext uri="{FF2B5EF4-FFF2-40B4-BE49-F238E27FC236}">
                <a16:creationId xmlns:a16="http://schemas.microsoft.com/office/drawing/2014/main" id="{5B92E3DB-48E3-ACFD-EB42-F31D52A02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374" y="3845678"/>
            <a:ext cx="16138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Мутационные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6" name="TextBox 36">
            <a:extLst>
              <a:ext uri="{FF2B5EF4-FFF2-40B4-BE49-F238E27FC236}">
                <a16:creationId xmlns:a16="http://schemas.microsoft.com/office/drawing/2014/main" id="{91D4CE98-58FC-9E5A-E70A-F1B6EE561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374" y="4369553"/>
            <a:ext cx="1621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Компонентные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54805F6C-BDAE-8102-DE08-660866C18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489" y="4863470"/>
            <a:ext cx="16673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00" spc="50" dirty="0">
                <a:solidFill>
                  <a:srgbClr val="000000"/>
                </a:solidFill>
                <a:latin typeface="+mn-lt"/>
              </a:rPr>
              <a:t>Композиционный анализ</a:t>
            </a:r>
            <a:endParaRPr lang="en-US" altLang="en-RU" sz="11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8" name="TextBox 38">
            <a:extLst>
              <a:ext uri="{FF2B5EF4-FFF2-40B4-BE49-F238E27FC236}">
                <a16:creationId xmlns:a16="http://schemas.microsoft.com/office/drawing/2014/main" id="{F0EA5E99-3188-A43A-860E-1F2C0BD5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187" y="3822439"/>
            <a:ext cx="13977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50" spc="50" dirty="0">
                <a:solidFill>
                  <a:srgbClr val="000000"/>
                </a:solidFill>
                <a:latin typeface="+mn-lt"/>
              </a:rPr>
              <a:t>Принцип четырех глаз</a:t>
            </a:r>
            <a:endParaRPr lang="en-US" altLang="en-RU" sz="115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9" name="TextBox 39">
            <a:extLst>
              <a:ext uri="{FF2B5EF4-FFF2-40B4-BE49-F238E27FC236}">
                <a16:creationId xmlns:a16="http://schemas.microsoft.com/office/drawing/2014/main" id="{125CAB17-87AD-4B7C-34AF-D6B9FA90D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114" y="3855705"/>
            <a:ext cx="1595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Мутационные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0" name="TextBox 40">
            <a:extLst>
              <a:ext uri="{FF2B5EF4-FFF2-40B4-BE49-F238E27FC236}">
                <a16:creationId xmlns:a16="http://schemas.microsoft.com/office/drawing/2014/main" id="{FF8F5859-A509-D58D-8F83-BCCC5AF4A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0752" y="4401805"/>
            <a:ext cx="1652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Компонентные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1" name="TextBox 41">
            <a:extLst>
              <a:ext uri="{FF2B5EF4-FFF2-40B4-BE49-F238E27FC236}">
                <a16:creationId xmlns:a16="http://schemas.microsoft.com/office/drawing/2014/main" id="{66A89CCE-40C0-B44B-B0D3-82F38A6B9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0750" y="4957430"/>
            <a:ext cx="17397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50" spc="50" dirty="0">
                <a:solidFill>
                  <a:srgbClr val="000000"/>
                </a:solidFill>
                <a:latin typeface="+mn-lt"/>
              </a:rPr>
              <a:t>Композиционный анализ</a:t>
            </a:r>
            <a:endParaRPr lang="en-US" altLang="en-RU" sz="115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2" name="TextBox 42">
            <a:extLst>
              <a:ext uri="{FF2B5EF4-FFF2-40B4-BE49-F238E27FC236}">
                <a16:creationId xmlns:a16="http://schemas.microsoft.com/office/drawing/2014/main" id="{01258760-57CF-5038-572E-40B62340A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0852" y="3837637"/>
            <a:ext cx="148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Нагрузочные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3" name="TextBox 70">
            <a:extLst>
              <a:ext uri="{FF2B5EF4-FFF2-40B4-BE49-F238E27FC236}">
                <a16:creationId xmlns:a16="http://schemas.microsoft.com/office/drawing/2014/main" id="{D094E41E-46DB-FAAF-43E8-77E174ED5C5A}"/>
              </a:ext>
            </a:extLst>
          </p:cNvPr>
          <p:cNvSpPr txBox="1"/>
          <p:nvPr/>
        </p:nvSpPr>
        <p:spPr>
          <a:xfrm>
            <a:off x="4631533" y="3438450"/>
            <a:ext cx="1497847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spc="14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CODE REVIEW</a:t>
            </a:r>
          </a:p>
        </p:txBody>
      </p:sp>
      <p:sp>
        <p:nvSpPr>
          <p:cNvPr id="64" name="Заголовок 1">
            <a:extLst>
              <a:ext uri="{FF2B5EF4-FFF2-40B4-BE49-F238E27FC236}">
                <a16:creationId xmlns:a16="http://schemas.microsoft.com/office/drawing/2014/main" id="{AE91ECE9-2EB4-4899-B6DD-ECE9B7FE7D1E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>
            <a:normAutofit/>
          </a:bodyPr>
          <a:lstStyle/>
          <a:p>
            <a:r>
              <a:rPr lang="ru-RU" dirty="0" sz="18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Проверки качества в непрерывном тестировании</a:t>
            </a:r>
            <a:br>
              <a:rPr lang="ru-RU" dirty="0"/>
            </a:br>
            <a:endParaRPr lang="ru-RU" dirty="0" sz="1600"/>
          </a:p>
        </p:txBody>
      </p:sp>
      <p:pic>
        <p:nvPicPr>
          <p:cNvPr id="65" name="Graphic 28" descr="Acquisition with solid fill">
            <a:extLst>
              <a:ext uri="{FF2B5EF4-FFF2-40B4-BE49-F238E27FC236}">
                <a16:creationId xmlns:a16="http://schemas.microsoft.com/office/drawing/2014/main" id="{D7EAE66F-1C08-4FBF-9D9E-A661003E4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225138" y="5532506"/>
            <a:ext cx="670145" cy="670145"/>
          </a:xfrm>
          <a:prstGeom prst="rect">
            <a:avLst/>
          </a:prstGeom>
        </p:spPr>
      </p:pic>
      <p:grpSp>
        <p:nvGrpSpPr>
          <p:cNvPr id="66" name="Группа 181">
            <a:extLst>
              <a:ext uri="{FF2B5EF4-FFF2-40B4-BE49-F238E27FC236}">
                <a16:creationId xmlns:a16="http://schemas.microsoft.com/office/drawing/2014/main" id="{8946976C-EE62-4BFE-9261-B9F9E14E28CA}"/>
              </a:ext>
            </a:extLst>
          </p:cNvPr>
          <p:cNvGrpSpPr>
            <a:grpSpLocks noChangeAspect="1"/>
          </p:cNvGrpSpPr>
          <p:nvPr/>
        </p:nvGrpSpPr>
        <p:grpSpPr>
          <a:xfrm>
            <a:off x="1321662" y="2873501"/>
            <a:ext cx="321544" cy="351527"/>
            <a:chOff x="1399597" y="1241772"/>
            <a:chExt cx="850284" cy="929571"/>
          </a:xfrm>
        </p:grpSpPr>
        <p:sp>
          <p:nvSpPr>
            <p:cNvPr id="67" name="Полилиния: фигура 20">
              <a:extLst>
                <a:ext uri="{FF2B5EF4-FFF2-40B4-BE49-F238E27FC236}">
                  <a16:creationId xmlns:a16="http://schemas.microsoft.com/office/drawing/2014/main" id="{EA8A4F48-BD5F-41EB-88C0-CA247BF232AE}"/>
                </a:ext>
              </a:extLst>
            </p:cNvPr>
            <p:cNvSpPr/>
            <p:nvPr/>
          </p:nvSpPr>
          <p:spPr>
            <a:xfrm>
              <a:off x="1946404" y="131012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DDB6D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: фигура 21">
              <a:extLst>
                <a:ext uri="{FF2B5EF4-FFF2-40B4-BE49-F238E27FC236}">
                  <a16:creationId xmlns:a16="http://schemas.microsoft.com/office/drawing/2014/main" id="{9D8DF524-677F-4DF2-B15B-CC7E8498345D}"/>
                </a:ext>
              </a:extLst>
            </p:cNvPr>
            <p:cNvSpPr/>
            <p:nvPr/>
          </p:nvSpPr>
          <p:spPr>
            <a:xfrm>
              <a:off x="2126850" y="1446824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: фигура 22">
              <a:extLst>
                <a:ext uri="{FF2B5EF4-FFF2-40B4-BE49-F238E27FC236}">
                  <a16:creationId xmlns:a16="http://schemas.microsoft.com/office/drawing/2014/main" id="{70412FD5-C055-4ABB-A25E-8AE007069AB5}"/>
                </a:ext>
              </a:extLst>
            </p:cNvPr>
            <p:cNvSpPr/>
            <p:nvPr/>
          </p:nvSpPr>
          <p:spPr>
            <a:xfrm>
              <a:off x="1935467" y="1534313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30074 w 136701"/>
                <a:gd name="connsiteY5" fmla="*/ 106627 h 133967"/>
                <a:gd name="connsiteX6" fmla="*/ 112095 w 136701"/>
                <a:gd name="connsiteY6" fmla="*/ 106627 h 133967"/>
                <a:gd name="connsiteX7" fmla="*/ 112095 w 136701"/>
                <a:gd name="connsiteY7" fmla="*/ 27340 h 133967"/>
                <a:gd name="connsiteX8" fmla="*/ 30074 w 136701"/>
                <a:gd name="connsiteY8" fmla="*/ 27340 h 133967"/>
                <a:gd name="connsiteX9" fmla="*/ 30074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30074" y="106627"/>
                  </a:moveTo>
                  <a:lnTo>
                    <a:pt x="112095" y="106627"/>
                  </a:lnTo>
                  <a:lnTo>
                    <a:pt x="112095" y="27340"/>
                  </a:lnTo>
                  <a:lnTo>
                    <a:pt x="30074" y="27340"/>
                  </a:lnTo>
                  <a:lnTo>
                    <a:pt x="30074" y="106627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: фигура 23">
              <a:extLst>
                <a:ext uri="{FF2B5EF4-FFF2-40B4-BE49-F238E27FC236}">
                  <a16:creationId xmlns:a16="http://schemas.microsoft.com/office/drawing/2014/main" id="{C9DE4BED-9526-41FD-89B4-65F2FC5D3BD1}"/>
                </a:ext>
              </a:extLst>
            </p:cNvPr>
            <p:cNvSpPr/>
            <p:nvPr/>
          </p:nvSpPr>
          <p:spPr>
            <a:xfrm>
              <a:off x="2132318" y="1660079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DDB6D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: фигура 24">
              <a:extLst>
                <a:ext uri="{FF2B5EF4-FFF2-40B4-BE49-F238E27FC236}">
                  <a16:creationId xmlns:a16="http://schemas.microsoft.com/office/drawing/2014/main" id="{73EC7D2C-8A3A-4907-87CA-FE9FF7CC8882}"/>
                </a:ext>
              </a:extLst>
            </p:cNvPr>
            <p:cNvSpPr/>
            <p:nvPr/>
          </p:nvSpPr>
          <p:spPr>
            <a:xfrm>
              <a:off x="1946404" y="176397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DDB6D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: фигура 25">
              <a:extLst>
                <a:ext uri="{FF2B5EF4-FFF2-40B4-BE49-F238E27FC236}">
                  <a16:creationId xmlns:a16="http://schemas.microsoft.com/office/drawing/2014/main" id="{42898948-36F3-4D85-8E4D-4870D65A187A}"/>
                </a:ext>
              </a:extLst>
            </p:cNvPr>
            <p:cNvSpPr/>
            <p:nvPr/>
          </p:nvSpPr>
          <p:spPr>
            <a:xfrm>
              <a:off x="1946404" y="1974493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: фигура 26">
              <a:extLst>
                <a:ext uri="{FF2B5EF4-FFF2-40B4-BE49-F238E27FC236}">
                  <a16:creationId xmlns:a16="http://schemas.microsoft.com/office/drawing/2014/main" id="{C44BAABF-EB94-48E7-89EA-939830CDFD02}"/>
                </a:ext>
              </a:extLst>
            </p:cNvPr>
            <p:cNvSpPr/>
            <p:nvPr/>
          </p:nvSpPr>
          <p:spPr>
            <a:xfrm>
              <a:off x="2113180" y="1854195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27340 w 136701"/>
                <a:gd name="connsiteY5" fmla="*/ 106627 h 133967"/>
                <a:gd name="connsiteX6" fmla="*/ 109361 w 136701"/>
                <a:gd name="connsiteY6" fmla="*/ 106627 h 133967"/>
                <a:gd name="connsiteX7" fmla="*/ 109361 w 136701"/>
                <a:gd name="connsiteY7" fmla="*/ 27340 h 133967"/>
                <a:gd name="connsiteX8" fmla="*/ 27340 w 136701"/>
                <a:gd name="connsiteY8" fmla="*/ 27340 h 133967"/>
                <a:gd name="connsiteX9" fmla="*/ 27340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27340" y="106627"/>
                  </a:moveTo>
                  <a:lnTo>
                    <a:pt x="109361" y="106627"/>
                  </a:lnTo>
                  <a:lnTo>
                    <a:pt x="109361" y="27340"/>
                  </a:lnTo>
                  <a:lnTo>
                    <a:pt x="27340" y="27340"/>
                  </a:lnTo>
                  <a:lnTo>
                    <a:pt x="27340" y="106627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: фигура 27">
              <a:extLst>
                <a:ext uri="{FF2B5EF4-FFF2-40B4-BE49-F238E27FC236}">
                  <a16:creationId xmlns:a16="http://schemas.microsoft.com/office/drawing/2014/main" id="{DC17569F-10EB-4327-B568-5B8CD0550148}"/>
                </a:ext>
              </a:extLst>
            </p:cNvPr>
            <p:cNvSpPr/>
            <p:nvPr/>
          </p:nvSpPr>
          <p:spPr>
            <a:xfrm>
              <a:off x="1399597" y="1241772"/>
              <a:ext cx="489392" cy="929571"/>
            </a:xfrm>
            <a:custGeom>
              <a:avLst/>
              <a:gdLst>
                <a:gd name="connsiteX0" fmla="*/ 472988 w 489392"/>
                <a:gd name="connsiteY0" fmla="*/ 929572 h 929571"/>
                <a:gd name="connsiteX1" fmla="*/ 382765 w 489392"/>
                <a:gd name="connsiteY1" fmla="*/ 929572 h 929571"/>
                <a:gd name="connsiteX2" fmla="*/ 369095 w 489392"/>
                <a:gd name="connsiteY2" fmla="*/ 918636 h 929571"/>
                <a:gd name="connsiteX3" fmla="*/ 355425 w 489392"/>
                <a:gd name="connsiteY3" fmla="*/ 825679 h 929571"/>
                <a:gd name="connsiteX4" fmla="*/ 336286 w 489392"/>
                <a:gd name="connsiteY4" fmla="*/ 817476 h 929571"/>
                <a:gd name="connsiteX5" fmla="*/ 292542 w 489392"/>
                <a:gd name="connsiteY5" fmla="*/ 798338 h 929571"/>
                <a:gd name="connsiteX6" fmla="*/ 215989 w 489392"/>
                <a:gd name="connsiteY6" fmla="*/ 847551 h 929571"/>
                <a:gd name="connsiteX7" fmla="*/ 199585 w 489392"/>
                <a:gd name="connsiteY7" fmla="*/ 844817 h 929571"/>
                <a:gd name="connsiteX8" fmla="*/ 84755 w 489392"/>
                <a:gd name="connsiteY8" fmla="*/ 729987 h 929571"/>
                <a:gd name="connsiteX9" fmla="*/ 82021 w 489392"/>
                <a:gd name="connsiteY9" fmla="*/ 713583 h 929571"/>
                <a:gd name="connsiteX10" fmla="*/ 133968 w 489392"/>
                <a:gd name="connsiteY10" fmla="*/ 637030 h 929571"/>
                <a:gd name="connsiteX11" fmla="*/ 106627 w 489392"/>
                <a:gd name="connsiteY11" fmla="*/ 571413 h 929571"/>
                <a:gd name="connsiteX12" fmla="*/ 10936 w 489392"/>
                <a:gd name="connsiteY12" fmla="*/ 557743 h 929571"/>
                <a:gd name="connsiteX13" fmla="*/ 0 w 489392"/>
                <a:gd name="connsiteY13" fmla="*/ 546807 h 929571"/>
                <a:gd name="connsiteX14" fmla="*/ 0 w 489392"/>
                <a:gd name="connsiteY14" fmla="*/ 382765 h 929571"/>
                <a:gd name="connsiteX15" fmla="*/ 10936 w 489392"/>
                <a:gd name="connsiteY15" fmla="*/ 369095 h 929571"/>
                <a:gd name="connsiteX16" fmla="*/ 103893 w 489392"/>
                <a:gd name="connsiteY16" fmla="*/ 355425 h 929571"/>
                <a:gd name="connsiteX17" fmla="*/ 112095 w 489392"/>
                <a:gd name="connsiteY17" fmla="*/ 336286 h 929571"/>
                <a:gd name="connsiteX18" fmla="*/ 131234 w 489392"/>
                <a:gd name="connsiteY18" fmla="*/ 292542 h 929571"/>
                <a:gd name="connsiteX19" fmla="*/ 79287 w 489392"/>
                <a:gd name="connsiteY19" fmla="*/ 213255 h 929571"/>
                <a:gd name="connsiteX20" fmla="*/ 82021 w 489392"/>
                <a:gd name="connsiteY20" fmla="*/ 196851 h 929571"/>
                <a:gd name="connsiteX21" fmla="*/ 196851 w 489392"/>
                <a:gd name="connsiteY21" fmla="*/ 82021 h 929571"/>
                <a:gd name="connsiteX22" fmla="*/ 213255 w 489392"/>
                <a:gd name="connsiteY22" fmla="*/ 79287 h 929571"/>
                <a:gd name="connsiteX23" fmla="*/ 289808 w 489392"/>
                <a:gd name="connsiteY23" fmla="*/ 131234 h 929571"/>
                <a:gd name="connsiteX24" fmla="*/ 355425 w 489392"/>
                <a:gd name="connsiteY24" fmla="*/ 103893 h 929571"/>
                <a:gd name="connsiteX25" fmla="*/ 369095 w 489392"/>
                <a:gd name="connsiteY25" fmla="*/ 10936 h 929571"/>
                <a:gd name="connsiteX26" fmla="*/ 382765 w 489392"/>
                <a:gd name="connsiteY26" fmla="*/ 0 h 929571"/>
                <a:gd name="connsiteX27" fmla="*/ 475722 w 489392"/>
                <a:gd name="connsiteY27" fmla="*/ 0 h 929571"/>
                <a:gd name="connsiteX28" fmla="*/ 489392 w 489392"/>
                <a:gd name="connsiteY28" fmla="*/ 13670 h 929571"/>
                <a:gd name="connsiteX29" fmla="*/ 489392 w 489392"/>
                <a:gd name="connsiteY29" fmla="*/ 256999 h 929571"/>
                <a:gd name="connsiteX30" fmla="*/ 475722 w 489392"/>
                <a:gd name="connsiteY30" fmla="*/ 270669 h 929571"/>
                <a:gd name="connsiteX31" fmla="*/ 287074 w 489392"/>
                <a:gd name="connsiteY31" fmla="*/ 374563 h 929571"/>
                <a:gd name="connsiteX32" fmla="*/ 267935 w 489392"/>
                <a:gd name="connsiteY32" fmla="*/ 380031 h 929571"/>
                <a:gd name="connsiteX33" fmla="*/ 262467 w 489392"/>
                <a:gd name="connsiteY33" fmla="*/ 360893 h 929571"/>
                <a:gd name="connsiteX34" fmla="*/ 462052 w 489392"/>
                <a:gd name="connsiteY34" fmla="*/ 243329 h 929571"/>
                <a:gd name="connsiteX35" fmla="*/ 462052 w 489392"/>
                <a:gd name="connsiteY35" fmla="*/ 27340 h 929571"/>
                <a:gd name="connsiteX36" fmla="*/ 393701 w 489392"/>
                <a:gd name="connsiteY36" fmla="*/ 27340 h 929571"/>
                <a:gd name="connsiteX37" fmla="*/ 380031 w 489392"/>
                <a:gd name="connsiteY37" fmla="*/ 114829 h 929571"/>
                <a:gd name="connsiteX38" fmla="*/ 369095 w 489392"/>
                <a:gd name="connsiteY38" fmla="*/ 125766 h 929571"/>
                <a:gd name="connsiteX39" fmla="*/ 295276 w 489392"/>
                <a:gd name="connsiteY39" fmla="*/ 158574 h 929571"/>
                <a:gd name="connsiteX40" fmla="*/ 278872 w 489392"/>
                <a:gd name="connsiteY40" fmla="*/ 158574 h 929571"/>
                <a:gd name="connsiteX41" fmla="*/ 207787 w 489392"/>
                <a:gd name="connsiteY41" fmla="*/ 109361 h 929571"/>
                <a:gd name="connsiteX42" fmla="*/ 109361 w 489392"/>
                <a:gd name="connsiteY42" fmla="*/ 207787 h 929571"/>
                <a:gd name="connsiteX43" fmla="*/ 161308 w 489392"/>
                <a:gd name="connsiteY43" fmla="*/ 281606 h 929571"/>
                <a:gd name="connsiteX44" fmla="*/ 161308 w 489392"/>
                <a:gd name="connsiteY44" fmla="*/ 295276 h 929571"/>
                <a:gd name="connsiteX45" fmla="*/ 139436 w 489392"/>
                <a:gd name="connsiteY45" fmla="*/ 344488 h 929571"/>
                <a:gd name="connsiteX46" fmla="*/ 128500 w 489392"/>
                <a:gd name="connsiteY46" fmla="*/ 371829 h 929571"/>
                <a:gd name="connsiteX47" fmla="*/ 117564 w 489392"/>
                <a:gd name="connsiteY47" fmla="*/ 380031 h 929571"/>
                <a:gd name="connsiteX48" fmla="*/ 27340 w 489392"/>
                <a:gd name="connsiteY48" fmla="*/ 396435 h 929571"/>
                <a:gd name="connsiteX49" fmla="*/ 27340 w 489392"/>
                <a:gd name="connsiteY49" fmla="*/ 535871 h 929571"/>
                <a:gd name="connsiteX50" fmla="*/ 117564 w 489392"/>
                <a:gd name="connsiteY50" fmla="*/ 546807 h 929571"/>
                <a:gd name="connsiteX51" fmla="*/ 128500 w 489392"/>
                <a:gd name="connsiteY51" fmla="*/ 557743 h 929571"/>
                <a:gd name="connsiteX52" fmla="*/ 161308 w 489392"/>
                <a:gd name="connsiteY52" fmla="*/ 631562 h 929571"/>
                <a:gd name="connsiteX53" fmla="*/ 161308 w 489392"/>
                <a:gd name="connsiteY53" fmla="*/ 647966 h 929571"/>
                <a:gd name="connsiteX54" fmla="*/ 109361 w 489392"/>
                <a:gd name="connsiteY54" fmla="*/ 721785 h 929571"/>
                <a:gd name="connsiteX55" fmla="*/ 210521 w 489392"/>
                <a:gd name="connsiteY55" fmla="*/ 820211 h 929571"/>
                <a:gd name="connsiteX56" fmla="*/ 284340 w 489392"/>
                <a:gd name="connsiteY56" fmla="*/ 768264 h 929571"/>
                <a:gd name="connsiteX57" fmla="*/ 298010 w 489392"/>
                <a:gd name="connsiteY57" fmla="*/ 768264 h 929571"/>
                <a:gd name="connsiteX58" fmla="*/ 347222 w 489392"/>
                <a:gd name="connsiteY58" fmla="*/ 790136 h 929571"/>
                <a:gd name="connsiteX59" fmla="*/ 374563 w 489392"/>
                <a:gd name="connsiteY59" fmla="*/ 801072 h 929571"/>
                <a:gd name="connsiteX60" fmla="*/ 382765 w 489392"/>
                <a:gd name="connsiteY60" fmla="*/ 812008 h 929571"/>
                <a:gd name="connsiteX61" fmla="*/ 396435 w 489392"/>
                <a:gd name="connsiteY61" fmla="*/ 899498 h 929571"/>
                <a:gd name="connsiteX62" fmla="*/ 462052 w 489392"/>
                <a:gd name="connsiteY62" fmla="*/ 899498 h 929571"/>
                <a:gd name="connsiteX63" fmla="*/ 462052 w 489392"/>
                <a:gd name="connsiteY63" fmla="*/ 683509 h 929571"/>
                <a:gd name="connsiteX64" fmla="*/ 265201 w 489392"/>
                <a:gd name="connsiteY64" fmla="*/ 571413 h 929571"/>
                <a:gd name="connsiteX65" fmla="*/ 270669 w 489392"/>
                <a:gd name="connsiteY65" fmla="*/ 552275 h 929571"/>
                <a:gd name="connsiteX66" fmla="*/ 289808 w 489392"/>
                <a:gd name="connsiteY66" fmla="*/ 557743 h 929571"/>
                <a:gd name="connsiteX67" fmla="*/ 475722 w 489392"/>
                <a:gd name="connsiteY67" fmla="*/ 656168 h 929571"/>
                <a:gd name="connsiteX68" fmla="*/ 489392 w 489392"/>
                <a:gd name="connsiteY68" fmla="*/ 669839 h 929571"/>
                <a:gd name="connsiteX69" fmla="*/ 489392 w 489392"/>
                <a:gd name="connsiteY69" fmla="*/ 913168 h 929571"/>
                <a:gd name="connsiteX70" fmla="*/ 486658 w 489392"/>
                <a:gd name="connsiteY70" fmla="*/ 924104 h 929571"/>
                <a:gd name="connsiteX71" fmla="*/ 472988 w 489392"/>
                <a:gd name="connsiteY71" fmla="*/ 929572 h 92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89392" h="929571">
                  <a:moveTo>
                    <a:pt x="472988" y="929572"/>
                  </a:moveTo>
                  <a:lnTo>
                    <a:pt x="382765" y="929572"/>
                  </a:lnTo>
                  <a:cubicBezTo>
                    <a:pt x="377297" y="929572"/>
                    <a:pt x="369095" y="924104"/>
                    <a:pt x="369095" y="918636"/>
                  </a:cubicBezTo>
                  <a:lnTo>
                    <a:pt x="355425" y="825679"/>
                  </a:lnTo>
                  <a:cubicBezTo>
                    <a:pt x="349957" y="822945"/>
                    <a:pt x="341754" y="820211"/>
                    <a:pt x="336286" y="817476"/>
                  </a:cubicBezTo>
                  <a:cubicBezTo>
                    <a:pt x="319882" y="812008"/>
                    <a:pt x="306212" y="803806"/>
                    <a:pt x="292542" y="798338"/>
                  </a:cubicBezTo>
                  <a:lnTo>
                    <a:pt x="215989" y="847551"/>
                  </a:lnTo>
                  <a:cubicBezTo>
                    <a:pt x="210521" y="850285"/>
                    <a:pt x="202319" y="850285"/>
                    <a:pt x="199585" y="844817"/>
                  </a:cubicBezTo>
                  <a:lnTo>
                    <a:pt x="84755" y="729987"/>
                  </a:lnTo>
                  <a:cubicBezTo>
                    <a:pt x="79287" y="724519"/>
                    <a:pt x="79287" y="719051"/>
                    <a:pt x="82021" y="713583"/>
                  </a:cubicBezTo>
                  <a:lnTo>
                    <a:pt x="133968" y="637030"/>
                  </a:lnTo>
                  <a:cubicBezTo>
                    <a:pt x="120298" y="615158"/>
                    <a:pt x="112095" y="596020"/>
                    <a:pt x="106627" y="571413"/>
                  </a:cubicBezTo>
                  <a:lnTo>
                    <a:pt x="10936" y="557743"/>
                  </a:lnTo>
                  <a:cubicBezTo>
                    <a:pt x="5468" y="560477"/>
                    <a:pt x="0" y="555009"/>
                    <a:pt x="0" y="546807"/>
                  </a:cubicBezTo>
                  <a:lnTo>
                    <a:pt x="0" y="382765"/>
                  </a:lnTo>
                  <a:cubicBezTo>
                    <a:pt x="0" y="377297"/>
                    <a:pt x="5468" y="369095"/>
                    <a:pt x="10936" y="369095"/>
                  </a:cubicBezTo>
                  <a:lnTo>
                    <a:pt x="103893" y="355425"/>
                  </a:lnTo>
                  <a:cubicBezTo>
                    <a:pt x="106627" y="349957"/>
                    <a:pt x="109361" y="341754"/>
                    <a:pt x="112095" y="336286"/>
                  </a:cubicBezTo>
                  <a:cubicBezTo>
                    <a:pt x="117564" y="319882"/>
                    <a:pt x="125766" y="306212"/>
                    <a:pt x="131234" y="292542"/>
                  </a:cubicBezTo>
                  <a:lnTo>
                    <a:pt x="79287" y="213255"/>
                  </a:lnTo>
                  <a:cubicBezTo>
                    <a:pt x="76553" y="207787"/>
                    <a:pt x="76553" y="199585"/>
                    <a:pt x="82021" y="196851"/>
                  </a:cubicBezTo>
                  <a:lnTo>
                    <a:pt x="196851" y="82021"/>
                  </a:lnTo>
                  <a:cubicBezTo>
                    <a:pt x="202319" y="76553"/>
                    <a:pt x="207787" y="76553"/>
                    <a:pt x="213255" y="79287"/>
                  </a:cubicBezTo>
                  <a:lnTo>
                    <a:pt x="289808" y="131234"/>
                  </a:lnTo>
                  <a:cubicBezTo>
                    <a:pt x="311680" y="117564"/>
                    <a:pt x="330818" y="109361"/>
                    <a:pt x="355425" y="103893"/>
                  </a:cubicBezTo>
                  <a:lnTo>
                    <a:pt x="369095" y="10936"/>
                  </a:lnTo>
                  <a:cubicBezTo>
                    <a:pt x="369095" y="5468"/>
                    <a:pt x="374563" y="0"/>
                    <a:pt x="382765" y="0"/>
                  </a:cubicBezTo>
                  <a:lnTo>
                    <a:pt x="475722" y="0"/>
                  </a:lnTo>
                  <a:cubicBezTo>
                    <a:pt x="483924" y="0"/>
                    <a:pt x="489392" y="5468"/>
                    <a:pt x="489392" y="13670"/>
                  </a:cubicBezTo>
                  <a:lnTo>
                    <a:pt x="489392" y="256999"/>
                  </a:lnTo>
                  <a:cubicBezTo>
                    <a:pt x="489392" y="265201"/>
                    <a:pt x="483924" y="270669"/>
                    <a:pt x="475722" y="270669"/>
                  </a:cubicBezTo>
                  <a:cubicBezTo>
                    <a:pt x="396435" y="270669"/>
                    <a:pt x="317148" y="314414"/>
                    <a:pt x="287074" y="374563"/>
                  </a:cubicBezTo>
                  <a:cubicBezTo>
                    <a:pt x="284340" y="380031"/>
                    <a:pt x="276138" y="382765"/>
                    <a:pt x="267935" y="380031"/>
                  </a:cubicBezTo>
                  <a:cubicBezTo>
                    <a:pt x="262467" y="377297"/>
                    <a:pt x="259733" y="369095"/>
                    <a:pt x="262467" y="360893"/>
                  </a:cubicBezTo>
                  <a:cubicBezTo>
                    <a:pt x="298010" y="295276"/>
                    <a:pt x="380031" y="246063"/>
                    <a:pt x="462052" y="243329"/>
                  </a:cubicBezTo>
                  <a:lnTo>
                    <a:pt x="462052" y="27340"/>
                  </a:lnTo>
                  <a:lnTo>
                    <a:pt x="393701" y="27340"/>
                  </a:lnTo>
                  <a:lnTo>
                    <a:pt x="380031" y="114829"/>
                  </a:lnTo>
                  <a:cubicBezTo>
                    <a:pt x="380031" y="120298"/>
                    <a:pt x="374563" y="125766"/>
                    <a:pt x="369095" y="125766"/>
                  </a:cubicBezTo>
                  <a:cubicBezTo>
                    <a:pt x="341754" y="133968"/>
                    <a:pt x="319882" y="142170"/>
                    <a:pt x="295276" y="158574"/>
                  </a:cubicBezTo>
                  <a:cubicBezTo>
                    <a:pt x="289808" y="161308"/>
                    <a:pt x="284340" y="161308"/>
                    <a:pt x="278872" y="158574"/>
                  </a:cubicBezTo>
                  <a:lnTo>
                    <a:pt x="207787" y="109361"/>
                  </a:lnTo>
                  <a:lnTo>
                    <a:pt x="109361" y="207787"/>
                  </a:lnTo>
                  <a:lnTo>
                    <a:pt x="161308" y="281606"/>
                  </a:lnTo>
                  <a:cubicBezTo>
                    <a:pt x="164042" y="287074"/>
                    <a:pt x="164042" y="289808"/>
                    <a:pt x="161308" y="295276"/>
                  </a:cubicBezTo>
                  <a:cubicBezTo>
                    <a:pt x="153106" y="311680"/>
                    <a:pt x="144904" y="328084"/>
                    <a:pt x="139436" y="344488"/>
                  </a:cubicBezTo>
                  <a:cubicBezTo>
                    <a:pt x="136702" y="352691"/>
                    <a:pt x="131234" y="363627"/>
                    <a:pt x="128500" y="371829"/>
                  </a:cubicBezTo>
                  <a:cubicBezTo>
                    <a:pt x="125766" y="377297"/>
                    <a:pt x="123032" y="380031"/>
                    <a:pt x="117564" y="380031"/>
                  </a:cubicBezTo>
                  <a:lnTo>
                    <a:pt x="27340" y="396435"/>
                  </a:lnTo>
                  <a:lnTo>
                    <a:pt x="27340" y="535871"/>
                  </a:lnTo>
                  <a:lnTo>
                    <a:pt x="117564" y="546807"/>
                  </a:lnTo>
                  <a:cubicBezTo>
                    <a:pt x="123032" y="546807"/>
                    <a:pt x="128500" y="552275"/>
                    <a:pt x="128500" y="557743"/>
                  </a:cubicBezTo>
                  <a:cubicBezTo>
                    <a:pt x="136702" y="585084"/>
                    <a:pt x="144904" y="606956"/>
                    <a:pt x="161308" y="631562"/>
                  </a:cubicBezTo>
                  <a:cubicBezTo>
                    <a:pt x="164042" y="637030"/>
                    <a:pt x="164042" y="642498"/>
                    <a:pt x="161308" y="647966"/>
                  </a:cubicBezTo>
                  <a:lnTo>
                    <a:pt x="109361" y="721785"/>
                  </a:lnTo>
                  <a:lnTo>
                    <a:pt x="210521" y="820211"/>
                  </a:lnTo>
                  <a:lnTo>
                    <a:pt x="284340" y="768264"/>
                  </a:lnTo>
                  <a:cubicBezTo>
                    <a:pt x="287074" y="765530"/>
                    <a:pt x="292542" y="765530"/>
                    <a:pt x="298010" y="768264"/>
                  </a:cubicBezTo>
                  <a:cubicBezTo>
                    <a:pt x="314414" y="776466"/>
                    <a:pt x="330818" y="784668"/>
                    <a:pt x="347222" y="790136"/>
                  </a:cubicBezTo>
                  <a:cubicBezTo>
                    <a:pt x="355425" y="792870"/>
                    <a:pt x="366361" y="798338"/>
                    <a:pt x="374563" y="801072"/>
                  </a:cubicBezTo>
                  <a:cubicBezTo>
                    <a:pt x="380031" y="803806"/>
                    <a:pt x="382765" y="806540"/>
                    <a:pt x="382765" y="812008"/>
                  </a:cubicBezTo>
                  <a:lnTo>
                    <a:pt x="396435" y="899498"/>
                  </a:lnTo>
                  <a:lnTo>
                    <a:pt x="462052" y="899498"/>
                  </a:lnTo>
                  <a:lnTo>
                    <a:pt x="462052" y="683509"/>
                  </a:lnTo>
                  <a:cubicBezTo>
                    <a:pt x="382765" y="678041"/>
                    <a:pt x="300744" y="631562"/>
                    <a:pt x="265201" y="571413"/>
                  </a:cubicBezTo>
                  <a:cubicBezTo>
                    <a:pt x="262467" y="565945"/>
                    <a:pt x="262467" y="557743"/>
                    <a:pt x="270669" y="552275"/>
                  </a:cubicBezTo>
                  <a:cubicBezTo>
                    <a:pt x="276138" y="549541"/>
                    <a:pt x="284340" y="549541"/>
                    <a:pt x="289808" y="557743"/>
                  </a:cubicBezTo>
                  <a:cubicBezTo>
                    <a:pt x="322616" y="615158"/>
                    <a:pt x="401903" y="656168"/>
                    <a:pt x="475722" y="656168"/>
                  </a:cubicBezTo>
                  <a:cubicBezTo>
                    <a:pt x="483924" y="656168"/>
                    <a:pt x="489392" y="661637"/>
                    <a:pt x="489392" y="669839"/>
                  </a:cubicBezTo>
                  <a:lnTo>
                    <a:pt x="489392" y="913168"/>
                  </a:lnTo>
                  <a:cubicBezTo>
                    <a:pt x="489392" y="915902"/>
                    <a:pt x="486658" y="921370"/>
                    <a:pt x="486658" y="924104"/>
                  </a:cubicBezTo>
                  <a:cubicBezTo>
                    <a:pt x="486658" y="926838"/>
                    <a:pt x="478456" y="929572"/>
                    <a:pt x="472988" y="929572"/>
                  </a:cubicBez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5" name="Группа 530">
            <a:extLst>
              <a:ext uri="{FF2B5EF4-FFF2-40B4-BE49-F238E27FC236}">
                <a16:creationId xmlns:a16="http://schemas.microsoft.com/office/drawing/2014/main" id="{04D9E491-3C58-46EC-8B15-76E83B88CED5}"/>
              </a:ext>
            </a:extLst>
          </p:cNvPr>
          <p:cNvGrpSpPr>
            <a:grpSpLocks noChangeAspect="1"/>
          </p:cNvGrpSpPr>
          <p:nvPr/>
        </p:nvGrpSpPr>
        <p:grpSpPr>
          <a:xfrm>
            <a:off x="3387301" y="2908613"/>
            <a:ext cx="414085" cy="300852"/>
            <a:chOff x="4632875" y="2937660"/>
            <a:chExt cx="1131704" cy="822237"/>
          </a:xfrm>
        </p:grpSpPr>
        <p:sp>
          <p:nvSpPr>
            <p:cNvPr id="76" name="Полилиния: фигура 60">
              <a:extLst>
                <a:ext uri="{FF2B5EF4-FFF2-40B4-BE49-F238E27FC236}">
                  <a16:creationId xmlns:a16="http://schemas.microsoft.com/office/drawing/2014/main" id="{B78CE1B0-85D1-4E0B-A67D-D627D71D8715}"/>
                </a:ext>
              </a:extLst>
            </p:cNvPr>
            <p:cNvSpPr/>
            <p:nvPr/>
          </p:nvSpPr>
          <p:spPr>
            <a:xfrm>
              <a:off x="4632875" y="2937660"/>
              <a:ext cx="945136" cy="721286"/>
            </a:xfrm>
            <a:custGeom>
              <a:avLst/>
              <a:gdLst>
                <a:gd name="connsiteX0" fmla="*/ 123600 w 945136"/>
                <a:gd name="connsiteY0" fmla="*/ 721286 h 721286"/>
                <a:gd name="connsiteX1" fmla="*/ 6875 w 945136"/>
                <a:gd name="connsiteY1" fmla="*/ 500455 h 721286"/>
                <a:gd name="connsiteX2" fmla="*/ 205623 w 945136"/>
                <a:gd name="connsiteY2" fmla="*/ 61948 h 721286"/>
                <a:gd name="connsiteX3" fmla="*/ 612583 w 945136"/>
                <a:gd name="connsiteY3" fmla="*/ 43019 h 721286"/>
                <a:gd name="connsiteX4" fmla="*/ 849188 w 945136"/>
                <a:gd name="connsiteY4" fmla="*/ 342719 h 721286"/>
                <a:gd name="connsiteX5" fmla="*/ 855498 w 945136"/>
                <a:gd name="connsiteY5" fmla="*/ 390040 h 721286"/>
                <a:gd name="connsiteX6" fmla="*/ 855498 w 945136"/>
                <a:gd name="connsiteY6" fmla="*/ 393194 h 721286"/>
                <a:gd name="connsiteX7" fmla="*/ 899664 w 945136"/>
                <a:gd name="connsiteY7" fmla="*/ 393194 h 721286"/>
                <a:gd name="connsiteX8" fmla="*/ 928057 w 945136"/>
                <a:gd name="connsiteY8" fmla="*/ 393194 h 721286"/>
                <a:gd name="connsiteX9" fmla="*/ 943830 w 945136"/>
                <a:gd name="connsiteY9" fmla="*/ 402658 h 721286"/>
                <a:gd name="connsiteX10" fmla="*/ 940675 w 945136"/>
                <a:gd name="connsiteY10" fmla="*/ 421587 h 721286"/>
                <a:gd name="connsiteX11" fmla="*/ 789248 w 945136"/>
                <a:gd name="connsiteY11" fmla="*/ 557240 h 721286"/>
                <a:gd name="connsiteX12" fmla="*/ 767165 w 945136"/>
                <a:gd name="connsiteY12" fmla="*/ 557240 h 721286"/>
                <a:gd name="connsiteX13" fmla="*/ 628357 w 945136"/>
                <a:gd name="connsiteY13" fmla="*/ 427896 h 721286"/>
                <a:gd name="connsiteX14" fmla="*/ 625202 w 945136"/>
                <a:gd name="connsiteY14" fmla="*/ 412123 h 721286"/>
                <a:gd name="connsiteX15" fmla="*/ 637821 w 945136"/>
                <a:gd name="connsiteY15" fmla="*/ 402658 h 721286"/>
                <a:gd name="connsiteX16" fmla="*/ 719844 w 945136"/>
                <a:gd name="connsiteY16" fmla="*/ 396349 h 721286"/>
                <a:gd name="connsiteX17" fmla="*/ 713535 w 945136"/>
                <a:gd name="connsiteY17" fmla="*/ 364802 h 721286"/>
                <a:gd name="connsiteX18" fmla="*/ 464311 w 945136"/>
                <a:gd name="connsiteY18" fmla="*/ 131352 h 721286"/>
                <a:gd name="connsiteX19" fmla="*/ 177230 w 945136"/>
                <a:gd name="connsiteY19" fmla="*/ 260695 h 721286"/>
                <a:gd name="connsiteX20" fmla="*/ 180385 w 945136"/>
                <a:gd name="connsiteY20" fmla="*/ 579324 h 721286"/>
                <a:gd name="connsiteX21" fmla="*/ 221397 w 945136"/>
                <a:gd name="connsiteY21" fmla="*/ 629799 h 721286"/>
                <a:gd name="connsiteX22" fmla="*/ 199313 w 945136"/>
                <a:gd name="connsiteY22" fmla="*/ 651882 h 721286"/>
                <a:gd name="connsiteX23" fmla="*/ 155147 w 945136"/>
                <a:gd name="connsiteY23" fmla="*/ 598252 h 721286"/>
                <a:gd name="connsiteX24" fmla="*/ 151992 w 945136"/>
                <a:gd name="connsiteY24" fmla="*/ 244922 h 721286"/>
                <a:gd name="connsiteX25" fmla="*/ 467466 w 945136"/>
                <a:gd name="connsiteY25" fmla="*/ 102959 h 721286"/>
                <a:gd name="connsiteX26" fmla="*/ 745082 w 945136"/>
                <a:gd name="connsiteY26" fmla="*/ 361647 h 721286"/>
                <a:gd name="connsiteX27" fmla="*/ 751391 w 945136"/>
                <a:gd name="connsiteY27" fmla="*/ 393194 h 721286"/>
                <a:gd name="connsiteX28" fmla="*/ 754546 w 945136"/>
                <a:gd name="connsiteY28" fmla="*/ 408968 h 721286"/>
                <a:gd name="connsiteX29" fmla="*/ 751391 w 945136"/>
                <a:gd name="connsiteY29" fmla="*/ 421587 h 721286"/>
                <a:gd name="connsiteX30" fmla="*/ 745082 w 945136"/>
                <a:gd name="connsiteY30" fmla="*/ 427896 h 721286"/>
                <a:gd name="connsiteX31" fmla="*/ 681987 w 945136"/>
                <a:gd name="connsiteY31" fmla="*/ 431051 h 721286"/>
                <a:gd name="connsiteX32" fmla="*/ 782939 w 945136"/>
                <a:gd name="connsiteY32" fmla="*/ 525693 h 721286"/>
                <a:gd name="connsiteX33" fmla="*/ 896509 w 945136"/>
                <a:gd name="connsiteY33" fmla="*/ 424742 h 721286"/>
                <a:gd name="connsiteX34" fmla="*/ 855498 w 945136"/>
                <a:gd name="connsiteY34" fmla="*/ 424742 h 721286"/>
                <a:gd name="connsiteX35" fmla="*/ 830260 w 945136"/>
                <a:gd name="connsiteY35" fmla="*/ 402658 h 721286"/>
                <a:gd name="connsiteX36" fmla="*/ 830260 w 945136"/>
                <a:gd name="connsiteY36" fmla="*/ 393194 h 721286"/>
                <a:gd name="connsiteX37" fmla="*/ 823950 w 945136"/>
                <a:gd name="connsiteY37" fmla="*/ 349028 h 721286"/>
                <a:gd name="connsiteX38" fmla="*/ 603119 w 945136"/>
                <a:gd name="connsiteY38" fmla="*/ 71412 h 721286"/>
                <a:gd name="connsiteX39" fmla="*/ 227706 w 945136"/>
                <a:gd name="connsiteY39" fmla="*/ 87185 h 721286"/>
                <a:gd name="connsiteX40" fmla="*/ 44732 w 945136"/>
                <a:gd name="connsiteY40" fmla="*/ 490991 h 721286"/>
                <a:gd name="connsiteX41" fmla="*/ 151992 w 945136"/>
                <a:gd name="connsiteY41" fmla="*/ 696049 h 721286"/>
                <a:gd name="connsiteX42" fmla="*/ 123600 w 945136"/>
                <a:gd name="connsiteY42" fmla="*/ 721286 h 72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45136" h="721286">
                  <a:moveTo>
                    <a:pt x="123600" y="721286"/>
                  </a:moveTo>
                  <a:cubicBezTo>
                    <a:pt x="63660" y="664501"/>
                    <a:pt x="22648" y="588788"/>
                    <a:pt x="6875" y="500455"/>
                  </a:cubicBezTo>
                  <a:cubicBezTo>
                    <a:pt x="-24673" y="326945"/>
                    <a:pt x="54196" y="150280"/>
                    <a:pt x="205623" y="61948"/>
                  </a:cubicBezTo>
                  <a:cubicBezTo>
                    <a:pt x="334967" y="-13766"/>
                    <a:pt x="473775" y="-20076"/>
                    <a:pt x="612583" y="43019"/>
                  </a:cubicBezTo>
                  <a:cubicBezTo>
                    <a:pt x="738773" y="99804"/>
                    <a:pt x="817641" y="200756"/>
                    <a:pt x="849188" y="342719"/>
                  </a:cubicBezTo>
                  <a:cubicBezTo>
                    <a:pt x="852343" y="358492"/>
                    <a:pt x="855498" y="374266"/>
                    <a:pt x="855498" y="390040"/>
                  </a:cubicBezTo>
                  <a:lnTo>
                    <a:pt x="855498" y="393194"/>
                  </a:lnTo>
                  <a:cubicBezTo>
                    <a:pt x="871271" y="393194"/>
                    <a:pt x="887045" y="393194"/>
                    <a:pt x="899664" y="393194"/>
                  </a:cubicBezTo>
                  <a:lnTo>
                    <a:pt x="928057" y="393194"/>
                  </a:lnTo>
                  <a:cubicBezTo>
                    <a:pt x="934366" y="393194"/>
                    <a:pt x="940675" y="396349"/>
                    <a:pt x="943830" y="402658"/>
                  </a:cubicBezTo>
                  <a:cubicBezTo>
                    <a:pt x="946985" y="408968"/>
                    <a:pt x="943830" y="418432"/>
                    <a:pt x="940675" y="421587"/>
                  </a:cubicBezTo>
                  <a:lnTo>
                    <a:pt x="789248" y="557240"/>
                  </a:lnTo>
                  <a:cubicBezTo>
                    <a:pt x="782939" y="563550"/>
                    <a:pt x="773475" y="563550"/>
                    <a:pt x="767165" y="557240"/>
                  </a:cubicBezTo>
                  <a:lnTo>
                    <a:pt x="628357" y="427896"/>
                  </a:lnTo>
                  <a:cubicBezTo>
                    <a:pt x="625202" y="424742"/>
                    <a:pt x="622047" y="418432"/>
                    <a:pt x="625202" y="412123"/>
                  </a:cubicBezTo>
                  <a:cubicBezTo>
                    <a:pt x="628357" y="405813"/>
                    <a:pt x="631512" y="402658"/>
                    <a:pt x="637821" y="402658"/>
                  </a:cubicBezTo>
                  <a:lnTo>
                    <a:pt x="719844" y="396349"/>
                  </a:lnTo>
                  <a:cubicBezTo>
                    <a:pt x="716689" y="386885"/>
                    <a:pt x="716689" y="377421"/>
                    <a:pt x="713535" y="364802"/>
                  </a:cubicBezTo>
                  <a:cubicBezTo>
                    <a:pt x="694606" y="241767"/>
                    <a:pt x="587345" y="143970"/>
                    <a:pt x="464311" y="131352"/>
                  </a:cubicBezTo>
                  <a:cubicBezTo>
                    <a:pt x="341276" y="118733"/>
                    <a:pt x="243480" y="162899"/>
                    <a:pt x="177230" y="260695"/>
                  </a:cubicBezTo>
                  <a:cubicBezTo>
                    <a:pt x="110981" y="358492"/>
                    <a:pt x="114136" y="478372"/>
                    <a:pt x="180385" y="579324"/>
                  </a:cubicBezTo>
                  <a:cubicBezTo>
                    <a:pt x="193004" y="598252"/>
                    <a:pt x="205623" y="614026"/>
                    <a:pt x="221397" y="629799"/>
                  </a:cubicBezTo>
                  <a:lnTo>
                    <a:pt x="199313" y="651882"/>
                  </a:lnTo>
                  <a:cubicBezTo>
                    <a:pt x="183540" y="636109"/>
                    <a:pt x="167766" y="617180"/>
                    <a:pt x="155147" y="598252"/>
                  </a:cubicBezTo>
                  <a:cubicBezTo>
                    <a:pt x="79434" y="487836"/>
                    <a:pt x="76279" y="352183"/>
                    <a:pt x="151992" y="244922"/>
                  </a:cubicBezTo>
                  <a:cubicBezTo>
                    <a:pt x="224551" y="137661"/>
                    <a:pt x="334967" y="90340"/>
                    <a:pt x="467466" y="102959"/>
                  </a:cubicBezTo>
                  <a:cubicBezTo>
                    <a:pt x="606274" y="118733"/>
                    <a:pt x="722999" y="225993"/>
                    <a:pt x="745082" y="361647"/>
                  </a:cubicBezTo>
                  <a:cubicBezTo>
                    <a:pt x="748237" y="371111"/>
                    <a:pt x="748237" y="383730"/>
                    <a:pt x="751391" y="393194"/>
                  </a:cubicBezTo>
                  <a:lnTo>
                    <a:pt x="754546" y="408968"/>
                  </a:lnTo>
                  <a:cubicBezTo>
                    <a:pt x="754546" y="412123"/>
                    <a:pt x="754546" y="418432"/>
                    <a:pt x="751391" y="421587"/>
                  </a:cubicBezTo>
                  <a:cubicBezTo>
                    <a:pt x="751391" y="424742"/>
                    <a:pt x="748237" y="427896"/>
                    <a:pt x="745082" y="427896"/>
                  </a:cubicBezTo>
                  <a:lnTo>
                    <a:pt x="681987" y="431051"/>
                  </a:lnTo>
                  <a:lnTo>
                    <a:pt x="782939" y="525693"/>
                  </a:lnTo>
                  <a:lnTo>
                    <a:pt x="896509" y="424742"/>
                  </a:lnTo>
                  <a:cubicBezTo>
                    <a:pt x="883890" y="424742"/>
                    <a:pt x="868117" y="424742"/>
                    <a:pt x="855498" y="424742"/>
                  </a:cubicBezTo>
                  <a:cubicBezTo>
                    <a:pt x="849188" y="424742"/>
                    <a:pt x="833415" y="421587"/>
                    <a:pt x="830260" y="402658"/>
                  </a:cubicBezTo>
                  <a:lnTo>
                    <a:pt x="830260" y="393194"/>
                  </a:lnTo>
                  <a:cubicBezTo>
                    <a:pt x="827105" y="377421"/>
                    <a:pt x="827105" y="361647"/>
                    <a:pt x="823950" y="349028"/>
                  </a:cubicBezTo>
                  <a:cubicBezTo>
                    <a:pt x="795558" y="219684"/>
                    <a:pt x="719844" y="125042"/>
                    <a:pt x="603119" y="71412"/>
                  </a:cubicBezTo>
                  <a:cubicBezTo>
                    <a:pt x="473775" y="11472"/>
                    <a:pt x="347586" y="17781"/>
                    <a:pt x="227706" y="87185"/>
                  </a:cubicBezTo>
                  <a:cubicBezTo>
                    <a:pt x="88898" y="169208"/>
                    <a:pt x="13184" y="333254"/>
                    <a:pt x="44732" y="490991"/>
                  </a:cubicBezTo>
                  <a:cubicBezTo>
                    <a:pt x="60505" y="573014"/>
                    <a:pt x="95207" y="642418"/>
                    <a:pt x="151992" y="696049"/>
                  </a:cubicBezTo>
                  <a:lnTo>
                    <a:pt x="123600" y="721286"/>
                  </a:lnTo>
                  <a:close/>
                </a:path>
              </a:pathLst>
            </a:custGeom>
            <a:solidFill>
              <a:srgbClr val="DDB6D3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77" name="Полилиния: фигура 61">
              <a:extLst>
                <a:ext uri="{FF2B5EF4-FFF2-40B4-BE49-F238E27FC236}">
                  <a16:creationId xmlns:a16="http://schemas.microsoft.com/office/drawing/2014/main" id="{0BD3DDC1-C191-4500-BF11-3B7906E493DA}"/>
                </a:ext>
              </a:extLst>
            </p:cNvPr>
            <p:cNvSpPr/>
            <p:nvPr/>
          </p:nvSpPr>
          <p:spPr>
            <a:xfrm>
              <a:off x="4863735" y="2993298"/>
              <a:ext cx="900844" cy="766599"/>
            </a:xfrm>
            <a:custGeom>
              <a:avLst/>
              <a:gdLst>
                <a:gd name="connsiteX0" fmla="*/ 498448 w 900844"/>
                <a:gd name="connsiteY0" fmla="*/ 766600 h 766599"/>
                <a:gd name="connsiteX1" fmla="*/ 208212 w 900844"/>
                <a:gd name="connsiteY1" fmla="*/ 643565 h 766599"/>
                <a:gd name="connsiteX2" fmla="*/ 104106 w 900844"/>
                <a:gd name="connsiteY2" fmla="*/ 444817 h 766599"/>
                <a:gd name="connsiteX3" fmla="*/ 97797 w 900844"/>
                <a:gd name="connsiteY3" fmla="*/ 388032 h 766599"/>
                <a:gd name="connsiteX4" fmla="*/ 97797 w 900844"/>
                <a:gd name="connsiteY4" fmla="*/ 384877 h 766599"/>
                <a:gd name="connsiteX5" fmla="*/ 50476 w 900844"/>
                <a:gd name="connsiteY5" fmla="*/ 384877 h 766599"/>
                <a:gd name="connsiteX6" fmla="*/ 25238 w 900844"/>
                <a:gd name="connsiteY6" fmla="*/ 384877 h 766599"/>
                <a:gd name="connsiteX7" fmla="*/ 0 w 900844"/>
                <a:gd name="connsiteY7" fmla="*/ 365949 h 766599"/>
                <a:gd name="connsiteX8" fmla="*/ 9464 w 900844"/>
                <a:gd name="connsiteY8" fmla="*/ 343866 h 766599"/>
                <a:gd name="connsiteX9" fmla="*/ 160892 w 900844"/>
                <a:gd name="connsiteY9" fmla="*/ 205057 h 766599"/>
                <a:gd name="connsiteX10" fmla="*/ 164046 w 900844"/>
                <a:gd name="connsiteY10" fmla="*/ 201903 h 766599"/>
                <a:gd name="connsiteX11" fmla="*/ 186129 w 900844"/>
                <a:gd name="connsiteY11" fmla="*/ 201903 h 766599"/>
                <a:gd name="connsiteX12" fmla="*/ 337556 w 900844"/>
                <a:gd name="connsiteY12" fmla="*/ 362794 h 766599"/>
                <a:gd name="connsiteX13" fmla="*/ 340711 w 900844"/>
                <a:gd name="connsiteY13" fmla="*/ 378568 h 766599"/>
                <a:gd name="connsiteX14" fmla="*/ 328092 w 900844"/>
                <a:gd name="connsiteY14" fmla="*/ 388032 h 766599"/>
                <a:gd name="connsiteX15" fmla="*/ 318628 w 900844"/>
                <a:gd name="connsiteY15" fmla="*/ 388032 h 766599"/>
                <a:gd name="connsiteX16" fmla="*/ 302854 w 900844"/>
                <a:gd name="connsiteY16" fmla="*/ 388032 h 766599"/>
                <a:gd name="connsiteX17" fmla="*/ 242914 w 900844"/>
                <a:gd name="connsiteY17" fmla="*/ 388032 h 766599"/>
                <a:gd name="connsiteX18" fmla="*/ 283926 w 900844"/>
                <a:gd name="connsiteY18" fmla="*/ 514221 h 766599"/>
                <a:gd name="connsiteX19" fmla="*/ 485829 w 900844"/>
                <a:gd name="connsiteY19" fmla="*/ 624637 h 766599"/>
                <a:gd name="connsiteX20" fmla="*/ 697196 w 900844"/>
                <a:gd name="connsiteY20" fmla="*/ 533150 h 766599"/>
                <a:gd name="connsiteX21" fmla="*/ 697196 w 900844"/>
                <a:gd name="connsiteY21" fmla="*/ 201903 h 766599"/>
                <a:gd name="connsiteX22" fmla="*/ 580471 w 900844"/>
                <a:gd name="connsiteY22" fmla="*/ 123034 h 766599"/>
                <a:gd name="connsiteX23" fmla="*/ 561542 w 900844"/>
                <a:gd name="connsiteY23" fmla="*/ 116725 h 766599"/>
                <a:gd name="connsiteX24" fmla="*/ 574161 w 900844"/>
                <a:gd name="connsiteY24" fmla="*/ 88332 h 766599"/>
                <a:gd name="connsiteX25" fmla="*/ 589935 w 900844"/>
                <a:gd name="connsiteY25" fmla="*/ 94642 h 766599"/>
                <a:gd name="connsiteX26" fmla="*/ 719279 w 900844"/>
                <a:gd name="connsiteY26" fmla="*/ 182974 h 766599"/>
                <a:gd name="connsiteX27" fmla="*/ 719279 w 900844"/>
                <a:gd name="connsiteY27" fmla="*/ 555233 h 766599"/>
                <a:gd name="connsiteX28" fmla="*/ 482674 w 900844"/>
                <a:gd name="connsiteY28" fmla="*/ 659339 h 766599"/>
                <a:gd name="connsiteX29" fmla="*/ 255533 w 900844"/>
                <a:gd name="connsiteY29" fmla="*/ 536304 h 766599"/>
                <a:gd name="connsiteX30" fmla="*/ 208212 w 900844"/>
                <a:gd name="connsiteY30" fmla="*/ 384877 h 766599"/>
                <a:gd name="connsiteX31" fmla="*/ 230296 w 900844"/>
                <a:gd name="connsiteY31" fmla="*/ 362794 h 766599"/>
                <a:gd name="connsiteX32" fmla="*/ 230296 w 900844"/>
                <a:gd name="connsiteY32" fmla="*/ 362794 h 766599"/>
                <a:gd name="connsiteX33" fmla="*/ 287081 w 900844"/>
                <a:gd name="connsiteY33" fmla="*/ 362794 h 766599"/>
                <a:gd name="connsiteX34" fmla="*/ 170356 w 900844"/>
                <a:gd name="connsiteY34" fmla="*/ 239760 h 766599"/>
                <a:gd name="connsiteX35" fmla="*/ 41012 w 900844"/>
                <a:gd name="connsiteY35" fmla="*/ 356485 h 766599"/>
                <a:gd name="connsiteX36" fmla="*/ 44166 w 900844"/>
                <a:gd name="connsiteY36" fmla="*/ 356485 h 766599"/>
                <a:gd name="connsiteX37" fmla="*/ 97797 w 900844"/>
                <a:gd name="connsiteY37" fmla="*/ 356485 h 766599"/>
                <a:gd name="connsiteX38" fmla="*/ 97797 w 900844"/>
                <a:gd name="connsiteY38" fmla="*/ 356485 h 766599"/>
                <a:gd name="connsiteX39" fmla="*/ 123035 w 900844"/>
                <a:gd name="connsiteY39" fmla="*/ 378568 h 766599"/>
                <a:gd name="connsiteX40" fmla="*/ 123035 w 900844"/>
                <a:gd name="connsiteY40" fmla="*/ 388032 h 766599"/>
                <a:gd name="connsiteX41" fmla="*/ 129344 w 900844"/>
                <a:gd name="connsiteY41" fmla="*/ 441662 h 766599"/>
                <a:gd name="connsiteX42" fmla="*/ 223986 w 900844"/>
                <a:gd name="connsiteY42" fmla="*/ 624637 h 766599"/>
                <a:gd name="connsiteX43" fmla="*/ 558388 w 900844"/>
                <a:gd name="connsiteY43" fmla="*/ 735052 h 766599"/>
                <a:gd name="connsiteX44" fmla="*/ 801302 w 900844"/>
                <a:gd name="connsiteY44" fmla="*/ 586780 h 766599"/>
                <a:gd name="connsiteX45" fmla="*/ 864397 w 900844"/>
                <a:gd name="connsiteY45" fmla="*/ 328092 h 766599"/>
                <a:gd name="connsiteX46" fmla="*/ 725588 w 900844"/>
                <a:gd name="connsiteY46" fmla="*/ 97797 h 766599"/>
                <a:gd name="connsiteX47" fmla="*/ 571007 w 900844"/>
                <a:gd name="connsiteY47" fmla="*/ 31547 h 766599"/>
                <a:gd name="connsiteX48" fmla="*/ 577316 w 900844"/>
                <a:gd name="connsiteY48" fmla="*/ 0 h 766599"/>
                <a:gd name="connsiteX49" fmla="*/ 744517 w 900844"/>
                <a:gd name="connsiteY49" fmla="*/ 72559 h 766599"/>
                <a:gd name="connsiteX50" fmla="*/ 895944 w 900844"/>
                <a:gd name="connsiteY50" fmla="*/ 321783 h 766599"/>
                <a:gd name="connsiteX51" fmla="*/ 826540 w 900844"/>
                <a:gd name="connsiteY51" fmla="*/ 602554 h 766599"/>
                <a:gd name="connsiteX52" fmla="*/ 564697 w 900844"/>
                <a:gd name="connsiteY52" fmla="*/ 763445 h 766599"/>
                <a:gd name="connsiteX53" fmla="*/ 498448 w 900844"/>
                <a:gd name="connsiteY53" fmla="*/ 766600 h 766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900844" h="766599">
                  <a:moveTo>
                    <a:pt x="498448" y="766600"/>
                  </a:moveTo>
                  <a:cubicBezTo>
                    <a:pt x="388032" y="766600"/>
                    <a:pt x="290235" y="725588"/>
                    <a:pt x="208212" y="643565"/>
                  </a:cubicBezTo>
                  <a:cubicBezTo>
                    <a:pt x="154582" y="589935"/>
                    <a:pt x="119880" y="523686"/>
                    <a:pt x="104106" y="444817"/>
                  </a:cubicBezTo>
                  <a:cubicBezTo>
                    <a:pt x="100952" y="425889"/>
                    <a:pt x="97797" y="406960"/>
                    <a:pt x="97797" y="388032"/>
                  </a:cubicBezTo>
                  <a:lnTo>
                    <a:pt x="97797" y="384877"/>
                  </a:lnTo>
                  <a:cubicBezTo>
                    <a:pt x="82023" y="384877"/>
                    <a:pt x="66250" y="384877"/>
                    <a:pt x="50476" y="384877"/>
                  </a:cubicBezTo>
                  <a:lnTo>
                    <a:pt x="25238" y="384877"/>
                  </a:lnTo>
                  <a:cubicBezTo>
                    <a:pt x="6310" y="384877"/>
                    <a:pt x="0" y="369104"/>
                    <a:pt x="0" y="365949"/>
                  </a:cubicBezTo>
                  <a:cubicBezTo>
                    <a:pt x="0" y="356485"/>
                    <a:pt x="3155" y="350175"/>
                    <a:pt x="9464" y="343866"/>
                  </a:cubicBezTo>
                  <a:cubicBezTo>
                    <a:pt x="59940" y="296545"/>
                    <a:pt x="110416" y="252378"/>
                    <a:pt x="160892" y="205057"/>
                  </a:cubicBezTo>
                  <a:cubicBezTo>
                    <a:pt x="160892" y="205057"/>
                    <a:pt x="164046" y="201903"/>
                    <a:pt x="164046" y="201903"/>
                  </a:cubicBezTo>
                  <a:cubicBezTo>
                    <a:pt x="170356" y="195593"/>
                    <a:pt x="182975" y="195593"/>
                    <a:pt x="186129" y="201903"/>
                  </a:cubicBezTo>
                  <a:lnTo>
                    <a:pt x="337556" y="362794"/>
                  </a:lnTo>
                  <a:cubicBezTo>
                    <a:pt x="340711" y="365949"/>
                    <a:pt x="343866" y="372258"/>
                    <a:pt x="340711" y="378568"/>
                  </a:cubicBezTo>
                  <a:cubicBezTo>
                    <a:pt x="337556" y="384877"/>
                    <a:pt x="334402" y="388032"/>
                    <a:pt x="328092" y="388032"/>
                  </a:cubicBezTo>
                  <a:cubicBezTo>
                    <a:pt x="321783" y="388032"/>
                    <a:pt x="321783" y="388032"/>
                    <a:pt x="318628" y="388032"/>
                  </a:cubicBezTo>
                  <a:lnTo>
                    <a:pt x="302854" y="388032"/>
                  </a:lnTo>
                  <a:cubicBezTo>
                    <a:pt x="283926" y="388032"/>
                    <a:pt x="261843" y="388032"/>
                    <a:pt x="242914" y="388032"/>
                  </a:cubicBezTo>
                  <a:cubicBezTo>
                    <a:pt x="242914" y="432198"/>
                    <a:pt x="258688" y="473210"/>
                    <a:pt x="283926" y="514221"/>
                  </a:cubicBezTo>
                  <a:cubicBezTo>
                    <a:pt x="331247" y="580471"/>
                    <a:pt x="403806" y="621482"/>
                    <a:pt x="485829" y="624637"/>
                  </a:cubicBezTo>
                  <a:cubicBezTo>
                    <a:pt x="567852" y="627792"/>
                    <a:pt x="643565" y="596244"/>
                    <a:pt x="697196" y="533150"/>
                  </a:cubicBezTo>
                  <a:cubicBezTo>
                    <a:pt x="776064" y="438508"/>
                    <a:pt x="776064" y="299699"/>
                    <a:pt x="697196" y="201903"/>
                  </a:cubicBezTo>
                  <a:cubicBezTo>
                    <a:pt x="665649" y="164046"/>
                    <a:pt x="627792" y="135653"/>
                    <a:pt x="580471" y="123034"/>
                  </a:cubicBezTo>
                  <a:cubicBezTo>
                    <a:pt x="574161" y="119880"/>
                    <a:pt x="567852" y="119880"/>
                    <a:pt x="561542" y="116725"/>
                  </a:cubicBezTo>
                  <a:lnTo>
                    <a:pt x="574161" y="88332"/>
                  </a:lnTo>
                  <a:cubicBezTo>
                    <a:pt x="580471" y="91487"/>
                    <a:pt x="583625" y="91487"/>
                    <a:pt x="589935" y="94642"/>
                  </a:cubicBezTo>
                  <a:cubicBezTo>
                    <a:pt x="640411" y="110415"/>
                    <a:pt x="684577" y="141963"/>
                    <a:pt x="719279" y="182974"/>
                  </a:cubicBezTo>
                  <a:cubicBezTo>
                    <a:pt x="810766" y="293390"/>
                    <a:pt x="810766" y="447972"/>
                    <a:pt x="719279" y="555233"/>
                  </a:cubicBezTo>
                  <a:cubicBezTo>
                    <a:pt x="659339" y="624637"/>
                    <a:pt x="574161" y="662494"/>
                    <a:pt x="482674" y="659339"/>
                  </a:cubicBezTo>
                  <a:cubicBezTo>
                    <a:pt x="391187" y="656184"/>
                    <a:pt x="309164" y="608863"/>
                    <a:pt x="255533" y="536304"/>
                  </a:cubicBezTo>
                  <a:cubicBezTo>
                    <a:pt x="223986" y="488983"/>
                    <a:pt x="205058" y="438508"/>
                    <a:pt x="208212" y="384877"/>
                  </a:cubicBezTo>
                  <a:cubicBezTo>
                    <a:pt x="208212" y="369104"/>
                    <a:pt x="217677" y="362794"/>
                    <a:pt x="230296" y="362794"/>
                  </a:cubicBezTo>
                  <a:cubicBezTo>
                    <a:pt x="230296" y="362794"/>
                    <a:pt x="230296" y="362794"/>
                    <a:pt x="230296" y="362794"/>
                  </a:cubicBezTo>
                  <a:cubicBezTo>
                    <a:pt x="249224" y="362794"/>
                    <a:pt x="268152" y="362794"/>
                    <a:pt x="287081" y="362794"/>
                  </a:cubicBezTo>
                  <a:lnTo>
                    <a:pt x="170356" y="239760"/>
                  </a:lnTo>
                  <a:cubicBezTo>
                    <a:pt x="126189" y="277616"/>
                    <a:pt x="85178" y="318628"/>
                    <a:pt x="41012" y="356485"/>
                  </a:cubicBezTo>
                  <a:lnTo>
                    <a:pt x="44166" y="356485"/>
                  </a:lnTo>
                  <a:cubicBezTo>
                    <a:pt x="63095" y="356485"/>
                    <a:pt x="78868" y="356485"/>
                    <a:pt x="97797" y="356485"/>
                  </a:cubicBezTo>
                  <a:cubicBezTo>
                    <a:pt x="97797" y="356485"/>
                    <a:pt x="97797" y="356485"/>
                    <a:pt x="97797" y="356485"/>
                  </a:cubicBezTo>
                  <a:cubicBezTo>
                    <a:pt x="110416" y="356485"/>
                    <a:pt x="119880" y="362794"/>
                    <a:pt x="123035" y="378568"/>
                  </a:cubicBezTo>
                  <a:lnTo>
                    <a:pt x="123035" y="388032"/>
                  </a:lnTo>
                  <a:cubicBezTo>
                    <a:pt x="126189" y="406960"/>
                    <a:pt x="126189" y="425889"/>
                    <a:pt x="129344" y="441662"/>
                  </a:cubicBezTo>
                  <a:cubicBezTo>
                    <a:pt x="141963" y="514221"/>
                    <a:pt x="173510" y="577316"/>
                    <a:pt x="223986" y="624637"/>
                  </a:cubicBezTo>
                  <a:cubicBezTo>
                    <a:pt x="315473" y="716124"/>
                    <a:pt x="429044" y="753981"/>
                    <a:pt x="558388" y="735052"/>
                  </a:cubicBezTo>
                  <a:cubicBezTo>
                    <a:pt x="659339" y="719279"/>
                    <a:pt x="741362" y="671958"/>
                    <a:pt x="801302" y="586780"/>
                  </a:cubicBezTo>
                  <a:cubicBezTo>
                    <a:pt x="858087" y="507912"/>
                    <a:pt x="877016" y="422734"/>
                    <a:pt x="864397" y="328092"/>
                  </a:cubicBezTo>
                  <a:cubicBezTo>
                    <a:pt x="848623" y="233450"/>
                    <a:pt x="801302" y="154582"/>
                    <a:pt x="725588" y="97797"/>
                  </a:cubicBezTo>
                  <a:cubicBezTo>
                    <a:pt x="678267" y="63095"/>
                    <a:pt x="624637" y="41011"/>
                    <a:pt x="571007" y="31547"/>
                  </a:cubicBezTo>
                  <a:lnTo>
                    <a:pt x="577316" y="0"/>
                  </a:lnTo>
                  <a:cubicBezTo>
                    <a:pt x="637256" y="9464"/>
                    <a:pt x="694041" y="34702"/>
                    <a:pt x="744517" y="72559"/>
                  </a:cubicBezTo>
                  <a:cubicBezTo>
                    <a:pt x="829695" y="135653"/>
                    <a:pt x="880170" y="217676"/>
                    <a:pt x="895944" y="321783"/>
                  </a:cubicBezTo>
                  <a:cubicBezTo>
                    <a:pt x="911718" y="422734"/>
                    <a:pt x="889635" y="517376"/>
                    <a:pt x="826540" y="602554"/>
                  </a:cubicBezTo>
                  <a:cubicBezTo>
                    <a:pt x="760291" y="694041"/>
                    <a:pt x="671958" y="747671"/>
                    <a:pt x="564697" y="763445"/>
                  </a:cubicBezTo>
                  <a:cubicBezTo>
                    <a:pt x="545769" y="763445"/>
                    <a:pt x="520531" y="766600"/>
                    <a:pt x="498448" y="766600"/>
                  </a:cubicBez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78" name="Рисунок 2">
              <a:extLst>
                <a:ext uri="{FF2B5EF4-FFF2-40B4-BE49-F238E27FC236}">
                  <a16:creationId xmlns:a16="http://schemas.microsoft.com/office/drawing/2014/main" id="{9436076A-3F2C-4C38-ACCB-6067CA29C654}"/>
                </a:ext>
              </a:extLst>
            </p:cNvPr>
            <p:cNvGrpSpPr/>
            <p:nvPr/>
          </p:nvGrpSpPr>
          <p:grpSpPr>
            <a:xfrm>
              <a:off x="4828970" y="3661798"/>
              <a:ext cx="224522" cy="90938"/>
              <a:chOff x="2881264" y="3593316"/>
              <a:chExt cx="224522" cy="90938"/>
            </a:xfrm>
            <a:solidFill>
              <a:srgbClr val="FFFFFF"/>
            </a:solidFill>
          </p:grpSpPr>
          <p:sp>
            <p:nvSpPr>
              <p:cNvPr id="79" name="Полилиния: фигура 447">
                <a:extLst>
                  <a:ext uri="{FF2B5EF4-FFF2-40B4-BE49-F238E27FC236}">
                    <a16:creationId xmlns:a16="http://schemas.microsoft.com/office/drawing/2014/main" id="{E64A7F7B-ACB3-4862-9AFB-68A1937F0756}"/>
                  </a:ext>
                </a:extLst>
              </p:cNvPr>
              <p:cNvSpPr/>
              <p:nvPr/>
            </p:nvSpPr>
            <p:spPr>
              <a:xfrm rot="5400000">
                <a:off x="3019031" y="3597499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solidFill>
                <a:srgbClr val="DDB6D3"/>
              </a:solidFill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0" name="Полилиния: фигура 448">
                <a:extLst>
                  <a:ext uri="{FF2B5EF4-FFF2-40B4-BE49-F238E27FC236}">
                    <a16:creationId xmlns:a16="http://schemas.microsoft.com/office/drawing/2014/main" id="{5035C040-D16F-4B4D-87D3-705CEBD90503}"/>
                  </a:ext>
                </a:extLst>
              </p:cNvPr>
              <p:cNvSpPr/>
              <p:nvPr/>
            </p:nvSpPr>
            <p:spPr>
              <a:xfrm rot="5400000">
                <a:off x="2879687" y="3594893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solidFill>
                <a:srgbClr val="DDB6D3"/>
              </a:solidFill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81" name="Группа 339">
            <a:extLst>
              <a:ext uri="{FF2B5EF4-FFF2-40B4-BE49-F238E27FC236}">
                <a16:creationId xmlns:a16="http://schemas.microsoft.com/office/drawing/2014/main" id="{92330636-9245-4276-B5BE-A1D95ECBEF6A}"/>
              </a:ext>
            </a:extLst>
          </p:cNvPr>
          <p:cNvGrpSpPr>
            <a:grpSpLocks noChangeAspect="1"/>
          </p:cNvGrpSpPr>
          <p:nvPr/>
        </p:nvGrpSpPr>
        <p:grpSpPr>
          <a:xfrm>
            <a:off x="5203334" y="2896976"/>
            <a:ext cx="409064" cy="295493"/>
            <a:chOff x="1271537" y="793557"/>
            <a:chExt cx="1235075" cy="892175"/>
          </a:xfrm>
          <a:solidFill>
            <a:srgbClr val="FFFFFF"/>
          </a:solidFill>
        </p:grpSpPr>
        <p:sp>
          <p:nvSpPr>
            <p:cNvPr id="82" name="Freeform 5">
              <a:extLst>
                <a:ext uri="{FF2B5EF4-FFF2-40B4-BE49-F238E27FC236}">
                  <a16:creationId xmlns:a16="http://schemas.microsoft.com/office/drawing/2014/main" id="{D0DE6A60-3255-467F-8BE3-EB72DB6E4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062" y="1423795"/>
              <a:ext cx="209550" cy="198437"/>
            </a:xfrm>
            <a:custGeom>
              <a:avLst/>
              <a:gdLst>
                <a:gd name="T0" fmla="*/ 0 w 132"/>
                <a:gd name="T1" fmla="*/ 35 h 125"/>
                <a:gd name="T2" fmla="*/ 35 w 132"/>
                <a:gd name="T3" fmla="*/ 0 h 125"/>
                <a:gd name="T4" fmla="*/ 132 w 132"/>
                <a:gd name="T5" fmla="*/ 90 h 125"/>
                <a:gd name="T6" fmla="*/ 96 w 132"/>
                <a:gd name="T7" fmla="*/ 125 h 125"/>
                <a:gd name="T8" fmla="*/ 0 w 132"/>
                <a:gd name="T9" fmla="*/ 3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25">
                  <a:moveTo>
                    <a:pt x="0" y="35"/>
                  </a:moveTo>
                  <a:lnTo>
                    <a:pt x="35" y="0"/>
                  </a:lnTo>
                  <a:lnTo>
                    <a:pt x="132" y="90"/>
                  </a:lnTo>
                  <a:lnTo>
                    <a:pt x="96" y="125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5782F74A-690D-41CD-96F1-D59F3AEDAD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5275" y="1065020"/>
              <a:ext cx="347662" cy="350837"/>
            </a:xfrm>
            <a:custGeom>
              <a:avLst/>
              <a:gdLst>
                <a:gd name="T0" fmla="*/ 18 w 43"/>
                <a:gd name="T1" fmla="*/ 44 h 44"/>
                <a:gd name="T2" fmla="*/ 15 w 43"/>
                <a:gd name="T3" fmla="*/ 39 h 44"/>
                <a:gd name="T4" fmla="*/ 11 w 43"/>
                <a:gd name="T5" fmla="*/ 41 h 44"/>
                <a:gd name="T6" fmla="*/ 3 w 43"/>
                <a:gd name="T7" fmla="*/ 36 h 44"/>
                <a:gd name="T8" fmla="*/ 5 w 43"/>
                <a:gd name="T9" fmla="*/ 30 h 44"/>
                <a:gd name="T10" fmla="*/ 1 w 43"/>
                <a:gd name="T11" fmla="*/ 28 h 44"/>
                <a:gd name="T12" fmla="*/ 0 w 43"/>
                <a:gd name="T13" fmla="*/ 18 h 44"/>
                <a:gd name="T14" fmla="*/ 4 w 43"/>
                <a:gd name="T15" fmla="*/ 16 h 44"/>
                <a:gd name="T16" fmla="*/ 3 w 43"/>
                <a:gd name="T17" fmla="*/ 12 h 44"/>
                <a:gd name="T18" fmla="*/ 8 w 43"/>
                <a:gd name="T19" fmla="*/ 4 h 44"/>
                <a:gd name="T20" fmla="*/ 14 w 43"/>
                <a:gd name="T21" fmla="*/ 6 h 44"/>
                <a:gd name="T22" fmla="*/ 15 w 43"/>
                <a:gd name="T23" fmla="*/ 5 h 44"/>
                <a:gd name="T24" fmla="*/ 18 w 43"/>
                <a:gd name="T25" fmla="*/ 0 h 44"/>
                <a:gd name="T26" fmla="*/ 27 w 43"/>
                <a:gd name="T27" fmla="*/ 2 h 44"/>
                <a:gd name="T28" fmla="*/ 29 w 43"/>
                <a:gd name="T29" fmla="*/ 6 h 44"/>
                <a:gd name="T30" fmla="*/ 34 w 43"/>
                <a:gd name="T31" fmla="*/ 4 h 44"/>
                <a:gd name="T32" fmla="*/ 39 w 43"/>
                <a:gd name="T33" fmla="*/ 12 h 44"/>
                <a:gd name="T34" fmla="*/ 38 w 43"/>
                <a:gd name="T35" fmla="*/ 16 h 44"/>
                <a:gd name="T36" fmla="*/ 41 w 43"/>
                <a:gd name="T37" fmla="*/ 17 h 44"/>
                <a:gd name="T38" fmla="*/ 43 w 43"/>
                <a:gd name="T39" fmla="*/ 26 h 44"/>
                <a:gd name="T40" fmla="*/ 38 w 43"/>
                <a:gd name="T41" fmla="*/ 29 h 44"/>
                <a:gd name="T42" fmla="*/ 39 w 43"/>
                <a:gd name="T43" fmla="*/ 33 h 44"/>
                <a:gd name="T44" fmla="*/ 34 w 43"/>
                <a:gd name="T45" fmla="*/ 40 h 44"/>
                <a:gd name="T46" fmla="*/ 29 w 43"/>
                <a:gd name="T47" fmla="*/ 39 h 44"/>
                <a:gd name="T48" fmla="*/ 27 w 43"/>
                <a:gd name="T49" fmla="*/ 43 h 44"/>
                <a:gd name="T50" fmla="*/ 19 w 43"/>
                <a:gd name="T51" fmla="*/ 40 h 44"/>
                <a:gd name="T52" fmla="*/ 23 w 43"/>
                <a:gd name="T53" fmla="*/ 38 h 44"/>
                <a:gd name="T54" fmla="*/ 28 w 43"/>
                <a:gd name="T55" fmla="*/ 35 h 44"/>
                <a:gd name="T56" fmla="*/ 32 w 43"/>
                <a:gd name="T57" fmla="*/ 36 h 44"/>
                <a:gd name="T58" fmla="*/ 33 w 43"/>
                <a:gd name="T59" fmla="*/ 31 h 44"/>
                <a:gd name="T60" fmla="*/ 34 w 43"/>
                <a:gd name="T61" fmla="*/ 27 h 44"/>
                <a:gd name="T62" fmla="*/ 36 w 43"/>
                <a:gd name="T63" fmla="*/ 25 h 44"/>
                <a:gd name="T64" fmla="*/ 39 w 43"/>
                <a:gd name="T65" fmla="*/ 20 h 44"/>
                <a:gd name="T66" fmla="*/ 35 w 43"/>
                <a:gd name="T67" fmla="*/ 19 h 44"/>
                <a:gd name="T68" fmla="*/ 33 w 43"/>
                <a:gd name="T69" fmla="*/ 15 h 44"/>
                <a:gd name="T70" fmla="*/ 35 w 43"/>
                <a:gd name="T71" fmla="*/ 11 h 44"/>
                <a:gd name="T72" fmla="*/ 30 w 43"/>
                <a:gd name="T73" fmla="*/ 10 h 44"/>
                <a:gd name="T74" fmla="*/ 25 w 43"/>
                <a:gd name="T75" fmla="*/ 9 h 44"/>
                <a:gd name="T76" fmla="*/ 23 w 43"/>
                <a:gd name="T77" fmla="*/ 4 h 44"/>
                <a:gd name="T78" fmla="*/ 19 w 43"/>
                <a:gd name="T79" fmla="*/ 7 h 44"/>
                <a:gd name="T80" fmla="*/ 17 w 43"/>
                <a:gd name="T81" fmla="*/ 9 h 44"/>
                <a:gd name="T82" fmla="*/ 12 w 43"/>
                <a:gd name="T83" fmla="*/ 10 h 44"/>
                <a:gd name="T84" fmla="*/ 7 w 43"/>
                <a:gd name="T85" fmla="*/ 11 h 44"/>
                <a:gd name="T86" fmla="*/ 9 w 43"/>
                <a:gd name="T87" fmla="*/ 16 h 44"/>
                <a:gd name="T88" fmla="*/ 6 w 43"/>
                <a:gd name="T89" fmla="*/ 20 h 44"/>
                <a:gd name="T90" fmla="*/ 4 w 43"/>
                <a:gd name="T91" fmla="*/ 25 h 44"/>
                <a:gd name="T92" fmla="*/ 8 w 43"/>
                <a:gd name="T93" fmla="*/ 27 h 44"/>
                <a:gd name="T94" fmla="*/ 9 w 43"/>
                <a:gd name="T95" fmla="*/ 32 h 44"/>
                <a:gd name="T96" fmla="*/ 10 w 43"/>
                <a:gd name="T97" fmla="*/ 37 h 44"/>
                <a:gd name="T98" fmla="*/ 14 w 43"/>
                <a:gd name="T99" fmla="*/ 35 h 44"/>
                <a:gd name="T100" fmla="*/ 18 w 43"/>
                <a:gd name="T101" fmla="*/ 36 h 44"/>
                <a:gd name="T102" fmla="*/ 19 w 43"/>
                <a:gd name="T103" fmla="*/ 4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3" h="44">
                  <a:moveTo>
                    <a:pt x="25" y="44"/>
                  </a:move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6" y="44"/>
                    <a:pt x="16" y="43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4" y="39"/>
                    <a:pt x="14" y="39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0" y="41"/>
                    <a:pt x="9" y="41"/>
                    <a:pt x="8" y="41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5"/>
                    <a:pt x="3" y="34"/>
                    <a:pt x="3" y="33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29"/>
                    <a:pt x="4" y="29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28"/>
                    <a:pt x="0" y="27"/>
                    <a:pt x="0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7"/>
                    <a:pt x="0" y="17"/>
                    <a:pt x="1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5" y="15"/>
                    <a:pt x="5" y="15"/>
                    <a:pt x="5" y="14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1"/>
                    <a:pt x="3" y="10"/>
                    <a:pt x="3" y="9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10" y="4"/>
                    <a:pt x="11" y="4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5" y="6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7" y="0"/>
                    <a:pt x="1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7" y="2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8" y="6"/>
                    <a:pt x="28" y="6"/>
                    <a:pt x="29" y="6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2" y="4"/>
                    <a:pt x="33" y="4"/>
                    <a:pt x="34" y="4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10"/>
                    <a:pt x="40" y="11"/>
                    <a:pt x="39" y="12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7" y="15"/>
                    <a:pt x="38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2" y="17"/>
                    <a:pt x="43" y="18"/>
                    <a:pt x="43" y="19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7"/>
                    <a:pt x="42" y="28"/>
                    <a:pt x="41" y="28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7" y="30"/>
                    <a:pt x="37" y="30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34"/>
                    <a:pt x="40" y="35"/>
                    <a:pt x="39" y="35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1"/>
                    <a:pt x="32" y="41"/>
                    <a:pt x="31" y="4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8" y="39"/>
                    <a:pt x="28" y="39"/>
                    <a:pt x="27" y="39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4"/>
                    <a:pt x="26" y="44"/>
                    <a:pt x="25" y="44"/>
                  </a:cubicBezTo>
                  <a:close/>
                  <a:moveTo>
                    <a:pt x="19" y="40"/>
                  </a:move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4" y="37"/>
                    <a:pt x="24" y="36"/>
                    <a:pt x="25" y="36"/>
                  </a:cubicBezTo>
                  <a:cubicBezTo>
                    <a:pt x="26" y="36"/>
                    <a:pt x="27" y="35"/>
                    <a:pt x="28" y="35"/>
                  </a:cubicBezTo>
                  <a:cubicBezTo>
                    <a:pt x="28" y="34"/>
                    <a:pt x="29" y="34"/>
                    <a:pt x="30" y="35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0"/>
                    <a:pt x="33" y="29"/>
                  </a:cubicBezTo>
                  <a:cubicBezTo>
                    <a:pt x="33" y="29"/>
                    <a:pt x="34" y="28"/>
                    <a:pt x="34" y="27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5"/>
                    <a:pt x="36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20"/>
                    <a:pt x="35" y="19"/>
                    <a:pt x="35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7"/>
                    <a:pt x="33" y="16"/>
                    <a:pt x="33" y="15"/>
                  </a:cubicBezTo>
                  <a:cubicBezTo>
                    <a:pt x="33" y="15"/>
                    <a:pt x="33" y="14"/>
                    <a:pt x="33" y="13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9" y="11"/>
                    <a:pt x="28" y="11"/>
                    <a:pt x="28" y="10"/>
                  </a:cubicBezTo>
                  <a:cubicBezTo>
                    <a:pt x="27" y="9"/>
                    <a:pt x="26" y="9"/>
                    <a:pt x="25" y="9"/>
                  </a:cubicBezTo>
                  <a:cubicBezTo>
                    <a:pt x="24" y="9"/>
                    <a:pt x="24" y="8"/>
                    <a:pt x="23" y="7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8"/>
                    <a:pt x="18" y="8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6" y="9"/>
                    <a:pt x="15" y="10"/>
                    <a:pt x="14" y="10"/>
                  </a:cubicBezTo>
                  <a:cubicBezTo>
                    <a:pt x="14" y="10"/>
                    <a:pt x="13" y="10"/>
                    <a:pt x="12" y="10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0" y="14"/>
                    <a:pt x="10" y="15"/>
                    <a:pt x="9" y="16"/>
                  </a:cubicBezTo>
                  <a:cubicBezTo>
                    <a:pt x="8" y="16"/>
                    <a:pt x="8" y="17"/>
                    <a:pt x="8" y="18"/>
                  </a:cubicBezTo>
                  <a:cubicBezTo>
                    <a:pt x="8" y="19"/>
                    <a:pt x="7" y="20"/>
                    <a:pt x="6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5"/>
                    <a:pt x="8" y="26"/>
                    <a:pt x="8" y="27"/>
                  </a:cubicBezTo>
                  <a:cubicBezTo>
                    <a:pt x="8" y="28"/>
                    <a:pt x="8" y="28"/>
                    <a:pt x="9" y="29"/>
                  </a:cubicBezTo>
                  <a:cubicBezTo>
                    <a:pt x="10" y="30"/>
                    <a:pt x="10" y="31"/>
                    <a:pt x="9" y="32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4" y="34"/>
                    <a:pt x="14" y="35"/>
                  </a:cubicBezTo>
                  <a:cubicBezTo>
                    <a:pt x="15" y="35"/>
                    <a:pt x="16" y="35"/>
                    <a:pt x="17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7"/>
                    <a:pt x="19" y="37"/>
                    <a:pt x="19" y="38"/>
                  </a:cubicBezTo>
                  <a:lnTo>
                    <a:pt x="19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DB41BF3A-1D8C-4FE5-BB4F-7490F5D426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2112" y="1168207"/>
              <a:ext cx="146050" cy="142875"/>
            </a:xfrm>
            <a:custGeom>
              <a:avLst/>
              <a:gdLst>
                <a:gd name="T0" fmla="*/ 9 w 18"/>
                <a:gd name="T1" fmla="*/ 18 h 18"/>
                <a:gd name="T2" fmla="*/ 0 w 18"/>
                <a:gd name="T3" fmla="*/ 9 h 18"/>
                <a:gd name="T4" fmla="*/ 0 w 18"/>
                <a:gd name="T5" fmla="*/ 9 h 18"/>
                <a:gd name="T6" fmla="*/ 9 w 18"/>
                <a:gd name="T7" fmla="*/ 0 h 18"/>
                <a:gd name="T8" fmla="*/ 18 w 18"/>
                <a:gd name="T9" fmla="*/ 9 h 18"/>
                <a:gd name="T10" fmla="*/ 9 w 18"/>
                <a:gd name="T11" fmla="*/ 18 h 18"/>
                <a:gd name="T12" fmla="*/ 4 w 18"/>
                <a:gd name="T13" fmla="*/ 9 h 18"/>
                <a:gd name="T14" fmla="*/ 9 w 18"/>
                <a:gd name="T15" fmla="*/ 14 h 18"/>
                <a:gd name="T16" fmla="*/ 14 w 18"/>
                <a:gd name="T17" fmla="*/ 9 h 18"/>
                <a:gd name="T18" fmla="*/ 9 w 18"/>
                <a:gd name="T19" fmla="*/ 4 h 18"/>
                <a:gd name="T20" fmla="*/ 4 w 18"/>
                <a:gd name="T21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18">
                  <a:moveTo>
                    <a:pt x="9" y="18"/>
                  </a:moveTo>
                  <a:cubicBezTo>
                    <a:pt x="4" y="18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14"/>
                    <a:pt x="14" y="18"/>
                    <a:pt x="9" y="18"/>
                  </a:cubicBezTo>
                  <a:close/>
                  <a:moveTo>
                    <a:pt x="4" y="9"/>
                  </a:moveTo>
                  <a:cubicBezTo>
                    <a:pt x="4" y="12"/>
                    <a:pt x="6" y="14"/>
                    <a:pt x="9" y="14"/>
                  </a:cubicBezTo>
                  <a:cubicBezTo>
                    <a:pt x="12" y="14"/>
                    <a:pt x="14" y="12"/>
                    <a:pt x="14" y="9"/>
                  </a:cubicBezTo>
                  <a:cubicBezTo>
                    <a:pt x="14" y="7"/>
                    <a:pt x="12" y="4"/>
                    <a:pt x="9" y="4"/>
                  </a:cubicBezTo>
                  <a:cubicBezTo>
                    <a:pt x="6" y="4"/>
                    <a:pt x="4" y="7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193EEB16-9658-428A-B620-817246465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25" y="936432"/>
              <a:ext cx="612775" cy="598487"/>
            </a:xfrm>
            <a:custGeom>
              <a:avLst/>
              <a:gdLst>
                <a:gd name="T0" fmla="*/ 37 w 76"/>
                <a:gd name="T1" fmla="*/ 75 h 75"/>
                <a:gd name="T2" fmla="*/ 9 w 76"/>
                <a:gd name="T3" fmla="*/ 62 h 75"/>
                <a:gd name="T4" fmla="*/ 1 w 76"/>
                <a:gd name="T5" fmla="*/ 35 h 75"/>
                <a:gd name="T6" fmla="*/ 14 w 76"/>
                <a:gd name="T7" fmla="*/ 11 h 75"/>
                <a:gd name="T8" fmla="*/ 62 w 76"/>
                <a:gd name="T9" fmla="*/ 13 h 75"/>
                <a:gd name="T10" fmla="*/ 66 w 76"/>
                <a:gd name="T11" fmla="*/ 59 h 75"/>
                <a:gd name="T12" fmla="*/ 63 w 76"/>
                <a:gd name="T13" fmla="*/ 57 h 75"/>
                <a:gd name="T14" fmla="*/ 59 w 76"/>
                <a:gd name="T15" fmla="*/ 16 h 75"/>
                <a:gd name="T16" fmla="*/ 17 w 76"/>
                <a:gd name="T17" fmla="*/ 14 h 75"/>
                <a:gd name="T18" fmla="*/ 5 w 76"/>
                <a:gd name="T19" fmla="*/ 36 h 75"/>
                <a:gd name="T20" fmla="*/ 12 w 76"/>
                <a:gd name="T21" fmla="*/ 59 h 75"/>
                <a:gd name="T22" fmla="*/ 52 w 76"/>
                <a:gd name="T23" fmla="*/ 67 h 75"/>
                <a:gd name="T24" fmla="*/ 54 w 76"/>
                <a:gd name="T25" fmla="*/ 70 h 75"/>
                <a:gd name="T26" fmla="*/ 37 w 76"/>
                <a:gd name="T2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75">
                  <a:moveTo>
                    <a:pt x="37" y="75"/>
                  </a:moveTo>
                  <a:cubicBezTo>
                    <a:pt x="26" y="75"/>
                    <a:pt x="16" y="70"/>
                    <a:pt x="9" y="62"/>
                  </a:cubicBezTo>
                  <a:cubicBezTo>
                    <a:pt x="3" y="55"/>
                    <a:pt x="0" y="45"/>
                    <a:pt x="1" y="35"/>
                  </a:cubicBezTo>
                  <a:cubicBezTo>
                    <a:pt x="2" y="26"/>
                    <a:pt x="7" y="17"/>
                    <a:pt x="14" y="11"/>
                  </a:cubicBezTo>
                  <a:cubicBezTo>
                    <a:pt x="28" y="0"/>
                    <a:pt x="49" y="1"/>
                    <a:pt x="62" y="13"/>
                  </a:cubicBezTo>
                  <a:cubicBezTo>
                    <a:pt x="74" y="25"/>
                    <a:pt x="76" y="45"/>
                    <a:pt x="66" y="59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72" y="44"/>
                    <a:pt x="70" y="27"/>
                    <a:pt x="59" y="16"/>
                  </a:cubicBezTo>
                  <a:cubicBezTo>
                    <a:pt x="48" y="5"/>
                    <a:pt x="29" y="4"/>
                    <a:pt x="17" y="14"/>
                  </a:cubicBezTo>
                  <a:cubicBezTo>
                    <a:pt x="10" y="19"/>
                    <a:pt x="6" y="27"/>
                    <a:pt x="5" y="36"/>
                  </a:cubicBezTo>
                  <a:cubicBezTo>
                    <a:pt x="4" y="44"/>
                    <a:pt x="7" y="53"/>
                    <a:pt x="12" y="59"/>
                  </a:cubicBezTo>
                  <a:cubicBezTo>
                    <a:pt x="22" y="71"/>
                    <a:pt x="39" y="74"/>
                    <a:pt x="52" y="67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49" y="73"/>
                    <a:pt x="43" y="75"/>
                    <a:pt x="37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" name="Freeform 15">
              <a:extLst>
                <a:ext uri="{FF2B5EF4-FFF2-40B4-BE49-F238E27FC236}">
                  <a16:creationId xmlns:a16="http://schemas.microsoft.com/office/drawing/2014/main" id="{586D531C-5DA8-45EC-BC7C-555902091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537" y="793557"/>
              <a:ext cx="1008062" cy="892175"/>
            </a:xfrm>
            <a:custGeom>
              <a:avLst/>
              <a:gdLst>
                <a:gd name="T0" fmla="*/ 123 w 125"/>
                <a:gd name="T1" fmla="*/ 0 h 112"/>
                <a:gd name="T2" fmla="*/ 2 w 125"/>
                <a:gd name="T3" fmla="*/ 0 h 112"/>
                <a:gd name="T4" fmla="*/ 0 w 125"/>
                <a:gd name="T5" fmla="*/ 2 h 112"/>
                <a:gd name="T6" fmla="*/ 0 w 125"/>
                <a:gd name="T7" fmla="*/ 84 h 112"/>
                <a:gd name="T8" fmla="*/ 2 w 125"/>
                <a:gd name="T9" fmla="*/ 86 h 112"/>
                <a:gd name="T10" fmla="*/ 50 w 125"/>
                <a:gd name="T11" fmla="*/ 86 h 112"/>
                <a:gd name="T12" fmla="*/ 50 w 125"/>
                <a:gd name="T13" fmla="*/ 108 h 112"/>
                <a:gd name="T14" fmla="*/ 29 w 125"/>
                <a:gd name="T15" fmla="*/ 108 h 112"/>
                <a:gd name="T16" fmla="*/ 29 w 125"/>
                <a:gd name="T17" fmla="*/ 112 h 112"/>
                <a:gd name="T18" fmla="*/ 98 w 125"/>
                <a:gd name="T19" fmla="*/ 112 h 112"/>
                <a:gd name="T20" fmla="*/ 98 w 125"/>
                <a:gd name="T21" fmla="*/ 108 h 112"/>
                <a:gd name="T22" fmla="*/ 77 w 125"/>
                <a:gd name="T23" fmla="*/ 108 h 112"/>
                <a:gd name="T24" fmla="*/ 77 w 125"/>
                <a:gd name="T25" fmla="*/ 83 h 112"/>
                <a:gd name="T26" fmla="*/ 76 w 125"/>
                <a:gd name="T27" fmla="*/ 83 h 112"/>
                <a:gd name="T28" fmla="*/ 77 w 125"/>
                <a:gd name="T29" fmla="*/ 82 h 112"/>
                <a:gd name="T30" fmla="*/ 4 w 125"/>
                <a:gd name="T31" fmla="*/ 82 h 112"/>
                <a:gd name="T32" fmla="*/ 4 w 125"/>
                <a:gd name="T33" fmla="*/ 4 h 112"/>
                <a:gd name="T34" fmla="*/ 121 w 125"/>
                <a:gd name="T35" fmla="*/ 4 h 112"/>
                <a:gd name="T36" fmla="*/ 121 w 125"/>
                <a:gd name="T37" fmla="*/ 19 h 112"/>
                <a:gd name="T38" fmla="*/ 125 w 125"/>
                <a:gd name="T39" fmla="*/ 19 h 112"/>
                <a:gd name="T40" fmla="*/ 125 w 125"/>
                <a:gd name="T41" fmla="*/ 2 h 112"/>
                <a:gd name="T42" fmla="*/ 123 w 125"/>
                <a:gd name="T4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5" h="112">
                  <a:moveTo>
                    <a:pt x="1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6"/>
                    <a:pt x="1" y="86"/>
                    <a:pt x="2" y="86"/>
                  </a:cubicBezTo>
                  <a:cubicBezTo>
                    <a:pt x="50" y="86"/>
                    <a:pt x="50" y="86"/>
                    <a:pt x="50" y="86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76" y="83"/>
                    <a:pt x="76" y="82"/>
                    <a:pt x="77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21" y="19"/>
                    <a:pt x="121" y="19"/>
                    <a:pt x="121" y="19"/>
                  </a:cubicBezTo>
                  <a:cubicBezTo>
                    <a:pt x="125" y="19"/>
                    <a:pt x="125" y="19"/>
                    <a:pt x="125" y="19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4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834FED91-B262-4E65-B676-C325826E3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087" y="999932"/>
              <a:ext cx="258762" cy="215900"/>
            </a:xfrm>
            <a:custGeom>
              <a:avLst/>
              <a:gdLst>
                <a:gd name="T0" fmla="*/ 14 w 32"/>
                <a:gd name="T1" fmla="*/ 27 h 27"/>
                <a:gd name="T2" fmla="*/ 13 w 32"/>
                <a:gd name="T3" fmla="*/ 26 h 27"/>
                <a:gd name="T4" fmla="*/ 0 w 32"/>
                <a:gd name="T5" fmla="*/ 10 h 27"/>
                <a:gd name="T6" fmla="*/ 3 w 32"/>
                <a:gd name="T7" fmla="*/ 8 h 27"/>
                <a:gd name="T8" fmla="*/ 14 w 32"/>
                <a:gd name="T9" fmla="*/ 21 h 27"/>
                <a:gd name="T10" fmla="*/ 28 w 32"/>
                <a:gd name="T11" fmla="*/ 0 h 27"/>
                <a:gd name="T12" fmla="*/ 32 w 32"/>
                <a:gd name="T13" fmla="*/ 2 h 27"/>
                <a:gd name="T14" fmla="*/ 16 w 32"/>
                <a:gd name="T15" fmla="*/ 26 h 27"/>
                <a:gd name="T16" fmla="*/ 14 w 32"/>
                <a:gd name="T17" fmla="*/ 27 h 27"/>
                <a:gd name="T18" fmla="*/ 14 w 32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27">
                  <a:moveTo>
                    <a:pt x="14" y="27"/>
                  </a:moveTo>
                  <a:cubicBezTo>
                    <a:pt x="14" y="27"/>
                    <a:pt x="13" y="26"/>
                    <a:pt x="13" y="2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5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88" name="Freeform 17">
              <a:extLst>
                <a:ext uri="{FF2B5EF4-FFF2-40B4-BE49-F238E27FC236}">
                  <a16:creationId xmlns:a16="http://schemas.microsoft.com/office/drawing/2014/main" id="{AC3261FA-B42A-43D2-8220-F71D343E6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875" y="991995"/>
              <a:ext cx="300037" cy="287337"/>
            </a:xfrm>
            <a:custGeom>
              <a:avLst/>
              <a:gdLst>
                <a:gd name="T0" fmla="*/ 35 w 37"/>
                <a:gd name="T1" fmla="*/ 36 h 36"/>
                <a:gd name="T2" fmla="*/ 2 w 37"/>
                <a:gd name="T3" fmla="*/ 36 h 36"/>
                <a:gd name="T4" fmla="*/ 0 w 37"/>
                <a:gd name="T5" fmla="*/ 34 h 36"/>
                <a:gd name="T6" fmla="*/ 0 w 37"/>
                <a:gd name="T7" fmla="*/ 2 h 36"/>
                <a:gd name="T8" fmla="*/ 2 w 37"/>
                <a:gd name="T9" fmla="*/ 0 h 36"/>
                <a:gd name="T10" fmla="*/ 25 w 37"/>
                <a:gd name="T11" fmla="*/ 0 h 36"/>
                <a:gd name="T12" fmla="*/ 25 w 37"/>
                <a:gd name="T13" fmla="*/ 4 h 36"/>
                <a:gd name="T14" fmla="*/ 4 w 37"/>
                <a:gd name="T15" fmla="*/ 4 h 36"/>
                <a:gd name="T16" fmla="*/ 4 w 37"/>
                <a:gd name="T17" fmla="*/ 32 h 36"/>
                <a:gd name="T18" fmla="*/ 33 w 37"/>
                <a:gd name="T19" fmla="*/ 32 h 36"/>
                <a:gd name="T20" fmla="*/ 33 w 37"/>
                <a:gd name="T21" fmla="*/ 17 h 36"/>
                <a:gd name="T22" fmla="*/ 37 w 37"/>
                <a:gd name="T23" fmla="*/ 17 h 36"/>
                <a:gd name="T24" fmla="*/ 37 w 37"/>
                <a:gd name="T25" fmla="*/ 34 h 36"/>
                <a:gd name="T26" fmla="*/ 35 w 37"/>
                <a:gd name="T2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6">
                  <a:moveTo>
                    <a:pt x="35" y="36"/>
                  </a:moveTo>
                  <a:cubicBezTo>
                    <a:pt x="2" y="36"/>
                    <a:pt x="2" y="36"/>
                    <a:pt x="2" y="36"/>
                  </a:cubicBezTo>
                  <a:cubicBezTo>
                    <a:pt x="1" y="36"/>
                    <a:pt x="0" y="36"/>
                    <a:pt x="0" y="3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6"/>
                    <a:pt x="36" y="36"/>
                    <a:pt x="35" y="36"/>
                  </a:cubicBezTo>
                  <a:close/>
                </a:path>
              </a:pathLst>
            </a:cu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89" name="Группа 215">
            <a:extLst>
              <a:ext uri="{FF2B5EF4-FFF2-40B4-BE49-F238E27FC236}">
                <a16:creationId xmlns:a16="http://schemas.microsoft.com/office/drawing/2014/main" id="{6D70D2FD-5389-413A-9BB3-B71FC94359CA}"/>
              </a:ext>
            </a:extLst>
          </p:cNvPr>
          <p:cNvGrpSpPr>
            <a:grpSpLocks noChangeAspect="1"/>
          </p:cNvGrpSpPr>
          <p:nvPr/>
        </p:nvGrpSpPr>
        <p:grpSpPr>
          <a:xfrm>
            <a:off x="7004892" y="2885411"/>
            <a:ext cx="362717" cy="285337"/>
            <a:chOff x="9948925" y="4757741"/>
            <a:chExt cx="1025263" cy="806539"/>
          </a:xfrm>
        </p:grpSpPr>
        <p:sp>
          <p:nvSpPr>
            <p:cNvPr id="90" name="Полилиния: фигура 131">
              <a:extLst>
                <a:ext uri="{FF2B5EF4-FFF2-40B4-BE49-F238E27FC236}">
                  <a16:creationId xmlns:a16="http://schemas.microsoft.com/office/drawing/2014/main" id="{DC1CC4B9-6E58-4E5F-AF97-D5AB506C85AF}"/>
                </a:ext>
              </a:extLst>
            </p:cNvPr>
            <p:cNvSpPr/>
            <p:nvPr/>
          </p:nvSpPr>
          <p:spPr>
            <a:xfrm>
              <a:off x="10670710" y="4913581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solidFill>
              <a:srgbClr val="DDB6D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132">
              <a:extLst>
                <a:ext uri="{FF2B5EF4-FFF2-40B4-BE49-F238E27FC236}">
                  <a16:creationId xmlns:a16="http://schemas.microsoft.com/office/drawing/2014/main" id="{5CBFBB66-D3C1-4C3E-9F33-0ED7D03EF75F}"/>
                </a:ext>
              </a:extLst>
            </p:cNvPr>
            <p:cNvSpPr/>
            <p:nvPr/>
          </p:nvSpPr>
          <p:spPr>
            <a:xfrm>
              <a:off x="10115701" y="5285409"/>
              <a:ext cx="144903" cy="144903"/>
            </a:xfrm>
            <a:custGeom>
              <a:avLst/>
              <a:gdLst>
                <a:gd name="connsiteX0" fmla="*/ 0 w 144903"/>
                <a:gd name="connsiteY0" fmla="*/ 0 h 144903"/>
                <a:gd name="connsiteX1" fmla="*/ 144903 w 144903"/>
                <a:gd name="connsiteY1" fmla="*/ 0 h 144903"/>
                <a:gd name="connsiteX2" fmla="*/ 144903 w 144903"/>
                <a:gd name="connsiteY2" fmla="*/ 144904 h 144903"/>
                <a:gd name="connsiteX3" fmla="*/ 0 w 144903"/>
                <a:gd name="connsiteY3" fmla="*/ 144904 h 14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903" h="144903">
                  <a:moveTo>
                    <a:pt x="0" y="0"/>
                  </a:moveTo>
                  <a:lnTo>
                    <a:pt x="144903" y="0"/>
                  </a:lnTo>
                  <a:lnTo>
                    <a:pt x="144903" y="144904"/>
                  </a:lnTo>
                  <a:lnTo>
                    <a:pt x="0" y="144904"/>
                  </a:lnTo>
                  <a:close/>
                </a:path>
              </a:pathLst>
            </a:custGeom>
            <a:solidFill>
              <a:srgbClr val="DDB6D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92" name="Рисунок 18">
              <a:extLst>
                <a:ext uri="{FF2B5EF4-FFF2-40B4-BE49-F238E27FC236}">
                  <a16:creationId xmlns:a16="http://schemas.microsoft.com/office/drawing/2014/main" id="{DC5EFA57-2201-465D-A7CC-AFC11F50799F}"/>
                </a:ext>
              </a:extLst>
            </p:cNvPr>
            <p:cNvGrpSpPr/>
            <p:nvPr/>
          </p:nvGrpSpPr>
          <p:grpSpPr>
            <a:xfrm>
              <a:off x="9948925" y="5028410"/>
              <a:ext cx="705380" cy="166776"/>
              <a:chOff x="9948925" y="5028410"/>
              <a:chExt cx="705380" cy="166776"/>
            </a:xfrm>
            <a:solidFill>
              <a:srgbClr val="FFFFFF"/>
            </a:solidFill>
          </p:grpSpPr>
          <p:sp>
            <p:nvSpPr>
              <p:cNvPr id="93" name="Полилиния: фигура 134">
                <a:extLst>
                  <a:ext uri="{FF2B5EF4-FFF2-40B4-BE49-F238E27FC236}">
                    <a16:creationId xmlns:a16="http://schemas.microsoft.com/office/drawing/2014/main" id="{9BF2310F-1C3E-4AD0-9AB5-53F9FB61A158}"/>
                  </a:ext>
                </a:extLst>
              </p:cNvPr>
              <p:cNvSpPr/>
              <p:nvPr/>
            </p:nvSpPr>
            <p:spPr>
              <a:xfrm>
                <a:off x="9948925" y="5028410"/>
                <a:ext cx="166775" cy="166776"/>
              </a:xfrm>
              <a:custGeom>
                <a:avLst/>
                <a:gdLst>
                  <a:gd name="connsiteX0" fmla="*/ 166775 w 166775"/>
                  <a:gd name="connsiteY0" fmla="*/ 166776 h 166776"/>
                  <a:gd name="connsiteX1" fmla="*/ 0 w 166775"/>
                  <a:gd name="connsiteY1" fmla="*/ 166776 h 166776"/>
                  <a:gd name="connsiteX2" fmla="*/ 0 w 166775"/>
                  <a:gd name="connsiteY2" fmla="*/ 0 h 166776"/>
                  <a:gd name="connsiteX3" fmla="*/ 166775 w 166775"/>
                  <a:gd name="connsiteY3" fmla="*/ 0 h 166776"/>
                  <a:gd name="connsiteX4" fmla="*/ 166775 w 166775"/>
                  <a:gd name="connsiteY4" fmla="*/ 166776 h 166776"/>
                  <a:gd name="connsiteX5" fmla="*/ 27340 w 166775"/>
                  <a:gd name="connsiteY5" fmla="*/ 139436 h 166776"/>
                  <a:gd name="connsiteX6" fmla="*/ 139435 w 166775"/>
                  <a:gd name="connsiteY6" fmla="*/ 139436 h 166776"/>
                  <a:gd name="connsiteX7" fmla="*/ 139435 w 166775"/>
                  <a:gd name="connsiteY7" fmla="*/ 27340 h 166776"/>
                  <a:gd name="connsiteX8" fmla="*/ 27340 w 166775"/>
                  <a:gd name="connsiteY8" fmla="*/ 27340 h 166776"/>
                  <a:gd name="connsiteX9" fmla="*/ 27340 w 166775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5" h="166776">
                    <a:moveTo>
                      <a:pt x="166775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5" y="0"/>
                    </a:lnTo>
                    <a:lnTo>
                      <a:pt x="166775" y="166776"/>
                    </a:lnTo>
                    <a:close/>
                    <a:moveTo>
                      <a:pt x="27340" y="139436"/>
                    </a:moveTo>
                    <a:lnTo>
                      <a:pt x="139435" y="139436"/>
                    </a:lnTo>
                    <a:lnTo>
                      <a:pt x="139435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4" name="Полилиния: фигура 135">
                <a:extLst>
                  <a:ext uri="{FF2B5EF4-FFF2-40B4-BE49-F238E27FC236}">
                    <a16:creationId xmlns:a16="http://schemas.microsoft.com/office/drawing/2014/main" id="{17098994-68C7-4D41-BC89-78D243D0BB19}"/>
                  </a:ext>
                </a:extLst>
              </p:cNvPr>
              <p:cNvSpPr/>
              <p:nvPr/>
            </p:nvSpPr>
            <p:spPr>
              <a:xfrm>
                <a:off x="10148509" y="5069421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2021"/>
                      <a:pt x="500328" y="90223"/>
                      <a:pt x="492126" y="902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95" name="Рисунок 18">
              <a:extLst>
                <a:ext uri="{FF2B5EF4-FFF2-40B4-BE49-F238E27FC236}">
                  <a16:creationId xmlns:a16="http://schemas.microsoft.com/office/drawing/2014/main" id="{B0CFB688-E54C-40E2-9459-6549EBA5A714}"/>
                </a:ext>
              </a:extLst>
            </p:cNvPr>
            <p:cNvGrpSpPr/>
            <p:nvPr/>
          </p:nvGrpSpPr>
          <p:grpSpPr>
            <a:xfrm>
              <a:off x="10102030" y="4757741"/>
              <a:ext cx="705381" cy="166775"/>
              <a:chOff x="10102030" y="4757741"/>
              <a:chExt cx="705381" cy="166775"/>
            </a:xfrm>
            <a:solidFill>
              <a:srgbClr val="FFFFFF"/>
            </a:solidFill>
          </p:grpSpPr>
          <p:sp>
            <p:nvSpPr>
              <p:cNvPr id="96" name="Полилиния: фигура 137">
                <a:extLst>
                  <a:ext uri="{FF2B5EF4-FFF2-40B4-BE49-F238E27FC236}">
                    <a16:creationId xmlns:a16="http://schemas.microsoft.com/office/drawing/2014/main" id="{62D2F0E0-DFEC-42A1-9ED6-07A30BEF995C}"/>
                  </a:ext>
                </a:extLst>
              </p:cNvPr>
              <p:cNvSpPr/>
              <p:nvPr/>
            </p:nvSpPr>
            <p:spPr>
              <a:xfrm>
                <a:off x="10102030" y="4757741"/>
                <a:ext cx="166776" cy="166775"/>
              </a:xfrm>
              <a:custGeom>
                <a:avLst/>
                <a:gdLst>
                  <a:gd name="connsiteX0" fmla="*/ 166776 w 166776"/>
                  <a:gd name="connsiteY0" fmla="*/ 166776 h 166775"/>
                  <a:gd name="connsiteX1" fmla="*/ 0 w 166776"/>
                  <a:gd name="connsiteY1" fmla="*/ 166776 h 166775"/>
                  <a:gd name="connsiteX2" fmla="*/ 0 w 166776"/>
                  <a:gd name="connsiteY2" fmla="*/ 0 h 166775"/>
                  <a:gd name="connsiteX3" fmla="*/ 166776 w 166776"/>
                  <a:gd name="connsiteY3" fmla="*/ 0 h 166775"/>
                  <a:gd name="connsiteX4" fmla="*/ 166776 w 166776"/>
                  <a:gd name="connsiteY4" fmla="*/ 166776 h 166775"/>
                  <a:gd name="connsiteX5" fmla="*/ 27340 w 166776"/>
                  <a:gd name="connsiteY5" fmla="*/ 139436 h 166775"/>
                  <a:gd name="connsiteX6" fmla="*/ 139436 w 166776"/>
                  <a:gd name="connsiteY6" fmla="*/ 139436 h 166775"/>
                  <a:gd name="connsiteX7" fmla="*/ 139436 w 166776"/>
                  <a:gd name="connsiteY7" fmla="*/ 27340 h 166775"/>
                  <a:gd name="connsiteX8" fmla="*/ 27340 w 166776"/>
                  <a:gd name="connsiteY8" fmla="*/ 27340 h 166775"/>
                  <a:gd name="connsiteX9" fmla="*/ 27340 w 166776"/>
                  <a:gd name="connsiteY9" fmla="*/ 139436 h 1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5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solidFill>
                <a:srgbClr val="DDB6D3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7" name="Полилиния: фигура 138">
                <a:extLst>
                  <a:ext uri="{FF2B5EF4-FFF2-40B4-BE49-F238E27FC236}">
                    <a16:creationId xmlns:a16="http://schemas.microsoft.com/office/drawing/2014/main" id="{F3085BB5-2A06-4819-BCB9-08E8F1AB67D7}"/>
                  </a:ext>
                </a:extLst>
              </p:cNvPr>
              <p:cNvSpPr/>
              <p:nvPr/>
            </p:nvSpPr>
            <p:spPr>
              <a:xfrm>
                <a:off x="10301615" y="4796017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4755"/>
                      <a:pt x="500328" y="90223"/>
                      <a:pt x="492126" y="902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98" name="Полилиния: фигура 139">
              <a:extLst>
                <a:ext uri="{FF2B5EF4-FFF2-40B4-BE49-F238E27FC236}">
                  <a16:creationId xmlns:a16="http://schemas.microsoft.com/office/drawing/2014/main" id="{A1FB7B54-9F25-46C9-A3A5-D163FD5F9775}"/>
                </a:ext>
              </a:extLst>
            </p:cNvPr>
            <p:cNvSpPr/>
            <p:nvPr/>
          </p:nvSpPr>
          <p:spPr>
            <a:xfrm>
              <a:off x="10304349" y="5312749"/>
              <a:ext cx="349956" cy="90223"/>
            </a:xfrm>
            <a:custGeom>
              <a:avLst/>
              <a:gdLst>
                <a:gd name="connsiteX0" fmla="*/ 336286 w 349956"/>
                <a:gd name="connsiteY0" fmla="*/ 90223 h 90223"/>
                <a:gd name="connsiteX1" fmla="*/ 0 w 349956"/>
                <a:gd name="connsiteY1" fmla="*/ 90223 h 90223"/>
                <a:gd name="connsiteX2" fmla="*/ 0 w 349956"/>
                <a:gd name="connsiteY2" fmla="*/ 62883 h 90223"/>
                <a:gd name="connsiteX3" fmla="*/ 322616 w 349956"/>
                <a:gd name="connsiteY3" fmla="*/ 62883 h 90223"/>
                <a:gd name="connsiteX4" fmla="*/ 322616 w 349956"/>
                <a:gd name="connsiteY4" fmla="*/ 27340 h 90223"/>
                <a:gd name="connsiteX5" fmla="*/ 0 w 349956"/>
                <a:gd name="connsiteY5" fmla="*/ 27340 h 90223"/>
                <a:gd name="connsiteX6" fmla="*/ 0 w 349956"/>
                <a:gd name="connsiteY6" fmla="*/ 0 h 90223"/>
                <a:gd name="connsiteX7" fmla="*/ 336286 w 349956"/>
                <a:gd name="connsiteY7" fmla="*/ 0 h 90223"/>
                <a:gd name="connsiteX8" fmla="*/ 349956 w 349956"/>
                <a:gd name="connsiteY8" fmla="*/ 13670 h 90223"/>
                <a:gd name="connsiteX9" fmla="*/ 349956 w 349956"/>
                <a:gd name="connsiteY9" fmla="*/ 76553 h 90223"/>
                <a:gd name="connsiteX10" fmla="*/ 336286 w 349956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956" h="90223">
                  <a:moveTo>
                    <a:pt x="336286" y="90223"/>
                  </a:moveTo>
                  <a:lnTo>
                    <a:pt x="0" y="90223"/>
                  </a:lnTo>
                  <a:lnTo>
                    <a:pt x="0" y="62883"/>
                  </a:lnTo>
                  <a:lnTo>
                    <a:pt x="322616" y="62883"/>
                  </a:lnTo>
                  <a:lnTo>
                    <a:pt x="32261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36286" y="0"/>
                  </a:lnTo>
                  <a:cubicBezTo>
                    <a:pt x="344488" y="0"/>
                    <a:pt x="349956" y="5468"/>
                    <a:pt x="349956" y="13670"/>
                  </a:cubicBezTo>
                  <a:lnTo>
                    <a:pt x="349956" y="76553"/>
                  </a:lnTo>
                  <a:cubicBezTo>
                    <a:pt x="349956" y="82021"/>
                    <a:pt x="341754" y="90223"/>
                    <a:pt x="336286" y="90223"/>
                  </a:cubicBez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99" name="Рисунок 18">
              <a:extLst>
                <a:ext uri="{FF2B5EF4-FFF2-40B4-BE49-F238E27FC236}">
                  <a16:creationId xmlns:a16="http://schemas.microsoft.com/office/drawing/2014/main" id="{E7BF7084-72F5-444E-A448-41787DE4AE10}"/>
                </a:ext>
              </a:extLst>
            </p:cNvPr>
            <p:cNvGrpSpPr/>
            <p:nvPr/>
          </p:nvGrpSpPr>
          <p:grpSpPr>
            <a:xfrm>
              <a:off x="10298881" y="5148707"/>
              <a:ext cx="675307" cy="166776"/>
              <a:chOff x="10298881" y="5148707"/>
              <a:chExt cx="675307" cy="166776"/>
            </a:xfrm>
            <a:solidFill>
              <a:srgbClr val="FFFFFF"/>
            </a:solidFill>
          </p:grpSpPr>
          <p:sp>
            <p:nvSpPr>
              <p:cNvPr id="100" name="Полилиния: фигура 141">
                <a:extLst>
                  <a:ext uri="{FF2B5EF4-FFF2-40B4-BE49-F238E27FC236}">
                    <a16:creationId xmlns:a16="http://schemas.microsoft.com/office/drawing/2014/main" id="{8476CCF5-A175-46DD-9375-D2C20BBB2C6E}"/>
                  </a:ext>
                </a:extLst>
              </p:cNvPr>
              <p:cNvSpPr/>
              <p:nvPr/>
            </p:nvSpPr>
            <p:spPr>
              <a:xfrm>
                <a:off x="10807412" y="5148707"/>
                <a:ext cx="166776" cy="166776"/>
              </a:xfrm>
              <a:custGeom>
                <a:avLst/>
                <a:gdLst>
                  <a:gd name="connsiteX0" fmla="*/ 166776 w 166776"/>
                  <a:gd name="connsiteY0" fmla="*/ 166776 h 166776"/>
                  <a:gd name="connsiteX1" fmla="*/ 0 w 166776"/>
                  <a:gd name="connsiteY1" fmla="*/ 166776 h 166776"/>
                  <a:gd name="connsiteX2" fmla="*/ 0 w 166776"/>
                  <a:gd name="connsiteY2" fmla="*/ 0 h 166776"/>
                  <a:gd name="connsiteX3" fmla="*/ 166776 w 166776"/>
                  <a:gd name="connsiteY3" fmla="*/ 0 h 166776"/>
                  <a:gd name="connsiteX4" fmla="*/ 166776 w 166776"/>
                  <a:gd name="connsiteY4" fmla="*/ 166776 h 166776"/>
                  <a:gd name="connsiteX5" fmla="*/ 27340 w 166776"/>
                  <a:gd name="connsiteY5" fmla="*/ 139436 h 166776"/>
                  <a:gd name="connsiteX6" fmla="*/ 139436 w 166776"/>
                  <a:gd name="connsiteY6" fmla="*/ 139436 h 166776"/>
                  <a:gd name="connsiteX7" fmla="*/ 139436 w 166776"/>
                  <a:gd name="connsiteY7" fmla="*/ 27340 h 166776"/>
                  <a:gd name="connsiteX8" fmla="*/ 27340 w 166776"/>
                  <a:gd name="connsiteY8" fmla="*/ 27340 h 166776"/>
                  <a:gd name="connsiteX9" fmla="*/ 27340 w 166776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6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1" name="Полилиния: фигура 142">
                <a:extLst>
                  <a:ext uri="{FF2B5EF4-FFF2-40B4-BE49-F238E27FC236}">
                    <a16:creationId xmlns:a16="http://schemas.microsoft.com/office/drawing/2014/main" id="{1619E58C-EE5C-4FE4-BE85-97A3DB122C7C}"/>
                  </a:ext>
                </a:extLst>
              </p:cNvPr>
              <p:cNvSpPr/>
              <p:nvPr/>
            </p:nvSpPr>
            <p:spPr>
              <a:xfrm>
                <a:off x="10298881" y="5189718"/>
                <a:ext cx="475721" cy="90223"/>
              </a:xfrm>
              <a:custGeom>
                <a:avLst/>
                <a:gdLst>
                  <a:gd name="connsiteX0" fmla="*/ 475722 w 475721"/>
                  <a:gd name="connsiteY0" fmla="*/ 90223 h 90223"/>
                  <a:gd name="connsiteX1" fmla="*/ 13670 w 475721"/>
                  <a:gd name="connsiteY1" fmla="*/ 90223 h 90223"/>
                  <a:gd name="connsiteX2" fmla="*/ 0 w 475721"/>
                  <a:gd name="connsiteY2" fmla="*/ 76553 h 90223"/>
                  <a:gd name="connsiteX3" fmla="*/ 0 w 475721"/>
                  <a:gd name="connsiteY3" fmla="*/ 13670 h 90223"/>
                  <a:gd name="connsiteX4" fmla="*/ 13670 w 475721"/>
                  <a:gd name="connsiteY4" fmla="*/ 0 h 90223"/>
                  <a:gd name="connsiteX5" fmla="*/ 475722 w 475721"/>
                  <a:gd name="connsiteY5" fmla="*/ 0 h 90223"/>
                  <a:gd name="connsiteX6" fmla="*/ 475722 w 475721"/>
                  <a:gd name="connsiteY6" fmla="*/ 27340 h 90223"/>
                  <a:gd name="connsiteX7" fmla="*/ 27340 w 475721"/>
                  <a:gd name="connsiteY7" fmla="*/ 27340 h 90223"/>
                  <a:gd name="connsiteX8" fmla="*/ 27340 w 475721"/>
                  <a:gd name="connsiteY8" fmla="*/ 62883 h 90223"/>
                  <a:gd name="connsiteX9" fmla="*/ 475722 w 475721"/>
                  <a:gd name="connsiteY9" fmla="*/ 62883 h 90223"/>
                  <a:gd name="connsiteX10" fmla="*/ 475722 w 475721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5721" h="90223">
                    <a:moveTo>
                      <a:pt x="475722" y="90223"/>
                    </a:moveTo>
                    <a:lnTo>
                      <a:pt x="13670" y="90223"/>
                    </a:lnTo>
                    <a:cubicBezTo>
                      <a:pt x="5468" y="90223"/>
                      <a:pt x="0" y="84755"/>
                      <a:pt x="0" y="76553"/>
                    </a:cubicBezTo>
                    <a:lnTo>
                      <a:pt x="0" y="13670"/>
                    </a:lnTo>
                    <a:cubicBezTo>
                      <a:pt x="0" y="5468"/>
                      <a:pt x="5468" y="0"/>
                      <a:pt x="13670" y="0"/>
                    </a:cubicBezTo>
                    <a:lnTo>
                      <a:pt x="475722" y="0"/>
                    </a:lnTo>
                    <a:lnTo>
                      <a:pt x="475722" y="27340"/>
                    </a:lnTo>
                    <a:lnTo>
                      <a:pt x="27340" y="27340"/>
                    </a:lnTo>
                    <a:lnTo>
                      <a:pt x="27340" y="62883"/>
                    </a:lnTo>
                    <a:lnTo>
                      <a:pt x="475722" y="62883"/>
                    </a:lnTo>
                    <a:lnTo>
                      <a:pt x="475722" y="90223"/>
                    </a:ln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02" name="Полилиния: фигура 143">
              <a:extLst>
                <a:ext uri="{FF2B5EF4-FFF2-40B4-BE49-F238E27FC236}">
                  <a16:creationId xmlns:a16="http://schemas.microsoft.com/office/drawing/2014/main" id="{6E3F31C8-03EC-47BA-9598-6C71855BDC5D}"/>
                </a:ext>
              </a:extLst>
            </p:cNvPr>
            <p:cNvSpPr/>
            <p:nvPr/>
          </p:nvSpPr>
          <p:spPr>
            <a:xfrm>
              <a:off x="10304349" y="4938187"/>
              <a:ext cx="319881" cy="90223"/>
            </a:xfrm>
            <a:custGeom>
              <a:avLst/>
              <a:gdLst>
                <a:gd name="connsiteX0" fmla="*/ 319882 w 319881"/>
                <a:gd name="connsiteY0" fmla="*/ 90223 h 90223"/>
                <a:gd name="connsiteX1" fmla="*/ 13670 w 319881"/>
                <a:gd name="connsiteY1" fmla="*/ 90223 h 90223"/>
                <a:gd name="connsiteX2" fmla="*/ 0 w 319881"/>
                <a:gd name="connsiteY2" fmla="*/ 76553 h 90223"/>
                <a:gd name="connsiteX3" fmla="*/ 0 w 319881"/>
                <a:gd name="connsiteY3" fmla="*/ 13670 h 90223"/>
                <a:gd name="connsiteX4" fmla="*/ 13670 w 319881"/>
                <a:gd name="connsiteY4" fmla="*/ 0 h 90223"/>
                <a:gd name="connsiteX5" fmla="*/ 319882 w 319881"/>
                <a:gd name="connsiteY5" fmla="*/ 0 h 90223"/>
                <a:gd name="connsiteX6" fmla="*/ 319882 w 319881"/>
                <a:gd name="connsiteY6" fmla="*/ 27340 h 90223"/>
                <a:gd name="connsiteX7" fmla="*/ 27340 w 319881"/>
                <a:gd name="connsiteY7" fmla="*/ 27340 h 90223"/>
                <a:gd name="connsiteX8" fmla="*/ 27340 w 319881"/>
                <a:gd name="connsiteY8" fmla="*/ 62883 h 90223"/>
                <a:gd name="connsiteX9" fmla="*/ 319882 w 319881"/>
                <a:gd name="connsiteY9" fmla="*/ 62883 h 90223"/>
                <a:gd name="connsiteX10" fmla="*/ 319882 w 319881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1" h="90223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3"/>
                  </a:lnTo>
                  <a:lnTo>
                    <a:pt x="319882" y="62883"/>
                  </a:lnTo>
                  <a:lnTo>
                    <a:pt x="319882" y="90223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44">
              <a:extLst>
                <a:ext uri="{FF2B5EF4-FFF2-40B4-BE49-F238E27FC236}">
                  <a16:creationId xmlns:a16="http://schemas.microsoft.com/office/drawing/2014/main" id="{26191C5E-14CB-4EC1-9157-B44B5251A2C2}"/>
                </a:ext>
              </a:extLst>
            </p:cNvPr>
            <p:cNvSpPr/>
            <p:nvPr/>
          </p:nvSpPr>
          <p:spPr>
            <a:xfrm>
              <a:off x="10670710" y="5424845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145">
              <a:extLst>
                <a:ext uri="{FF2B5EF4-FFF2-40B4-BE49-F238E27FC236}">
                  <a16:creationId xmlns:a16="http://schemas.microsoft.com/office/drawing/2014/main" id="{9BDF8F93-DF36-404F-865A-CAE93FE4A0A6}"/>
                </a:ext>
              </a:extLst>
            </p:cNvPr>
            <p:cNvSpPr/>
            <p:nvPr/>
          </p:nvSpPr>
          <p:spPr>
            <a:xfrm>
              <a:off x="10309817" y="5441249"/>
              <a:ext cx="319882" cy="90222"/>
            </a:xfrm>
            <a:custGeom>
              <a:avLst/>
              <a:gdLst>
                <a:gd name="connsiteX0" fmla="*/ 319882 w 319882"/>
                <a:gd name="connsiteY0" fmla="*/ 90223 h 90222"/>
                <a:gd name="connsiteX1" fmla="*/ 13670 w 319882"/>
                <a:gd name="connsiteY1" fmla="*/ 90223 h 90222"/>
                <a:gd name="connsiteX2" fmla="*/ 0 w 319882"/>
                <a:gd name="connsiteY2" fmla="*/ 76553 h 90222"/>
                <a:gd name="connsiteX3" fmla="*/ 0 w 319882"/>
                <a:gd name="connsiteY3" fmla="*/ 13670 h 90222"/>
                <a:gd name="connsiteX4" fmla="*/ 13670 w 319882"/>
                <a:gd name="connsiteY4" fmla="*/ 0 h 90222"/>
                <a:gd name="connsiteX5" fmla="*/ 319882 w 319882"/>
                <a:gd name="connsiteY5" fmla="*/ 0 h 90222"/>
                <a:gd name="connsiteX6" fmla="*/ 319882 w 319882"/>
                <a:gd name="connsiteY6" fmla="*/ 27340 h 90222"/>
                <a:gd name="connsiteX7" fmla="*/ 27340 w 319882"/>
                <a:gd name="connsiteY7" fmla="*/ 27340 h 90222"/>
                <a:gd name="connsiteX8" fmla="*/ 27340 w 319882"/>
                <a:gd name="connsiteY8" fmla="*/ 62882 h 90222"/>
                <a:gd name="connsiteX9" fmla="*/ 319882 w 319882"/>
                <a:gd name="connsiteY9" fmla="*/ 62882 h 90222"/>
                <a:gd name="connsiteX10" fmla="*/ 319882 w 319882"/>
                <a:gd name="connsiteY10" fmla="*/ 90223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2" h="90222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2"/>
                  </a:lnTo>
                  <a:lnTo>
                    <a:pt x="319882" y="62882"/>
                  </a:lnTo>
                  <a:lnTo>
                    <a:pt x="319882" y="90223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5" name="Группа 184">
            <a:extLst>
              <a:ext uri="{FF2B5EF4-FFF2-40B4-BE49-F238E27FC236}">
                <a16:creationId xmlns:a16="http://schemas.microsoft.com/office/drawing/2014/main" id="{3B6D34BC-434D-4AB9-AA4B-8ACA32E44D2A}"/>
              </a:ext>
            </a:extLst>
          </p:cNvPr>
          <p:cNvGrpSpPr>
            <a:grpSpLocks noChangeAspect="1"/>
          </p:cNvGrpSpPr>
          <p:nvPr/>
        </p:nvGrpSpPr>
        <p:grpSpPr>
          <a:xfrm>
            <a:off x="8877134" y="2891398"/>
            <a:ext cx="387072" cy="293676"/>
            <a:chOff x="6517710" y="1334729"/>
            <a:chExt cx="1019795" cy="773731"/>
          </a:xfrm>
        </p:grpSpPr>
        <p:sp>
          <p:nvSpPr>
            <p:cNvPr id="106" name="Полилиния: фигура 28">
              <a:extLst>
                <a:ext uri="{FF2B5EF4-FFF2-40B4-BE49-F238E27FC236}">
                  <a16:creationId xmlns:a16="http://schemas.microsoft.com/office/drawing/2014/main" id="{A2BC3B57-8D6A-4690-8581-A7C2B4C0F86C}"/>
                </a:ext>
              </a:extLst>
            </p:cNvPr>
            <p:cNvSpPr/>
            <p:nvPr/>
          </p:nvSpPr>
          <p:spPr>
            <a:xfrm>
              <a:off x="6632540" y="1630004"/>
              <a:ext cx="801072" cy="472988"/>
            </a:xfrm>
            <a:custGeom>
              <a:avLst/>
              <a:gdLst>
                <a:gd name="connsiteX0" fmla="*/ 801072 w 801072"/>
                <a:gd name="connsiteY0" fmla="*/ 472988 h 472988"/>
                <a:gd name="connsiteX1" fmla="*/ 773732 w 801072"/>
                <a:gd name="connsiteY1" fmla="*/ 472988 h 472988"/>
                <a:gd name="connsiteX2" fmla="*/ 773732 w 801072"/>
                <a:gd name="connsiteY2" fmla="*/ 347222 h 472988"/>
                <a:gd name="connsiteX3" fmla="*/ 699913 w 801072"/>
                <a:gd name="connsiteY3" fmla="*/ 336286 h 472988"/>
                <a:gd name="connsiteX4" fmla="*/ 688977 w 801072"/>
                <a:gd name="connsiteY4" fmla="*/ 325350 h 472988"/>
                <a:gd name="connsiteX5" fmla="*/ 661637 w 801072"/>
                <a:gd name="connsiteY5" fmla="*/ 262467 h 472988"/>
                <a:gd name="connsiteX6" fmla="*/ 661637 w 801072"/>
                <a:gd name="connsiteY6" fmla="*/ 246063 h 472988"/>
                <a:gd name="connsiteX7" fmla="*/ 702647 w 801072"/>
                <a:gd name="connsiteY7" fmla="*/ 185914 h 472988"/>
                <a:gd name="connsiteX8" fmla="*/ 620626 w 801072"/>
                <a:gd name="connsiteY8" fmla="*/ 103893 h 472988"/>
                <a:gd name="connsiteX9" fmla="*/ 560477 w 801072"/>
                <a:gd name="connsiteY9" fmla="*/ 144904 h 472988"/>
                <a:gd name="connsiteX10" fmla="*/ 546807 w 801072"/>
                <a:gd name="connsiteY10" fmla="*/ 144904 h 472988"/>
                <a:gd name="connsiteX11" fmla="*/ 503063 w 801072"/>
                <a:gd name="connsiteY11" fmla="*/ 125766 h 472988"/>
                <a:gd name="connsiteX12" fmla="*/ 481190 w 801072"/>
                <a:gd name="connsiteY12" fmla="*/ 114829 h 472988"/>
                <a:gd name="connsiteX13" fmla="*/ 472988 w 801072"/>
                <a:gd name="connsiteY13" fmla="*/ 103893 h 472988"/>
                <a:gd name="connsiteX14" fmla="*/ 459318 w 801072"/>
                <a:gd name="connsiteY14" fmla="*/ 30074 h 472988"/>
                <a:gd name="connsiteX15" fmla="*/ 344489 w 801072"/>
                <a:gd name="connsiteY15" fmla="*/ 30074 h 472988"/>
                <a:gd name="connsiteX16" fmla="*/ 333553 w 801072"/>
                <a:gd name="connsiteY16" fmla="*/ 106627 h 472988"/>
                <a:gd name="connsiteX17" fmla="*/ 322616 w 801072"/>
                <a:gd name="connsiteY17" fmla="*/ 117564 h 472988"/>
                <a:gd name="connsiteX18" fmla="*/ 259733 w 801072"/>
                <a:gd name="connsiteY18" fmla="*/ 144904 h 472988"/>
                <a:gd name="connsiteX19" fmla="*/ 243329 w 801072"/>
                <a:gd name="connsiteY19" fmla="*/ 144904 h 472988"/>
                <a:gd name="connsiteX20" fmla="*/ 183181 w 801072"/>
                <a:gd name="connsiteY20" fmla="*/ 103893 h 472988"/>
                <a:gd name="connsiteX21" fmla="*/ 101160 w 801072"/>
                <a:gd name="connsiteY21" fmla="*/ 185914 h 472988"/>
                <a:gd name="connsiteX22" fmla="*/ 142170 w 801072"/>
                <a:gd name="connsiteY22" fmla="*/ 246063 h 472988"/>
                <a:gd name="connsiteX23" fmla="*/ 142170 w 801072"/>
                <a:gd name="connsiteY23" fmla="*/ 259733 h 472988"/>
                <a:gd name="connsiteX24" fmla="*/ 123032 w 801072"/>
                <a:gd name="connsiteY24" fmla="*/ 300744 h 472988"/>
                <a:gd name="connsiteX25" fmla="*/ 112096 w 801072"/>
                <a:gd name="connsiteY25" fmla="*/ 322616 h 472988"/>
                <a:gd name="connsiteX26" fmla="*/ 101160 w 801072"/>
                <a:gd name="connsiteY26" fmla="*/ 330818 h 472988"/>
                <a:gd name="connsiteX27" fmla="*/ 27340 w 801072"/>
                <a:gd name="connsiteY27" fmla="*/ 341754 h 472988"/>
                <a:gd name="connsiteX28" fmla="*/ 27340 w 801072"/>
                <a:gd name="connsiteY28" fmla="*/ 464786 h 472988"/>
                <a:gd name="connsiteX29" fmla="*/ 0 w 801072"/>
                <a:gd name="connsiteY29" fmla="*/ 464786 h 472988"/>
                <a:gd name="connsiteX30" fmla="*/ 0 w 801072"/>
                <a:gd name="connsiteY30" fmla="*/ 328084 h 472988"/>
                <a:gd name="connsiteX31" fmla="*/ 10936 w 801072"/>
                <a:gd name="connsiteY31" fmla="*/ 314414 h 472988"/>
                <a:gd name="connsiteX32" fmla="*/ 87489 w 801072"/>
                <a:gd name="connsiteY32" fmla="*/ 303478 h 472988"/>
                <a:gd name="connsiteX33" fmla="*/ 95691 w 801072"/>
                <a:gd name="connsiteY33" fmla="*/ 287074 h 472988"/>
                <a:gd name="connsiteX34" fmla="*/ 112096 w 801072"/>
                <a:gd name="connsiteY34" fmla="*/ 251531 h 472988"/>
                <a:gd name="connsiteX35" fmla="*/ 68351 w 801072"/>
                <a:gd name="connsiteY35" fmla="*/ 188648 h 472988"/>
                <a:gd name="connsiteX36" fmla="*/ 71085 w 801072"/>
                <a:gd name="connsiteY36" fmla="*/ 172244 h 472988"/>
                <a:gd name="connsiteX37" fmla="*/ 169511 w 801072"/>
                <a:gd name="connsiteY37" fmla="*/ 73819 h 472988"/>
                <a:gd name="connsiteX38" fmla="*/ 185914 w 801072"/>
                <a:gd name="connsiteY38" fmla="*/ 71085 h 472988"/>
                <a:gd name="connsiteX39" fmla="*/ 248797 w 801072"/>
                <a:gd name="connsiteY39" fmla="*/ 114829 h 472988"/>
                <a:gd name="connsiteX40" fmla="*/ 300744 w 801072"/>
                <a:gd name="connsiteY40" fmla="*/ 90223 h 472988"/>
                <a:gd name="connsiteX41" fmla="*/ 311680 w 801072"/>
                <a:gd name="connsiteY41" fmla="*/ 10936 h 472988"/>
                <a:gd name="connsiteX42" fmla="*/ 325350 w 801072"/>
                <a:gd name="connsiteY42" fmla="*/ 0 h 472988"/>
                <a:gd name="connsiteX43" fmla="*/ 464786 w 801072"/>
                <a:gd name="connsiteY43" fmla="*/ 0 h 472988"/>
                <a:gd name="connsiteX44" fmla="*/ 478456 w 801072"/>
                <a:gd name="connsiteY44" fmla="*/ 10936 h 472988"/>
                <a:gd name="connsiteX45" fmla="*/ 492126 w 801072"/>
                <a:gd name="connsiteY45" fmla="*/ 90223 h 472988"/>
                <a:gd name="connsiteX46" fmla="*/ 508531 w 801072"/>
                <a:gd name="connsiteY46" fmla="*/ 95691 h 472988"/>
                <a:gd name="connsiteX47" fmla="*/ 544073 w 801072"/>
                <a:gd name="connsiteY47" fmla="*/ 112095 h 472988"/>
                <a:gd name="connsiteX48" fmla="*/ 606956 w 801072"/>
                <a:gd name="connsiteY48" fmla="*/ 68351 h 472988"/>
                <a:gd name="connsiteX49" fmla="*/ 623360 w 801072"/>
                <a:gd name="connsiteY49" fmla="*/ 71085 h 472988"/>
                <a:gd name="connsiteX50" fmla="*/ 721786 w 801072"/>
                <a:gd name="connsiteY50" fmla="*/ 169510 h 472988"/>
                <a:gd name="connsiteX51" fmla="*/ 724519 w 801072"/>
                <a:gd name="connsiteY51" fmla="*/ 185914 h 472988"/>
                <a:gd name="connsiteX52" fmla="*/ 680775 w 801072"/>
                <a:gd name="connsiteY52" fmla="*/ 248797 h 472988"/>
                <a:gd name="connsiteX53" fmla="*/ 705381 w 801072"/>
                <a:gd name="connsiteY53" fmla="*/ 300744 h 472988"/>
                <a:gd name="connsiteX54" fmla="*/ 781934 w 801072"/>
                <a:gd name="connsiteY54" fmla="*/ 311680 h 472988"/>
                <a:gd name="connsiteX55" fmla="*/ 792870 w 801072"/>
                <a:gd name="connsiteY55" fmla="*/ 325350 h 472988"/>
                <a:gd name="connsiteX56" fmla="*/ 792870 w 801072"/>
                <a:gd name="connsiteY56" fmla="*/ 472988 h 47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01072" h="472988">
                  <a:moveTo>
                    <a:pt x="801072" y="472988"/>
                  </a:moveTo>
                  <a:lnTo>
                    <a:pt x="773732" y="472988"/>
                  </a:lnTo>
                  <a:lnTo>
                    <a:pt x="773732" y="347222"/>
                  </a:lnTo>
                  <a:lnTo>
                    <a:pt x="699913" y="336286"/>
                  </a:lnTo>
                  <a:cubicBezTo>
                    <a:pt x="694445" y="336286"/>
                    <a:pt x="688977" y="330818"/>
                    <a:pt x="688977" y="325350"/>
                  </a:cubicBezTo>
                  <a:cubicBezTo>
                    <a:pt x="680775" y="300744"/>
                    <a:pt x="675307" y="284340"/>
                    <a:pt x="661637" y="262467"/>
                  </a:cubicBezTo>
                  <a:cubicBezTo>
                    <a:pt x="658903" y="256999"/>
                    <a:pt x="658903" y="251531"/>
                    <a:pt x="661637" y="246063"/>
                  </a:cubicBezTo>
                  <a:lnTo>
                    <a:pt x="702647" y="185914"/>
                  </a:lnTo>
                  <a:lnTo>
                    <a:pt x="620626" y="103893"/>
                  </a:lnTo>
                  <a:lnTo>
                    <a:pt x="560477" y="144904"/>
                  </a:lnTo>
                  <a:cubicBezTo>
                    <a:pt x="557743" y="147638"/>
                    <a:pt x="552275" y="147638"/>
                    <a:pt x="546807" y="144904"/>
                  </a:cubicBezTo>
                  <a:cubicBezTo>
                    <a:pt x="533137" y="139436"/>
                    <a:pt x="519467" y="131234"/>
                    <a:pt x="503063" y="125766"/>
                  </a:cubicBezTo>
                  <a:cubicBezTo>
                    <a:pt x="494861" y="123032"/>
                    <a:pt x="486658" y="120298"/>
                    <a:pt x="481190" y="114829"/>
                  </a:cubicBezTo>
                  <a:cubicBezTo>
                    <a:pt x="475722" y="112095"/>
                    <a:pt x="472988" y="109361"/>
                    <a:pt x="472988" y="103893"/>
                  </a:cubicBezTo>
                  <a:lnTo>
                    <a:pt x="459318" y="30074"/>
                  </a:lnTo>
                  <a:lnTo>
                    <a:pt x="344489" y="30074"/>
                  </a:lnTo>
                  <a:lnTo>
                    <a:pt x="333553" y="106627"/>
                  </a:lnTo>
                  <a:cubicBezTo>
                    <a:pt x="333553" y="112095"/>
                    <a:pt x="328084" y="117564"/>
                    <a:pt x="322616" y="117564"/>
                  </a:cubicBezTo>
                  <a:cubicBezTo>
                    <a:pt x="298010" y="125766"/>
                    <a:pt x="281606" y="131234"/>
                    <a:pt x="259733" y="144904"/>
                  </a:cubicBezTo>
                  <a:cubicBezTo>
                    <a:pt x="254265" y="147638"/>
                    <a:pt x="248797" y="147638"/>
                    <a:pt x="243329" y="144904"/>
                  </a:cubicBezTo>
                  <a:lnTo>
                    <a:pt x="183181" y="103893"/>
                  </a:lnTo>
                  <a:lnTo>
                    <a:pt x="101160" y="185914"/>
                  </a:lnTo>
                  <a:lnTo>
                    <a:pt x="142170" y="246063"/>
                  </a:lnTo>
                  <a:cubicBezTo>
                    <a:pt x="144904" y="248797"/>
                    <a:pt x="144904" y="254265"/>
                    <a:pt x="142170" y="259733"/>
                  </a:cubicBezTo>
                  <a:cubicBezTo>
                    <a:pt x="136702" y="273404"/>
                    <a:pt x="128500" y="287074"/>
                    <a:pt x="123032" y="300744"/>
                  </a:cubicBezTo>
                  <a:cubicBezTo>
                    <a:pt x="120298" y="308946"/>
                    <a:pt x="117564" y="317148"/>
                    <a:pt x="112096" y="322616"/>
                  </a:cubicBezTo>
                  <a:cubicBezTo>
                    <a:pt x="109361" y="328084"/>
                    <a:pt x="106628" y="330818"/>
                    <a:pt x="101160" y="330818"/>
                  </a:cubicBezTo>
                  <a:lnTo>
                    <a:pt x="27340" y="341754"/>
                  </a:lnTo>
                  <a:lnTo>
                    <a:pt x="27340" y="464786"/>
                  </a:lnTo>
                  <a:lnTo>
                    <a:pt x="0" y="464786"/>
                  </a:lnTo>
                  <a:lnTo>
                    <a:pt x="0" y="328084"/>
                  </a:lnTo>
                  <a:cubicBezTo>
                    <a:pt x="0" y="322616"/>
                    <a:pt x="5468" y="314414"/>
                    <a:pt x="10936" y="314414"/>
                  </a:cubicBezTo>
                  <a:lnTo>
                    <a:pt x="87489" y="303478"/>
                  </a:lnTo>
                  <a:cubicBezTo>
                    <a:pt x="90223" y="298010"/>
                    <a:pt x="92957" y="292542"/>
                    <a:pt x="95691" y="287074"/>
                  </a:cubicBezTo>
                  <a:cubicBezTo>
                    <a:pt x="101160" y="273404"/>
                    <a:pt x="106628" y="262467"/>
                    <a:pt x="112096" y="251531"/>
                  </a:cubicBezTo>
                  <a:lnTo>
                    <a:pt x="68351" y="188648"/>
                  </a:lnTo>
                  <a:cubicBezTo>
                    <a:pt x="65617" y="183180"/>
                    <a:pt x="65617" y="174978"/>
                    <a:pt x="71085" y="172244"/>
                  </a:cubicBezTo>
                  <a:lnTo>
                    <a:pt x="169511" y="73819"/>
                  </a:lnTo>
                  <a:cubicBezTo>
                    <a:pt x="174979" y="68351"/>
                    <a:pt x="180446" y="68351"/>
                    <a:pt x="185914" y="71085"/>
                  </a:cubicBezTo>
                  <a:lnTo>
                    <a:pt x="248797" y="114829"/>
                  </a:lnTo>
                  <a:cubicBezTo>
                    <a:pt x="265202" y="103893"/>
                    <a:pt x="281606" y="98425"/>
                    <a:pt x="300744" y="90223"/>
                  </a:cubicBezTo>
                  <a:lnTo>
                    <a:pt x="311680" y="10936"/>
                  </a:lnTo>
                  <a:cubicBezTo>
                    <a:pt x="311680" y="5468"/>
                    <a:pt x="317148" y="0"/>
                    <a:pt x="325350" y="0"/>
                  </a:cubicBezTo>
                  <a:lnTo>
                    <a:pt x="464786" y="0"/>
                  </a:lnTo>
                  <a:cubicBezTo>
                    <a:pt x="470254" y="0"/>
                    <a:pt x="478456" y="5468"/>
                    <a:pt x="478456" y="10936"/>
                  </a:cubicBezTo>
                  <a:lnTo>
                    <a:pt x="492126" y="90223"/>
                  </a:lnTo>
                  <a:cubicBezTo>
                    <a:pt x="497595" y="92957"/>
                    <a:pt x="503063" y="95691"/>
                    <a:pt x="508531" y="95691"/>
                  </a:cubicBezTo>
                  <a:cubicBezTo>
                    <a:pt x="522201" y="101159"/>
                    <a:pt x="533137" y="106627"/>
                    <a:pt x="544073" y="112095"/>
                  </a:cubicBezTo>
                  <a:lnTo>
                    <a:pt x="606956" y="68351"/>
                  </a:lnTo>
                  <a:cubicBezTo>
                    <a:pt x="612424" y="65617"/>
                    <a:pt x="620626" y="65617"/>
                    <a:pt x="623360" y="71085"/>
                  </a:cubicBezTo>
                  <a:lnTo>
                    <a:pt x="721786" y="169510"/>
                  </a:lnTo>
                  <a:cubicBezTo>
                    <a:pt x="727254" y="174978"/>
                    <a:pt x="727254" y="180446"/>
                    <a:pt x="724519" y="185914"/>
                  </a:cubicBezTo>
                  <a:lnTo>
                    <a:pt x="680775" y="248797"/>
                  </a:lnTo>
                  <a:cubicBezTo>
                    <a:pt x="691711" y="265201"/>
                    <a:pt x="697179" y="281606"/>
                    <a:pt x="705381" y="300744"/>
                  </a:cubicBezTo>
                  <a:lnTo>
                    <a:pt x="781934" y="311680"/>
                  </a:lnTo>
                  <a:cubicBezTo>
                    <a:pt x="787402" y="311680"/>
                    <a:pt x="792870" y="317148"/>
                    <a:pt x="792870" y="325350"/>
                  </a:cubicBezTo>
                  <a:lnTo>
                    <a:pt x="792870" y="472988"/>
                  </a:lnTo>
                  <a:close/>
                </a:path>
              </a:pathLst>
            </a:custGeom>
            <a:solidFill>
              <a:srgbClr val="DDB6D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07" name="Полилиния: фигура 57">
              <a:extLst>
                <a:ext uri="{FF2B5EF4-FFF2-40B4-BE49-F238E27FC236}">
                  <a16:creationId xmlns:a16="http://schemas.microsoft.com/office/drawing/2014/main" id="{3CB201FE-9AB1-4A3F-AA97-14BD466EC43E}"/>
                </a:ext>
              </a:extLst>
            </p:cNvPr>
            <p:cNvSpPr/>
            <p:nvPr/>
          </p:nvSpPr>
          <p:spPr>
            <a:xfrm>
              <a:off x="6517710" y="1334729"/>
              <a:ext cx="1019795" cy="773731"/>
            </a:xfrm>
            <a:custGeom>
              <a:avLst/>
              <a:gdLst>
                <a:gd name="connsiteX0" fmla="*/ 1006125 w 1019795"/>
                <a:gd name="connsiteY0" fmla="*/ 773732 h 773731"/>
                <a:gd name="connsiteX1" fmla="*/ 888561 w 1019795"/>
                <a:gd name="connsiteY1" fmla="*/ 773732 h 773731"/>
                <a:gd name="connsiteX2" fmla="*/ 888561 w 1019795"/>
                <a:gd name="connsiteY2" fmla="*/ 746392 h 773731"/>
                <a:gd name="connsiteX3" fmla="*/ 992455 w 1019795"/>
                <a:gd name="connsiteY3" fmla="*/ 746392 h 773731"/>
                <a:gd name="connsiteX4" fmla="*/ 992455 w 1019795"/>
                <a:gd name="connsiteY4" fmla="*/ 27340 h 773731"/>
                <a:gd name="connsiteX5" fmla="*/ 27340 w 1019795"/>
                <a:gd name="connsiteY5" fmla="*/ 27340 h 773731"/>
                <a:gd name="connsiteX6" fmla="*/ 27340 w 1019795"/>
                <a:gd name="connsiteY6" fmla="*/ 746392 h 773731"/>
                <a:gd name="connsiteX7" fmla="*/ 147638 w 1019795"/>
                <a:gd name="connsiteY7" fmla="*/ 746392 h 773731"/>
                <a:gd name="connsiteX8" fmla="*/ 147638 w 1019795"/>
                <a:gd name="connsiteY8" fmla="*/ 773732 h 773731"/>
                <a:gd name="connsiteX9" fmla="*/ 13670 w 1019795"/>
                <a:gd name="connsiteY9" fmla="*/ 773732 h 773731"/>
                <a:gd name="connsiteX10" fmla="*/ 0 w 1019795"/>
                <a:gd name="connsiteY10" fmla="*/ 760062 h 773731"/>
                <a:gd name="connsiteX11" fmla="*/ 0 w 1019795"/>
                <a:gd name="connsiteY11" fmla="*/ 13670 h 773731"/>
                <a:gd name="connsiteX12" fmla="*/ 13670 w 1019795"/>
                <a:gd name="connsiteY12" fmla="*/ 0 h 773731"/>
                <a:gd name="connsiteX13" fmla="*/ 1006125 w 1019795"/>
                <a:gd name="connsiteY13" fmla="*/ 0 h 773731"/>
                <a:gd name="connsiteX14" fmla="*/ 1019795 w 1019795"/>
                <a:gd name="connsiteY14" fmla="*/ 13670 h 773731"/>
                <a:gd name="connsiteX15" fmla="*/ 1019795 w 1019795"/>
                <a:gd name="connsiteY15" fmla="*/ 760062 h 773731"/>
                <a:gd name="connsiteX16" fmla="*/ 1006125 w 1019795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5" h="773731">
                  <a:moveTo>
                    <a:pt x="1006125" y="773732"/>
                  </a:moveTo>
                  <a:lnTo>
                    <a:pt x="888561" y="773732"/>
                  </a:lnTo>
                  <a:lnTo>
                    <a:pt x="88856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47638" y="746392"/>
                  </a:lnTo>
                  <a:lnTo>
                    <a:pt x="147638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58">
              <a:extLst>
                <a:ext uri="{FF2B5EF4-FFF2-40B4-BE49-F238E27FC236}">
                  <a16:creationId xmlns:a16="http://schemas.microsoft.com/office/drawing/2014/main" id="{9BFA684B-CC30-4BA2-8031-B1D429AB7AD4}"/>
                </a:ext>
              </a:extLst>
            </p:cNvPr>
            <p:cNvSpPr/>
            <p:nvPr/>
          </p:nvSpPr>
          <p:spPr>
            <a:xfrm>
              <a:off x="6651678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9" name="Рисунок 18">
              <a:extLst>
                <a:ext uri="{FF2B5EF4-FFF2-40B4-BE49-F238E27FC236}">
                  <a16:creationId xmlns:a16="http://schemas.microsoft.com/office/drawing/2014/main" id="{51737C51-AF5D-4DE6-8B52-2653579E02A7}"/>
                </a:ext>
              </a:extLst>
            </p:cNvPr>
            <p:cNvGrpSpPr/>
            <p:nvPr/>
          </p:nvGrpSpPr>
          <p:grpSpPr>
            <a:xfrm>
              <a:off x="6648944" y="1411282"/>
              <a:ext cx="281605" cy="60148"/>
              <a:chOff x="6648944" y="1411282"/>
              <a:chExt cx="281605" cy="60148"/>
            </a:xfrm>
            <a:solidFill>
              <a:srgbClr val="FFFFFF"/>
            </a:solidFill>
          </p:grpSpPr>
          <p:sp>
            <p:nvSpPr>
              <p:cNvPr id="110" name="Полилиния: фигура 60">
                <a:extLst>
                  <a:ext uri="{FF2B5EF4-FFF2-40B4-BE49-F238E27FC236}">
                    <a16:creationId xmlns:a16="http://schemas.microsoft.com/office/drawing/2014/main" id="{0C875D58-1262-47F1-8CD7-E453E135662B}"/>
                  </a:ext>
                </a:extLst>
              </p:cNvPr>
              <p:cNvSpPr/>
              <p:nvPr/>
            </p:nvSpPr>
            <p:spPr>
              <a:xfrm>
                <a:off x="6758305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solidFill>
                <a:srgbClr val="DDB6D3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1" name="Полилиния: фигура 61">
                <a:extLst>
                  <a:ext uri="{FF2B5EF4-FFF2-40B4-BE49-F238E27FC236}">
                    <a16:creationId xmlns:a16="http://schemas.microsoft.com/office/drawing/2014/main" id="{9BC58E78-EEAA-4036-B922-429DA45DDA56}"/>
                  </a:ext>
                </a:extLst>
              </p:cNvPr>
              <p:cNvSpPr/>
              <p:nvPr/>
            </p:nvSpPr>
            <p:spPr>
              <a:xfrm>
                <a:off x="6867667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solidFill>
                <a:srgbClr val="DDB6D3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2" name="Полилиния: фигура 62">
                <a:extLst>
                  <a:ext uri="{FF2B5EF4-FFF2-40B4-BE49-F238E27FC236}">
                    <a16:creationId xmlns:a16="http://schemas.microsoft.com/office/drawing/2014/main" id="{4AAA8A0B-DDCD-4636-8AFD-3ED2884AF784}"/>
                  </a:ext>
                </a:extLst>
              </p:cNvPr>
              <p:cNvSpPr/>
              <p:nvPr/>
            </p:nvSpPr>
            <p:spPr>
              <a:xfrm>
                <a:off x="6648944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solidFill>
                <a:srgbClr val="DDB6D3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13" name="Полилиния: фигура 63">
              <a:extLst>
                <a:ext uri="{FF2B5EF4-FFF2-40B4-BE49-F238E27FC236}">
                  <a16:creationId xmlns:a16="http://schemas.microsoft.com/office/drawing/2014/main" id="{C47EABCD-8625-4C28-96B0-3E1BD8E76945}"/>
                </a:ext>
              </a:extLst>
            </p:cNvPr>
            <p:cNvSpPr/>
            <p:nvPr/>
          </p:nvSpPr>
          <p:spPr>
            <a:xfrm>
              <a:off x="6889539" y="1892472"/>
              <a:ext cx="306211" cy="210520"/>
            </a:xfrm>
            <a:custGeom>
              <a:avLst/>
              <a:gdLst>
                <a:gd name="connsiteX0" fmla="*/ 295276 w 306211"/>
                <a:gd name="connsiteY0" fmla="*/ 210521 h 210520"/>
                <a:gd name="connsiteX1" fmla="*/ 270669 w 306211"/>
                <a:gd name="connsiteY1" fmla="*/ 202319 h 210520"/>
                <a:gd name="connsiteX2" fmla="*/ 278872 w 306211"/>
                <a:gd name="connsiteY2" fmla="*/ 153106 h 210520"/>
                <a:gd name="connsiteX3" fmla="*/ 153106 w 306211"/>
                <a:gd name="connsiteY3" fmla="*/ 27340 h 210520"/>
                <a:gd name="connsiteX4" fmla="*/ 27340 w 306211"/>
                <a:gd name="connsiteY4" fmla="*/ 153106 h 210520"/>
                <a:gd name="connsiteX5" fmla="*/ 32808 w 306211"/>
                <a:gd name="connsiteY5" fmla="*/ 199585 h 210520"/>
                <a:gd name="connsiteX6" fmla="*/ 8202 w 306211"/>
                <a:gd name="connsiteY6" fmla="*/ 207787 h 210520"/>
                <a:gd name="connsiteX7" fmla="*/ 0 w 306211"/>
                <a:gd name="connsiteY7" fmla="*/ 153106 h 210520"/>
                <a:gd name="connsiteX8" fmla="*/ 153106 w 306211"/>
                <a:gd name="connsiteY8" fmla="*/ 0 h 210520"/>
                <a:gd name="connsiteX9" fmla="*/ 306212 w 306211"/>
                <a:gd name="connsiteY9" fmla="*/ 153106 h 210520"/>
                <a:gd name="connsiteX10" fmla="*/ 295276 w 306211"/>
                <a:gd name="connsiteY10" fmla="*/ 210521 h 21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211" h="210520">
                  <a:moveTo>
                    <a:pt x="295276" y="210521"/>
                  </a:moveTo>
                  <a:lnTo>
                    <a:pt x="270669" y="202319"/>
                  </a:lnTo>
                  <a:cubicBezTo>
                    <a:pt x="276137" y="191382"/>
                    <a:pt x="278872" y="169510"/>
                    <a:pt x="278872" y="153106"/>
                  </a:cubicBezTo>
                  <a:cubicBezTo>
                    <a:pt x="278872" y="84755"/>
                    <a:pt x="221457" y="27340"/>
                    <a:pt x="153106" y="27340"/>
                  </a:cubicBezTo>
                  <a:cubicBezTo>
                    <a:pt x="84755" y="27340"/>
                    <a:pt x="27340" y="84755"/>
                    <a:pt x="27340" y="153106"/>
                  </a:cubicBezTo>
                  <a:cubicBezTo>
                    <a:pt x="27340" y="169510"/>
                    <a:pt x="30074" y="188648"/>
                    <a:pt x="32808" y="199585"/>
                  </a:cubicBezTo>
                  <a:lnTo>
                    <a:pt x="8202" y="207787"/>
                  </a:lnTo>
                  <a:cubicBezTo>
                    <a:pt x="2734" y="191382"/>
                    <a:pt x="0" y="166776"/>
                    <a:pt x="0" y="153106"/>
                  </a:cubicBezTo>
                  <a:cubicBezTo>
                    <a:pt x="0" y="68351"/>
                    <a:pt x="68351" y="0"/>
                    <a:pt x="153106" y="0"/>
                  </a:cubicBezTo>
                  <a:cubicBezTo>
                    <a:pt x="237861" y="0"/>
                    <a:pt x="306212" y="68351"/>
                    <a:pt x="306212" y="153106"/>
                  </a:cubicBezTo>
                  <a:cubicBezTo>
                    <a:pt x="306212" y="169510"/>
                    <a:pt x="303478" y="194117"/>
                    <a:pt x="295276" y="210521"/>
                  </a:cubicBez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4" name="Группа 216">
            <a:extLst>
              <a:ext uri="{FF2B5EF4-FFF2-40B4-BE49-F238E27FC236}">
                <a16:creationId xmlns:a16="http://schemas.microsoft.com/office/drawing/2014/main" id="{FFD43C5D-3309-40D3-916E-9844B957AA12}"/>
              </a:ext>
            </a:extLst>
          </p:cNvPr>
          <p:cNvGrpSpPr>
            <a:grpSpLocks noChangeAspect="1"/>
          </p:cNvGrpSpPr>
          <p:nvPr/>
        </p:nvGrpSpPr>
        <p:grpSpPr>
          <a:xfrm>
            <a:off x="10731333" y="2886476"/>
            <a:ext cx="402213" cy="308118"/>
            <a:chOff x="6419284" y="2899233"/>
            <a:chExt cx="1192037" cy="913167"/>
          </a:xfrm>
        </p:grpSpPr>
        <p:sp>
          <p:nvSpPr>
            <p:cNvPr id="115" name="Полилиния: фигура 105">
              <a:extLst>
                <a:ext uri="{FF2B5EF4-FFF2-40B4-BE49-F238E27FC236}">
                  <a16:creationId xmlns:a16="http://schemas.microsoft.com/office/drawing/2014/main" id="{64896FA1-71C2-43BA-BEDD-43CA9540A6ED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107">
              <a:extLst>
                <a:ext uri="{FF2B5EF4-FFF2-40B4-BE49-F238E27FC236}">
                  <a16:creationId xmlns:a16="http://schemas.microsoft.com/office/drawing/2014/main" id="{CEA027BF-3B1C-476B-8078-ED8EC4E1B3FB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108">
              <a:extLst>
                <a:ext uri="{FF2B5EF4-FFF2-40B4-BE49-F238E27FC236}">
                  <a16:creationId xmlns:a16="http://schemas.microsoft.com/office/drawing/2014/main" id="{3665D73A-669C-4495-BD79-20B5EAFA8488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109">
              <a:extLst>
                <a:ext uri="{FF2B5EF4-FFF2-40B4-BE49-F238E27FC236}">
                  <a16:creationId xmlns:a16="http://schemas.microsoft.com/office/drawing/2014/main" id="{E5E3CF38-96A4-42C7-B8D3-B89ACEC24856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110">
              <a:extLst>
                <a:ext uri="{FF2B5EF4-FFF2-40B4-BE49-F238E27FC236}">
                  <a16:creationId xmlns:a16="http://schemas.microsoft.com/office/drawing/2014/main" id="{58698D62-6BAF-468E-8CA8-A50472AB7F2A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solidFill>
              <a:srgbClr val="DDB6D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: фигура 111">
              <a:extLst>
                <a:ext uri="{FF2B5EF4-FFF2-40B4-BE49-F238E27FC236}">
                  <a16:creationId xmlns:a16="http://schemas.microsoft.com/office/drawing/2014/main" id="{B2311C47-75AD-47DB-972A-EEA05594AC8B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: фигура 112">
              <a:extLst>
                <a:ext uri="{FF2B5EF4-FFF2-40B4-BE49-F238E27FC236}">
                  <a16:creationId xmlns:a16="http://schemas.microsoft.com/office/drawing/2014/main" id="{3F740F22-BC51-4268-8696-EC05D492EDCA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: фигура 113">
              <a:extLst>
                <a:ext uri="{FF2B5EF4-FFF2-40B4-BE49-F238E27FC236}">
                  <a16:creationId xmlns:a16="http://schemas.microsoft.com/office/drawing/2014/main" id="{F7FD75C7-AA1A-4797-BECB-50592BB7D02F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: фигура 114">
              <a:extLst>
                <a:ext uri="{FF2B5EF4-FFF2-40B4-BE49-F238E27FC236}">
                  <a16:creationId xmlns:a16="http://schemas.microsoft.com/office/drawing/2014/main" id="{097E3FEC-B731-4D70-B693-D7549F86C038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166">
              <a:extLst>
                <a:ext uri="{FF2B5EF4-FFF2-40B4-BE49-F238E27FC236}">
                  <a16:creationId xmlns:a16="http://schemas.microsoft.com/office/drawing/2014/main" id="{6B99E485-FADA-4C8E-A36F-985ACF5FA24E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rgbClr val="DDB6D3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67">
              <a:extLst>
                <a:ext uri="{FF2B5EF4-FFF2-40B4-BE49-F238E27FC236}">
                  <a16:creationId xmlns:a16="http://schemas.microsoft.com/office/drawing/2014/main" id="{9CCFAF42-899D-4D50-A45A-AB5B3CA84411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rgbClr val="DDB6D3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26" name="TextBox 131">
            <a:extLst>
              <a:ext uri="{FF2B5EF4-FFF2-40B4-BE49-F238E27FC236}">
                <a16:creationId xmlns:a16="http://schemas.microsoft.com/office/drawing/2014/main" id="{EFA5E72E-BC57-40DA-8C96-B432AFC9C2B6}"/>
              </a:ext>
            </a:extLst>
          </p:cNvPr>
          <p:cNvSpPr txBox="1"/>
          <p:nvPr/>
        </p:nvSpPr>
        <p:spPr bwMode="auto">
          <a:xfrm>
            <a:off x="458788" y="891939"/>
            <a:ext cx="6098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defTabSz="914377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ru-RU" sz="1600" b="0" spc="3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Общие проверки</a:t>
            </a:r>
            <a:endParaRPr lang="en-US" sz="1600" b="1" spc="30" dirty="0">
              <a:solidFill>
                <a:srgbClr val="7D70EF"/>
              </a:solidFill>
            </a:endParaRPr>
          </a:p>
        </p:txBody>
      </p:sp>
      <p:pic>
        <p:nvPicPr>
          <p:cNvPr id="127" name="Graphic 28" descr="Acquisition with solid fill">
            <a:extLst>
              <a:ext uri="{FF2B5EF4-FFF2-40B4-BE49-F238E27FC236}">
                <a16:creationId xmlns:a16="http://schemas.microsoft.com/office/drawing/2014/main" id="{444FB528-083C-4F06-BC45-14A670592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 flipH="1">
            <a:off x="2511032" y="706368"/>
            <a:ext cx="670145" cy="670145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Box 2">
            <a:extLst>
              <a:ext uri="{FF2B5EF4-FFF2-40B4-BE49-F238E27FC236}">
                <a16:creationId xmlns:a16="http://schemas.microsoft.com/office/drawing/2014/main" id="{E3BEEFB2-82A0-4380-B867-7E040D1B4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4041077"/>
            <a:ext cx="3186115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588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50" dirty="0">
                <a:solidFill>
                  <a:srgbClr val="000000"/>
                </a:solidFill>
                <a:latin typeface="+mn-lt"/>
              </a:rPr>
              <a:t>Стандарты написания кода</a:t>
            </a:r>
            <a:endParaRPr lang="en-US" altLang="en-RU" sz="115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588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en-US" altLang="en-RU" sz="1150" dirty="0">
                <a:solidFill>
                  <a:srgbClr val="000000"/>
                </a:solidFill>
                <a:latin typeface="+mn-lt"/>
              </a:rPr>
              <a:t>Code Review</a:t>
            </a:r>
          </a:p>
          <a:p>
            <a:pPr eaLnBrk="1" hangingPunct="1">
              <a:spcBef>
                <a:spcPts val="588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50" dirty="0">
                <a:solidFill>
                  <a:srgbClr val="000000"/>
                </a:solidFill>
                <a:latin typeface="+mn-lt"/>
              </a:rPr>
              <a:t>Статический анализ кода</a:t>
            </a:r>
            <a:endParaRPr lang="en-US" altLang="en-RU" sz="115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588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50" dirty="0">
                <a:solidFill>
                  <a:srgbClr val="000000"/>
                </a:solidFill>
                <a:latin typeface="+mn-lt"/>
              </a:rPr>
              <a:t>Автоматическая проверка качества кода</a:t>
            </a:r>
            <a:endParaRPr lang="en-US" altLang="en-RU" sz="115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588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50" dirty="0">
                <a:solidFill>
                  <a:srgbClr val="000000"/>
                </a:solidFill>
                <a:latin typeface="+mn-lt"/>
              </a:rPr>
              <a:t>Контроль версий</a:t>
            </a:r>
            <a:r>
              <a:rPr lang="en-US" altLang="en-RU" sz="1150" dirty="0">
                <a:solidFill>
                  <a:srgbClr val="000000"/>
                </a:solidFill>
                <a:latin typeface="+mn-lt"/>
              </a:rPr>
              <a:t>, </a:t>
            </a:r>
            <a:r>
              <a:rPr lang="ru-RU" altLang="en-RU" sz="1150" dirty="0" err="1">
                <a:solidFill>
                  <a:srgbClr val="000000"/>
                </a:solidFill>
                <a:latin typeface="+mn-lt"/>
              </a:rPr>
              <a:t>бранчинг</a:t>
            </a:r>
            <a:endParaRPr lang="en-US" altLang="en-RU" sz="115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588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150" dirty="0">
                <a:solidFill>
                  <a:srgbClr val="000000"/>
                </a:solidFill>
                <a:latin typeface="+mn-lt"/>
              </a:rPr>
              <a:t>Юнит</a:t>
            </a:r>
            <a:r>
              <a:rPr lang="en-US" altLang="en-RU" sz="1150" dirty="0">
                <a:solidFill>
                  <a:srgbClr val="000000"/>
                </a:solidFill>
                <a:latin typeface="+mn-lt"/>
              </a:rPr>
              <a:t>-</a:t>
            </a:r>
            <a:r>
              <a:rPr lang="ru-RU" altLang="en-RU" sz="1150" dirty="0">
                <a:solidFill>
                  <a:srgbClr val="000000"/>
                </a:solidFill>
                <a:latin typeface="+mn-lt"/>
              </a:rPr>
              <a:t>тестирование</a:t>
            </a:r>
            <a:endParaRPr lang="en-US" altLang="en-RU" sz="1150" dirty="0">
              <a:solidFill>
                <a:srgbClr val="000000"/>
              </a:solidFill>
              <a:latin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2ADD8896-0B10-4ECD-9607-D61D06BAF72C}"/>
              </a:ext>
            </a:extLst>
          </p:cNvPr>
          <p:cNvGraphicFramePr>
            <a:graphicFrameLocks/>
          </p:cNvGraphicFramePr>
          <p:nvPr/>
        </p:nvGraphicFramePr>
        <p:xfrm>
          <a:off x="1769354" y="933455"/>
          <a:ext cx="8277333" cy="54181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22" name="Group 5">
            <a:extLst>
              <a:ext uri="{FF2B5EF4-FFF2-40B4-BE49-F238E27FC236}">
                <a16:creationId xmlns:a16="http://schemas.microsoft.com/office/drawing/2014/main" id="{05729745-6E82-4B50-AFB7-B18C80AC642C}"/>
              </a:ext>
            </a:extLst>
          </p:cNvPr>
          <p:cNvGrpSpPr>
            <a:grpSpLocks/>
          </p:cNvGrpSpPr>
          <p:nvPr/>
        </p:nvGrpSpPr>
        <p:grpSpPr bwMode="auto">
          <a:xfrm>
            <a:off x="6676453" y="966054"/>
            <a:ext cx="3508091" cy="245636"/>
            <a:chOff x="6605516" y="1392071"/>
            <a:chExt cx="1597219" cy="184245"/>
          </a:xfrm>
        </p:grpSpPr>
        <p:cxnSp>
          <p:nvCxnSpPr>
            <p:cNvPr id="23" name="Straight Connector 6">
              <a:extLst>
                <a:ext uri="{FF2B5EF4-FFF2-40B4-BE49-F238E27FC236}">
                  <a16:creationId xmlns:a16="http://schemas.microsoft.com/office/drawing/2014/main" id="{9AB1DBBA-040B-4EF4-8CAA-307337FD69DC}"/>
                </a:ext>
              </a:extLst>
            </p:cNvPr>
            <p:cNvCxnSpPr/>
            <p:nvPr/>
          </p:nvCxnSpPr>
          <p:spPr>
            <a:xfrm flipV="1">
              <a:off x="6605776" y="1392622"/>
              <a:ext cx="95407" cy="183374"/>
            </a:xfrm>
            <a:prstGeom prst="line">
              <a:avLst/>
            </a:prstGeom>
            <a:ln>
              <a:solidFill>
                <a:srgbClr val="7D70EF">
                  <a:lumMod val="60000"/>
                  <a:lumOff val="40000"/>
                </a:srgbClr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24" name="Straight Connector 7">
              <a:extLst>
                <a:ext uri="{FF2B5EF4-FFF2-40B4-BE49-F238E27FC236}">
                  <a16:creationId xmlns:a16="http://schemas.microsoft.com/office/drawing/2014/main" id="{0488798D-D71B-445D-80A8-20EB5E41BA4F}"/>
                </a:ext>
              </a:extLst>
            </p:cNvPr>
            <p:cNvCxnSpPr/>
            <p:nvPr/>
          </p:nvCxnSpPr>
          <p:spPr>
            <a:xfrm flipV="1">
              <a:off x="6701184" y="1392622"/>
              <a:ext cx="1501219" cy="1190"/>
            </a:xfrm>
            <a:prstGeom prst="line">
              <a:avLst/>
            </a:prstGeom>
            <a:ln>
              <a:solidFill>
                <a:srgbClr val="7D70EF">
                  <a:lumMod val="60000"/>
                  <a:lumOff val="40000"/>
                </a:srgbClr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ECD38C24-8DDE-432F-80CA-E32EBD0111C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308421" y="5762352"/>
            <a:ext cx="2129733" cy="320141"/>
            <a:chOff x="6605516" y="1392071"/>
            <a:chExt cx="1597219" cy="184245"/>
          </a:xfrm>
        </p:grpSpPr>
        <p:cxnSp>
          <p:nvCxnSpPr>
            <p:cNvPr id="26" name="Straight Connector 9">
              <a:extLst>
                <a:ext uri="{FF2B5EF4-FFF2-40B4-BE49-F238E27FC236}">
                  <a16:creationId xmlns:a16="http://schemas.microsoft.com/office/drawing/2014/main" id="{B045F99F-9EEB-4160-B82C-BA3BEA59FEDC}"/>
                </a:ext>
              </a:extLst>
            </p:cNvPr>
            <p:cNvCxnSpPr/>
            <p:nvPr/>
          </p:nvCxnSpPr>
          <p:spPr>
            <a:xfrm flipV="1">
              <a:off x="6605838" y="1392520"/>
              <a:ext cx="95245" cy="183639"/>
            </a:xfrm>
            <a:prstGeom prst="line">
              <a:avLst/>
            </a:prstGeom>
            <a:ln>
              <a:solidFill>
                <a:srgbClr val="7D70EF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27" name="Straight Connector 10">
              <a:extLst>
                <a:ext uri="{FF2B5EF4-FFF2-40B4-BE49-F238E27FC236}">
                  <a16:creationId xmlns:a16="http://schemas.microsoft.com/office/drawing/2014/main" id="{FDEE1D6F-2D44-492B-9E6F-A48368947849}"/>
                </a:ext>
              </a:extLst>
            </p:cNvPr>
            <p:cNvCxnSpPr/>
            <p:nvPr/>
          </p:nvCxnSpPr>
          <p:spPr>
            <a:xfrm flipV="1">
              <a:off x="6701083" y="1392520"/>
              <a:ext cx="1501303" cy="914"/>
            </a:xfrm>
            <a:prstGeom prst="line">
              <a:avLst/>
            </a:prstGeom>
            <a:ln>
              <a:solidFill>
                <a:srgbClr val="7D70EF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grpSp>
        <p:nvGrpSpPr>
          <p:cNvPr id="28" name="Group 11">
            <a:extLst>
              <a:ext uri="{FF2B5EF4-FFF2-40B4-BE49-F238E27FC236}">
                <a16:creationId xmlns:a16="http://schemas.microsoft.com/office/drawing/2014/main" id="{26506ADA-86ED-43B4-8138-DEC4AEEF941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473" y="1742966"/>
            <a:ext cx="3164344" cy="261677"/>
            <a:chOff x="6600686" y="1398291"/>
            <a:chExt cx="1730313" cy="184244"/>
          </a:xfrm>
        </p:grpSpPr>
        <p:cxnSp>
          <p:nvCxnSpPr>
            <p:cNvPr id="29" name="Straight Connector 12">
              <a:extLst>
                <a:ext uri="{FF2B5EF4-FFF2-40B4-BE49-F238E27FC236}">
                  <a16:creationId xmlns:a16="http://schemas.microsoft.com/office/drawing/2014/main" id="{BE3A89B7-D029-4D5C-8D6B-1EB1E501F3EE}"/>
                </a:ext>
              </a:extLst>
            </p:cNvPr>
            <p:cNvCxnSpPr/>
            <p:nvPr/>
          </p:nvCxnSpPr>
          <p:spPr>
            <a:xfrm flipV="1">
              <a:off x="6600661" y="1398368"/>
              <a:ext cx="95488" cy="184428"/>
            </a:xfrm>
            <a:prstGeom prst="line">
              <a:avLst/>
            </a:prstGeom>
            <a:ln>
              <a:solidFill>
                <a:srgbClr val="8F0D6B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30" name="Straight Connector 13">
              <a:extLst>
                <a:ext uri="{FF2B5EF4-FFF2-40B4-BE49-F238E27FC236}">
                  <a16:creationId xmlns:a16="http://schemas.microsoft.com/office/drawing/2014/main" id="{6A64C343-7C64-4599-B4BA-6BF2B08397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6149" y="1399486"/>
              <a:ext cx="1634576" cy="0"/>
            </a:xfrm>
            <a:prstGeom prst="line">
              <a:avLst/>
            </a:prstGeom>
            <a:ln>
              <a:solidFill>
                <a:srgbClr val="8F0D6B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sp>
        <p:nvSpPr>
          <p:cNvPr id="31" name="TextBox 14">
            <a:extLst>
              <a:ext uri="{FF2B5EF4-FFF2-40B4-BE49-F238E27FC236}">
                <a16:creationId xmlns:a16="http://schemas.microsoft.com/office/drawing/2014/main" id="{466D13C1-F680-4DFA-A05F-543174186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237" y="5495638"/>
            <a:ext cx="2471447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79413" indent="-379413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en-US" altLang="en-RU" sz="1200" dirty="0">
                <a:solidFill>
                  <a:srgbClr val="000000"/>
                </a:solidFill>
                <a:latin typeface="+mn-lt"/>
              </a:rPr>
              <a:t>Agile-</a:t>
            </a: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практики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Культура инжиниринга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2" name="TextBox 44">
            <a:extLst>
              <a:ext uri="{FF2B5EF4-FFF2-40B4-BE49-F238E27FC236}">
                <a16:creationId xmlns:a16="http://schemas.microsoft.com/office/drawing/2014/main" id="{66325563-78D4-4255-9B4B-4E63809B6AD9}"/>
              </a:ext>
            </a:extLst>
          </p:cNvPr>
          <p:cNvSpPr txBox="1"/>
          <p:nvPr/>
        </p:nvSpPr>
        <p:spPr bwMode="auto">
          <a:xfrm>
            <a:off x="733425" y="1870075"/>
            <a:ext cx="3036887" cy="1508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+mn-lt"/>
              </a:rPr>
              <a:t>CI/CD</a:t>
            </a:r>
          </a:p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000000"/>
                </a:solidFill>
                <a:latin typeface="+mn-lt"/>
              </a:rPr>
              <a:t>DevTestOps</a:t>
            </a:r>
            <a:endParaRPr lang="en-US" sz="1200" dirty="0">
              <a:solidFill>
                <a:srgbClr val="000000"/>
              </a:solidFill>
            </a:endParaRPr>
          </a:p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  <a:latin typeface="+mn-lt"/>
              </a:rPr>
              <a:t>Обеспечение средами</a:t>
            </a:r>
            <a:endParaRPr lang="en-US" sz="1200" dirty="0">
              <a:solidFill>
                <a:srgbClr val="000000"/>
              </a:solidFill>
            </a:endParaRPr>
          </a:p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  <a:latin typeface="+mn-lt"/>
              </a:rPr>
              <a:t>Автоматический конвейер с проверками качества</a:t>
            </a:r>
            <a:endParaRPr lang="en-US" sz="1200" dirty="0">
              <a:solidFill>
                <a:srgbClr val="000000"/>
              </a:solidFill>
            </a:endParaRPr>
          </a:p>
          <a:p>
            <a:pPr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defRPr/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E46E0BEC-0179-473E-A5E4-04156AA78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4158" y="4220503"/>
            <a:ext cx="2686068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200" dirty="0" err="1">
                <a:solidFill>
                  <a:srgbClr val="000000"/>
                </a:solidFill>
                <a:latin typeface="+mn-lt"/>
              </a:rPr>
              <a:t>Микросервисы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Облачная разработка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Трансформация приложения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Рефакторинг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79BFA2D4-3F8B-4DE8-8527-E3F18C1A0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6720" y="3104127"/>
            <a:ext cx="333001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algn="ctr" eaLnBrk="1" hangingPunct="1"/>
            <a:r>
              <a:rPr lang="ru-RU" altLang="en-RU" sz="235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НЕПРЕРЫВНОЕ ТЕСТИРОВАНИЕ</a:t>
            </a:r>
            <a:endParaRPr lang="en-US" altLang="en-RU" sz="2350" b="1" spc="3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A25AD725-80DA-4327-8067-2BC7DA4A4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926" y="4518735"/>
            <a:ext cx="1505027" cy="369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/>
            <a:endParaRPr lang="en-RU" altLang="en-RU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36" name="Group 20">
            <a:extLst>
              <a:ext uri="{FF2B5EF4-FFF2-40B4-BE49-F238E27FC236}">
                <a16:creationId xmlns:a16="http://schemas.microsoft.com/office/drawing/2014/main" id="{C2DC174B-C083-493E-8EB4-64423E96961B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829622" y="5751124"/>
            <a:ext cx="3585726" cy="320139"/>
            <a:chOff x="6596231" y="1412406"/>
            <a:chExt cx="1688869" cy="184244"/>
          </a:xfrm>
        </p:grpSpPr>
        <p:cxnSp>
          <p:nvCxnSpPr>
            <p:cNvPr id="37" name="Straight Connector 21">
              <a:extLst>
                <a:ext uri="{FF2B5EF4-FFF2-40B4-BE49-F238E27FC236}">
                  <a16:creationId xmlns:a16="http://schemas.microsoft.com/office/drawing/2014/main" id="{05E09ECE-C87F-48E9-AC34-6C1195CC11A4}"/>
                </a:ext>
              </a:extLst>
            </p:cNvPr>
            <p:cNvCxnSpPr/>
            <p:nvPr/>
          </p:nvCxnSpPr>
          <p:spPr>
            <a:xfrm flipV="1">
              <a:off x="6596017" y="1411969"/>
              <a:ext cx="95908" cy="184552"/>
            </a:xfrm>
            <a:prstGeom prst="line">
              <a:avLst/>
            </a:prstGeom>
            <a:ln>
              <a:solidFill>
                <a:srgbClr val="7D70EF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38" name="Straight Connector 22">
              <a:extLst>
                <a:ext uri="{FF2B5EF4-FFF2-40B4-BE49-F238E27FC236}">
                  <a16:creationId xmlns:a16="http://schemas.microsoft.com/office/drawing/2014/main" id="{861EA9CF-29B7-46B2-B028-789A4E7DC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925" y="1412883"/>
              <a:ext cx="1592901" cy="0"/>
            </a:xfrm>
            <a:prstGeom prst="line">
              <a:avLst/>
            </a:prstGeom>
            <a:ln>
              <a:solidFill>
                <a:srgbClr val="7D70EF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sp>
        <p:nvSpPr>
          <p:cNvPr id="39" name="TextBox 1">
            <a:extLst>
              <a:ext uri="{FF2B5EF4-FFF2-40B4-BE49-F238E27FC236}">
                <a16:creationId xmlns:a16="http://schemas.microsoft.com/office/drawing/2014/main" id="{CAF749EC-01C5-48C9-9674-A8D7347E3AD5}"/>
              </a:ext>
            </a:extLst>
          </p:cNvPr>
          <p:cNvSpPr txBox="1"/>
          <p:nvPr/>
        </p:nvSpPr>
        <p:spPr bwMode="auto">
          <a:xfrm rot="20948581">
            <a:off x="5167260" y="4897205"/>
            <a:ext cx="2226400" cy="947634"/>
          </a:xfrm>
          <a:prstGeom prst="rect">
            <a:avLst/>
          </a:prstGeom>
        </p:spPr>
        <p:txBody>
          <a:bodyPr spcFirstLastPara="1">
            <a:prstTxWarp prst="textArchDown">
              <a:avLst>
                <a:gd name="adj" fmla="val 1977052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ПРОЦЕССЫ</a:t>
            </a:r>
            <a:endParaRPr lang="en-US" sz="1600" b="1" spc="300" dirty="0">
              <a:solidFill>
                <a:srgbClr val="000000"/>
              </a:solidFill>
            </a:endParaRPr>
          </a:p>
        </p:txBody>
      </p:sp>
      <p:sp>
        <p:nvSpPr>
          <p:cNvPr id="40" name="TextBox 1">
            <a:extLst>
              <a:ext uri="{FF2B5EF4-FFF2-40B4-BE49-F238E27FC236}">
                <a16:creationId xmlns:a16="http://schemas.microsoft.com/office/drawing/2014/main" id="{CCBAE039-0E6C-4D5D-9FEE-37A3D1A757C6}"/>
              </a:ext>
            </a:extLst>
          </p:cNvPr>
          <p:cNvSpPr txBox="1"/>
          <p:nvPr/>
        </p:nvSpPr>
        <p:spPr bwMode="auto">
          <a:xfrm rot="16564636">
            <a:off x="6332353" y="3138400"/>
            <a:ext cx="2413407" cy="1275185"/>
          </a:xfrm>
          <a:prstGeom prst="rect">
            <a:avLst/>
          </a:prstGeom>
        </p:spPr>
        <p:txBody>
          <a:bodyPr spcFirstLastPara="1">
            <a:prstTxWarp prst="textArchDown">
              <a:avLst>
                <a:gd name="adj" fmla="val 1248244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АРХИТЕКТУРА</a:t>
            </a:r>
            <a:endParaRPr lang="en-US" sz="1600" b="1" spc="300" dirty="0">
              <a:solidFill>
                <a:srgbClr val="000000"/>
              </a:solidFill>
            </a:endParaRP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3B6A15BB-D2E7-4B7A-A8F7-339856E71E93}"/>
              </a:ext>
            </a:extLst>
          </p:cNvPr>
          <p:cNvSpPr txBox="1"/>
          <p:nvPr/>
        </p:nvSpPr>
        <p:spPr bwMode="auto">
          <a:xfrm rot="1623262">
            <a:off x="5448824" y="1669176"/>
            <a:ext cx="2436780" cy="947634"/>
          </a:xfrm>
          <a:prstGeom prst="rect">
            <a:avLst/>
          </a:prstGeom>
        </p:spPr>
        <p:txBody>
          <a:bodyPr spcFirstLastPara="1">
            <a:prstTxWarp prst="textArchUp">
              <a:avLst>
                <a:gd name="adj" fmla="val 12156346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АВТОТЕСТИРОВАНИЕ</a:t>
            </a:r>
            <a:endParaRPr lang="en-US" sz="1600" b="1" spc="300" dirty="0">
              <a:solidFill>
                <a:srgbClr val="000000"/>
              </a:solidFill>
            </a:endParaRPr>
          </a:p>
        </p:txBody>
      </p:sp>
      <p:grpSp>
        <p:nvGrpSpPr>
          <p:cNvPr id="42" name="Group 30">
            <a:extLst>
              <a:ext uri="{FF2B5EF4-FFF2-40B4-BE49-F238E27FC236}">
                <a16:creationId xmlns:a16="http://schemas.microsoft.com/office/drawing/2014/main" id="{899F327C-C481-473F-AC59-74FBA3853FFF}"/>
              </a:ext>
            </a:extLst>
          </p:cNvPr>
          <p:cNvGrpSpPr>
            <a:grpSpLocks/>
          </p:cNvGrpSpPr>
          <p:nvPr/>
        </p:nvGrpSpPr>
        <p:grpSpPr bwMode="auto">
          <a:xfrm>
            <a:off x="8306672" y="4167365"/>
            <a:ext cx="2129733" cy="245636"/>
            <a:chOff x="6605516" y="1392071"/>
            <a:chExt cx="1597219" cy="184245"/>
          </a:xfrm>
        </p:grpSpPr>
        <p:cxnSp>
          <p:nvCxnSpPr>
            <p:cNvPr id="43" name="Straight Connector 31">
              <a:extLst>
                <a:ext uri="{FF2B5EF4-FFF2-40B4-BE49-F238E27FC236}">
                  <a16:creationId xmlns:a16="http://schemas.microsoft.com/office/drawing/2014/main" id="{15189C98-C4D0-48EE-86A4-36C3B9243D36}"/>
                </a:ext>
              </a:extLst>
            </p:cNvPr>
            <p:cNvCxnSpPr/>
            <p:nvPr/>
          </p:nvCxnSpPr>
          <p:spPr>
            <a:xfrm flipV="1">
              <a:off x="6606053" y="1391938"/>
              <a:ext cx="95245" cy="184565"/>
            </a:xfrm>
            <a:prstGeom prst="line">
              <a:avLst/>
            </a:prstGeom>
            <a:ln>
              <a:solidFill>
                <a:srgbClr val="8F0D6B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44" name="Straight Connector 32">
              <a:extLst>
                <a:ext uri="{FF2B5EF4-FFF2-40B4-BE49-F238E27FC236}">
                  <a16:creationId xmlns:a16="http://schemas.microsoft.com/office/drawing/2014/main" id="{0596A231-85A9-4C1B-A508-9BFA9B463D9F}"/>
                </a:ext>
              </a:extLst>
            </p:cNvPr>
            <p:cNvCxnSpPr/>
            <p:nvPr/>
          </p:nvCxnSpPr>
          <p:spPr>
            <a:xfrm flipV="1">
              <a:off x="6701298" y="1391938"/>
              <a:ext cx="1501302" cy="1190"/>
            </a:xfrm>
            <a:prstGeom prst="line">
              <a:avLst/>
            </a:prstGeom>
            <a:ln>
              <a:solidFill>
                <a:srgbClr val="8F0D6B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sp>
        <p:nvSpPr>
          <p:cNvPr id="45" name="TextBox 33">
            <a:extLst>
              <a:ext uri="{FF2B5EF4-FFF2-40B4-BE49-F238E27FC236}">
                <a16:creationId xmlns:a16="http://schemas.microsoft.com/office/drawing/2014/main" id="{8D3AC7FB-FB22-4C85-8F8C-44C39325C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2245" y="1029439"/>
            <a:ext cx="3181812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Пирамида тестирования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Практики тест дизайна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Живая документация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Сервисы по управлению тестовыми данными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 err="1">
                <a:solidFill>
                  <a:srgbClr val="000000"/>
                </a:solidFill>
                <a:latin typeface="+mn-lt"/>
              </a:rPr>
              <a:t>Виртаулизация</a:t>
            </a: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 сервисов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Нефункциональное тестирование со сдвигом влево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Интеграционное тестирование со сдвигом влево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Тестирование и мониторинг </a:t>
            </a:r>
            <a:r>
              <a:rPr lang="ru-RU" altLang="en-RU" sz="1200" dirty="0" err="1">
                <a:solidFill>
                  <a:srgbClr val="000000"/>
                </a:solidFill>
                <a:latin typeface="+mn-lt"/>
              </a:rPr>
              <a:t>продакшена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endParaRPr lang="en-US" altLang="en-RU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" name="TextBox 54">
            <a:extLst>
              <a:ext uri="{FF2B5EF4-FFF2-40B4-BE49-F238E27FC236}">
                <a16:creationId xmlns:a16="http://schemas.microsoft.com/office/drawing/2014/main" id="{AA74D67A-BDDB-49E1-ADEB-BC88A784BFC9}"/>
              </a:ext>
            </a:extLst>
          </p:cNvPr>
          <p:cNvSpPr txBox="1"/>
          <p:nvPr/>
        </p:nvSpPr>
        <p:spPr bwMode="auto">
          <a:xfrm rot="3566458">
            <a:off x="3231417" y="3991292"/>
            <a:ext cx="2467979" cy="1073356"/>
          </a:xfrm>
          <a:prstGeom prst="rect">
            <a:avLst/>
          </a:prstGeom>
          <a:noFill/>
        </p:spPr>
        <p:txBody>
          <a:bodyPr spcFirstLastPara="1">
            <a:prstTxWarp prst="textArchDown">
              <a:avLst>
                <a:gd name="adj" fmla="val 1964828"/>
              </a:avLst>
            </a:prstTxWarp>
            <a:sp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DEV-</a:t>
            </a: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ПРАКТИКИ</a:t>
            </a:r>
            <a:endParaRPr lang="en-US" sz="1600" b="1" spc="300" dirty="0">
              <a:solidFill>
                <a:srgbClr val="000000"/>
              </a:solidFill>
            </a:endParaRPr>
          </a:p>
        </p:txBody>
      </p:sp>
      <p:sp>
        <p:nvSpPr>
          <p:cNvPr id="47" name="Заголовок 3">
            <a:extLst>
              <a:ext uri="{FF2B5EF4-FFF2-40B4-BE49-F238E27FC236}">
                <a16:creationId xmlns:a16="http://schemas.microsoft.com/office/drawing/2014/main" id="{CE337359-28C5-4741-A372-DDFBA40C7D9A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Непрерывное тестирование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Partial Circle 44">
            <a:extLst>
              <a:ext uri="{FF2B5EF4-FFF2-40B4-BE49-F238E27FC236}">
                <a16:creationId xmlns:a16="http://schemas.microsoft.com/office/drawing/2014/main" id="{2712C51D-0C9E-74EF-A0A0-AEEAD9E56016}"/>
              </a:ext>
            </a:extLst>
          </p:cNvPr>
          <p:cNvSpPr/>
          <p:nvPr/>
        </p:nvSpPr>
        <p:spPr>
          <a:xfrm>
            <a:off x="3941763" y="1739900"/>
            <a:ext cx="4308475" cy="4306888"/>
          </a:xfrm>
          <a:prstGeom prst="pie">
            <a:avLst>
              <a:gd name="adj1" fmla="val 21591353"/>
              <a:gd name="adj2" fmla="val 5362787"/>
            </a:avLst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0110A97C-8334-C13D-AB13-12B609EE3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89" y="949656"/>
            <a:ext cx="102033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/>
            <a:r>
              <a:rPr lang="ru-RU" altLang="en-RU" sz="1400" dirty="0">
                <a:solidFill>
                  <a:srgbClr val="000000"/>
                </a:solidFill>
                <a:latin typeface="+mn-lt"/>
                <a:cs typeface="Stapel" panose="020F0502020204030204" pitchFamily="34" charset="0"/>
              </a:rPr>
              <a:t>Наша компания использует программу непрерывного улучшения с начала и на всем протяжении проекта, адаптируя ее под изменения потребностей клиента.  </a:t>
            </a:r>
            <a:endParaRPr lang="en-GB" altLang="en-RU" sz="1400" dirty="0">
              <a:solidFill>
                <a:srgbClr val="000000"/>
              </a:solidFill>
              <a:latin typeface="+mn-lt"/>
              <a:cs typeface="Stapel" panose="020F0502020204030204" pitchFamily="34" charset="0"/>
            </a:endParaRPr>
          </a:p>
        </p:txBody>
      </p:sp>
      <p:sp>
        <p:nvSpPr>
          <p:cNvPr id="22" name="Partial Circle 32">
            <a:extLst>
              <a:ext uri="{FF2B5EF4-FFF2-40B4-BE49-F238E27FC236}">
                <a16:creationId xmlns:a16="http://schemas.microsoft.com/office/drawing/2014/main" id="{8DE7AE21-E003-6814-11A1-E236A167D979}"/>
              </a:ext>
            </a:extLst>
          </p:cNvPr>
          <p:cNvSpPr/>
          <p:nvPr/>
        </p:nvSpPr>
        <p:spPr bwMode="auto">
          <a:xfrm>
            <a:off x="3941763" y="1738313"/>
            <a:ext cx="4308475" cy="4306887"/>
          </a:xfrm>
          <a:prstGeom prst="pie">
            <a:avLst>
              <a:gd name="adj1" fmla="val 5349484"/>
              <a:gd name="adj2" fmla="val 10820394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3" name="Partial Circle 33">
            <a:extLst>
              <a:ext uri="{FF2B5EF4-FFF2-40B4-BE49-F238E27FC236}">
                <a16:creationId xmlns:a16="http://schemas.microsoft.com/office/drawing/2014/main" id="{BCBA5158-2F32-44E8-E950-2F8FD4AADDA2}"/>
              </a:ext>
            </a:extLst>
          </p:cNvPr>
          <p:cNvSpPr/>
          <p:nvPr/>
        </p:nvSpPr>
        <p:spPr bwMode="auto">
          <a:xfrm>
            <a:off x="3941763" y="1739900"/>
            <a:ext cx="4308475" cy="4306888"/>
          </a:xfrm>
          <a:prstGeom prst="pie">
            <a:avLst>
              <a:gd name="adj1" fmla="val 10766451"/>
              <a:gd name="adj2" fmla="val 16184701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24" name="Partial Circle 34">
            <a:extLst>
              <a:ext uri="{FF2B5EF4-FFF2-40B4-BE49-F238E27FC236}">
                <a16:creationId xmlns:a16="http://schemas.microsoft.com/office/drawing/2014/main" id="{903DDF8F-DD30-4FB1-CDFB-5A596F591081}"/>
              </a:ext>
            </a:extLst>
          </p:cNvPr>
          <p:cNvSpPr/>
          <p:nvPr/>
        </p:nvSpPr>
        <p:spPr bwMode="auto">
          <a:xfrm>
            <a:off x="3941763" y="1738313"/>
            <a:ext cx="4308475" cy="4306887"/>
          </a:xfrm>
          <a:prstGeom prst="pie">
            <a:avLst>
              <a:gd name="adj1" fmla="val 16183092"/>
              <a:gd name="adj2" fmla="val 12444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5" name="Oval 35">
            <a:extLst>
              <a:ext uri="{FF2B5EF4-FFF2-40B4-BE49-F238E27FC236}">
                <a16:creationId xmlns:a16="http://schemas.microsoft.com/office/drawing/2014/main" id="{E0DEBAE8-7327-2E2A-E9DB-D5ABD2E4F68B}"/>
              </a:ext>
            </a:extLst>
          </p:cNvPr>
          <p:cNvSpPr/>
          <p:nvPr/>
        </p:nvSpPr>
        <p:spPr bwMode="auto">
          <a:xfrm>
            <a:off x="4973638" y="2770188"/>
            <a:ext cx="2244725" cy="22431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6" name="TextBox 46">
            <a:extLst>
              <a:ext uri="{FF2B5EF4-FFF2-40B4-BE49-F238E27FC236}">
                <a16:creationId xmlns:a16="http://schemas.microsoft.com/office/drawing/2014/main" id="{43B6E758-84D1-44B4-2854-945AE6DD1825}"/>
              </a:ext>
            </a:extLst>
          </p:cNvPr>
          <p:cNvSpPr txBox="1"/>
          <p:nvPr/>
        </p:nvSpPr>
        <p:spPr>
          <a:xfrm rot="2425358">
            <a:off x="4895301" y="4865766"/>
            <a:ext cx="184731" cy="32310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>
            <a:lvl1pPr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en-US" altLang="en-RU" sz="1400" b="1" spc="50" dirty="0">
              <a:solidFill>
                <a:srgbClr val="000000"/>
              </a:solidFill>
              <a:latin typeface="+mn-lt"/>
              <a:ea typeface="Stapel" panose="020B0703020202090204" pitchFamily="34" charset="0"/>
              <a:cs typeface="Stapel" panose="020B0703020202090204" pitchFamily="34" charset="0"/>
            </a:endParaRPr>
          </a:p>
        </p:txBody>
      </p:sp>
      <p:sp>
        <p:nvSpPr>
          <p:cNvPr id="27" name="TextBox 50">
            <a:extLst>
              <a:ext uri="{FF2B5EF4-FFF2-40B4-BE49-F238E27FC236}">
                <a16:creationId xmlns:a16="http://schemas.microsoft.com/office/drawing/2014/main" id="{6BED8069-1C89-6544-0DB1-B19A31A40486}"/>
              </a:ext>
            </a:extLst>
          </p:cNvPr>
          <p:cNvSpPr txBox="1"/>
          <p:nvPr/>
        </p:nvSpPr>
        <p:spPr>
          <a:xfrm rot="2681561">
            <a:off x="7281830" y="2771209"/>
            <a:ext cx="65" cy="2154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spAutoFit/>
          </a:bodyPr>
          <a:lstStyle>
            <a:lvl1pPr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algn="ctr" eaLnBrk="1" hangingPunct="1"/>
            <a:endParaRPr lang="en-US" altLang="en-RU" sz="1400" b="1" spc="50" dirty="0">
              <a:solidFill>
                <a:srgbClr val="000000"/>
              </a:solidFill>
              <a:latin typeface="+mn-lt"/>
              <a:ea typeface="Stapel" panose="020B0703020202090204" pitchFamily="34" charset="0"/>
              <a:cs typeface="Stapel" panose="020B0703020202090204" pitchFamily="34" charset="0"/>
            </a:endParaRPr>
          </a:p>
        </p:txBody>
      </p:sp>
      <p:sp>
        <p:nvSpPr>
          <p:cNvPr id="28" name="TextBox 52">
            <a:extLst>
              <a:ext uri="{FF2B5EF4-FFF2-40B4-BE49-F238E27FC236}">
                <a16:creationId xmlns:a16="http://schemas.microsoft.com/office/drawing/2014/main" id="{8ACD441A-A98B-510D-1D1F-DF7A0288C97B}"/>
              </a:ext>
            </a:extLst>
          </p:cNvPr>
          <p:cNvSpPr txBox="1"/>
          <p:nvPr/>
        </p:nvSpPr>
        <p:spPr>
          <a:xfrm rot="19265309">
            <a:off x="7104824" y="4908924"/>
            <a:ext cx="65" cy="323102"/>
          </a:xfrm>
          <a:prstGeom prst="rect">
            <a:avLst/>
          </a:prstGeom>
          <a:solidFill>
            <a:srgbClr val="DDB6D3"/>
          </a:solidFill>
        </p:spPr>
        <p:txBody>
          <a:bodyPr wrap="none" lIns="0" rIns="0">
            <a:spAutoFit/>
          </a:bodyPr>
          <a:lstStyle>
            <a:lvl1pPr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4556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en-US" altLang="en-RU" sz="1400" b="1" spc="50" dirty="0">
              <a:solidFill>
                <a:srgbClr val="000000"/>
              </a:solidFill>
              <a:latin typeface="+mn-lt"/>
              <a:ea typeface="Stapel" panose="020B0703020202090204" pitchFamily="34" charset="0"/>
              <a:cs typeface="Stapel" panose="020B0703020202090204" pitchFamily="34" charset="0"/>
            </a:endParaRPr>
          </a:p>
        </p:txBody>
      </p:sp>
      <p:sp>
        <p:nvSpPr>
          <p:cNvPr id="29" name="Rectangle 58">
            <a:extLst>
              <a:ext uri="{FF2B5EF4-FFF2-40B4-BE49-F238E27FC236}">
                <a16:creationId xmlns:a16="http://schemas.microsoft.com/office/drawing/2014/main" id="{BEB12CEC-49F9-B140-1E63-D3478A39B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96" y="2344738"/>
            <a:ext cx="33813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Определение бизнес-целей</a:t>
            </a:r>
            <a:endParaRPr lang="en-US" altLang="en-RU" sz="135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  <a:p>
            <a:pPr eaLnBrk="1" hangingPunct="1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Определение целей в разрезе процессов, людей, технологий</a:t>
            </a:r>
          </a:p>
          <a:p>
            <a:pPr eaLnBrk="1" hangingPunct="1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Оценка текущего состояния</a:t>
            </a:r>
            <a:endParaRPr lang="en-US" altLang="en-RU" sz="135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cxnSp>
        <p:nvCxnSpPr>
          <p:cNvPr id="30" name="Straight Connector 59">
            <a:extLst>
              <a:ext uri="{FF2B5EF4-FFF2-40B4-BE49-F238E27FC236}">
                <a16:creationId xmlns:a16="http://schemas.microsoft.com/office/drawing/2014/main" id="{A557E4C6-C7BC-BDBC-2804-AFABB59830AF}"/>
              </a:ext>
            </a:extLst>
          </p:cNvPr>
          <p:cNvCxnSpPr>
            <a:cxnSpLocks/>
          </p:cNvCxnSpPr>
          <p:nvPr/>
        </p:nvCxnSpPr>
        <p:spPr>
          <a:xfrm flipV="1">
            <a:off x="600589" y="2190750"/>
            <a:ext cx="4207949" cy="10398"/>
          </a:xfrm>
          <a:prstGeom prst="line">
            <a:avLst/>
          </a:prstGeom>
          <a:ln w="12700" cmpd="sng">
            <a:solidFill>
              <a:srgbClr val="7D70EF"/>
            </a:solidFill>
          </a:ln>
          <a:effectLst/>
        </p:spPr>
        <p:style>
          <a:lnRef idx="2">
            <a:srgbClr val="8F0D6B"/>
          </a:lnRef>
          <a:fillRef idx="0">
            <a:srgbClr val="8F0D6B"/>
          </a:fillRef>
          <a:effectRef idx="1">
            <a:srgbClr val="8F0D6B"/>
          </a:effectRef>
          <a:fontRef idx="minor">
            <a:srgbClr val="000000"/>
          </a:fontRef>
        </p:style>
      </p:cxnSp>
      <p:sp>
        <p:nvSpPr>
          <p:cNvPr id="31" name="Rectangle 60">
            <a:extLst>
              <a:ext uri="{FF2B5EF4-FFF2-40B4-BE49-F238E27FC236}">
                <a16:creationId xmlns:a16="http://schemas.microsoft.com/office/drawing/2014/main" id="{DA9DF4B1-61B1-4645-CD69-E2B84023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3288" y="2344738"/>
            <a:ext cx="3100387" cy="1231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588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Определение метрик и </a:t>
            </a:r>
            <a:r>
              <a:rPr lang="en-US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KPI’s </a:t>
            </a:r>
          </a:p>
          <a:p>
            <a:pPr eaLnBrk="1" hangingPunct="1">
              <a:spcBef>
                <a:spcPts val="588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Организация структуры управления и матрицы ответственности (</a:t>
            </a:r>
            <a:r>
              <a:rPr lang="en-US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RACI</a:t>
            </a: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)</a:t>
            </a:r>
            <a:endParaRPr lang="en-US" altLang="en-RU" sz="135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  <a:p>
            <a:pPr eaLnBrk="1" hangingPunct="1">
              <a:spcBef>
                <a:spcPts val="588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Разработка плана улучшений</a:t>
            </a:r>
            <a:endParaRPr lang="en-US" altLang="en-RU" sz="135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2" name="Rectangle 61">
            <a:extLst>
              <a:ext uri="{FF2B5EF4-FFF2-40B4-BE49-F238E27FC236}">
                <a16:creationId xmlns:a16="http://schemas.microsoft.com/office/drawing/2014/main" id="{529F0E34-E72F-B524-1F3C-7EF32F856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96" y="4665663"/>
            <a:ext cx="3424238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Анализ трендов, целей, </a:t>
            </a:r>
            <a:r>
              <a:rPr lang="en-US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SLAs</a:t>
            </a: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 и др.</a:t>
            </a:r>
            <a:endParaRPr lang="en-US" altLang="en-RU" sz="135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  <a:p>
            <a:pPr eaLnBrk="1" hangingPunct="1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Сбор и анализ обратной связи от бизнеса-руководителей, владельцев сервисов и процессов</a:t>
            </a:r>
          </a:p>
          <a:p>
            <a:pPr eaLnBrk="1" hangingPunct="1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35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Регулирование плана улучшений</a:t>
            </a:r>
            <a:endParaRPr lang="en-US" altLang="en-RU" sz="135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3" name="Rectangle 62">
            <a:extLst>
              <a:ext uri="{FF2B5EF4-FFF2-40B4-BE49-F238E27FC236}">
                <a16:creationId xmlns:a16="http://schemas.microsoft.com/office/drawing/2014/main" id="{788E8221-4429-95B3-216D-69E548767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463" y="4665663"/>
            <a:ext cx="3189287" cy="1446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564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3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Внедрение улучшений с учетом приоритетов</a:t>
            </a:r>
          </a:p>
          <a:p>
            <a:pPr eaLnBrk="1" hangingPunct="1">
              <a:spcBef>
                <a:spcPts val="564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3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Контроль процесса адаптации</a:t>
            </a:r>
            <a:endParaRPr lang="en-US" altLang="en-RU" sz="13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  <a:p>
            <a:pPr eaLnBrk="1" hangingPunct="1">
              <a:spcBef>
                <a:spcPts val="564"/>
              </a:spcBef>
              <a:buClr>
                <a:srgbClr val="7D70EF"/>
              </a:buClr>
              <a:buFont typeface="Stapel" panose="020B0604020202020204" pitchFamily="34" charset="0"/>
              <a:buChar char="•"/>
            </a:pPr>
            <a:r>
              <a:rPr lang="ru-RU" altLang="en-RU" sz="13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Измерение, подготовка отчетности, коммуникации по прогрессу реализации изменений</a:t>
            </a:r>
            <a:endParaRPr lang="en-US" altLang="en-RU" sz="13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4" name="Rectangle 63">
            <a:extLst>
              <a:ext uri="{FF2B5EF4-FFF2-40B4-BE49-F238E27FC236}">
                <a16:creationId xmlns:a16="http://schemas.microsoft.com/office/drawing/2014/main" id="{CED0FA9F-2A6B-2BAC-6A61-F0B183C879DD}"/>
              </a:ext>
            </a:extLst>
          </p:cNvPr>
          <p:cNvSpPr/>
          <p:nvPr/>
        </p:nvSpPr>
        <p:spPr>
          <a:xfrm>
            <a:off x="8407400" y="1849438"/>
            <a:ext cx="330835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r"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dirty="0">
                <a:solidFill>
                  <a:srgbClr val="7D70EF">
                    <a:lumMod val="60000"/>
                    <a:lumOff val="40000"/>
                  </a:srgbClr>
                </a:solidFill>
                <a:latin typeface="Stapel Medium"/>
                <a:ea typeface="Stapel Medium"/>
                <a:cs typeface="Stapel Medium"/>
              </a:rPr>
              <a:t>ЭТАП </a:t>
            </a:r>
            <a:r>
              <a:rPr lang="en-US" sz="1600" b="0" dirty="0">
                <a:solidFill>
                  <a:srgbClr val="7D70EF">
                    <a:lumMod val="60000"/>
                    <a:lumOff val="40000"/>
                  </a:srgbClr>
                </a:solidFill>
                <a:latin typeface="Stapel Medium"/>
                <a:ea typeface="Stapel Medium"/>
                <a:cs typeface="Stapel Medium"/>
              </a:rPr>
              <a:t>2</a:t>
            </a:r>
            <a:endParaRPr lang="hu-HU" sz="1600" b="1" dirty="0">
              <a:solidFill>
                <a:srgbClr val="7D70E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35" name="Rectangle 64">
            <a:extLst>
              <a:ext uri="{FF2B5EF4-FFF2-40B4-BE49-F238E27FC236}">
                <a16:creationId xmlns:a16="http://schemas.microsoft.com/office/drawing/2014/main" id="{837F8711-D7E0-FBE0-B815-7C512A77A4C3}"/>
              </a:ext>
            </a:extLst>
          </p:cNvPr>
          <p:cNvSpPr/>
          <p:nvPr/>
        </p:nvSpPr>
        <p:spPr>
          <a:xfrm>
            <a:off x="628946" y="1849438"/>
            <a:ext cx="6096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ЭТАП 1 </a:t>
            </a:r>
            <a:endParaRPr lang="en-US" sz="1600" b="1" dirty="0">
              <a:solidFill>
                <a:srgbClr val="7D70EF"/>
              </a:solidFill>
            </a:endParaRPr>
          </a:p>
        </p:txBody>
      </p:sp>
      <p:cxnSp>
        <p:nvCxnSpPr>
          <p:cNvPr id="36" name="Straight Connector 65">
            <a:extLst>
              <a:ext uri="{FF2B5EF4-FFF2-40B4-BE49-F238E27FC236}">
                <a16:creationId xmlns:a16="http://schemas.microsoft.com/office/drawing/2014/main" id="{94832662-5877-F563-6AFC-3F35E4218B8F}"/>
              </a:ext>
            </a:extLst>
          </p:cNvPr>
          <p:cNvCxnSpPr>
            <a:cxnSpLocks/>
          </p:cNvCxnSpPr>
          <p:nvPr/>
        </p:nvCxnSpPr>
        <p:spPr>
          <a:xfrm>
            <a:off x="7104063" y="2190750"/>
            <a:ext cx="4611687" cy="0"/>
          </a:xfrm>
          <a:prstGeom prst="line">
            <a:avLst/>
          </a:prstGeom>
          <a:ln w="12700" cmpd="sng">
            <a:solidFill>
              <a:srgbClr val="7D70EF"/>
            </a:solidFill>
          </a:ln>
          <a:effectLst/>
        </p:spPr>
        <p:style>
          <a:lnRef idx="2">
            <a:srgbClr val="8F0D6B"/>
          </a:lnRef>
          <a:fillRef idx="0">
            <a:srgbClr val="8F0D6B"/>
          </a:fillRef>
          <a:effectRef idx="1">
            <a:srgbClr val="8F0D6B"/>
          </a:effectRef>
          <a:fontRef idx="minor">
            <a:srgbClr val="000000"/>
          </a:fontRef>
        </p:style>
      </p:cxnSp>
      <p:sp>
        <p:nvSpPr>
          <p:cNvPr id="37" name="Rectangle 66">
            <a:extLst>
              <a:ext uri="{FF2B5EF4-FFF2-40B4-BE49-F238E27FC236}">
                <a16:creationId xmlns:a16="http://schemas.microsoft.com/office/drawing/2014/main" id="{2D717127-B52A-686F-AEDD-B6B2459E77E9}"/>
              </a:ext>
            </a:extLst>
          </p:cNvPr>
          <p:cNvSpPr/>
          <p:nvPr/>
        </p:nvSpPr>
        <p:spPr>
          <a:xfrm>
            <a:off x="8605838" y="4143375"/>
            <a:ext cx="30988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r"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ЭТАП 3</a:t>
            </a:r>
            <a:endParaRPr lang="en-US" sz="1600" b="1" dirty="0">
              <a:solidFill>
                <a:srgbClr val="7D70EF"/>
              </a:solidFill>
            </a:endParaRPr>
          </a:p>
        </p:txBody>
      </p:sp>
      <p:cxnSp>
        <p:nvCxnSpPr>
          <p:cNvPr id="38" name="Straight Connector 67">
            <a:extLst>
              <a:ext uri="{FF2B5EF4-FFF2-40B4-BE49-F238E27FC236}">
                <a16:creationId xmlns:a16="http://schemas.microsoft.com/office/drawing/2014/main" id="{80EEABF2-67EF-83ED-4186-9874F0577E09}"/>
              </a:ext>
            </a:extLst>
          </p:cNvPr>
          <p:cNvCxnSpPr>
            <a:cxnSpLocks/>
          </p:cNvCxnSpPr>
          <p:nvPr/>
        </p:nvCxnSpPr>
        <p:spPr>
          <a:xfrm>
            <a:off x="7837488" y="4468813"/>
            <a:ext cx="3873500" cy="0"/>
          </a:xfrm>
          <a:prstGeom prst="line">
            <a:avLst/>
          </a:prstGeom>
          <a:ln w="12700" cmpd="sng">
            <a:solidFill>
              <a:srgbClr val="7D70EF"/>
            </a:solidFill>
          </a:ln>
          <a:effectLst/>
        </p:spPr>
        <p:style>
          <a:lnRef idx="2">
            <a:srgbClr val="8F0D6B"/>
          </a:lnRef>
          <a:fillRef idx="0">
            <a:srgbClr val="8F0D6B"/>
          </a:fillRef>
          <a:effectRef idx="1">
            <a:srgbClr val="8F0D6B"/>
          </a:effectRef>
          <a:fontRef idx="minor">
            <a:srgbClr val="000000"/>
          </a:fontRef>
        </p:style>
      </p:cxnSp>
      <p:sp>
        <p:nvSpPr>
          <p:cNvPr id="39" name="Rectangle 68">
            <a:extLst>
              <a:ext uri="{FF2B5EF4-FFF2-40B4-BE49-F238E27FC236}">
                <a16:creationId xmlns:a16="http://schemas.microsoft.com/office/drawing/2014/main" id="{158C4EF9-32D3-CBDC-0A8A-A996C2DDED5B}"/>
              </a:ext>
            </a:extLst>
          </p:cNvPr>
          <p:cNvSpPr/>
          <p:nvPr/>
        </p:nvSpPr>
        <p:spPr>
          <a:xfrm>
            <a:off x="621009" y="4140200"/>
            <a:ext cx="3040062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ЭТАП 4</a:t>
            </a:r>
            <a:endParaRPr lang="en-US" sz="1600" b="1" dirty="0">
              <a:solidFill>
                <a:srgbClr val="8F0D6B"/>
              </a:solidFill>
            </a:endParaRPr>
          </a:p>
        </p:txBody>
      </p:sp>
      <p:cxnSp>
        <p:nvCxnSpPr>
          <p:cNvPr id="40" name="Straight Connector 69">
            <a:extLst>
              <a:ext uri="{FF2B5EF4-FFF2-40B4-BE49-F238E27FC236}">
                <a16:creationId xmlns:a16="http://schemas.microsoft.com/office/drawing/2014/main" id="{6A16413E-03F2-EE27-7D97-672255BCD1E0}"/>
              </a:ext>
            </a:extLst>
          </p:cNvPr>
          <p:cNvCxnSpPr>
            <a:cxnSpLocks/>
          </p:cNvCxnSpPr>
          <p:nvPr/>
        </p:nvCxnSpPr>
        <p:spPr>
          <a:xfrm flipV="1">
            <a:off x="621009" y="4460875"/>
            <a:ext cx="3479781" cy="7938"/>
          </a:xfrm>
          <a:prstGeom prst="line">
            <a:avLst/>
          </a:prstGeom>
          <a:ln w="12700" cmpd="sng">
            <a:solidFill>
              <a:srgbClr val="8F0D6B"/>
            </a:solidFill>
          </a:ln>
          <a:effectLst/>
        </p:spPr>
        <p:style>
          <a:lnRef idx="2">
            <a:srgbClr val="8F0D6B"/>
          </a:lnRef>
          <a:fillRef idx="0">
            <a:srgbClr val="8F0D6B"/>
          </a:fillRef>
          <a:effectRef idx="1">
            <a:srgbClr val="8F0D6B"/>
          </a:effectRef>
          <a:fontRef idx="minor">
            <a:srgbClr val="000000"/>
          </a:fontRef>
        </p:style>
      </p:cxnSp>
      <p:sp>
        <p:nvSpPr>
          <p:cNvPr id="41" name="Заголовок 3">
            <a:extLst>
              <a:ext uri="{FF2B5EF4-FFF2-40B4-BE49-F238E27FC236}">
                <a16:creationId xmlns:a16="http://schemas.microsoft.com/office/drawing/2014/main" id="{948BA942-9261-4231-927E-9969E5A866EC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altLang="en-RU" sz="2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Измерение KPI для непрерывного улучшения</a:t>
            </a:r>
            <a:endParaRPr lang="ru-RU" dirty="0"/>
          </a:p>
        </p:txBody>
      </p:sp>
      <p:sp>
        <p:nvSpPr>
          <p:cNvPr id="42" name="TextBox 1">
            <a:extLst>
              <a:ext uri="{FF2B5EF4-FFF2-40B4-BE49-F238E27FC236}">
                <a16:creationId xmlns:a16="http://schemas.microsoft.com/office/drawing/2014/main" id="{8F56D713-2BBE-4C7B-BC51-4F62A291AAF1}"/>
              </a:ext>
            </a:extLst>
          </p:cNvPr>
          <p:cNvSpPr txBox="1"/>
          <p:nvPr/>
        </p:nvSpPr>
        <p:spPr>
          <a:xfrm rot="18950145">
            <a:off x="4313863" y="2511544"/>
            <a:ext cx="2590137" cy="1899430"/>
          </a:xfrm>
          <a:prstGeom prst="rect">
            <a:avLst/>
          </a:prstGeom>
        </p:spPr>
        <p:txBody>
          <a:bodyPr spcFirstLastPara="1" wrap="square" numCol="1" rtlCol="0">
            <a:prstTxWarp prst="textArchUp">
              <a:avLst>
                <a:gd name="adj" fmla="val 9625601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ИНИЦИАЦИЯ</a:t>
            </a:r>
          </a:p>
        </p:txBody>
      </p:sp>
      <p:sp>
        <p:nvSpPr>
          <p:cNvPr id="43" name="TextBox 1">
            <a:extLst>
              <a:ext uri="{FF2B5EF4-FFF2-40B4-BE49-F238E27FC236}">
                <a16:creationId xmlns:a16="http://schemas.microsoft.com/office/drawing/2014/main" id="{95884937-8652-443D-B9D6-884CB4BEAD65}"/>
              </a:ext>
            </a:extLst>
          </p:cNvPr>
          <p:cNvSpPr txBox="1"/>
          <p:nvPr/>
        </p:nvSpPr>
        <p:spPr bwMode="auto">
          <a:xfrm rot="3120999">
            <a:off x="5442067" y="2681933"/>
            <a:ext cx="2436780" cy="1355286"/>
          </a:xfrm>
          <a:prstGeom prst="rect">
            <a:avLst/>
          </a:prstGeom>
        </p:spPr>
        <p:txBody>
          <a:bodyPr spcFirstLastPara="1">
            <a:prstTxWarp prst="textArchUp">
              <a:avLst>
                <a:gd name="adj" fmla="val 10909922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</a:t>
            </a:r>
          </a:p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СТРАТЕГИИ</a:t>
            </a:r>
          </a:p>
        </p:txBody>
      </p:sp>
      <p:sp>
        <p:nvSpPr>
          <p:cNvPr id="44" name="TextBox 1">
            <a:extLst>
              <a:ext uri="{FF2B5EF4-FFF2-40B4-BE49-F238E27FC236}">
                <a16:creationId xmlns:a16="http://schemas.microsoft.com/office/drawing/2014/main" id="{DC58AFB0-252A-4D97-A420-5BB3ED901A81}"/>
              </a:ext>
            </a:extLst>
          </p:cNvPr>
          <p:cNvSpPr txBox="1"/>
          <p:nvPr/>
        </p:nvSpPr>
        <p:spPr bwMode="auto">
          <a:xfrm rot="18940389">
            <a:off x="5208154" y="3142309"/>
            <a:ext cx="2658078" cy="2338900"/>
          </a:xfrm>
          <a:prstGeom prst="rect">
            <a:avLst/>
          </a:prstGeom>
        </p:spPr>
        <p:txBody>
          <a:bodyPr spcFirstLastPara="1">
            <a:prstTxWarp prst="textArchDown">
              <a:avLst>
                <a:gd name="adj" fmla="val 3196016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</a:t>
            </a:r>
          </a:p>
        </p:txBody>
      </p:sp>
      <p:sp>
        <p:nvSpPr>
          <p:cNvPr id="45" name="TextBox 53">
            <a:extLst>
              <a:ext uri="{FF2B5EF4-FFF2-40B4-BE49-F238E27FC236}">
                <a16:creationId xmlns:a16="http://schemas.microsoft.com/office/drawing/2014/main" id="{1D109442-2DD3-41AB-9A09-9A094077F134}"/>
              </a:ext>
            </a:extLst>
          </p:cNvPr>
          <p:cNvSpPr txBox="1"/>
          <p:nvPr/>
        </p:nvSpPr>
        <p:spPr bwMode="auto">
          <a:xfrm rot="2644757">
            <a:off x="4207802" y="3825471"/>
            <a:ext cx="2467979" cy="1625459"/>
          </a:xfrm>
          <a:prstGeom prst="rect">
            <a:avLst/>
          </a:prstGeom>
          <a:noFill/>
        </p:spPr>
        <p:txBody>
          <a:bodyPr spcFirstLastPara="1">
            <a:prstTxWarp prst="textArchDown">
              <a:avLst>
                <a:gd name="adj" fmla="val 20758137"/>
              </a:avLst>
            </a:prstTxWarp>
            <a:sp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5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РЕГУЛИРОВАНИЕ</a:t>
            </a:r>
          </a:p>
        </p:txBody>
      </p:sp>
      <p:grpSp>
        <p:nvGrpSpPr>
          <p:cNvPr id="46" name="Group 29">
            <a:extLst>
              <a:ext uri="{FF2B5EF4-FFF2-40B4-BE49-F238E27FC236}">
                <a16:creationId xmlns:a16="http://schemas.microsoft.com/office/drawing/2014/main" id="{F118749E-55F5-4C07-93A3-53270EBB7871}"/>
              </a:ext>
            </a:extLst>
          </p:cNvPr>
          <p:cNvGrpSpPr/>
          <p:nvPr/>
        </p:nvGrpSpPr>
        <p:grpSpPr>
          <a:xfrm>
            <a:off x="5270326" y="3055604"/>
            <a:ext cx="1678173" cy="1672303"/>
            <a:chOff x="5376509" y="3121075"/>
            <a:chExt cx="1463040" cy="1463040"/>
          </a:xfrm>
        </p:grpSpPr>
        <p:sp>
          <p:nvSpPr>
            <p:cNvPr id="47" name="Oval 11">
              <a:extLst>
                <a:ext uri="{FF2B5EF4-FFF2-40B4-BE49-F238E27FC236}">
                  <a16:creationId xmlns:a16="http://schemas.microsoft.com/office/drawing/2014/main" id="{39CBBC17-33BC-48CE-8F86-895D44636DAD}"/>
                </a:ext>
              </a:extLst>
            </p:cNvPr>
            <p:cNvSpPr/>
            <p:nvPr/>
          </p:nvSpPr>
          <p:spPr>
            <a:xfrm>
              <a:off x="5376509" y="3121075"/>
              <a:ext cx="1463040" cy="146304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rgbClr val="8F0D6B">
                <a:shade val="50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14">
              <a:extLst>
                <a:ext uri="{FF2B5EF4-FFF2-40B4-BE49-F238E27FC236}">
                  <a16:creationId xmlns:a16="http://schemas.microsoft.com/office/drawing/2014/main" id="{57A27060-B3A5-4099-ABF0-6D93B8A3C4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8180" y="3169920"/>
              <a:ext cx="91440" cy="41065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49" name="Straight Arrow Connector 70">
              <a:extLst>
                <a:ext uri="{FF2B5EF4-FFF2-40B4-BE49-F238E27FC236}">
                  <a16:creationId xmlns:a16="http://schemas.microsoft.com/office/drawing/2014/main" id="{377B8A01-477A-4973-9893-F9427B0D97BD}"/>
                </a:ext>
              </a:extLst>
            </p:cNvPr>
            <p:cNvCxnSpPr>
              <a:cxnSpLocks/>
              <a:stCxn id="12" idx="7"/>
            </p:cNvCxnSpPr>
            <p:nvPr/>
          </p:nvCxnSpPr>
          <p:spPr>
            <a:xfrm>
              <a:off x="6625292" y="3335332"/>
              <a:ext cx="99654" cy="125927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50" name="Straight Arrow Connector 71">
              <a:extLst>
                <a:ext uri="{FF2B5EF4-FFF2-40B4-BE49-F238E27FC236}">
                  <a16:creationId xmlns:a16="http://schemas.microsoft.com/office/drawing/2014/main" id="{C5E3E789-146A-4FF3-863D-05BB98CC28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6712" y="4169330"/>
              <a:ext cx="53023" cy="9398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51" name="Straight Arrow Connector 72">
              <a:extLst>
                <a:ext uri="{FF2B5EF4-FFF2-40B4-BE49-F238E27FC236}">
                  <a16:creationId xmlns:a16="http://schemas.microsoft.com/office/drawing/2014/main" id="{6FCC5976-92AC-4F65-A184-7C0B3D8DBD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0345" y="4352794"/>
              <a:ext cx="73528" cy="67253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402">
            <a:extLst>
              <a:ext uri="{FF2B5EF4-FFF2-40B4-BE49-F238E27FC236}">
                <a16:creationId xmlns:a16="http://schemas.microsoft.com/office/drawing/2014/main" id="{0C875079-0573-112E-9ADB-CB5A9312D96E}"/>
              </a:ext>
            </a:extLst>
          </p:cNvPr>
          <p:cNvSpPr/>
          <p:nvPr/>
        </p:nvSpPr>
        <p:spPr bwMode="auto">
          <a:xfrm>
            <a:off x="582613" y="1317625"/>
            <a:ext cx="5507037" cy="1030288"/>
          </a:xfrm>
          <a:prstGeom prst="rect">
            <a:avLst/>
          </a:prstGeom>
          <a:solidFill>
            <a:srgbClr val="8F0D6B">
              <a:alpha val="27843"/>
            </a:srgbClr>
          </a:solidFill>
          <a:ln>
            <a:noFill/>
          </a:ln>
        </p:spPr>
        <p:style>
          <a:lnRef idx="1">
            <a:srgbClr val="8F0D6B"/>
          </a:lnRef>
          <a:fillRef idx="3">
            <a:srgbClr val="8F0D6B"/>
          </a:fillRef>
          <a:effectRef idx="2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prstClr val="white"/>
              </a:solidFill>
              <a:latin typeface="Stapel"/>
              <a:ea typeface="Stapel" panose="020B0503030403020204" pitchFamily="34" charset="0"/>
            </a:endParaRPr>
          </a:p>
        </p:txBody>
      </p:sp>
      <p:sp>
        <p:nvSpPr>
          <p:cNvPr id="21" name="Rectangle 403">
            <a:extLst>
              <a:ext uri="{FF2B5EF4-FFF2-40B4-BE49-F238E27FC236}">
                <a16:creationId xmlns:a16="http://schemas.microsoft.com/office/drawing/2014/main" id="{F6FBB765-BE9E-AB30-02A9-1F3C3F12F3F3}"/>
              </a:ext>
            </a:extLst>
          </p:cNvPr>
          <p:cNvSpPr/>
          <p:nvPr/>
        </p:nvSpPr>
        <p:spPr bwMode="auto">
          <a:xfrm>
            <a:off x="7261225" y="2549525"/>
            <a:ext cx="4349750" cy="3525838"/>
          </a:xfrm>
          <a:prstGeom prst="rect">
            <a:avLst/>
          </a:prstGeom>
          <a:solidFill>
            <a:srgbClr val="8F0D6B">
              <a:alpha val="27843"/>
            </a:srgbClr>
          </a:solidFill>
          <a:ln>
            <a:noFill/>
          </a:ln>
        </p:spPr>
        <p:style>
          <a:lnRef idx="1">
            <a:srgbClr val="8F0D6B"/>
          </a:lnRef>
          <a:fillRef idx="3">
            <a:srgbClr val="8F0D6B"/>
          </a:fillRef>
          <a:effectRef idx="2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prstClr val="white"/>
              </a:solidFill>
              <a:ea typeface="Stapel" panose="020B0503030403020204" pitchFamily="34" charset="0"/>
            </a:endParaRPr>
          </a:p>
        </p:txBody>
      </p:sp>
      <p:sp>
        <p:nvSpPr>
          <p:cNvPr id="22" name="Rectangle 401">
            <a:extLst>
              <a:ext uri="{FF2B5EF4-FFF2-40B4-BE49-F238E27FC236}">
                <a16:creationId xmlns:a16="http://schemas.microsoft.com/office/drawing/2014/main" id="{2BC28BBA-6256-32C7-A1B1-F2C29193B013}"/>
              </a:ext>
            </a:extLst>
          </p:cNvPr>
          <p:cNvSpPr/>
          <p:nvPr/>
        </p:nvSpPr>
        <p:spPr bwMode="auto">
          <a:xfrm>
            <a:off x="582613" y="3527424"/>
            <a:ext cx="4376737" cy="2568575"/>
          </a:xfrm>
          <a:prstGeom prst="rect">
            <a:avLst/>
          </a:prstGeom>
          <a:solidFill>
            <a:srgbClr val="8F0D6B">
              <a:alpha val="27843"/>
            </a:srgbClr>
          </a:solidFill>
          <a:ln>
            <a:noFill/>
          </a:ln>
        </p:spPr>
        <p:style>
          <a:lnRef idx="1">
            <a:srgbClr val="8F0D6B"/>
          </a:lnRef>
          <a:fillRef idx="3">
            <a:srgbClr val="8F0D6B"/>
          </a:fillRef>
          <a:effectRef idx="2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prstClr val="white"/>
              </a:solidFill>
              <a:ea typeface="Stapel" panose="020B0503030403020204" pitchFamily="34" charset="0"/>
            </a:endParaRPr>
          </a:p>
        </p:txBody>
      </p:sp>
      <p:sp>
        <p:nvSpPr>
          <p:cNvPr id="23" name="Isosceles Triangle 404">
            <a:extLst>
              <a:ext uri="{FF2B5EF4-FFF2-40B4-BE49-F238E27FC236}">
                <a16:creationId xmlns:a16="http://schemas.microsoft.com/office/drawing/2014/main" id="{91CAE324-989C-505D-5BA8-752D4429FE63}"/>
              </a:ext>
            </a:extLst>
          </p:cNvPr>
          <p:cNvSpPr/>
          <p:nvPr/>
        </p:nvSpPr>
        <p:spPr bwMode="auto">
          <a:xfrm>
            <a:off x="1597025" y="1249205"/>
            <a:ext cx="9061450" cy="4851400"/>
          </a:xfrm>
          <a:prstGeom prst="triangle">
            <a:avLst>
              <a:gd name="adj" fmla="val 49849"/>
            </a:avLst>
          </a:prstGeom>
          <a:solidFill>
            <a:srgbClr val="F5F4F4"/>
          </a:solidFill>
          <a:ln>
            <a:noFill/>
          </a:ln>
        </p:spPr>
        <p:style>
          <a:lnRef idx="1">
            <a:srgbClr val="8F0D6B"/>
          </a:lnRef>
          <a:fillRef idx="3">
            <a:srgbClr val="8F0D6B"/>
          </a:fillRef>
          <a:effectRef idx="2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prstClr val="white"/>
              </a:solidFill>
              <a:latin typeface="Stapel"/>
              <a:ea typeface="Stapel" panose="020B0503030403020204" pitchFamily="34" charset="0"/>
            </a:endParaRPr>
          </a:p>
        </p:txBody>
      </p:sp>
      <p:cxnSp>
        <p:nvCxnSpPr>
          <p:cNvPr id="24" name="Straight Arrow Connector 424">
            <a:extLst>
              <a:ext uri="{FF2B5EF4-FFF2-40B4-BE49-F238E27FC236}">
                <a16:creationId xmlns:a16="http://schemas.microsoft.com/office/drawing/2014/main" id="{EE67E749-C643-B611-7DB5-F2FF101A177B}"/>
              </a:ext>
            </a:extLst>
          </p:cNvPr>
          <p:cNvCxnSpPr>
            <a:cxnSpLocks/>
          </p:cNvCxnSpPr>
          <p:nvPr/>
        </p:nvCxnSpPr>
        <p:spPr bwMode="auto">
          <a:xfrm>
            <a:off x="2466974" y="5176839"/>
            <a:ext cx="7373938" cy="0"/>
          </a:xfrm>
          <a:prstGeom prst="straightConnector1">
            <a:avLst/>
          </a:prstGeom>
          <a:solidFill>
            <a:srgbClr val="DDB6D3">
              <a:lumMod val="60000"/>
              <a:lumOff val="40000"/>
              <a:alpha val="85000"/>
            </a:srgbClr>
          </a:solidFill>
          <a:ln w="25400">
            <a:solidFill>
              <a:srgbClr val="000000"/>
            </a:solidFill>
            <a:tailEnd type="none"/>
          </a:ln>
        </p:spPr>
        <p:style>
          <a:lnRef idx="1">
            <a:srgbClr val="7D70EF"/>
          </a:lnRef>
          <a:fillRef idx="0">
            <a:srgbClr val="EEF3FF"/>
          </a:fillRef>
          <a:effectRef idx="0">
            <a:srgbClr val="7D70EF"/>
          </a:effectRef>
          <a:fontRef idx="minor">
            <a:srgbClr val="000000"/>
          </a:fontRef>
        </p:style>
      </p:cxnSp>
      <p:cxnSp>
        <p:nvCxnSpPr>
          <p:cNvPr id="25" name="Straight Arrow Connector 425">
            <a:extLst>
              <a:ext uri="{FF2B5EF4-FFF2-40B4-BE49-F238E27FC236}">
                <a16:creationId xmlns:a16="http://schemas.microsoft.com/office/drawing/2014/main" id="{55B6B580-904E-5B00-6CEB-10421B60174B}"/>
              </a:ext>
            </a:extLst>
          </p:cNvPr>
          <p:cNvCxnSpPr/>
          <p:nvPr/>
        </p:nvCxnSpPr>
        <p:spPr bwMode="auto">
          <a:xfrm>
            <a:off x="3614739" y="3910013"/>
            <a:ext cx="5016499" cy="11112"/>
          </a:xfrm>
          <a:prstGeom prst="straightConnector1">
            <a:avLst/>
          </a:prstGeom>
          <a:ln w="25400">
            <a:solidFill>
              <a:srgbClr val="000000"/>
            </a:solidFill>
            <a:tailEnd type="none"/>
          </a:ln>
        </p:spPr>
        <p:style>
          <a:lnRef idx="1">
            <a:srgbClr val="7D70EF"/>
          </a:lnRef>
          <a:fillRef idx="0">
            <a:srgbClr val="EEF3FF"/>
          </a:fillRef>
          <a:effectRef idx="0">
            <a:srgbClr val="7D70EF"/>
          </a:effectRef>
          <a:fontRef idx="minor">
            <a:srgbClr val="000000"/>
          </a:fontRef>
        </p:style>
      </p:cxnSp>
      <p:cxnSp>
        <p:nvCxnSpPr>
          <p:cNvPr id="26" name="Straight Connector 426">
            <a:extLst>
              <a:ext uri="{FF2B5EF4-FFF2-40B4-BE49-F238E27FC236}">
                <a16:creationId xmlns:a16="http://schemas.microsoft.com/office/drawing/2014/main" id="{43801820-76F3-9EA3-5956-32F44306D3EC}"/>
              </a:ext>
            </a:extLst>
          </p:cNvPr>
          <p:cNvCxnSpPr>
            <a:cxnSpLocks/>
          </p:cNvCxnSpPr>
          <p:nvPr/>
        </p:nvCxnSpPr>
        <p:spPr bwMode="auto">
          <a:xfrm>
            <a:off x="481013" y="2455593"/>
            <a:ext cx="11206162" cy="0"/>
          </a:xfrm>
          <a:prstGeom prst="line">
            <a:avLst/>
          </a:prstGeom>
          <a:ln w="9525">
            <a:solidFill>
              <a:srgbClr val="7D70EF"/>
            </a:solidFill>
            <a:prstDash val="lgDash"/>
          </a:ln>
        </p:spPr>
        <p:style>
          <a:lnRef idx="1">
            <a:srgbClr val="7D70EF"/>
          </a:lnRef>
          <a:fillRef idx="0">
            <a:srgbClr val="EEF3FF"/>
          </a:fillRef>
          <a:effectRef idx="0">
            <a:srgbClr val="7D70EF"/>
          </a:effectRef>
          <a:fontRef idx="minor">
            <a:srgbClr val="000000"/>
          </a:fontRef>
        </p:style>
      </p:cxnSp>
      <p:cxnSp>
        <p:nvCxnSpPr>
          <p:cNvPr id="27" name="Straight Connector 427">
            <a:extLst>
              <a:ext uri="{FF2B5EF4-FFF2-40B4-BE49-F238E27FC236}">
                <a16:creationId xmlns:a16="http://schemas.microsoft.com/office/drawing/2014/main" id="{6B80918A-6859-91D9-BB3E-B5C36A8FAD10}"/>
              </a:ext>
            </a:extLst>
          </p:cNvPr>
          <p:cNvCxnSpPr>
            <a:cxnSpLocks/>
          </p:cNvCxnSpPr>
          <p:nvPr/>
        </p:nvCxnSpPr>
        <p:spPr bwMode="auto">
          <a:xfrm>
            <a:off x="481013" y="3451225"/>
            <a:ext cx="7689850" cy="0"/>
          </a:xfrm>
          <a:prstGeom prst="line">
            <a:avLst/>
          </a:prstGeom>
          <a:ln w="9525">
            <a:solidFill>
              <a:srgbClr val="7D70EF"/>
            </a:solidFill>
            <a:prstDash val="lgDash"/>
          </a:ln>
        </p:spPr>
        <p:style>
          <a:lnRef idx="1">
            <a:srgbClr val="7D70EF"/>
          </a:lnRef>
          <a:fillRef idx="0">
            <a:srgbClr val="EEF3FF"/>
          </a:fillRef>
          <a:effectRef idx="0">
            <a:srgbClr val="7D70EF"/>
          </a:effectRef>
          <a:fontRef idx="minor">
            <a:srgbClr val="000000"/>
          </a:fontRef>
        </p:style>
      </p:cxnSp>
      <p:cxnSp>
        <p:nvCxnSpPr>
          <p:cNvPr id="28" name="Straight Connector 428">
            <a:extLst>
              <a:ext uri="{FF2B5EF4-FFF2-40B4-BE49-F238E27FC236}">
                <a16:creationId xmlns:a16="http://schemas.microsoft.com/office/drawing/2014/main" id="{8A75F000-76ED-3FF3-5252-56975E581E24}"/>
              </a:ext>
            </a:extLst>
          </p:cNvPr>
          <p:cNvCxnSpPr>
            <a:cxnSpLocks/>
          </p:cNvCxnSpPr>
          <p:nvPr/>
        </p:nvCxnSpPr>
        <p:spPr bwMode="auto">
          <a:xfrm>
            <a:off x="481013" y="3519488"/>
            <a:ext cx="0" cy="2646362"/>
          </a:xfrm>
          <a:prstGeom prst="line">
            <a:avLst/>
          </a:prstGeom>
          <a:ln w="9525">
            <a:solidFill>
              <a:srgbClr val="7D70EF"/>
            </a:solidFill>
            <a:prstDash val="lgDash"/>
          </a:ln>
        </p:spPr>
        <p:style>
          <a:lnRef idx="1">
            <a:srgbClr val="8F0D6B"/>
          </a:lnRef>
          <a:fillRef idx="0">
            <a:srgbClr val="7D70EF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9" name="Straight Connector 429">
            <a:extLst>
              <a:ext uri="{FF2B5EF4-FFF2-40B4-BE49-F238E27FC236}">
                <a16:creationId xmlns:a16="http://schemas.microsoft.com/office/drawing/2014/main" id="{7C5622F5-6896-7A9A-7817-644FB6156F8A}"/>
              </a:ext>
            </a:extLst>
          </p:cNvPr>
          <p:cNvCxnSpPr>
            <a:cxnSpLocks/>
          </p:cNvCxnSpPr>
          <p:nvPr/>
        </p:nvCxnSpPr>
        <p:spPr bwMode="auto">
          <a:xfrm>
            <a:off x="481013" y="1233217"/>
            <a:ext cx="0" cy="1222375"/>
          </a:xfrm>
          <a:prstGeom prst="line">
            <a:avLst/>
          </a:prstGeom>
          <a:ln w="9525">
            <a:solidFill>
              <a:srgbClr val="7D70EF"/>
            </a:solidFill>
            <a:prstDash val="lgDash"/>
          </a:ln>
        </p:spPr>
        <p:style>
          <a:lnRef idx="1">
            <a:srgbClr val="8F0D6B"/>
          </a:lnRef>
          <a:fillRef idx="0">
            <a:srgbClr val="7D70EF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30" name="TextBox 430">
            <a:extLst>
              <a:ext uri="{FF2B5EF4-FFF2-40B4-BE49-F238E27FC236}">
                <a16:creationId xmlns:a16="http://schemas.microsoft.com/office/drawing/2014/main" id="{93607386-68BA-113E-F25E-B7882093E83E}"/>
              </a:ext>
            </a:extLst>
          </p:cNvPr>
          <p:cNvSpPr txBox="1"/>
          <p:nvPr/>
        </p:nvSpPr>
        <p:spPr bwMode="auto">
          <a:xfrm>
            <a:off x="2140744" y="1859330"/>
            <a:ext cx="3602037" cy="290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РУЧНОЕ ТЕСТИРОВАНИЕ</a:t>
            </a:r>
            <a:endParaRPr lang="en-US" sz="1100" spc="400" dirty="0">
              <a:solidFill>
                <a:srgbClr val="000000"/>
              </a:solidFill>
              <a:ea typeface="Stapel" panose="020B0503030403020204" pitchFamily="34" charset="0"/>
              <a:cs typeface="Stapel"/>
            </a:endParaRPr>
          </a:p>
        </p:txBody>
      </p:sp>
      <p:sp>
        <p:nvSpPr>
          <p:cNvPr id="31" name="TextBox 431">
            <a:extLst>
              <a:ext uri="{FF2B5EF4-FFF2-40B4-BE49-F238E27FC236}">
                <a16:creationId xmlns:a16="http://schemas.microsoft.com/office/drawing/2014/main" id="{BEB65661-C06F-7FD2-A105-98619A2AE136}"/>
              </a:ext>
            </a:extLst>
          </p:cNvPr>
          <p:cNvSpPr txBox="1"/>
          <p:nvPr/>
        </p:nvSpPr>
        <p:spPr bwMode="auto">
          <a:xfrm>
            <a:off x="681039" y="3644898"/>
            <a:ext cx="3602037" cy="5117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АВТОМАТИЗИРОВАННОЕ</a:t>
            </a:r>
          </a:p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ТЕСТИРОВАНИЕ</a:t>
            </a:r>
            <a:endParaRPr lang="en-US" sz="1100" spc="400" dirty="0">
              <a:solidFill>
                <a:srgbClr val="000000"/>
              </a:solidFill>
              <a:ea typeface="Stapel" panose="020B0503030403020204" pitchFamily="34" charset="0"/>
              <a:cs typeface="Stapel"/>
            </a:endParaRPr>
          </a:p>
        </p:txBody>
      </p:sp>
      <p:cxnSp>
        <p:nvCxnSpPr>
          <p:cNvPr id="32" name="Straight Connector 432">
            <a:extLst>
              <a:ext uri="{FF2B5EF4-FFF2-40B4-BE49-F238E27FC236}">
                <a16:creationId xmlns:a16="http://schemas.microsoft.com/office/drawing/2014/main" id="{E27D3D8D-612F-9C5F-7E1F-F584AB0C9031}"/>
              </a:ext>
            </a:extLst>
          </p:cNvPr>
          <p:cNvCxnSpPr>
            <a:cxnSpLocks/>
          </p:cNvCxnSpPr>
          <p:nvPr/>
        </p:nvCxnSpPr>
        <p:spPr bwMode="auto">
          <a:xfrm flipH="1">
            <a:off x="11687175" y="2455593"/>
            <a:ext cx="0" cy="3625849"/>
          </a:xfrm>
          <a:prstGeom prst="line">
            <a:avLst/>
          </a:prstGeom>
          <a:ln w="9525">
            <a:solidFill>
              <a:srgbClr val="7D70EF"/>
            </a:solidFill>
            <a:prstDash val="lgDash"/>
          </a:ln>
        </p:spPr>
        <p:style>
          <a:lnRef idx="1">
            <a:srgbClr val="8F0D6B"/>
          </a:lnRef>
          <a:fillRef idx="0">
            <a:srgbClr val="7D70EF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33" name="TextBox 433">
            <a:extLst>
              <a:ext uri="{FF2B5EF4-FFF2-40B4-BE49-F238E27FC236}">
                <a16:creationId xmlns:a16="http://schemas.microsoft.com/office/drawing/2014/main" id="{8A8A0B13-1F8C-B0E3-2228-2BC186217DB3}"/>
              </a:ext>
            </a:extLst>
          </p:cNvPr>
          <p:cNvSpPr txBox="1"/>
          <p:nvPr/>
        </p:nvSpPr>
        <p:spPr bwMode="auto">
          <a:xfrm>
            <a:off x="9155113" y="4114801"/>
            <a:ext cx="2662237" cy="290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CI/CD</a:t>
            </a:r>
            <a:r>
              <a:rPr lang="ru-RU" sz="11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-КОНВЕЙЕР</a:t>
            </a:r>
            <a:endParaRPr lang="en-US" sz="1100" spc="400" dirty="0">
              <a:solidFill>
                <a:srgbClr val="000000"/>
              </a:solidFill>
              <a:ea typeface="Stapel" panose="020B0503030403020204" pitchFamily="34" charset="0"/>
              <a:cs typeface="Stapel"/>
            </a:endParaRPr>
          </a:p>
        </p:txBody>
      </p:sp>
      <p:sp>
        <p:nvSpPr>
          <p:cNvPr id="34" name="Rounded Rectangle 408">
            <a:extLst>
              <a:ext uri="{FF2B5EF4-FFF2-40B4-BE49-F238E27FC236}">
                <a16:creationId xmlns:a16="http://schemas.microsoft.com/office/drawing/2014/main" id="{4C123913-925D-780F-D81F-AF67A146787C}"/>
              </a:ext>
            </a:extLst>
          </p:cNvPr>
          <p:cNvSpPr/>
          <p:nvPr/>
        </p:nvSpPr>
        <p:spPr>
          <a:xfrm>
            <a:off x="5060147" y="6450207"/>
            <a:ext cx="936625" cy="206375"/>
          </a:xfrm>
          <a:prstGeom prst="rect">
            <a:avLst/>
          </a:prstGeom>
          <a:solidFill>
            <a:srgbClr val="8F0D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FFFFFF"/>
          </a:fontRef>
        </p:style>
        <p:txBody>
          <a:bodyPr anchor="ctr"/>
          <a:lstStyle>
            <a:lvl1pPr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9pPr>
          </a:lstStyle>
          <a:p>
            <a:pPr algn="ctr" eaLnBrk="1" hangingPunct="1"/>
            <a:r>
              <a:rPr lang="ru-RU" altLang="en-RU" sz="90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Подходы</a:t>
            </a:r>
            <a:endParaRPr lang="en-US" altLang="en-RU" sz="900">
              <a:solidFill>
                <a:srgbClr val="FFFFFF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5" name="Rounded Rectangle 411">
            <a:extLst>
              <a:ext uri="{FF2B5EF4-FFF2-40B4-BE49-F238E27FC236}">
                <a16:creationId xmlns:a16="http://schemas.microsoft.com/office/drawing/2014/main" id="{A69F8132-6C80-7B0F-24D0-CED63C7CC145}"/>
              </a:ext>
            </a:extLst>
          </p:cNvPr>
          <p:cNvSpPr/>
          <p:nvPr/>
        </p:nvSpPr>
        <p:spPr>
          <a:xfrm>
            <a:off x="6063447" y="6450207"/>
            <a:ext cx="1385887" cy="206375"/>
          </a:xfrm>
          <a:prstGeom prst="rect">
            <a:avLst/>
          </a:prstGeom>
          <a:solidFill>
            <a:srgbClr val="DDB6D3">
              <a:lumMod val="60000"/>
              <a:lumOff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FFFFFF"/>
          </a:fontRef>
        </p:style>
        <p:txBody>
          <a:bodyPr anchor="ctr"/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algn="ctr" eaLnBrk="1" hangingPunct="1"/>
            <a:r>
              <a:rPr lang="ru-RU" altLang="en-RU" sz="90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Виды тестирования</a:t>
            </a:r>
            <a:endParaRPr lang="en-US" altLang="en-RU" sz="90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6" name="TextBox 37">
            <a:extLst>
              <a:ext uri="{FF2B5EF4-FFF2-40B4-BE49-F238E27FC236}">
                <a16:creationId xmlns:a16="http://schemas.microsoft.com/office/drawing/2014/main" id="{656B3253-95D9-736E-1839-04ED4402A734}"/>
              </a:ext>
            </a:extLst>
          </p:cNvPr>
          <p:cNvSpPr txBox="1"/>
          <p:nvPr/>
        </p:nvSpPr>
        <p:spPr>
          <a:xfrm>
            <a:off x="4266106" y="6425548"/>
            <a:ext cx="752129" cy="256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050" dirty="0">
                <a:solidFill>
                  <a:srgbClr val="000000"/>
                </a:solidFill>
                <a:latin typeface="+mn-lt"/>
              </a:rPr>
              <a:t>Легенда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:</a:t>
            </a:r>
          </a:p>
        </p:txBody>
      </p:sp>
      <p:sp>
        <p:nvSpPr>
          <p:cNvPr id="37" name="Заголовок 3">
            <a:extLst>
              <a:ext uri="{FF2B5EF4-FFF2-40B4-BE49-F238E27FC236}">
                <a16:creationId xmlns:a16="http://schemas.microsoft.com/office/drawing/2014/main" id="{75E0B392-388D-478C-A242-401A275982C5}"/>
              </a:ext>
            </a:extLst>
          </p:cNvPr>
          <p:cNvSpPr>
            <a:spLocks noGrp="1"/>
          </p:cNvSpPr>
          <p:nvPr/>
        </p:nvSpPr>
        <p:spPr>
          <a:xfrm>
            <a:off x="501650" y="400050"/>
            <a:ext cx="9739630" cy="409575"/>
          </a:xfrm>
        </p:spPr>
        <p:txBody>
          <a:bodyPr/>
          <a:lstStyle/>
          <a:p>
            <a:r>
              <a:rPr lang="ru-RU" altLang="en-RU" sz="2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Пирамида тестирования</a:t>
            </a:r>
            <a:endParaRPr lang="ru-RU" dirty="0"/>
          </a:p>
        </p:txBody>
      </p:sp>
      <p:grpSp>
        <p:nvGrpSpPr>
          <p:cNvPr id="38" name="Group 3">
            <a:extLst>
              <a:ext uri="{FF2B5EF4-FFF2-40B4-BE49-F238E27FC236}">
                <a16:creationId xmlns:a16="http://schemas.microsoft.com/office/drawing/2014/main" id="{FFB65B18-A6B7-48DB-AB84-5930161E5564}"/>
              </a:ext>
            </a:extLst>
          </p:cNvPr>
          <p:cNvGrpSpPr/>
          <p:nvPr/>
        </p:nvGrpSpPr>
        <p:grpSpPr>
          <a:xfrm>
            <a:off x="5534725" y="1778949"/>
            <a:ext cx="1194937" cy="296611"/>
            <a:chOff x="5566612" y="1730375"/>
            <a:chExt cx="1114152" cy="373063"/>
          </a:xfrm>
        </p:grpSpPr>
        <p:sp>
          <p:nvSpPr>
            <p:cNvPr id="39" name="Rounded Rectangle 421">
              <a:extLst>
                <a:ext uri="{FF2B5EF4-FFF2-40B4-BE49-F238E27FC236}">
                  <a16:creationId xmlns:a16="http://schemas.microsoft.com/office/drawing/2014/main" id="{67DB4844-98B8-E7B4-6265-840D3DC8F881}"/>
                </a:ext>
              </a:extLst>
            </p:cNvPr>
            <p:cNvSpPr/>
            <p:nvPr/>
          </p:nvSpPr>
          <p:spPr bwMode="auto">
            <a:xfrm>
              <a:off x="5669280" y="1730375"/>
              <a:ext cx="879232" cy="3730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40" name="TextBox 41">
              <a:extLst>
                <a:ext uri="{FF2B5EF4-FFF2-40B4-BE49-F238E27FC236}">
                  <a16:creationId xmlns:a16="http://schemas.microsoft.com/office/drawing/2014/main" id="{8E55E088-6FDE-4E6B-B48E-946D0194F4A6}"/>
                </a:ext>
              </a:extLst>
            </p:cNvPr>
            <p:cNvSpPr txBox="1"/>
            <p:nvPr/>
          </p:nvSpPr>
          <p:spPr>
            <a:xfrm>
              <a:off x="5566612" y="1785665"/>
              <a:ext cx="111415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ru-RU" altLang="en-RU" sz="900" dirty="0">
                  <a:solidFill>
                    <a:srgbClr val="FFFFFF"/>
                  </a:solidFill>
                  <a:ea typeface="Stapel" panose="020B0503030403020204" pitchFamily="34" charset="0"/>
                  <a:cs typeface="Stapel" panose="020B0503030403020204" pitchFamily="34" charset="0"/>
                </a:rPr>
                <a:t>Функциональное</a:t>
              </a:r>
            </a:p>
          </p:txBody>
        </p:sp>
      </p:grpSp>
      <p:grpSp>
        <p:nvGrpSpPr>
          <p:cNvPr id="41" name="Group 6">
            <a:extLst>
              <a:ext uri="{FF2B5EF4-FFF2-40B4-BE49-F238E27FC236}">
                <a16:creationId xmlns:a16="http://schemas.microsoft.com/office/drawing/2014/main" id="{80187CF3-57AC-45FB-9275-7424D4E09EA5}"/>
              </a:ext>
            </a:extLst>
          </p:cNvPr>
          <p:cNvGrpSpPr/>
          <p:nvPr/>
        </p:nvGrpSpPr>
        <p:grpSpPr>
          <a:xfrm>
            <a:off x="5424488" y="2122489"/>
            <a:ext cx="1454689" cy="301625"/>
            <a:chOff x="5424488" y="2122489"/>
            <a:chExt cx="1454689" cy="301625"/>
          </a:xfrm>
        </p:grpSpPr>
        <p:sp>
          <p:nvSpPr>
            <p:cNvPr id="42" name="Rounded Rectangle 422">
              <a:extLst>
                <a:ext uri="{FF2B5EF4-FFF2-40B4-BE49-F238E27FC236}">
                  <a16:creationId xmlns:a16="http://schemas.microsoft.com/office/drawing/2014/main" id="{A5235C9B-38F9-8AAF-5682-39CE3B199BB9}"/>
                </a:ext>
              </a:extLst>
            </p:cNvPr>
            <p:cNvSpPr/>
            <p:nvPr/>
          </p:nvSpPr>
          <p:spPr bwMode="auto">
            <a:xfrm>
              <a:off x="5424489" y="2122489"/>
              <a:ext cx="1434304" cy="3016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43" name="TextBox 45">
              <a:extLst>
                <a:ext uri="{FF2B5EF4-FFF2-40B4-BE49-F238E27FC236}">
                  <a16:creationId xmlns:a16="http://schemas.microsoft.com/office/drawing/2014/main" id="{3F5CDA42-128E-4FA1-B423-CA1DE2F289E5}"/>
                </a:ext>
              </a:extLst>
            </p:cNvPr>
            <p:cNvSpPr txBox="1"/>
            <p:nvPr/>
          </p:nvSpPr>
          <p:spPr>
            <a:xfrm>
              <a:off x="5424488" y="2149693"/>
              <a:ext cx="14546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Исследовательское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44" name="Group 9">
            <a:extLst>
              <a:ext uri="{FF2B5EF4-FFF2-40B4-BE49-F238E27FC236}">
                <a16:creationId xmlns:a16="http://schemas.microsoft.com/office/drawing/2014/main" id="{AB4BCA4E-D200-463C-81F4-E686F1F4A527}"/>
              </a:ext>
            </a:extLst>
          </p:cNvPr>
          <p:cNvGrpSpPr/>
          <p:nvPr/>
        </p:nvGrpSpPr>
        <p:grpSpPr>
          <a:xfrm>
            <a:off x="4785360" y="2805111"/>
            <a:ext cx="2597076" cy="374651"/>
            <a:chOff x="4785360" y="2805111"/>
            <a:chExt cx="2597076" cy="374651"/>
          </a:xfrm>
        </p:grpSpPr>
        <p:sp>
          <p:nvSpPr>
            <p:cNvPr id="45" name="Rounded Rectangle 419">
              <a:extLst>
                <a:ext uri="{FF2B5EF4-FFF2-40B4-BE49-F238E27FC236}">
                  <a16:creationId xmlns:a16="http://schemas.microsoft.com/office/drawing/2014/main" id="{373D62D5-6306-3E66-99D9-CC2E150D7F7C}"/>
                </a:ext>
              </a:extLst>
            </p:cNvPr>
            <p:cNvSpPr/>
            <p:nvPr/>
          </p:nvSpPr>
          <p:spPr bwMode="auto">
            <a:xfrm>
              <a:off x="4785360" y="2805111"/>
              <a:ext cx="2597076" cy="374651"/>
            </a:xfrm>
            <a:prstGeom prst="rect">
              <a:avLst/>
            </a:prstGeom>
            <a:solidFill>
              <a:srgbClr val="DDB6D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46" name="TextBox 50">
              <a:extLst>
                <a:ext uri="{FF2B5EF4-FFF2-40B4-BE49-F238E27FC236}">
                  <a16:creationId xmlns:a16="http://schemas.microsoft.com/office/drawing/2014/main" id="{4C918BF2-731C-4FB4-84E7-EBB0B08FCB60}"/>
                </a:ext>
              </a:extLst>
            </p:cNvPr>
            <p:cNvSpPr txBox="1"/>
            <p:nvPr/>
          </p:nvSpPr>
          <p:spPr>
            <a:xfrm>
              <a:off x="4869180" y="2855913"/>
              <a:ext cx="245364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Нагрузочное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47" name="Group 12">
            <a:extLst>
              <a:ext uri="{FF2B5EF4-FFF2-40B4-BE49-F238E27FC236}">
                <a16:creationId xmlns:a16="http://schemas.microsoft.com/office/drawing/2014/main" id="{D7876A6C-733E-445B-B827-86476CD5A020}"/>
              </a:ext>
            </a:extLst>
          </p:cNvPr>
          <p:cNvGrpSpPr/>
          <p:nvPr/>
        </p:nvGrpSpPr>
        <p:grpSpPr>
          <a:xfrm>
            <a:off x="4196999" y="3521710"/>
            <a:ext cx="1059213" cy="333375"/>
            <a:chOff x="4196999" y="3536950"/>
            <a:chExt cx="1059213" cy="333375"/>
          </a:xfrm>
        </p:grpSpPr>
        <p:sp>
          <p:nvSpPr>
            <p:cNvPr id="48" name="Rounded Rectangle 415">
              <a:extLst>
                <a:ext uri="{FF2B5EF4-FFF2-40B4-BE49-F238E27FC236}">
                  <a16:creationId xmlns:a16="http://schemas.microsoft.com/office/drawing/2014/main" id="{2EC82666-30CB-3DDF-C185-489989EE242C}"/>
                </a:ext>
              </a:extLst>
            </p:cNvPr>
            <p:cNvSpPr/>
            <p:nvPr/>
          </p:nvSpPr>
          <p:spPr bwMode="auto">
            <a:xfrm>
              <a:off x="4196999" y="3536950"/>
              <a:ext cx="1059213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  <a:ea typeface="Stapel" panose="020B0503030403020204" pitchFamily="34" charset="0"/>
              </a:endParaRPr>
            </a:p>
          </p:txBody>
        </p:sp>
        <p:sp>
          <p:nvSpPr>
            <p:cNvPr id="49" name="TextBox 55">
              <a:extLst>
                <a:ext uri="{FF2B5EF4-FFF2-40B4-BE49-F238E27FC236}">
                  <a16:creationId xmlns:a16="http://schemas.microsoft.com/office/drawing/2014/main" id="{8110AC63-5E0E-4D4B-AAEB-9865729DE156}"/>
                </a:ext>
              </a:extLst>
            </p:cNvPr>
            <p:cNvSpPr txBox="1"/>
            <p:nvPr/>
          </p:nvSpPr>
          <p:spPr>
            <a:xfrm>
              <a:off x="4254924" y="3572832"/>
              <a:ext cx="93613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prstClr val="white"/>
                  </a:solidFill>
                  <a:latin typeface="Stapel"/>
                  <a:ea typeface="Stapel" panose="020B0503030403020204" pitchFamily="34" charset="0"/>
                </a:rPr>
                <a:t>BDT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+mn-cs"/>
              </a:endParaRPr>
            </a:p>
          </p:txBody>
        </p:sp>
      </p:grpSp>
      <p:grpSp>
        <p:nvGrpSpPr>
          <p:cNvPr id="50" name="Group 15">
            <a:extLst>
              <a:ext uri="{FF2B5EF4-FFF2-40B4-BE49-F238E27FC236}">
                <a16:creationId xmlns:a16="http://schemas.microsoft.com/office/drawing/2014/main" id="{58F8F2B4-3FE1-4024-982A-A2E81ED85BC4}"/>
              </a:ext>
            </a:extLst>
          </p:cNvPr>
          <p:cNvGrpSpPr/>
          <p:nvPr/>
        </p:nvGrpSpPr>
        <p:grpSpPr>
          <a:xfrm>
            <a:off x="5455215" y="3521710"/>
            <a:ext cx="1273175" cy="333375"/>
            <a:chOff x="5424488" y="3536950"/>
            <a:chExt cx="1273175" cy="333375"/>
          </a:xfrm>
        </p:grpSpPr>
        <p:sp>
          <p:nvSpPr>
            <p:cNvPr id="51" name="Rounded Rectangle 416">
              <a:extLst>
                <a:ext uri="{FF2B5EF4-FFF2-40B4-BE49-F238E27FC236}">
                  <a16:creationId xmlns:a16="http://schemas.microsoft.com/office/drawing/2014/main" id="{4C4CA171-6FF1-6298-6B9C-D0554A4ED958}"/>
                </a:ext>
              </a:extLst>
            </p:cNvPr>
            <p:cNvSpPr/>
            <p:nvPr/>
          </p:nvSpPr>
          <p:spPr bwMode="auto">
            <a:xfrm>
              <a:off x="5424488" y="3536950"/>
              <a:ext cx="1273175" cy="3333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srgbClr val="FFFFFF"/>
                </a:solidFill>
                <a:ea typeface="Stapel" panose="020B0503030403020204" pitchFamily="34" charset="0"/>
              </a:endParaRPr>
            </a:p>
          </p:txBody>
        </p:sp>
        <p:sp>
          <p:nvSpPr>
            <p:cNvPr id="52" name="TextBox 60">
              <a:extLst>
                <a:ext uri="{FF2B5EF4-FFF2-40B4-BE49-F238E27FC236}">
                  <a16:creationId xmlns:a16="http://schemas.microsoft.com/office/drawing/2014/main" id="{437BE4BB-2382-4804-A516-756D1880E36A}"/>
                </a:ext>
              </a:extLst>
            </p:cNvPr>
            <p:cNvSpPr txBox="1"/>
            <p:nvPr/>
          </p:nvSpPr>
          <p:spPr>
            <a:xfrm>
              <a:off x="5478463" y="3570936"/>
              <a:ext cx="117157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+mn-cs"/>
                </a:rPr>
                <a:t>UI</a:t>
              </a:r>
            </a:p>
          </p:txBody>
        </p:sp>
      </p:grpSp>
      <p:grpSp>
        <p:nvGrpSpPr>
          <p:cNvPr id="53" name="Group 18">
            <a:extLst>
              <a:ext uri="{FF2B5EF4-FFF2-40B4-BE49-F238E27FC236}">
                <a16:creationId xmlns:a16="http://schemas.microsoft.com/office/drawing/2014/main" id="{AD75A26E-8F1B-4085-88DA-070E0859A9AB}"/>
              </a:ext>
            </a:extLst>
          </p:cNvPr>
          <p:cNvGrpSpPr/>
          <p:nvPr/>
        </p:nvGrpSpPr>
        <p:grpSpPr>
          <a:xfrm>
            <a:off x="6927392" y="3526469"/>
            <a:ext cx="1015646" cy="333375"/>
            <a:chOff x="6927392" y="3541709"/>
            <a:chExt cx="1015646" cy="333375"/>
          </a:xfrm>
        </p:grpSpPr>
        <p:sp>
          <p:nvSpPr>
            <p:cNvPr id="54" name="Rounded Rectangle 417">
              <a:extLst>
                <a:ext uri="{FF2B5EF4-FFF2-40B4-BE49-F238E27FC236}">
                  <a16:creationId xmlns:a16="http://schemas.microsoft.com/office/drawing/2014/main" id="{2FD9B4F0-22E6-73A4-3944-0E2064172686}"/>
                </a:ext>
              </a:extLst>
            </p:cNvPr>
            <p:cNvSpPr/>
            <p:nvPr/>
          </p:nvSpPr>
          <p:spPr bwMode="auto">
            <a:xfrm>
              <a:off x="6927392" y="3541709"/>
              <a:ext cx="1015646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  <a:ea typeface="Stapel" panose="020B0503030403020204" pitchFamily="34" charset="0"/>
              </a:endParaRPr>
            </a:p>
          </p:txBody>
        </p:sp>
        <p:sp>
          <p:nvSpPr>
            <p:cNvPr id="55" name="TextBox 65">
              <a:extLst>
                <a:ext uri="{FF2B5EF4-FFF2-40B4-BE49-F238E27FC236}">
                  <a16:creationId xmlns:a16="http://schemas.microsoft.com/office/drawing/2014/main" id="{D0F3AB08-9D22-4F21-A311-D5E68122742F}"/>
                </a:ext>
              </a:extLst>
            </p:cNvPr>
            <p:cNvSpPr txBox="1"/>
            <p:nvPr/>
          </p:nvSpPr>
          <p:spPr>
            <a:xfrm>
              <a:off x="6983870" y="3566968"/>
              <a:ext cx="9104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+mn-cs"/>
                </a:rPr>
                <a:t>BDD</a:t>
              </a:r>
            </a:p>
          </p:txBody>
        </p:sp>
      </p:grpSp>
      <p:grpSp>
        <p:nvGrpSpPr>
          <p:cNvPr id="56" name="Group 21">
            <a:extLst>
              <a:ext uri="{FF2B5EF4-FFF2-40B4-BE49-F238E27FC236}">
                <a16:creationId xmlns:a16="http://schemas.microsoft.com/office/drawing/2014/main" id="{FDCA8AC8-5BCB-456D-8CA0-017447EB2FC6}"/>
              </a:ext>
            </a:extLst>
          </p:cNvPr>
          <p:cNvGrpSpPr/>
          <p:nvPr/>
        </p:nvGrpSpPr>
        <p:grpSpPr>
          <a:xfrm>
            <a:off x="3931920" y="3975100"/>
            <a:ext cx="4270694" cy="333375"/>
            <a:chOff x="3931920" y="3975100"/>
            <a:chExt cx="4270694" cy="333375"/>
          </a:xfrm>
        </p:grpSpPr>
        <p:sp>
          <p:nvSpPr>
            <p:cNvPr id="57" name="Rounded Rectangle 412">
              <a:extLst>
                <a:ext uri="{FF2B5EF4-FFF2-40B4-BE49-F238E27FC236}">
                  <a16:creationId xmlns:a16="http://schemas.microsoft.com/office/drawing/2014/main" id="{CB9B3025-8798-BF78-597E-10E96CA4421B}"/>
                </a:ext>
              </a:extLst>
            </p:cNvPr>
            <p:cNvSpPr/>
            <p:nvPr/>
          </p:nvSpPr>
          <p:spPr bwMode="auto">
            <a:xfrm>
              <a:off x="3931920" y="3975100"/>
              <a:ext cx="4270694" cy="333375"/>
            </a:xfrm>
            <a:prstGeom prst="rect">
              <a:avLst/>
            </a:prstGeom>
            <a:solidFill>
              <a:srgbClr val="DDB6D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58" name="TextBox 70">
              <a:extLst>
                <a:ext uri="{FF2B5EF4-FFF2-40B4-BE49-F238E27FC236}">
                  <a16:creationId xmlns:a16="http://schemas.microsoft.com/office/drawing/2014/main" id="{13F36BD0-A3CC-4CAB-B7FD-EE3044EFBBC5}"/>
                </a:ext>
              </a:extLst>
            </p:cNvPr>
            <p:cNvSpPr txBox="1"/>
            <p:nvPr/>
          </p:nvSpPr>
          <p:spPr>
            <a:xfrm>
              <a:off x="4008294" y="4015056"/>
              <a:ext cx="41103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API /  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Веб Сервисы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59" name="Group 24">
            <a:extLst>
              <a:ext uri="{FF2B5EF4-FFF2-40B4-BE49-F238E27FC236}">
                <a16:creationId xmlns:a16="http://schemas.microsoft.com/office/drawing/2014/main" id="{659D7B62-DE6F-4DF7-A932-387C469DBCAD}"/>
              </a:ext>
            </a:extLst>
          </p:cNvPr>
          <p:cNvGrpSpPr/>
          <p:nvPr/>
        </p:nvGrpSpPr>
        <p:grpSpPr>
          <a:xfrm>
            <a:off x="3252168" y="4379913"/>
            <a:ext cx="1803790" cy="742950"/>
            <a:chOff x="3252168" y="4379913"/>
            <a:chExt cx="1803790" cy="742950"/>
          </a:xfrm>
        </p:grpSpPr>
        <p:sp>
          <p:nvSpPr>
            <p:cNvPr id="60" name="Rounded Rectangle 408">
              <a:extLst>
                <a:ext uri="{FF2B5EF4-FFF2-40B4-BE49-F238E27FC236}">
                  <a16:creationId xmlns:a16="http://schemas.microsoft.com/office/drawing/2014/main" id="{62E96018-924E-F504-24AD-0FBFD1452653}"/>
                </a:ext>
              </a:extLst>
            </p:cNvPr>
            <p:cNvSpPr/>
            <p:nvPr/>
          </p:nvSpPr>
          <p:spPr bwMode="auto">
            <a:xfrm>
              <a:off x="3327009" y="4379913"/>
              <a:ext cx="1681554" cy="742950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61" name="TextBox 75">
              <a:extLst>
                <a:ext uri="{FF2B5EF4-FFF2-40B4-BE49-F238E27FC236}">
                  <a16:creationId xmlns:a16="http://schemas.microsoft.com/office/drawing/2014/main" id="{E01F1BDD-E8FD-49E3-924E-EE8136D143C2}"/>
                </a:ext>
              </a:extLst>
            </p:cNvPr>
            <p:cNvSpPr txBox="1"/>
            <p:nvPr/>
          </p:nvSpPr>
          <p:spPr>
            <a:xfrm>
              <a:off x="3252168" y="4459018"/>
              <a:ext cx="180379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altLang="en-RU" sz="1000" dirty="0">
                  <a:solidFill>
                    <a:srgbClr val="FFFFFF"/>
                  </a:solidFill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И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нструменты</a:t>
              </a:r>
              <a:r>
                <a:rPr kumimoji="0" lang="en-US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 /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 </a:t>
              </a:r>
              <a:r>
                <a:rPr lang="ru-RU" altLang="en-RU" sz="1000" dirty="0">
                  <a:solidFill>
                    <a:srgbClr val="FFFFFF"/>
                  </a:solidFill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Ф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реймворки</a:t>
              </a:r>
              <a:r>
                <a:rPr kumimoji="0" lang="en-US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 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автоматизации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62" name="Group 27">
            <a:extLst>
              <a:ext uri="{FF2B5EF4-FFF2-40B4-BE49-F238E27FC236}">
                <a16:creationId xmlns:a16="http://schemas.microsoft.com/office/drawing/2014/main" id="{04875636-146E-42FB-8924-608A85BCEFE3}"/>
              </a:ext>
            </a:extLst>
          </p:cNvPr>
          <p:cNvGrpSpPr/>
          <p:nvPr/>
        </p:nvGrpSpPr>
        <p:grpSpPr>
          <a:xfrm>
            <a:off x="5138738" y="4379913"/>
            <a:ext cx="2098675" cy="333375"/>
            <a:chOff x="5138738" y="4379913"/>
            <a:chExt cx="2098675" cy="333375"/>
          </a:xfrm>
        </p:grpSpPr>
        <p:sp>
          <p:nvSpPr>
            <p:cNvPr id="63" name="Rounded Rectangle 411">
              <a:extLst>
                <a:ext uri="{FF2B5EF4-FFF2-40B4-BE49-F238E27FC236}">
                  <a16:creationId xmlns:a16="http://schemas.microsoft.com/office/drawing/2014/main" id="{FD0479E6-81A6-44DB-840F-76BE1302840C}"/>
                </a:ext>
              </a:extLst>
            </p:cNvPr>
            <p:cNvSpPr/>
            <p:nvPr/>
          </p:nvSpPr>
          <p:spPr bwMode="auto">
            <a:xfrm>
              <a:off x="5138738" y="4379913"/>
              <a:ext cx="2098675" cy="3333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64" name="TextBox 80">
              <a:extLst>
                <a:ext uri="{FF2B5EF4-FFF2-40B4-BE49-F238E27FC236}">
                  <a16:creationId xmlns:a16="http://schemas.microsoft.com/office/drawing/2014/main" id="{276BCEEC-3CCF-4D14-AF79-40E3009B279E}"/>
                </a:ext>
              </a:extLst>
            </p:cNvPr>
            <p:cNvSpPr txBox="1"/>
            <p:nvPr/>
          </p:nvSpPr>
          <p:spPr>
            <a:xfrm>
              <a:off x="5216975" y="4415795"/>
              <a:ext cx="192791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Интеграционное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65" name="Group 30">
            <a:extLst>
              <a:ext uri="{FF2B5EF4-FFF2-40B4-BE49-F238E27FC236}">
                <a16:creationId xmlns:a16="http://schemas.microsoft.com/office/drawing/2014/main" id="{CEEFC806-11CA-4918-B11D-D57B3C9B3498}"/>
              </a:ext>
            </a:extLst>
          </p:cNvPr>
          <p:cNvGrpSpPr/>
          <p:nvPr/>
        </p:nvGrpSpPr>
        <p:grpSpPr>
          <a:xfrm>
            <a:off x="5130799" y="4789488"/>
            <a:ext cx="2100264" cy="333375"/>
            <a:chOff x="5130799" y="4789488"/>
            <a:chExt cx="2100264" cy="333375"/>
          </a:xfrm>
        </p:grpSpPr>
        <p:sp>
          <p:nvSpPr>
            <p:cNvPr id="66" name="Rounded Rectangle 409">
              <a:extLst>
                <a:ext uri="{FF2B5EF4-FFF2-40B4-BE49-F238E27FC236}">
                  <a16:creationId xmlns:a16="http://schemas.microsoft.com/office/drawing/2014/main" id="{CB7FDFBA-ED98-ACF9-C289-2B1FEE259178}"/>
                </a:ext>
              </a:extLst>
            </p:cNvPr>
            <p:cNvSpPr/>
            <p:nvPr/>
          </p:nvSpPr>
          <p:spPr bwMode="auto">
            <a:xfrm>
              <a:off x="5130799" y="4789488"/>
              <a:ext cx="2100264" cy="3333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67" name="TextBox 85">
              <a:extLst>
                <a:ext uri="{FF2B5EF4-FFF2-40B4-BE49-F238E27FC236}">
                  <a16:creationId xmlns:a16="http://schemas.microsoft.com/office/drawing/2014/main" id="{26344FA5-C317-49FC-A605-72FABF25A2F2}"/>
                </a:ext>
              </a:extLst>
            </p:cNvPr>
            <p:cNvSpPr txBox="1"/>
            <p:nvPr/>
          </p:nvSpPr>
          <p:spPr>
            <a:xfrm>
              <a:off x="5223893" y="4820684"/>
              <a:ext cx="191407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Компонентное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68" name="Group 33">
            <a:extLst>
              <a:ext uri="{FF2B5EF4-FFF2-40B4-BE49-F238E27FC236}">
                <a16:creationId xmlns:a16="http://schemas.microsoft.com/office/drawing/2014/main" id="{336CF881-AE50-4356-8CAE-BD7FA6615C8B}"/>
              </a:ext>
            </a:extLst>
          </p:cNvPr>
          <p:cNvGrpSpPr/>
          <p:nvPr/>
        </p:nvGrpSpPr>
        <p:grpSpPr>
          <a:xfrm>
            <a:off x="7350125" y="4371975"/>
            <a:ext cx="1512521" cy="750887"/>
            <a:chOff x="7350125" y="4371975"/>
            <a:chExt cx="1512521" cy="750887"/>
          </a:xfrm>
        </p:grpSpPr>
        <p:sp>
          <p:nvSpPr>
            <p:cNvPr id="69" name="Rounded Rectangle 413">
              <a:extLst>
                <a:ext uri="{FF2B5EF4-FFF2-40B4-BE49-F238E27FC236}">
                  <a16:creationId xmlns:a16="http://schemas.microsoft.com/office/drawing/2014/main" id="{5B6BEFE8-D7BC-7D77-D612-53A1E7FA3E5E}"/>
                </a:ext>
              </a:extLst>
            </p:cNvPr>
            <p:cNvSpPr/>
            <p:nvPr/>
          </p:nvSpPr>
          <p:spPr bwMode="auto">
            <a:xfrm>
              <a:off x="7350125" y="4371975"/>
              <a:ext cx="1512521" cy="75088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70" name="TextBox 90">
              <a:extLst>
                <a:ext uri="{FF2B5EF4-FFF2-40B4-BE49-F238E27FC236}">
                  <a16:creationId xmlns:a16="http://schemas.microsoft.com/office/drawing/2014/main" id="{559D060B-1F81-4852-9EC7-BB2B0D3E00CF}"/>
                </a:ext>
              </a:extLst>
            </p:cNvPr>
            <p:cNvSpPr txBox="1"/>
            <p:nvPr/>
          </p:nvSpPr>
          <p:spPr>
            <a:xfrm>
              <a:off x="7448002" y="4609623"/>
              <a:ext cx="13454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Метрики</a:t>
              </a:r>
              <a:r>
                <a:rPr lang="ru-RU" altLang="en-RU" sz="1000" dirty="0">
                  <a:solidFill>
                    <a:srgbClr val="FFFFFF"/>
                  </a:solidFill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, отчеты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71" name="Group 46">
            <a:extLst>
              <a:ext uri="{FF2B5EF4-FFF2-40B4-BE49-F238E27FC236}">
                <a16:creationId xmlns:a16="http://schemas.microsoft.com/office/drawing/2014/main" id="{4D09EFF9-93BB-49F5-A186-9ECED07A826D}"/>
              </a:ext>
            </a:extLst>
          </p:cNvPr>
          <p:cNvGrpSpPr/>
          <p:nvPr/>
        </p:nvGrpSpPr>
        <p:grpSpPr>
          <a:xfrm>
            <a:off x="2733675" y="5241925"/>
            <a:ext cx="6846423" cy="333375"/>
            <a:chOff x="2733675" y="5241925"/>
            <a:chExt cx="6846423" cy="333375"/>
          </a:xfrm>
        </p:grpSpPr>
        <p:sp>
          <p:nvSpPr>
            <p:cNvPr id="72" name="Rounded Rectangle 407">
              <a:extLst>
                <a:ext uri="{FF2B5EF4-FFF2-40B4-BE49-F238E27FC236}">
                  <a16:creationId xmlns:a16="http://schemas.microsoft.com/office/drawing/2014/main" id="{77594CAD-BD56-72DF-373B-746C9D9893FF}"/>
                </a:ext>
              </a:extLst>
            </p:cNvPr>
            <p:cNvSpPr/>
            <p:nvPr/>
          </p:nvSpPr>
          <p:spPr bwMode="auto">
            <a:xfrm>
              <a:off x="2733675" y="5241925"/>
              <a:ext cx="6846423" cy="333375"/>
            </a:xfrm>
            <a:prstGeom prst="rect">
              <a:avLst/>
            </a:prstGeom>
            <a:solidFill>
              <a:srgbClr val="DDB6D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73" name="TextBox 95">
              <a:extLst>
                <a:ext uri="{FF2B5EF4-FFF2-40B4-BE49-F238E27FC236}">
                  <a16:creationId xmlns:a16="http://schemas.microsoft.com/office/drawing/2014/main" id="{86788325-F24B-4722-8994-7957B804CCAE}"/>
                </a:ext>
              </a:extLst>
            </p:cNvPr>
            <p:cNvSpPr txBox="1"/>
            <p:nvPr/>
          </p:nvSpPr>
          <p:spPr>
            <a:xfrm>
              <a:off x="3102134" y="5276432"/>
              <a:ext cx="60960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Юнит-тесты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74" name="Group 51">
            <a:extLst>
              <a:ext uri="{FF2B5EF4-FFF2-40B4-BE49-F238E27FC236}">
                <a16:creationId xmlns:a16="http://schemas.microsoft.com/office/drawing/2014/main" id="{968731C4-5FC7-40EB-B9F2-73C8AE140158}"/>
              </a:ext>
            </a:extLst>
          </p:cNvPr>
          <p:cNvGrpSpPr/>
          <p:nvPr/>
        </p:nvGrpSpPr>
        <p:grpSpPr>
          <a:xfrm>
            <a:off x="2365375" y="5626099"/>
            <a:ext cx="2600326" cy="333375"/>
            <a:chOff x="2365375" y="5626099"/>
            <a:chExt cx="2600326" cy="333375"/>
          </a:xfrm>
        </p:grpSpPr>
        <p:sp>
          <p:nvSpPr>
            <p:cNvPr id="75" name="Rounded Rectangle 405">
              <a:extLst>
                <a:ext uri="{FF2B5EF4-FFF2-40B4-BE49-F238E27FC236}">
                  <a16:creationId xmlns:a16="http://schemas.microsoft.com/office/drawing/2014/main" id="{5279CD40-E8E4-BE0F-C91F-C81FD83433D0}"/>
                </a:ext>
              </a:extLst>
            </p:cNvPr>
            <p:cNvSpPr/>
            <p:nvPr/>
          </p:nvSpPr>
          <p:spPr bwMode="auto">
            <a:xfrm>
              <a:off x="2365375" y="5626099"/>
              <a:ext cx="2600326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76" name="TextBox 100">
              <a:extLst>
                <a:ext uri="{FF2B5EF4-FFF2-40B4-BE49-F238E27FC236}">
                  <a16:creationId xmlns:a16="http://schemas.microsoft.com/office/drawing/2014/main" id="{DA95B3CF-E185-4A10-A535-D5A65686B1AF}"/>
                </a:ext>
              </a:extLst>
            </p:cNvPr>
            <p:cNvSpPr txBox="1"/>
            <p:nvPr/>
          </p:nvSpPr>
          <p:spPr>
            <a:xfrm>
              <a:off x="2466974" y="5662231"/>
              <a:ext cx="24022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Покрытие юнит-тестами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77" name="Group 56">
            <a:extLst>
              <a:ext uri="{FF2B5EF4-FFF2-40B4-BE49-F238E27FC236}">
                <a16:creationId xmlns:a16="http://schemas.microsoft.com/office/drawing/2014/main" id="{263D9B89-3D0D-44C6-B77E-CE822246CBCB}"/>
              </a:ext>
            </a:extLst>
          </p:cNvPr>
          <p:cNvGrpSpPr/>
          <p:nvPr/>
        </p:nvGrpSpPr>
        <p:grpSpPr>
          <a:xfrm>
            <a:off x="5086350" y="5626099"/>
            <a:ext cx="2051050" cy="333375"/>
            <a:chOff x="5086350" y="5626099"/>
            <a:chExt cx="2051050" cy="333375"/>
          </a:xfrm>
        </p:grpSpPr>
        <p:sp>
          <p:nvSpPr>
            <p:cNvPr id="78" name="Rounded Rectangle 410">
              <a:extLst>
                <a:ext uri="{FF2B5EF4-FFF2-40B4-BE49-F238E27FC236}">
                  <a16:creationId xmlns:a16="http://schemas.microsoft.com/office/drawing/2014/main" id="{944C0548-2766-86C0-85D3-D7EC5A3ABA39}"/>
                </a:ext>
              </a:extLst>
            </p:cNvPr>
            <p:cNvSpPr/>
            <p:nvPr/>
          </p:nvSpPr>
          <p:spPr bwMode="auto">
            <a:xfrm>
              <a:off x="5086350" y="5626099"/>
              <a:ext cx="2051050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  <a:ea typeface="Stapel" panose="020B0503030403020204" pitchFamily="34" charset="0"/>
              </a:endParaRPr>
            </a:p>
          </p:txBody>
        </p:sp>
        <p:sp>
          <p:nvSpPr>
            <p:cNvPr id="79" name="TextBox 105">
              <a:extLst>
                <a:ext uri="{FF2B5EF4-FFF2-40B4-BE49-F238E27FC236}">
                  <a16:creationId xmlns:a16="http://schemas.microsoft.com/office/drawing/2014/main" id="{19FD8043-9EED-41BB-9C19-5052B34F9815}"/>
                </a:ext>
              </a:extLst>
            </p:cNvPr>
            <p:cNvSpPr txBox="1"/>
            <p:nvPr/>
          </p:nvSpPr>
          <p:spPr>
            <a:xfrm>
              <a:off x="5240516" y="5662231"/>
              <a:ext cx="17276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+mn-cs"/>
                </a:rPr>
                <a:t>TDD</a:t>
              </a:r>
            </a:p>
          </p:txBody>
        </p:sp>
      </p:grpSp>
      <p:grpSp>
        <p:nvGrpSpPr>
          <p:cNvPr id="80" name="Group 61">
            <a:extLst>
              <a:ext uri="{FF2B5EF4-FFF2-40B4-BE49-F238E27FC236}">
                <a16:creationId xmlns:a16="http://schemas.microsoft.com/office/drawing/2014/main" id="{C9FF158E-CA50-4457-9D10-0BCF1B17A4EF}"/>
              </a:ext>
            </a:extLst>
          </p:cNvPr>
          <p:cNvGrpSpPr/>
          <p:nvPr/>
        </p:nvGrpSpPr>
        <p:grpSpPr>
          <a:xfrm>
            <a:off x="7239000" y="5626099"/>
            <a:ext cx="2601914" cy="333375"/>
            <a:chOff x="7239000" y="5626099"/>
            <a:chExt cx="2601914" cy="333375"/>
          </a:xfrm>
        </p:grpSpPr>
        <p:sp>
          <p:nvSpPr>
            <p:cNvPr id="81" name="Rounded Rectangle 406">
              <a:extLst>
                <a:ext uri="{FF2B5EF4-FFF2-40B4-BE49-F238E27FC236}">
                  <a16:creationId xmlns:a16="http://schemas.microsoft.com/office/drawing/2014/main" id="{86D948C5-5567-6FDB-16CB-0DCE46A761CE}"/>
                </a:ext>
              </a:extLst>
            </p:cNvPr>
            <p:cNvSpPr/>
            <p:nvPr/>
          </p:nvSpPr>
          <p:spPr bwMode="auto">
            <a:xfrm>
              <a:off x="7239000" y="5626099"/>
              <a:ext cx="2601914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82" name="TextBox 110">
              <a:extLst>
                <a:ext uri="{FF2B5EF4-FFF2-40B4-BE49-F238E27FC236}">
                  <a16:creationId xmlns:a16="http://schemas.microsoft.com/office/drawing/2014/main" id="{BEF97182-303B-400C-9E56-6DBDE272C15C}"/>
                </a:ext>
              </a:extLst>
            </p:cNvPr>
            <p:cNvSpPr txBox="1"/>
            <p:nvPr/>
          </p:nvSpPr>
          <p:spPr>
            <a:xfrm>
              <a:off x="7291566" y="5671756"/>
              <a:ext cx="247191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Статический анализ кода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Построение </a:t>
            </a:r>
          </a:p>
          <a:p>
            <a:r>
              <a:rPr lang="ru-RU"/>
              <a:t>лаборатории тестирования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9D08BE81-5D3D-43F4-AC08-448774E079F6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Построение лаборатории тестирования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81C194B1-EB0B-4A68-8E0F-D5A744D1F46F}"/>
              </a:ext>
            </a:extLst>
          </p:cNvPr>
          <p:cNvSpPr/>
          <p:nvPr/>
        </p:nvSpPr>
        <p:spPr bwMode="auto">
          <a:xfrm>
            <a:off x="3885868" y="3880459"/>
            <a:ext cx="2957639" cy="839462"/>
          </a:xfrm>
          <a:prstGeom prst="roundRect">
            <a:avLst>
              <a:gd name="adj" fmla="val 8774"/>
            </a:avLst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60928D75-13EC-4797-B617-14A32B72BCBD}"/>
              </a:ext>
            </a:extLst>
          </p:cNvPr>
          <p:cNvSpPr/>
          <p:nvPr/>
        </p:nvSpPr>
        <p:spPr bwMode="auto">
          <a:xfrm>
            <a:off x="3885868" y="2704022"/>
            <a:ext cx="2957639" cy="1103682"/>
          </a:xfrm>
          <a:prstGeom prst="roundRect">
            <a:avLst>
              <a:gd name="adj" fmla="val 7649"/>
            </a:avLst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8AAA0E5A-0AE8-4648-9B02-A057E6B216DC}"/>
              </a:ext>
            </a:extLst>
          </p:cNvPr>
          <p:cNvSpPr txBox="1"/>
          <p:nvPr/>
        </p:nvSpPr>
        <p:spPr bwMode="auto">
          <a:xfrm>
            <a:off x="4513024" y="3993984"/>
            <a:ext cx="2239517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Внедрим систему метрик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качества решений и качества работы команд</a:t>
            </a:r>
            <a:endParaRPr kumimoji="0" lang="ru-RU" sz="100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93574383-85AF-4778-9CA8-4C7503297227}"/>
              </a:ext>
            </a:extLst>
          </p:cNvPr>
          <p:cNvSpPr txBox="1"/>
          <p:nvPr/>
        </p:nvSpPr>
        <p:spPr bwMode="auto">
          <a:xfrm>
            <a:off x="4482092" y="2826141"/>
            <a:ext cx="2305069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344"/>
              </a:lnSpc>
              <a:spcBef>
                <a:spcPts val="1728"/>
              </a:spcBef>
              <a:buClr>
                <a:srgbClr val="7D70EF"/>
              </a:buClr>
              <a:buSzPct val="110000"/>
              <a:defRPr/>
            </a:pPr>
            <a:r>
              <a:rPr lang="ru-RU" sz="9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Разработаем стратегию</a:t>
            </a: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тестирования с учетом особенностей систем и критичных для бизнеса аспектов</a:t>
            </a: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609AAB71-5331-4B43-9F71-71122C919C9E}"/>
              </a:ext>
            </a:extLst>
          </p:cNvPr>
          <p:cNvSpPr/>
          <p:nvPr/>
        </p:nvSpPr>
        <p:spPr bwMode="auto">
          <a:xfrm>
            <a:off x="575108" y="2697187"/>
            <a:ext cx="3230909" cy="909982"/>
          </a:xfrm>
          <a:prstGeom prst="roundRect">
            <a:avLst>
              <a:gd name="adj" fmla="val 10153"/>
            </a:avLst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0A132529-2816-4D95-A0FD-869D03FF5AE9}"/>
              </a:ext>
            </a:extLst>
          </p:cNvPr>
          <p:cNvSpPr txBox="1"/>
          <p:nvPr/>
        </p:nvSpPr>
        <p:spPr bwMode="auto">
          <a:xfrm>
            <a:off x="1211525" y="2746955"/>
            <a:ext cx="2635310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Сформируем</a:t>
            </a: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команду, </a:t>
            </a:r>
            <a:b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настроим</a:t>
            </a: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процессы найма и ротации и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выстроим</a:t>
            </a: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взаимодействие </a:t>
            </a:r>
            <a:b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другими участниками проектов</a:t>
            </a:r>
          </a:p>
        </p:txBody>
      </p:sp>
      <p:sp>
        <p:nvSpPr>
          <p:cNvPr id="27" name="TextBox 29">
            <a:extLst>
              <a:ext uri="{FF2B5EF4-FFF2-40B4-BE49-F238E27FC236}">
                <a16:creationId xmlns:a16="http://schemas.microsoft.com/office/drawing/2014/main" id="{AD844CCC-E744-4F8D-AB5E-DFC3DDE41286}"/>
              </a:ext>
            </a:extLst>
          </p:cNvPr>
          <p:cNvSpPr txBox="1"/>
          <p:nvPr/>
        </p:nvSpPr>
        <p:spPr>
          <a:xfrm>
            <a:off x="7625168" y="2322640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4C42FDAE-0EC4-418D-B213-67D225CF15B1}"/>
              </a:ext>
            </a:extLst>
          </p:cNvPr>
          <p:cNvSpPr txBox="1">
            <a:spLocks/>
          </p:cNvSpPr>
          <p:nvPr/>
        </p:nvSpPr>
        <p:spPr>
          <a:xfrm>
            <a:off x="8308265" y="2701755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500"/>
              </a:lnSpc>
              <a:buClr>
                <a:srgbClr val="7D70EF"/>
              </a:buClr>
            </a:pPr>
            <a:r>
              <a:rPr lang="ru-RU" sz="12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Быстрая масштабируемость</a:t>
            </a:r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58A46C40-FED6-41CE-B808-2D78CD527695}"/>
              </a:ext>
            </a:extLst>
          </p:cNvPr>
          <p:cNvSpPr/>
          <p:nvPr/>
        </p:nvSpPr>
        <p:spPr>
          <a:xfrm>
            <a:off x="8308264" y="530589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D70EF"/>
              </a:buClr>
              <a:buSzTx/>
              <a:buFontTx/>
              <a:buNone/>
              <a:tabLst/>
              <a:defRPr/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Быстрое подключение к проекту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7D70EF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F484CA37-2C54-4B1D-8898-121878AA4B33}"/>
              </a:ext>
            </a:extLst>
          </p:cNvPr>
          <p:cNvSpPr/>
          <p:nvPr/>
        </p:nvSpPr>
        <p:spPr>
          <a:xfrm>
            <a:off x="8308265" y="3466828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Снижение рисков</a:t>
            </a:r>
          </a:p>
        </p:txBody>
      </p:sp>
      <p:sp>
        <p:nvSpPr>
          <p:cNvPr id="31" name="Rectangle 33">
            <a:extLst>
              <a:ext uri="{FF2B5EF4-FFF2-40B4-BE49-F238E27FC236}">
                <a16:creationId xmlns:a16="http://schemas.microsoft.com/office/drawing/2014/main" id="{102CECBB-220F-41E1-8B8C-608D47DEBB27}"/>
              </a:ext>
            </a:extLst>
          </p:cNvPr>
          <p:cNvSpPr/>
          <p:nvPr/>
        </p:nvSpPr>
        <p:spPr>
          <a:xfrm>
            <a:off x="8308265" y="4376475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Системный подход</a:t>
            </a:r>
          </a:p>
        </p:txBody>
      </p:sp>
      <p:sp>
        <p:nvSpPr>
          <p:cNvPr id="32" name="Rectangle 62">
            <a:extLst>
              <a:ext uri="{FF2B5EF4-FFF2-40B4-BE49-F238E27FC236}">
                <a16:creationId xmlns:a16="http://schemas.microsoft.com/office/drawing/2014/main" id="{B3308EF5-515E-428C-94BE-945EE5C89312}"/>
              </a:ext>
            </a:extLst>
          </p:cNvPr>
          <p:cNvSpPr/>
          <p:nvPr/>
        </p:nvSpPr>
        <p:spPr>
          <a:xfrm>
            <a:off x="8318628" y="2896405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9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Команды под конкретные потребности заказчика</a:t>
            </a:r>
          </a:p>
        </p:txBody>
      </p:sp>
      <p:sp>
        <p:nvSpPr>
          <p:cNvPr id="33" name="Rectangle 63">
            <a:extLst>
              <a:ext uri="{FF2B5EF4-FFF2-40B4-BE49-F238E27FC236}">
                <a16:creationId xmlns:a16="http://schemas.microsoft.com/office/drawing/2014/main" id="{3FA70BD6-162D-4DC2-BD7D-B730FC497124}"/>
              </a:ext>
            </a:extLst>
          </p:cNvPr>
          <p:cNvSpPr/>
          <p:nvPr/>
        </p:nvSpPr>
        <p:spPr>
          <a:xfrm>
            <a:off x="8308265" y="3658707"/>
            <a:ext cx="3589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потери экспертизы, связанных с изменением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размера или структуры проектных команд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4" name="Rectangle 64">
            <a:extLst>
              <a:ext uri="{FF2B5EF4-FFF2-40B4-BE49-F238E27FC236}">
                <a16:creationId xmlns:a16="http://schemas.microsoft.com/office/drawing/2014/main" id="{E5867C6E-FC2B-44B5-9AED-D345613CB0FD}"/>
              </a:ext>
            </a:extLst>
          </p:cNvPr>
          <p:cNvSpPr/>
          <p:nvPr/>
        </p:nvSpPr>
        <p:spPr>
          <a:xfrm>
            <a:off x="8308265" y="5525236"/>
            <a:ext cx="33821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ротаций между проектами 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резерва людей, входящих в лабораторию</a:t>
            </a:r>
          </a:p>
        </p:txBody>
      </p:sp>
      <p:sp>
        <p:nvSpPr>
          <p:cNvPr id="35" name="Rectangle 65">
            <a:extLst>
              <a:ext uri="{FF2B5EF4-FFF2-40B4-BE49-F238E27FC236}">
                <a16:creationId xmlns:a16="http://schemas.microsoft.com/office/drawing/2014/main" id="{BCD18E91-E739-460E-84A8-916739FC8966}"/>
              </a:ext>
            </a:extLst>
          </p:cNvPr>
          <p:cNvSpPr/>
          <p:nvPr/>
        </p:nvSpPr>
        <p:spPr>
          <a:xfrm>
            <a:off x="8308265" y="4586897"/>
            <a:ext cx="3255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 работе над проектами с пониманием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всех технологических и бизнес деталей</a:t>
            </a:r>
          </a:p>
        </p:txBody>
      </p:sp>
      <p:sp>
        <p:nvSpPr>
          <p:cNvPr id="36" name="Rectangle: Rounded Corners 155">
            <a:extLst>
              <a:ext uri="{FF2B5EF4-FFF2-40B4-BE49-F238E27FC236}">
                <a16:creationId xmlns:a16="http://schemas.microsoft.com/office/drawing/2014/main" id="{D5709E7A-F99F-42F4-B061-9BA1D07E4F42}"/>
              </a:ext>
            </a:extLst>
          </p:cNvPr>
          <p:cNvSpPr/>
          <p:nvPr/>
        </p:nvSpPr>
        <p:spPr>
          <a:xfrm>
            <a:off x="544273" y="1168249"/>
            <a:ext cx="11103453" cy="946401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7" name="TextBox 156">
            <a:extLst>
              <a:ext uri="{FF2B5EF4-FFF2-40B4-BE49-F238E27FC236}">
                <a16:creationId xmlns:a16="http://schemas.microsoft.com/office/drawing/2014/main" id="{8A4DB1CA-A0E3-4BDD-8D4F-32FC71D0533D}"/>
              </a:ext>
            </a:extLst>
          </p:cNvPr>
          <p:cNvSpPr txBox="1"/>
          <p:nvPr/>
        </p:nvSpPr>
        <p:spPr>
          <a:xfrm>
            <a:off x="526330" y="860841"/>
            <a:ext cx="33595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Когда нужна лаборатория тестирования?</a:t>
            </a:r>
          </a:p>
        </p:txBody>
      </p:sp>
      <p:grpSp>
        <p:nvGrpSpPr>
          <p:cNvPr id="38" name="Group 256">
            <a:extLst>
              <a:ext uri="{FF2B5EF4-FFF2-40B4-BE49-F238E27FC236}">
                <a16:creationId xmlns:a16="http://schemas.microsoft.com/office/drawing/2014/main" id="{497AA017-B709-4D02-9BAE-278D5089BC61}"/>
              </a:ext>
            </a:extLst>
          </p:cNvPr>
          <p:cNvGrpSpPr/>
          <p:nvPr/>
        </p:nvGrpSpPr>
        <p:grpSpPr>
          <a:xfrm>
            <a:off x="913547" y="1262167"/>
            <a:ext cx="2011906" cy="743858"/>
            <a:chOff x="855823" y="1331617"/>
            <a:chExt cx="2011906" cy="743858"/>
          </a:xfrm>
        </p:grpSpPr>
        <p:sp>
          <p:nvSpPr>
            <p:cNvPr id="39" name="Rectangle 158">
              <a:extLst>
                <a:ext uri="{FF2B5EF4-FFF2-40B4-BE49-F238E27FC236}">
                  <a16:creationId xmlns:a16="http://schemas.microsoft.com/office/drawing/2014/main" id="{E882F4AF-0003-4526-A9BC-405E9019764B}"/>
                </a:ext>
              </a:extLst>
            </p:cNvPr>
            <p:cNvSpPr/>
            <p:nvPr/>
          </p:nvSpPr>
          <p:spPr>
            <a:xfrm>
              <a:off x="1007815" y="1331617"/>
              <a:ext cx="1859914" cy="743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196"/>
                </a:lnSpc>
                <a:spcBef>
                  <a:spcPts val="920"/>
                </a:spcBef>
                <a:buClr>
                  <a:srgbClr val="7D70EF"/>
                </a:buClr>
              </a:pPr>
              <a:r>
                <a:rPr lang="ru-RU" sz="9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Ведется группа связанных проектов, которые требуют привлечения команды тестирования</a:t>
              </a:r>
            </a:p>
          </p:txBody>
        </p:sp>
        <p:grpSp>
          <p:nvGrpSpPr>
            <p:cNvPr id="40" name="Группа 101">
              <a:extLst>
                <a:ext uri="{FF2B5EF4-FFF2-40B4-BE49-F238E27FC236}">
                  <a16:creationId xmlns:a16="http://schemas.microsoft.com/office/drawing/2014/main" id="{A2A89726-ACF1-4DA1-AEF7-71CB0DC8A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41" name="Полилиния: фигура 499">
                <a:extLst>
                  <a:ext uri="{FF2B5EF4-FFF2-40B4-BE49-F238E27FC236}">
                    <a16:creationId xmlns:a16="http://schemas.microsoft.com/office/drawing/2014/main" id="{72785610-E400-4C66-A3FE-3E698A291AE0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grpSp>
            <p:nvGrpSpPr>
              <p:cNvPr id="42" name="Рисунок 476">
                <a:extLst>
                  <a:ext uri="{FF2B5EF4-FFF2-40B4-BE49-F238E27FC236}">
                    <a16:creationId xmlns:a16="http://schemas.microsoft.com/office/drawing/2014/main" id="{44E660BD-33D3-4563-AFF7-CAD6297320B6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FFFFFF"/>
              </a:solidFill>
            </p:grpSpPr>
            <p:sp>
              <p:nvSpPr>
                <p:cNvPr id="43" name="Полилиния: фигура 501">
                  <a:extLst>
                    <a:ext uri="{FF2B5EF4-FFF2-40B4-BE49-F238E27FC236}">
                      <a16:creationId xmlns:a16="http://schemas.microsoft.com/office/drawing/2014/main" id="{2096509E-4CE5-4A83-AB2C-92F053D8C08E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Полилиния: фигура 502">
                  <a:extLst>
                    <a:ext uri="{FF2B5EF4-FFF2-40B4-BE49-F238E27FC236}">
                      <a16:creationId xmlns:a16="http://schemas.microsoft.com/office/drawing/2014/main" id="{E112F103-13F7-4239-81E0-09DCEE241749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45" name="Rectangle 157">
            <a:extLst>
              <a:ext uri="{FF2B5EF4-FFF2-40B4-BE49-F238E27FC236}">
                <a16:creationId xmlns:a16="http://schemas.microsoft.com/office/drawing/2014/main" id="{D4C58E8A-FF41-4DBF-8447-B891AEF1883A}"/>
              </a:ext>
            </a:extLst>
          </p:cNvPr>
          <p:cNvSpPr/>
          <p:nvPr/>
        </p:nvSpPr>
        <p:spPr>
          <a:xfrm>
            <a:off x="3635238" y="1262167"/>
            <a:ext cx="2383069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Проекты предполагают множественные интеграций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как с внутренними и внешними системами, так и между собой</a:t>
            </a:r>
          </a:p>
        </p:txBody>
      </p:sp>
      <p:grpSp>
        <p:nvGrpSpPr>
          <p:cNvPr id="46" name="Группа 102">
            <a:extLst>
              <a:ext uri="{FF2B5EF4-FFF2-40B4-BE49-F238E27FC236}">
                <a16:creationId xmlns:a16="http://schemas.microsoft.com/office/drawing/2014/main" id="{525525A0-B739-408C-8917-9556503F0D9F}"/>
              </a:ext>
            </a:extLst>
          </p:cNvPr>
          <p:cNvGrpSpPr>
            <a:grpSpLocks noChangeAspect="1"/>
          </p:cNvGrpSpPr>
          <p:nvPr/>
        </p:nvGrpSpPr>
        <p:grpSpPr>
          <a:xfrm>
            <a:off x="3440738" y="1343272"/>
            <a:ext cx="139209" cy="162814"/>
            <a:chOff x="1571161" y="904822"/>
            <a:chExt cx="749659" cy="876775"/>
          </a:xfrm>
        </p:grpSpPr>
        <p:sp>
          <p:nvSpPr>
            <p:cNvPr id="47" name="Полилиния: фигура 504">
              <a:extLst>
                <a:ext uri="{FF2B5EF4-FFF2-40B4-BE49-F238E27FC236}">
                  <a16:creationId xmlns:a16="http://schemas.microsoft.com/office/drawing/2014/main" id="{E659738E-AAB8-444C-ABB0-EAAE83512D9D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8" name="Рисунок 481">
              <a:extLst>
                <a:ext uri="{FF2B5EF4-FFF2-40B4-BE49-F238E27FC236}">
                  <a16:creationId xmlns:a16="http://schemas.microsoft.com/office/drawing/2014/main" id="{65711006-168A-4AB3-8263-3D6DB8874BDE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FFFFFF"/>
            </a:solidFill>
          </p:grpSpPr>
          <p:sp>
            <p:nvSpPr>
              <p:cNvPr id="49" name="Полилиния: фигура 506">
                <a:extLst>
                  <a:ext uri="{FF2B5EF4-FFF2-40B4-BE49-F238E27FC236}">
                    <a16:creationId xmlns:a16="http://schemas.microsoft.com/office/drawing/2014/main" id="{BB8EE9FD-66DF-4B00-9541-15A804B347C8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507">
                <a:extLst>
                  <a:ext uri="{FF2B5EF4-FFF2-40B4-BE49-F238E27FC236}">
                    <a16:creationId xmlns:a16="http://schemas.microsoft.com/office/drawing/2014/main" id="{CC9ED035-B9D9-46EF-AB0C-E5C248FE3C49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Group 258">
            <a:extLst>
              <a:ext uri="{FF2B5EF4-FFF2-40B4-BE49-F238E27FC236}">
                <a16:creationId xmlns:a16="http://schemas.microsoft.com/office/drawing/2014/main" id="{2D68D591-6976-4FC2-9471-CC3F2CF61C23}"/>
              </a:ext>
            </a:extLst>
          </p:cNvPr>
          <p:cNvGrpSpPr/>
          <p:nvPr/>
        </p:nvGrpSpPr>
        <p:grpSpPr>
          <a:xfrm>
            <a:off x="6184032" y="1262167"/>
            <a:ext cx="2512905" cy="743858"/>
            <a:chOff x="4876168" y="1331617"/>
            <a:chExt cx="2512905" cy="743858"/>
          </a:xfrm>
        </p:grpSpPr>
        <p:sp>
          <p:nvSpPr>
            <p:cNvPr id="52" name="Rectangle 159">
              <a:extLst>
                <a:ext uri="{FF2B5EF4-FFF2-40B4-BE49-F238E27FC236}">
                  <a16:creationId xmlns:a16="http://schemas.microsoft.com/office/drawing/2014/main" id="{EFA9535D-FF3E-45BD-8AE0-E5EEEC3C7CD2}"/>
                </a:ext>
              </a:extLst>
            </p:cNvPr>
            <p:cNvSpPr/>
            <p:nvPr/>
          </p:nvSpPr>
          <p:spPr>
            <a:xfrm>
              <a:off x="5054548" y="1331617"/>
              <a:ext cx="2334525" cy="743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D70EF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Разрабатываемые системы имеют комплексную логику и требуют глубокой экспертизы в предметной области</a:t>
              </a:r>
            </a:p>
          </p:txBody>
        </p:sp>
        <p:grpSp>
          <p:nvGrpSpPr>
            <p:cNvPr id="53" name="Группа 103">
              <a:extLst>
                <a:ext uri="{FF2B5EF4-FFF2-40B4-BE49-F238E27FC236}">
                  <a16:creationId xmlns:a16="http://schemas.microsoft.com/office/drawing/2014/main" id="{5D344CF7-C155-4F81-9E09-540E8F3DA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54" name="Полилиния: фигура 509">
                <a:extLst>
                  <a:ext uri="{FF2B5EF4-FFF2-40B4-BE49-F238E27FC236}">
                    <a16:creationId xmlns:a16="http://schemas.microsoft.com/office/drawing/2014/main" id="{D0A9A533-FAD1-4552-B0F3-1109E12FD454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10">
                <a:extLst>
                  <a:ext uri="{FF2B5EF4-FFF2-40B4-BE49-F238E27FC236}">
                    <a16:creationId xmlns:a16="http://schemas.microsoft.com/office/drawing/2014/main" id="{BC4BE9BC-E3A7-44A3-BDA7-A4DD6032D64D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FFFFFF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Rectangle 160">
            <a:extLst>
              <a:ext uri="{FF2B5EF4-FFF2-40B4-BE49-F238E27FC236}">
                <a16:creationId xmlns:a16="http://schemas.microsoft.com/office/drawing/2014/main" id="{9871FEE8-222C-49C8-8038-04196E21F2FC}"/>
              </a:ext>
            </a:extLst>
          </p:cNvPr>
          <p:cNvSpPr/>
          <p:nvPr/>
        </p:nvSpPr>
        <p:spPr>
          <a:xfrm>
            <a:off x="9232455" y="1273072"/>
            <a:ext cx="1974338" cy="410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Над проектами работает распределенная команда</a:t>
            </a:r>
          </a:p>
        </p:txBody>
      </p:sp>
      <p:grpSp>
        <p:nvGrpSpPr>
          <p:cNvPr id="57" name="Группа 104">
            <a:extLst>
              <a:ext uri="{FF2B5EF4-FFF2-40B4-BE49-F238E27FC236}">
                <a16:creationId xmlns:a16="http://schemas.microsoft.com/office/drawing/2014/main" id="{96492C9C-E026-4AF2-85BE-61B867365E59}"/>
              </a:ext>
            </a:extLst>
          </p:cNvPr>
          <p:cNvGrpSpPr>
            <a:grpSpLocks noChangeAspect="1"/>
          </p:cNvGrpSpPr>
          <p:nvPr/>
        </p:nvGrpSpPr>
        <p:grpSpPr>
          <a:xfrm>
            <a:off x="9047558" y="1357942"/>
            <a:ext cx="154417" cy="165132"/>
            <a:chOff x="3862546" y="921118"/>
            <a:chExt cx="798550" cy="853959"/>
          </a:xfrm>
        </p:grpSpPr>
        <p:sp>
          <p:nvSpPr>
            <p:cNvPr id="58" name="Полилиния: фигура 76">
              <a:extLst>
                <a:ext uri="{FF2B5EF4-FFF2-40B4-BE49-F238E27FC236}">
                  <a16:creationId xmlns:a16="http://schemas.microsoft.com/office/drawing/2014/main" id="{CF044DD0-8CDF-4F8B-9F09-0245063DED91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59" name="Рисунок 485">
              <a:extLst>
                <a:ext uri="{FF2B5EF4-FFF2-40B4-BE49-F238E27FC236}">
                  <a16:creationId xmlns:a16="http://schemas.microsoft.com/office/drawing/2014/main" id="{3DD27A12-9D1A-4F41-8F46-3894288BBEC1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FFFFFF"/>
            </a:solidFill>
          </p:grpSpPr>
          <p:sp>
            <p:nvSpPr>
              <p:cNvPr id="60" name="Полилиния: фигура 78">
                <a:extLst>
                  <a:ext uri="{FF2B5EF4-FFF2-40B4-BE49-F238E27FC236}">
                    <a16:creationId xmlns:a16="http://schemas.microsoft.com/office/drawing/2014/main" id="{143640E5-974F-49CC-8E20-58ECC4AB6B86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79">
                <a:extLst>
                  <a:ext uri="{FF2B5EF4-FFF2-40B4-BE49-F238E27FC236}">
                    <a16:creationId xmlns:a16="http://schemas.microsoft.com/office/drawing/2014/main" id="{B27C7C42-3DAE-4F2C-B5D9-517262524513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2" name="TextBox 188">
            <a:extLst>
              <a:ext uri="{FF2B5EF4-FFF2-40B4-BE49-F238E27FC236}">
                <a16:creationId xmlns:a16="http://schemas.microsoft.com/office/drawing/2014/main" id="{DD2FF680-8864-42DE-B667-47257CB63AC4}"/>
              </a:ext>
            </a:extLst>
          </p:cNvPr>
          <p:cNvSpPr txBox="1"/>
          <p:nvPr/>
        </p:nvSpPr>
        <p:spPr>
          <a:xfrm>
            <a:off x="538376" y="2292160"/>
            <a:ext cx="50902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Что мы сделаем в рамках построения лаборатории тестирования?</a:t>
            </a:r>
          </a:p>
        </p:txBody>
      </p:sp>
      <p:grpSp>
        <p:nvGrpSpPr>
          <p:cNvPr id="63" name="Группа 400">
            <a:extLst>
              <a:ext uri="{FF2B5EF4-FFF2-40B4-BE49-F238E27FC236}">
                <a16:creationId xmlns:a16="http://schemas.microsoft.com/office/drawing/2014/main" id="{DEDF7EC1-DF67-4529-892F-B305A0F6513B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153074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64" name="Freeform 41">
              <a:extLst>
                <a:ext uri="{FF2B5EF4-FFF2-40B4-BE49-F238E27FC236}">
                  <a16:creationId xmlns:a16="http://schemas.microsoft.com/office/drawing/2014/main" id="{A8E8FB7C-C76B-440C-9F31-2239DDFD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EAD79F30-F674-4C37-AA69-18EFC2E9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6" name="Rectangle 43">
              <a:extLst>
                <a:ext uri="{FF2B5EF4-FFF2-40B4-BE49-F238E27FC236}">
                  <a16:creationId xmlns:a16="http://schemas.microsoft.com/office/drawing/2014/main" id="{3D00C755-E15B-4FFE-826A-B975E4A6C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7" name="Группа 400">
            <a:extLst>
              <a:ext uri="{FF2B5EF4-FFF2-40B4-BE49-F238E27FC236}">
                <a16:creationId xmlns:a16="http://schemas.microsoft.com/office/drawing/2014/main" id="{1D5782FB-645C-494A-A3F6-01B237B2CCA7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943666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68" name="Freeform 41">
              <a:extLst>
                <a:ext uri="{FF2B5EF4-FFF2-40B4-BE49-F238E27FC236}">
                  <a16:creationId xmlns:a16="http://schemas.microsoft.com/office/drawing/2014/main" id="{D38CD580-CCCC-40EF-973B-F61506BD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9" name="Rectangle 42">
              <a:extLst>
                <a:ext uri="{FF2B5EF4-FFF2-40B4-BE49-F238E27FC236}">
                  <a16:creationId xmlns:a16="http://schemas.microsoft.com/office/drawing/2014/main" id="{45424202-6D32-4087-87CD-C5ECB9D8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0" name="Rectangle 43">
              <a:extLst>
                <a:ext uri="{FF2B5EF4-FFF2-40B4-BE49-F238E27FC236}">
                  <a16:creationId xmlns:a16="http://schemas.microsoft.com/office/drawing/2014/main" id="{F9721D5C-575D-4AE0-9E62-19A61E31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71" name="Группа 400">
            <a:extLst>
              <a:ext uri="{FF2B5EF4-FFF2-40B4-BE49-F238E27FC236}">
                <a16:creationId xmlns:a16="http://schemas.microsoft.com/office/drawing/2014/main" id="{26161A4F-A28B-4B2D-8DA7-BD954BFEB303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4801225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72" name="Freeform 41">
              <a:extLst>
                <a:ext uri="{FF2B5EF4-FFF2-40B4-BE49-F238E27FC236}">
                  <a16:creationId xmlns:a16="http://schemas.microsoft.com/office/drawing/2014/main" id="{EFD73131-61CF-4E5A-AFD8-7AB3F3F6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3" name="Rectangle 42">
              <a:extLst>
                <a:ext uri="{FF2B5EF4-FFF2-40B4-BE49-F238E27FC236}">
                  <a16:creationId xmlns:a16="http://schemas.microsoft.com/office/drawing/2014/main" id="{8A86F624-4D03-42F5-8F4D-ABC48281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4" name="Rectangle 43">
              <a:extLst>
                <a:ext uri="{FF2B5EF4-FFF2-40B4-BE49-F238E27FC236}">
                  <a16:creationId xmlns:a16="http://schemas.microsoft.com/office/drawing/2014/main" id="{5D9D81CB-5D98-4836-96FE-7CC62773E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75" name="Группа 400">
            <a:extLst>
              <a:ext uri="{FF2B5EF4-FFF2-40B4-BE49-F238E27FC236}">
                <a16:creationId xmlns:a16="http://schemas.microsoft.com/office/drawing/2014/main" id="{70A61F8C-0110-48FE-888E-E313D86F5D0A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5531446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76" name="Freeform 41">
              <a:extLst>
                <a:ext uri="{FF2B5EF4-FFF2-40B4-BE49-F238E27FC236}">
                  <a16:creationId xmlns:a16="http://schemas.microsoft.com/office/drawing/2014/main" id="{865E91A8-1F1B-4857-BF65-F6E80A3D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7" name="Rectangle 42">
              <a:extLst>
                <a:ext uri="{FF2B5EF4-FFF2-40B4-BE49-F238E27FC236}">
                  <a16:creationId xmlns:a16="http://schemas.microsoft.com/office/drawing/2014/main" id="{9D3E0D91-6209-4105-8F2C-AC159401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8" name="Rectangle 43">
              <a:extLst>
                <a:ext uri="{FF2B5EF4-FFF2-40B4-BE49-F238E27FC236}">
                  <a16:creationId xmlns:a16="http://schemas.microsoft.com/office/drawing/2014/main" id="{142299F7-9827-47B9-A690-95EB68C3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79" name="Группа 332">
            <a:extLst>
              <a:ext uri="{FF2B5EF4-FFF2-40B4-BE49-F238E27FC236}">
                <a16:creationId xmlns:a16="http://schemas.microsoft.com/office/drawing/2014/main" id="{08C332AC-B7D3-4CFC-A9E4-F85F031210E2}"/>
              </a:ext>
            </a:extLst>
          </p:cNvPr>
          <p:cNvGrpSpPr>
            <a:grpSpLocks noChangeAspect="1"/>
          </p:cNvGrpSpPr>
          <p:nvPr/>
        </p:nvGrpSpPr>
        <p:grpSpPr>
          <a:xfrm>
            <a:off x="4033761" y="4149513"/>
            <a:ext cx="388883" cy="268492"/>
            <a:chOff x="5537101" y="827894"/>
            <a:chExt cx="1292224" cy="892175"/>
          </a:xfrm>
          <a:solidFill>
            <a:srgbClr val="000000"/>
          </a:solidFill>
        </p:grpSpPr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1F101F17-2C3B-4CA8-8300-EB869D849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24684175-89BD-4AE3-BD57-AF3391365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4A661A10-B2A3-4A2F-8714-01DBCDABA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3" name="Rectangle 12">
              <a:extLst>
                <a:ext uri="{FF2B5EF4-FFF2-40B4-BE49-F238E27FC236}">
                  <a16:creationId xmlns:a16="http://schemas.microsoft.com/office/drawing/2014/main" id="{C7A98532-3D9C-4056-9068-62EAD4880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B6C6009A-80F8-43F7-BECA-1B7245BB6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5" name="Freeform 14">
              <a:extLst>
                <a:ext uri="{FF2B5EF4-FFF2-40B4-BE49-F238E27FC236}">
                  <a16:creationId xmlns:a16="http://schemas.microsoft.com/office/drawing/2014/main" id="{7D7127E5-1E07-407D-9948-E11AF450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86" name="Группа 270">
            <a:extLst>
              <a:ext uri="{FF2B5EF4-FFF2-40B4-BE49-F238E27FC236}">
                <a16:creationId xmlns:a16="http://schemas.microsoft.com/office/drawing/2014/main" id="{7BA342FF-4665-4F44-BF71-B8D2611A8B94}"/>
              </a:ext>
            </a:extLst>
          </p:cNvPr>
          <p:cNvGrpSpPr>
            <a:grpSpLocks noChangeAspect="1"/>
          </p:cNvGrpSpPr>
          <p:nvPr/>
        </p:nvGrpSpPr>
        <p:grpSpPr>
          <a:xfrm>
            <a:off x="7790743" y="5432196"/>
            <a:ext cx="345014" cy="402612"/>
            <a:chOff x="8867776" y="2044700"/>
            <a:chExt cx="950912" cy="1109662"/>
          </a:xfrm>
          <a:solidFill>
            <a:srgbClr val="000000"/>
          </a:solidFill>
        </p:grpSpPr>
        <p:sp>
          <p:nvSpPr>
            <p:cNvPr id="87" name="Freeform 29">
              <a:extLst>
                <a:ext uri="{FF2B5EF4-FFF2-40B4-BE49-F238E27FC236}">
                  <a16:creationId xmlns:a16="http://schemas.microsoft.com/office/drawing/2014/main" id="{57058106-9286-49E6-9FC9-8C06CC272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9576" y="2044700"/>
              <a:ext cx="165100" cy="166687"/>
            </a:xfrm>
            <a:custGeom>
              <a:avLst/>
              <a:gdLst>
                <a:gd name="T0" fmla="*/ 11 w 23"/>
                <a:gd name="T1" fmla="*/ 23 h 23"/>
                <a:gd name="T2" fmla="*/ 9 w 23"/>
                <a:gd name="T3" fmla="*/ 22 h 23"/>
                <a:gd name="T4" fmla="*/ 2 w 23"/>
                <a:gd name="T5" fmla="*/ 18 h 23"/>
                <a:gd name="T6" fmla="*/ 0 w 23"/>
                <a:gd name="T7" fmla="*/ 9 h 23"/>
                <a:gd name="T8" fmla="*/ 5 w 23"/>
                <a:gd name="T9" fmla="*/ 2 h 23"/>
                <a:gd name="T10" fmla="*/ 14 w 23"/>
                <a:gd name="T11" fmla="*/ 0 h 23"/>
                <a:gd name="T12" fmla="*/ 21 w 23"/>
                <a:gd name="T13" fmla="*/ 5 h 23"/>
                <a:gd name="T14" fmla="*/ 22 w 23"/>
                <a:gd name="T15" fmla="*/ 14 h 23"/>
                <a:gd name="T16" fmla="*/ 22 w 23"/>
                <a:gd name="T17" fmla="*/ 14 h 23"/>
                <a:gd name="T18" fmla="*/ 17 w 23"/>
                <a:gd name="T19" fmla="*/ 21 h 23"/>
                <a:gd name="T20" fmla="*/ 11 w 23"/>
                <a:gd name="T21" fmla="*/ 23 h 23"/>
                <a:gd name="T22" fmla="*/ 11 w 23"/>
                <a:gd name="T23" fmla="*/ 4 h 23"/>
                <a:gd name="T24" fmla="*/ 4 w 23"/>
                <a:gd name="T25" fmla="*/ 10 h 23"/>
                <a:gd name="T26" fmla="*/ 5 w 23"/>
                <a:gd name="T27" fmla="*/ 15 h 23"/>
                <a:gd name="T28" fmla="*/ 10 w 23"/>
                <a:gd name="T29" fmla="*/ 19 h 23"/>
                <a:gd name="T30" fmla="*/ 15 w 23"/>
                <a:gd name="T31" fmla="*/ 18 h 23"/>
                <a:gd name="T32" fmla="*/ 18 w 23"/>
                <a:gd name="T33" fmla="*/ 13 h 23"/>
                <a:gd name="T34" fmla="*/ 18 w 23"/>
                <a:gd name="T35" fmla="*/ 13 h 23"/>
                <a:gd name="T36" fmla="*/ 17 w 23"/>
                <a:gd name="T37" fmla="*/ 7 h 23"/>
                <a:gd name="T38" fmla="*/ 13 w 23"/>
                <a:gd name="T39" fmla="*/ 4 h 23"/>
                <a:gd name="T40" fmla="*/ 11 w 23"/>
                <a:gd name="T41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3">
                  <a:moveTo>
                    <a:pt x="11" y="23"/>
                  </a:moveTo>
                  <a:cubicBezTo>
                    <a:pt x="11" y="23"/>
                    <a:pt x="10" y="23"/>
                    <a:pt x="9" y="22"/>
                  </a:cubicBezTo>
                  <a:cubicBezTo>
                    <a:pt x="6" y="22"/>
                    <a:pt x="4" y="20"/>
                    <a:pt x="2" y="18"/>
                  </a:cubicBezTo>
                  <a:cubicBezTo>
                    <a:pt x="0" y="15"/>
                    <a:pt x="0" y="12"/>
                    <a:pt x="0" y="9"/>
                  </a:cubicBezTo>
                  <a:cubicBezTo>
                    <a:pt x="1" y="6"/>
                    <a:pt x="3" y="4"/>
                    <a:pt x="5" y="2"/>
                  </a:cubicBezTo>
                  <a:cubicBezTo>
                    <a:pt x="8" y="0"/>
                    <a:pt x="11" y="0"/>
                    <a:pt x="14" y="0"/>
                  </a:cubicBezTo>
                  <a:cubicBezTo>
                    <a:pt x="17" y="1"/>
                    <a:pt x="19" y="3"/>
                    <a:pt x="21" y="5"/>
                  </a:cubicBezTo>
                  <a:cubicBezTo>
                    <a:pt x="22" y="8"/>
                    <a:pt x="23" y="11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7"/>
                    <a:pt x="20" y="19"/>
                    <a:pt x="17" y="21"/>
                  </a:cubicBezTo>
                  <a:cubicBezTo>
                    <a:pt x="16" y="22"/>
                    <a:pt x="14" y="23"/>
                    <a:pt x="11" y="23"/>
                  </a:cubicBezTo>
                  <a:close/>
                  <a:moveTo>
                    <a:pt x="11" y="4"/>
                  </a:moveTo>
                  <a:cubicBezTo>
                    <a:pt x="8" y="4"/>
                    <a:pt x="5" y="6"/>
                    <a:pt x="4" y="10"/>
                  </a:cubicBezTo>
                  <a:cubicBezTo>
                    <a:pt x="4" y="12"/>
                    <a:pt x="4" y="14"/>
                    <a:pt x="5" y="15"/>
                  </a:cubicBezTo>
                  <a:cubicBezTo>
                    <a:pt x="6" y="17"/>
                    <a:pt x="8" y="18"/>
                    <a:pt x="10" y="19"/>
                  </a:cubicBezTo>
                  <a:cubicBezTo>
                    <a:pt x="12" y="19"/>
                    <a:pt x="14" y="19"/>
                    <a:pt x="15" y="18"/>
                  </a:cubicBezTo>
                  <a:cubicBezTo>
                    <a:pt x="17" y="16"/>
                    <a:pt x="18" y="15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1"/>
                    <a:pt x="19" y="9"/>
                    <a:pt x="17" y="7"/>
                  </a:cubicBezTo>
                  <a:cubicBezTo>
                    <a:pt x="16" y="6"/>
                    <a:pt x="15" y="5"/>
                    <a:pt x="13" y="4"/>
                  </a:cubicBezTo>
                  <a:cubicBezTo>
                    <a:pt x="12" y="4"/>
                    <a:pt x="12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" name="Freeform 30">
              <a:extLst>
                <a:ext uri="{FF2B5EF4-FFF2-40B4-BE49-F238E27FC236}">
                  <a16:creationId xmlns:a16="http://schemas.microsoft.com/office/drawing/2014/main" id="{7615254F-A9D9-40B7-BC7D-382E31CD4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4301" y="2203450"/>
              <a:ext cx="633412" cy="231775"/>
            </a:xfrm>
            <a:custGeom>
              <a:avLst/>
              <a:gdLst>
                <a:gd name="T0" fmla="*/ 4 w 88"/>
                <a:gd name="T1" fmla="*/ 32 h 32"/>
                <a:gd name="T2" fmla="*/ 0 w 88"/>
                <a:gd name="T3" fmla="*/ 31 h 32"/>
                <a:gd name="T4" fmla="*/ 9 w 88"/>
                <a:gd name="T5" fmla="*/ 13 h 32"/>
                <a:gd name="T6" fmla="*/ 33 w 88"/>
                <a:gd name="T7" fmla="*/ 1 h 32"/>
                <a:gd name="T8" fmla="*/ 61 w 88"/>
                <a:gd name="T9" fmla="*/ 9 h 32"/>
                <a:gd name="T10" fmla="*/ 68 w 88"/>
                <a:gd name="T11" fmla="*/ 24 h 32"/>
                <a:gd name="T12" fmla="*/ 88 w 88"/>
                <a:gd name="T13" fmla="*/ 21 h 32"/>
                <a:gd name="T14" fmla="*/ 88 w 88"/>
                <a:gd name="T15" fmla="*/ 25 h 32"/>
                <a:gd name="T16" fmla="*/ 67 w 88"/>
                <a:gd name="T17" fmla="*/ 28 h 32"/>
                <a:gd name="T18" fmla="*/ 65 w 88"/>
                <a:gd name="T19" fmla="*/ 26 h 32"/>
                <a:gd name="T20" fmla="*/ 58 w 88"/>
                <a:gd name="T21" fmla="*/ 12 h 32"/>
                <a:gd name="T22" fmla="*/ 33 w 88"/>
                <a:gd name="T23" fmla="*/ 5 h 32"/>
                <a:gd name="T24" fmla="*/ 12 w 88"/>
                <a:gd name="T25" fmla="*/ 16 h 32"/>
                <a:gd name="T26" fmla="*/ 4 w 88"/>
                <a:gd name="T2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32">
                  <a:moveTo>
                    <a:pt x="4" y="32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2" y="24"/>
                    <a:pt x="6" y="17"/>
                    <a:pt x="9" y="13"/>
                  </a:cubicBezTo>
                  <a:cubicBezTo>
                    <a:pt x="15" y="5"/>
                    <a:pt x="23" y="1"/>
                    <a:pt x="33" y="1"/>
                  </a:cubicBezTo>
                  <a:cubicBezTo>
                    <a:pt x="38" y="0"/>
                    <a:pt x="57" y="5"/>
                    <a:pt x="61" y="9"/>
                  </a:cubicBezTo>
                  <a:cubicBezTo>
                    <a:pt x="65" y="12"/>
                    <a:pt x="68" y="20"/>
                    <a:pt x="68" y="24"/>
                  </a:cubicBezTo>
                  <a:cubicBezTo>
                    <a:pt x="73" y="23"/>
                    <a:pt x="85" y="22"/>
                    <a:pt x="88" y="21"/>
                  </a:cubicBezTo>
                  <a:cubicBezTo>
                    <a:pt x="88" y="25"/>
                    <a:pt x="88" y="25"/>
                    <a:pt x="88" y="25"/>
                  </a:cubicBezTo>
                  <a:cubicBezTo>
                    <a:pt x="85" y="26"/>
                    <a:pt x="68" y="28"/>
                    <a:pt x="67" y="28"/>
                  </a:cubicBezTo>
                  <a:cubicBezTo>
                    <a:pt x="66" y="28"/>
                    <a:pt x="65" y="27"/>
                    <a:pt x="65" y="26"/>
                  </a:cubicBezTo>
                  <a:cubicBezTo>
                    <a:pt x="65" y="26"/>
                    <a:pt x="63" y="16"/>
                    <a:pt x="58" y="12"/>
                  </a:cubicBezTo>
                  <a:cubicBezTo>
                    <a:pt x="55" y="9"/>
                    <a:pt x="38" y="5"/>
                    <a:pt x="33" y="5"/>
                  </a:cubicBezTo>
                  <a:cubicBezTo>
                    <a:pt x="25" y="5"/>
                    <a:pt x="18" y="9"/>
                    <a:pt x="12" y="16"/>
                  </a:cubicBezTo>
                  <a:cubicBezTo>
                    <a:pt x="10" y="19"/>
                    <a:pt x="6" y="26"/>
                    <a:pt x="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" name="Freeform 31">
              <a:extLst>
                <a:ext uri="{FF2B5EF4-FFF2-40B4-BE49-F238E27FC236}">
                  <a16:creationId xmlns:a16="http://schemas.microsoft.com/office/drawing/2014/main" id="{65DE9AAA-A225-48A2-83E7-2B7A6085E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3051" y="2341562"/>
              <a:ext cx="252412" cy="457200"/>
            </a:xfrm>
            <a:custGeom>
              <a:avLst/>
              <a:gdLst>
                <a:gd name="T0" fmla="*/ 31 w 35"/>
                <a:gd name="T1" fmla="*/ 63 h 63"/>
                <a:gd name="T2" fmla="*/ 29 w 35"/>
                <a:gd name="T3" fmla="*/ 49 h 63"/>
                <a:gd name="T4" fmla="*/ 28 w 35"/>
                <a:gd name="T5" fmla="*/ 42 h 63"/>
                <a:gd name="T6" fmla="*/ 22 w 35"/>
                <a:gd name="T7" fmla="*/ 40 h 63"/>
                <a:gd name="T8" fmla="*/ 11 w 35"/>
                <a:gd name="T9" fmla="*/ 38 h 63"/>
                <a:gd name="T10" fmla="*/ 4 w 35"/>
                <a:gd name="T11" fmla="*/ 34 h 63"/>
                <a:gd name="T12" fmla="*/ 1 w 35"/>
                <a:gd name="T13" fmla="*/ 26 h 63"/>
                <a:gd name="T14" fmla="*/ 4 w 35"/>
                <a:gd name="T15" fmla="*/ 0 h 63"/>
                <a:gd name="T16" fmla="*/ 8 w 35"/>
                <a:gd name="T17" fmla="*/ 0 h 63"/>
                <a:gd name="T18" fmla="*/ 5 w 35"/>
                <a:gd name="T19" fmla="*/ 26 h 63"/>
                <a:gd name="T20" fmla="*/ 6 w 35"/>
                <a:gd name="T21" fmla="*/ 31 h 63"/>
                <a:gd name="T22" fmla="*/ 12 w 35"/>
                <a:gd name="T23" fmla="*/ 34 h 63"/>
                <a:gd name="T24" fmla="*/ 23 w 35"/>
                <a:gd name="T25" fmla="*/ 36 h 63"/>
                <a:gd name="T26" fmla="*/ 31 w 35"/>
                <a:gd name="T27" fmla="*/ 38 h 63"/>
                <a:gd name="T28" fmla="*/ 32 w 35"/>
                <a:gd name="T29" fmla="*/ 40 h 63"/>
                <a:gd name="T30" fmla="*/ 33 w 35"/>
                <a:gd name="T31" fmla="*/ 49 h 63"/>
                <a:gd name="T32" fmla="*/ 35 w 35"/>
                <a:gd name="T33" fmla="*/ 63 h 63"/>
                <a:gd name="T34" fmla="*/ 31 w 35"/>
                <a:gd name="T3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63">
                  <a:moveTo>
                    <a:pt x="31" y="63"/>
                  </a:moveTo>
                  <a:cubicBezTo>
                    <a:pt x="31" y="59"/>
                    <a:pt x="30" y="54"/>
                    <a:pt x="29" y="49"/>
                  </a:cubicBezTo>
                  <a:cubicBezTo>
                    <a:pt x="29" y="47"/>
                    <a:pt x="29" y="44"/>
                    <a:pt x="28" y="42"/>
                  </a:cubicBezTo>
                  <a:cubicBezTo>
                    <a:pt x="26" y="41"/>
                    <a:pt x="24" y="41"/>
                    <a:pt x="22" y="40"/>
                  </a:cubicBezTo>
                  <a:cubicBezTo>
                    <a:pt x="18" y="39"/>
                    <a:pt x="13" y="38"/>
                    <a:pt x="11" y="38"/>
                  </a:cubicBezTo>
                  <a:cubicBezTo>
                    <a:pt x="8" y="37"/>
                    <a:pt x="5" y="36"/>
                    <a:pt x="4" y="34"/>
                  </a:cubicBezTo>
                  <a:cubicBezTo>
                    <a:pt x="2" y="33"/>
                    <a:pt x="0" y="29"/>
                    <a:pt x="1" y="2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9"/>
                    <a:pt x="6" y="31"/>
                    <a:pt x="6" y="31"/>
                  </a:cubicBezTo>
                  <a:cubicBezTo>
                    <a:pt x="7" y="32"/>
                    <a:pt x="9" y="33"/>
                    <a:pt x="12" y="34"/>
                  </a:cubicBezTo>
                  <a:cubicBezTo>
                    <a:pt x="14" y="35"/>
                    <a:pt x="19" y="36"/>
                    <a:pt x="23" y="36"/>
                  </a:cubicBezTo>
                  <a:cubicBezTo>
                    <a:pt x="26" y="37"/>
                    <a:pt x="28" y="38"/>
                    <a:pt x="31" y="38"/>
                  </a:cubicBezTo>
                  <a:cubicBezTo>
                    <a:pt x="31" y="38"/>
                    <a:pt x="32" y="39"/>
                    <a:pt x="32" y="40"/>
                  </a:cubicBezTo>
                  <a:cubicBezTo>
                    <a:pt x="32" y="43"/>
                    <a:pt x="33" y="46"/>
                    <a:pt x="33" y="49"/>
                  </a:cubicBezTo>
                  <a:cubicBezTo>
                    <a:pt x="34" y="54"/>
                    <a:pt x="35" y="58"/>
                    <a:pt x="35" y="63"/>
                  </a:cubicBezTo>
                  <a:lnTo>
                    <a:pt x="31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" name="Freeform 32">
              <a:extLst>
                <a:ext uri="{FF2B5EF4-FFF2-40B4-BE49-F238E27FC236}">
                  <a16:creationId xmlns:a16="http://schemas.microsoft.com/office/drawing/2014/main" id="{2F5EAF4C-82E0-46D7-B6A7-0BEBCCD13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4663" y="2378075"/>
              <a:ext cx="57150" cy="130175"/>
            </a:xfrm>
            <a:custGeom>
              <a:avLst/>
              <a:gdLst>
                <a:gd name="T0" fmla="*/ 18 w 36"/>
                <a:gd name="T1" fmla="*/ 82 h 82"/>
                <a:gd name="T2" fmla="*/ 0 w 36"/>
                <a:gd name="T3" fmla="*/ 77 h 82"/>
                <a:gd name="T4" fmla="*/ 18 w 36"/>
                <a:gd name="T5" fmla="*/ 0 h 82"/>
                <a:gd name="T6" fmla="*/ 36 w 36"/>
                <a:gd name="T7" fmla="*/ 0 h 82"/>
                <a:gd name="T8" fmla="*/ 18 w 36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82">
                  <a:moveTo>
                    <a:pt x="18" y="82"/>
                  </a:moveTo>
                  <a:lnTo>
                    <a:pt x="0" y="77"/>
                  </a:lnTo>
                  <a:lnTo>
                    <a:pt x="18" y="0"/>
                  </a:lnTo>
                  <a:lnTo>
                    <a:pt x="36" y="0"/>
                  </a:lnTo>
                  <a:lnTo>
                    <a:pt x="18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" name="Freeform 33">
              <a:extLst>
                <a:ext uri="{FF2B5EF4-FFF2-40B4-BE49-F238E27FC236}">
                  <a16:creationId xmlns:a16="http://schemas.microsoft.com/office/drawing/2014/main" id="{3A347E28-D81A-41F8-89A1-DD917E7F4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9576" y="2493962"/>
              <a:ext cx="252412" cy="311150"/>
            </a:xfrm>
            <a:custGeom>
              <a:avLst/>
              <a:gdLst>
                <a:gd name="T0" fmla="*/ 35 w 35"/>
                <a:gd name="T1" fmla="*/ 43 h 43"/>
                <a:gd name="T2" fmla="*/ 31 w 35"/>
                <a:gd name="T3" fmla="*/ 42 h 43"/>
                <a:gd name="T4" fmla="*/ 30 w 35"/>
                <a:gd name="T5" fmla="*/ 41 h 43"/>
                <a:gd name="T6" fmla="*/ 24 w 35"/>
                <a:gd name="T7" fmla="*/ 39 h 43"/>
                <a:gd name="T8" fmla="*/ 23 w 35"/>
                <a:gd name="T9" fmla="*/ 39 h 43"/>
                <a:gd name="T10" fmla="*/ 22 w 35"/>
                <a:gd name="T11" fmla="*/ 37 h 43"/>
                <a:gd name="T12" fmla="*/ 21 w 35"/>
                <a:gd name="T13" fmla="*/ 31 h 43"/>
                <a:gd name="T14" fmla="*/ 20 w 35"/>
                <a:gd name="T15" fmla="*/ 18 h 43"/>
                <a:gd name="T16" fmla="*/ 15 w 35"/>
                <a:gd name="T17" fmla="*/ 9 h 43"/>
                <a:gd name="T18" fmla="*/ 0 w 35"/>
                <a:gd name="T19" fmla="*/ 4 h 43"/>
                <a:gd name="T20" fmla="*/ 1 w 35"/>
                <a:gd name="T21" fmla="*/ 0 h 43"/>
                <a:gd name="T22" fmla="*/ 16 w 35"/>
                <a:gd name="T23" fmla="*/ 5 h 43"/>
                <a:gd name="T24" fmla="*/ 24 w 35"/>
                <a:gd name="T25" fmla="*/ 18 h 43"/>
                <a:gd name="T26" fmla="*/ 25 w 35"/>
                <a:gd name="T27" fmla="*/ 31 h 43"/>
                <a:gd name="T28" fmla="*/ 26 w 35"/>
                <a:gd name="T29" fmla="*/ 35 h 43"/>
                <a:gd name="T30" fmla="*/ 32 w 35"/>
                <a:gd name="T31" fmla="*/ 37 h 43"/>
                <a:gd name="T32" fmla="*/ 35 w 35"/>
                <a:gd name="T3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43">
                  <a:moveTo>
                    <a:pt x="35" y="43"/>
                  </a:move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0" y="41"/>
                    <a:pt x="30" y="41"/>
                  </a:cubicBezTo>
                  <a:cubicBezTo>
                    <a:pt x="28" y="39"/>
                    <a:pt x="25" y="39"/>
                    <a:pt x="24" y="39"/>
                  </a:cubicBezTo>
                  <a:cubicBezTo>
                    <a:pt x="24" y="39"/>
                    <a:pt x="23" y="39"/>
                    <a:pt x="23" y="39"/>
                  </a:cubicBezTo>
                  <a:cubicBezTo>
                    <a:pt x="22" y="38"/>
                    <a:pt x="22" y="38"/>
                    <a:pt x="22" y="37"/>
                  </a:cubicBezTo>
                  <a:cubicBezTo>
                    <a:pt x="22" y="35"/>
                    <a:pt x="22" y="33"/>
                    <a:pt x="21" y="31"/>
                  </a:cubicBezTo>
                  <a:cubicBezTo>
                    <a:pt x="21" y="28"/>
                    <a:pt x="21" y="24"/>
                    <a:pt x="20" y="18"/>
                  </a:cubicBezTo>
                  <a:cubicBezTo>
                    <a:pt x="19" y="13"/>
                    <a:pt x="18" y="10"/>
                    <a:pt x="15" y="9"/>
                  </a:cubicBezTo>
                  <a:cubicBezTo>
                    <a:pt x="9" y="7"/>
                    <a:pt x="0" y="4"/>
                    <a:pt x="0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1" y="3"/>
                    <a:pt x="16" y="5"/>
                  </a:cubicBezTo>
                  <a:cubicBezTo>
                    <a:pt x="22" y="7"/>
                    <a:pt x="23" y="12"/>
                    <a:pt x="24" y="18"/>
                  </a:cubicBezTo>
                  <a:cubicBezTo>
                    <a:pt x="25" y="23"/>
                    <a:pt x="25" y="27"/>
                    <a:pt x="25" y="31"/>
                  </a:cubicBezTo>
                  <a:cubicBezTo>
                    <a:pt x="25" y="32"/>
                    <a:pt x="26" y="34"/>
                    <a:pt x="26" y="35"/>
                  </a:cubicBezTo>
                  <a:cubicBezTo>
                    <a:pt x="28" y="35"/>
                    <a:pt x="30" y="36"/>
                    <a:pt x="32" y="37"/>
                  </a:cubicBezTo>
                  <a:cubicBezTo>
                    <a:pt x="34" y="39"/>
                    <a:pt x="35" y="40"/>
                    <a:pt x="35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" name="Freeform 34">
              <a:extLst>
                <a:ext uri="{FF2B5EF4-FFF2-40B4-BE49-F238E27FC236}">
                  <a16:creationId xmlns:a16="http://schemas.microsoft.com/office/drawing/2014/main" id="{DAD82CF1-03B8-412A-A2FD-BAB035068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6" y="2406650"/>
              <a:ext cx="236537" cy="231775"/>
            </a:xfrm>
            <a:custGeom>
              <a:avLst/>
              <a:gdLst>
                <a:gd name="T0" fmla="*/ 95 w 149"/>
                <a:gd name="T1" fmla="*/ 146 h 146"/>
                <a:gd name="T2" fmla="*/ 0 w 149"/>
                <a:gd name="T3" fmla="*/ 82 h 146"/>
                <a:gd name="T4" fmla="*/ 59 w 149"/>
                <a:gd name="T5" fmla="*/ 0 h 146"/>
                <a:gd name="T6" fmla="*/ 149 w 149"/>
                <a:gd name="T7" fmla="*/ 64 h 146"/>
                <a:gd name="T8" fmla="*/ 95 w 149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6">
                  <a:moveTo>
                    <a:pt x="95" y="146"/>
                  </a:moveTo>
                  <a:lnTo>
                    <a:pt x="0" y="82"/>
                  </a:lnTo>
                  <a:lnTo>
                    <a:pt x="59" y="0"/>
                  </a:lnTo>
                  <a:lnTo>
                    <a:pt x="149" y="64"/>
                  </a:lnTo>
                  <a:lnTo>
                    <a:pt x="95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" name="Freeform 35">
              <a:extLst>
                <a:ext uri="{FF2B5EF4-FFF2-40B4-BE49-F238E27FC236}">
                  <a16:creationId xmlns:a16="http://schemas.microsoft.com/office/drawing/2014/main" id="{B913DE62-427C-48B5-B0B8-0E2D91F43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638" y="2232025"/>
              <a:ext cx="73025" cy="196850"/>
            </a:xfrm>
            <a:custGeom>
              <a:avLst/>
              <a:gdLst>
                <a:gd name="T0" fmla="*/ 19 w 46"/>
                <a:gd name="T1" fmla="*/ 124 h 124"/>
                <a:gd name="T2" fmla="*/ 0 w 46"/>
                <a:gd name="T3" fmla="*/ 119 h 124"/>
                <a:gd name="T4" fmla="*/ 28 w 46"/>
                <a:gd name="T5" fmla="*/ 0 h 124"/>
                <a:gd name="T6" fmla="*/ 46 w 46"/>
                <a:gd name="T7" fmla="*/ 5 h 124"/>
                <a:gd name="T8" fmla="*/ 19 w 46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124">
                  <a:moveTo>
                    <a:pt x="19" y="124"/>
                  </a:moveTo>
                  <a:lnTo>
                    <a:pt x="0" y="119"/>
                  </a:lnTo>
                  <a:lnTo>
                    <a:pt x="28" y="0"/>
                  </a:lnTo>
                  <a:lnTo>
                    <a:pt x="46" y="5"/>
                  </a:lnTo>
                  <a:lnTo>
                    <a:pt x="19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" name="Freeform 36">
              <a:extLst>
                <a:ext uri="{FF2B5EF4-FFF2-40B4-BE49-F238E27FC236}">
                  <a16:creationId xmlns:a16="http://schemas.microsoft.com/office/drawing/2014/main" id="{B43CEDD7-AD0A-4783-A5DC-8F6926791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9388" y="2632075"/>
              <a:ext cx="165100" cy="173037"/>
            </a:xfrm>
            <a:custGeom>
              <a:avLst/>
              <a:gdLst>
                <a:gd name="T0" fmla="*/ 2 w 23"/>
                <a:gd name="T1" fmla="*/ 24 h 24"/>
                <a:gd name="T2" fmla="*/ 0 w 23"/>
                <a:gd name="T3" fmla="*/ 20 h 24"/>
                <a:gd name="T4" fmla="*/ 17 w 23"/>
                <a:gd name="T5" fmla="*/ 10 h 24"/>
                <a:gd name="T6" fmla="*/ 18 w 23"/>
                <a:gd name="T7" fmla="*/ 3 h 24"/>
                <a:gd name="T8" fmla="*/ 19 w 23"/>
                <a:gd name="T9" fmla="*/ 0 h 24"/>
                <a:gd name="T10" fmla="*/ 23 w 23"/>
                <a:gd name="T11" fmla="*/ 1 h 24"/>
                <a:gd name="T12" fmla="*/ 21 w 23"/>
                <a:gd name="T13" fmla="*/ 0 h 24"/>
                <a:gd name="T14" fmla="*/ 23 w 23"/>
                <a:gd name="T15" fmla="*/ 1 h 24"/>
                <a:gd name="T16" fmla="*/ 22 w 23"/>
                <a:gd name="T17" fmla="*/ 3 h 24"/>
                <a:gd name="T18" fmla="*/ 20 w 23"/>
                <a:gd name="T19" fmla="*/ 12 h 24"/>
                <a:gd name="T20" fmla="*/ 2 w 23"/>
                <a:gd name="T2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24">
                  <a:moveTo>
                    <a:pt x="2" y="24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7" y="16"/>
                    <a:pt x="16" y="11"/>
                    <a:pt x="17" y="10"/>
                  </a:cubicBezTo>
                  <a:cubicBezTo>
                    <a:pt x="17" y="9"/>
                    <a:pt x="18" y="5"/>
                    <a:pt x="18" y="3"/>
                  </a:cubicBezTo>
                  <a:cubicBezTo>
                    <a:pt x="19" y="1"/>
                    <a:pt x="19" y="0"/>
                    <a:pt x="19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2"/>
                    <a:pt x="22" y="3"/>
                  </a:cubicBezTo>
                  <a:cubicBezTo>
                    <a:pt x="22" y="7"/>
                    <a:pt x="21" y="10"/>
                    <a:pt x="20" y="12"/>
                  </a:cubicBezTo>
                  <a:cubicBezTo>
                    <a:pt x="18" y="15"/>
                    <a:pt x="6" y="22"/>
                    <a:pt x="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" name="Freeform 37">
              <a:extLst>
                <a:ext uri="{FF2B5EF4-FFF2-40B4-BE49-F238E27FC236}">
                  <a16:creationId xmlns:a16="http://schemas.microsoft.com/office/drawing/2014/main" id="{78108488-3CBF-4683-A132-A486A1BF6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5738" y="2660650"/>
              <a:ext cx="231775" cy="260350"/>
            </a:xfrm>
            <a:custGeom>
              <a:avLst/>
              <a:gdLst>
                <a:gd name="T0" fmla="*/ 9 w 32"/>
                <a:gd name="T1" fmla="*/ 36 h 36"/>
                <a:gd name="T2" fmla="*/ 8 w 32"/>
                <a:gd name="T3" fmla="*/ 36 h 36"/>
                <a:gd name="T4" fmla="*/ 0 w 32"/>
                <a:gd name="T5" fmla="*/ 23 h 36"/>
                <a:gd name="T6" fmla="*/ 3 w 32"/>
                <a:gd name="T7" fmla="*/ 21 h 36"/>
                <a:gd name="T8" fmla="*/ 10 w 32"/>
                <a:gd name="T9" fmla="*/ 32 h 36"/>
                <a:gd name="T10" fmla="*/ 11 w 32"/>
                <a:gd name="T11" fmla="*/ 30 h 36"/>
                <a:gd name="T12" fmla="*/ 10 w 32"/>
                <a:gd name="T13" fmla="*/ 24 h 36"/>
                <a:gd name="T14" fmla="*/ 11 w 32"/>
                <a:gd name="T15" fmla="*/ 21 h 36"/>
                <a:gd name="T16" fmla="*/ 17 w 32"/>
                <a:gd name="T17" fmla="*/ 17 h 36"/>
                <a:gd name="T18" fmla="*/ 25 w 32"/>
                <a:gd name="T19" fmla="*/ 12 h 36"/>
                <a:gd name="T20" fmla="*/ 28 w 32"/>
                <a:gd name="T21" fmla="*/ 1 h 36"/>
                <a:gd name="T22" fmla="*/ 28 w 32"/>
                <a:gd name="T23" fmla="*/ 0 h 36"/>
                <a:gd name="T24" fmla="*/ 32 w 32"/>
                <a:gd name="T25" fmla="*/ 1 h 36"/>
                <a:gd name="T26" fmla="*/ 32 w 32"/>
                <a:gd name="T27" fmla="*/ 2 h 36"/>
                <a:gd name="T28" fmla="*/ 29 w 32"/>
                <a:gd name="T29" fmla="*/ 14 h 36"/>
                <a:gd name="T30" fmla="*/ 19 w 32"/>
                <a:gd name="T31" fmla="*/ 20 h 36"/>
                <a:gd name="T32" fmla="*/ 14 w 32"/>
                <a:gd name="T33" fmla="*/ 23 h 36"/>
                <a:gd name="T34" fmla="*/ 15 w 32"/>
                <a:gd name="T35" fmla="*/ 32 h 36"/>
                <a:gd name="T36" fmla="*/ 10 w 32"/>
                <a:gd name="T37" fmla="*/ 36 h 36"/>
                <a:gd name="T38" fmla="*/ 9 w 32"/>
                <a:gd name="T3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36">
                  <a:moveTo>
                    <a:pt x="9" y="36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1"/>
                    <a:pt x="11" y="31"/>
                    <a:pt x="11" y="30"/>
                  </a:cubicBezTo>
                  <a:cubicBezTo>
                    <a:pt x="12" y="28"/>
                    <a:pt x="11" y="25"/>
                    <a:pt x="10" y="24"/>
                  </a:cubicBezTo>
                  <a:cubicBezTo>
                    <a:pt x="9" y="23"/>
                    <a:pt x="10" y="21"/>
                    <a:pt x="11" y="21"/>
                  </a:cubicBezTo>
                  <a:cubicBezTo>
                    <a:pt x="13" y="19"/>
                    <a:pt x="16" y="18"/>
                    <a:pt x="17" y="17"/>
                  </a:cubicBezTo>
                  <a:cubicBezTo>
                    <a:pt x="22" y="14"/>
                    <a:pt x="24" y="13"/>
                    <a:pt x="25" y="12"/>
                  </a:cubicBezTo>
                  <a:cubicBezTo>
                    <a:pt x="27" y="9"/>
                    <a:pt x="28" y="3"/>
                    <a:pt x="28" y="1"/>
                  </a:cubicBezTo>
                  <a:cubicBezTo>
                    <a:pt x="28" y="1"/>
                    <a:pt x="28" y="0"/>
                    <a:pt x="28" y="0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2"/>
                  </a:cubicBezTo>
                  <a:cubicBezTo>
                    <a:pt x="32" y="6"/>
                    <a:pt x="31" y="11"/>
                    <a:pt x="29" y="14"/>
                  </a:cubicBezTo>
                  <a:cubicBezTo>
                    <a:pt x="27" y="16"/>
                    <a:pt x="25" y="17"/>
                    <a:pt x="19" y="20"/>
                  </a:cubicBezTo>
                  <a:cubicBezTo>
                    <a:pt x="18" y="21"/>
                    <a:pt x="16" y="22"/>
                    <a:pt x="14" y="23"/>
                  </a:cubicBezTo>
                  <a:cubicBezTo>
                    <a:pt x="15" y="25"/>
                    <a:pt x="16" y="29"/>
                    <a:pt x="15" y="32"/>
                  </a:cubicBezTo>
                  <a:cubicBezTo>
                    <a:pt x="14" y="34"/>
                    <a:pt x="12" y="35"/>
                    <a:pt x="10" y="36"/>
                  </a:cubicBezTo>
                  <a:cubicBezTo>
                    <a:pt x="10" y="36"/>
                    <a:pt x="10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6" name="Freeform 38">
              <a:extLst>
                <a:ext uri="{FF2B5EF4-FFF2-40B4-BE49-F238E27FC236}">
                  <a16:creationId xmlns:a16="http://schemas.microsoft.com/office/drawing/2014/main" id="{71BBB59F-3D34-4884-AFBA-FDCB8B524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1626" y="2668587"/>
              <a:ext cx="627062" cy="485775"/>
            </a:xfrm>
            <a:custGeom>
              <a:avLst/>
              <a:gdLst>
                <a:gd name="T0" fmla="*/ 18 w 395"/>
                <a:gd name="T1" fmla="*/ 306 h 306"/>
                <a:gd name="T2" fmla="*/ 0 w 395"/>
                <a:gd name="T3" fmla="*/ 306 h 306"/>
                <a:gd name="T4" fmla="*/ 0 w 395"/>
                <a:gd name="T5" fmla="*/ 205 h 306"/>
                <a:gd name="T6" fmla="*/ 136 w 395"/>
                <a:gd name="T7" fmla="*/ 205 h 306"/>
                <a:gd name="T8" fmla="*/ 136 w 395"/>
                <a:gd name="T9" fmla="*/ 105 h 306"/>
                <a:gd name="T10" fmla="*/ 268 w 395"/>
                <a:gd name="T11" fmla="*/ 105 h 306"/>
                <a:gd name="T12" fmla="*/ 268 w 395"/>
                <a:gd name="T13" fmla="*/ 0 h 306"/>
                <a:gd name="T14" fmla="*/ 395 w 395"/>
                <a:gd name="T15" fmla="*/ 0 h 306"/>
                <a:gd name="T16" fmla="*/ 395 w 395"/>
                <a:gd name="T17" fmla="*/ 18 h 306"/>
                <a:gd name="T18" fmla="*/ 286 w 395"/>
                <a:gd name="T19" fmla="*/ 18 h 306"/>
                <a:gd name="T20" fmla="*/ 286 w 395"/>
                <a:gd name="T21" fmla="*/ 123 h 306"/>
                <a:gd name="T22" fmla="*/ 154 w 395"/>
                <a:gd name="T23" fmla="*/ 123 h 306"/>
                <a:gd name="T24" fmla="*/ 154 w 395"/>
                <a:gd name="T25" fmla="*/ 223 h 306"/>
                <a:gd name="T26" fmla="*/ 18 w 395"/>
                <a:gd name="T27" fmla="*/ 223 h 306"/>
                <a:gd name="T28" fmla="*/ 18 w 395"/>
                <a:gd name="T29" fmla="*/ 30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5" h="306">
                  <a:moveTo>
                    <a:pt x="18" y="306"/>
                  </a:moveTo>
                  <a:lnTo>
                    <a:pt x="0" y="306"/>
                  </a:lnTo>
                  <a:lnTo>
                    <a:pt x="0" y="205"/>
                  </a:lnTo>
                  <a:lnTo>
                    <a:pt x="136" y="205"/>
                  </a:lnTo>
                  <a:lnTo>
                    <a:pt x="136" y="105"/>
                  </a:lnTo>
                  <a:lnTo>
                    <a:pt x="268" y="105"/>
                  </a:lnTo>
                  <a:lnTo>
                    <a:pt x="268" y="0"/>
                  </a:lnTo>
                  <a:lnTo>
                    <a:pt x="395" y="0"/>
                  </a:lnTo>
                  <a:lnTo>
                    <a:pt x="395" y="18"/>
                  </a:lnTo>
                  <a:lnTo>
                    <a:pt x="286" y="18"/>
                  </a:lnTo>
                  <a:lnTo>
                    <a:pt x="286" y="123"/>
                  </a:lnTo>
                  <a:lnTo>
                    <a:pt x="154" y="123"/>
                  </a:lnTo>
                  <a:lnTo>
                    <a:pt x="154" y="223"/>
                  </a:lnTo>
                  <a:lnTo>
                    <a:pt x="18" y="223"/>
                  </a:lnTo>
                  <a:lnTo>
                    <a:pt x="18" y="3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7" name="Rectangle 95">
              <a:extLst>
                <a:ext uri="{FF2B5EF4-FFF2-40B4-BE49-F238E27FC236}">
                  <a16:creationId xmlns:a16="http://schemas.microsoft.com/office/drawing/2014/main" id="{F69366F3-53DB-434D-8478-2E4266094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9632" y="3081338"/>
              <a:ext cx="66894" cy="650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8" name="Rectangle 96">
              <a:extLst>
                <a:ext uri="{FF2B5EF4-FFF2-40B4-BE49-F238E27FC236}">
                  <a16:creationId xmlns:a16="http://schemas.microsoft.com/office/drawing/2014/main" id="{0E371678-8AAA-4CC6-B775-23E98DC67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1451" y="3081338"/>
              <a:ext cx="65087" cy="650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99" name="Группа 216">
            <a:extLst>
              <a:ext uri="{FF2B5EF4-FFF2-40B4-BE49-F238E27FC236}">
                <a16:creationId xmlns:a16="http://schemas.microsoft.com/office/drawing/2014/main" id="{058867A1-DAD2-4818-9C7B-FDB7930F3B3A}"/>
              </a:ext>
            </a:extLst>
          </p:cNvPr>
          <p:cNvGrpSpPr>
            <a:grpSpLocks noChangeAspect="1"/>
          </p:cNvGrpSpPr>
          <p:nvPr/>
        </p:nvGrpSpPr>
        <p:grpSpPr>
          <a:xfrm>
            <a:off x="7733936" y="2778176"/>
            <a:ext cx="419460" cy="338674"/>
            <a:chOff x="8268109" y="2916845"/>
            <a:chExt cx="1107285" cy="894028"/>
          </a:xfrm>
          <a:solidFill>
            <a:srgbClr val="000000"/>
          </a:solidFill>
        </p:grpSpPr>
        <p:sp>
          <p:nvSpPr>
            <p:cNvPr id="100" name="Полилиния: фигура 2">
              <a:extLst>
                <a:ext uri="{FF2B5EF4-FFF2-40B4-BE49-F238E27FC236}">
                  <a16:creationId xmlns:a16="http://schemas.microsoft.com/office/drawing/2014/main" id="{C0720378-219A-4797-9B9D-4F5668E47A61}"/>
                </a:ext>
              </a:extLst>
            </p:cNvPr>
            <p:cNvSpPr/>
            <p:nvPr/>
          </p:nvSpPr>
          <p:spPr>
            <a:xfrm>
              <a:off x="8680948" y="3540204"/>
              <a:ext cx="158574" cy="139435"/>
            </a:xfrm>
            <a:custGeom>
              <a:avLst/>
              <a:gdLst>
                <a:gd name="connsiteX0" fmla="*/ 158575 w 158574"/>
                <a:gd name="connsiteY0" fmla="*/ 10936 h 139435"/>
                <a:gd name="connsiteX1" fmla="*/ 0 w 158574"/>
                <a:gd name="connsiteY1" fmla="*/ 0 h 139435"/>
                <a:gd name="connsiteX2" fmla="*/ 76553 w 158574"/>
                <a:gd name="connsiteY2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574" h="139435">
                  <a:moveTo>
                    <a:pt x="158575" y="10936"/>
                  </a:moveTo>
                  <a:lnTo>
                    <a:pt x="0" y="0"/>
                  </a:lnTo>
                  <a:lnTo>
                    <a:pt x="76553" y="139436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91">
              <a:extLst>
                <a:ext uri="{FF2B5EF4-FFF2-40B4-BE49-F238E27FC236}">
                  <a16:creationId xmlns:a16="http://schemas.microsoft.com/office/drawing/2014/main" id="{22E8FFD6-2D2F-4D93-AF4E-E19C0396AA12}"/>
                </a:ext>
              </a:extLst>
            </p:cNvPr>
            <p:cNvSpPr/>
            <p:nvPr/>
          </p:nvSpPr>
          <p:spPr>
            <a:xfrm>
              <a:off x="8784842" y="3739789"/>
              <a:ext cx="71084" cy="71084"/>
            </a:xfrm>
            <a:custGeom>
              <a:avLst/>
              <a:gdLst>
                <a:gd name="connsiteX0" fmla="*/ 0 w 71084"/>
                <a:gd name="connsiteY0" fmla="*/ 0 h 71084"/>
                <a:gd name="connsiteX1" fmla="*/ 71085 w 71084"/>
                <a:gd name="connsiteY1" fmla="*/ 0 h 71084"/>
                <a:gd name="connsiteX2" fmla="*/ 71085 w 71084"/>
                <a:gd name="connsiteY2" fmla="*/ 71085 h 71084"/>
                <a:gd name="connsiteX3" fmla="*/ 0 w 71084"/>
                <a:gd name="connsiteY3" fmla="*/ 71085 h 7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4" h="71084">
                  <a:moveTo>
                    <a:pt x="0" y="0"/>
                  </a:moveTo>
                  <a:lnTo>
                    <a:pt x="71085" y="0"/>
                  </a:lnTo>
                  <a:lnTo>
                    <a:pt x="71085" y="71085"/>
                  </a:lnTo>
                  <a:lnTo>
                    <a:pt x="0" y="7108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92">
              <a:extLst>
                <a:ext uri="{FF2B5EF4-FFF2-40B4-BE49-F238E27FC236}">
                  <a16:creationId xmlns:a16="http://schemas.microsoft.com/office/drawing/2014/main" id="{E02C384C-76CC-44DF-97D1-D1F583EEDB83}"/>
                </a:ext>
              </a:extLst>
            </p:cNvPr>
            <p:cNvSpPr/>
            <p:nvPr/>
          </p:nvSpPr>
          <p:spPr>
            <a:xfrm>
              <a:off x="8910608" y="3739789"/>
              <a:ext cx="71084" cy="71084"/>
            </a:xfrm>
            <a:custGeom>
              <a:avLst/>
              <a:gdLst>
                <a:gd name="connsiteX0" fmla="*/ 0 w 71084"/>
                <a:gd name="connsiteY0" fmla="*/ 0 h 71084"/>
                <a:gd name="connsiteX1" fmla="*/ 71085 w 71084"/>
                <a:gd name="connsiteY1" fmla="*/ 0 h 71084"/>
                <a:gd name="connsiteX2" fmla="*/ 71085 w 71084"/>
                <a:gd name="connsiteY2" fmla="*/ 71085 h 71084"/>
                <a:gd name="connsiteX3" fmla="*/ 0 w 71084"/>
                <a:gd name="connsiteY3" fmla="*/ 71085 h 7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4" h="71084">
                  <a:moveTo>
                    <a:pt x="0" y="0"/>
                  </a:moveTo>
                  <a:lnTo>
                    <a:pt x="71085" y="0"/>
                  </a:lnTo>
                  <a:lnTo>
                    <a:pt x="71085" y="71085"/>
                  </a:lnTo>
                  <a:lnTo>
                    <a:pt x="0" y="7108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93">
              <a:extLst>
                <a:ext uri="{FF2B5EF4-FFF2-40B4-BE49-F238E27FC236}">
                  <a16:creationId xmlns:a16="http://schemas.microsoft.com/office/drawing/2014/main" id="{08340308-39CE-43FE-803D-57520FCCF423}"/>
                </a:ext>
              </a:extLst>
            </p:cNvPr>
            <p:cNvSpPr/>
            <p:nvPr/>
          </p:nvSpPr>
          <p:spPr>
            <a:xfrm>
              <a:off x="8659076" y="3739789"/>
              <a:ext cx="71084" cy="71084"/>
            </a:xfrm>
            <a:custGeom>
              <a:avLst/>
              <a:gdLst>
                <a:gd name="connsiteX0" fmla="*/ 0 w 71084"/>
                <a:gd name="connsiteY0" fmla="*/ 0 h 71084"/>
                <a:gd name="connsiteX1" fmla="*/ 71085 w 71084"/>
                <a:gd name="connsiteY1" fmla="*/ 0 h 71084"/>
                <a:gd name="connsiteX2" fmla="*/ 71085 w 71084"/>
                <a:gd name="connsiteY2" fmla="*/ 71085 h 71084"/>
                <a:gd name="connsiteX3" fmla="*/ 0 w 71084"/>
                <a:gd name="connsiteY3" fmla="*/ 71085 h 7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4" h="71084">
                  <a:moveTo>
                    <a:pt x="0" y="0"/>
                  </a:moveTo>
                  <a:lnTo>
                    <a:pt x="71085" y="0"/>
                  </a:lnTo>
                  <a:lnTo>
                    <a:pt x="71085" y="71085"/>
                  </a:lnTo>
                  <a:lnTo>
                    <a:pt x="0" y="7108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4" name="Рисунок 16">
              <a:extLst>
                <a:ext uri="{FF2B5EF4-FFF2-40B4-BE49-F238E27FC236}">
                  <a16:creationId xmlns:a16="http://schemas.microsoft.com/office/drawing/2014/main" id="{50C836EC-86A8-4285-8B08-4CEA3228F6B1}"/>
                </a:ext>
              </a:extLst>
            </p:cNvPr>
            <p:cNvGrpSpPr/>
            <p:nvPr/>
          </p:nvGrpSpPr>
          <p:grpSpPr>
            <a:xfrm>
              <a:off x="9013441" y="3237687"/>
              <a:ext cx="154119" cy="204736"/>
              <a:chOff x="9013441" y="3237687"/>
              <a:chExt cx="154119" cy="204736"/>
            </a:xfrm>
            <a:grpFill/>
          </p:grpSpPr>
          <p:sp>
            <p:nvSpPr>
              <p:cNvPr id="105" name="Полилиния: фигура 95">
                <a:extLst>
                  <a:ext uri="{FF2B5EF4-FFF2-40B4-BE49-F238E27FC236}">
                    <a16:creationId xmlns:a16="http://schemas.microsoft.com/office/drawing/2014/main" id="{BE1A6097-2113-42A6-A698-D769AA9CA21F}"/>
                  </a:ext>
                </a:extLst>
              </p:cNvPr>
              <p:cNvSpPr/>
              <p:nvPr/>
            </p:nvSpPr>
            <p:spPr>
              <a:xfrm rot="3715226">
                <a:off x="9025988" y="3250233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5 w 71085"/>
                  <a:gd name="connsiteY1" fmla="*/ 0 h 71085"/>
                  <a:gd name="connsiteX2" fmla="*/ 71085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5" y="0"/>
                    </a:lnTo>
                    <a:lnTo>
                      <a:pt x="71085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6" name="Полилиния: фигура 96">
                <a:extLst>
                  <a:ext uri="{FF2B5EF4-FFF2-40B4-BE49-F238E27FC236}">
                    <a16:creationId xmlns:a16="http://schemas.microsoft.com/office/drawing/2014/main" id="{75859457-C931-4789-8FBB-611026FE2AF5}"/>
                  </a:ext>
                </a:extLst>
              </p:cNvPr>
              <p:cNvSpPr/>
              <p:nvPr/>
            </p:nvSpPr>
            <p:spPr>
              <a:xfrm rot="3715226">
                <a:off x="9083929" y="3358791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6 w 71085"/>
                  <a:gd name="connsiteY1" fmla="*/ 0 h 71085"/>
                  <a:gd name="connsiteX2" fmla="*/ 71086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6" y="0"/>
                    </a:lnTo>
                    <a:lnTo>
                      <a:pt x="71086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07" name="Рисунок 16">
              <a:extLst>
                <a:ext uri="{FF2B5EF4-FFF2-40B4-BE49-F238E27FC236}">
                  <a16:creationId xmlns:a16="http://schemas.microsoft.com/office/drawing/2014/main" id="{1C55A5F0-160C-4F12-B25B-FE6BDCB4CE8B}"/>
                </a:ext>
              </a:extLst>
            </p:cNvPr>
            <p:cNvGrpSpPr/>
            <p:nvPr/>
          </p:nvGrpSpPr>
          <p:grpSpPr>
            <a:xfrm>
              <a:off x="8496498" y="3234581"/>
              <a:ext cx="154952" cy="206451"/>
              <a:chOff x="8496498" y="3234581"/>
              <a:chExt cx="154952" cy="206451"/>
            </a:xfrm>
            <a:grpFill/>
          </p:grpSpPr>
          <p:sp>
            <p:nvSpPr>
              <p:cNvPr id="108" name="Полилиния: фигура 98">
                <a:extLst>
                  <a:ext uri="{FF2B5EF4-FFF2-40B4-BE49-F238E27FC236}">
                    <a16:creationId xmlns:a16="http://schemas.microsoft.com/office/drawing/2014/main" id="{223595BD-8EA9-42CD-9B04-03282B217A55}"/>
                  </a:ext>
                </a:extLst>
              </p:cNvPr>
              <p:cNvSpPr/>
              <p:nvPr/>
            </p:nvSpPr>
            <p:spPr>
              <a:xfrm rot="7084774">
                <a:off x="8567819" y="3247127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6 w 71085"/>
                  <a:gd name="connsiteY1" fmla="*/ 0 h 71085"/>
                  <a:gd name="connsiteX2" fmla="*/ 71086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6" y="0"/>
                    </a:lnTo>
                    <a:lnTo>
                      <a:pt x="71086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9" name="Полилиния: фигура 99">
                <a:extLst>
                  <a:ext uri="{FF2B5EF4-FFF2-40B4-BE49-F238E27FC236}">
                    <a16:creationId xmlns:a16="http://schemas.microsoft.com/office/drawing/2014/main" id="{F08CEF84-BC88-49A8-89E0-CA1A577BF466}"/>
                  </a:ext>
                </a:extLst>
              </p:cNvPr>
              <p:cNvSpPr/>
              <p:nvPr/>
            </p:nvSpPr>
            <p:spPr>
              <a:xfrm rot="7084774">
                <a:off x="8509045" y="3357401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6 w 71085"/>
                  <a:gd name="connsiteY1" fmla="*/ 0 h 71085"/>
                  <a:gd name="connsiteX2" fmla="*/ 71086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6" y="0"/>
                    </a:lnTo>
                    <a:lnTo>
                      <a:pt x="71086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10" name="Полилиния: фигура 100">
              <a:extLst>
                <a:ext uri="{FF2B5EF4-FFF2-40B4-BE49-F238E27FC236}">
                  <a16:creationId xmlns:a16="http://schemas.microsoft.com/office/drawing/2014/main" id="{21D09915-03F5-4A63-BC05-A7DAD6A32609}"/>
                </a:ext>
              </a:extLst>
            </p:cNvPr>
            <p:cNvSpPr/>
            <p:nvPr/>
          </p:nvSpPr>
          <p:spPr>
            <a:xfrm>
              <a:off x="8382939" y="3496460"/>
              <a:ext cx="153106" cy="153105"/>
            </a:xfrm>
            <a:custGeom>
              <a:avLst/>
              <a:gdLst>
                <a:gd name="connsiteX0" fmla="*/ 76553 w 153106"/>
                <a:gd name="connsiteY0" fmla="*/ 153106 h 153105"/>
                <a:gd name="connsiteX1" fmla="*/ 0 w 153106"/>
                <a:gd name="connsiteY1" fmla="*/ 76553 h 153105"/>
                <a:gd name="connsiteX2" fmla="*/ 76553 w 153106"/>
                <a:gd name="connsiteY2" fmla="*/ 0 h 153105"/>
                <a:gd name="connsiteX3" fmla="*/ 153106 w 153106"/>
                <a:gd name="connsiteY3" fmla="*/ 76553 h 153105"/>
                <a:gd name="connsiteX4" fmla="*/ 76553 w 153106"/>
                <a:gd name="connsiteY4" fmla="*/ 153106 h 153105"/>
                <a:gd name="connsiteX5" fmla="*/ 76553 w 153106"/>
                <a:gd name="connsiteY5" fmla="*/ 27340 h 153105"/>
                <a:gd name="connsiteX6" fmla="*/ 27340 w 153106"/>
                <a:gd name="connsiteY6" fmla="*/ 76553 h 153105"/>
                <a:gd name="connsiteX7" fmla="*/ 76553 w 153106"/>
                <a:gd name="connsiteY7" fmla="*/ 125766 h 153105"/>
                <a:gd name="connsiteX8" fmla="*/ 125766 w 153106"/>
                <a:gd name="connsiteY8" fmla="*/ 76553 h 153105"/>
                <a:gd name="connsiteX9" fmla="*/ 76553 w 153106"/>
                <a:gd name="connsiteY9" fmla="*/ 2734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53105">
                  <a:moveTo>
                    <a:pt x="76553" y="153106"/>
                  </a:moveTo>
                  <a:cubicBezTo>
                    <a:pt x="32809" y="153106"/>
                    <a:pt x="0" y="117564"/>
                    <a:pt x="0" y="76553"/>
                  </a:cubicBezTo>
                  <a:cubicBezTo>
                    <a:pt x="0" y="32809"/>
                    <a:pt x="35543" y="0"/>
                    <a:pt x="76553" y="0"/>
                  </a:cubicBezTo>
                  <a:cubicBezTo>
                    <a:pt x="117564" y="0"/>
                    <a:pt x="153106" y="35543"/>
                    <a:pt x="153106" y="76553"/>
                  </a:cubicBezTo>
                  <a:cubicBezTo>
                    <a:pt x="153106" y="120298"/>
                    <a:pt x="117564" y="153106"/>
                    <a:pt x="76553" y="153106"/>
                  </a:cubicBezTo>
                  <a:close/>
                  <a:moveTo>
                    <a:pt x="76553" y="27340"/>
                  </a:moveTo>
                  <a:cubicBezTo>
                    <a:pt x="49213" y="27340"/>
                    <a:pt x="27340" y="49213"/>
                    <a:pt x="27340" y="76553"/>
                  </a:cubicBezTo>
                  <a:cubicBezTo>
                    <a:pt x="27340" y="103893"/>
                    <a:pt x="49213" y="125766"/>
                    <a:pt x="76553" y="125766"/>
                  </a:cubicBezTo>
                  <a:cubicBezTo>
                    <a:pt x="103894" y="125766"/>
                    <a:pt x="125766" y="103893"/>
                    <a:pt x="125766" y="76553"/>
                  </a:cubicBezTo>
                  <a:cubicBezTo>
                    <a:pt x="125766" y="49213"/>
                    <a:pt x="103894" y="27340"/>
                    <a:pt x="76553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101">
              <a:extLst>
                <a:ext uri="{FF2B5EF4-FFF2-40B4-BE49-F238E27FC236}">
                  <a16:creationId xmlns:a16="http://schemas.microsoft.com/office/drawing/2014/main" id="{467BE147-8E35-4412-875B-2E353993BBAC}"/>
                </a:ext>
              </a:extLst>
            </p:cNvPr>
            <p:cNvSpPr/>
            <p:nvPr/>
          </p:nvSpPr>
          <p:spPr>
            <a:xfrm>
              <a:off x="8484098" y="3674172"/>
              <a:ext cx="153106" cy="136701"/>
            </a:xfrm>
            <a:custGeom>
              <a:avLst/>
              <a:gdLst>
                <a:gd name="connsiteX0" fmla="*/ 153106 w 153106"/>
                <a:gd name="connsiteY0" fmla="*/ 136702 h 136701"/>
                <a:gd name="connsiteX1" fmla="*/ 125766 w 153106"/>
                <a:gd name="connsiteY1" fmla="*/ 136702 h 136701"/>
                <a:gd name="connsiteX2" fmla="*/ 125766 w 153106"/>
                <a:gd name="connsiteY2" fmla="*/ 84755 h 136701"/>
                <a:gd name="connsiteX3" fmla="*/ 114829 w 153106"/>
                <a:gd name="connsiteY3" fmla="*/ 46479 h 136701"/>
                <a:gd name="connsiteX4" fmla="*/ 68351 w 153106"/>
                <a:gd name="connsiteY4" fmla="*/ 30074 h 136701"/>
                <a:gd name="connsiteX5" fmla="*/ 0 w 153106"/>
                <a:gd name="connsiteY5" fmla="*/ 27340 h 136701"/>
                <a:gd name="connsiteX6" fmla="*/ 0 w 153106"/>
                <a:gd name="connsiteY6" fmla="*/ 0 h 136701"/>
                <a:gd name="connsiteX7" fmla="*/ 68351 w 153106"/>
                <a:gd name="connsiteY7" fmla="*/ 2734 h 136701"/>
                <a:gd name="connsiteX8" fmla="*/ 133968 w 153106"/>
                <a:gd name="connsiteY8" fmla="*/ 27340 h 136701"/>
                <a:gd name="connsiteX9" fmla="*/ 153106 w 153106"/>
                <a:gd name="connsiteY9" fmla="*/ 84755 h 136701"/>
                <a:gd name="connsiteX10" fmla="*/ 153106 w 153106"/>
                <a:gd name="connsiteY10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36701">
                  <a:moveTo>
                    <a:pt x="153106" y="136702"/>
                  </a:moveTo>
                  <a:lnTo>
                    <a:pt x="125766" y="136702"/>
                  </a:lnTo>
                  <a:lnTo>
                    <a:pt x="125766" y="84755"/>
                  </a:lnTo>
                  <a:cubicBezTo>
                    <a:pt x="125766" y="73819"/>
                    <a:pt x="125766" y="57415"/>
                    <a:pt x="114829" y="46479"/>
                  </a:cubicBezTo>
                  <a:cubicBezTo>
                    <a:pt x="101159" y="32809"/>
                    <a:pt x="79287" y="30074"/>
                    <a:pt x="68351" y="30074"/>
                  </a:cubicBezTo>
                  <a:cubicBezTo>
                    <a:pt x="43745" y="30074"/>
                    <a:pt x="19138" y="27340"/>
                    <a:pt x="0" y="27340"/>
                  </a:cubicBezTo>
                  <a:lnTo>
                    <a:pt x="0" y="0"/>
                  </a:lnTo>
                  <a:cubicBezTo>
                    <a:pt x="19138" y="0"/>
                    <a:pt x="43745" y="0"/>
                    <a:pt x="68351" y="2734"/>
                  </a:cubicBezTo>
                  <a:cubicBezTo>
                    <a:pt x="82021" y="2734"/>
                    <a:pt x="114829" y="5468"/>
                    <a:pt x="133968" y="27340"/>
                  </a:cubicBezTo>
                  <a:cubicBezTo>
                    <a:pt x="147638" y="41011"/>
                    <a:pt x="153106" y="62883"/>
                    <a:pt x="153106" y="84755"/>
                  </a:cubicBezTo>
                  <a:lnTo>
                    <a:pt x="153106" y="13670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: фигура 102">
              <a:extLst>
                <a:ext uri="{FF2B5EF4-FFF2-40B4-BE49-F238E27FC236}">
                  <a16:creationId xmlns:a16="http://schemas.microsoft.com/office/drawing/2014/main" id="{C6E98C38-1361-4698-8F92-A8C9099BC63E}"/>
                </a:ext>
              </a:extLst>
            </p:cNvPr>
            <p:cNvSpPr/>
            <p:nvPr/>
          </p:nvSpPr>
          <p:spPr>
            <a:xfrm>
              <a:off x="8268109" y="3672930"/>
              <a:ext cx="150372" cy="135209"/>
            </a:xfrm>
            <a:custGeom>
              <a:avLst/>
              <a:gdLst>
                <a:gd name="connsiteX0" fmla="*/ 27340 w 150372"/>
                <a:gd name="connsiteY0" fmla="*/ 135209 h 135209"/>
                <a:gd name="connsiteX1" fmla="*/ 0 w 150372"/>
                <a:gd name="connsiteY1" fmla="*/ 135209 h 135209"/>
                <a:gd name="connsiteX2" fmla="*/ 0 w 150372"/>
                <a:gd name="connsiteY2" fmla="*/ 75061 h 135209"/>
                <a:gd name="connsiteX3" fmla="*/ 27340 w 150372"/>
                <a:gd name="connsiteY3" fmla="*/ 20380 h 135209"/>
                <a:gd name="connsiteX4" fmla="*/ 120298 w 150372"/>
                <a:gd name="connsiteY4" fmla="*/ 1242 h 135209"/>
                <a:gd name="connsiteX5" fmla="*/ 150372 w 150372"/>
                <a:gd name="connsiteY5" fmla="*/ 1242 h 135209"/>
                <a:gd name="connsiteX6" fmla="*/ 150372 w 150372"/>
                <a:gd name="connsiteY6" fmla="*/ 28582 h 135209"/>
                <a:gd name="connsiteX7" fmla="*/ 120298 w 150372"/>
                <a:gd name="connsiteY7" fmla="*/ 28582 h 135209"/>
                <a:gd name="connsiteX8" fmla="*/ 117564 w 150372"/>
                <a:gd name="connsiteY8" fmla="*/ 28582 h 135209"/>
                <a:gd name="connsiteX9" fmla="*/ 114829 w 150372"/>
                <a:gd name="connsiteY9" fmla="*/ 28582 h 135209"/>
                <a:gd name="connsiteX10" fmla="*/ 43745 w 150372"/>
                <a:gd name="connsiteY10" fmla="*/ 42252 h 135209"/>
                <a:gd name="connsiteX11" fmla="*/ 24607 w 150372"/>
                <a:gd name="connsiteY11" fmla="*/ 77795 h 135209"/>
                <a:gd name="connsiteX12" fmla="*/ 27340 w 150372"/>
                <a:gd name="connsiteY12" fmla="*/ 135209 h 13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0372" h="135209">
                  <a:moveTo>
                    <a:pt x="27340" y="135209"/>
                  </a:moveTo>
                  <a:lnTo>
                    <a:pt x="0" y="135209"/>
                  </a:lnTo>
                  <a:lnTo>
                    <a:pt x="0" y="75061"/>
                  </a:lnTo>
                  <a:cubicBezTo>
                    <a:pt x="0" y="64125"/>
                    <a:pt x="5468" y="39518"/>
                    <a:pt x="27340" y="20380"/>
                  </a:cubicBezTo>
                  <a:cubicBezTo>
                    <a:pt x="54681" y="-1492"/>
                    <a:pt x="106628" y="-1492"/>
                    <a:pt x="120298" y="1242"/>
                  </a:cubicBezTo>
                  <a:cubicBezTo>
                    <a:pt x="125766" y="1242"/>
                    <a:pt x="136702" y="1242"/>
                    <a:pt x="150372" y="1242"/>
                  </a:cubicBezTo>
                  <a:lnTo>
                    <a:pt x="150372" y="28582"/>
                  </a:lnTo>
                  <a:cubicBezTo>
                    <a:pt x="136702" y="28582"/>
                    <a:pt x="125766" y="28582"/>
                    <a:pt x="120298" y="28582"/>
                  </a:cubicBezTo>
                  <a:lnTo>
                    <a:pt x="117564" y="28582"/>
                  </a:lnTo>
                  <a:lnTo>
                    <a:pt x="114829" y="28582"/>
                  </a:lnTo>
                  <a:cubicBezTo>
                    <a:pt x="103893" y="28582"/>
                    <a:pt x="60149" y="28582"/>
                    <a:pt x="43745" y="42252"/>
                  </a:cubicBezTo>
                  <a:cubicBezTo>
                    <a:pt x="27340" y="55922"/>
                    <a:pt x="24607" y="72327"/>
                    <a:pt x="24607" y="77795"/>
                  </a:cubicBezTo>
                  <a:lnTo>
                    <a:pt x="27340" y="135209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: фигура 103">
              <a:extLst>
                <a:ext uri="{FF2B5EF4-FFF2-40B4-BE49-F238E27FC236}">
                  <a16:creationId xmlns:a16="http://schemas.microsoft.com/office/drawing/2014/main" id="{3ED7996E-7059-44B2-A6FB-D5EB67B11489}"/>
                </a:ext>
              </a:extLst>
            </p:cNvPr>
            <p:cNvSpPr/>
            <p:nvPr/>
          </p:nvSpPr>
          <p:spPr>
            <a:xfrm>
              <a:off x="8749299" y="2916845"/>
              <a:ext cx="153106" cy="153105"/>
            </a:xfrm>
            <a:custGeom>
              <a:avLst/>
              <a:gdLst>
                <a:gd name="connsiteX0" fmla="*/ 76553 w 153106"/>
                <a:gd name="connsiteY0" fmla="*/ 153106 h 153105"/>
                <a:gd name="connsiteX1" fmla="*/ 0 w 153106"/>
                <a:gd name="connsiteY1" fmla="*/ 76553 h 153105"/>
                <a:gd name="connsiteX2" fmla="*/ 76553 w 153106"/>
                <a:gd name="connsiteY2" fmla="*/ 0 h 153105"/>
                <a:gd name="connsiteX3" fmla="*/ 153106 w 153106"/>
                <a:gd name="connsiteY3" fmla="*/ 76553 h 153105"/>
                <a:gd name="connsiteX4" fmla="*/ 76553 w 153106"/>
                <a:gd name="connsiteY4" fmla="*/ 153106 h 153105"/>
                <a:gd name="connsiteX5" fmla="*/ 76553 w 153106"/>
                <a:gd name="connsiteY5" fmla="*/ 24606 h 153105"/>
                <a:gd name="connsiteX6" fmla="*/ 27340 w 153106"/>
                <a:gd name="connsiteY6" fmla="*/ 73819 h 153105"/>
                <a:gd name="connsiteX7" fmla="*/ 76553 w 153106"/>
                <a:gd name="connsiteY7" fmla="*/ 123032 h 153105"/>
                <a:gd name="connsiteX8" fmla="*/ 125766 w 153106"/>
                <a:gd name="connsiteY8" fmla="*/ 73819 h 153105"/>
                <a:gd name="connsiteX9" fmla="*/ 76553 w 153106"/>
                <a:gd name="connsiteY9" fmla="*/ 24606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53105">
                  <a:moveTo>
                    <a:pt x="76553" y="153106"/>
                  </a:moveTo>
                  <a:cubicBezTo>
                    <a:pt x="32809" y="153106"/>
                    <a:pt x="0" y="117563"/>
                    <a:pt x="0" y="76553"/>
                  </a:cubicBezTo>
                  <a:cubicBezTo>
                    <a:pt x="0" y="35542"/>
                    <a:pt x="35543" y="0"/>
                    <a:pt x="76553" y="0"/>
                  </a:cubicBezTo>
                  <a:cubicBezTo>
                    <a:pt x="120298" y="0"/>
                    <a:pt x="153106" y="35542"/>
                    <a:pt x="153106" y="76553"/>
                  </a:cubicBezTo>
                  <a:cubicBezTo>
                    <a:pt x="153106" y="117563"/>
                    <a:pt x="120298" y="153106"/>
                    <a:pt x="76553" y="153106"/>
                  </a:cubicBezTo>
                  <a:close/>
                  <a:moveTo>
                    <a:pt x="76553" y="24606"/>
                  </a:moveTo>
                  <a:cubicBezTo>
                    <a:pt x="49213" y="24606"/>
                    <a:pt x="27340" y="46479"/>
                    <a:pt x="27340" y="73819"/>
                  </a:cubicBezTo>
                  <a:cubicBezTo>
                    <a:pt x="27340" y="101159"/>
                    <a:pt x="49213" y="123032"/>
                    <a:pt x="76553" y="123032"/>
                  </a:cubicBezTo>
                  <a:cubicBezTo>
                    <a:pt x="103894" y="123032"/>
                    <a:pt x="125766" y="101159"/>
                    <a:pt x="125766" y="73819"/>
                  </a:cubicBezTo>
                  <a:cubicBezTo>
                    <a:pt x="125766" y="46479"/>
                    <a:pt x="103894" y="24606"/>
                    <a:pt x="76553" y="24606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04">
              <a:extLst>
                <a:ext uri="{FF2B5EF4-FFF2-40B4-BE49-F238E27FC236}">
                  <a16:creationId xmlns:a16="http://schemas.microsoft.com/office/drawing/2014/main" id="{3B16D22C-DF42-47D8-9B6A-C53BCF316971}"/>
                </a:ext>
              </a:extLst>
            </p:cNvPr>
            <p:cNvSpPr/>
            <p:nvPr/>
          </p:nvSpPr>
          <p:spPr>
            <a:xfrm>
              <a:off x="8850459" y="3097291"/>
              <a:ext cx="166776" cy="136701"/>
            </a:xfrm>
            <a:custGeom>
              <a:avLst/>
              <a:gdLst>
                <a:gd name="connsiteX0" fmla="*/ 164042 w 166776"/>
                <a:gd name="connsiteY0" fmla="*/ 136702 h 136701"/>
                <a:gd name="connsiteX1" fmla="*/ 136702 w 166776"/>
                <a:gd name="connsiteY1" fmla="*/ 136702 h 136701"/>
                <a:gd name="connsiteX2" fmla="*/ 136702 w 166776"/>
                <a:gd name="connsiteY2" fmla="*/ 84755 h 136701"/>
                <a:gd name="connsiteX3" fmla="*/ 125766 w 166776"/>
                <a:gd name="connsiteY3" fmla="*/ 46479 h 136701"/>
                <a:gd name="connsiteX4" fmla="*/ 79287 w 166776"/>
                <a:gd name="connsiteY4" fmla="*/ 30074 h 136701"/>
                <a:gd name="connsiteX5" fmla="*/ 8202 w 166776"/>
                <a:gd name="connsiteY5" fmla="*/ 27340 h 136701"/>
                <a:gd name="connsiteX6" fmla="*/ 0 w 166776"/>
                <a:gd name="connsiteY6" fmla="*/ 27340 h 136701"/>
                <a:gd name="connsiteX7" fmla="*/ 0 w 166776"/>
                <a:gd name="connsiteY7" fmla="*/ 0 h 136701"/>
                <a:gd name="connsiteX8" fmla="*/ 8202 w 166776"/>
                <a:gd name="connsiteY8" fmla="*/ 0 h 136701"/>
                <a:gd name="connsiteX9" fmla="*/ 82021 w 166776"/>
                <a:gd name="connsiteY9" fmla="*/ 2734 h 136701"/>
                <a:gd name="connsiteX10" fmla="*/ 147638 w 166776"/>
                <a:gd name="connsiteY10" fmla="*/ 27340 h 136701"/>
                <a:gd name="connsiteX11" fmla="*/ 166776 w 166776"/>
                <a:gd name="connsiteY11" fmla="*/ 84755 h 136701"/>
                <a:gd name="connsiteX12" fmla="*/ 166776 w 166776"/>
                <a:gd name="connsiteY12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6776" h="136701">
                  <a:moveTo>
                    <a:pt x="164042" y="136702"/>
                  </a:moveTo>
                  <a:lnTo>
                    <a:pt x="136702" y="136702"/>
                  </a:lnTo>
                  <a:lnTo>
                    <a:pt x="136702" y="84755"/>
                  </a:lnTo>
                  <a:cubicBezTo>
                    <a:pt x="136702" y="73819"/>
                    <a:pt x="136702" y="57415"/>
                    <a:pt x="125766" y="46479"/>
                  </a:cubicBezTo>
                  <a:cubicBezTo>
                    <a:pt x="112096" y="32808"/>
                    <a:pt x="90223" y="30074"/>
                    <a:pt x="79287" y="30074"/>
                  </a:cubicBezTo>
                  <a:cubicBezTo>
                    <a:pt x="57415" y="30074"/>
                    <a:pt x="27340" y="27340"/>
                    <a:pt x="8202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8202" y="0"/>
                  </a:lnTo>
                  <a:cubicBezTo>
                    <a:pt x="27340" y="0"/>
                    <a:pt x="60149" y="0"/>
                    <a:pt x="82021" y="2734"/>
                  </a:cubicBezTo>
                  <a:cubicBezTo>
                    <a:pt x="95691" y="2734"/>
                    <a:pt x="128500" y="5468"/>
                    <a:pt x="147638" y="27340"/>
                  </a:cubicBezTo>
                  <a:cubicBezTo>
                    <a:pt x="161308" y="41011"/>
                    <a:pt x="166776" y="62883"/>
                    <a:pt x="166776" y="84755"/>
                  </a:cubicBezTo>
                  <a:lnTo>
                    <a:pt x="166776" y="13670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05">
              <a:extLst>
                <a:ext uri="{FF2B5EF4-FFF2-40B4-BE49-F238E27FC236}">
                  <a16:creationId xmlns:a16="http://schemas.microsoft.com/office/drawing/2014/main" id="{F02C41DD-37E3-44B0-B3C6-24DD13F54EC9}"/>
                </a:ext>
              </a:extLst>
            </p:cNvPr>
            <p:cNvSpPr/>
            <p:nvPr/>
          </p:nvSpPr>
          <p:spPr>
            <a:xfrm>
              <a:off x="8645406" y="3096049"/>
              <a:ext cx="150371" cy="135209"/>
            </a:xfrm>
            <a:custGeom>
              <a:avLst/>
              <a:gdLst>
                <a:gd name="connsiteX0" fmla="*/ 27340 w 150371"/>
                <a:gd name="connsiteY0" fmla="*/ 135209 h 135209"/>
                <a:gd name="connsiteX1" fmla="*/ 0 w 150371"/>
                <a:gd name="connsiteY1" fmla="*/ 135209 h 135209"/>
                <a:gd name="connsiteX2" fmla="*/ 0 w 150371"/>
                <a:gd name="connsiteY2" fmla="*/ 75061 h 135209"/>
                <a:gd name="connsiteX3" fmla="*/ 27340 w 150371"/>
                <a:gd name="connsiteY3" fmla="*/ 20380 h 135209"/>
                <a:gd name="connsiteX4" fmla="*/ 120297 w 150371"/>
                <a:gd name="connsiteY4" fmla="*/ 1242 h 135209"/>
                <a:gd name="connsiteX5" fmla="*/ 150372 w 150371"/>
                <a:gd name="connsiteY5" fmla="*/ 1242 h 135209"/>
                <a:gd name="connsiteX6" fmla="*/ 150372 w 150371"/>
                <a:gd name="connsiteY6" fmla="*/ 28582 h 135209"/>
                <a:gd name="connsiteX7" fmla="*/ 120297 w 150371"/>
                <a:gd name="connsiteY7" fmla="*/ 28582 h 135209"/>
                <a:gd name="connsiteX8" fmla="*/ 117563 w 150371"/>
                <a:gd name="connsiteY8" fmla="*/ 28582 h 135209"/>
                <a:gd name="connsiteX9" fmla="*/ 114830 w 150371"/>
                <a:gd name="connsiteY9" fmla="*/ 28582 h 135209"/>
                <a:gd name="connsiteX10" fmla="*/ 43745 w 150371"/>
                <a:gd name="connsiteY10" fmla="*/ 42252 h 135209"/>
                <a:gd name="connsiteX11" fmla="*/ 24606 w 150371"/>
                <a:gd name="connsiteY11" fmla="*/ 77795 h 135209"/>
                <a:gd name="connsiteX12" fmla="*/ 27340 w 150371"/>
                <a:gd name="connsiteY12" fmla="*/ 135209 h 13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0371" h="135209">
                  <a:moveTo>
                    <a:pt x="27340" y="135209"/>
                  </a:moveTo>
                  <a:lnTo>
                    <a:pt x="0" y="135209"/>
                  </a:lnTo>
                  <a:lnTo>
                    <a:pt x="0" y="75061"/>
                  </a:lnTo>
                  <a:cubicBezTo>
                    <a:pt x="0" y="64125"/>
                    <a:pt x="5468" y="39518"/>
                    <a:pt x="27340" y="20380"/>
                  </a:cubicBezTo>
                  <a:cubicBezTo>
                    <a:pt x="54681" y="-1492"/>
                    <a:pt x="106627" y="-1492"/>
                    <a:pt x="120297" y="1242"/>
                  </a:cubicBezTo>
                  <a:cubicBezTo>
                    <a:pt x="125766" y="1242"/>
                    <a:pt x="136702" y="1242"/>
                    <a:pt x="150372" y="1242"/>
                  </a:cubicBezTo>
                  <a:lnTo>
                    <a:pt x="150372" y="28582"/>
                  </a:lnTo>
                  <a:cubicBezTo>
                    <a:pt x="136702" y="28582"/>
                    <a:pt x="125766" y="28582"/>
                    <a:pt x="120297" y="28582"/>
                  </a:cubicBezTo>
                  <a:lnTo>
                    <a:pt x="117563" y="28582"/>
                  </a:lnTo>
                  <a:lnTo>
                    <a:pt x="114830" y="28582"/>
                  </a:lnTo>
                  <a:cubicBezTo>
                    <a:pt x="103893" y="28582"/>
                    <a:pt x="60149" y="28582"/>
                    <a:pt x="43745" y="42252"/>
                  </a:cubicBezTo>
                  <a:cubicBezTo>
                    <a:pt x="27340" y="55922"/>
                    <a:pt x="24606" y="72327"/>
                    <a:pt x="24606" y="77795"/>
                  </a:cubicBezTo>
                  <a:lnTo>
                    <a:pt x="27340" y="135209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106">
              <a:extLst>
                <a:ext uri="{FF2B5EF4-FFF2-40B4-BE49-F238E27FC236}">
                  <a16:creationId xmlns:a16="http://schemas.microsoft.com/office/drawing/2014/main" id="{AC9D612F-EAAB-41BE-8E5D-B300B7F23C66}"/>
                </a:ext>
              </a:extLst>
            </p:cNvPr>
            <p:cNvSpPr/>
            <p:nvPr/>
          </p:nvSpPr>
          <p:spPr>
            <a:xfrm>
              <a:off x="9101991" y="3499194"/>
              <a:ext cx="153253" cy="153106"/>
            </a:xfrm>
            <a:custGeom>
              <a:avLst/>
              <a:gdLst>
                <a:gd name="connsiteX0" fmla="*/ 76553 w 153253"/>
                <a:gd name="connsiteY0" fmla="*/ 153106 h 153106"/>
                <a:gd name="connsiteX1" fmla="*/ 0 w 153253"/>
                <a:gd name="connsiteY1" fmla="*/ 76553 h 153106"/>
                <a:gd name="connsiteX2" fmla="*/ 76553 w 153253"/>
                <a:gd name="connsiteY2" fmla="*/ 0 h 153106"/>
                <a:gd name="connsiteX3" fmla="*/ 153105 w 153253"/>
                <a:gd name="connsiteY3" fmla="*/ 76553 h 153106"/>
                <a:gd name="connsiteX4" fmla="*/ 76553 w 153253"/>
                <a:gd name="connsiteY4" fmla="*/ 153106 h 153106"/>
                <a:gd name="connsiteX5" fmla="*/ 76553 w 153253"/>
                <a:gd name="connsiteY5" fmla="*/ 24606 h 153106"/>
                <a:gd name="connsiteX6" fmla="*/ 27340 w 153253"/>
                <a:gd name="connsiteY6" fmla="*/ 73819 h 153106"/>
                <a:gd name="connsiteX7" fmla="*/ 76553 w 153253"/>
                <a:gd name="connsiteY7" fmla="*/ 123032 h 153106"/>
                <a:gd name="connsiteX8" fmla="*/ 125765 w 153253"/>
                <a:gd name="connsiteY8" fmla="*/ 73819 h 153106"/>
                <a:gd name="connsiteX9" fmla="*/ 76553 w 153253"/>
                <a:gd name="connsiteY9" fmla="*/ 2460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253" h="153106">
                  <a:moveTo>
                    <a:pt x="76553" y="153106"/>
                  </a:moveTo>
                  <a:cubicBezTo>
                    <a:pt x="32808" y="153106"/>
                    <a:pt x="0" y="117564"/>
                    <a:pt x="0" y="76553"/>
                  </a:cubicBezTo>
                  <a:cubicBezTo>
                    <a:pt x="0" y="32809"/>
                    <a:pt x="35542" y="0"/>
                    <a:pt x="76553" y="0"/>
                  </a:cubicBezTo>
                  <a:cubicBezTo>
                    <a:pt x="120297" y="0"/>
                    <a:pt x="153105" y="35543"/>
                    <a:pt x="153105" y="76553"/>
                  </a:cubicBezTo>
                  <a:cubicBezTo>
                    <a:pt x="155840" y="117564"/>
                    <a:pt x="120297" y="153106"/>
                    <a:pt x="76553" y="153106"/>
                  </a:cubicBezTo>
                  <a:close/>
                  <a:moveTo>
                    <a:pt x="76553" y="24606"/>
                  </a:moveTo>
                  <a:cubicBezTo>
                    <a:pt x="49212" y="24606"/>
                    <a:pt x="27340" y="46479"/>
                    <a:pt x="27340" y="73819"/>
                  </a:cubicBezTo>
                  <a:cubicBezTo>
                    <a:pt x="27340" y="101159"/>
                    <a:pt x="49212" y="123032"/>
                    <a:pt x="76553" y="123032"/>
                  </a:cubicBezTo>
                  <a:cubicBezTo>
                    <a:pt x="103893" y="123032"/>
                    <a:pt x="125765" y="101159"/>
                    <a:pt x="125765" y="73819"/>
                  </a:cubicBezTo>
                  <a:cubicBezTo>
                    <a:pt x="125765" y="46479"/>
                    <a:pt x="103893" y="24606"/>
                    <a:pt x="76553" y="24606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107">
              <a:extLst>
                <a:ext uri="{FF2B5EF4-FFF2-40B4-BE49-F238E27FC236}">
                  <a16:creationId xmlns:a16="http://schemas.microsoft.com/office/drawing/2014/main" id="{5DE45E23-3257-4EAA-AAA8-93C2143F1E0A}"/>
                </a:ext>
              </a:extLst>
            </p:cNvPr>
            <p:cNvSpPr/>
            <p:nvPr/>
          </p:nvSpPr>
          <p:spPr>
            <a:xfrm>
              <a:off x="9208618" y="3674172"/>
              <a:ext cx="166776" cy="136701"/>
            </a:xfrm>
            <a:custGeom>
              <a:avLst/>
              <a:gdLst>
                <a:gd name="connsiteX0" fmla="*/ 164042 w 166776"/>
                <a:gd name="connsiteY0" fmla="*/ 136702 h 136701"/>
                <a:gd name="connsiteX1" fmla="*/ 136702 w 166776"/>
                <a:gd name="connsiteY1" fmla="*/ 136702 h 136701"/>
                <a:gd name="connsiteX2" fmla="*/ 136702 w 166776"/>
                <a:gd name="connsiteY2" fmla="*/ 84755 h 136701"/>
                <a:gd name="connsiteX3" fmla="*/ 125766 w 166776"/>
                <a:gd name="connsiteY3" fmla="*/ 46479 h 136701"/>
                <a:gd name="connsiteX4" fmla="*/ 79287 w 166776"/>
                <a:gd name="connsiteY4" fmla="*/ 30074 h 136701"/>
                <a:gd name="connsiteX5" fmla="*/ 0 w 166776"/>
                <a:gd name="connsiteY5" fmla="*/ 27340 h 136701"/>
                <a:gd name="connsiteX6" fmla="*/ 0 w 166776"/>
                <a:gd name="connsiteY6" fmla="*/ 0 h 136701"/>
                <a:gd name="connsiteX7" fmla="*/ 82021 w 166776"/>
                <a:gd name="connsiteY7" fmla="*/ 2734 h 136701"/>
                <a:gd name="connsiteX8" fmla="*/ 147638 w 166776"/>
                <a:gd name="connsiteY8" fmla="*/ 27340 h 136701"/>
                <a:gd name="connsiteX9" fmla="*/ 166776 w 166776"/>
                <a:gd name="connsiteY9" fmla="*/ 84755 h 136701"/>
                <a:gd name="connsiteX10" fmla="*/ 166776 w 166776"/>
                <a:gd name="connsiteY10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76" h="136701">
                  <a:moveTo>
                    <a:pt x="164042" y="136702"/>
                  </a:moveTo>
                  <a:lnTo>
                    <a:pt x="136702" y="136702"/>
                  </a:lnTo>
                  <a:lnTo>
                    <a:pt x="136702" y="84755"/>
                  </a:lnTo>
                  <a:cubicBezTo>
                    <a:pt x="136702" y="73819"/>
                    <a:pt x="136702" y="57415"/>
                    <a:pt x="125766" y="46479"/>
                  </a:cubicBezTo>
                  <a:cubicBezTo>
                    <a:pt x="112096" y="32809"/>
                    <a:pt x="90223" y="30074"/>
                    <a:pt x="79287" y="30074"/>
                  </a:cubicBezTo>
                  <a:cubicBezTo>
                    <a:pt x="49212" y="27340"/>
                    <a:pt x="21872" y="27340"/>
                    <a:pt x="0" y="27340"/>
                  </a:cubicBezTo>
                  <a:lnTo>
                    <a:pt x="0" y="0"/>
                  </a:lnTo>
                  <a:cubicBezTo>
                    <a:pt x="21872" y="0"/>
                    <a:pt x="49212" y="0"/>
                    <a:pt x="82021" y="2734"/>
                  </a:cubicBezTo>
                  <a:cubicBezTo>
                    <a:pt x="95691" y="2734"/>
                    <a:pt x="128499" y="5468"/>
                    <a:pt x="147638" y="27340"/>
                  </a:cubicBezTo>
                  <a:cubicBezTo>
                    <a:pt x="161308" y="41011"/>
                    <a:pt x="166776" y="62883"/>
                    <a:pt x="166776" y="84755"/>
                  </a:cubicBezTo>
                  <a:lnTo>
                    <a:pt x="166776" y="13670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108">
              <a:extLst>
                <a:ext uri="{FF2B5EF4-FFF2-40B4-BE49-F238E27FC236}">
                  <a16:creationId xmlns:a16="http://schemas.microsoft.com/office/drawing/2014/main" id="{172F9C67-1D85-4571-A8EF-7517BED56BE8}"/>
                </a:ext>
              </a:extLst>
            </p:cNvPr>
            <p:cNvSpPr/>
            <p:nvPr/>
          </p:nvSpPr>
          <p:spPr>
            <a:xfrm>
              <a:off x="9003565" y="3672930"/>
              <a:ext cx="144903" cy="135209"/>
            </a:xfrm>
            <a:custGeom>
              <a:avLst/>
              <a:gdLst>
                <a:gd name="connsiteX0" fmla="*/ 27340 w 144903"/>
                <a:gd name="connsiteY0" fmla="*/ 135209 h 135209"/>
                <a:gd name="connsiteX1" fmla="*/ 0 w 144903"/>
                <a:gd name="connsiteY1" fmla="*/ 135209 h 135209"/>
                <a:gd name="connsiteX2" fmla="*/ 0 w 144903"/>
                <a:gd name="connsiteY2" fmla="*/ 75061 h 135209"/>
                <a:gd name="connsiteX3" fmla="*/ 27340 w 144903"/>
                <a:gd name="connsiteY3" fmla="*/ 20380 h 135209"/>
                <a:gd name="connsiteX4" fmla="*/ 120297 w 144903"/>
                <a:gd name="connsiteY4" fmla="*/ 1242 h 135209"/>
                <a:gd name="connsiteX5" fmla="*/ 120297 w 144903"/>
                <a:gd name="connsiteY5" fmla="*/ 1242 h 135209"/>
                <a:gd name="connsiteX6" fmla="*/ 144904 w 144903"/>
                <a:gd name="connsiteY6" fmla="*/ 1242 h 135209"/>
                <a:gd name="connsiteX7" fmla="*/ 144904 w 144903"/>
                <a:gd name="connsiteY7" fmla="*/ 28582 h 135209"/>
                <a:gd name="connsiteX8" fmla="*/ 123032 w 144903"/>
                <a:gd name="connsiteY8" fmla="*/ 28582 h 135209"/>
                <a:gd name="connsiteX9" fmla="*/ 120297 w 144903"/>
                <a:gd name="connsiteY9" fmla="*/ 28582 h 135209"/>
                <a:gd name="connsiteX10" fmla="*/ 117563 w 144903"/>
                <a:gd name="connsiteY10" fmla="*/ 28582 h 135209"/>
                <a:gd name="connsiteX11" fmla="*/ 46478 w 144903"/>
                <a:gd name="connsiteY11" fmla="*/ 42252 h 135209"/>
                <a:gd name="connsiteX12" fmla="*/ 27340 w 144903"/>
                <a:gd name="connsiteY12" fmla="*/ 77795 h 135209"/>
                <a:gd name="connsiteX13" fmla="*/ 27340 w 144903"/>
                <a:gd name="connsiteY13" fmla="*/ 135209 h 13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4903" h="135209">
                  <a:moveTo>
                    <a:pt x="27340" y="135209"/>
                  </a:moveTo>
                  <a:lnTo>
                    <a:pt x="0" y="135209"/>
                  </a:lnTo>
                  <a:lnTo>
                    <a:pt x="0" y="75061"/>
                  </a:lnTo>
                  <a:cubicBezTo>
                    <a:pt x="0" y="64125"/>
                    <a:pt x="5468" y="39518"/>
                    <a:pt x="27340" y="20380"/>
                  </a:cubicBezTo>
                  <a:cubicBezTo>
                    <a:pt x="54681" y="-1492"/>
                    <a:pt x="106627" y="-1492"/>
                    <a:pt x="120297" y="1242"/>
                  </a:cubicBezTo>
                  <a:lnTo>
                    <a:pt x="120297" y="1242"/>
                  </a:lnTo>
                  <a:cubicBezTo>
                    <a:pt x="125766" y="1242"/>
                    <a:pt x="133968" y="1242"/>
                    <a:pt x="144904" y="1242"/>
                  </a:cubicBezTo>
                  <a:lnTo>
                    <a:pt x="144904" y="28582"/>
                  </a:lnTo>
                  <a:cubicBezTo>
                    <a:pt x="133968" y="28582"/>
                    <a:pt x="128499" y="28582"/>
                    <a:pt x="123032" y="28582"/>
                  </a:cubicBezTo>
                  <a:lnTo>
                    <a:pt x="120297" y="28582"/>
                  </a:lnTo>
                  <a:lnTo>
                    <a:pt x="117563" y="28582"/>
                  </a:lnTo>
                  <a:cubicBezTo>
                    <a:pt x="106627" y="28582"/>
                    <a:pt x="62882" y="28582"/>
                    <a:pt x="46478" y="42252"/>
                  </a:cubicBezTo>
                  <a:cubicBezTo>
                    <a:pt x="32808" y="55922"/>
                    <a:pt x="30075" y="72327"/>
                    <a:pt x="27340" y="77795"/>
                  </a:cubicBezTo>
                  <a:lnTo>
                    <a:pt x="27340" y="135209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146">
              <a:extLst>
                <a:ext uri="{FF2B5EF4-FFF2-40B4-BE49-F238E27FC236}">
                  <a16:creationId xmlns:a16="http://schemas.microsoft.com/office/drawing/2014/main" id="{DAD7D0A3-CB16-4134-9966-474BFABA26E5}"/>
                </a:ext>
              </a:extLst>
            </p:cNvPr>
            <p:cNvSpPr/>
            <p:nvPr/>
          </p:nvSpPr>
          <p:spPr>
            <a:xfrm>
              <a:off x="8650875" y="3265204"/>
              <a:ext cx="376906" cy="378893"/>
            </a:xfrm>
            <a:custGeom>
              <a:avLst/>
              <a:gdLst>
                <a:gd name="connsiteX0" fmla="*/ 188648 w 376906"/>
                <a:gd name="connsiteY0" fmla="*/ 378894 h 378893"/>
                <a:gd name="connsiteX1" fmla="*/ 76553 w 376906"/>
                <a:gd name="connsiteY1" fmla="*/ 343351 h 378893"/>
                <a:gd name="connsiteX2" fmla="*/ 51947 w 376906"/>
                <a:gd name="connsiteY2" fmla="*/ 324213 h 378893"/>
                <a:gd name="connsiteX3" fmla="*/ 71084 w 376906"/>
                <a:gd name="connsiteY3" fmla="*/ 305075 h 378893"/>
                <a:gd name="connsiteX4" fmla="*/ 90223 w 376906"/>
                <a:gd name="connsiteY4" fmla="*/ 321479 h 378893"/>
                <a:gd name="connsiteX5" fmla="*/ 210520 w 376906"/>
                <a:gd name="connsiteY5" fmla="*/ 351553 h 378893"/>
                <a:gd name="connsiteX6" fmla="*/ 317147 w 376906"/>
                <a:gd name="connsiteY6" fmla="*/ 285936 h 378893"/>
                <a:gd name="connsiteX7" fmla="*/ 347222 w 376906"/>
                <a:gd name="connsiteY7" fmla="*/ 165639 h 378893"/>
                <a:gd name="connsiteX8" fmla="*/ 281605 w 376906"/>
                <a:gd name="connsiteY8" fmla="*/ 59012 h 378893"/>
                <a:gd name="connsiteX9" fmla="*/ 54681 w 376906"/>
                <a:gd name="connsiteY9" fmla="*/ 94554 h 378893"/>
                <a:gd name="connsiteX10" fmla="*/ 27340 w 376906"/>
                <a:gd name="connsiteY10" fmla="*/ 154703 h 378893"/>
                <a:gd name="connsiteX11" fmla="*/ 0 w 376906"/>
                <a:gd name="connsiteY11" fmla="*/ 149235 h 378893"/>
                <a:gd name="connsiteX12" fmla="*/ 32808 w 376906"/>
                <a:gd name="connsiteY12" fmla="*/ 78150 h 378893"/>
                <a:gd name="connsiteX13" fmla="*/ 298010 w 376906"/>
                <a:gd name="connsiteY13" fmla="*/ 37139 h 378893"/>
                <a:gd name="connsiteX14" fmla="*/ 374562 w 376906"/>
                <a:gd name="connsiteY14" fmla="*/ 160171 h 378893"/>
                <a:gd name="connsiteX15" fmla="*/ 339020 w 376906"/>
                <a:gd name="connsiteY15" fmla="*/ 302341 h 378893"/>
                <a:gd name="connsiteX16" fmla="*/ 188648 w 376906"/>
                <a:gd name="connsiteY16" fmla="*/ 378894 h 378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906" h="378893">
                  <a:moveTo>
                    <a:pt x="188648" y="378894"/>
                  </a:moveTo>
                  <a:cubicBezTo>
                    <a:pt x="150372" y="378894"/>
                    <a:pt x="109361" y="367957"/>
                    <a:pt x="76553" y="343351"/>
                  </a:cubicBezTo>
                  <a:cubicBezTo>
                    <a:pt x="68351" y="337883"/>
                    <a:pt x="60148" y="329681"/>
                    <a:pt x="51947" y="324213"/>
                  </a:cubicBezTo>
                  <a:lnTo>
                    <a:pt x="71084" y="305075"/>
                  </a:lnTo>
                  <a:cubicBezTo>
                    <a:pt x="76553" y="310543"/>
                    <a:pt x="84754" y="316011"/>
                    <a:pt x="90223" y="321479"/>
                  </a:cubicBezTo>
                  <a:cubicBezTo>
                    <a:pt x="125765" y="346085"/>
                    <a:pt x="169510" y="357021"/>
                    <a:pt x="210520" y="351553"/>
                  </a:cubicBezTo>
                  <a:cubicBezTo>
                    <a:pt x="254265" y="346085"/>
                    <a:pt x="289807" y="321479"/>
                    <a:pt x="317147" y="285936"/>
                  </a:cubicBezTo>
                  <a:cubicBezTo>
                    <a:pt x="341754" y="250394"/>
                    <a:pt x="352690" y="209384"/>
                    <a:pt x="347222" y="165639"/>
                  </a:cubicBezTo>
                  <a:cubicBezTo>
                    <a:pt x="341754" y="121894"/>
                    <a:pt x="317147" y="86352"/>
                    <a:pt x="281605" y="59012"/>
                  </a:cubicBezTo>
                  <a:cubicBezTo>
                    <a:pt x="210520" y="7065"/>
                    <a:pt x="106627" y="20735"/>
                    <a:pt x="54681" y="94554"/>
                  </a:cubicBezTo>
                  <a:cubicBezTo>
                    <a:pt x="41011" y="113692"/>
                    <a:pt x="32808" y="132831"/>
                    <a:pt x="27340" y="154703"/>
                  </a:cubicBezTo>
                  <a:lnTo>
                    <a:pt x="0" y="149235"/>
                  </a:lnTo>
                  <a:cubicBezTo>
                    <a:pt x="5468" y="124628"/>
                    <a:pt x="16404" y="100022"/>
                    <a:pt x="32808" y="78150"/>
                  </a:cubicBezTo>
                  <a:cubicBezTo>
                    <a:pt x="95691" y="-6605"/>
                    <a:pt x="213254" y="-25744"/>
                    <a:pt x="298010" y="37139"/>
                  </a:cubicBezTo>
                  <a:cubicBezTo>
                    <a:pt x="339020" y="67214"/>
                    <a:pt x="366361" y="110958"/>
                    <a:pt x="374562" y="160171"/>
                  </a:cubicBezTo>
                  <a:cubicBezTo>
                    <a:pt x="382765" y="209384"/>
                    <a:pt x="369095" y="261330"/>
                    <a:pt x="339020" y="302341"/>
                  </a:cubicBezTo>
                  <a:cubicBezTo>
                    <a:pt x="306211" y="351553"/>
                    <a:pt x="248797" y="378894"/>
                    <a:pt x="188648" y="378894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20" name="Группа 549">
            <a:extLst>
              <a:ext uri="{FF2B5EF4-FFF2-40B4-BE49-F238E27FC236}">
                <a16:creationId xmlns:a16="http://schemas.microsoft.com/office/drawing/2014/main" id="{A85697D9-CE65-4DBC-BBBF-42E255688D91}"/>
              </a:ext>
            </a:extLst>
          </p:cNvPr>
          <p:cNvGrpSpPr>
            <a:grpSpLocks noChangeAspect="1"/>
          </p:cNvGrpSpPr>
          <p:nvPr/>
        </p:nvGrpSpPr>
        <p:grpSpPr>
          <a:xfrm>
            <a:off x="7733936" y="4491773"/>
            <a:ext cx="408474" cy="400521"/>
            <a:chOff x="2693038" y="2890114"/>
            <a:chExt cx="1012668" cy="992951"/>
          </a:xfrm>
          <a:solidFill>
            <a:srgbClr val="000000"/>
          </a:solidFill>
        </p:grpSpPr>
        <p:sp>
          <p:nvSpPr>
            <p:cNvPr id="121" name="Полилиния: фигура 571">
              <a:extLst>
                <a:ext uri="{FF2B5EF4-FFF2-40B4-BE49-F238E27FC236}">
                  <a16:creationId xmlns:a16="http://schemas.microsoft.com/office/drawing/2014/main" id="{1082AF75-B411-4D67-B9A1-D3F0D190649A}"/>
                </a:ext>
              </a:extLst>
            </p:cNvPr>
            <p:cNvSpPr/>
            <p:nvPr/>
          </p:nvSpPr>
          <p:spPr>
            <a:xfrm>
              <a:off x="2723402" y="3490696"/>
              <a:ext cx="199931" cy="348203"/>
            </a:xfrm>
            <a:custGeom>
              <a:avLst/>
              <a:gdLst>
                <a:gd name="connsiteX0" fmla="*/ 184157 w 199931"/>
                <a:gd name="connsiteY0" fmla="*/ 348203 h 348203"/>
                <a:gd name="connsiteX1" fmla="*/ 168384 w 199931"/>
                <a:gd name="connsiteY1" fmla="*/ 332430 h 348203"/>
                <a:gd name="connsiteX2" fmla="*/ 168384 w 199931"/>
                <a:gd name="connsiteY2" fmla="*/ 102135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3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3"/>
                  </a:moveTo>
                  <a:cubicBezTo>
                    <a:pt x="174693" y="348203"/>
                    <a:pt x="168384" y="341894"/>
                    <a:pt x="168384" y="332430"/>
                  </a:cubicBezTo>
                  <a:lnTo>
                    <a:pt x="168384" y="102135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7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38740"/>
                    <a:pt x="190467" y="348203"/>
                    <a:pt x="184157" y="348203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: фигура 133">
              <a:extLst>
                <a:ext uri="{FF2B5EF4-FFF2-40B4-BE49-F238E27FC236}">
                  <a16:creationId xmlns:a16="http://schemas.microsoft.com/office/drawing/2014/main" id="{91848E20-6890-4221-AC4D-849A7AD697AB}"/>
                </a:ext>
              </a:extLst>
            </p:cNvPr>
            <p:cNvSpPr/>
            <p:nvPr/>
          </p:nvSpPr>
          <p:spPr>
            <a:xfrm>
              <a:off x="2693038" y="3498188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1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1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: фигура 134">
              <a:extLst>
                <a:ext uri="{FF2B5EF4-FFF2-40B4-BE49-F238E27FC236}">
                  <a16:creationId xmlns:a16="http://schemas.microsoft.com/office/drawing/2014/main" id="{A3B40D2C-6783-4A4C-A1F0-3E808D2C8D8C}"/>
                </a:ext>
              </a:extLst>
            </p:cNvPr>
            <p:cNvSpPr/>
            <p:nvPr/>
          </p:nvSpPr>
          <p:spPr>
            <a:xfrm>
              <a:off x="2925250" y="3479260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2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135">
              <a:extLst>
                <a:ext uri="{FF2B5EF4-FFF2-40B4-BE49-F238E27FC236}">
                  <a16:creationId xmlns:a16="http://schemas.microsoft.com/office/drawing/2014/main" id="{2E1ABF99-5FE4-4CCD-A6BD-1FF0F5C05DCA}"/>
                </a:ext>
              </a:extLst>
            </p:cNvPr>
            <p:cNvSpPr/>
            <p:nvPr/>
          </p:nvSpPr>
          <p:spPr>
            <a:xfrm>
              <a:off x="2922096" y="3493796"/>
              <a:ext cx="169676" cy="99034"/>
            </a:xfrm>
            <a:custGeom>
              <a:avLst/>
              <a:gdLst>
                <a:gd name="connsiteX0" fmla="*/ 17011 w 169676"/>
                <a:gd name="connsiteY0" fmla="*/ 99035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5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5"/>
                  </a:moveTo>
                  <a:cubicBezTo>
                    <a:pt x="10702" y="99035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9035"/>
                    <a:pt x="20166" y="99035"/>
                    <a:pt x="17011" y="99035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36">
              <a:extLst>
                <a:ext uri="{FF2B5EF4-FFF2-40B4-BE49-F238E27FC236}">
                  <a16:creationId xmlns:a16="http://schemas.microsoft.com/office/drawing/2014/main" id="{2EE8BED0-C25D-47FA-BBA4-830F0CA12F7C}"/>
                </a:ext>
              </a:extLst>
            </p:cNvPr>
            <p:cNvSpPr/>
            <p:nvPr/>
          </p:nvSpPr>
          <p:spPr>
            <a:xfrm>
              <a:off x="2710783" y="3382252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8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8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7"/>
                    <a:pt x="7492" y="112782"/>
                    <a:pt x="1183" y="103318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8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37">
              <a:extLst>
                <a:ext uri="{FF2B5EF4-FFF2-40B4-BE49-F238E27FC236}">
                  <a16:creationId xmlns:a16="http://schemas.microsoft.com/office/drawing/2014/main" id="{68A081A7-B422-4B97-AC8F-40E5348FC63F}"/>
                </a:ext>
              </a:extLst>
            </p:cNvPr>
            <p:cNvSpPr/>
            <p:nvPr/>
          </p:nvSpPr>
          <p:spPr>
            <a:xfrm>
              <a:off x="2771906" y="3599140"/>
              <a:ext cx="59939" cy="97796"/>
            </a:xfrm>
            <a:custGeom>
              <a:avLst/>
              <a:gdLst>
                <a:gd name="connsiteX0" fmla="*/ 0 w 59939"/>
                <a:gd name="connsiteY0" fmla="*/ 72559 h 97796"/>
                <a:gd name="connsiteX1" fmla="*/ 59940 w 59939"/>
                <a:gd name="connsiteY1" fmla="*/ 97796 h 97796"/>
                <a:gd name="connsiteX2" fmla="*/ 59940 w 59939"/>
                <a:gd name="connsiteY2" fmla="*/ 25238 h 97796"/>
                <a:gd name="connsiteX3" fmla="*/ 0 w 59939"/>
                <a:gd name="connsiteY3" fmla="*/ 0 h 97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97796">
                  <a:moveTo>
                    <a:pt x="0" y="72559"/>
                  </a:moveTo>
                  <a:lnTo>
                    <a:pt x="59940" y="97796"/>
                  </a:lnTo>
                  <a:lnTo>
                    <a:pt x="59940" y="252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39">
              <a:extLst>
                <a:ext uri="{FF2B5EF4-FFF2-40B4-BE49-F238E27FC236}">
                  <a16:creationId xmlns:a16="http://schemas.microsoft.com/office/drawing/2014/main" id="{FB4CC23C-E287-4606-AB3C-424FB97A33CD}"/>
                </a:ext>
              </a:extLst>
            </p:cNvPr>
            <p:cNvSpPr/>
            <p:nvPr/>
          </p:nvSpPr>
          <p:spPr>
            <a:xfrm>
              <a:off x="3007328" y="2998558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40">
              <a:extLst>
                <a:ext uri="{FF2B5EF4-FFF2-40B4-BE49-F238E27FC236}">
                  <a16:creationId xmlns:a16="http://schemas.microsoft.com/office/drawing/2014/main" id="{5AA6BE21-20F1-494C-B4FF-084EEDE2954B}"/>
                </a:ext>
              </a:extLst>
            </p:cNvPr>
            <p:cNvSpPr/>
            <p:nvPr/>
          </p:nvSpPr>
          <p:spPr>
            <a:xfrm>
              <a:off x="2980118" y="3006050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41">
              <a:extLst>
                <a:ext uri="{FF2B5EF4-FFF2-40B4-BE49-F238E27FC236}">
                  <a16:creationId xmlns:a16="http://schemas.microsoft.com/office/drawing/2014/main" id="{5C6ECAED-A676-47B6-8AF3-84430750D6C6}"/>
                </a:ext>
              </a:extLst>
            </p:cNvPr>
            <p:cNvSpPr/>
            <p:nvPr/>
          </p:nvSpPr>
          <p:spPr>
            <a:xfrm>
              <a:off x="3212331" y="2987122"/>
              <a:ext cx="206295" cy="353330"/>
            </a:xfrm>
            <a:custGeom>
              <a:avLst/>
              <a:gdLst>
                <a:gd name="connsiteX0" fmla="*/ 13857 w 206295"/>
                <a:gd name="connsiteY0" fmla="*/ 353330 h 353330"/>
                <a:gd name="connsiteX1" fmla="*/ 1238 w 206295"/>
                <a:gd name="connsiteY1" fmla="*/ 343866 h 353330"/>
                <a:gd name="connsiteX2" fmla="*/ 7547 w 206295"/>
                <a:gd name="connsiteY2" fmla="*/ 321783 h 353330"/>
                <a:gd name="connsiteX3" fmla="*/ 174748 w 206295"/>
                <a:gd name="connsiteY3" fmla="*/ 233450 h 353330"/>
                <a:gd name="connsiteX4" fmla="*/ 174748 w 206295"/>
                <a:gd name="connsiteY4" fmla="*/ 15774 h 353330"/>
                <a:gd name="connsiteX5" fmla="*/ 190522 w 206295"/>
                <a:gd name="connsiteY5" fmla="*/ 0 h 353330"/>
                <a:gd name="connsiteX6" fmla="*/ 206295 w 206295"/>
                <a:gd name="connsiteY6" fmla="*/ 15774 h 353330"/>
                <a:gd name="connsiteX7" fmla="*/ 206295 w 206295"/>
                <a:gd name="connsiteY7" fmla="*/ 242914 h 353330"/>
                <a:gd name="connsiteX8" fmla="*/ 196831 w 206295"/>
                <a:gd name="connsiteY8" fmla="*/ 255533 h 353330"/>
                <a:gd name="connsiteX9" fmla="*/ 23321 w 206295"/>
                <a:gd name="connsiteY9" fmla="*/ 350175 h 353330"/>
                <a:gd name="connsiteX10" fmla="*/ 13857 w 206295"/>
                <a:gd name="connsiteY10" fmla="*/ 353330 h 35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30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142">
              <a:extLst>
                <a:ext uri="{FF2B5EF4-FFF2-40B4-BE49-F238E27FC236}">
                  <a16:creationId xmlns:a16="http://schemas.microsoft.com/office/drawing/2014/main" id="{8C498A58-E645-4C6C-AC84-C4AB3F00B9E7}"/>
                </a:ext>
              </a:extLst>
            </p:cNvPr>
            <p:cNvSpPr/>
            <p:nvPr/>
          </p:nvSpPr>
          <p:spPr>
            <a:xfrm>
              <a:off x="3209176" y="3004812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19" y="-1917"/>
                    <a:pt x="162129" y="1238"/>
                    <a:pt x="168438" y="7547"/>
                  </a:cubicBezTo>
                  <a:cubicBezTo>
                    <a:pt x="171593" y="13857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5880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143">
              <a:extLst>
                <a:ext uri="{FF2B5EF4-FFF2-40B4-BE49-F238E27FC236}">
                  <a16:creationId xmlns:a16="http://schemas.microsoft.com/office/drawing/2014/main" id="{F452768E-DC09-47A4-942E-8C84428B3C0C}"/>
                </a:ext>
              </a:extLst>
            </p:cNvPr>
            <p:cNvSpPr/>
            <p:nvPr/>
          </p:nvSpPr>
          <p:spPr>
            <a:xfrm>
              <a:off x="2997864" y="2890114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7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6"/>
                    <a:pt x="7492" y="112782"/>
                    <a:pt x="1183" y="103317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7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144">
              <a:extLst>
                <a:ext uri="{FF2B5EF4-FFF2-40B4-BE49-F238E27FC236}">
                  <a16:creationId xmlns:a16="http://schemas.microsoft.com/office/drawing/2014/main" id="{EEE60CD0-B6F0-4B92-AD10-2611E8D2323C}"/>
                </a:ext>
              </a:extLst>
            </p:cNvPr>
            <p:cNvSpPr/>
            <p:nvPr/>
          </p:nvSpPr>
          <p:spPr>
            <a:xfrm>
              <a:off x="3058987" y="3107001"/>
              <a:ext cx="59939" cy="100951"/>
            </a:xfrm>
            <a:custGeom>
              <a:avLst/>
              <a:gdLst>
                <a:gd name="connsiteX0" fmla="*/ 0 w 59939"/>
                <a:gd name="connsiteY0" fmla="*/ 72559 h 100951"/>
                <a:gd name="connsiteX1" fmla="*/ 59940 w 59939"/>
                <a:gd name="connsiteY1" fmla="*/ 100952 h 100951"/>
                <a:gd name="connsiteX2" fmla="*/ 59940 w 59939"/>
                <a:gd name="connsiteY2" fmla="*/ 28393 h 100951"/>
                <a:gd name="connsiteX3" fmla="*/ 0 w 59939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100951">
                  <a:moveTo>
                    <a:pt x="0" y="72559"/>
                  </a:moveTo>
                  <a:lnTo>
                    <a:pt x="59940" y="100952"/>
                  </a:lnTo>
                  <a:lnTo>
                    <a:pt x="59940" y="2839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146">
              <a:extLst>
                <a:ext uri="{FF2B5EF4-FFF2-40B4-BE49-F238E27FC236}">
                  <a16:creationId xmlns:a16="http://schemas.microsoft.com/office/drawing/2014/main" id="{11C52991-2200-4C87-BBCD-EA2A8A079E42}"/>
                </a:ext>
              </a:extLst>
            </p:cNvPr>
            <p:cNvSpPr/>
            <p:nvPr/>
          </p:nvSpPr>
          <p:spPr>
            <a:xfrm>
              <a:off x="3294409" y="3481232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147">
              <a:extLst>
                <a:ext uri="{FF2B5EF4-FFF2-40B4-BE49-F238E27FC236}">
                  <a16:creationId xmlns:a16="http://schemas.microsoft.com/office/drawing/2014/main" id="{B3A7E4A4-8BE7-4D05-B42A-F1A90B75F82A}"/>
                </a:ext>
              </a:extLst>
            </p:cNvPr>
            <p:cNvSpPr/>
            <p:nvPr/>
          </p:nvSpPr>
          <p:spPr>
            <a:xfrm>
              <a:off x="3267199" y="3488724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31247"/>
                    <a:pt x="179820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148">
              <a:extLst>
                <a:ext uri="{FF2B5EF4-FFF2-40B4-BE49-F238E27FC236}">
                  <a16:creationId xmlns:a16="http://schemas.microsoft.com/office/drawing/2014/main" id="{6E6A662A-482F-466A-A4B4-739E32997023}"/>
                </a:ext>
              </a:extLst>
            </p:cNvPr>
            <p:cNvSpPr/>
            <p:nvPr/>
          </p:nvSpPr>
          <p:spPr>
            <a:xfrm>
              <a:off x="3499411" y="3469795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1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1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17011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149">
              <a:extLst>
                <a:ext uri="{FF2B5EF4-FFF2-40B4-BE49-F238E27FC236}">
                  <a16:creationId xmlns:a16="http://schemas.microsoft.com/office/drawing/2014/main" id="{F8D740CF-03DD-4975-8DFB-EB9758D7255A}"/>
                </a:ext>
              </a:extLst>
            </p:cNvPr>
            <p:cNvSpPr/>
            <p:nvPr/>
          </p:nvSpPr>
          <p:spPr>
            <a:xfrm>
              <a:off x="3496257" y="3487486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0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0166" y="99034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150">
              <a:extLst>
                <a:ext uri="{FF2B5EF4-FFF2-40B4-BE49-F238E27FC236}">
                  <a16:creationId xmlns:a16="http://schemas.microsoft.com/office/drawing/2014/main" id="{1A20FED7-9C47-4A34-8519-8F1BA46BE8E3}"/>
                </a:ext>
              </a:extLst>
            </p:cNvPr>
            <p:cNvSpPr/>
            <p:nvPr/>
          </p:nvSpPr>
          <p:spPr>
            <a:xfrm>
              <a:off x="3284944" y="3372788"/>
              <a:ext cx="396707" cy="113964"/>
            </a:xfrm>
            <a:custGeom>
              <a:avLst/>
              <a:gdLst>
                <a:gd name="connsiteX0" fmla="*/ 379751 w 396707"/>
                <a:gd name="connsiteY0" fmla="*/ 112781 h 113964"/>
                <a:gd name="connsiteX1" fmla="*/ 373441 w 396707"/>
                <a:gd name="connsiteY1" fmla="*/ 112781 h 113964"/>
                <a:gd name="connsiteX2" fmla="*/ 193622 w 396707"/>
                <a:gd name="connsiteY2" fmla="*/ 37068 h 113964"/>
                <a:gd name="connsiteX3" fmla="*/ 23266 w 396707"/>
                <a:gd name="connsiteY3" fmla="*/ 112781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4 w 396707"/>
                <a:gd name="connsiteY9" fmla="*/ 103317 h 113964"/>
                <a:gd name="connsiteX10" fmla="*/ 379751 w 396707"/>
                <a:gd name="connsiteY10" fmla="*/ 112781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1"/>
                  </a:moveTo>
                  <a:cubicBezTo>
                    <a:pt x="376596" y="112781"/>
                    <a:pt x="376596" y="112781"/>
                    <a:pt x="373441" y="112781"/>
                  </a:cubicBezTo>
                  <a:lnTo>
                    <a:pt x="193622" y="37068"/>
                  </a:lnTo>
                  <a:lnTo>
                    <a:pt x="23266" y="112781"/>
                  </a:lnTo>
                  <a:cubicBezTo>
                    <a:pt x="13802" y="115936"/>
                    <a:pt x="7492" y="112781"/>
                    <a:pt x="1183" y="103317"/>
                  </a:cubicBezTo>
                  <a:cubicBezTo>
                    <a:pt x="-1972" y="93853"/>
                    <a:pt x="1183" y="87543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4" y="84389"/>
                    <a:pt x="398679" y="93853"/>
                    <a:pt x="395524" y="103317"/>
                  </a:cubicBezTo>
                  <a:cubicBezTo>
                    <a:pt x="392370" y="109627"/>
                    <a:pt x="386060" y="112781"/>
                    <a:pt x="379751" y="11278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151">
              <a:extLst>
                <a:ext uri="{FF2B5EF4-FFF2-40B4-BE49-F238E27FC236}">
                  <a16:creationId xmlns:a16="http://schemas.microsoft.com/office/drawing/2014/main" id="{E7E59AAE-AD1E-470F-B7DB-C8C3197F51BF}"/>
                </a:ext>
              </a:extLst>
            </p:cNvPr>
            <p:cNvSpPr/>
            <p:nvPr/>
          </p:nvSpPr>
          <p:spPr>
            <a:xfrm>
              <a:off x="3563744" y="3592830"/>
              <a:ext cx="56785" cy="100951"/>
            </a:xfrm>
            <a:custGeom>
              <a:avLst/>
              <a:gdLst>
                <a:gd name="connsiteX0" fmla="*/ 56785 w 56785"/>
                <a:gd name="connsiteY0" fmla="*/ 72558 h 100951"/>
                <a:gd name="connsiteX1" fmla="*/ 0 w 56785"/>
                <a:gd name="connsiteY1" fmla="*/ 100951 h 100951"/>
                <a:gd name="connsiteX2" fmla="*/ 0 w 56785"/>
                <a:gd name="connsiteY2" fmla="*/ 28392 h 100951"/>
                <a:gd name="connsiteX3" fmla="*/ 56785 w 56785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5" h="100951">
                  <a:moveTo>
                    <a:pt x="56785" y="72558"/>
                  </a:moveTo>
                  <a:lnTo>
                    <a:pt x="0" y="100951"/>
                  </a:lnTo>
                  <a:lnTo>
                    <a:pt x="0" y="28392"/>
                  </a:lnTo>
                  <a:lnTo>
                    <a:pt x="56785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152">
              <a:extLst>
                <a:ext uri="{FF2B5EF4-FFF2-40B4-BE49-F238E27FC236}">
                  <a16:creationId xmlns:a16="http://schemas.microsoft.com/office/drawing/2014/main" id="{DA95CFD3-93D1-4560-913D-0037472373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57749" y="3767608"/>
              <a:ext cx="293359" cy="115457"/>
            </a:xfrm>
            <a:custGeom>
              <a:avLst/>
              <a:gdLst>
                <a:gd name="connsiteX0" fmla="*/ 140046 w 293359"/>
                <a:gd name="connsiteY0" fmla="*/ 115457 h 115457"/>
                <a:gd name="connsiteX1" fmla="*/ 7547 w 293359"/>
                <a:gd name="connsiteY1" fmla="*/ 39743 h 115457"/>
                <a:gd name="connsiteX2" fmla="*/ 1238 w 293359"/>
                <a:gd name="connsiteY2" fmla="*/ 17660 h 115457"/>
                <a:gd name="connsiteX3" fmla="*/ 23321 w 293359"/>
                <a:gd name="connsiteY3" fmla="*/ 11351 h 115457"/>
                <a:gd name="connsiteX4" fmla="*/ 140046 w 293359"/>
                <a:gd name="connsiteY4" fmla="*/ 77600 h 115457"/>
                <a:gd name="connsiteX5" fmla="*/ 269390 w 293359"/>
                <a:gd name="connsiteY5" fmla="*/ 1887 h 115457"/>
                <a:gd name="connsiteX6" fmla="*/ 291473 w 293359"/>
                <a:gd name="connsiteY6" fmla="*/ 8196 h 115457"/>
                <a:gd name="connsiteX7" fmla="*/ 285163 w 293359"/>
                <a:gd name="connsiteY7" fmla="*/ 30279 h 115457"/>
                <a:gd name="connsiteX8" fmla="*/ 140046 w 293359"/>
                <a:gd name="connsiteY8" fmla="*/ 115457 h 115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359" h="115457">
                  <a:moveTo>
                    <a:pt x="140046" y="115457"/>
                  </a:moveTo>
                  <a:lnTo>
                    <a:pt x="7547" y="39743"/>
                  </a:lnTo>
                  <a:cubicBezTo>
                    <a:pt x="1238" y="36589"/>
                    <a:pt x="-1917" y="27125"/>
                    <a:pt x="1238" y="17660"/>
                  </a:cubicBezTo>
                  <a:cubicBezTo>
                    <a:pt x="4392" y="11351"/>
                    <a:pt x="13857" y="8196"/>
                    <a:pt x="23321" y="11351"/>
                  </a:cubicBezTo>
                  <a:lnTo>
                    <a:pt x="140046" y="77600"/>
                  </a:lnTo>
                  <a:lnTo>
                    <a:pt x="269390" y="1887"/>
                  </a:lnTo>
                  <a:cubicBezTo>
                    <a:pt x="275699" y="-1268"/>
                    <a:pt x="285163" y="-1268"/>
                    <a:pt x="291473" y="8196"/>
                  </a:cubicBezTo>
                  <a:cubicBezTo>
                    <a:pt x="294628" y="14506"/>
                    <a:pt x="294628" y="23970"/>
                    <a:pt x="285163" y="30279"/>
                  </a:cubicBezTo>
                  <a:lnTo>
                    <a:pt x="140046" y="11545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153">
              <a:extLst>
                <a:ext uri="{FF2B5EF4-FFF2-40B4-BE49-F238E27FC236}">
                  <a16:creationId xmlns:a16="http://schemas.microsoft.com/office/drawing/2014/main" id="{40B5DC1A-72DB-4D3B-8FB4-4D078CD711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853" y="3143621"/>
              <a:ext cx="152664" cy="256770"/>
            </a:xfrm>
            <a:custGeom>
              <a:avLst/>
              <a:gdLst>
                <a:gd name="connsiteX0" fmla="*/ 136891 w 152664"/>
                <a:gd name="connsiteY0" fmla="*/ 256771 h 256770"/>
                <a:gd name="connsiteX1" fmla="*/ 121117 w 152664"/>
                <a:gd name="connsiteY1" fmla="*/ 240997 h 256770"/>
                <a:gd name="connsiteX2" fmla="*/ 121117 w 152664"/>
                <a:gd name="connsiteY2" fmla="*/ 95880 h 256770"/>
                <a:gd name="connsiteX3" fmla="*/ 7547 w 152664"/>
                <a:gd name="connsiteY3" fmla="*/ 29630 h 256770"/>
                <a:gd name="connsiteX4" fmla="*/ 1238 w 152664"/>
                <a:gd name="connsiteY4" fmla="*/ 7547 h 256770"/>
                <a:gd name="connsiteX5" fmla="*/ 23321 w 152664"/>
                <a:gd name="connsiteY5" fmla="*/ 1238 h 256770"/>
                <a:gd name="connsiteX6" fmla="*/ 152665 w 152664"/>
                <a:gd name="connsiteY6" fmla="*/ 76951 h 256770"/>
                <a:gd name="connsiteX7" fmla="*/ 152665 w 152664"/>
                <a:gd name="connsiteY7" fmla="*/ 240997 h 256770"/>
                <a:gd name="connsiteX8" fmla="*/ 136891 w 152664"/>
                <a:gd name="connsiteY8" fmla="*/ 256771 h 25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64" h="256770">
                  <a:moveTo>
                    <a:pt x="136891" y="256771"/>
                  </a:moveTo>
                  <a:cubicBezTo>
                    <a:pt x="127427" y="256771"/>
                    <a:pt x="121117" y="250461"/>
                    <a:pt x="121117" y="240997"/>
                  </a:cubicBezTo>
                  <a:lnTo>
                    <a:pt x="121117" y="95880"/>
                  </a:lnTo>
                  <a:lnTo>
                    <a:pt x="7547" y="29630"/>
                  </a:lnTo>
                  <a:cubicBezTo>
                    <a:pt x="1238" y="26475"/>
                    <a:pt x="-1917" y="17011"/>
                    <a:pt x="1238" y="7547"/>
                  </a:cubicBezTo>
                  <a:cubicBezTo>
                    <a:pt x="4392" y="1238"/>
                    <a:pt x="13857" y="-1917"/>
                    <a:pt x="23321" y="1238"/>
                  </a:cubicBezTo>
                  <a:lnTo>
                    <a:pt x="152665" y="76951"/>
                  </a:lnTo>
                  <a:lnTo>
                    <a:pt x="152665" y="240997"/>
                  </a:lnTo>
                  <a:cubicBezTo>
                    <a:pt x="152665" y="250461"/>
                    <a:pt x="146355" y="256771"/>
                    <a:pt x="136891" y="25677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154">
              <a:extLst>
                <a:ext uri="{FF2B5EF4-FFF2-40B4-BE49-F238E27FC236}">
                  <a16:creationId xmlns:a16="http://schemas.microsoft.com/office/drawing/2014/main" id="{67618FCA-3B6D-401A-B9F6-329671D661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6072" y="3139817"/>
              <a:ext cx="159623" cy="263729"/>
            </a:xfrm>
            <a:custGeom>
              <a:avLst/>
              <a:gdLst>
                <a:gd name="connsiteX0" fmla="*/ 15774 w 159623"/>
                <a:gd name="connsiteY0" fmla="*/ 263730 h 263729"/>
                <a:gd name="connsiteX1" fmla="*/ 0 w 159623"/>
                <a:gd name="connsiteY1" fmla="*/ 247956 h 263729"/>
                <a:gd name="connsiteX2" fmla="*/ 0 w 159623"/>
                <a:gd name="connsiteY2" fmla="*/ 80755 h 263729"/>
                <a:gd name="connsiteX3" fmla="*/ 135653 w 159623"/>
                <a:gd name="connsiteY3" fmla="*/ 1887 h 263729"/>
                <a:gd name="connsiteX4" fmla="*/ 157737 w 159623"/>
                <a:gd name="connsiteY4" fmla="*/ 8196 h 263729"/>
                <a:gd name="connsiteX5" fmla="*/ 151427 w 159623"/>
                <a:gd name="connsiteY5" fmla="*/ 30279 h 263729"/>
                <a:gd name="connsiteX6" fmla="*/ 31547 w 159623"/>
                <a:gd name="connsiteY6" fmla="*/ 99684 h 263729"/>
                <a:gd name="connsiteX7" fmla="*/ 31547 w 159623"/>
                <a:gd name="connsiteY7" fmla="*/ 247956 h 263729"/>
                <a:gd name="connsiteX8" fmla="*/ 15774 w 159623"/>
                <a:gd name="connsiteY8" fmla="*/ 263730 h 26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623" h="263729">
                  <a:moveTo>
                    <a:pt x="15774" y="263730"/>
                  </a:moveTo>
                  <a:cubicBezTo>
                    <a:pt x="6309" y="263730"/>
                    <a:pt x="0" y="257420"/>
                    <a:pt x="0" y="247956"/>
                  </a:cubicBezTo>
                  <a:lnTo>
                    <a:pt x="0" y="80755"/>
                  </a:lnTo>
                  <a:lnTo>
                    <a:pt x="135653" y="1887"/>
                  </a:lnTo>
                  <a:cubicBezTo>
                    <a:pt x="141963" y="-1268"/>
                    <a:pt x="151427" y="-1268"/>
                    <a:pt x="157737" y="8196"/>
                  </a:cubicBezTo>
                  <a:cubicBezTo>
                    <a:pt x="160891" y="14506"/>
                    <a:pt x="160891" y="23970"/>
                    <a:pt x="151427" y="30279"/>
                  </a:cubicBezTo>
                  <a:lnTo>
                    <a:pt x="31547" y="99684"/>
                  </a:lnTo>
                  <a:lnTo>
                    <a:pt x="31547" y="247956"/>
                  </a:lnTo>
                  <a:cubicBezTo>
                    <a:pt x="31547" y="257420"/>
                    <a:pt x="25238" y="263730"/>
                    <a:pt x="15774" y="2637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142" name="Группа 274">
            <a:extLst>
              <a:ext uri="{FF2B5EF4-FFF2-40B4-BE49-F238E27FC236}">
                <a16:creationId xmlns:a16="http://schemas.microsoft.com/office/drawing/2014/main" id="{DA9C3F64-DDD0-4D1F-AE14-F6BAAC6A0AB1}"/>
              </a:ext>
            </a:extLst>
          </p:cNvPr>
          <p:cNvGrpSpPr>
            <a:grpSpLocks noChangeAspect="1"/>
          </p:cNvGrpSpPr>
          <p:nvPr/>
        </p:nvGrpSpPr>
        <p:grpSpPr>
          <a:xfrm>
            <a:off x="7753022" y="3607168"/>
            <a:ext cx="387065" cy="414565"/>
            <a:chOff x="5581651" y="2116137"/>
            <a:chExt cx="893762" cy="957263"/>
          </a:xfrm>
          <a:solidFill>
            <a:srgbClr val="000000"/>
          </a:solidFill>
        </p:grpSpPr>
        <p:sp>
          <p:nvSpPr>
            <p:cNvPr id="143" name="Rectangle 393">
              <a:extLst>
                <a:ext uri="{FF2B5EF4-FFF2-40B4-BE49-F238E27FC236}">
                  <a16:creationId xmlns:a16="http://schemas.microsoft.com/office/drawing/2014/main" id="{12ABF054-3BC1-4A77-9D16-F893F8F9C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878137"/>
              <a:ext cx="115887" cy="115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" name="Rectangle 394">
              <a:extLst>
                <a:ext uri="{FF2B5EF4-FFF2-40B4-BE49-F238E27FC236}">
                  <a16:creationId xmlns:a16="http://schemas.microsoft.com/office/drawing/2014/main" id="{3F4C8B9D-4744-4420-8447-8984A6129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1" y="2878137"/>
              <a:ext cx="115887" cy="115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" name="Rectangle 395">
              <a:extLst>
                <a:ext uri="{FF2B5EF4-FFF2-40B4-BE49-F238E27FC236}">
                  <a16:creationId xmlns:a16="http://schemas.microsoft.com/office/drawing/2014/main" id="{F5DD0305-EACD-4BBD-9C91-9007AB926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711450"/>
              <a:ext cx="115887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" name="Freeform 8">
              <a:extLst>
                <a:ext uri="{FF2B5EF4-FFF2-40B4-BE49-F238E27FC236}">
                  <a16:creationId xmlns:a16="http://schemas.microsoft.com/office/drawing/2014/main" id="{935A5FE7-C12E-4047-BC69-8E7D87C50F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1651" y="2609850"/>
              <a:ext cx="468312" cy="463550"/>
            </a:xfrm>
            <a:custGeom>
              <a:avLst/>
              <a:gdLst>
                <a:gd name="T0" fmla="*/ 24 w 65"/>
                <a:gd name="T1" fmla="*/ 57 h 64"/>
                <a:gd name="T2" fmla="*/ 21 w 65"/>
                <a:gd name="T3" fmla="*/ 56 h 64"/>
                <a:gd name="T4" fmla="*/ 13 w 65"/>
                <a:gd name="T5" fmla="*/ 59 h 64"/>
                <a:gd name="T6" fmla="*/ 6 w 65"/>
                <a:gd name="T7" fmla="*/ 48 h 64"/>
                <a:gd name="T8" fmla="*/ 7 w 65"/>
                <a:gd name="T9" fmla="*/ 41 h 64"/>
                <a:gd name="T10" fmla="*/ 0 w 65"/>
                <a:gd name="T11" fmla="*/ 38 h 64"/>
                <a:gd name="T12" fmla="*/ 1 w 65"/>
                <a:gd name="T13" fmla="*/ 25 h 64"/>
                <a:gd name="T14" fmla="*/ 7 w 65"/>
                <a:gd name="T15" fmla="*/ 23 h 64"/>
                <a:gd name="T16" fmla="*/ 5 w 65"/>
                <a:gd name="T17" fmla="*/ 16 h 64"/>
                <a:gd name="T18" fmla="*/ 13 w 65"/>
                <a:gd name="T19" fmla="*/ 6 h 64"/>
                <a:gd name="T20" fmla="*/ 20 w 65"/>
                <a:gd name="T21" fmla="*/ 9 h 64"/>
                <a:gd name="T22" fmla="*/ 24 w 65"/>
                <a:gd name="T23" fmla="*/ 2 h 64"/>
                <a:gd name="T24" fmla="*/ 39 w 65"/>
                <a:gd name="T25" fmla="*/ 0 h 64"/>
                <a:gd name="T26" fmla="*/ 42 w 65"/>
                <a:gd name="T27" fmla="*/ 7 h 64"/>
                <a:gd name="T28" fmla="*/ 49 w 65"/>
                <a:gd name="T29" fmla="*/ 6 h 64"/>
                <a:gd name="T30" fmla="*/ 60 w 65"/>
                <a:gd name="T31" fmla="*/ 14 h 64"/>
                <a:gd name="T32" fmla="*/ 57 w 65"/>
                <a:gd name="T33" fmla="*/ 21 h 64"/>
                <a:gd name="T34" fmla="*/ 58 w 65"/>
                <a:gd name="T35" fmla="*/ 24 h 64"/>
                <a:gd name="T36" fmla="*/ 65 w 65"/>
                <a:gd name="T37" fmla="*/ 27 h 64"/>
                <a:gd name="T38" fmla="*/ 64 w 65"/>
                <a:gd name="T39" fmla="*/ 40 h 64"/>
                <a:gd name="T40" fmla="*/ 57 w 65"/>
                <a:gd name="T41" fmla="*/ 44 h 64"/>
                <a:gd name="T42" fmla="*/ 59 w 65"/>
                <a:gd name="T43" fmla="*/ 51 h 64"/>
                <a:gd name="T44" fmla="*/ 49 w 65"/>
                <a:gd name="T45" fmla="*/ 59 h 64"/>
                <a:gd name="T46" fmla="*/ 42 w 65"/>
                <a:gd name="T47" fmla="*/ 57 h 64"/>
                <a:gd name="T48" fmla="*/ 41 w 65"/>
                <a:gd name="T49" fmla="*/ 63 h 64"/>
                <a:gd name="T50" fmla="*/ 27 w 65"/>
                <a:gd name="T51" fmla="*/ 64 h 64"/>
                <a:gd name="T52" fmla="*/ 38 w 65"/>
                <a:gd name="T53" fmla="*/ 55 h 64"/>
                <a:gd name="T54" fmla="*/ 41 w 65"/>
                <a:gd name="T55" fmla="*/ 53 h 64"/>
                <a:gd name="T56" fmla="*/ 46 w 65"/>
                <a:gd name="T57" fmla="*/ 52 h 64"/>
                <a:gd name="T58" fmla="*/ 55 w 65"/>
                <a:gd name="T59" fmla="*/ 49 h 64"/>
                <a:gd name="T60" fmla="*/ 52 w 65"/>
                <a:gd name="T61" fmla="*/ 43 h 64"/>
                <a:gd name="T62" fmla="*/ 56 w 65"/>
                <a:gd name="T63" fmla="*/ 37 h 64"/>
                <a:gd name="T64" fmla="*/ 61 w 65"/>
                <a:gd name="T65" fmla="*/ 29 h 64"/>
                <a:gd name="T66" fmla="*/ 55 w 65"/>
                <a:gd name="T67" fmla="*/ 27 h 64"/>
                <a:gd name="T68" fmla="*/ 53 w 65"/>
                <a:gd name="T69" fmla="*/ 21 h 64"/>
                <a:gd name="T70" fmla="*/ 56 w 65"/>
                <a:gd name="T71" fmla="*/ 15 h 64"/>
                <a:gd name="T72" fmla="*/ 46 w 65"/>
                <a:gd name="T73" fmla="*/ 13 h 64"/>
                <a:gd name="T74" fmla="*/ 39 w 65"/>
                <a:gd name="T75" fmla="*/ 11 h 64"/>
                <a:gd name="T76" fmla="*/ 37 w 65"/>
                <a:gd name="T77" fmla="*/ 4 h 64"/>
                <a:gd name="T78" fmla="*/ 27 w 65"/>
                <a:gd name="T79" fmla="*/ 9 h 64"/>
                <a:gd name="T80" fmla="*/ 21 w 65"/>
                <a:gd name="T81" fmla="*/ 13 h 64"/>
                <a:gd name="T82" fmla="*/ 15 w 65"/>
                <a:gd name="T83" fmla="*/ 10 h 64"/>
                <a:gd name="T84" fmla="*/ 13 w 65"/>
                <a:gd name="T85" fmla="*/ 19 h 64"/>
                <a:gd name="T86" fmla="*/ 11 w 65"/>
                <a:gd name="T87" fmla="*/ 25 h 64"/>
                <a:gd name="T88" fmla="*/ 9 w 65"/>
                <a:gd name="T89" fmla="*/ 28 h 64"/>
                <a:gd name="T90" fmla="*/ 4 w 65"/>
                <a:gd name="T91" fmla="*/ 36 h 64"/>
                <a:gd name="T92" fmla="*/ 11 w 65"/>
                <a:gd name="T93" fmla="*/ 38 h 64"/>
                <a:gd name="T94" fmla="*/ 13 w 65"/>
                <a:gd name="T95" fmla="*/ 45 h 64"/>
                <a:gd name="T96" fmla="*/ 15 w 65"/>
                <a:gd name="T97" fmla="*/ 55 h 64"/>
                <a:gd name="T98" fmla="*/ 21 w 65"/>
                <a:gd name="T99" fmla="*/ 52 h 64"/>
                <a:gd name="T100" fmla="*/ 26 w 65"/>
                <a:gd name="T101" fmla="*/ 54 h 64"/>
                <a:gd name="T102" fmla="*/ 28 w 65"/>
                <a:gd name="T103" fmla="*/ 60 h 64"/>
                <a:gd name="T104" fmla="*/ 38 w 65"/>
                <a:gd name="T105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" h="64">
                  <a:moveTo>
                    <a:pt x="25" y="63"/>
                  </a:move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5" y="50"/>
                    <a:pt x="5" y="49"/>
                    <a:pt x="6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8" y="43"/>
                    <a:pt x="8" y="42"/>
                    <a:pt x="7" y="41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1" y="25"/>
                    <a:pt x="1" y="25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4"/>
                    <a:pt x="6" y="1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5" y="5"/>
                    <a:pt x="16" y="6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1"/>
                    <a:pt x="25" y="0"/>
                    <a:pt x="2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1" y="1"/>
                    <a:pt x="41" y="2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8"/>
                    <a:pt x="44" y="8"/>
                    <a:pt x="45" y="9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0" y="5"/>
                    <a:pt x="51" y="5"/>
                    <a:pt x="52" y="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5"/>
                    <a:pt x="60" y="16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5" y="25"/>
                    <a:pt x="65" y="26"/>
                    <a:pt x="65" y="2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9"/>
                    <a:pt x="65" y="40"/>
                    <a:pt x="64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7" y="43"/>
                    <a:pt x="57" y="4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9"/>
                    <a:pt x="60" y="50"/>
                    <a:pt x="59" y="51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9"/>
                    <a:pt x="50" y="59"/>
                    <a:pt x="49" y="59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4" y="56"/>
                    <a:pt x="43" y="56"/>
                    <a:pt x="42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0" y="64"/>
                    <a:pt x="40" y="64"/>
                    <a:pt x="39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64"/>
                    <a:pt x="25" y="64"/>
                    <a:pt x="25" y="63"/>
                  </a:cubicBezTo>
                  <a:close/>
                  <a:moveTo>
                    <a:pt x="38" y="55"/>
                  </a:moveTo>
                  <a:cubicBezTo>
                    <a:pt x="38" y="55"/>
                    <a:pt x="38" y="54"/>
                    <a:pt x="39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2" y="53"/>
                    <a:pt x="43" y="52"/>
                    <a:pt x="44" y="52"/>
                  </a:cubicBezTo>
                  <a:cubicBezTo>
                    <a:pt x="44" y="51"/>
                    <a:pt x="45" y="51"/>
                    <a:pt x="46" y="5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2" y="44"/>
                    <a:pt x="52" y="43"/>
                  </a:cubicBezTo>
                  <a:cubicBezTo>
                    <a:pt x="54" y="41"/>
                    <a:pt x="54" y="40"/>
                    <a:pt x="55" y="38"/>
                  </a:cubicBezTo>
                  <a:cubicBezTo>
                    <a:pt x="55" y="37"/>
                    <a:pt x="55" y="37"/>
                    <a:pt x="56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5" y="27"/>
                    <a:pt x="55" y="27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3" y="22"/>
                    <a:pt x="53" y="21"/>
                  </a:cubicBezTo>
                  <a:cubicBezTo>
                    <a:pt x="52" y="21"/>
                    <a:pt x="52" y="20"/>
                    <a:pt x="53" y="1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3"/>
                    <a:pt x="45" y="13"/>
                    <a:pt x="44" y="13"/>
                  </a:cubicBezTo>
                  <a:cubicBezTo>
                    <a:pt x="42" y="12"/>
                    <a:pt x="41" y="11"/>
                    <a:pt x="39" y="11"/>
                  </a:cubicBezTo>
                  <a:cubicBezTo>
                    <a:pt x="38" y="11"/>
                    <a:pt x="38" y="10"/>
                    <a:pt x="38" y="9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10"/>
                    <a:pt x="27" y="11"/>
                    <a:pt x="26" y="11"/>
                  </a:cubicBezTo>
                  <a:cubicBezTo>
                    <a:pt x="24" y="11"/>
                    <a:pt x="23" y="12"/>
                    <a:pt x="21" y="13"/>
                  </a:cubicBezTo>
                  <a:cubicBezTo>
                    <a:pt x="21" y="13"/>
                    <a:pt x="20" y="13"/>
                    <a:pt x="19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20"/>
                    <a:pt x="13" y="21"/>
                    <a:pt x="13" y="21"/>
                  </a:cubicBezTo>
                  <a:cubicBezTo>
                    <a:pt x="12" y="22"/>
                    <a:pt x="12" y="24"/>
                    <a:pt x="11" y="25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8"/>
                    <a:pt x="9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37"/>
                    <a:pt x="10" y="37"/>
                    <a:pt x="11" y="38"/>
                  </a:cubicBezTo>
                  <a:cubicBezTo>
                    <a:pt x="11" y="40"/>
                    <a:pt x="12" y="41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20" y="51"/>
                    <a:pt x="21" y="51"/>
                    <a:pt x="21" y="52"/>
                  </a:cubicBezTo>
                  <a:cubicBezTo>
                    <a:pt x="22" y="52"/>
                    <a:pt x="24" y="53"/>
                    <a:pt x="25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5"/>
                    <a:pt x="28" y="55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7" y="60"/>
                    <a:pt x="37" y="60"/>
                    <a:pt x="37" y="60"/>
                  </a:cubicBezTo>
                  <a:lnTo>
                    <a:pt x="3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" name="Freeform 9">
              <a:extLst>
                <a:ext uri="{FF2B5EF4-FFF2-40B4-BE49-F238E27FC236}">
                  <a16:creationId xmlns:a16="http://schemas.microsoft.com/office/drawing/2014/main" id="{2250677A-12CD-4060-B2B6-9C31348418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6113" y="2747962"/>
              <a:ext cx="179387" cy="188912"/>
            </a:xfrm>
            <a:custGeom>
              <a:avLst/>
              <a:gdLst>
                <a:gd name="T0" fmla="*/ 0 w 25"/>
                <a:gd name="T1" fmla="*/ 13 h 26"/>
                <a:gd name="T2" fmla="*/ 13 w 25"/>
                <a:gd name="T3" fmla="*/ 0 h 26"/>
                <a:gd name="T4" fmla="*/ 13 w 25"/>
                <a:gd name="T5" fmla="*/ 0 h 26"/>
                <a:gd name="T6" fmla="*/ 25 w 25"/>
                <a:gd name="T7" fmla="*/ 13 h 26"/>
                <a:gd name="T8" fmla="*/ 13 w 25"/>
                <a:gd name="T9" fmla="*/ 26 h 26"/>
                <a:gd name="T10" fmla="*/ 0 w 25"/>
                <a:gd name="T11" fmla="*/ 13 h 26"/>
                <a:gd name="T12" fmla="*/ 4 w 25"/>
                <a:gd name="T13" fmla="*/ 13 h 26"/>
                <a:gd name="T14" fmla="*/ 13 w 25"/>
                <a:gd name="T15" fmla="*/ 22 h 26"/>
                <a:gd name="T16" fmla="*/ 21 w 25"/>
                <a:gd name="T17" fmla="*/ 13 h 26"/>
                <a:gd name="T18" fmla="*/ 13 w 25"/>
                <a:gd name="T19" fmla="*/ 4 h 26"/>
                <a:gd name="T20" fmla="*/ 4 w 25"/>
                <a:gd name="T2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26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6"/>
                    <a:pt x="25" y="13"/>
                  </a:cubicBezTo>
                  <a:cubicBezTo>
                    <a:pt x="25" y="20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  <a:moveTo>
                    <a:pt x="4" y="13"/>
                  </a:moveTo>
                  <a:cubicBezTo>
                    <a:pt x="4" y="18"/>
                    <a:pt x="8" y="22"/>
                    <a:pt x="13" y="22"/>
                  </a:cubicBezTo>
                  <a:cubicBezTo>
                    <a:pt x="17" y="22"/>
                    <a:pt x="21" y="18"/>
                    <a:pt x="21" y="13"/>
                  </a:cubicBezTo>
                  <a:cubicBezTo>
                    <a:pt x="21" y="8"/>
                    <a:pt x="17" y="4"/>
                    <a:pt x="13" y="4"/>
                  </a:cubicBezTo>
                  <a:cubicBezTo>
                    <a:pt x="8" y="4"/>
                    <a:pt x="4" y="8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" name="Freeform 10">
              <a:extLst>
                <a:ext uri="{FF2B5EF4-FFF2-40B4-BE49-F238E27FC236}">
                  <a16:creationId xmlns:a16="http://schemas.microsoft.com/office/drawing/2014/main" id="{B869D830-94B5-4ADF-8A44-6AA4336CA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1" y="2398712"/>
              <a:ext cx="114300" cy="284162"/>
            </a:xfrm>
            <a:custGeom>
              <a:avLst/>
              <a:gdLst>
                <a:gd name="T0" fmla="*/ 11 w 16"/>
                <a:gd name="T1" fmla="*/ 31 h 39"/>
                <a:gd name="T2" fmla="*/ 10 w 16"/>
                <a:gd name="T3" fmla="*/ 31 h 39"/>
                <a:gd name="T4" fmla="*/ 4 w 16"/>
                <a:gd name="T5" fmla="*/ 31 h 39"/>
                <a:gd name="T6" fmla="*/ 3 w 16"/>
                <a:gd name="T7" fmla="*/ 38 h 39"/>
                <a:gd name="T8" fmla="*/ 0 w 16"/>
                <a:gd name="T9" fmla="*/ 39 h 39"/>
                <a:gd name="T10" fmla="*/ 0 w 16"/>
                <a:gd name="T11" fmla="*/ 0 h 39"/>
                <a:gd name="T12" fmla="*/ 16 w 16"/>
                <a:gd name="T13" fmla="*/ 0 h 39"/>
                <a:gd name="T14" fmla="*/ 16 w 16"/>
                <a:gd name="T15" fmla="*/ 31 h 39"/>
                <a:gd name="T16" fmla="*/ 11 w 16"/>
                <a:gd name="T17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9">
                  <a:moveTo>
                    <a:pt x="11" y="31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7" y="31"/>
                    <a:pt x="4" y="31"/>
                    <a:pt x="4" y="3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1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1"/>
                    <a:pt x="13" y="31"/>
                    <a:pt x="1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" name="Freeform 11">
              <a:extLst>
                <a:ext uri="{FF2B5EF4-FFF2-40B4-BE49-F238E27FC236}">
                  <a16:creationId xmlns:a16="http://schemas.microsoft.com/office/drawing/2014/main" id="{995D47E3-F506-4A83-92D3-C89D34B9B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2551112"/>
              <a:ext cx="115887" cy="442912"/>
            </a:xfrm>
            <a:custGeom>
              <a:avLst/>
              <a:gdLst>
                <a:gd name="T0" fmla="*/ 7 w 16"/>
                <a:gd name="T1" fmla="*/ 58 h 61"/>
                <a:gd name="T2" fmla="*/ 3 w 16"/>
                <a:gd name="T3" fmla="*/ 52 h 61"/>
                <a:gd name="T4" fmla="*/ 5 w 16"/>
                <a:gd name="T5" fmla="*/ 47 h 61"/>
                <a:gd name="T6" fmla="*/ 12 w 16"/>
                <a:gd name="T7" fmla="*/ 46 h 61"/>
                <a:gd name="T8" fmla="*/ 12 w 16"/>
                <a:gd name="T9" fmla="*/ 35 h 61"/>
                <a:gd name="T10" fmla="*/ 6 w 16"/>
                <a:gd name="T11" fmla="*/ 34 h 61"/>
                <a:gd name="T12" fmla="*/ 3 w 16"/>
                <a:gd name="T13" fmla="*/ 29 h 61"/>
                <a:gd name="T14" fmla="*/ 7 w 16"/>
                <a:gd name="T15" fmla="*/ 23 h 61"/>
                <a:gd name="T16" fmla="*/ 0 w 16"/>
                <a:gd name="T17" fmla="*/ 15 h 61"/>
                <a:gd name="T18" fmla="*/ 0 w 16"/>
                <a:gd name="T19" fmla="*/ 0 h 61"/>
                <a:gd name="T20" fmla="*/ 16 w 16"/>
                <a:gd name="T21" fmla="*/ 0 h 61"/>
                <a:gd name="T22" fmla="*/ 16 w 16"/>
                <a:gd name="T23" fmla="*/ 61 h 61"/>
                <a:gd name="T24" fmla="*/ 3 w 16"/>
                <a:gd name="T25" fmla="*/ 61 h 61"/>
                <a:gd name="T26" fmla="*/ 7 w 16"/>
                <a:gd name="T27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61">
                  <a:moveTo>
                    <a:pt x="7" y="58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4" y="50"/>
                    <a:pt x="5" y="49"/>
                    <a:pt x="5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2"/>
                    <a:pt x="4" y="30"/>
                    <a:pt x="3" y="2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3" y="61"/>
                    <a:pt x="3" y="61"/>
                    <a:pt x="3" y="61"/>
                  </a:cubicBezTo>
                  <a:lnTo>
                    <a:pt x="7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BA17A346-50AE-41C0-A957-F0B7B5CC5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838" y="2116137"/>
              <a:ext cx="604837" cy="485775"/>
            </a:xfrm>
            <a:custGeom>
              <a:avLst/>
              <a:gdLst>
                <a:gd name="T0" fmla="*/ 227 w 381"/>
                <a:gd name="T1" fmla="*/ 201 h 306"/>
                <a:gd name="T2" fmla="*/ 14 w 381"/>
                <a:gd name="T3" fmla="*/ 0 h 306"/>
                <a:gd name="T4" fmla="*/ 0 w 381"/>
                <a:gd name="T5" fmla="*/ 14 h 306"/>
                <a:gd name="T6" fmla="*/ 213 w 381"/>
                <a:gd name="T7" fmla="*/ 215 h 306"/>
                <a:gd name="T8" fmla="*/ 218 w 381"/>
                <a:gd name="T9" fmla="*/ 206 h 306"/>
                <a:gd name="T10" fmla="*/ 213 w 381"/>
                <a:gd name="T11" fmla="*/ 215 h 306"/>
                <a:gd name="T12" fmla="*/ 372 w 381"/>
                <a:gd name="T13" fmla="*/ 306 h 306"/>
                <a:gd name="T14" fmla="*/ 381 w 381"/>
                <a:gd name="T15" fmla="*/ 288 h 306"/>
                <a:gd name="T16" fmla="*/ 227 w 381"/>
                <a:gd name="T17" fmla="*/ 20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06">
                  <a:moveTo>
                    <a:pt x="227" y="201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213" y="215"/>
                  </a:lnTo>
                  <a:lnTo>
                    <a:pt x="218" y="206"/>
                  </a:lnTo>
                  <a:lnTo>
                    <a:pt x="213" y="215"/>
                  </a:lnTo>
                  <a:lnTo>
                    <a:pt x="372" y="306"/>
                  </a:lnTo>
                  <a:lnTo>
                    <a:pt x="381" y="288"/>
                  </a:lnTo>
                  <a:lnTo>
                    <a:pt x="22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856ABFD1-CCAB-4BD4-A489-7692836A9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6" y="2471737"/>
              <a:ext cx="173037" cy="146050"/>
            </a:xfrm>
            <a:custGeom>
              <a:avLst/>
              <a:gdLst>
                <a:gd name="T0" fmla="*/ 0 w 109"/>
                <a:gd name="T1" fmla="*/ 92 h 92"/>
                <a:gd name="T2" fmla="*/ 109 w 109"/>
                <a:gd name="T3" fmla="*/ 92 h 92"/>
                <a:gd name="T4" fmla="*/ 50 w 109"/>
                <a:gd name="T5" fmla="*/ 0 h 92"/>
                <a:gd name="T6" fmla="*/ 0 w 109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2">
                  <a:moveTo>
                    <a:pt x="0" y="92"/>
                  </a:moveTo>
                  <a:lnTo>
                    <a:pt x="109" y="92"/>
                  </a:lnTo>
                  <a:lnTo>
                    <a:pt x="50" y="0"/>
                  </a:lnTo>
                  <a:lnTo>
                    <a:pt x="0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152" name="Rectangle 12">
            <a:extLst>
              <a:ext uri="{FF2B5EF4-FFF2-40B4-BE49-F238E27FC236}">
                <a16:creationId xmlns:a16="http://schemas.microsoft.com/office/drawing/2014/main" id="{C0D38D0C-25B0-47DE-862C-6884B998AB7E}"/>
              </a:ext>
            </a:extLst>
          </p:cNvPr>
          <p:cNvSpPr/>
          <p:nvPr/>
        </p:nvSpPr>
        <p:spPr bwMode="auto">
          <a:xfrm>
            <a:off x="575108" y="3673552"/>
            <a:ext cx="3230909" cy="550385"/>
          </a:xfrm>
          <a:prstGeom prst="roundRect">
            <a:avLst>
              <a:gd name="adj" fmla="val 10153"/>
            </a:avLst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3" name="TextBox 413">
            <a:extLst>
              <a:ext uri="{FF2B5EF4-FFF2-40B4-BE49-F238E27FC236}">
                <a16:creationId xmlns:a16="http://schemas.microsoft.com/office/drawing/2014/main" id="{BEC37041-068A-46D2-9540-E20F0FE26FEE}"/>
              </a:ext>
            </a:extLst>
          </p:cNvPr>
          <p:cNvSpPr txBox="1"/>
          <p:nvPr/>
        </p:nvSpPr>
        <p:spPr bwMode="auto">
          <a:xfrm>
            <a:off x="1211525" y="3711915"/>
            <a:ext cx="2635310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Выстроим </a:t>
            </a:r>
            <a:r>
              <a:rPr lang="en-US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QA-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процессы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 специфику систем и окружения</a:t>
            </a:r>
            <a:endParaRPr kumimoji="0" lang="ru-RU" sz="100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154" name="Rectangle 12">
            <a:extLst>
              <a:ext uri="{FF2B5EF4-FFF2-40B4-BE49-F238E27FC236}">
                <a16:creationId xmlns:a16="http://schemas.microsoft.com/office/drawing/2014/main" id="{95CCED1E-6522-4059-8812-89295C2E6EDA}"/>
              </a:ext>
            </a:extLst>
          </p:cNvPr>
          <p:cNvSpPr/>
          <p:nvPr/>
        </p:nvSpPr>
        <p:spPr bwMode="auto">
          <a:xfrm>
            <a:off x="575107" y="5229256"/>
            <a:ext cx="3229627" cy="909982"/>
          </a:xfrm>
          <a:prstGeom prst="roundRect">
            <a:avLst>
              <a:gd name="adj" fmla="val 5065"/>
            </a:avLst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5" name="TextBox 419">
            <a:extLst>
              <a:ext uri="{FF2B5EF4-FFF2-40B4-BE49-F238E27FC236}">
                <a16:creationId xmlns:a16="http://schemas.microsoft.com/office/drawing/2014/main" id="{17B95D5F-3270-4A58-80B4-B6C134E7ADF5}"/>
              </a:ext>
            </a:extLst>
          </p:cNvPr>
          <p:cNvSpPr txBox="1"/>
          <p:nvPr/>
        </p:nvSpPr>
        <p:spPr bwMode="auto">
          <a:xfrm>
            <a:off x="1211525" y="5276122"/>
            <a:ext cx="2550976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7D70EF"/>
              </a:buClr>
              <a:buSzPct val="110000"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Обеспечим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сбор, хранение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 расширение базы знаний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 используемым подходам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инструментам</a:t>
            </a:r>
            <a:endParaRPr kumimoji="0" lang="ru-RU" sz="100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156" name="Rectangle 12">
            <a:extLst>
              <a:ext uri="{FF2B5EF4-FFF2-40B4-BE49-F238E27FC236}">
                <a16:creationId xmlns:a16="http://schemas.microsoft.com/office/drawing/2014/main" id="{FB2850FB-7543-4564-9D2F-5103882FB574}"/>
              </a:ext>
            </a:extLst>
          </p:cNvPr>
          <p:cNvSpPr/>
          <p:nvPr/>
        </p:nvSpPr>
        <p:spPr bwMode="auto">
          <a:xfrm>
            <a:off x="575108" y="4268715"/>
            <a:ext cx="3230909" cy="910828"/>
          </a:xfrm>
          <a:prstGeom prst="roundRect">
            <a:avLst>
              <a:gd name="adj" fmla="val 7611"/>
            </a:avLst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7" name="TextBox 421">
            <a:extLst>
              <a:ext uri="{FF2B5EF4-FFF2-40B4-BE49-F238E27FC236}">
                <a16:creationId xmlns:a16="http://schemas.microsoft.com/office/drawing/2014/main" id="{9521EBFA-AB8F-47AD-8C13-79056050B356}"/>
              </a:ext>
            </a:extLst>
          </p:cNvPr>
          <p:cNvSpPr txBox="1"/>
          <p:nvPr/>
        </p:nvSpPr>
        <p:spPr bwMode="auto">
          <a:xfrm>
            <a:off x="1211525" y="4309375"/>
            <a:ext cx="2808323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Внедрим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современные практики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тестирования, автоматизации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перехода к непрерывному тестированию</a:t>
            </a:r>
            <a:endParaRPr kumimoji="0" lang="ru-RU" sz="100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158" name="Rectangle 12">
            <a:extLst>
              <a:ext uri="{FF2B5EF4-FFF2-40B4-BE49-F238E27FC236}">
                <a16:creationId xmlns:a16="http://schemas.microsoft.com/office/drawing/2014/main" id="{9924CE7F-E606-4EB4-99BA-1B1AA7298AA8}"/>
              </a:ext>
            </a:extLst>
          </p:cNvPr>
          <p:cNvSpPr/>
          <p:nvPr/>
        </p:nvSpPr>
        <p:spPr bwMode="auto">
          <a:xfrm>
            <a:off x="3885868" y="4796050"/>
            <a:ext cx="2957639" cy="1343187"/>
          </a:xfrm>
          <a:prstGeom prst="roundRect">
            <a:avLst>
              <a:gd name="adj" fmla="val 5844"/>
            </a:avLst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9" name="TextBox 423">
            <a:extLst>
              <a:ext uri="{FF2B5EF4-FFF2-40B4-BE49-F238E27FC236}">
                <a16:creationId xmlns:a16="http://schemas.microsoft.com/office/drawing/2014/main" id="{6FCD6A83-4CBE-4E46-B496-EB881D63ABFE}"/>
              </a:ext>
            </a:extLst>
          </p:cNvPr>
          <p:cNvSpPr txBox="1"/>
          <p:nvPr/>
        </p:nvSpPr>
        <p:spPr bwMode="auto">
          <a:xfrm>
            <a:off x="4513024" y="4981901"/>
            <a:ext cx="2239517" cy="971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Выстроим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долгосрочную системную работу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над проектами с ожидаемым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прогнозируемым уровнем качества</a:t>
            </a:r>
          </a:p>
        </p:txBody>
      </p:sp>
      <p:grpSp>
        <p:nvGrpSpPr>
          <p:cNvPr id="160" name="Группа 271">
            <a:extLst>
              <a:ext uri="{FF2B5EF4-FFF2-40B4-BE49-F238E27FC236}">
                <a16:creationId xmlns:a16="http://schemas.microsoft.com/office/drawing/2014/main" id="{6952FAA7-A6A2-4EE1-B808-0B6B29D63710}"/>
              </a:ext>
            </a:extLst>
          </p:cNvPr>
          <p:cNvGrpSpPr>
            <a:grpSpLocks noChangeAspect="1"/>
          </p:cNvGrpSpPr>
          <p:nvPr/>
        </p:nvGrpSpPr>
        <p:grpSpPr>
          <a:xfrm>
            <a:off x="728930" y="3013626"/>
            <a:ext cx="407725" cy="275167"/>
            <a:chOff x="8839201" y="862012"/>
            <a:chExt cx="1030287" cy="695325"/>
          </a:xfrm>
          <a:solidFill>
            <a:srgbClr val="000000"/>
          </a:solidFill>
        </p:grpSpPr>
        <p:sp>
          <p:nvSpPr>
            <p:cNvPr id="161" name="Freeform 19">
              <a:extLst>
                <a:ext uri="{FF2B5EF4-FFF2-40B4-BE49-F238E27FC236}">
                  <a16:creationId xmlns:a16="http://schemas.microsoft.com/office/drawing/2014/main" id="{66EA6BB0-FB4C-4D5B-92CF-2F92C29371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67788" y="862012"/>
              <a:ext cx="223837" cy="231775"/>
            </a:xfrm>
            <a:custGeom>
              <a:avLst/>
              <a:gdLst>
                <a:gd name="T0" fmla="*/ 16 w 31"/>
                <a:gd name="T1" fmla="*/ 32 h 32"/>
                <a:gd name="T2" fmla="*/ 0 w 31"/>
                <a:gd name="T3" fmla="*/ 16 h 32"/>
                <a:gd name="T4" fmla="*/ 16 w 31"/>
                <a:gd name="T5" fmla="*/ 0 h 32"/>
                <a:gd name="T6" fmla="*/ 31 w 31"/>
                <a:gd name="T7" fmla="*/ 16 h 32"/>
                <a:gd name="T8" fmla="*/ 16 w 31"/>
                <a:gd name="T9" fmla="*/ 32 h 32"/>
                <a:gd name="T10" fmla="*/ 16 w 31"/>
                <a:gd name="T11" fmla="*/ 4 h 32"/>
                <a:gd name="T12" fmla="*/ 4 w 31"/>
                <a:gd name="T13" fmla="*/ 16 h 32"/>
                <a:gd name="T14" fmla="*/ 16 w 31"/>
                <a:gd name="T15" fmla="*/ 28 h 32"/>
                <a:gd name="T16" fmla="*/ 27 w 31"/>
                <a:gd name="T17" fmla="*/ 16 h 32"/>
                <a:gd name="T18" fmla="*/ 16 w 31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25"/>
                    <a:pt x="24" y="32"/>
                    <a:pt x="16" y="32"/>
                  </a:cubicBezTo>
                  <a:close/>
                  <a:moveTo>
                    <a:pt x="16" y="4"/>
                  </a:moveTo>
                  <a:cubicBezTo>
                    <a:pt x="9" y="4"/>
                    <a:pt x="4" y="9"/>
                    <a:pt x="4" y="16"/>
                  </a:cubicBezTo>
                  <a:cubicBezTo>
                    <a:pt x="4" y="22"/>
                    <a:pt x="9" y="28"/>
                    <a:pt x="16" y="28"/>
                  </a:cubicBezTo>
                  <a:cubicBezTo>
                    <a:pt x="22" y="28"/>
                    <a:pt x="27" y="22"/>
                    <a:pt x="27" y="16"/>
                  </a:cubicBezTo>
                  <a:cubicBezTo>
                    <a:pt x="27" y="9"/>
                    <a:pt x="22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2" name="Freeform 20">
              <a:extLst>
                <a:ext uri="{FF2B5EF4-FFF2-40B4-BE49-F238E27FC236}">
                  <a16:creationId xmlns:a16="http://schemas.microsoft.com/office/drawing/2014/main" id="{FA24AE13-6352-414E-9BB0-C53E1A85B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1122362"/>
              <a:ext cx="193675" cy="225425"/>
            </a:xfrm>
            <a:custGeom>
              <a:avLst/>
              <a:gdLst>
                <a:gd name="T0" fmla="*/ 4 w 27"/>
                <a:gd name="T1" fmla="*/ 31 h 31"/>
                <a:gd name="T2" fmla="*/ 0 w 27"/>
                <a:gd name="T3" fmla="*/ 31 h 31"/>
                <a:gd name="T4" fmla="*/ 0 w 27"/>
                <a:gd name="T5" fmla="*/ 16 h 31"/>
                <a:gd name="T6" fmla="*/ 6 w 27"/>
                <a:gd name="T7" fmla="*/ 4 h 31"/>
                <a:gd name="T8" fmla="*/ 27 w 27"/>
                <a:gd name="T9" fmla="*/ 0 h 31"/>
                <a:gd name="T10" fmla="*/ 27 w 27"/>
                <a:gd name="T11" fmla="*/ 4 h 31"/>
                <a:gd name="T12" fmla="*/ 9 w 27"/>
                <a:gd name="T13" fmla="*/ 7 h 31"/>
                <a:gd name="T14" fmla="*/ 4 w 27"/>
                <a:gd name="T15" fmla="*/ 16 h 31"/>
                <a:gd name="T16" fmla="*/ 4 w 27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1">
                  <a:moveTo>
                    <a:pt x="4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1" y="8"/>
                    <a:pt x="6" y="4"/>
                  </a:cubicBezTo>
                  <a:cubicBezTo>
                    <a:pt x="11" y="0"/>
                    <a:pt x="17" y="0"/>
                    <a:pt x="27" y="0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17" y="4"/>
                    <a:pt x="12" y="4"/>
                    <a:pt x="9" y="7"/>
                  </a:cubicBezTo>
                  <a:cubicBezTo>
                    <a:pt x="5" y="10"/>
                    <a:pt x="4" y="15"/>
                    <a:pt x="4" y="16"/>
                  </a:cubicBezTo>
                  <a:lnTo>
                    <a:pt x="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3" name="Freeform 21">
              <a:extLst>
                <a:ext uri="{FF2B5EF4-FFF2-40B4-BE49-F238E27FC236}">
                  <a16:creationId xmlns:a16="http://schemas.microsoft.com/office/drawing/2014/main" id="{BD1A9818-00E0-484C-B3BD-2870DE26B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2076" y="882650"/>
              <a:ext cx="152400" cy="109537"/>
            </a:xfrm>
            <a:custGeom>
              <a:avLst/>
              <a:gdLst>
                <a:gd name="T0" fmla="*/ 2 w 21"/>
                <a:gd name="T1" fmla="*/ 15 h 15"/>
                <a:gd name="T2" fmla="*/ 0 w 21"/>
                <a:gd name="T3" fmla="*/ 15 h 15"/>
                <a:gd name="T4" fmla="*/ 0 w 21"/>
                <a:gd name="T5" fmla="*/ 11 h 15"/>
                <a:gd name="T6" fmla="*/ 6 w 21"/>
                <a:gd name="T7" fmla="*/ 11 h 15"/>
                <a:gd name="T8" fmla="*/ 14 w 21"/>
                <a:gd name="T9" fmla="*/ 7 h 15"/>
                <a:gd name="T10" fmla="*/ 17 w 21"/>
                <a:gd name="T11" fmla="*/ 0 h 15"/>
                <a:gd name="T12" fmla="*/ 21 w 21"/>
                <a:gd name="T13" fmla="*/ 1 h 15"/>
                <a:gd name="T14" fmla="*/ 17 w 21"/>
                <a:gd name="T15" fmla="*/ 10 h 15"/>
                <a:gd name="T16" fmla="*/ 8 w 21"/>
                <a:gd name="T17" fmla="*/ 15 h 15"/>
                <a:gd name="T18" fmla="*/ 2 w 21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15">
                  <a:moveTo>
                    <a:pt x="2" y="15"/>
                  </a:moveTo>
                  <a:cubicBezTo>
                    <a:pt x="1" y="15"/>
                    <a:pt x="0" y="15"/>
                    <a:pt x="0" y="1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" y="12"/>
                    <a:pt x="4" y="11"/>
                    <a:pt x="6" y="11"/>
                  </a:cubicBezTo>
                  <a:cubicBezTo>
                    <a:pt x="8" y="10"/>
                    <a:pt x="11" y="10"/>
                    <a:pt x="14" y="7"/>
                  </a:cubicBezTo>
                  <a:cubicBezTo>
                    <a:pt x="16" y="5"/>
                    <a:pt x="17" y="2"/>
                    <a:pt x="17" y="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3"/>
                    <a:pt x="20" y="7"/>
                    <a:pt x="17" y="10"/>
                  </a:cubicBezTo>
                  <a:cubicBezTo>
                    <a:pt x="13" y="13"/>
                    <a:pt x="10" y="14"/>
                    <a:pt x="8" y="15"/>
                  </a:cubicBezTo>
                  <a:cubicBezTo>
                    <a:pt x="6" y="15"/>
                    <a:pt x="4" y="15"/>
                    <a:pt x="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4" name="Freeform 22">
              <a:extLst>
                <a:ext uri="{FF2B5EF4-FFF2-40B4-BE49-F238E27FC236}">
                  <a16:creationId xmlns:a16="http://schemas.microsoft.com/office/drawing/2014/main" id="{DE25CD7E-76DB-4B11-A052-892240D329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9838" y="963612"/>
              <a:ext cx="144462" cy="166687"/>
            </a:xfrm>
            <a:custGeom>
              <a:avLst/>
              <a:gdLst>
                <a:gd name="T0" fmla="*/ 3 w 20"/>
                <a:gd name="T1" fmla="*/ 23 h 23"/>
                <a:gd name="T2" fmla="*/ 2 w 20"/>
                <a:gd name="T3" fmla="*/ 22 h 23"/>
                <a:gd name="T4" fmla="*/ 1 w 20"/>
                <a:gd name="T5" fmla="*/ 21 h 23"/>
                <a:gd name="T6" fmla="*/ 2 w 20"/>
                <a:gd name="T7" fmla="*/ 10 h 23"/>
                <a:gd name="T8" fmla="*/ 8 w 20"/>
                <a:gd name="T9" fmla="*/ 4 h 23"/>
                <a:gd name="T10" fmla="*/ 18 w 20"/>
                <a:gd name="T11" fmla="*/ 2 h 23"/>
                <a:gd name="T12" fmla="*/ 19 w 20"/>
                <a:gd name="T13" fmla="*/ 5 h 23"/>
                <a:gd name="T14" fmla="*/ 16 w 20"/>
                <a:gd name="T15" fmla="*/ 15 h 23"/>
                <a:gd name="T16" fmla="*/ 10 w 20"/>
                <a:gd name="T17" fmla="*/ 19 h 23"/>
                <a:gd name="T18" fmla="*/ 4 w 20"/>
                <a:gd name="T19" fmla="*/ 22 h 23"/>
                <a:gd name="T20" fmla="*/ 3 w 20"/>
                <a:gd name="T21" fmla="*/ 23 h 23"/>
                <a:gd name="T22" fmla="*/ 15 w 20"/>
                <a:gd name="T23" fmla="*/ 5 h 23"/>
                <a:gd name="T24" fmla="*/ 10 w 20"/>
                <a:gd name="T25" fmla="*/ 7 h 23"/>
                <a:gd name="T26" fmla="*/ 6 w 20"/>
                <a:gd name="T27" fmla="*/ 12 h 23"/>
                <a:gd name="T28" fmla="*/ 5 w 20"/>
                <a:gd name="T29" fmla="*/ 18 h 23"/>
                <a:gd name="T30" fmla="*/ 9 w 20"/>
                <a:gd name="T31" fmla="*/ 16 h 23"/>
                <a:gd name="T32" fmla="*/ 13 w 20"/>
                <a:gd name="T33" fmla="*/ 13 h 23"/>
                <a:gd name="T34" fmla="*/ 15 w 20"/>
                <a:gd name="T35" fmla="*/ 5 h 23"/>
                <a:gd name="T36" fmla="*/ 15 w 20"/>
                <a:gd name="T37" fmla="*/ 5 h 23"/>
                <a:gd name="T38" fmla="*/ 15 w 20"/>
                <a:gd name="T39" fmla="*/ 5 h 23"/>
                <a:gd name="T40" fmla="*/ 15 w 20"/>
                <a:gd name="T41" fmla="*/ 5 h 23"/>
                <a:gd name="T42" fmla="*/ 15 w 20"/>
                <a:gd name="T43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3">
                  <a:moveTo>
                    <a:pt x="3" y="23"/>
                  </a:moveTo>
                  <a:cubicBezTo>
                    <a:pt x="3" y="23"/>
                    <a:pt x="2" y="23"/>
                    <a:pt x="2" y="22"/>
                  </a:cubicBezTo>
                  <a:cubicBezTo>
                    <a:pt x="1" y="22"/>
                    <a:pt x="1" y="22"/>
                    <a:pt x="1" y="21"/>
                  </a:cubicBezTo>
                  <a:cubicBezTo>
                    <a:pt x="1" y="19"/>
                    <a:pt x="0" y="14"/>
                    <a:pt x="2" y="10"/>
                  </a:cubicBezTo>
                  <a:cubicBezTo>
                    <a:pt x="4" y="6"/>
                    <a:pt x="7" y="4"/>
                    <a:pt x="8" y="4"/>
                  </a:cubicBezTo>
                  <a:cubicBezTo>
                    <a:pt x="9" y="3"/>
                    <a:pt x="14" y="0"/>
                    <a:pt x="18" y="2"/>
                  </a:cubicBezTo>
                  <a:cubicBezTo>
                    <a:pt x="18" y="3"/>
                    <a:pt x="19" y="3"/>
                    <a:pt x="19" y="5"/>
                  </a:cubicBezTo>
                  <a:cubicBezTo>
                    <a:pt x="20" y="8"/>
                    <a:pt x="18" y="12"/>
                    <a:pt x="16" y="15"/>
                  </a:cubicBezTo>
                  <a:cubicBezTo>
                    <a:pt x="15" y="17"/>
                    <a:pt x="13" y="18"/>
                    <a:pt x="10" y="19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3" y="23"/>
                    <a:pt x="3" y="23"/>
                  </a:cubicBezTo>
                  <a:close/>
                  <a:moveTo>
                    <a:pt x="15" y="5"/>
                  </a:moveTo>
                  <a:cubicBezTo>
                    <a:pt x="14" y="5"/>
                    <a:pt x="11" y="6"/>
                    <a:pt x="10" y="7"/>
                  </a:cubicBezTo>
                  <a:cubicBezTo>
                    <a:pt x="9" y="8"/>
                    <a:pt x="7" y="9"/>
                    <a:pt x="6" y="12"/>
                  </a:cubicBezTo>
                  <a:cubicBezTo>
                    <a:pt x="5" y="14"/>
                    <a:pt x="4" y="16"/>
                    <a:pt x="5" y="18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1" y="15"/>
                    <a:pt x="12" y="14"/>
                    <a:pt x="13" y="13"/>
                  </a:cubicBezTo>
                  <a:cubicBezTo>
                    <a:pt x="15" y="10"/>
                    <a:pt x="16" y="6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lose/>
                  <a:moveTo>
                    <a:pt x="15" y="5"/>
                  </a:move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5" name="Freeform 58">
              <a:extLst>
                <a:ext uri="{FF2B5EF4-FFF2-40B4-BE49-F238E27FC236}">
                  <a16:creationId xmlns:a16="http://schemas.microsoft.com/office/drawing/2014/main" id="{785EE37E-5F7F-4FDB-B818-2CD6640D8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7513" y="1282700"/>
              <a:ext cx="85725" cy="274637"/>
            </a:xfrm>
            <a:custGeom>
              <a:avLst/>
              <a:gdLst>
                <a:gd name="T0" fmla="*/ 54 w 54"/>
                <a:gd name="T1" fmla="*/ 173 h 173"/>
                <a:gd name="T2" fmla="*/ 0 w 54"/>
                <a:gd name="T3" fmla="*/ 173 h 173"/>
                <a:gd name="T4" fmla="*/ 13 w 54"/>
                <a:gd name="T5" fmla="*/ 0 h 173"/>
                <a:gd name="T6" fmla="*/ 45 w 54"/>
                <a:gd name="T7" fmla="*/ 0 h 173"/>
                <a:gd name="T8" fmla="*/ 54 w 54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173">
                  <a:moveTo>
                    <a:pt x="54" y="173"/>
                  </a:moveTo>
                  <a:lnTo>
                    <a:pt x="0" y="173"/>
                  </a:lnTo>
                  <a:lnTo>
                    <a:pt x="13" y="0"/>
                  </a:lnTo>
                  <a:lnTo>
                    <a:pt x="45" y="0"/>
                  </a:lnTo>
                  <a:lnTo>
                    <a:pt x="54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6" name="Rectangle 59">
              <a:extLst>
                <a:ext uri="{FF2B5EF4-FFF2-40B4-BE49-F238E27FC236}">
                  <a16:creationId xmlns:a16="http://schemas.microsoft.com/office/drawing/2014/main" id="{DB1280F2-61EA-4EF7-8313-AAA1F22B4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9751" y="1500187"/>
              <a:ext cx="57150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7" name="Rectangle 60">
              <a:extLst>
                <a:ext uri="{FF2B5EF4-FFF2-40B4-BE49-F238E27FC236}">
                  <a16:creationId xmlns:a16="http://schemas.microsoft.com/office/drawing/2014/main" id="{63C98759-9A70-4C03-B716-AB0007059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9763" y="1500187"/>
              <a:ext cx="58737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8" name="Freeform 61">
              <a:extLst>
                <a:ext uri="{FF2B5EF4-FFF2-40B4-BE49-F238E27FC236}">
                  <a16:creationId xmlns:a16="http://schemas.microsoft.com/office/drawing/2014/main" id="{04D2BC74-AA7E-4B21-815A-25C390F330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3851" y="947737"/>
              <a:ext cx="273050" cy="276225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4 h 38"/>
                <a:gd name="T12" fmla="*/ 4 w 38"/>
                <a:gd name="T13" fmla="*/ 19 h 38"/>
                <a:gd name="T14" fmla="*/ 19 w 38"/>
                <a:gd name="T15" fmla="*/ 34 h 38"/>
                <a:gd name="T16" fmla="*/ 34 w 38"/>
                <a:gd name="T17" fmla="*/ 19 h 38"/>
                <a:gd name="T18" fmla="*/ 19 w 38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9" y="38"/>
                    <a:pt x="0" y="30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30" y="0"/>
                    <a:pt x="38" y="9"/>
                    <a:pt x="38" y="19"/>
                  </a:cubicBezTo>
                  <a:cubicBezTo>
                    <a:pt x="38" y="30"/>
                    <a:pt x="30" y="38"/>
                    <a:pt x="19" y="38"/>
                  </a:cubicBezTo>
                  <a:close/>
                  <a:moveTo>
                    <a:pt x="19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4"/>
                    <a:pt x="19" y="34"/>
                  </a:cubicBezTo>
                  <a:cubicBezTo>
                    <a:pt x="27" y="34"/>
                    <a:pt x="34" y="28"/>
                    <a:pt x="34" y="19"/>
                  </a:cubicBezTo>
                  <a:cubicBezTo>
                    <a:pt x="34" y="11"/>
                    <a:pt x="27" y="4"/>
                    <a:pt x="1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9" name="Freeform 62">
              <a:extLst>
                <a:ext uri="{FF2B5EF4-FFF2-40B4-BE49-F238E27FC236}">
                  <a16:creationId xmlns:a16="http://schemas.microsoft.com/office/drawing/2014/main" id="{22110D10-8ED9-467E-A2A6-47B4A7764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1813" y="1274762"/>
              <a:ext cx="230187" cy="276225"/>
            </a:xfrm>
            <a:custGeom>
              <a:avLst/>
              <a:gdLst>
                <a:gd name="T0" fmla="*/ 32 w 32"/>
                <a:gd name="T1" fmla="*/ 38 h 38"/>
                <a:gd name="T2" fmla="*/ 28 w 32"/>
                <a:gd name="T3" fmla="*/ 38 h 38"/>
                <a:gd name="T4" fmla="*/ 28 w 32"/>
                <a:gd name="T5" fmla="*/ 33 h 38"/>
                <a:gd name="T6" fmla="*/ 28 w 32"/>
                <a:gd name="T7" fmla="*/ 22 h 38"/>
                <a:gd name="T8" fmla="*/ 24 w 32"/>
                <a:gd name="T9" fmla="*/ 9 h 38"/>
                <a:gd name="T10" fmla="*/ 7 w 32"/>
                <a:gd name="T11" fmla="*/ 4 h 38"/>
                <a:gd name="T12" fmla="*/ 0 w 32"/>
                <a:gd name="T13" fmla="*/ 4 h 38"/>
                <a:gd name="T14" fmla="*/ 0 w 32"/>
                <a:gd name="T15" fmla="*/ 0 h 38"/>
                <a:gd name="T16" fmla="*/ 7 w 32"/>
                <a:gd name="T17" fmla="*/ 0 h 38"/>
                <a:gd name="T18" fmla="*/ 26 w 32"/>
                <a:gd name="T19" fmla="*/ 6 h 38"/>
                <a:gd name="T20" fmla="*/ 32 w 32"/>
                <a:gd name="T21" fmla="*/ 22 h 38"/>
                <a:gd name="T22" fmla="*/ 32 w 32"/>
                <a:gd name="T23" fmla="*/ 33 h 38"/>
                <a:gd name="T24" fmla="*/ 32 w 32"/>
                <a:gd name="T2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8">
                  <a:moveTo>
                    <a:pt x="32" y="38"/>
                  </a:moveTo>
                  <a:cubicBezTo>
                    <a:pt x="28" y="38"/>
                    <a:pt x="28" y="38"/>
                    <a:pt x="28" y="38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0"/>
                    <a:pt x="28" y="27"/>
                    <a:pt x="28" y="22"/>
                  </a:cubicBezTo>
                  <a:cubicBezTo>
                    <a:pt x="28" y="18"/>
                    <a:pt x="27" y="12"/>
                    <a:pt x="24" y="9"/>
                  </a:cubicBezTo>
                  <a:cubicBezTo>
                    <a:pt x="21" y="7"/>
                    <a:pt x="16" y="4"/>
                    <a:pt x="7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16" y="0"/>
                    <a:pt x="22" y="2"/>
                    <a:pt x="26" y="6"/>
                  </a:cubicBezTo>
                  <a:cubicBezTo>
                    <a:pt x="32" y="12"/>
                    <a:pt x="32" y="20"/>
                    <a:pt x="32" y="22"/>
                  </a:cubicBezTo>
                  <a:cubicBezTo>
                    <a:pt x="32" y="27"/>
                    <a:pt x="32" y="30"/>
                    <a:pt x="32" y="33"/>
                  </a:cubicBezTo>
                  <a:lnTo>
                    <a:pt x="32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0" name="Freeform 63">
              <a:extLst>
                <a:ext uri="{FF2B5EF4-FFF2-40B4-BE49-F238E27FC236}">
                  <a16:creationId xmlns:a16="http://schemas.microsoft.com/office/drawing/2014/main" id="{CF55BD3C-ED5C-498F-BD1E-B80F023A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7163" y="1274762"/>
              <a:ext cx="238125" cy="276225"/>
            </a:xfrm>
            <a:custGeom>
              <a:avLst/>
              <a:gdLst>
                <a:gd name="T0" fmla="*/ 4 w 33"/>
                <a:gd name="T1" fmla="*/ 38 h 38"/>
                <a:gd name="T2" fmla="*/ 0 w 33"/>
                <a:gd name="T3" fmla="*/ 38 h 38"/>
                <a:gd name="T4" fmla="*/ 1 w 33"/>
                <a:gd name="T5" fmla="*/ 19 h 38"/>
                <a:gd name="T6" fmla="*/ 8 w 33"/>
                <a:gd name="T7" fmla="*/ 5 h 38"/>
                <a:gd name="T8" fmla="*/ 33 w 33"/>
                <a:gd name="T9" fmla="*/ 0 h 38"/>
                <a:gd name="T10" fmla="*/ 33 w 33"/>
                <a:gd name="T11" fmla="*/ 4 h 38"/>
                <a:gd name="T12" fmla="*/ 11 w 33"/>
                <a:gd name="T13" fmla="*/ 8 h 38"/>
                <a:gd name="T14" fmla="*/ 5 w 33"/>
                <a:gd name="T15" fmla="*/ 20 h 38"/>
                <a:gd name="T16" fmla="*/ 4 w 33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8">
                  <a:moveTo>
                    <a:pt x="4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7"/>
                    <a:pt x="2" y="10"/>
                    <a:pt x="8" y="5"/>
                  </a:cubicBezTo>
                  <a:cubicBezTo>
                    <a:pt x="14" y="0"/>
                    <a:pt x="22" y="0"/>
                    <a:pt x="33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21" y="4"/>
                    <a:pt x="15" y="4"/>
                    <a:pt x="11" y="8"/>
                  </a:cubicBezTo>
                  <a:cubicBezTo>
                    <a:pt x="6" y="12"/>
                    <a:pt x="5" y="17"/>
                    <a:pt x="5" y="20"/>
                  </a:cubicBezTo>
                  <a:lnTo>
                    <a:pt x="4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1" name="Freeform 64">
              <a:extLst>
                <a:ext uri="{FF2B5EF4-FFF2-40B4-BE49-F238E27FC236}">
                  <a16:creationId xmlns:a16="http://schemas.microsoft.com/office/drawing/2014/main" id="{49D94CA2-7AAA-4709-A739-D6FAF8FB8F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15476" y="862012"/>
              <a:ext cx="223837" cy="223837"/>
            </a:xfrm>
            <a:custGeom>
              <a:avLst/>
              <a:gdLst>
                <a:gd name="T0" fmla="*/ 16 w 31"/>
                <a:gd name="T1" fmla="*/ 31 h 31"/>
                <a:gd name="T2" fmla="*/ 0 w 31"/>
                <a:gd name="T3" fmla="*/ 16 h 31"/>
                <a:gd name="T4" fmla="*/ 16 w 31"/>
                <a:gd name="T5" fmla="*/ 0 h 31"/>
                <a:gd name="T6" fmla="*/ 31 w 31"/>
                <a:gd name="T7" fmla="*/ 16 h 31"/>
                <a:gd name="T8" fmla="*/ 16 w 31"/>
                <a:gd name="T9" fmla="*/ 31 h 31"/>
                <a:gd name="T10" fmla="*/ 16 w 31"/>
                <a:gd name="T11" fmla="*/ 4 h 31"/>
                <a:gd name="T12" fmla="*/ 4 w 31"/>
                <a:gd name="T13" fmla="*/ 16 h 31"/>
                <a:gd name="T14" fmla="*/ 16 w 31"/>
                <a:gd name="T15" fmla="*/ 27 h 31"/>
                <a:gd name="T16" fmla="*/ 27 w 31"/>
                <a:gd name="T17" fmla="*/ 16 h 31"/>
                <a:gd name="T18" fmla="*/ 16 w 31"/>
                <a:gd name="T1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16" y="31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24"/>
                    <a:pt x="24" y="31"/>
                    <a:pt x="16" y="31"/>
                  </a:cubicBezTo>
                  <a:close/>
                  <a:moveTo>
                    <a:pt x="16" y="4"/>
                  </a:moveTo>
                  <a:cubicBezTo>
                    <a:pt x="9" y="4"/>
                    <a:pt x="4" y="9"/>
                    <a:pt x="4" y="16"/>
                  </a:cubicBezTo>
                  <a:cubicBezTo>
                    <a:pt x="4" y="22"/>
                    <a:pt x="9" y="27"/>
                    <a:pt x="16" y="27"/>
                  </a:cubicBezTo>
                  <a:cubicBezTo>
                    <a:pt x="22" y="27"/>
                    <a:pt x="27" y="22"/>
                    <a:pt x="27" y="16"/>
                  </a:cubicBezTo>
                  <a:cubicBezTo>
                    <a:pt x="27" y="9"/>
                    <a:pt x="22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2" name="Freeform 65">
              <a:extLst>
                <a:ext uri="{FF2B5EF4-FFF2-40B4-BE49-F238E27FC236}">
                  <a16:creationId xmlns:a16="http://schemas.microsoft.com/office/drawing/2014/main" id="{A9E3C8C7-D3B5-4676-999C-9D9216C69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4226" y="1122362"/>
              <a:ext cx="195262" cy="217487"/>
            </a:xfrm>
            <a:custGeom>
              <a:avLst/>
              <a:gdLst>
                <a:gd name="T0" fmla="*/ 23 w 27"/>
                <a:gd name="T1" fmla="*/ 30 h 30"/>
                <a:gd name="T2" fmla="*/ 23 w 27"/>
                <a:gd name="T3" fmla="*/ 15 h 30"/>
                <a:gd name="T4" fmla="*/ 18 w 27"/>
                <a:gd name="T5" fmla="*/ 7 h 30"/>
                <a:gd name="T6" fmla="*/ 0 w 27"/>
                <a:gd name="T7" fmla="*/ 4 h 30"/>
                <a:gd name="T8" fmla="*/ 0 w 27"/>
                <a:gd name="T9" fmla="*/ 0 h 30"/>
                <a:gd name="T10" fmla="*/ 21 w 27"/>
                <a:gd name="T11" fmla="*/ 4 h 30"/>
                <a:gd name="T12" fmla="*/ 27 w 27"/>
                <a:gd name="T13" fmla="*/ 15 h 30"/>
                <a:gd name="T14" fmla="*/ 27 w 27"/>
                <a:gd name="T15" fmla="*/ 30 h 30"/>
                <a:gd name="T16" fmla="*/ 23 w 27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0">
                  <a:moveTo>
                    <a:pt x="23" y="30"/>
                  </a:move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2" y="10"/>
                    <a:pt x="18" y="7"/>
                  </a:cubicBezTo>
                  <a:cubicBezTo>
                    <a:pt x="15" y="4"/>
                    <a:pt x="1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6" y="0"/>
                    <a:pt x="21" y="4"/>
                  </a:cubicBezTo>
                  <a:cubicBezTo>
                    <a:pt x="26" y="8"/>
                    <a:pt x="27" y="13"/>
                    <a:pt x="27" y="15"/>
                  </a:cubicBezTo>
                  <a:cubicBezTo>
                    <a:pt x="27" y="30"/>
                    <a:pt x="27" y="30"/>
                    <a:pt x="27" y="30"/>
                  </a:cubicBezTo>
                  <a:lnTo>
                    <a:pt x="23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73" name="Группа 376">
            <a:extLst>
              <a:ext uri="{FF2B5EF4-FFF2-40B4-BE49-F238E27FC236}">
                <a16:creationId xmlns:a16="http://schemas.microsoft.com/office/drawing/2014/main" id="{CEA692B9-0CE0-41D6-8AA7-3E15AA6EF62A}"/>
              </a:ext>
            </a:extLst>
          </p:cNvPr>
          <p:cNvGrpSpPr>
            <a:grpSpLocks noChangeAspect="1"/>
          </p:cNvGrpSpPr>
          <p:nvPr/>
        </p:nvGrpSpPr>
        <p:grpSpPr>
          <a:xfrm>
            <a:off x="794055" y="3800525"/>
            <a:ext cx="277475" cy="283328"/>
            <a:chOff x="4865688" y="853264"/>
            <a:chExt cx="752476" cy="768350"/>
          </a:xfrm>
          <a:solidFill>
            <a:srgbClr val="000000"/>
          </a:solidFill>
        </p:grpSpPr>
        <p:sp>
          <p:nvSpPr>
            <p:cNvPr id="174" name="Rectangle 99">
              <a:extLst>
                <a:ext uri="{FF2B5EF4-FFF2-40B4-BE49-F238E27FC236}">
                  <a16:creationId xmlns:a16="http://schemas.microsoft.com/office/drawing/2014/main" id="{A3CE8D1C-DE00-459E-A1A2-54D37C907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601" y="99137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5" name="Freeform 100">
              <a:extLst>
                <a:ext uri="{FF2B5EF4-FFF2-40B4-BE49-F238E27FC236}">
                  <a16:creationId xmlns:a16="http://schemas.microsoft.com/office/drawing/2014/main" id="{D6A31C12-446C-476A-96D8-2F71E23DB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85326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30 w 42"/>
                <a:gd name="T3" fmla="*/ 42 h 42"/>
                <a:gd name="T4" fmla="*/ 30 w 42"/>
                <a:gd name="T5" fmla="*/ 38 h 42"/>
                <a:gd name="T6" fmla="*/ 38 w 42"/>
                <a:gd name="T7" fmla="*/ 38 h 42"/>
                <a:gd name="T8" fmla="*/ 38 w 42"/>
                <a:gd name="T9" fmla="*/ 4 h 42"/>
                <a:gd name="T10" fmla="*/ 4 w 42"/>
                <a:gd name="T11" fmla="*/ 4 h 42"/>
                <a:gd name="T12" fmla="*/ 4 w 42"/>
                <a:gd name="T13" fmla="*/ 15 h 42"/>
                <a:gd name="T14" fmla="*/ 0 w 42"/>
                <a:gd name="T15" fmla="*/ 15 h 42"/>
                <a:gd name="T16" fmla="*/ 0 w 42"/>
                <a:gd name="T17" fmla="*/ 2 h 42"/>
                <a:gd name="T18" fmla="*/ 2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6" name="Freeform 101">
              <a:extLst>
                <a:ext uri="{FF2B5EF4-FFF2-40B4-BE49-F238E27FC236}">
                  <a16:creationId xmlns:a16="http://schemas.microsoft.com/office/drawing/2014/main" id="{D6AEE83B-439D-4209-A127-1B0C1CF0B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042176"/>
              <a:ext cx="107950" cy="115887"/>
            </a:xfrm>
            <a:custGeom>
              <a:avLst/>
              <a:gdLst>
                <a:gd name="T0" fmla="*/ 15 w 15"/>
                <a:gd name="T1" fmla="*/ 16 h 16"/>
                <a:gd name="T2" fmla="*/ 2 w 15"/>
                <a:gd name="T3" fmla="*/ 16 h 16"/>
                <a:gd name="T4" fmla="*/ 0 w 15"/>
                <a:gd name="T5" fmla="*/ 14 h 16"/>
                <a:gd name="T6" fmla="*/ 0 w 15"/>
                <a:gd name="T7" fmla="*/ 0 h 16"/>
                <a:gd name="T8" fmla="*/ 4 w 15"/>
                <a:gd name="T9" fmla="*/ 0 h 16"/>
                <a:gd name="T10" fmla="*/ 4 w 15"/>
                <a:gd name="T11" fmla="*/ 12 h 16"/>
                <a:gd name="T12" fmla="*/ 15 w 15"/>
                <a:gd name="T13" fmla="*/ 12 h 16"/>
                <a:gd name="T14" fmla="*/ 15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15" y="16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5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5" y="12"/>
                    <a:pt x="15" y="12"/>
                    <a:pt x="15" y="12"/>
                  </a:cubicBezTo>
                  <a:lnTo>
                    <a:pt x="1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7" name="Freeform 102">
              <a:extLst>
                <a:ext uri="{FF2B5EF4-FFF2-40B4-BE49-F238E27FC236}">
                  <a16:creationId xmlns:a16="http://schemas.microsoft.com/office/drawing/2014/main" id="{2F9688A0-8AB6-45F9-99E0-C683FBE64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853264"/>
              <a:ext cx="303213" cy="304800"/>
            </a:xfrm>
            <a:custGeom>
              <a:avLst/>
              <a:gdLst>
                <a:gd name="T0" fmla="*/ 14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40 w 42"/>
                <a:gd name="T11" fmla="*/ 0 h 42"/>
                <a:gd name="T12" fmla="*/ 42 w 42"/>
                <a:gd name="T13" fmla="*/ 2 h 42"/>
                <a:gd name="T14" fmla="*/ 42 w 42"/>
                <a:gd name="T15" fmla="*/ 12 h 42"/>
                <a:gd name="T16" fmla="*/ 38 w 42"/>
                <a:gd name="T17" fmla="*/ 12 h 42"/>
                <a:gd name="T18" fmla="*/ 38 w 42"/>
                <a:gd name="T19" fmla="*/ 4 h 42"/>
                <a:gd name="T20" fmla="*/ 4 w 42"/>
                <a:gd name="T21" fmla="*/ 4 h 42"/>
                <a:gd name="T22" fmla="*/ 4 w 42"/>
                <a:gd name="T23" fmla="*/ 38 h 42"/>
                <a:gd name="T24" fmla="*/ 14 w 42"/>
                <a:gd name="T25" fmla="*/ 38 h 42"/>
                <a:gd name="T26" fmla="*/ 14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14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4" y="38"/>
                    <a:pt x="14" y="38"/>
                    <a:pt x="14" y="38"/>
                  </a:cubicBezTo>
                  <a:lnTo>
                    <a:pt x="14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8" name="Freeform 103">
              <a:extLst>
                <a:ext uri="{FF2B5EF4-FFF2-40B4-BE49-F238E27FC236}">
                  <a16:creationId xmlns:a16="http://schemas.microsoft.com/office/drawing/2014/main" id="{2C505DFF-1745-4536-9102-137EB9562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1" y="1048526"/>
              <a:ext cx="114300" cy="109537"/>
            </a:xfrm>
            <a:custGeom>
              <a:avLst/>
              <a:gdLst>
                <a:gd name="T0" fmla="*/ 14 w 16"/>
                <a:gd name="T1" fmla="*/ 15 h 15"/>
                <a:gd name="T2" fmla="*/ 0 w 16"/>
                <a:gd name="T3" fmla="*/ 15 h 15"/>
                <a:gd name="T4" fmla="*/ 0 w 16"/>
                <a:gd name="T5" fmla="*/ 11 h 15"/>
                <a:gd name="T6" fmla="*/ 12 w 16"/>
                <a:gd name="T7" fmla="*/ 11 h 15"/>
                <a:gd name="T8" fmla="*/ 12 w 16"/>
                <a:gd name="T9" fmla="*/ 0 h 15"/>
                <a:gd name="T10" fmla="*/ 16 w 16"/>
                <a:gd name="T11" fmla="*/ 0 h 15"/>
                <a:gd name="T12" fmla="*/ 16 w 16"/>
                <a:gd name="T13" fmla="*/ 13 h 15"/>
                <a:gd name="T14" fmla="*/ 14 w 16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14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4"/>
                    <a:pt x="15" y="15"/>
                    <a:pt x="1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9" name="Rectangle 104">
              <a:extLst>
                <a:ext uri="{FF2B5EF4-FFF2-40B4-BE49-F238E27FC236}">
                  <a16:creationId xmlns:a16="http://schemas.microsoft.com/office/drawing/2014/main" id="{AD1226B0-733C-4C91-BA0D-24318F964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476" y="1048526"/>
              <a:ext cx="30163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0" name="Rectangle 105">
              <a:extLst>
                <a:ext uri="{FF2B5EF4-FFF2-40B4-BE49-F238E27FC236}">
                  <a16:creationId xmlns:a16="http://schemas.microsoft.com/office/drawing/2014/main" id="{6FAA88D8-0FB1-41F6-A958-333EA30C5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688" y="145492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1" name="Rectangle 106">
              <a:extLst>
                <a:ext uri="{FF2B5EF4-FFF2-40B4-BE49-F238E27FC236}">
                  <a16:creationId xmlns:a16="http://schemas.microsoft.com/office/drawing/2014/main" id="{110E355D-E7DD-499E-B727-7EC5BDD40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1" y="1113614"/>
              <a:ext cx="28575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2" name="Rectangle 107">
              <a:extLst>
                <a:ext uri="{FF2B5EF4-FFF2-40B4-BE49-F238E27FC236}">
                  <a16:creationId xmlns:a16="http://schemas.microsoft.com/office/drawing/2014/main" id="{0B90A1EB-0D16-4A3E-8673-43C6558F2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3" name="Rectangle 108">
              <a:extLst>
                <a:ext uri="{FF2B5EF4-FFF2-40B4-BE49-F238E27FC236}">
                  <a16:creationId xmlns:a16="http://schemas.microsoft.com/office/drawing/2014/main" id="{862949D8-7466-40BC-B8DE-61256D6FD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4" name="Rectangle 109">
              <a:extLst>
                <a:ext uri="{FF2B5EF4-FFF2-40B4-BE49-F238E27FC236}">
                  <a16:creationId xmlns:a16="http://schemas.microsoft.com/office/drawing/2014/main" id="{ACE020E3-B621-415E-A19F-5437CF693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5" name="Rectangle 110">
              <a:extLst>
                <a:ext uri="{FF2B5EF4-FFF2-40B4-BE49-F238E27FC236}">
                  <a16:creationId xmlns:a16="http://schemas.microsoft.com/office/drawing/2014/main" id="{0EF6A490-A8FD-44B5-A0F3-3A70ADB40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6" name="Freeform 111">
              <a:extLst>
                <a:ext uri="{FF2B5EF4-FFF2-40B4-BE49-F238E27FC236}">
                  <a16:creationId xmlns:a16="http://schemas.microsoft.com/office/drawing/2014/main" id="{B8953EEC-F87C-43A9-83A4-95538EB5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12 w 42"/>
                <a:gd name="T11" fmla="*/ 0 h 42"/>
                <a:gd name="T12" fmla="*/ 12 w 42"/>
                <a:gd name="T13" fmla="*/ 4 h 42"/>
                <a:gd name="T14" fmla="*/ 4 w 42"/>
                <a:gd name="T15" fmla="*/ 4 h 42"/>
                <a:gd name="T16" fmla="*/ 4 w 42"/>
                <a:gd name="T17" fmla="*/ 38 h 42"/>
                <a:gd name="T18" fmla="*/ 38 w 42"/>
                <a:gd name="T19" fmla="*/ 38 h 42"/>
                <a:gd name="T20" fmla="*/ 38 w 42"/>
                <a:gd name="T21" fmla="*/ 27 h 42"/>
                <a:gd name="T22" fmla="*/ 42 w 42"/>
                <a:gd name="T23" fmla="*/ 27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7" name="Freeform 112">
              <a:extLst>
                <a:ext uri="{FF2B5EF4-FFF2-40B4-BE49-F238E27FC236}">
                  <a16:creationId xmlns:a16="http://schemas.microsoft.com/office/drawing/2014/main" id="{BB104F52-1D54-40FE-AE00-71A412A43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951" y="1316814"/>
              <a:ext cx="107950" cy="109537"/>
            </a:xfrm>
            <a:custGeom>
              <a:avLst/>
              <a:gdLst>
                <a:gd name="T0" fmla="*/ 15 w 15"/>
                <a:gd name="T1" fmla="*/ 15 h 15"/>
                <a:gd name="T2" fmla="*/ 11 w 15"/>
                <a:gd name="T3" fmla="*/ 15 h 15"/>
                <a:gd name="T4" fmla="*/ 11 w 15"/>
                <a:gd name="T5" fmla="*/ 4 h 15"/>
                <a:gd name="T6" fmla="*/ 0 w 15"/>
                <a:gd name="T7" fmla="*/ 4 h 15"/>
                <a:gd name="T8" fmla="*/ 0 w 15"/>
                <a:gd name="T9" fmla="*/ 0 h 15"/>
                <a:gd name="T10" fmla="*/ 13 w 15"/>
                <a:gd name="T11" fmla="*/ 0 h 15"/>
                <a:gd name="T12" fmla="*/ 15 w 15"/>
                <a:gd name="T13" fmla="*/ 2 h 15"/>
                <a:gd name="T14" fmla="*/ 15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15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5" y="1"/>
                    <a:pt x="15" y="2"/>
                  </a:cubicBezTo>
                  <a:lnTo>
                    <a:pt x="15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8" name="Freeform 113">
              <a:extLst>
                <a:ext uri="{FF2B5EF4-FFF2-40B4-BE49-F238E27FC236}">
                  <a16:creationId xmlns:a16="http://schemas.microsoft.com/office/drawing/2014/main" id="{ED4D0A56-1F62-4A30-A813-BD71E2CED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9 h 42"/>
                <a:gd name="T8" fmla="*/ 4 w 42"/>
                <a:gd name="T9" fmla="*/ 29 h 42"/>
                <a:gd name="T10" fmla="*/ 4 w 42"/>
                <a:gd name="T11" fmla="*/ 38 h 42"/>
                <a:gd name="T12" fmla="*/ 38 w 42"/>
                <a:gd name="T13" fmla="*/ 38 h 42"/>
                <a:gd name="T14" fmla="*/ 38 w 42"/>
                <a:gd name="T15" fmla="*/ 4 h 42"/>
                <a:gd name="T16" fmla="*/ 28 w 42"/>
                <a:gd name="T17" fmla="*/ 4 h 42"/>
                <a:gd name="T18" fmla="*/ 28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9" name="Freeform 114">
              <a:extLst>
                <a:ext uri="{FF2B5EF4-FFF2-40B4-BE49-F238E27FC236}">
                  <a16:creationId xmlns:a16="http://schemas.microsoft.com/office/drawing/2014/main" id="{0587F991-1F8B-43C1-ADE6-C653B685A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115888" cy="101600"/>
            </a:xfrm>
            <a:custGeom>
              <a:avLst/>
              <a:gdLst>
                <a:gd name="T0" fmla="*/ 4 w 16"/>
                <a:gd name="T1" fmla="*/ 14 h 14"/>
                <a:gd name="T2" fmla="*/ 0 w 16"/>
                <a:gd name="T3" fmla="*/ 14 h 14"/>
                <a:gd name="T4" fmla="*/ 0 w 16"/>
                <a:gd name="T5" fmla="*/ 2 h 14"/>
                <a:gd name="T6" fmla="*/ 2 w 16"/>
                <a:gd name="T7" fmla="*/ 0 h 14"/>
                <a:gd name="T8" fmla="*/ 16 w 16"/>
                <a:gd name="T9" fmla="*/ 0 h 14"/>
                <a:gd name="T10" fmla="*/ 16 w 16"/>
                <a:gd name="T11" fmla="*/ 4 h 14"/>
                <a:gd name="T12" fmla="*/ 4 w 16"/>
                <a:gd name="T13" fmla="*/ 4 h 14"/>
                <a:gd name="T14" fmla="*/ 4 w 16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4">
                  <a:moveTo>
                    <a:pt x="4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90" name="Группа 278">
            <a:extLst>
              <a:ext uri="{FF2B5EF4-FFF2-40B4-BE49-F238E27FC236}">
                <a16:creationId xmlns:a16="http://schemas.microsoft.com/office/drawing/2014/main" id="{C5CC4BE9-693D-4811-A194-CF29A66DCA9C}"/>
              </a:ext>
            </a:extLst>
          </p:cNvPr>
          <p:cNvGrpSpPr>
            <a:grpSpLocks noChangeAspect="1"/>
          </p:cNvGrpSpPr>
          <p:nvPr/>
        </p:nvGrpSpPr>
        <p:grpSpPr>
          <a:xfrm>
            <a:off x="786872" y="4550702"/>
            <a:ext cx="291841" cy="274914"/>
            <a:chOff x="5372101" y="896937"/>
            <a:chExt cx="793750" cy="747713"/>
          </a:xfrm>
          <a:solidFill>
            <a:srgbClr val="000000"/>
          </a:solidFill>
        </p:grpSpPr>
        <p:sp>
          <p:nvSpPr>
            <p:cNvPr id="191" name="Freeform 52">
              <a:extLst>
                <a:ext uri="{FF2B5EF4-FFF2-40B4-BE49-F238E27FC236}">
                  <a16:creationId xmlns:a16="http://schemas.microsoft.com/office/drawing/2014/main" id="{C03BE67F-4C60-4D45-AF6D-457AC87235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2451" y="977900"/>
              <a:ext cx="266700" cy="260350"/>
            </a:xfrm>
            <a:custGeom>
              <a:avLst/>
              <a:gdLst>
                <a:gd name="T0" fmla="*/ 8 w 37"/>
                <a:gd name="T1" fmla="*/ 36 h 36"/>
                <a:gd name="T2" fmla="*/ 7 w 37"/>
                <a:gd name="T3" fmla="*/ 35 h 36"/>
                <a:gd name="T4" fmla="*/ 6 w 37"/>
                <a:gd name="T5" fmla="*/ 33 h 36"/>
                <a:gd name="T6" fmla="*/ 8 w 37"/>
                <a:gd name="T7" fmla="*/ 23 h 36"/>
                <a:gd name="T8" fmla="*/ 1 w 37"/>
                <a:gd name="T9" fmla="*/ 16 h 36"/>
                <a:gd name="T10" fmla="*/ 0 w 37"/>
                <a:gd name="T11" fmla="*/ 14 h 36"/>
                <a:gd name="T12" fmla="*/ 2 w 37"/>
                <a:gd name="T13" fmla="*/ 12 h 36"/>
                <a:gd name="T14" fmla="*/ 12 w 37"/>
                <a:gd name="T15" fmla="*/ 11 h 36"/>
                <a:gd name="T16" fmla="*/ 16 w 37"/>
                <a:gd name="T17" fmla="*/ 1 h 36"/>
                <a:gd name="T18" fmla="*/ 20 w 37"/>
                <a:gd name="T19" fmla="*/ 1 h 36"/>
                <a:gd name="T20" fmla="*/ 25 w 37"/>
                <a:gd name="T21" fmla="*/ 11 h 36"/>
                <a:gd name="T22" fmla="*/ 35 w 37"/>
                <a:gd name="T23" fmla="*/ 12 h 36"/>
                <a:gd name="T24" fmla="*/ 37 w 37"/>
                <a:gd name="T25" fmla="*/ 14 h 36"/>
                <a:gd name="T26" fmla="*/ 36 w 37"/>
                <a:gd name="T27" fmla="*/ 16 h 36"/>
                <a:gd name="T28" fmla="*/ 29 w 37"/>
                <a:gd name="T29" fmla="*/ 23 h 36"/>
                <a:gd name="T30" fmla="*/ 30 w 37"/>
                <a:gd name="T31" fmla="*/ 33 h 36"/>
                <a:gd name="T32" fmla="*/ 30 w 37"/>
                <a:gd name="T33" fmla="*/ 35 h 36"/>
                <a:gd name="T34" fmla="*/ 27 w 37"/>
                <a:gd name="T35" fmla="*/ 35 h 36"/>
                <a:gd name="T36" fmla="*/ 18 w 37"/>
                <a:gd name="T37" fmla="*/ 31 h 36"/>
                <a:gd name="T38" fmla="*/ 9 w 37"/>
                <a:gd name="T39" fmla="*/ 35 h 36"/>
                <a:gd name="T40" fmla="*/ 8 w 37"/>
                <a:gd name="T41" fmla="*/ 36 h 36"/>
                <a:gd name="T42" fmla="*/ 27 w 37"/>
                <a:gd name="T43" fmla="*/ 34 h 36"/>
                <a:gd name="T44" fmla="*/ 27 w 37"/>
                <a:gd name="T45" fmla="*/ 34 h 36"/>
                <a:gd name="T46" fmla="*/ 9 w 37"/>
                <a:gd name="T47" fmla="*/ 34 h 36"/>
                <a:gd name="T48" fmla="*/ 9 w 37"/>
                <a:gd name="T49" fmla="*/ 34 h 36"/>
                <a:gd name="T50" fmla="*/ 9 w 37"/>
                <a:gd name="T51" fmla="*/ 34 h 36"/>
                <a:gd name="T52" fmla="*/ 18 w 37"/>
                <a:gd name="T53" fmla="*/ 27 h 36"/>
                <a:gd name="T54" fmla="*/ 19 w 37"/>
                <a:gd name="T55" fmla="*/ 28 h 36"/>
                <a:gd name="T56" fmla="*/ 27 w 37"/>
                <a:gd name="T57" fmla="*/ 32 h 36"/>
                <a:gd name="T58" fmla="*/ 26 w 37"/>
                <a:gd name="T59" fmla="*/ 23 h 36"/>
                <a:gd name="T60" fmla="*/ 26 w 37"/>
                <a:gd name="T61" fmla="*/ 21 h 36"/>
                <a:gd name="T62" fmla="*/ 33 w 37"/>
                <a:gd name="T63" fmla="*/ 15 h 36"/>
                <a:gd name="T64" fmla="*/ 24 w 37"/>
                <a:gd name="T65" fmla="*/ 14 h 36"/>
                <a:gd name="T66" fmla="*/ 22 w 37"/>
                <a:gd name="T67" fmla="*/ 13 h 36"/>
                <a:gd name="T68" fmla="*/ 18 w 37"/>
                <a:gd name="T69" fmla="*/ 5 h 36"/>
                <a:gd name="T70" fmla="*/ 14 w 37"/>
                <a:gd name="T71" fmla="*/ 13 h 36"/>
                <a:gd name="T72" fmla="*/ 13 w 37"/>
                <a:gd name="T73" fmla="*/ 14 h 36"/>
                <a:gd name="T74" fmla="*/ 4 w 37"/>
                <a:gd name="T75" fmla="*/ 15 h 36"/>
                <a:gd name="T76" fmla="*/ 10 w 37"/>
                <a:gd name="T77" fmla="*/ 21 h 36"/>
                <a:gd name="T78" fmla="*/ 11 w 37"/>
                <a:gd name="T79" fmla="*/ 23 h 36"/>
                <a:gd name="T80" fmla="*/ 10 w 37"/>
                <a:gd name="T81" fmla="*/ 32 h 36"/>
                <a:gd name="T82" fmla="*/ 17 w 37"/>
                <a:gd name="T83" fmla="*/ 28 h 36"/>
                <a:gd name="T84" fmla="*/ 18 w 37"/>
                <a:gd name="T85" fmla="*/ 27 h 36"/>
                <a:gd name="T86" fmla="*/ 28 w 37"/>
                <a:gd name="T87" fmla="*/ 23 h 36"/>
                <a:gd name="T88" fmla="*/ 28 w 37"/>
                <a:gd name="T89" fmla="*/ 23 h 36"/>
                <a:gd name="T90" fmla="*/ 28 w 37"/>
                <a:gd name="T91" fmla="*/ 23 h 36"/>
                <a:gd name="T92" fmla="*/ 8 w 37"/>
                <a:gd name="T93" fmla="*/ 22 h 36"/>
                <a:gd name="T94" fmla="*/ 8 w 37"/>
                <a:gd name="T95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7" h="36">
                  <a:moveTo>
                    <a:pt x="8" y="36"/>
                  </a:moveTo>
                  <a:cubicBezTo>
                    <a:pt x="8" y="36"/>
                    <a:pt x="7" y="35"/>
                    <a:pt x="7" y="35"/>
                  </a:cubicBezTo>
                  <a:cubicBezTo>
                    <a:pt x="6" y="35"/>
                    <a:pt x="6" y="34"/>
                    <a:pt x="6" y="3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5"/>
                    <a:pt x="0" y="14"/>
                    <a:pt x="0" y="14"/>
                  </a:cubicBezTo>
                  <a:cubicBezTo>
                    <a:pt x="0" y="13"/>
                    <a:pt x="1" y="12"/>
                    <a:pt x="2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3"/>
                    <a:pt x="37" y="14"/>
                  </a:cubicBezTo>
                  <a:cubicBezTo>
                    <a:pt x="37" y="14"/>
                    <a:pt x="37" y="15"/>
                    <a:pt x="36" y="16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4"/>
                    <a:pt x="30" y="35"/>
                    <a:pt x="30" y="35"/>
                  </a:cubicBezTo>
                  <a:cubicBezTo>
                    <a:pt x="29" y="36"/>
                    <a:pt x="28" y="36"/>
                    <a:pt x="27" y="35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9" y="36"/>
                    <a:pt x="9" y="36"/>
                    <a:pt x="8" y="36"/>
                  </a:cubicBezTo>
                  <a:close/>
                  <a:moveTo>
                    <a:pt x="27" y="34"/>
                  </a:moveTo>
                  <a:cubicBezTo>
                    <a:pt x="27" y="34"/>
                    <a:pt x="27" y="34"/>
                    <a:pt x="27" y="34"/>
                  </a:cubicBez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lose/>
                  <a:moveTo>
                    <a:pt x="18" y="27"/>
                  </a:moveTo>
                  <a:cubicBezTo>
                    <a:pt x="19" y="27"/>
                    <a:pt x="19" y="27"/>
                    <a:pt x="19" y="28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2"/>
                    <a:pt x="26" y="22"/>
                    <a:pt x="26" y="21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3"/>
                    <a:pt x="22" y="13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4"/>
                    <a:pt x="1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2"/>
                    <a:pt x="11" y="22"/>
                    <a:pt x="11" y="2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lose/>
                  <a:moveTo>
                    <a:pt x="28" y="2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lose/>
                  <a:moveTo>
                    <a:pt x="8" y="22"/>
                  </a:moveTo>
                  <a:cubicBezTo>
                    <a:pt x="8" y="22"/>
                    <a:pt x="8" y="22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2" name="Freeform 71">
              <a:extLst>
                <a:ext uri="{FF2B5EF4-FFF2-40B4-BE49-F238E27FC236}">
                  <a16:creationId xmlns:a16="http://schemas.microsoft.com/office/drawing/2014/main" id="{6EAFB8EA-1556-476B-B3DC-A72E6243C9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73701" y="896937"/>
              <a:ext cx="692150" cy="682625"/>
            </a:xfrm>
            <a:custGeom>
              <a:avLst/>
              <a:gdLst>
                <a:gd name="T0" fmla="*/ 18 w 436"/>
                <a:gd name="T1" fmla="*/ 430 h 430"/>
                <a:gd name="T2" fmla="*/ 0 w 436"/>
                <a:gd name="T3" fmla="*/ 430 h 430"/>
                <a:gd name="T4" fmla="*/ 0 w 436"/>
                <a:gd name="T5" fmla="*/ 0 h 430"/>
                <a:gd name="T6" fmla="*/ 431 w 436"/>
                <a:gd name="T7" fmla="*/ 0 h 430"/>
                <a:gd name="T8" fmla="*/ 322 w 436"/>
                <a:gd name="T9" fmla="*/ 138 h 430"/>
                <a:gd name="T10" fmla="*/ 436 w 436"/>
                <a:gd name="T11" fmla="*/ 284 h 430"/>
                <a:gd name="T12" fmla="*/ 18 w 436"/>
                <a:gd name="T13" fmla="*/ 288 h 430"/>
                <a:gd name="T14" fmla="*/ 18 w 436"/>
                <a:gd name="T15" fmla="*/ 430 h 430"/>
                <a:gd name="T16" fmla="*/ 18 w 436"/>
                <a:gd name="T17" fmla="*/ 19 h 430"/>
                <a:gd name="T18" fmla="*/ 18 w 436"/>
                <a:gd name="T19" fmla="*/ 270 h 430"/>
                <a:gd name="T20" fmla="*/ 399 w 436"/>
                <a:gd name="T21" fmla="*/ 266 h 430"/>
                <a:gd name="T22" fmla="*/ 299 w 436"/>
                <a:gd name="T23" fmla="*/ 138 h 430"/>
                <a:gd name="T24" fmla="*/ 395 w 436"/>
                <a:gd name="T25" fmla="*/ 19 h 430"/>
                <a:gd name="T26" fmla="*/ 18 w 436"/>
                <a:gd name="T27" fmla="*/ 1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6" h="430">
                  <a:moveTo>
                    <a:pt x="18" y="430"/>
                  </a:moveTo>
                  <a:lnTo>
                    <a:pt x="0" y="43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322" y="138"/>
                  </a:lnTo>
                  <a:lnTo>
                    <a:pt x="436" y="284"/>
                  </a:lnTo>
                  <a:lnTo>
                    <a:pt x="18" y="288"/>
                  </a:lnTo>
                  <a:lnTo>
                    <a:pt x="18" y="430"/>
                  </a:lnTo>
                  <a:close/>
                  <a:moveTo>
                    <a:pt x="18" y="19"/>
                  </a:moveTo>
                  <a:lnTo>
                    <a:pt x="18" y="270"/>
                  </a:lnTo>
                  <a:lnTo>
                    <a:pt x="399" y="266"/>
                  </a:lnTo>
                  <a:lnTo>
                    <a:pt x="299" y="138"/>
                  </a:lnTo>
                  <a:lnTo>
                    <a:pt x="395" y="19"/>
                  </a:lnTo>
                  <a:lnTo>
                    <a:pt x="1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3" name="Rectangle 72">
              <a:extLst>
                <a:ext uri="{FF2B5EF4-FFF2-40B4-BE49-F238E27FC236}">
                  <a16:creationId xmlns:a16="http://schemas.microsoft.com/office/drawing/2014/main" id="{4BB491B4-0611-4CCE-85DE-549FC16B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101" y="1587500"/>
              <a:ext cx="246062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4" name="Rectangle 73">
              <a:extLst>
                <a:ext uri="{FF2B5EF4-FFF2-40B4-BE49-F238E27FC236}">
                  <a16:creationId xmlns:a16="http://schemas.microsoft.com/office/drawing/2014/main" id="{4B597885-1B7A-4A44-961B-1D9AEB280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838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5" name="Rectangle 74">
              <a:extLst>
                <a:ext uri="{FF2B5EF4-FFF2-40B4-BE49-F238E27FC236}">
                  <a16:creationId xmlns:a16="http://schemas.microsoft.com/office/drawing/2014/main" id="{F8237AAB-318F-4A38-9274-837C75ADB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1663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96" name="Группа 534">
            <a:extLst>
              <a:ext uri="{FF2B5EF4-FFF2-40B4-BE49-F238E27FC236}">
                <a16:creationId xmlns:a16="http://schemas.microsoft.com/office/drawing/2014/main" id="{C4FB36BC-1DF6-4F09-A21A-1B4A628E1275}"/>
              </a:ext>
            </a:extLst>
          </p:cNvPr>
          <p:cNvGrpSpPr>
            <a:grpSpLocks noChangeAspect="1"/>
          </p:cNvGrpSpPr>
          <p:nvPr/>
        </p:nvGrpSpPr>
        <p:grpSpPr>
          <a:xfrm>
            <a:off x="737421" y="5521819"/>
            <a:ext cx="390743" cy="273476"/>
            <a:chOff x="540757" y="2957518"/>
            <a:chExt cx="1157456" cy="810089"/>
          </a:xfrm>
          <a:solidFill>
            <a:srgbClr val="000000"/>
          </a:solidFill>
        </p:grpSpPr>
        <p:sp>
          <p:nvSpPr>
            <p:cNvPr id="197" name="Полилиния: фигура 520">
              <a:extLst>
                <a:ext uri="{FF2B5EF4-FFF2-40B4-BE49-F238E27FC236}">
                  <a16:creationId xmlns:a16="http://schemas.microsoft.com/office/drawing/2014/main" id="{7C48B7AD-773A-4DCE-8D94-FCEF6BE909BF}"/>
                </a:ext>
              </a:extLst>
            </p:cNvPr>
            <p:cNvSpPr/>
            <p:nvPr/>
          </p:nvSpPr>
          <p:spPr>
            <a:xfrm>
              <a:off x="959177" y="2957980"/>
              <a:ext cx="739036" cy="809627"/>
            </a:xfrm>
            <a:custGeom>
              <a:avLst/>
              <a:gdLst>
                <a:gd name="connsiteX0" fmla="*/ 496047 w 739036"/>
                <a:gd name="connsiteY0" fmla="*/ 809627 h 809627"/>
                <a:gd name="connsiteX1" fmla="*/ 467668 w 739036"/>
                <a:gd name="connsiteY1" fmla="*/ 804897 h 809627"/>
                <a:gd name="connsiteX2" fmla="*/ 419780 w 739036"/>
                <a:gd name="connsiteY2" fmla="*/ 760556 h 809627"/>
                <a:gd name="connsiteX3" fmla="*/ 427465 w 739036"/>
                <a:gd name="connsiteY3" fmla="*/ 695523 h 809627"/>
                <a:gd name="connsiteX4" fmla="*/ 435151 w 739036"/>
                <a:gd name="connsiteY4" fmla="*/ 684881 h 809627"/>
                <a:gd name="connsiteX5" fmla="*/ 440472 w 739036"/>
                <a:gd name="connsiteY5" fmla="*/ 677195 h 809627"/>
                <a:gd name="connsiteX6" fmla="*/ 442837 w 739036"/>
                <a:gd name="connsiteY6" fmla="*/ 661823 h 809627"/>
                <a:gd name="connsiteX7" fmla="*/ 431604 w 739036"/>
                <a:gd name="connsiteY7" fmla="*/ 652364 h 809627"/>
                <a:gd name="connsiteX8" fmla="*/ 413868 w 739036"/>
                <a:gd name="connsiteY8" fmla="*/ 650590 h 809627"/>
                <a:gd name="connsiteX9" fmla="*/ 363614 w 739036"/>
                <a:gd name="connsiteY9" fmla="*/ 650590 h 809627"/>
                <a:gd name="connsiteX10" fmla="*/ 297989 w 739036"/>
                <a:gd name="connsiteY10" fmla="*/ 649999 h 809627"/>
                <a:gd name="connsiteX11" fmla="*/ 252466 w 739036"/>
                <a:gd name="connsiteY11" fmla="*/ 604476 h 809627"/>
                <a:gd name="connsiteX12" fmla="*/ 251874 w 739036"/>
                <a:gd name="connsiteY12" fmla="*/ 499830 h 809627"/>
                <a:gd name="connsiteX13" fmla="*/ 251874 w 739036"/>
                <a:gd name="connsiteY13" fmla="*/ 468496 h 809627"/>
                <a:gd name="connsiteX14" fmla="*/ 167922 w 739036"/>
                <a:gd name="connsiteY14" fmla="*/ 468496 h 809627"/>
                <a:gd name="connsiteX15" fmla="*/ 167922 w 739036"/>
                <a:gd name="connsiteY15" fmla="*/ 498057 h 809627"/>
                <a:gd name="connsiteX16" fmla="*/ 154915 w 739036"/>
                <a:gd name="connsiteY16" fmla="*/ 520523 h 809627"/>
                <a:gd name="connsiteX17" fmla="*/ 95202 w 739036"/>
                <a:gd name="connsiteY17" fmla="*/ 490371 h 809627"/>
                <a:gd name="connsiteX18" fmla="*/ 85152 w 739036"/>
                <a:gd name="connsiteY18" fmla="*/ 481503 h 809627"/>
                <a:gd name="connsiteX19" fmla="*/ 46131 w 739036"/>
                <a:gd name="connsiteY19" fmla="*/ 451942 h 809627"/>
                <a:gd name="connsiteX20" fmla="*/ 16 w 739036"/>
                <a:gd name="connsiteY20" fmla="*/ 399915 h 809627"/>
                <a:gd name="connsiteX21" fmla="*/ 52043 w 739036"/>
                <a:gd name="connsiteY21" fmla="*/ 347888 h 809627"/>
                <a:gd name="connsiteX22" fmla="*/ 83378 w 739036"/>
                <a:gd name="connsiteY22" fmla="*/ 327195 h 809627"/>
                <a:gd name="connsiteX23" fmla="*/ 94020 w 739036"/>
                <a:gd name="connsiteY23" fmla="*/ 319510 h 809627"/>
                <a:gd name="connsiteX24" fmla="*/ 156689 w 739036"/>
                <a:gd name="connsiteY24" fmla="*/ 292314 h 809627"/>
                <a:gd name="connsiteX25" fmla="*/ 167922 w 739036"/>
                <a:gd name="connsiteY25" fmla="*/ 311824 h 809627"/>
                <a:gd name="connsiteX26" fmla="*/ 167922 w 739036"/>
                <a:gd name="connsiteY26" fmla="*/ 339611 h 809627"/>
                <a:gd name="connsiteX27" fmla="*/ 252466 w 739036"/>
                <a:gd name="connsiteY27" fmla="*/ 339611 h 809627"/>
                <a:gd name="connsiteX28" fmla="*/ 252466 w 739036"/>
                <a:gd name="connsiteY28" fmla="*/ 331334 h 809627"/>
                <a:gd name="connsiteX29" fmla="*/ 252466 w 739036"/>
                <a:gd name="connsiteY29" fmla="*/ 281081 h 809627"/>
                <a:gd name="connsiteX30" fmla="*/ 252466 w 739036"/>
                <a:gd name="connsiteY30" fmla="*/ 267483 h 809627"/>
                <a:gd name="connsiteX31" fmla="*/ 257195 w 739036"/>
                <a:gd name="connsiteY31" fmla="*/ 191807 h 809627"/>
                <a:gd name="connsiteX32" fmla="*/ 290303 w 739036"/>
                <a:gd name="connsiteY32" fmla="*/ 162246 h 809627"/>
                <a:gd name="connsiteX33" fmla="*/ 375438 w 739036"/>
                <a:gd name="connsiteY33" fmla="*/ 159290 h 809627"/>
                <a:gd name="connsiteX34" fmla="*/ 411503 w 739036"/>
                <a:gd name="connsiteY34" fmla="*/ 159290 h 809627"/>
                <a:gd name="connsiteX35" fmla="*/ 431604 w 739036"/>
                <a:gd name="connsiteY35" fmla="*/ 156925 h 809627"/>
                <a:gd name="connsiteX36" fmla="*/ 442246 w 739036"/>
                <a:gd name="connsiteY36" fmla="*/ 148057 h 809627"/>
                <a:gd name="connsiteX37" fmla="*/ 439881 w 739036"/>
                <a:gd name="connsiteY37" fmla="*/ 132686 h 809627"/>
                <a:gd name="connsiteX38" fmla="*/ 433969 w 739036"/>
                <a:gd name="connsiteY38" fmla="*/ 124409 h 809627"/>
                <a:gd name="connsiteX39" fmla="*/ 427465 w 739036"/>
                <a:gd name="connsiteY39" fmla="*/ 32179 h 809627"/>
                <a:gd name="connsiteX40" fmla="*/ 517922 w 739036"/>
                <a:gd name="connsiteY40" fmla="*/ 3801 h 809627"/>
                <a:gd name="connsiteX41" fmla="*/ 569357 w 739036"/>
                <a:gd name="connsiteY41" fmla="*/ 51098 h 809627"/>
                <a:gd name="connsiteX42" fmla="*/ 556942 w 739036"/>
                <a:gd name="connsiteY42" fmla="*/ 120861 h 809627"/>
                <a:gd name="connsiteX43" fmla="*/ 545117 w 739036"/>
                <a:gd name="connsiteY43" fmla="*/ 152196 h 809627"/>
                <a:gd name="connsiteX44" fmla="*/ 574678 w 739036"/>
                <a:gd name="connsiteY44" fmla="*/ 160473 h 809627"/>
                <a:gd name="connsiteX45" fmla="*/ 640303 w 739036"/>
                <a:gd name="connsiteY45" fmla="*/ 160473 h 809627"/>
                <a:gd name="connsiteX46" fmla="*/ 693513 w 739036"/>
                <a:gd name="connsiteY46" fmla="*/ 160473 h 809627"/>
                <a:gd name="connsiteX47" fmla="*/ 739036 w 739036"/>
                <a:gd name="connsiteY47" fmla="*/ 206588 h 809627"/>
                <a:gd name="connsiteX48" fmla="*/ 739036 w 739036"/>
                <a:gd name="connsiteY48" fmla="*/ 319510 h 809627"/>
                <a:gd name="connsiteX49" fmla="*/ 738445 w 739036"/>
                <a:gd name="connsiteY49" fmla="*/ 334290 h 809627"/>
                <a:gd name="connsiteX50" fmla="*/ 710067 w 739036"/>
                <a:gd name="connsiteY50" fmla="*/ 380996 h 809627"/>
                <a:gd name="connsiteX51" fmla="*/ 655675 w 739036"/>
                <a:gd name="connsiteY51" fmla="*/ 370945 h 809627"/>
                <a:gd name="connsiteX52" fmla="*/ 616655 w 739036"/>
                <a:gd name="connsiteY52" fmla="*/ 357347 h 809627"/>
                <a:gd name="connsiteX53" fmla="*/ 579999 w 739036"/>
                <a:gd name="connsiteY53" fmla="*/ 390456 h 809627"/>
                <a:gd name="connsiteX54" fmla="*/ 596553 w 739036"/>
                <a:gd name="connsiteY54" fmla="*/ 447212 h 809627"/>
                <a:gd name="connsiteX55" fmla="*/ 646215 w 739036"/>
                <a:gd name="connsiteY55" fmla="*/ 447803 h 809627"/>
                <a:gd name="connsiteX56" fmla="*/ 655084 w 739036"/>
                <a:gd name="connsiteY56" fmla="*/ 441891 h 809627"/>
                <a:gd name="connsiteX57" fmla="*/ 710067 w 739036"/>
                <a:gd name="connsiteY57" fmla="*/ 428293 h 809627"/>
                <a:gd name="connsiteX58" fmla="*/ 720117 w 739036"/>
                <a:gd name="connsiteY58" fmla="*/ 434205 h 809627"/>
                <a:gd name="connsiteX59" fmla="*/ 739036 w 739036"/>
                <a:gd name="connsiteY59" fmla="*/ 485641 h 809627"/>
                <a:gd name="connsiteX60" fmla="*/ 739036 w 739036"/>
                <a:gd name="connsiteY60" fmla="*/ 604476 h 809627"/>
                <a:gd name="connsiteX61" fmla="*/ 694104 w 739036"/>
                <a:gd name="connsiteY61" fmla="*/ 650590 h 809627"/>
                <a:gd name="connsiteX62" fmla="*/ 605422 w 739036"/>
                <a:gd name="connsiteY62" fmla="*/ 651181 h 809627"/>
                <a:gd name="connsiteX63" fmla="*/ 576452 w 739036"/>
                <a:gd name="connsiteY63" fmla="*/ 651181 h 809627"/>
                <a:gd name="connsiteX64" fmla="*/ 567584 w 739036"/>
                <a:gd name="connsiteY64" fmla="*/ 651181 h 809627"/>
                <a:gd name="connsiteX65" fmla="*/ 546300 w 739036"/>
                <a:gd name="connsiteY65" fmla="*/ 661823 h 809627"/>
                <a:gd name="connsiteX66" fmla="*/ 552212 w 739036"/>
                <a:gd name="connsiteY66" fmla="*/ 683698 h 809627"/>
                <a:gd name="connsiteX67" fmla="*/ 572313 w 739036"/>
                <a:gd name="connsiteY67" fmla="*/ 744594 h 809627"/>
                <a:gd name="connsiteX68" fmla="*/ 538614 w 739036"/>
                <a:gd name="connsiteY68" fmla="*/ 797212 h 809627"/>
                <a:gd name="connsiteX69" fmla="*/ 496047 w 739036"/>
                <a:gd name="connsiteY69" fmla="*/ 809627 h 809627"/>
                <a:gd name="connsiteX70" fmla="*/ 380759 w 739036"/>
                <a:gd name="connsiteY70" fmla="*/ 620438 h 809627"/>
                <a:gd name="connsiteX71" fmla="*/ 413868 w 739036"/>
                <a:gd name="connsiteY71" fmla="*/ 620438 h 809627"/>
                <a:gd name="connsiteX72" fmla="*/ 439881 w 739036"/>
                <a:gd name="connsiteY72" fmla="*/ 623986 h 809627"/>
                <a:gd name="connsiteX73" fmla="*/ 470624 w 739036"/>
                <a:gd name="connsiteY73" fmla="*/ 651773 h 809627"/>
                <a:gd name="connsiteX74" fmla="*/ 465303 w 739036"/>
                <a:gd name="connsiteY74" fmla="*/ 693749 h 809627"/>
                <a:gd name="connsiteX75" fmla="*/ 458209 w 739036"/>
                <a:gd name="connsiteY75" fmla="*/ 703208 h 809627"/>
                <a:gd name="connsiteX76" fmla="*/ 452297 w 739036"/>
                <a:gd name="connsiteY76" fmla="*/ 711485 h 809627"/>
                <a:gd name="connsiteX77" fmla="*/ 446976 w 739036"/>
                <a:gd name="connsiteY77" fmla="*/ 749914 h 809627"/>
                <a:gd name="connsiteX78" fmla="*/ 475945 w 739036"/>
                <a:gd name="connsiteY78" fmla="*/ 775928 h 809627"/>
                <a:gd name="connsiteX79" fmla="*/ 522651 w 739036"/>
                <a:gd name="connsiteY79" fmla="*/ 771198 h 809627"/>
                <a:gd name="connsiteX80" fmla="*/ 542753 w 739036"/>
                <a:gd name="connsiteY80" fmla="*/ 739864 h 809627"/>
                <a:gd name="connsiteX81" fmla="*/ 529155 w 739036"/>
                <a:gd name="connsiteY81" fmla="*/ 702026 h 809627"/>
                <a:gd name="connsiteX82" fmla="*/ 519104 w 739036"/>
                <a:gd name="connsiteY82" fmla="*/ 648817 h 809627"/>
                <a:gd name="connsiteX83" fmla="*/ 565219 w 739036"/>
                <a:gd name="connsiteY83" fmla="*/ 621030 h 809627"/>
                <a:gd name="connsiteX84" fmla="*/ 576452 w 739036"/>
                <a:gd name="connsiteY84" fmla="*/ 620438 h 809627"/>
                <a:gd name="connsiteX85" fmla="*/ 606013 w 739036"/>
                <a:gd name="connsiteY85" fmla="*/ 620438 h 809627"/>
                <a:gd name="connsiteX86" fmla="*/ 693513 w 739036"/>
                <a:gd name="connsiteY86" fmla="*/ 619847 h 809627"/>
                <a:gd name="connsiteX87" fmla="*/ 709475 w 739036"/>
                <a:gd name="connsiteY87" fmla="*/ 603293 h 809627"/>
                <a:gd name="connsiteX88" fmla="*/ 709475 w 739036"/>
                <a:gd name="connsiteY88" fmla="*/ 484459 h 809627"/>
                <a:gd name="connsiteX89" fmla="*/ 701198 w 739036"/>
                <a:gd name="connsiteY89" fmla="*/ 455489 h 809627"/>
                <a:gd name="connsiteX90" fmla="*/ 674002 w 739036"/>
                <a:gd name="connsiteY90" fmla="*/ 464949 h 809627"/>
                <a:gd name="connsiteX91" fmla="*/ 662769 w 739036"/>
                <a:gd name="connsiteY91" fmla="*/ 472634 h 809627"/>
                <a:gd name="connsiteX92" fmla="*/ 579408 w 739036"/>
                <a:gd name="connsiteY92" fmla="*/ 470270 h 809627"/>
                <a:gd name="connsiteX93" fmla="*/ 551621 w 739036"/>
                <a:gd name="connsiteY93" fmla="*/ 382178 h 809627"/>
                <a:gd name="connsiteX94" fmla="*/ 613107 w 739036"/>
                <a:gd name="connsiteY94" fmla="*/ 326604 h 809627"/>
                <a:gd name="connsiteX95" fmla="*/ 675185 w 739036"/>
                <a:gd name="connsiteY95" fmla="*/ 346706 h 809627"/>
                <a:gd name="connsiteX96" fmla="*/ 698242 w 739036"/>
                <a:gd name="connsiteY96" fmla="*/ 352618 h 809627"/>
                <a:gd name="connsiteX97" fmla="*/ 708884 w 739036"/>
                <a:gd name="connsiteY97" fmla="*/ 330743 h 809627"/>
                <a:gd name="connsiteX98" fmla="*/ 708884 w 739036"/>
                <a:gd name="connsiteY98" fmla="*/ 321875 h 809627"/>
                <a:gd name="connsiteX99" fmla="*/ 708884 w 739036"/>
                <a:gd name="connsiteY99" fmla="*/ 206588 h 809627"/>
                <a:gd name="connsiteX100" fmla="*/ 693513 w 739036"/>
                <a:gd name="connsiteY100" fmla="*/ 190625 h 809627"/>
                <a:gd name="connsiteX101" fmla="*/ 640894 w 739036"/>
                <a:gd name="connsiteY101" fmla="*/ 190625 h 809627"/>
                <a:gd name="connsiteX102" fmla="*/ 575269 w 739036"/>
                <a:gd name="connsiteY102" fmla="*/ 190625 h 809627"/>
                <a:gd name="connsiteX103" fmla="*/ 523242 w 739036"/>
                <a:gd name="connsiteY103" fmla="*/ 171706 h 809627"/>
                <a:gd name="connsiteX104" fmla="*/ 518513 w 739036"/>
                <a:gd name="connsiteY104" fmla="*/ 164611 h 809627"/>
                <a:gd name="connsiteX105" fmla="*/ 533884 w 739036"/>
                <a:gd name="connsiteY105" fmla="*/ 103125 h 809627"/>
                <a:gd name="connsiteX106" fmla="*/ 542161 w 739036"/>
                <a:gd name="connsiteY106" fmla="*/ 60557 h 809627"/>
                <a:gd name="connsiteX107" fmla="*/ 510827 w 739036"/>
                <a:gd name="connsiteY107" fmla="*/ 32179 h 809627"/>
                <a:gd name="connsiteX108" fmla="*/ 453479 w 739036"/>
                <a:gd name="connsiteY108" fmla="*/ 49324 h 809627"/>
                <a:gd name="connsiteX109" fmla="*/ 458800 w 739036"/>
                <a:gd name="connsiteY109" fmla="*/ 104899 h 809627"/>
                <a:gd name="connsiteX110" fmla="*/ 467668 w 739036"/>
                <a:gd name="connsiteY110" fmla="*/ 117314 h 809627"/>
                <a:gd name="connsiteX111" fmla="*/ 471807 w 739036"/>
                <a:gd name="connsiteY111" fmla="*/ 158108 h 809627"/>
                <a:gd name="connsiteX112" fmla="*/ 442246 w 739036"/>
                <a:gd name="connsiteY112" fmla="*/ 184713 h 809627"/>
                <a:gd name="connsiteX113" fmla="*/ 412685 w 739036"/>
                <a:gd name="connsiteY113" fmla="*/ 188851 h 809627"/>
                <a:gd name="connsiteX114" fmla="*/ 376030 w 739036"/>
                <a:gd name="connsiteY114" fmla="*/ 188851 h 809627"/>
                <a:gd name="connsiteX115" fmla="*/ 293851 w 739036"/>
                <a:gd name="connsiteY115" fmla="*/ 191807 h 809627"/>
                <a:gd name="connsiteX116" fmla="*/ 287347 w 739036"/>
                <a:gd name="connsiteY116" fmla="*/ 197128 h 809627"/>
                <a:gd name="connsiteX117" fmla="*/ 283209 w 739036"/>
                <a:gd name="connsiteY117" fmla="*/ 267483 h 809627"/>
                <a:gd name="connsiteX118" fmla="*/ 283209 w 739036"/>
                <a:gd name="connsiteY118" fmla="*/ 281672 h 809627"/>
                <a:gd name="connsiteX119" fmla="*/ 283209 w 739036"/>
                <a:gd name="connsiteY119" fmla="*/ 331334 h 809627"/>
                <a:gd name="connsiteX120" fmla="*/ 283209 w 739036"/>
                <a:gd name="connsiteY120" fmla="*/ 354391 h 809627"/>
                <a:gd name="connsiteX121" fmla="*/ 267837 w 739036"/>
                <a:gd name="connsiteY121" fmla="*/ 369763 h 809627"/>
                <a:gd name="connsiteX122" fmla="*/ 152550 w 739036"/>
                <a:gd name="connsiteY122" fmla="*/ 369763 h 809627"/>
                <a:gd name="connsiteX123" fmla="*/ 137179 w 739036"/>
                <a:gd name="connsiteY123" fmla="*/ 354391 h 809627"/>
                <a:gd name="connsiteX124" fmla="*/ 137179 w 739036"/>
                <a:gd name="connsiteY124" fmla="*/ 341976 h 809627"/>
                <a:gd name="connsiteX125" fmla="*/ 137179 w 739036"/>
                <a:gd name="connsiteY125" fmla="*/ 325422 h 809627"/>
                <a:gd name="connsiteX126" fmla="*/ 111165 w 739036"/>
                <a:gd name="connsiteY126" fmla="*/ 343750 h 809627"/>
                <a:gd name="connsiteX127" fmla="*/ 99341 w 739036"/>
                <a:gd name="connsiteY127" fmla="*/ 352027 h 809627"/>
                <a:gd name="connsiteX128" fmla="*/ 67415 w 739036"/>
                <a:gd name="connsiteY128" fmla="*/ 373310 h 809627"/>
                <a:gd name="connsiteX129" fmla="*/ 28986 w 739036"/>
                <a:gd name="connsiteY129" fmla="*/ 402280 h 809627"/>
                <a:gd name="connsiteX130" fmla="*/ 63277 w 739036"/>
                <a:gd name="connsiteY130" fmla="*/ 427702 h 809627"/>
                <a:gd name="connsiteX131" fmla="*/ 102888 w 739036"/>
                <a:gd name="connsiteY131" fmla="*/ 457263 h 809627"/>
                <a:gd name="connsiteX132" fmla="*/ 114712 w 739036"/>
                <a:gd name="connsiteY132" fmla="*/ 467314 h 809627"/>
                <a:gd name="connsiteX133" fmla="*/ 137179 w 739036"/>
                <a:gd name="connsiteY133" fmla="*/ 486232 h 809627"/>
                <a:gd name="connsiteX134" fmla="*/ 137179 w 739036"/>
                <a:gd name="connsiteY134" fmla="*/ 464949 h 809627"/>
                <a:gd name="connsiteX135" fmla="*/ 137179 w 739036"/>
                <a:gd name="connsiteY135" fmla="*/ 453124 h 809627"/>
                <a:gd name="connsiteX136" fmla="*/ 152550 w 739036"/>
                <a:gd name="connsiteY136" fmla="*/ 437753 h 809627"/>
                <a:gd name="connsiteX137" fmla="*/ 266655 w 739036"/>
                <a:gd name="connsiteY137" fmla="*/ 437753 h 809627"/>
                <a:gd name="connsiteX138" fmla="*/ 282026 w 739036"/>
                <a:gd name="connsiteY138" fmla="*/ 453124 h 809627"/>
                <a:gd name="connsiteX139" fmla="*/ 282026 w 739036"/>
                <a:gd name="connsiteY139" fmla="*/ 499830 h 809627"/>
                <a:gd name="connsiteX140" fmla="*/ 282618 w 739036"/>
                <a:gd name="connsiteY140" fmla="*/ 603884 h 809627"/>
                <a:gd name="connsiteX141" fmla="*/ 298580 w 739036"/>
                <a:gd name="connsiteY141" fmla="*/ 619847 h 809627"/>
                <a:gd name="connsiteX142" fmla="*/ 363614 w 739036"/>
                <a:gd name="connsiteY142" fmla="*/ 620438 h 809627"/>
                <a:gd name="connsiteX143" fmla="*/ 380759 w 739036"/>
                <a:gd name="connsiteY143" fmla="*/ 620438 h 809627"/>
                <a:gd name="connsiteX144" fmla="*/ 702972 w 739036"/>
                <a:gd name="connsiteY144" fmla="*/ 456672 h 809627"/>
                <a:gd name="connsiteX145" fmla="*/ 702972 w 739036"/>
                <a:gd name="connsiteY145" fmla="*/ 456672 h 809627"/>
                <a:gd name="connsiteX146" fmla="*/ 702972 w 739036"/>
                <a:gd name="connsiteY146" fmla="*/ 456672 h 809627"/>
                <a:gd name="connsiteX147" fmla="*/ 700016 w 739036"/>
                <a:gd name="connsiteY147" fmla="*/ 454898 h 809627"/>
                <a:gd name="connsiteX148" fmla="*/ 700016 w 739036"/>
                <a:gd name="connsiteY148" fmla="*/ 454898 h 809627"/>
                <a:gd name="connsiteX149" fmla="*/ 700016 w 739036"/>
                <a:gd name="connsiteY149" fmla="*/ 454898 h 809627"/>
                <a:gd name="connsiteX150" fmla="*/ 137179 w 739036"/>
                <a:gd name="connsiteY150" fmla="*/ 312415 h 809627"/>
                <a:gd name="connsiteX151" fmla="*/ 137179 w 739036"/>
                <a:gd name="connsiteY151" fmla="*/ 312415 h 809627"/>
                <a:gd name="connsiteX152" fmla="*/ 137179 w 739036"/>
                <a:gd name="connsiteY152" fmla="*/ 312415 h 809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739036" h="809627">
                  <a:moveTo>
                    <a:pt x="496047" y="809627"/>
                  </a:moveTo>
                  <a:cubicBezTo>
                    <a:pt x="486587" y="809627"/>
                    <a:pt x="477128" y="807854"/>
                    <a:pt x="467668" y="804897"/>
                  </a:cubicBezTo>
                  <a:cubicBezTo>
                    <a:pt x="445202" y="797803"/>
                    <a:pt x="427465" y="781249"/>
                    <a:pt x="419780" y="760556"/>
                  </a:cubicBezTo>
                  <a:cubicBezTo>
                    <a:pt x="412094" y="739864"/>
                    <a:pt x="415050" y="716215"/>
                    <a:pt x="427465" y="695523"/>
                  </a:cubicBezTo>
                  <a:cubicBezTo>
                    <a:pt x="429830" y="691975"/>
                    <a:pt x="432195" y="688428"/>
                    <a:pt x="435151" y="684881"/>
                  </a:cubicBezTo>
                  <a:cubicBezTo>
                    <a:pt x="436925" y="682516"/>
                    <a:pt x="438699" y="680151"/>
                    <a:pt x="440472" y="677195"/>
                  </a:cubicBezTo>
                  <a:cubicBezTo>
                    <a:pt x="444020" y="671874"/>
                    <a:pt x="444611" y="666553"/>
                    <a:pt x="442837" y="661823"/>
                  </a:cubicBezTo>
                  <a:cubicBezTo>
                    <a:pt x="441063" y="657094"/>
                    <a:pt x="436925" y="654138"/>
                    <a:pt x="431604" y="652364"/>
                  </a:cubicBezTo>
                  <a:cubicBezTo>
                    <a:pt x="426283" y="650590"/>
                    <a:pt x="419189" y="650590"/>
                    <a:pt x="413868" y="650590"/>
                  </a:cubicBezTo>
                  <a:cubicBezTo>
                    <a:pt x="397313" y="650590"/>
                    <a:pt x="380168" y="650590"/>
                    <a:pt x="363614" y="650590"/>
                  </a:cubicBezTo>
                  <a:cubicBezTo>
                    <a:pt x="341739" y="650590"/>
                    <a:pt x="319864" y="650590"/>
                    <a:pt x="297989" y="649999"/>
                  </a:cubicBezTo>
                  <a:cubicBezTo>
                    <a:pt x="273158" y="649408"/>
                    <a:pt x="253057" y="629307"/>
                    <a:pt x="252466" y="604476"/>
                  </a:cubicBezTo>
                  <a:cubicBezTo>
                    <a:pt x="251874" y="569594"/>
                    <a:pt x="251874" y="534712"/>
                    <a:pt x="251874" y="499830"/>
                  </a:cubicBezTo>
                  <a:lnTo>
                    <a:pt x="251874" y="468496"/>
                  </a:lnTo>
                  <a:lnTo>
                    <a:pt x="167922" y="468496"/>
                  </a:lnTo>
                  <a:cubicBezTo>
                    <a:pt x="167922" y="478547"/>
                    <a:pt x="167922" y="488006"/>
                    <a:pt x="167922" y="498057"/>
                  </a:cubicBezTo>
                  <a:cubicBezTo>
                    <a:pt x="167922" y="512837"/>
                    <a:pt x="159645" y="518158"/>
                    <a:pt x="154915" y="520523"/>
                  </a:cubicBezTo>
                  <a:cubicBezTo>
                    <a:pt x="138952" y="527618"/>
                    <a:pt x="120624" y="513428"/>
                    <a:pt x="95202" y="490371"/>
                  </a:cubicBezTo>
                  <a:cubicBezTo>
                    <a:pt x="91064" y="486824"/>
                    <a:pt x="87516" y="483868"/>
                    <a:pt x="85152" y="481503"/>
                  </a:cubicBezTo>
                  <a:cubicBezTo>
                    <a:pt x="69780" y="469678"/>
                    <a:pt x="57364" y="460219"/>
                    <a:pt x="46131" y="451942"/>
                  </a:cubicBezTo>
                  <a:cubicBezTo>
                    <a:pt x="14797" y="428885"/>
                    <a:pt x="-575" y="417651"/>
                    <a:pt x="16" y="399915"/>
                  </a:cubicBezTo>
                  <a:cubicBezTo>
                    <a:pt x="608" y="382178"/>
                    <a:pt x="16570" y="371537"/>
                    <a:pt x="52043" y="347888"/>
                  </a:cubicBezTo>
                  <a:cubicBezTo>
                    <a:pt x="60912" y="341976"/>
                    <a:pt x="71554" y="334881"/>
                    <a:pt x="83378" y="327195"/>
                  </a:cubicBezTo>
                  <a:cubicBezTo>
                    <a:pt x="86334" y="325422"/>
                    <a:pt x="89881" y="322466"/>
                    <a:pt x="94020" y="319510"/>
                  </a:cubicBezTo>
                  <a:cubicBezTo>
                    <a:pt x="122989" y="297635"/>
                    <a:pt x="141317" y="284628"/>
                    <a:pt x="156689" y="292314"/>
                  </a:cubicBezTo>
                  <a:cubicBezTo>
                    <a:pt x="160236" y="294087"/>
                    <a:pt x="167922" y="298817"/>
                    <a:pt x="167922" y="311824"/>
                  </a:cubicBezTo>
                  <a:cubicBezTo>
                    <a:pt x="167922" y="320692"/>
                    <a:pt x="167922" y="330152"/>
                    <a:pt x="167922" y="339611"/>
                  </a:cubicBezTo>
                  <a:lnTo>
                    <a:pt x="252466" y="339611"/>
                  </a:lnTo>
                  <a:lnTo>
                    <a:pt x="252466" y="331334"/>
                  </a:lnTo>
                  <a:cubicBezTo>
                    <a:pt x="252466" y="314780"/>
                    <a:pt x="252466" y="298226"/>
                    <a:pt x="252466" y="281081"/>
                  </a:cubicBezTo>
                  <a:lnTo>
                    <a:pt x="252466" y="267483"/>
                  </a:lnTo>
                  <a:cubicBezTo>
                    <a:pt x="252466" y="242652"/>
                    <a:pt x="252466" y="217229"/>
                    <a:pt x="257195" y="191807"/>
                  </a:cubicBezTo>
                  <a:cubicBezTo>
                    <a:pt x="260151" y="175844"/>
                    <a:pt x="273749" y="163429"/>
                    <a:pt x="290303" y="162246"/>
                  </a:cubicBezTo>
                  <a:cubicBezTo>
                    <a:pt x="318682" y="159290"/>
                    <a:pt x="347651" y="159290"/>
                    <a:pt x="375438" y="159290"/>
                  </a:cubicBezTo>
                  <a:cubicBezTo>
                    <a:pt x="387263" y="159290"/>
                    <a:pt x="399678" y="159290"/>
                    <a:pt x="411503" y="159290"/>
                  </a:cubicBezTo>
                  <a:cubicBezTo>
                    <a:pt x="418597" y="159290"/>
                    <a:pt x="426283" y="158699"/>
                    <a:pt x="431604" y="156925"/>
                  </a:cubicBezTo>
                  <a:cubicBezTo>
                    <a:pt x="435742" y="155743"/>
                    <a:pt x="440472" y="152787"/>
                    <a:pt x="442246" y="148057"/>
                  </a:cubicBezTo>
                  <a:cubicBezTo>
                    <a:pt x="444020" y="143919"/>
                    <a:pt x="442837" y="138007"/>
                    <a:pt x="439881" y="132686"/>
                  </a:cubicBezTo>
                  <a:cubicBezTo>
                    <a:pt x="438107" y="129730"/>
                    <a:pt x="436334" y="127365"/>
                    <a:pt x="433969" y="124409"/>
                  </a:cubicBezTo>
                  <a:cubicBezTo>
                    <a:pt x="410320" y="93074"/>
                    <a:pt x="407955" y="59966"/>
                    <a:pt x="427465" y="32179"/>
                  </a:cubicBezTo>
                  <a:cubicBezTo>
                    <a:pt x="446384" y="5574"/>
                    <a:pt x="484222" y="-6841"/>
                    <a:pt x="517922" y="3801"/>
                  </a:cubicBezTo>
                  <a:cubicBezTo>
                    <a:pt x="542753" y="11486"/>
                    <a:pt x="561671" y="28632"/>
                    <a:pt x="569357" y="51098"/>
                  </a:cubicBezTo>
                  <a:cubicBezTo>
                    <a:pt x="577043" y="74155"/>
                    <a:pt x="572313" y="99578"/>
                    <a:pt x="556942" y="120861"/>
                  </a:cubicBezTo>
                  <a:cubicBezTo>
                    <a:pt x="547482" y="133868"/>
                    <a:pt x="542161" y="142145"/>
                    <a:pt x="545117" y="152196"/>
                  </a:cubicBezTo>
                  <a:cubicBezTo>
                    <a:pt x="551030" y="156925"/>
                    <a:pt x="561671" y="159882"/>
                    <a:pt x="574678" y="160473"/>
                  </a:cubicBezTo>
                  <a:cubicBezTo>
                    <a:pt x="596553" y="161064"/>
                    <a:pt x="618428" y="160473"/>
                    <a:pt x="640303" y="160473"/>
                  </a:cubicBezTo>
                  <a:cubicBezTo>
                    <a:pt x="658040" y="160473"/>
                    <a:pt x="675776" y="160473"/>
                    <a:pt x="693513" y="160473"/>
                  </a:cubicBezTo>
                  <a:cubicBezTo>
                    <a:pt x="718344" y="160473"/>
                    <a:pt x="739036" y="181165"/>
                    <a:pt x="739036" y="206588"/>
                  </a:cubicBezTo>
                  <a:cubicBezTo>
                    <a:pt x="739036" y="244425"/>
                    <a:pt x="739036" y="281672"/>
                    <a:pt x="739036" y="319510"/>
                  </a:cubicBezTo>
                  <a:cubicBezTo>
                    <a:pt x="739036" y="326013"/>
                    <a:pt x="739036" y="330152"/>
                    <a:pt x="738445" y="334290"/>
                  </a:cubicBezTo>
                  <a:cubicBezTo>
                    <a:pt x="737263" y="343750"/>
                    <a:pt x="734898" y="369763"/>
                    <a:pt x="710067" y="380996"/>
                  </a:cubicBezTo>
                  <a:cubicBezTo>
                    <a:pt x="692330" y="389273"/>
                    <a:pt x="674002" y="385726"/>
                    <a:pt x="655675" y="370945"/>
                  </a:cubicBezTo>
                  <a:cubicBezTo>
                    <a:pt x="642668" y="360304"/>
                    <a:pt x="630253" y="355574"/>
                    <a:pt x="616655" y="357347"/>
                  </a:cubicBezTo>
                  <a:cubicBezTo>
                    <a:pt x="598327" y="359712"/>
                    <a:pt x="585320" y="371537"/>
                    <a:pt x="579999" y="390456"/>
                  </a:cubicBezTo>
                  <a:cubicBezTo>
                    <a:pt x="574087" y="412331"/>
                    <a:pt x="581182" y="434797"/>
                    <a:pt x="596553" y="447212"/>
                  </a:cubicBezTo>
                  <a:cubicBezTo>
                    <a:pt x="610151" y="457263"/>
                    <a:pt x="629070" y="457854"/>
                    <a:pt x="646215" y="447803"/>
                  </a:cubicBezTo>
                  <a:cubicBezTo>
                    <a:pt x="649171" y="446030"/>
                    <a:pt x="652128" y="443665"/>
                    <a:pt x="655084" y="441891"/>
                  </a:cubicBezTo>
                  <a:cubicBezTo>
                    <a:pt x="666908" y="433023"/>
                    <a:pt x="682871" y="421199"/>
                    <a:pt x="710067" y="428293"/>
                  </a:cubicBezTo>
                  <a:cubicBezTo>
                    <a:pt x="713023" y="428885"/>
                    <a:pt x="717161" y="431249"/>
                    <a:pt x="720117" y="434205"/>
                  </a:cubicBezTo>
                  <a:cubicBezTo>
                    <a:pt x="731942" y="445439"/>
                    <a:pt x="739036" y="464357"/>
                    <a:pt x="739036" y="485641"/>
                  </a:cubicBezTo>
                  <a:cubicBezTo>
                    <a:pt x="739036" y="525253"/>
                    <a:pt x="739036" y="564864"/>
                    <a:pt x="739036" y="604476"/>
                  </a:cubicBezTo>
                  <a:cubicBezTo>
                    <a:pt x="739036" y="629898"/>
                    <a:pt x="718935" y="649999"/>
                    <a:pt x="694104" y="650590"/>
                  </a:cubicBezTo>
                  <a:cubicBezTo>
                    <a:pt x="664543" y="651773"/>
                    <a:pt x="634982" y="651181"/>
                    <a:pt x="605422" y="651181"/>
                  </a:cubicBezTo>
                  <a:lnTo>
                    <a:pt x="576452" y="651181"/>
                  </a:lnTo>
                  <a:cubicBezTo>
                    <a:pt x="573496" y="651181"/>
                    <a:pt x="570540" y="651181"/>
                    <a:pt x="567584" y="651181"/>
                  </a:cubicBezTo>
                  <a:cubicBezTo>
                    <a:pt x="553394" y="652364"/>
                    <a:pt x="549256" y="656502"/>
                    <a:pt x="546300" y="661823"/>
                  </a:cubicBezTo>
                  <a:cubicBezTo>
                    <a:pt x="543935" y="666553"/>
                    <a:pt x="543344" y="672465"/>
                    <a:pt x="552212" y="683698"/>
                  </a:cubicBezTo>
                  <a:cubicBezTo>
                    <a:pt x="568766" y="703800"/>
                    <a:pt x="575269" y="723901"/>
                    <a:pt x="572313" y="744594"/>
                  </a:cubicBezTo>
                  <a:cubicBezTo>
                    <a:pt x="569357" y="766468"/>
                    <a:pt x="557533" y="785387"/>
                    <a:pt x="538614" y="797212"/>
                  </a:cubicBezTo>
                  <a:cubicBezTo>
                    <a:pt x="526790" y="805489"/>
                    <a:pt x="511418" y="809627"/>
                    <a:pt x="496047" y="809627"/>
                  </a:cubicBezTo>
                  <a:close/>
                  <a:moveTo>
                    <a:pt x="380759" y="620438"/>
                  </a:moveTo>
                  <a:cubicBezTo>
                    <a:pt x="391993" y="620438"/>
                    <a:pt x="403226" y="620438"/>
                    <a:pt x="413868" y="620438"/>
                  </a:cubicBezTo>
                  <a:cubicBezTo>
                    <a:pt x="420962" y="620438"/>
                    <a:pt x="430422" y="621030"/>
                    <a:pt x="439881" y="623986"/>
                  </a:cubicBezTo>
                  <a:cubicBezTo>
                    <a:pt x="454661" y="628715"/>
                    <a:pt x="465895" y="638766"/>
                    <a:pt x="470624" y="651773"/>
                  </a:cubicBezTo>
                  <a:cubicBezTo>
                    <a:pt x="475354" y="665371"/>
                    <a:pt x="473580" y="680742"/>
                    <a:pt x="465303" y="693749"/>
                  </a:cubicBezTo>
                  <a:cubicBezTo>
                    <a:pt x="462938" y="697296"/>
                    <a:pt x="460574" y="700252"/>
                    <a:pt x="458209" y="703208"/>
                  </a:cubicBezTo>
                  <a:cubicBezTo>
                    <a:pt x="456435" y="705573"/>
                    <a:pt x="454070" y="708529"/>
                    <a:pt x="452297" y="711485"/>
                  </a:cubicBezTo>
                  <a:cubicBezTo>
                    <a:pt x="444611" y="723901"/>
                    <a:pt x="442837" y="738090"/>
                    <a:pt x="446976" y="749914"/>
                  </a:cubicBezTo>
                  <a:cubicBezTo>
                    <a:pt x="451705" y="762330"/>
                    <a:pt x="461756" y="771198"/>
                    <a:pt x="475945" y="775928"/>
                  </a:cubicBezTo>
                  <a:cubicBezTo>
                    <a:pt x="492499" y="781249"/>
                    <a:pt x="509644" y="779475"/>
                    <a:pt x="522651" y="771198"/>
                  </a:cubicBezTo>
                  <a:cubicBezTo>
                    <a:pt x="533884" y="764104"/>
                    <a:pt x="540979" y="752871"/>
                    <a:pt x="542753" y="739864"/>
                  </a:cubicBezTo>
                  <a:cubicBezTo>
                    <a:pt x="544526" y="727448"/>
                    <a:pt x="540388" y="715624"/>
                    <a:pt x="529155" y="702026"/>
                  </a:cubicBezTo>
                  <a:cubicBezTo>
                    <a:pt x="514374" y="684290"/>
                    <a:pt x="510827" y="665962"/>
                    <a:pt x="519104" y="648817"/>
                  </a:cubicBezTo>
                  <a:cubicBezTo>
                    <a:pt x="530337" y="623986"/>
                    <a:pt x="556351" y="621621"/>
                    <a:pt x="565219" y="621030"/>
                  </a:cubicBezTo>
                  <a:cubicBezTo>
                    <a:pt x="568766" y="620438"/>
                    <a:pt x="572905" y="620438"/>
                    <a:pt x="576452" y="620438"/>
                  </a:cubicBezTo>
                  <a:lnTo>
                    <a:pt x="606013" y="620438"/>
                  </a:lnTo>
                  <a:cubicBezTo>
                    <a:pt x="634982" y="620438"/>
                    <a:pt x="664543" y="620438"/>
                    <a:pt x="693513" y="619847"/>
                  </a:cubicBezTo>
                  <a:cubicBezTo>
                    <a:pt x="702381" y="619847"/>
                    <a:pt x="709475" y="612161"/>
                    <a:pt x="709475" y="603293"/>
                  </a:cubicBezTo>
                  <a:cubicBezTo>
                    <a:pt x="710067" y="563682"/>
                    <a:pt x="710067" y="524070"/>
                    <a:pt x="709475" y="484459"/>
                  </a:cubicBezTo>
                  <a:cubicBezTo>
                    <a:pt x="709475" y="472634"/>
                    <a:pt x="705928" y="461401"/>
                    <a:pt x="701198" y="455489"/>
                  </a:cubicBezTo>
                  <a:cubicBezTo>
                    <a:pt x="690557" y="453124"/>
                    <a:pt x="684644" y="456672"/>
                    <a:pt x="674002" y="464949"/>
                  </a:cubicBezTo>
                  <a:cubicBezTo>
                    <a:pt x="670455" y="467905"/>
                    <a:pt x="666908" y="470270"/>
                    <a:pt x="662769" y="472634"/>
                  </a:cubicBezTo>
                  <a:cubicBezTo>
                    <a:pt x="635573" y="489189"/>
                    <a:pt x="603057" y="488006"/>
                    <a:pt x="579408" y="470270"/>
                  </a:cubicBezTo>
                  <a:cubicBezTo>
                    <a:pt x="553394" y="450760"/>
                    <a:pt x="542753" y="415878"/>
                    <a:pt x="551621" y="382178"/>
                  </a:cubicBezTo>
                  <a:cubicBezTo>
                    <a:pt x="559898" y="351435"/>
                    <a:pt x="582955" y="330743"/>
                    <a:pt x="613107" y="326604"/>
                  </a:cubicBezTo>
                  <a:cubicBezTo>
                    <a:pt x="634982" y="323648"/>
                    <a:pt x="655675" y="330152"/>
                    <a:pt x="675185" y="346706"/>
                  </a:cubicBezTo>
                  <a:cubicBezTo>
                    <a:pt x="686418" y="356165"/>
                    <a:pt x="692921" y="354983"/>
                    <a:pt x="698242" y="352618"/>
                  </a:cubicBezTo>
                  <a:cubicBezTo>
                    <a:pt x="704155" y="350253"/>
                    <a:pt x="707702" y="345523"/>
                    <a:pt x="708884" y="330743"/>
                  </a:cubicBezTo>
                  <a:cubicBezTo>
                    <a:pt x="708884" y="327787"/>
                    <a:pt x="708884" y="324831"/>
                    <a:pt x="708884" y="321875"/>
                  </a:cubicBezTo>
                  <a:cubicBezTo>
                    <a:pt x="708884" y="281672"/>
                    <a:pt x="708884" y="243834"/>
                    <a:pt x="708884" y="206588"/>
                  </a:cubicBezTo>
                  <a:cubicBezTo>
                    <a:pt x="708884" y="197719"/>
                    <a:pt x="701790" y="190625"/>
                    <a:pt x="693513" y="190625"/>
                  </a:cubicBezTo>
                  <a:cubicBezTo>
                    <a:pt x="675776" y="190625"/>
                    <a:pt x="658040" y="190625"/>
                    <a:pt x="640894" y="190625"/>
                  </a:cubicBezTo>
                  <a:cubicBezTo>
                    <a:pt x="619019" y="190625"/>
                    <a:pt x="597144" y="190625"/>
                    <a:pt x="575269" y="190625"/>
                  </a:cubicBezTo>
                  <a:cubicBezTo>
                    <a:pt x="553394" y="190034"/>
                    <a:pt x="534476" y="183530"/>
                    <a:pt x="523242" y="171706"/>
                  </a:cubicBezTo>
                  <a:cubicBezTo>
                    <a:pt x="521469" y="169932"/>
                    <a:pt x="519695" y="166385"/>
                    <a:pt x="518513" y="164611"/>
                  </a:cubicBezTo>
                  <a:cubicBezTo>
                    <a:pt x="508462" y="138007"/>
                    <a:pt x="523242" y="117905"/>
                    <a:pt x="533884" y="103125"/>
                  </a:cubicBezTo>
                  <a:cubicBezTo>
                    <a:pt x="543935" y="89527"/>
                    <a:pt x="546891" y="74155"/>
                    <a:pt x="542161" y="60557"/>
                  </a:cubicBezTo>
                  <a:cubicBezTo>
                    <a:pt x="537432" y="46959"/>
                    <a:pt x="526199" y="36909"/>
                    <a:pt x="510827" y="32179"/>
                  </a:cubicBezTo>
                  <a:cubicBezTo>
                    <a:pt x="489543" y="25676"/>
                    <a:pt x="464712" y="32770"/>
                    <a:pt x="453479" y="49324"/>
                  </a:cubicBezTo>
                  <a:cubicBezTo>
                    <a:pt x="438699" y="70017"/>
                    <a:pt x="448158" y="91301"/>
                    <a:pt x="458800" y="104899"/>
                  </a:cubicBezTo>
                  <a:cubicBezTo>
                    <a:pt x="462347" y="109628"/>
                    <a:pt x="465303" y="113176"/>
                    <a:pt x="467668" y="117314"/>
                  </a:cubicBezTo>
                  <a:cubicBezTo>
                    <a:pt x="475354" y="130912"/>
                    <a:pt x="476536" y="145692"/>
                    <a:pt x="471807" y="158108"/>
                  </a:cubicBezTo>
                  <a:cubicBezTo>
                    <a:pt x="467077" y="170523"/>
                    <a:pt x="456435" y="179983"/>
                    <a:pt x="442246" y="184713"/>
                  </a:cubicBezTo>
                  <a:cubicBezTo>
                    <a:pt x="432786" y="187669"/>
                    <a:pt x="422736" y="188851"/>
                    <a:pt x="412685" y="188851"/>
                  </a:cubicBezTo>
                  <a:cubicBezTo>
                    <a:pt x="400270" y="188851"/>
                    <a:pt x="387854" y="188851"/>
                    <a:pt x="376030" y="188851"/>
                  </a:cubicBezTo>
                  <a:cubicBezTo>
                    <a:pt x="348834" y="188851"/>
                    <a:pt x="321047" y="188851"/>
                    <a:pt x="293851" y="191807"/>
                  </a:cubicBezTo>
                  <a:cubicBezTo>
                    <a:pt x="290895" y="191807"/>
                    <a:pt x="287939" y="194763"/>
                    <a:pt x="287347" y="197128"/>
                  </a:cubicBezTo>
                  <a:cubicBezTo>
                    <a:pt x="283209" y="219594"/>
                    <a:pt x="283209" y="242652"/>
                    <a:pt x="283209" y="267483"/>
                  </a:cubicBezTo>
                  <a:lnTo>
                    <a:pt x="283209" y="281672"/>
                  </a:lnTo>
                  <a:cubicBezTo>
                    <a:pt x="283209" y="298226"/>
                    <a:pt x="283209" y="314780"/>
                    <a:pt x="283209" y="331334"/>
                  </a:cubicBezTo>
                  <a:lnTo>
                    <a:pt x="283209" y="354391"/>
                  </a:lnTo>
                  <a:cubicBezTo>
                    <a:pt x="283209" y="362668"/>
                    <a:pt x="276705" y="369763"/>
                    <a:pt x="267837" y="369763"/>
                  </a:cubicBezTo>
                  <a:lnTo>
                    <a:pt x="152550" y="369763"/>
                  </a:lnTo>
                  <a:cubicBezTo>
                    <a:pt x="144273" y="369763"/>
                    <a:pt x="137179" y="363260"/>
                    <a:pt x="137179" y="354391"/>
                  </a:cubicBezTo>
                  <a:lnTo>
                    <a:pt x="137179" y="341976"/>
                  </a:lnTo>
                  <a:cubicBezTo>
                    <a:pt x="137179" y="336655"/>
                    <a:pt x="137179" y="330743"/>
                    <a:pt x="137179" y="325422"/>
                  </a:cubicBezTo>
                  <a:cubicBezTo>
                    <a:pt x="128310" y="330743"/>
                    <a:pt x="117077" y="339611"/>
                    <a:pt x="111165" y="343750"/>
                  </a:cubicBezTo>
                  <a:cubicBezTo>
                    <a:pt x="106435" y="347297"/>
                    <a:pt x="102297" y="350253"/>
                    <a:pt x="99341" y="352027"/>
                  </a:cubicBezTo>
                  <a:cubicBezTo>
                    <a:pt x="87516" y="360304"/>
                    <a:pt x="76874" y="367398"/>
                    <a:pt x="67415" y="373310"/>
                  </a:cubicBezTo>
                  <a:cubicBezTo>
                    <a:pt x="48496" y="385726"/>
                    <a:pt x="31351" y="397550"/>
                    <a:pt x="28986" y="402280"/>
                  </a:cubicBezTo>
                  <a:cubicBezTo>
                    <a:pt x="30760" y="404053"/>
                    <a:pt x="47314" y="416469"/>
                    <a:pt x="63277" y="427702"/>
                  </a:cubicBezTo>
                  <a:cubicBezTo>
                    <a:pt x="74510" y="435979"/>
                    <a:pt x="87516" y="445439"/>
                    <a:pt x="102888" y="457263"/>
                  </a:cubicBezTo>
                  <a:cubicBezTo>
                    <a:pt x="105844" y="459628"/>
                    <a:pt x="109983" y="463175"/>
                    <a:pt x="114712" y="467314"/>
                  </a:cubicBezTo>
                  <a:cubicBezTo>
                    <a:pt x="120033" y="472043"/>
                    <a:pt x="129493" y="480320"/>
                    <a:pt x="137179" y="486232"/>
                  </a:cubicBezTo>
                  <a:cubicBezTo>
                    <a:pt x="137179" y="479138"/>
                    <a:pt x="137179" y="472043"/>
                    <a:pt x="137179" y="464949"/>
                  </a:cubicBezTo>
                  <a:lnTo>
                    <a:pt x="137179" y="453124"/>
                  </a:lnTo>
                  <a:cubicBezTo>
                    <a:pt x="137179" y="444847"/>
                    <a:pt x="143682" y="437753"/>
                    <a:pt x="152550" y="437753"/>
                  </a:cubicBezTo>
                  <a:lnTo>
                    <a:pt x="266655" y="437753"/>
                  </a:lnTo>
                  <a:cubicBezTo>
                    <a:pt x="274932" y="437753"/>
                    <a:pt x="282026" y="444256"/>
                    <a:pt x="282026" y="453124"/>
                  </a:cubicBezTo>
                  <a:lnTo>
                    <a:pt x="282026" y="499830"/>
                  </a:lnTo>
                  <a:cubicBezTo>
                    <a:pt x="282026" y="534712"/>
                    <a:pt x="282026" y="569003"/>
                    <a:pt x="282618" y="603884"/>
                  </a:cubicBezTo>
                  <a:cubicBezTo>
                    <a:pt x="282618" y="612752"/>
                    <a:pt x="289712" y="619847"/>
                    <a:pt x="298580" y="619847"/>
                  </a:cubicBezTo>
                  <a:cubicBezTo>
                    <a:pt x="320455" y="620438"/>
                    <a:pt x="341739" y="620438"/>
                    <a:pt x="363614" y="620438"/>
                  </a:cubicBezTo>
                  <a:cubicBezTo>
                    <a:pt x="369526" y="620438"/>
                    <a:pt x="374847" y="620438"/>
                    <a:pt x="380759" y="620438"/>
                  </a:cubicBezTo>
                  <a:close/>
                  <a:moveTo>
                    <a:pt x="702972" y="456672"/>
                  </a:moveTo>
                  <a:cubicBezTo>
                    <a:pt x="702972" y="456672"/>
                    <a:pt x="702972" y="456672"/>
                    <a:pt x="702972" y="456672"/>
                  </a:cubicBezTo>
                  <a:cubicBezTo>
                    <a:pt x="702972" y="456672"/>
                    <a:pt x="702972" y="456672"/>
                    <a:pt x="702972" y="456672"/>
                  </a:cubicBezTo>
                  <a:close/>
                  <a:moveTo>
                    <a:pt x="700016" y="454898"/>
                  </a:moveTo>
                  <a:cubicBezTo>
                    <a:pt x="700016" y="454898"/>
                    <a:pt x="700016" y="454898"/>
                    <a:pt x="700016" y="454898"/>
                  </a:cubicBezTo>
                  <a:cubicBezTo>
                    <a:pt x="700016" y="454898"/>
                    <a:pt x="700016" y="454898"/>
                    <a:pt x="700016" y="454898"/>
                  </a:cubicBezTo>
                  <a:close/>
                  <a:moveTo>
                    <a:pt x="137179" y="312415"/>
                  </a:moveTo>
                  <a:lnTo>
                    <a:pt x="137179" y="312415"/>
                  </a:lnTo>
                  <a:lnTo>
                    <a:pt x="137179" y="312415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521">
              <a:extLst>
                <a:ext uri="{FF2B5EF4-FFF2-40B4-BE49-F238E27FC236}">
                  <a16:creationId xmlns:a16="http://schemas.microsoft.com/office/drawing/2014/main" id="{7127583A-1E3E-4696-9D73-570688947F49}"/>
                </a:ext>
              </a:extLst>
            </p:cNvPr>
            <p:cNvSpPr/>
            <p:nvPr/>
          </p:nvSpPr>
          <p:spPr>
            <a:xfrm>
              <a:off x="540757" y="2957518"/>
              <a:ext cx="649823" cy="808315"/>
            </a:xfrm>
            <a:custGeom>
              <a:avLst/>
              <a:gdLst>
                <a:gd name="connsiteX0" fmla="*/ 403656 w 649823"/>
                <a:gd name="connsiteY0" fmla="*/ 808316 h 808315"/>
                <a:gd name="connsiteX1" fmla="*/ 380599 w 649823"/>
                <a:gd name="connsiteY1" fmla="*/ 805360 h 808315"/>
                <a:gd name="connsiteX2" fmla="*/ 327981 w 649823"/>
                <a:gd name="connsiteY2" fmla="*/ 759245 h 808315"/>
                <a:gd name="connsiteX3" fmla="*/ 339214 w 649823"/>
                <a:gd name="connsiteY3" fmla="*/ 690073 h 808315"/>
                <a:gd name="connsiteX4" fmla="*/ 343943 w 649823"/>
                <a:gd name="connsiteY4" fmla="*/ 684161 h 808315"/>
                <a:gd name="connsiteX5" fmla="*/ 348673 w 649823"/>
                <a:gd name="connsiteY5" fmla="*/ 678248 h 808315"/>
                <a:gd name="connsiteX6" fmla="*/ 351629 w 649823"/>
                <a:gd name="connsiteY6" fmla="*/ 661103 h 808315"/>
                <a:gd name="connsiteX7" fmla="*/ 337440 w 649823"/>
                <a:gd name="connsiteY7" fmla="*/ 651644 h 808315"/>
                <a:gd name="connsiteX8" fmla="*/ 320295 w 649823"/>
                <a:gd name="connsiteY8" fmla="*/ 649870 h 808315"/>
                <a:gd name="connsiteX9" fmla="*/ 278318 w 649823"/>
                <a:gd name="connsiteY9" fmla="*/ 649870 h 808315"/>
                <a:gd name="connsiteX10" fmla="*/ 213876 w 649823"/>
                <a:gd name="connsiteY10" fmla="*/ 649870 h 808315"/>
                <a:gd name="connsiteX11" fmla="*/ 161258 w 649823"/>
                <a:gd name="connsiteY11" fmla="*/ 597843 h 808315"/>
                <a:gd name="connsiteX12" fmla="*/ 160666 w 649823"/>
                <a:gd name="connsiteY12" fmla="*/ 543451 h 808315"/>
                <a:gd name="connsiteX13" fmla="*/ 156528 w 649823"/>
                <a:gd name="connsiteY13" fmla="*/ 445901 h 808315"/>
                <a:gd name="connsiteX14" fmla="*/ 131106 w 649823"/>
                <a:gd name="connsiteY14" fmla="*/ 461864 h 808315"/>
                <a:gd name="connsiteX15" fmla="*/ 74349 w 649823"/>
                <a:gd name="connsiteY15" fmla="*/ 485512 h 808315"/>
                <a:gd name="connsiteX16" fmla="*/ 73758 w 649823"/>
                <a:gd name="connsiteY16" fmla="*/ 485512 h 808315"/>
                <a:gd name="connsiteX17" fmla="*/ 19957 w 649823"/>
                <a:gd name="connsiteY17" fmla="*/ 461272 h 808315"/>
                <a:gd name="connsiteX18" fmla="*/ 447 w 649823"/>
                <a:gd name="connsiteY18" fmla="*/ 399195 h 808315"/>
                <a:gd name="connsiteX19" fmla="*/ 44197 w 649823"/>
                <a:gd name="connsiteY19" fmla="*/ 333570 h 808315"/>
                <a:gd name="connsiteX20" fmla="*/ 122237 w 649823"/>
                <a:gd name="connsiteY20" fmla="*/ 343621 h 808315"/>
                <a:gd name="connsiteX21" fmla="*/ 125785 w 649823"/>
                <a:gd name="connsiteY21" fmla="*/ 345985 h 808315"/>
                <a:gd name="connsiteX22" fmla="*/ 158893 w 649823"/>
                <a:gd name="connsiteY22" fmla="*/ 353671 h 808315"/>
                <a:gd name="connsiteX23" fmla="*/ 161258 w 649823"/>
                <a:gd name="connsiteY23" fmla="*/ 292185 h 808315"/>
                <a:gd name="connsiteX24" fmla="*/ 161258 w 649823"/>
                <a:gd name="connsiteY24" fmla="*/ 256121 h 808315"/>
                <a:gd name="connsiteX25" fmla="*/ 161849 w 649823"/>
                <a:gd name="connsiteY25" fmla="*/ 210006 h 808315"/>
                <a:gd name="connsiteX26" fmla="*/ 213876 w 649823"/>
                <a:gd name="connsiteY26" fmla="*/ 160344 h 808315"/>
                <a:gd name="connsiteX27" fmla="*/ 290734 w 649823"/>
                <a:gd name="connsiteY27" fmla="*/ 160344 h 808315"/>
                <a:gd name="connsiteX28" fmla="*/ 317930 w 649823"/>
                <a:gd name="connsiteY28" fmla="*/ 160344 h 808315"/>
                <a:gd name="connsiteX29" fmla="*/ 326798 w 649823"/>
                <a:gd name="connsiteY29" fmla="*/ 160344 h 808315"/>
                <a:gd name="connsiteX30" fmla="*/ 351038 w 649823"/>
                <a:gd name="connsiteY30" fmla="*/ 149702 h 808315"/>
                <a:gd name="connsiteX31" fmla="*/ 344535 w 649823"/>
                <a:gd name="connsiteY31" fmla="*/ 125462 h 808315"/>
                <a:gd name="connsiteX32" fmla="*/ 325024 w 649823"/>
                <a:gd name="connsiteY32" fmla="*/ 68114 h 808315"/>
                <a:gd name="connsiteX33" fmla="*/ 354585 w 649823"/>
                <a:gd name="connsiteY33" fmla="*/ 15496 h 808315"/>
                <a:gd name="connsiteX34" fmla="*/ 424349 w 649823"/>
                <a:gd name="connsiteY34" fmla="*/ 2489 h 808315"/>
                <a:gd name="connsiteX35" fmla="*/ 478741 w 649823"/>
                <a:gd name="connsiteY35" fmla="*/ 48013 h 808315"/>
                <a:gd name="connsiteX36" fmla="*/ 468690 w 649823"/>
                <a:gd name="connsiteY36" fmla="*/ 119550 h 808315"/>
                <a:gd name="connsiteX37" fmla="*/ 463960 w 649823"/>
                <a:gd name="connsiteY37" fmla="*/ 126053 h 808315"/>
                <a:gd name="connsiteX38" fmla="*/ 460413 w 649823"/>
                <a:gd name="connsiteY38" fmla="*/ 159161 h 808315"/>
                <a:gd name="connsiteX39" fmla="*/ 529585 w 649823"/>
                <a:gd name="connsiteY39" fmla="*/ 160344 h 808315"/>
                <a:gd name="connsiteX40" fmla="*/ 557372 w 649823"/>
                <a:gd name="connsiteY40" fmla="*/ 160344 h 808315"/>
                <a:gd name="connsiteX41" fmla="*/ 563876 w 649823"/>
                <a:gd name="connsiteY41" fmla="*/ 160344 h 808315"/>
                <a:gd name="connsiteX42" fmla="*/ 624180 w 649823"/>
                <a:gd name="connsiteY42" fmla="*/ 171577 h 808315"/>
                <a:gd name="connsiteX43" fmla="*/ 647828 w 649823"/>
                <a:gd name="connsiteY43" fmla="*/ 207641 h 808315"/>
                <a:gd name="connsiteX44" fmla="*/ 649602 w 649823"/>
                <a:gd name="connsiteY44" fmla="*/ 262033 h 808315"/>
                <a:gd name="connsiteX45" fmla="*/ 619450 w 649823"/>
                <a:gd name="connsiteY45" fmla="*/ 262033 h 808315"/>
                <a:gd name="connsiteX46" fmla="*/ 617676 w 649823"/>
                <a:gd name="connsiteY46" fmla="*/ 210597 h 808315"/>
                <a:gd name="connsiteX47" fmla="*/ 609399 w 649823"/>
                <a:gd name="connsiteY47" fmla="*/ 198182 h 808315"/>
                <a:gd name="connsiteX48" fmla="*/ 563284 w 649823"/>
                <a:gd name="connsiteY48" fmla="*/ 190496 h 808315"/>
                <a:gd name="connsiteX49" fmla="*/ 556781 w 649823"/>
                <a:gd name="connsiteY49" fmla="*/ 190496 h 808315"/>
                <a:gd name="connsiteX50" fmla="*/ 529585 w 649823"/>
                <a:gd name="connsiteY50" fmla="*/ 190496 h 808315"/>
                <a:gd name="connsiteX51" fmla="*/ 458048 w 649823"/>
                <a:gd name="connsiteY51" fmla="*/ 188722 h 808315"/>
                <a:gd name="connsiteX52" fmla="*/ 433217 w 649823"/>
                <a:gd name="connsiteY52" fmla="*/ 172168 h 808315"/>
                <a:gd name="connsiteX53" fmla="*/ 440312 w 649823"/>
                <a:gd name="connsiteY53" fmla="*/ 107134 h 808315"/>
                <a:gd name="connsiteX54" fmla="*/ 444450 w 649823"/>
                <a:gd name="connsiteY54" fmla="*/ 101814 h 808315"/>
                <a:gd name="connsiteX55" fmla="*/ 451545 w 649823"/>
                <a:gd name="connsiteY55" fmla="*/ 58655 h 808315"/>
                <a:gd name="connsiteX56" fmla="*/ 417845 w 649823"/>
                <a:gd name="connsiteY56" fmla="*/ 31459 h 808315"/>
                <a:gd name="connsiteX57" fmla="*/ 372913 w 649823"/>
                <a:gd name="connsiteY57" fmla="*/ 39145 h 808315"/>
                <a:gd name="connsiteX58" fmla="*/ 355768 w 649823"/>
                <a:gd name="connsiteY58" fmla="*/ 69297 h 808315"/>
                <a:gd name="connsiteX59" fmla="*/ 368183 w 649823"/>
                <a:gd name="connsiteY59" fmla="*/ 106543 h 808315"/>
                <a:gd name="connsiteX60" fmla="*/ 378234 w 649823"/>
                <a:gd name="connsiteY60" fmla="*/ 163300 h 808315"/>
                <a:gd name="connsiteX61" fmla="*/ 328572 w 649823"/>
                <a:gd name="connsiteY61" fmla="*/ 190496 h 808315"/>
                <a:gd name="connsiteX62" fmla="*/ 320295 w 649823"/>
                <a:gd name="connsiteY62" fmla="*/ 190496 h 808315"/>
                <a:gd name="connsiteX63" fmla="*/ 290734 w 649823"/>
                <a:gd name="connsiteY63" fmla="*/ 190496 h 808315"/>
                <a:gd name="connsiteX64" fmla="*/ 214467 w 649823"/>
                <a:gd name="connsiteY64" fmla="*/ 190496 h 808315"/>
                <a:gd name="connsiteX65" fmla="*/ 192001 w 649823"/>
                <a:gd name="connsiteY65" fmla="*/ 211780 h 808315"/>
                <a:gd name="connsiteX66" fmla="*/ 191410 w 649823"/>
                <a:gd name="connsiteY66" fmla="*/ 256121 h 808315"/>
                <a:gd name="connsiteX67" fmla="*/ 191410 w 649823"/>
                <a:gd name="connsiteY67" fmla="*/ 291594 h 808315"/>
                <a:gd name="connsiteX68" fmla="*/ 188454 w 649823"/>
                <a:gd name="connsiteY68" fmla="*/ 357810 h 808315"/>
                <a:gd name="connsiteX69" fmla="*/ 167761 w 649823"/>
                <a:gd name="connsiteY69" fmla="*/ 382050 h 808315"/>
                <a:gd name="connsiteX70" fmla="*/ 107457 w 649823"/>
                <a:gd name="connsiteY70" fmla="*/ 369634 h 808315"/>
                <a:gd name="connsiteX71" fmla="*/ 104501 w 649823"/>
                <a:gd name="connsiteY71" fmla="*/ 367269 h 808315"/>
                <a:gd name="connsiteX72" fmla="*/ 56612 w 649823"/>
                <a:gd name="connsiteY72" fmla="*/ 360175 h 808315"/>
                <a:gd name="connsiteX73" fmla="*/ 30599 w 649823"/>
                <a:gd name="connsiteY73" fmla="*/ 401560 h 808315"/>
                <a:gd name="connsiteX74" fmla="*/ 42423 w 649823"/>
                <a:gd name="connsiteY74" fmla="*/ 439989 h 808315"/>
                <a:gd name="connsiteX75" fmla="*/ 73758 w 649823"/>
                <a:gd name="connsiteY75" fmla="*/ 454178 h 808315"/>
                <a:gd name="connsiteX76" fmla="*/ 73758 w 649823"/>
                <a:gd name="connsiteY76" fmla="*/ 454178 h 808315"/>
                <a:gd name="connsiteX77" fmla="*/ 112778 w 649823"/>
                <a:gd name="connsiteY77" fmla="*/ 436441 h 808315"/>
                <a:gd name="connsiteX78" fmla="*/ 144704 w 649823"/>
                <a:gd name="connsiteY78" fmla="*/ 416931 h 808315"/>
                <a:gd name="connsiteX79" fmla="*/ 171308 w 649823"/>
                <a:gd name="connsiteY79" fmla="*/ 418705 h 808315"/>
                <a:gd name="connsiteX80" fmla="*/ 185497 w 649823"/>
                <a:gd name="connsiteY80" fmla="*/ 441171 h 808315"/>
                <a:gd name="connsiteX81" fmla="*/ 189636 w 649823"/>
                <a:gd name="connsiteY81" fmla="*/ 542860 h 808315"/>
                <a:gd name="connsiteX82" fmla="*/ 190227 w 649823"/>
                <a:gd name="connsiteY82" fmla="*/ 596070 h 808315"/>
                <a:gd name="connsiteX83" fmla="*/ 213285 w 649823"/>
                <a:gd name="connsiteY83" fmla="*/ 619127 h 808315"/>
                <a:gd name="connsiteX84" fmla="*/ 277136 w 649823"/>
                <a:gd name="connsiteY84" fmla="*/ 619127 h 808315"/>
                <a:gd name="connsiteX85" fmla="*/ 319112 w 649823"/>
                <a:gd name="connsiteY85" fmla="*/ 619127 h 808315"/>
                <a:gd name="connsiteX86" fmla="*/ 341578 w 649823"/>
                <a:gd name="connsiteY86" fmla="*/ 620901 h 808315"/>
                <a:gd name="connsiteX87" fmla="*/ 378234 w 649823"/>
                <a:gd name="connsiteY87" fmla="*/ 648688 h 808315"/>
                <a:gd name="connsiteX88" fmla="*/ 372322 w 649823"/>
                <a:gd name="connsiteY88" fmla="*/ 694211 h 808315"/>
                <a:gd name="connsiteX89" fmla="*/ 366410 w 649823"/>
                <a:gd name="connsiteY89" fmla="*/ 701897 h 808315"/>
                <a:gd name="connsiteX90" fmla="*/ 362862 w 649823"/>
                <a:gd name="connsiteY90" fmla="*/ 706627 h 808315"/>
                <a:gd name="connsiteX91" fmla="*/ 355768 w 649823"/>
                <a:gd name="connsiteY91" fmla="*/ 748012 h 808315"/>
                <a:gd name="connsiteX92" fmla="*/ 387693 w 649823"/>
                <a:gd name="connsiteY92" fmla="*/ 775208 h 808315"/>
                <a:gd name="connsiteX93" fmla="*/ 445041 w 649823"/>
                <a:gd name="connsiteY93" fmla="*/ 757471 h 808315"/>
                <a:gd name="connsiteX94" fmla="*/ 438538 w 649823"/>
                <a:gd name="connsiteY94" fmla="*/ 701897 h 808315"/>
                <a:gd name="connsiteX95" fmla="*/ 432034 w 649823"/>
                <a:gd name="connsiteY95" fmla="*/ 693029 h 808315"/>
                <a:gd name="connsiteX96" fmla="*/ 427305 w 649823"/>
                <a:gd name="connsiteY96" fmla="*/ 648097 h 808315"/>
                <a:gd name="connsiteX97" fmla="*/ 462778 w 649823"/>
                <a:gd name="connsiteY97" fmla="*/ 620901 h 808315"/>
                <a:gd name="connsiteX98" fmla="*/ 486426 w 649823"/>
                <a:gd name="connsiteY98" fmla="*/ 618536 h 808315"/>
                <a:gd name="connsiteX99" fmla="*/ 523082 w 649823"/>
                <a:gd name="connsiteY99" fmla="*/ 618536 h 808315"/>
                <a:gd name="connsiteX100" fmla="*/ 581021 w 649823"/>
                <a:gd name="connsiteY100" fmla="*/ 617945 h 808315"/>
                <a:gd name="connsiteX101" fmla="*/ 616494 w 649823"/>
                <a:gd name="connsiteY101" fmla="*/ 587793 h 808315"/>
                <a:gd name="connsiteX102" fmla="*/ 617676 w 649823"/>
                <a:gd name="connsiteY102" fmla="*/ 545225 h 808315"/>
                <a:gd name="connsiteX103" fmla="*/ 647828 w 649823"/>
                <a:gd name="connsiteY103" fmla="*/ 544634 h 808315"/>
                <a:gd name="connsiteX104" fmla="*/ 646646 w 649823"/>
                <a:gd name="connsiteY104" fmla="*/ 590157 h 808315"/>
                <a:gd name="connsiteX105" fmla="*/ 581612 w 649823"/>
                <a:gd name="connsiteY105" fmla="*/ 648097 h 808315"/>
                <a:gd name="connsiteX106" fmla="*/ 523082 w 649823"/>
                <a:gd name="connsiteY106" fmla="*/ 648688 h 808315"/>
                <a:gd name="connsiteX107" fmla="*/ 487018 w 649823"/>
                <a:gd name="connsiteY107" fmla="*/ 648688 h 808315"/>
                <a:gd name="connsiteX108" fmla="*/ 468690 w 649823"/>
                <a:gd name="connsiteY108" fmla="*/ 650461 h 808315"/>
                <a:gd name="connsiteX109" fmla="*/ 455092 w 649823"/>
                <a:gd name="connsiteY109" fmla="*/ 659921 h 808315"/>
                <a:gd name="connsiteX110" fmla="*/ 457457 w 649823"/>
                <a:gd name="connsiteY110" fmla="*/ 676475 h 808315"/>
                <a:gd name="connsiteX111" fmla="*/ 461595 w 649823"/>
                <a:gd name="connsiteY111" fmla="*/ 682387 h 808315"/>
                <a:gd name="connsiteX112" fmla="*/ 469872 w 649823"/>
                <a:gd name="connsiteY112" fmla="*/ 774617 h 808315"/>
                <a:gd name="connsiteX113" fmla="*/ 403656 w 649823"/>
                <a:gd name="connsiteY113" fmla="*/ 808316 h 80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49823" h="808315">
                  <a:moveTo>
                    <a:pt x="403656" y="808316"/>
                  </a:moveTo>
                  <a:cubicBezTo>
                    <a:pt x="395970" y="808316"/>
                    <a:pt x="388285" y="807133"/>
                    <a:pt x="380599" y="805360"/>
                  </a:cubicBezTo>
                  <a:cubicBezTo>
                    <a:pt x="355176" y="798856"/>
                    <a:pt x="336258" y="781711"/>
                    <a:pt x="327981" y="759245"/>
                  </a:cubicBezTo>
                  <a:cubicBezTo>
                    <a:pt x="319703" y="736188"/>
                    <a:pt x="323842" y="711357"/>
                    <a:pt x="339214" y="690073"/>
                  </a:cubicBezTo>
                  <a:cubicBezTo>
                    <a:pt x="340396" y="688299"/>
                    <a:pt x="342170" y="685934"/>
                    <a:pt x="343943" y="684161"/>
                  </a:cubicBezTo>
                  <a:cubicBezTo>
                    <a:pt x="345717" y="682387"/>
                    <a:pt x="346899" y="680022"/>
                    <a:pt x="348673" y="678248"/>
                  </a:cubicBezTo>
                  <a:cubicBezTo>
                    <a:pt x="352812" y="672336"/>
                    <a:pt x="353994" y="666424"/>
                    <a:pt x="351629" y="661103"/>
                  </a:cubicBezTo>
                  <a:cubicBezTo>
                    <a:pt x="349264" y="656374"/>
                    <a:pt x="344535" y="652826"/>
                    <a:pt x="337440" y="651644"/>
                  </a:cubicBezTo>
                  <a:cubicBezTo>
                    <a:pt x="332119" y="650461"/>
                    <a:pt x="326207" y="650461"/>
                    <a:pt x="320295" y="649870"/>
                  </a:cubicBezTo>
                  <a:cubicBezTo>
                    <a:pt x="306106" y="649870"/>
                    <a:pt x="292508" y="649870"/>
                    <a:pt x="278318" y="649870"/>
                  </a:cubicBezTo>
                  <a:cubicBezTo>
                    <a:pt x="257035" y="649870"/>
                    <a:pt x="235160" y="649870"/>
                    <a:pt x="213876" y="649870"/>
                  </a:cubicBezTo>
                  <a:cubicBezTo>
                    <a:pt x="185497" y="649279"/>
                    <a:pt x="162440" y="626813"/>
                    <a:pt x="161258" y="597843"/>
                  </a:cubicBezTo>
                  <a:cubicBezTo>
                    <a:pt x="160666" y="579516"/>
                    <a:pt x="160666" y="561779"/>
                    <a:pt x="160666" y="543451"/>
                  </a:cubicBezTo>
                  <a:cubicBezTo>
                    <a:pt x="160666" y="510935"/>
                    <a:pt x="160666" y="477827"/>
                    <a:pt x="156528" y="445901"/>
                  </a:cubicBezTo>
                  <a:cubicBezTo>
                    <a:pt x="148251" y="450039"/>
                    <a:pt x="139974" y="455952"/>
                    <a:pt x="131106" y="461864"/>
                  </a:cubicBezTo>
                  <a:cubicBezTo>
                    <a:pt x="115734" y="473097"/>
                    <a:pt x="98589" y="485512"/>
                    <a:pt x="74349" y="485512"/>
                  </a:cubicBezTo>
                  <a:cubicBezTo>
                    <a:pt x="74349" y="485512"/>
                    <a:pt x="74349" y="485512"/>
                    <a:pt x="73758" y="485512"/>
                  </a:cubicBezTo>
                  <a:cubicBezTo>
                    <a:pt x="53065" y="485512"/>
                    <a:pt x="33555" y="476644"/>
                    <a:pt x="19957" y="461272"/>
                  </a:cubicBezTo>
                  <a:cubicBezTo>
                    <a:pt x="5177" y="444718"/>
                    <a:pt x="-1918" y="422252"/>
                    <a:pt x="447" y="399195"/>
                  </a:cubicBezTo>
                  <a:cubicBezTo>
                    <a:pt x="3403" y="367269"/>
                    <a:pt x="18183" y="344803"/>
                    <a:pt x="44197" y="333570"/>
                  </a:cubicBezTo>
                  <a:cubicBezTo>
                    <a:pt x="70210" y="321746"/>
                    <a:pt x="96224" y="325293"/>
                    <a:pt x="122237" y="343621"/>
                  </a:cubicBezTo>
                  <a:lnTo>
                    <a:pt x="125785" y="345985"/>
                  </a:lnTo>
                  <a:cubicBezTo>
                    <a:pt x="137018" y="354262"/>
                    <a:pt x="143521" y="358992"/>
                    <a:pt x="158893" y="353671"/>
                  </a:cubicBezTo>
                  <a:cubicBezTo>
                    <a:pt x="161849" y="333570"/>
                    <a:pt x="161849" y="313469"/>
                    <a:pt x="161258" y="292185"/>
                  </a:cubicBezTo>
                  <a:lnTo>
                    <a:pt x="161258" y="256121"/>
                  </a:lnTo>
                  <a:cubicBezTo>
                    <a:pt x="161258" y="240749"/>
                    <a:pt x="161258" y="225378"/>
                    <a:pt x="161849" y="210006"/>
                  </a:cubicBezTo>
                  <a:cubicBezTo>
                    <a:pt x="163623" y="182810"/>
                    <a:pt x="186089" y="160935"/>
                    <a:pt x="213876" y="160344"/>
                  </a:cubicBezTo>
                  <a:cubicBezTo>
                    <a:pt x="239298" y="159753"/>
                    <a:pt x="265312" y="159753"/>
                    <a:pt x="290734" y="160344"/>
                  </a:cubicBezTo>
                  <a:lnTo>
                    <a:pt x="317930" y="160344"/>
                  </a:lnTo>
                  <a:cubicBezTo>
                    <a:pt x="322660" y="160344"/>
                    <a:pt x="325024" y="160344"/>
                    <a:pt x="326798" y="160344"/>
                  </a:cubicBezTo>
                  <a:cubicBezTo>
                    <a:pt x="343352" y="159753"/>
                    <a:pt x="348082" y="156205"/>
                    <a:pt x="351038" y="149702"/>
                  </a:cubicBezTo>
                  <a:cubicBezTo>
                    <a:pt x="353994" y="143790"/>
                    <a:pt x="353994" y="137286"/>
                    <a:pt x="344535" y="125462"/>
                  </a:cubicBezTo>
                  <a:cubicBezTo>
                    <a:pt x="329754" y="107726"/>
                    <a:pt x="323251" y="88216"/>
                    <a:pt x="325024" y="68114"/>
                  </a:cubicBezTo>
                  <a:cubicBezTo>
                    <a:pt x="326798" y="46830"/>
                    <a:pt x="336849" y="28503"/>
                    <a:pt x="354585" y="15496"/>
                  </a:cubicBezTo>
                  <a:cubicBezTo>
                    <a:pt x="374095" y="1307"/>
                    <a:pt x="398926" y="-3423"/>
                    <a:pt x="424349" y="2489"/>
                  </a:cubicBezTo>
                  <a:cubicBezTo>
                    <a:pt x="450362" y="8401"/>
                    <a:pt x="470464" y="25547"/>
                    <a:pt x="478741" y="48013"/>
                  </a:cubicBezTo>
                  <a:cubicBezTo>
                    <a:pt x="487609" y="71070"/>
                    <a:pt x="484062" y="97084"/>
                    <a:pt x="468690" y="119550"/>
                  </a:cubicBezTo>
                  <a:cubicBezTo>
                    <a:pt x="466916" y="121915"/>
                    <a:pt x="465734" y="123688"/>
                    <a:pt x="463960" y="126053"/>
                  </a:cubicBezTo>
                  <a:cubicBezTo>
                    <a:pt x="455683" y="136695"/>
                    <a:pt x="451545" y="142016"/>
                    <a:pt x="460413" y="159161"/>
                  </a:cubicBezTo>
                  <a:cubicBezTo>
                    <a:pt x="482879" y="160344"/>
                    <a:pt x="506528" y="160344"/>
                    <a:pt x="529585" y="160344"/>
                  </a:cubicBezTo>
                  <a:cubicBezTo>
                    <a:pt x="539045" y="160344"/>
                    <a:pt x="547913" y="160344"/>
                    <a:pt x="557372" y="160344"/>
                  </a:cubicBezTo>
                  <a:lnTo>
                    <a:pt x="563876" y="160344"/>
                  </a:lnTo>
                  <a:cubicBezTo>
                    <a:pt x="582795" y="160344"/>
                    <a:pt x="604078" y="160344"/>
                    <a:pt x="624180" y="171577"/>
                  </a:cubicBezTo>
                  <a:cubicBezTo>
                    <a:pt x="637186" y="178672"/>
                    <a:pt x="646055" y="192269"/>
                    <a:pt x="647828" y="207641"/>
                  </a:cubicBezTo>
                  <a:cubicBezTo>
                    <a:pt x="649602" y="226560"/>
                    <a:pt x="650193" y="244888"/>
                    <a:pt x="649602" y="262033"/>
                  </a:cubicBezTo>
                  <a:lnTo>
                    <a:pt x="619450" y="262033"/>
                  </a:lnTo>
                  <a:cubicBezTo>
                    <a:pt x="619450" y="246070"/>
                    <a:pt x="619450" y="228334"/>
                    <a:pt x="617676" y="210597"/>
                  </a:cubicBezTo>
                  <a:cubicBezTo>
                    <a:pt x="617085" y="205276"/>
                    <a:pt x="614129" y="200546"/>
                    <a:pt x="609399" y="198182"/>
                  </a:cubicBezTo>
                  <a:cubicBezTo>
                    <a:pt x="595801" y="190496"/>
                    <a:pt x="579838" y="190496"/>
                    <a:pt x="563284" y="190496"/>
                  </a:cubicBezTo>
                  <a:lnTo>
                    <a:pt x="556781" y="190496"/>
                  </a:lnTo>
                  <a:cubicBezTo>
                    <a:pt x="547913" y="190496"/>
                    <a:pt x="538453" y="190496"/>
                    <a:pt x="529585" y="190496"/>
                  </a:cubicBezTo>
                  <a:cubicBezTo>
                    <a:pt x="505936" y="190496"/>
                    <a:pt x="481697" y="190496"/>
                    <a:pt x="458048" y="188722"/>
                  </a:cubicBezTo>
                  <a:cubicBezTo>
                    <a:pt x="447406" y="188131"/>
                    <a:pt x="437947" y="181628"/>
                    <a:pt x="433217" y="172168"/>
                  </a:cubicBezTo>
                  <a:cubicBezTo>
                    <a:pt x="416663" y="137878"/>
                    <a:pt x="430852" y="119550"/>
                    <a:pt x="440312" y="107134"/>
                  </a:cubicBezTo>
                  <a:cubicBezTo>
                    <a:pt x="441494" y="105361"/>
                    <a:pt x="443268" y="103587"/>
                    <a:pt x="444450" y="101814"/>
                  </a:cubicBezTo>
                  <a:cubicBezTo>
                    <a:pt x="453909" y="87624"/>
                    <a:pt x="456866" y="72253"/>
                    <a:pt x="451545" y="58655"/>
                  </a:cubicBezTo>
                  <a:cubicBezTo>
                    <a:pt x="446224" y="45057"/>
                    <a:pt x="434399" y="35597"/>
                    <a:pt x="417845" y="31459"/>
                  </a:cubicBezTo>
                  <a:cubicBezTo>
                    <a:pt x="401291" y="27320"/>
                    <a:pt x="385328" y="30276"/>
                    <a:pt x="372913" y="39145"/>
                  </a:cubicBezTo>
                  <a:cubicBezTo>
                    <a:pt x="362862" y="46239"/>
                    <a:pt x="356950" y="57472"/>
                    <a:pt x="355768" y="69297"/>
                  </a:cubicBezTo>
                  <a:cubicBezTo>
                    <a:pt x="354585" y="82895"/>
                    <a:pt x="358724" y="94719"/>
                    <a:pt x="368183" y="106543"/>
                  </a:cubicBezTo>
                  <a:cubicBezTo>
                    <a:pt x="374095" y="113638"/>
                    <a:pt x="391832" y="135513"/>
                    <a:pt x="378234" y="163300"/>
                  </a:cubicBezTo>
                  <a:cubicBezTo>
                    <a:pt x="365818" y="188722"/>
                    <a:pt x="339805" y="189905"/>
                    <a:pt x="328572" y="190496"/>
                  </a:cubicBezTo>
                  <a:cubicBezTo>
                    <a:pt x="325616" y="190496"/>
                    <a:pt x="323251" y="190496"/>
                    <a:pt x="320295" y="190496"/>
                  </a:cubicBezTo>
                  <a:lnTo>
                    <a:pt x="290734" y="190496"/>
                  </a:lnTo>
                  <a:cubicBezTo>
                    <a:pt x="265312" y="190496"/>
                    <a:pt x="239889" y="190496"/>
                    <a:pt x="214467" y="190496"/>
                  </a:cubicBezTo>
                  <a:cubicBezTo>
                    <a:pt x="202643" y="190496"/>
                    <a:pt x="192592" y="199955"/>
                    <a:pt x="192001" y="211780"/>
                  </a:cubicBezTo>
                  <a:cubicBezTo>
                    <a:pt x="191410" y="226560"/>
                    <a:pt x="191410" y="241340"/>
                    <a:pt x="191410" y="256121"/>
                  </a:cubicBezTo>
                  <a:lnTo>
                    <a:pt x="191410" y="291594"/>
                  </a:lnTo>
                  <a:cubicBezTo>
                    <a:pt x="191410" y="312877"/>
                    <a:pt x="192001" y="335344"/>
                    <a:pt x="188454" y="357810"/>
                  </a:cubicBezTo>
                  <a:cubicBezTo>
                    <a:pt x="186680" y="368452"/>
                    <a:pt x="177812" y="379094"/>
                    <a:pt x="167761" y="382050"/>
                  </a:cubicBezTo>
                  <a:cubicBezTo>
                    <a:pt x="137609" y="391509"/>
                    <a:pt x="120464" y="379094"/>
                    <a:pt x="107457" y="369634"/>
                  </a:cubicBezTo>
                  <a:lnTo>
                    <a:pt x="104501" y="367269"/>
                  </a:lnTo>
                  <a:cubicBezTo>
                    <a:pt x="87356" y="354854"/>
                    <a:pt x="72575" y="352489"/>
                    <a:pt x="56612" y="360175"/>
                  </a:cubicBezTo>
                  <a:cubicBezTo>
                    <a:pt x="41241" y="367269"/>
                    <a:pt x="32964" y="380276"/>
                    <a:pt x="30599" y="401560"/>
                  </a:cubicBezTo>
                  <a:cubicBezTo>
                    <a:pt x="29417" y="416340"/>
                    <a:pt x="33555" y="429938"/>
                    <a:pt x="42423" y="439989"/>
                  </a:cubicBezTo>
                  <a:cubicBezTo>
                    <a:pt x="50700" y="448857"/>
                    <a:pt x="61933" y="454178"/>
                    <a:pt x="73758" y="454178"/>
                  </a:cubicBezTo>
                  <a:cubicBezTo>
                    <a:pt x="73758" y="454178"/>
                    <a:pt x="73758" y="454178"/>
                    <a:pt x="73758" y="454178"/>
                  </a:cubicBezTo>
                  <a:cubicBezTo>
                    <a:pt x="87947" y="454178"/>
                    <a:pt x="99180" y="445901"/>
                    <a:pt x="112778" y="436441"/>
                  </a:cubicBezTo>
                  <a:cubicBezTo>
                    <a:pt x="122237" y="429347"/>
                    <a:pt x="132288" y="422252"/>
                    <a:pt x="144704" y="416931"/>
                  </a:cubicBezTo>
                  <a:cubicBezTo>
                    <a:pt x="153572" y="413384"/>
                    <a:pt x="163031" y="413975"/>
                    <a:pt x="171308" y="418705"/>
                  </a:cubicBezTo>
                  <a:cubicBezTo>
                    <a:pt x="179585" y="423435"/>
                    <a:pt x="184315" y="431712"/>
                    <a:pt x="185497" y="441171"/>
                  </a:cubicBezTo>
                  <a:cubicBezTo>
                    <a:pt x="189636" y="474870"/>
                    <a:pt x="189636" y="509161"/>
                    <a:pt x="189636" y="542860"/>
                  </a:cubicBezTo>
                  <a:cubicBezTo>
                    <a:pt x="189636" y="560597"/>
                    <a:pt x="189636" y="578333"/>
                    <a:pt x="190227" y="596070"/>
                  </a:cubicBezTo>
                  <a:cubicBezTo>
                    <a:pt x="190818" y="608485"/>
                    <a:pt x="200869" y="618536"/>
                    <a:pt x="213285" y="619127"/>
                  </a:cubicBezTo>
                  <a:cubicBezTo>
                    <a:pt x="234568" y="619718"/>
                    <a:pt x="255852" y="619718"/>
                    <a:pt x="277136" y="619127"/>
                  </a:cubicBezTo>
                  <a:cubicBezTo>
                    <a:pt x="291325" y="619127"/>
                    <a:pt x="304923" y="619127"/>
                    <a:pt x="319112" y="619127"/>
                  </a:cubicBezTo>
                  <a:cubicBezTo>
                    <a:pt x="326798" y="619127"/>
                    <a:pt x="333893" y="619718"/>
                    <a:pt x="341578" y="620901"/>
                  </a:cubicBezTo>
                  <a:cubicBezTo>
                    <a:pt x="358724" y="623857"/>
                    <a:pt x="372322" y="633907"/>
                    <a:pt x="378234" y="648688"/>
                  </a:cubicBezTo>
                  <a:cubicBezTo>
                    <a:pt x="384146" y="662877"/>
                    <a:pt x="382372" y="680022"/>
                    <a:pt x="372322" y="694211"/>
                  </a:cubicBezTo>
                  <a:cubicBezTo>
                    <a:pt x="370548" y="697167"/>
                    <a:pt x="368183" y="699532"/>
                    <a:pt x="366410" y="701897"/>
                  </a:cubicBezTo>
                  <a:lnTo>
                    <a:pt x="362862" y="706627"/>
                  </a:lnTo>
                  <a:cubicBezTo>
                    <a:pt x="353403" y="719634"/>
                    <a:pt x="351038" y="735005"/>
                    <a:pt x="355768" y="748012"/>
                  </a:cubicBezTo>
                  <a:cubicBezTo>
                    <a:pt x="360497" y="761019"/>
                    <a:pt x="372322" y="771069"/>
                    <a:pt x="387693" y="775208"/>
                  </a:cubicBezTo>
                  <a:cubicBezTo>
                    <a:pt x="409568" y="781120"/>
                    <a:pt x="433808" y="773434"/>
                    <a:pt x="445041" y="757471"/>
                  </a:cubicBezTo>
                  <a:cubicBezTo>
                    <a:pt x="458639" y="737370"/>
                    <a:pt x="449180" y="716086"/>
                    <a:pt x="438538" y="701897"/>
                  </a:cubicBezTo>
                  <a:cubicBezTo>
                    <a:pt x="435582" y="698350"/>
                    <a:pt x="433808" y="695394"/>
                    <a:pt x="432034" y="693029"/>
                  </a:cubicBezTo>
                  <a:cubicBezTo>
                    <a:pt x="423166" y="678840"/>
                    <a:pt x="421393" y="662286"/>
                    <a:pt x="427305" y="648097"/>
                  </a:cubicBezTo>
                  <a:cubicBezTo>
                    <a:pt x="433217" y="633907"/>
                    <a:pt x="446224" y="624448"/>
                    <a:pt x="462778" y="620901"/>
                  </a:cubicBezTo>
                  <a:cubicBezTo>
                    <a:pt x="469872" y="619718"/>
                    <a:pt x="477558" y="619127"/>
                    <a:pt x="486426" y="618536"/>
                  </a:cubicBezTo>
                  <a:cubicBezTo>
                    <a:pt x="498842" y="618536"/>
                    <a:pt x="510666" y="618536"/>
                    <a:pt x="523082" y="618536"/>
                  </a:cubicBezTo>
                  <a:cubicBezTo>
                    <a:pt x="542592" y="618536"/>
                    <a:pt x="561511" y="618536"/>
                    <a:pt x="581021" y="617945"/>
                  </a:cubicBezTo>
                  <a:cubicBezTo>
                    <a:pt x="598757" y="617353"/>
                    <a:pt x="615311" y="603755"/>
                    <a:pt x="616494" y="587793"/>
                  </a:cubicBezTo>
                  <a:cubicBezTo>
                    <a:pt x="617676" y="573603"/>
                    <a:pt x="617676" y="559414"/>
                    <a:pt x="617676" y="545225"/>
                  </a:cubicBezTo>
                  <a:lnTo>
                    <a:pt x="647828" y="544634"/>
                  </a:lnTo>
                  <a:cubicBezTo>
                    <a:pt x="647828" y="560005"/>
                    <a:pt x="647828" y="574786"/>
                    <a:pt x="646646" y="590157"/>
                  </a:cubicBezTo>
                  <a:cubicBezTo>
                    <a:pt x="644281" y="621492"/>
                    <a:pt x="615311" y="647505"/>
                    <a:pt x="581612" y="648097"/>
                  </a:cubicBezTo>
                  <a:cubicBezTo>
                    <a:pt x="562102" y="648688"/>
                    <a:pt x="542592" y="648688"/>
                    <a:pt x="523082" y="648688"/>
                  </a:cubicBezTo>
                  <a:cubicBezTo>
                    <a:pt x="511257" y="648688"/>
                    <a:pt x="498842" y="648688"/>
                    <a:pt x="487018" y="648688"/>
                  </a:cubicBezTo>
                  <a:cubicBezTo>
                    <a:pt x="481105" y="648688"/>
                    <a:pt x="474602" y="649279"/>
                    <a:pt x="468690" y="650461"/>
                  </a:cubicBezTo>
                  <a:cubicBezTo>
                    <a:pt x="462186" y="651644"/>
                    <a:pt x="457457" y="655191"/>
                    <a:pt x="455092" y="659921"/>
                  </a:cubicBezTo>
                  <a:cubicBezTo>
                    <a:pt x="452727" y="664651"/>
                    <a:pt x="453909" y="670563"/>
                    <a:pt x="457457" y="676475"/>
                  </a:cubicBezTo>
                  <a:cubicBezTo>
                    <a:pt x="458639" y="678248"/>
                    <a:pt x="460413" y="680613"/>
                    <a:pt x="461595" y="682387"/>
                  </a:cubicBezTo>
                  <a:cubicBezTo>
                    <a:pt x="485835" y="714313"/>
                    <a:pt x="488200" y="747421"/>
                    <a:pt x="469872" y="774617"/>
                  </a:cubicBezTo>
                  <a:cubicBezTo>
                    <a:pt x="456274" y="795900"/>
                    <a:pt x="430261" y="808316"/>
                    <a:pt x="403656" y="808316"/>
                  </a:cubicBez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522">
              <a:extLst>
                <a:ext uri="{FF2B5EF4-FFF2-40B4-BE49-F238E27FC236}">
                  <a16:creationId xmlns:a16="http://schemas.microsoft.com/office/drawing/2014/main" id="{CCA68F43-6D79-4B14-B73C-A05ED2FCDF28}"/>
                </a:ext>
              </a:extLst>
            </p:cNvPr>
            <p:cNvSpPr/>
            <p:nvPr/>
          </p:nvSpPr>
          <p:spPr>
            <a:xfrm>
              <a:off x="801930" y="3301139"/>
              <a:ext cx="93412" cy="91047"/>
            </a:xfrm>
            <a:custGeom>
              <a:avLst/>
              <a:gdLst>
                <a:gd name="connsiteX0" fmla="*/ 0 w 93412"/>
                <a:gd name="connsiteY0" fmla="*/ 0 h 91047"/>
                <a:gd name="connsiteX1" fmla="*/ 93412 w 93412"/>
                <a:gd name="connsiteY1" fmla="*/ 0 h 91047"/>
                <a:gd name="connsiteX2" fmla="*/ 93412 w 93412"/>
                <a:gd name="connsiteY2" fmla="*/ 91047 h 91047"/>
                <a:gd name="connsiteX3" fmla="*/ 0 w 93412"/>
                <a:gd name="connsiteY3" fmla="*/ 91047 h 91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12" h="91047">
                  <a:moveTo>
                    <a:pt x="0" y="0"/>
                  </a:moveTo>
                  <a:lnTo>
                    <a:pt x="93412" y="0"/>
                  </a:lnTo>
                  <a:lnTo>
                    <a:pt x="93412" y="91047"/>
                  </a:lnTo>
                  <a:lnTo>
                    <a:pt x="0" y="91047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523">
              <a:extLst>
                <a:ext uri="{FF2B5EF4-FFF2-40B4-BE49-F238E27FC236}">
                  <a16:creationId xmlns:a16="http://schemas.microsoft.com/office/drawing/2014/main" id="{986BA4FA-0260-4E25-86C2-FC97884DD649}"/>
                </a:ext>
              </a:extLst>
            </p:cNvPr>
            <p:cNvSpPr/>
            <p:nvPr/>
          </p:nvSpPr>
          <p:spPr>
            <a:xfrm>
              <a:off x="1310375" y="3301139"/>
              <a:ext cx="93412" cy="91047"/>
            </a:xfrm>
            <a:custGeom>
              <a:avLst/>
              <a:gdLst>
                <a:gd name="connsiteX0" fmla="*/ 0 w 93412"/>
                <a:gd name="connsiteY0" fmla="*/ 0 h 91047"/>
                <a:gd name="connsiteX1" fmla="*/ 93412 w 93412"/>
                <a:gd name="connsiteY1" fmla="*/ 0 h 91047"/>
                <a:gd name="connsiteX2" fmla="*/ 93412 w 93412"/>
                <a:gd name="connsiteY2" fmla="*/ 91047 h 91047"/>
                <a:gd name="connsiteX3" fmla="*/ 0 w 93412"/>
                <a:gd name="connsiteY3" fmla="*/ 91047 h 91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12" h="91047">
                  <a:moveTo>
                    <a:pt x="0" y="0"/>
                  </a:moveTo>
                  <a:lnTo>
                    <a:pt x="93412" y="0"/>
                  </a:lnTo>
                  <a:lnTo>
                    <a:pt x="93412" y="91047"/>
                  </a:lnTo>
                  <a:lnTo>
                    <a:pt x="0" y="91047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1" name="Группа 183">
            <a:extLst>
              <a:ext uri="{FF2B5EF4-FFF2-40B4-BE49-F238E27FC236}">
                <a16:creationId xmlns:a16="http://schemas.microsoft.com/office/drawing/2014/main" id="{9C5B5CE9-43C0-4063-B09B-727B51757643}"/>
              </a:ext>
            </a:extLst>
          </p:cNvPr>
          <p:cNvGrpSpPr>
            <a:grpSpLocks noChangeAspect="1"/>
          </p:cNvGrpSpPr>
          <p:nvPr/>
        </p:nvGrpSpPr>
        <p:grpSpPr>
          <a:xfrm>
            <a:off x="4036873" y="3051429"/>
            <a:ext cx="382659" cy="310846"/>
            <a:chOff x="4792534" y="1334729"/>
            <a:chExt cx="1019794" cy="828412"/>
          </a:xfrm>
          <a:solidFill>
            <a:srgbClr val="000000"/>
          </a:solidFill>
        </p:grpSpPr>
        <p:sp>
          <p:nvSpPr>
            <p:cNvPr id="202" name="Полилиния: фигура 41">
              <a:extLst>
                <a:ext uri="{FF2B5EF4-FFF2-40B4-BE49-F238E27FC236}">
                  <a16:creationId xmlns:a16="http://schemas.microsoft.com/office/drawing/2014/main" id="{E968CFDB-98B2-448C-BFA7-F542B0550840}"/>
                </a:ext>
              </a:extLst>
            </p:cNvPr>
            <p:cNvSpPr/>
            <p:nvPr/>
          </p:nvSpPr>
          <p:spPr>
            <a:xfrm>
              <a:off x="4792534" y="1334729"/>
              <a:ext cx="1019794" cy="773731"/>
            </a:xfrm>
            <a:custGeom>
              <a:avLst/>
              <a:gdLst>
                <a:gd name="connsiteX0" fmla="*/ 1006125 w 1019794"/>
                <a:gd name="connsiteY0" fmla="*/ 773732 h 773731"/>
                <a:gd name="connsiteX1" fmla="*/ 874891 w 1019794"/>
                <a:gd name="connsiteY1" fmla="*/ 773732 h 773731"/>
                <a:gd name="connsiteX2" fmla="*/ 874891 w 1019794"/>
                <a:gd name="connsiteY2" fmla="*/ 746392 h 773731"/>
                <a:gd name="connsiteX3" fmla="*/ 992455 w 1019794"/>
                <a:gd name="connsiteY3" fmla="*/ 746392 h 773731"/>
                <a:gd name="connsiteX4" fmla="*/ 992455 w 1019794"/>
                <a:gd name="connsiteY4" fmla="*/ 27340 h 773731"/>
                <a:gd name="connsiteX5" fmla="*/ 27340 w 1019794"/>
                <a:gd name="connsiteY5" fmla="*/ 27340 h 773731"/>
                <a:gd name="connsiteX6" fmla="*/ 27340 w 1019794"/>
                <a:gd name="connsiteY6" fmla="*/ 746392 h 773731"/>
                <a:gd name="connsiteX7" fmla="*/ 153106 w 1019794"/>
                <a:gd name="connsiteY7" fmla="*/ 746392 h 773731"/>
                <a:gd name="connsiteX8" fmla="*/ 153106 w 1019794"/>
                <a:gd name="connsiteY8" fmla="*/ 773732 h 773731"/>
                <a:gd name="connsiteX9" fmla="*/ 13670 w 1019794"/>
                <a:gd name="connsiteY9" fmla="*/ 773732 h 773731"/>
                <a:gd name="connsiteX10" fmla="*/ 0 w 1019794"/>
                <a:gd name="connsiteY10" fmla="*/ 760062 h 773731"/>
                <a:gd name="connsiteX11" fmla="*/ 0 w 1019794"/>
                <a:gd name="connsiteY11" fmla="*/ 13670 h 773731"/>
                <a:gd name="connsiteX12" fmla="*/ 13670 w 1019794"/>
                <a:gd name="connsiteY12" fmla="*/ 0 h 773731"/>
                <a:gd name="connsiteX13" fmla="*/ 1006125 w 1019794"/>
                <a:gd name="connsiteY13" fmla="*/ 0 h 773731"/>
                <a:gd name="connsiteX14" fmla="*/ 1019795 w 1019794"/>
                <a:gd name="connsiteY14" fmla="*/ 13670 h 773731"/>
                <a:gd name="connsiteX15" fmla="*/ 1019795 w 1019794"/>
                <a:gd name="connsiteY15" fmla="*/ 760062 h 773731"/>
                <a:gd name="connsiteX16" fmla="*/ 1006125 w 1019794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4" h="773731">
                  <a:moveTo>
                    <a:pt x="1006125" y="773732"/>
                  </a:moveTo>
                  <a:lnTo>
                    <a:pt x="874891" y="773732"/>
                  </a:lnTo>
                  <a:lnTo>
                    <a:pt x="87489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53106" y="746392"/>
                  </a:lnTo>
                  <a:lnTo>
                    <a:pt x="153106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42">
              <a:extLst>
                <a:ext uri="{FF2B5EF4-FFF2-40B4-BE49-F238E27FC236}">
                  <a16:creationId xmlns:a16="http://schemas.microsoft.com/office/drawing/2014/main" id="{1F3BDCB9-B035-42B4-90F0-EAB9E22642DF}"/>
                </a:ext>
              </a:extLst>
            </p:cNvPr>
            <p:cNvSpPr/>
            <p:nvPr/>
          </p:nvSpPr>
          <p:spPr>
            <a:xfrm>
              <a:off x="5030395" y="2026440"/>
              <a:ext cx="262467" cy="82021"/>
            </a:xfrm>
            <a:custGeom>
              <a:avLst/>
              <a:gdLst>
                <a:gd name="connsiteX0" fmla="*/ 248797 w 262467"/>
                <a:gd name="connsiteY0" fmla="*/ 82021 h 82021"/>
                <a:gd name="connsiteX1" fmla="*/ 13670 w 262467"/>
                <a:gd name="connsiteY1" fmla="*/ 82021 h 82021"/>
                <a:gd name="connsiteX2" fmla="*/ 0 w 262467"/>
                <a:gd name="connsiteY2" fmla="*/ 68351 h 82021"/>
                <a:gd name="connsiteX3" fmla="*/ 0 w 262467"/>
                <a:gd name="connsiteY3" fmla="*/ 13670 h 82021"/>
                <a:gd name="connsiteX4" fmla="*/ 13670 w 262467"/>
                <a:gd name="connsiteY4" fmla="*/ 0 h 82021"/>
                <a:gd name="connsiteX5" fmla="*/ 248797 w 262467"/>
                <a:gd name="connsiteY5" fmla="*/ 0 h 82021"/>
                <a:gd name="connsiteX6" fmla="*/ 262467 w 262467"/>
                <a:gd name="connsiteY6" fmla="*/ 13670 h 82021"/>
                <a:gd name="connsiteX7" fmla="*/ 262467 w 262467"/>
                <a:gd name="connsiteY7" fmla="*/ 68351 h 82021"/>
                <a:gd name="connsiteX8" fmla="*/ 248797 w 262467"/>
                <a:gd name="connsiteY8" fmla="*/ 82021 h 82021"/>
                <a:gd name="connsiteX9" fmla="*/ 27340 w 262467"/>
                <a:gd name="connsiteY9" fmla="*/ 54681 h 82021"/>
                <a:gd name="connsiteX10" fmla="*/ 235127 w 262467"/>
                <a:gd name="connsiteY10" fmla="*/ 54681 h 82021"/>
                <a:gd name="connsiteX11" fmla="*/ 235127 w 262467"/>
                <a:gd name="connsiteY11" fmla="*/ 27340 h 82021"/>
                <a:gd name="connsiteX12" fmla="*/ 27340 w 262467"/>
                <a:gd name="connsiteY12" fmla="*/ 27340 h 82021"/>
                <a:gd name="connsiteX13" fmla="*/ 27340 w 262467"/>
                <a:gd name="connsiteY13" fmla="*/ 5468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2467" h="82021">
                  <a:moveTo>
                    <a:pt x="248797" y="82021"/>
                  </a:moveTo>
                  <a:lnTo>
                    <a:pt x="13670" y="82021"/>
                  </a:lnTo>
                  <a:cubicBezTo>
                    <a:pt x="5468" y="82021"/>
                    <a:pt x="0" y="76553"/>
                    <a:pt x="0" y="6835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48797" y="0"/>
                  </a:lnTo>
                  <a:cubicBezTo>
                    <a:pt x="256999" y="0"/>
                    <a:pt x="262467" y="5468"/>
                    <a:pt x="262467" y="13670"/>
                  </a:cubicBezTo>
                  <a:lnTo>
                    <a:pt x="262467" y="68351"/>
                  </a:lnTo>
                  <a:cubicBezTo>
                    <a:pt x="262467" y="76553"/>
                    <a:pt x="256999" y="82021"/>
                    <a:pt x="248797" y="82021"/>
                  </a:cubicBezTo>
                  <a:close/>
                  <a:moveTo>
                    <a:pt x="27340" y="54681"/>
                  </a:moveTo>
                  <a:lnTo>
                    <a:pt x="235127" y="54681"/>
                  </a:lnTo>
                  <a:lnTo>
                    <a:pt x="235127" y="27340"/>
                  </a:lnTo>
                  <a:lnTo>
                    <a:pt x="27340" y="27340"/>
                  </a:lnTo>
                  <a:lnTo>
                    <a:pt x="27340" y="5468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43">
              <a:extLst>
                <a:ext uri="{FF2B5EF4-FFF2-40B4-BE49-F238E27FC236}">
                  <a16:creationId xmlns:a16="http://schemas.microsoft.com/office/drawing/2014/main" id="{043A1D31-9399-4F87-981B-A2A459EBDBFC}"/>
                </a:ext>
              </a:extLst>
            </p:cNvPr>
            <p:cNvSpPr/>
            <p:nvPr/>
          </p:nvSpPr>
          <p:spPr>
            <a:xfrm>
              <a:off x="4989385" y="2081120"/>
              <a:ext cx="341754" cy="82021"/>
            </a:xfrm>
            <a:custGeom>
              <a:avLst/>
              <a:gdLst>
                <a:gd name="connsiteX0" fmla="*/ 27340 w 341754"/>
                <a:gd name="connsiteY0" fmla="*/ 82021 h 82021"/>
                <a:gd name="connsiteX1" fmla="*/ 0 w 341754"/>
                <a:gd name="connsiteY1" fmla="*/ 82021 h 82021"/>
                <a:gd name="connsiteX2" fmla="*/ 0 w 341754"/>
                <a:gd name="connsiteY2" fmla="*/ 35542 h 82021"/>
                <a:gd name="connsiteX3" fmla="*/ 35543 w 341754"/>
                <a:gd name="connsiteY3" fmla="*/ 0 h 82021"/>
                <a:gd name="connsiteX4" fmla="*/ 308946 w 341754"/>
                <a:gd name="connsiteY4" fmla="*/ 0 h 82021"/>
                <a:gd name="connsiteX5" fmla="*/ 341754 w 341754"/>
                <a:gd name="connsiteY5" fmla="*/ 32808 h 82021"/>
                <a:gd name="connsiteX6" fmla="*/ 341754 w 341754"/>
                <a:gd name="connsiteY6" fmla="*/ 82021 h 82021"/>
                <a:gd name="connsiteX7" fmla="*/ 314414 w 341754"/>
                <a:gd name="connsiteY7" fmla="*/ 82021 h 82021"/>
                <a:gd name="connsiteX8" fmla="*/ 314414 w 341754"/>
                <a:gd name="connsiteY8" fmla="*/ 32808 h 82021"/>
                <a:gd name="connsiteX9" fmla="*/ 308946 w 341754"/>
                <a:gd name="connsiteY9" fmla="*/ 27340 h 82021"/>
                <a:gd name="connsiteX10" fmla="*/ 35543 w 341754"/>
                <a:gd name="connsiteY10" fmla="*/ 27340 h 82021"/>
                <a:gd name="connsiteX11" fmla="*/ 27340 w 341754"/>
                <a:gd name="connsiteY11" fmla="*/ 35542 h 82021"/>
                <a:gd name="connsiteX12" fmla="*/ 27340 w 341754"/>
                <a:gd name="connsiteY12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754" h="82021">
                  <a:moveTo>
                    <a:pt x="27340" y="82021"/>
                  </a:moveTo>
                  <a:lnTo>
                    <a:pt x="0" y="82021"/>
                  </a:lnTo>
                  <a:lnTo>
                    <a:pt x="0" y="35542"/>
                  </a:lnTo>
                  <a:cubicBezTo>
                    <a:pt x="0" y="16404"/>
                    <a:pt x="16404" y="0"/>
                    <a:pt x="35543" y="0"/>
                  </a:cubicBezTo>
                  <a:lnTo>
                    <a:pt x="308946" y="0"/>
                  </a:lnTo>
                  <a:cubicBezTo>
                    <a:pt x="328084" y="0"/>
                    <a:pt x="341754" y="13670"/>
                    <a:pt x="341754" y="32808"/>
                  </a:cubicBezTo>
                  <a:lnTo>
                    <a:pt x="341754" y="82021"/>
                  </a:lnTo>
                  <a:lnTo>
                    <a:pt x="314414" y="82021"/>
                  </a:lnTo>
                  <a:lnTo>
                    <a:pt x="314414" y="32808"/>
                  </a:lnTo>
                  <a:cubicBezTo>
                    <a:pt x="314414" y="30074"/>
                    <a:pt x="311680" y="27340"/>
                    <a:pt x="308946" y="27340"/>
                  </a:cubicBezTo>
                  <a:lnTo>
                    <a:pt x="35543" y="27340"/>
                  </a:lnTo>
                  <a:cubicBezTo>
                    <a:pt x="30074" y="27340"/>
                    <a:pt x="27340" y="30074"/>
                    <a:pt x="27340" y="35542"/>
                  </a:cubicBezTo>
                  <a:lnTo>
                    <a:pt x="2734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44">
              <a:extLst>
                <a:ext uri="{FF2B5EF4-FFF2-40B4-BE49-F238E27FC236}">
                  <a16:creationId xmlns:a16="http://schemas.microsoft.com/office/drawing/2014/main" id="{16BB259A-7CA0-48BD-80E8-2412F29F5F1B}"/>
                </a:ext>
              </a:extLst>
            </p:cNvPr>
            <p:cNvSpPr/>
            <p:nvPr/>
          </p:nvSpPr>
          <p:spPr>
            <a:xfrm>
              <a:off x="5369415" y="2078386"/>
              <a:ext cx="240595" cy="84755"/>
            </a:xfrm>
            <a:custGeom>
              <a:avLst/>
              <a:gdLst>
                <a:gd name="connsiteX0" fmla="*/ 240595 w 240595"/>
                <a:gd name="connsiteY0" fmla="*/ 84755 h 84755"/>
                <a:gd name="connsiteX1" fmla="*/ 213255 w 240595"/>
                <a:gd name="connsiteY1" fmla="*/ 84755 h 84755"/>
                <a:gd name="connsiteX2" fmla="*/ 213255 w 240595"/>
                <a:gd name="connsiteY2" fmla="*/ 32808 h 84755"/>
                <a:gd name="connsiteX3" fmla="*/ 207787 w 240595"/>
                <a:gd name="connsiteY3" fmla="*/ 27340 h 84755"/>
                <a:gd name="connsiteX4" fmla="*/ 0 w 240595"/>
                <a:gd name="connsiteY4" fmla="*/ 27340 h 84755"/>
                <a:gd name="connsiteX5" fmla="*/ 0 w 240595"/>
                <a:gd name="connsiteY5" fmla="*/ 0 h 84755"/>
                <a:gd name="connsiteX6" fmla="*/ 207787 w 240595"/>
                <a:gd name="connsiteY6" fmla="*/ 0 h 84755"/>
                <a:gd name="connsiteX7" fmla="*/ 240595 w 240595"/>
                <a:gd name="connsiteY7" fmla="*/ 32808 h 84755"/>
                <a:gd name="connsiteX8" fmla="*/ 240595 w 240595"/>
                <a:gd name="connsiteY8" fmla="*/ 84755 h 8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595" h="84755">
                  <a:moveTo>
                    <a:pt x="240595" y="84755"/>
                  </a:moveTo>
                  <a:lnTo>
                    <a:pt x="213255" y="84755"/>
                  </a:lnTo>
                  <a:lnTo>
                    <a:pt x="213255" y="32808"/>
                  </a:lnTo>
                  <a:cubicBezTo>
                    <a:pt x="213255" y="30074"/>
                    <a:pt x="210521" y="27340"/>
                    <a:pt x="207787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ubicBezTo>
                    <a:pt x="226925" y="0"/>
                    <a:pt x="240595" y="13670"/>
                    <a:pt x="240595" y="32808"/>
                  </a:cubicBezTo>
                  <a:lnTo>
                    <a:pt x="240595" y="84755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45">
              <a:extLst>
                <a:ext uri="{FF2B5EF4-FFF2-40B4-BE49-F238E27FC236}">
                  <a16:creationId xmlns:a16="http://schemas.microsoft.com/office/drawing/2014/main" id="{40DB4C69-AC46-4392-B1B3-D081FDA30890}"/>
                </a:ext>
              </a:extLst>
            </p:cNvPr>
            <p:cNvSpPr/>
            <p:nvPr/>
          </p:nvSpPr>
          <p:spPr>
            <a:xfrm>
              <a:off x="5320203" y="1922546"/>
              <a:ext cx="54680" cy="125765"/>
            </a:xfrm>
            <a:custGeom>
              <a:avLst/>
              <a:gdLst>
                <a:gd name="connsiteX0" fmla="*/ 24607 w 54680"/>
                <a:gd name="connsiteY0" fmla="*/ 125766 h 125765"/>
                <a:gd name="connsiteX1" fmla="*/ 0 w 54680"/>
                <a:gd name="connsiteY1" fmla="*/ 114829 h 125765"/>
                <a:gd name="connsiteX2" fmla="*/ 27340 w 54680"/>
                <a:gd name="connsiteY2" fmla="*/ 0 h 125765"/>
                <a:gd name="connsiteX3" fmla="*/ 54681 w 54680"/>
                <a:gd name="connsiteY3" fmla="*/ 2734 h 125765"/>
                <a:gd name="connsiteX4" fmla="*/ 24607 w 54680"/>
                <a:gd name="connsiteY4" fmla="*/ 125766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0" h="125765">
                  <a:moveTo>
                    <a:pt x="24607" y="125766"/>
                  </a:moveTo>
                  <a:lnTo>
                    <a:pt x="0" y="114829"/>
                  </a:lnTo>
                  <a:cubicBezTo>
                    <a:pt x="0" y="114829"/>
                    <a:pt x="19139" y="73819"/>
                    <a:pt x="27340" y="0"/>
                  </a:cubicBezTo>
                  <a:lnTo>
                    <a:pt x="54681" y="2734"/>
                  </a:lnTo>
                  <a:cubicBezTo>
                    <a:pt x="43745" y="79287"/>
                    <a:pt x="24607" y="123032"/>
                    <a:pt x="24607" y="12576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46">
              <a:extLst>
                <a:ext uri="{FF2B5EF4-FFF2-40B4-BE49-F238E27FC236}">
                  <a16:creationId xmlns:a16="http://schemas.microsoft.com/office/drawing/2014/main" id="{E2629B01-51C6-4F95-9057-E26BF6E221AF}"/>
                </a:ext>
              </a:extLst>
            </p:cNvPr>
            <p:cNvSpPr/>
            <p:nvPr/>
          </p:nvSpPr>
          <p:spPr>
            <a:xfrm>
              <a:off x="5082342" y="1660079"/>
              <a:ext cx="123031" cy="123031"/>
            </a:xfrm>
            <a:custGeom>
              <a:avLst/>
              <a:gdLst>
                <a:gd name="connsiteX0" fmla="*/ 27340 w 123031"/>
                <a:gd name="connsiteY0" fmla="*/ 123032 h 123031"/>
                <a:gd name="connsiteX1" fmla="*/ 0 w 123031"/>
                <a:gd name="connsiteY1" fmla="*/ 114829 h 123031"/>
                <a:gd name="connsiteX2" fmla="*/ 109361 w 123031"/>
                <a:gd name="connsiteY2" fmla="*/ 0 h 123031"/>
                <a:gd name="connsiteX3" fmla="*/ 123032 w 123031"/>
                <a:gd name="connsiteY3" fmla="*/ 24606 h 123031"/>
                <a:gd name="connsiteX4" fmla="*/ 27340 w 123031"/>
                <a:gd name="connsiteY4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" h="123031">
                  <a:moveTo>
                    <a:pt x="27340" y="123032"/>
                  </a:moveTo>
                  <a:lnTo>
                    <a:pt x="0" y="114829"/>
                  </a:lnTo>
                  <a:cubicBezTo>
                    <a:pt x="0" y="112095"/>
                    <a:pt x="19138" y="49213"/>
                    <a:pt x="109361" y="0"/>
                  </a:cubicBezTo>
                  <a:lnTo>
                    <a:pt x="123032" y="24606"/>
                  </a:lnTo>
                  <a:cubicBezTo>
                    <a:pt x="43745" y="68351"/>
                    <a:pt x="27340" y="123032"/>
                    <a:pt x="27340" y="1230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48">
              <a:extLst>
                <a:ext uri="{FF2B5EF4-FFF2-40B4-BE49-F238E27FC236}">
                  <a16:creationId xmlns:a16="http://schemas.microsoft.com/office/drawing/2014/main" id="{6679E535-FCD1-4078-A988-BC817BF5031F}"/>
                </a:ext>
              </a:extLst>
            </p:cNvPr>
            <p:cNvSpPr/>
            <p:nvPr/>
          </p:nvSpPr>
          <p:spPr>
            <a:xfrm>
              <a:off x="5489030" y="1867866"/>
              <a:ext cx="101842" cy="235127"/>
            </a:xfrm>
            <a:custGeom>
              <a:avLst/>
              <a:gdLst>
                <a:gd name="connsiteX0" fmla="*/ 77236 w 101842"/>
                <a:gd name="connsiteY0" fmla="*/ 235127 h 235127"/>
                <a:gd name="connsiteX1" fmla="*/ 74502 w 101842"/>
                <a:gd name="connsiteY1" fmla="*/ 232393 h 235127"/>
                <a:gd name="connsiteX2" fmla="*/ 17088 w 101842"/>
                <a:gd name="connsiteY2" fmla="*/ 128500 h 235127"/>
                <a:gd name="connsiteX3" fmla="*/ 684 w 101842"/>
                <a:gd name="connsiteY3" fmla="*/ 0 h 235127"/>
                <a:gd name="connsiteX4" fmla="*/ 28024 w 101842"/>
                <a:gd name="connsiteY4" fmla="*/ 2734 h 235127"/>
                <a:gd name="connsiteX5" fmla="*/ 44428 w 101842"/>
                <a:gd name="connsiteY5" fmla="*/ 120298 h 235127"/>
                <a:gd name="connsiteX6" fmla="*/ 99109 w 101842"/>
                <a:gd name="connsiteY6" fmla="*/ 215989 h 235127"/>
                <a:gd name="connsiteX7" fmla="*/ 101843 w 101842"/>
                <a:gd name="connsiteY7" fmla="*/ 218723 h 235127"/>
                <a:gd name="connsiteX8" fmla="*/ 77236 w 101842"/>
                <a:gd name="connsiteY8" fmla="*/ 235127 h 23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842" h="235127">
                  <a:moveTo>
                    <a:pt x="77236" y="235127"/>
                  </a:moveTo>
                  <a:lnTo>
                    <a:pt x="74502" y="232393"/>
                  </a:lnTo>
                  <a:cubicBezTo>
                    <a:pt x="58098" y="210521"/>
                    <a:pt x="28024" y="166776"/>
                    <a:pt x="17088" y="128500"/>
                  </a:cubicBezTo>
                  <a:cubicBezTo>
                    <a:pt x="3417" y="87489"/>
                    <a:pt x="-2051" y="43745"/>
                    <a:pt x="684" y="0"/>
                  </a:cubicBezTo>
                  <a:lnTo>
                    <a:pt x="28024" y="2734"/>
                  </a:lnTo>
                  <a:cubicBezTo>
                    <a:pt x="25290" y="43745"/>
                    <a:pt x="30758" y="82021"/>
                    <a:pt x="44428" y="120298"/>
                  </a:cubicBezTo>
                  <a:cubicBezTo>
                    <a:pt x="55364" y="155840"/>
                    <a:pt x="82705" y="194117"/>
                    <a:pt x="99109" y="215989"/>
                  </a:cubicBezTo>
                  <a:lnTo>
                    <a:pt x="101843" y="218723"/>
                  </a:lnTo>
                  <a:lnTo>
                    <a:pt x="77236" y="2351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49">
              <a:extLst>
                <a:ext uri="{FF2B5EF4-FFF2-40B4-BE49-F238E27FC236}">
                  <a16:creationId xmlns:a16="http://schemas.microsoft.com/office/drawing/2014/main" id="{C70DE6A6-784F-47C0-B0F9-32288542C15C}"/>
                </a:ext>
              </a:extLst>
            </p:cNvPr>
            <p:cNvSpPr/>
            <p:nvPr/>
          </p:nvSpPr>
          <p:spPr>
            <a:xfrm>
              <a:off x="5361213" y="1614917"/>
              <a:ext cx="188259" cy="179129"/>
            </a:xfrm>
            <a:custGeom>
              <a:avLst/>
              <a:gdLst>
                <a:gd name="connsiteX0" fmla="*/ 153106 w 188259"/>
                <a:gd name="connsiteY0" fmla="*/ 179130 h 179129"/>
                <a:gd name="connsiteX1" fmla="*/ 136702 w 188259"/>
                <a:gd name="connsiteY1" fmla="*/ 157257 h 179129"/>
                <a:gd name="connsiteX2" fmla="*/ 155840 w 188259"/>
                <a:gd name="connsiteY2" fmla="*/ 135385 h 179129"/>
                <a:gd name="connsiteX3" fmla="*/ 153106 w 188259"/>
                <a:gd name="connsiteY3" fmla="*/ 69768 h 179129"/>
                <a:gd name="connsiteX4" fmla="*/ 90223 w 188259"/>
                <a:gd name="connsiteY4" fmla="*/ 28758 h 179129"/>
                <a:gd name="connsiteX5" fmla="*/ 16404 w 188259"/>
                <a:gd name="connsiteY5" fmla="*/ 45162 h 179129"/>
                <a:gd name="connsiteX6" fmla="*/ 0 w 188259"/>
                <a:gd name="connsiteY6" fmla="*/ 23290 h 179129"/>
                <a:gd name="connsiteX7" fmla="*/ 95691 w 188259"/>
                <a:gd name="connsiteY7" fmla="*/ 1417 h 179129"/>
                <a:gd name="connsiteX8" fmla="*/ 177712 w 188259"/>
                <a:gd name="connsiteY8" fmla="*/ 58832 h 179129"/>
                <a:gd name="connsiteX9" fmla="*/ 180446 w 188259"/>
                <a:gd name="connsiteY9" fmla="*/ 146321 h 179129"/>
                <a:gd name="connsiteX10" fmla="*/ 153106 w 188259"/>
                <a:gd name="connsiteY10" fmla="*/ 179130 h 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59" h="179129">
                  <a:moveTo>
                    <a:pt x="153106" y="179130"/>
                  </a:moveTo>
                  <a:lnTo>
                    <a:pt x="136702" y="157257"/>
                  </a:lnTo>
                  <a:cubicBezTo>
                    <a:pt x="144904" y="151789"/>
                    <a:pt x="153106" y="146321"/>
                    <a:pt x="155840" y="135385"/>
                  </a:cubicBezTo>
                  <a:cubicBezTo>
                    <a:pt x="166776" y="102577"/>
                    <a:pt x="158574" y="80704"/>
                    <a:pt x="153106" y="69768"/>
                  </a:cubicBezTo>
                  <a:cubicBezTo>
                    <a:pt x="142170" y="47896"/>
                    <a:pt x="120298" y="31492"/>
                    <a:pt x="90223" y="28758"/>
                  </a:cubicBezTo>
                  <a:cubicBezTo>
                    <a:pt x="46479" y="23290"/>
                    <a:pt x="16404" y="45162"/>
                    <a:pt x="16404" y="45162"/>
                  </a:cubicBezTo>
                  <a:lnTo>
                    <a:pt x="0" y="23290"/>
                  </a:lnTo>
                  <a:cubicBezTo>
                    <a:pt x="2734" y="23290"/>
                    <a:pt x="41011" y="-6785"/>
                    <a:pt x="95691" y="1417"/>
                  </a:cubicBezTo>
                  <a:cubicBezTo>
                    <a:pt x="133968" y="6885"/>
                    <a:pt x="164042" y="26024"/>
                    <a:pt x="177712" y="58832"/>
                  </a:cubicBezTo>
                  <a:cubicBezTo>
                    <a:pt x="183181" y="69768"/>
                    <a:pt x="196851" y="102577"/>
                    <a:pt x="180446" y="146321"/>
                  </a:cubicBezTo>
                  <a:cubicBezTo>
                    <a:pt x="174979" y="162725"/>
                    <a:pt x="161308" y="173662"/>
                    <a:pt x="153106" y="179130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50">
              <a:extLst>
                <a:ext uri="{FF2B5EF4-FFF2-40B4-BE49-F238E27FC236}">
                  <a16:creationId xmlns:a16="http://schemas.microsoft.com/office/drawing/2014/main" id="{A93D0D25-AF55-4115-8793-F21C21631DEF}"/>
                </a:ext>
              </a:extLst>
            </p:cNvPr>
            <p:cNvSpPr/>
            <p:nvPr/>
          </p:nvSpPr>
          <p:spPr>
            <a:xfrm>
              <a:off x="5424096" y="1763972"/>
              <a:ext cx="153106" cy="103893"/>
            </a:xfrm>
            <a:custGeom>
              <a:avLst/>
              <a:gdLst>
                <a:gd name="connsiteX0" fmla="*/ 101159 w 153106"/>
                <a:gd name="connsiteY0" fmla="*/ 103893 h 103893"/>
                <a:gd name="connsiteX1" fmla="*/ 0 w 153106"/>
                <a:gd name="connsiteY1" fmla="*/ 103893 h 103893"/>
                <a:gd name="connsiteX2" fmla="*/ 0 w 153106"/>
                <a:gd name="connsiteY2" fmla="*/ 76553 h 103893"/>
                <a:gd name="connsiteX3" fmla="*/ 101159 w 153106"/>
                <a:gd name="connsiteY3" fmla="*/ 76553 h 103893"/>
                <a:gd name="connsiteX4" fmla="*/ 125766 w 153106"/>
                <a:gd name="connsiteY4" fmla="*/ 51947 h 103893"/>
                <a:gd name="connsiteX5" fmla="*/ 101159 w 153106"/>
                <a:gd name="connsiteY5" fmla="*/ 27340 h 103893"/>
                <a:gd name="connsiteX6" fmla="*/ 5468 w 153106"/>
                <a:gd name="connsiteY6" fmla="*/ 27340 h 103893"/>
                <a:gd name="connsiteX7" fmla="*/ 5468 w 153106"/>
                <a:gd name="connsiteY7" fmla="*/ 0 h 103893"/>
                <a:gd name="connsiteX8" fmla="*/ 101159 w 153106"/>
                <a:gd name="connsiteY8" fmla="*/ 0 h 103893"/>
                <a:gd name="connsiteX9" fmla="*/ 153106 w 153106"/>
                <a:gd name="connsiteY9" fmla="*/ 51947 h 103893"/>
                <a:gd name="connsiteX10" fmla="*/ 101159 w 153106"/>
                <a:gd name="connsiteY10" fmla="*/ 103893 h 1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03893">
                  <a:moveTo>
                    <a:pt x="101159" y="103893"/>
                  </a:moveTo>
                  <a:lnTo>
                    <a:pt x="0" y="103893"/>
                  </a:lnTo>
                  <a:lnTo>
                    <a:pt x="0" y="76553"/>
                  </a:lnTo>
                  <a:lnTo>
                    <a:pt x="101159" y="76553"/>
                  </a:lnTo>
                  <a:cubicBezTo>
                    <a:pt x="114829" y="76553"/>
                    <a:pt x="125766" y="65617"/>
                    <a:pt x="125766" y="51947"/>
                  </a:cubicBezTo>
                  <a:cubicBezTo>
                    <a:pt x="125766" y="38276"/>
                    <a:pt x="114829" y="27340"/>
                    <a:pt x="101159" y="27340"/>
                  </a:cubicBezTo>
                  <a:lnTo>
                    <a:pt x="5468" y="27340"/>
                  </a:lnTo>
                  <a:lnTo>
                    <a:pt x="5468" y="0"/>
                  </a:lnTo>
                  <a:lnTo>
                    <a:pt x="101159" y="0"/>
                  </a:lnTo>
                  <a:cubicBezTo>
                    <a:pt x="128500" y="0"/>
                    <a:pt x="153106" y="21872"/>
                    <a:pt x="153106" y="51947"/>
                  </a:cubicBezTo>
                  <a:cubicBezTo>
                    <a:pt x="153106" y="82021"/>
                    <a:pt x="128500" y="103893"/>
                    <a:pt x="101159" y="10389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51">
              <a:extLst>
                <a:ext uri="{FF2B5EF4-FFF2-40B4-BE49-F238E27FC236}">
                  <a16:creationId xmlns:a16="http://schemas.microsoft.com/office/drawing/2014/main" id="{1386B8C8-9666-4A6A-A1BC-719A31CF0CFA}"/>
                </a:ext>
              </a:extLst>
            </p:cNvPr>
            <p:cNvSpPr/>
            <p:nvPr/>
          </p:nvSpPr>
          <p:spPr>
            <a:xfrm>
              <a:off x="5011257" y="1599930"/>
              <a:ext cx="389177" cy="448381"/>
            </a:xfrm>
            <a:custGeom>
              <a:avLst/>
              <a:gdLst>
                <a:gd name="connsiteX0" fmla="*/ 68351 w 389177"/>
                <a:gd name="connsiteY0" fmla="*/ 448382 h 448381"/>
                <a:gd name="connsiteX1" fmla="*/ 43744 w 389177"/>
                <a:gd name="connsiteY1" fmla="*/ 434712 h 448381"/>
                <a:gd name="connsiteX2" fmla="*/ 46479 w 389177"/>
                <a:gd name="connsiteY2" fmla="*/ 369095 h 448381"/>
                <a:gd name="connsiteX3" fmla="*/ 8202 w 389177"/>
                <a:gd name="connsiteY3" fmla="*/ 330818 h 448381"/>
                <a:gd name="connsiteX4" fmla="*/ 0 w 389177"/>
                <a:gd name="connsiteY4" fmla="*/ 317148 h 448381"/>
                <a:gd name="connsiteX5" fmla="*/ 2734 w 389177"/>
                <a:gd name="connsiteY5" fmla="*/ 136702 h 448381"/>
                <a:gd name="connsiteX6" fmla="*/ 2734 w 389177"/>
                <a:gd name="connsiteY6" fmla="*/ 131234 h 448381"/>
                <a:gd name="connsiteX7" fmla="*/ 57414 w 389177"/>
                <a:gd name="connsiteY7" fmla="*/ 54681 h 448381"/>
                <a:gd name="connsiteX8" fmla="*/ 196850 w 389177"/>
                <a:gd name="connsiteY8" fmla="*/ 0 h 448381"/>
                <a:gd name="connsiteX9" fmla="*/ 328084 w 389177"/>
                <a:gd name="connsiteY9" fmla="*/ 62883 h 448381"/>
                <a:gd name="connsiteX10" fmla="*/ 303478 w 389177"/>
                <a:gd name="connsiteY10" fmla="*/ 95691 h 448381"/>
                <a:gd name="connsiteX11" fmla="*/ 289807 w 389177"/>
                <a:gd name="connsiteY11" fmla="*/ 109361 h 448381"/>
                <a:gd name="connsiteX12" fmla="*/ 311680 w 389177"/>
                <a:gd name="connsiteY12" fmla="*/ 128500 h 448381"/>
                <a:gd name="connsiteX13" fmla="*/ 374563 w 389177"/>
                <a:gd name="connsiteY13" fmla="*/ 191382 h 448381"/>
                <a:gd name="connsiteX14" fmla="*/ 385499 w 389177"/>
                <a:gd name="connsiteY14" fmla="*/ 259733 h 448381"/>
                <a:gd name="connsiteX15" fmla="*/ 325350 w 389177"/>
                <a:gd name="connsiteY15" fmla="*/ 303478 h 448381"/>
                <a:gd name="connsiteX16" fmla="*/ 303478 w 389177"/>
                <a:gd name="connsiteY16" fmla="*/ 292542 h 448381"/>
                <a:gd name="connsiteX17" fmla="*/ 287074 w 389177"/>
                <a:gd name="connsiteY17" fmla="*/ 281606 h 448381"/>
                <a:gd name="connsiteX18" fmla="*/ 265201 w 389177"/>
                <a:gd name="connsiteY18" fmla="*/ 276138 h 448381"/>
                <a:gd name="connsiteX19" fmla="*/ 281605 w 389177"/>
                <a:gd name="connsiteY19" fmla="*/ 306212 h 448381"/>
                <a:gd name="connsiteX20" fmla="*/ 287074 w 389177"/>
                <a:gd name="connsiteY20" fmla="*/ 358159 h 448381"/>
                <a:gd name="connsiteX21" fmla="*/ 267935 w 389177"/>
                <a:gd name="connsiteY21" fmla="*/ 380031 h 448381"/>
                <a:gd name="connsiteX22" fmla="*/ 256999 w 389177"/>
                <a:gd name="connsiteY22" fmla="*/ 390967 h 448381"/>
                <a:gd name="connsiteX23" fmla="*/ 248797 w 389177"/>
                <a:gd name="connsiteY23" fmla="*/ 437446 h 448381"/>
                <a:gd name="connsiteX24" fmla="*/ 221457 w 389177"/>
                <a:gd name="connsiteY24" fmla="*/ 440180 h 448381"/>
                <a:gd name="connsiteX25" fmla="*/ 237861 w 389177"/>
                <a:gd name="connsiteY25" fmla="*/ 374563 h 448381"/>
                <a:gd name="connsiteX26" fmla="*/ 254265 w 389177"/>
                <a:gd name="connsiteY26" fmla="*/ 360893 h 448381"/>
                <a:gd name="connsiteX27" fmla="*/ 262467 w 389177"/>
                <a:gd name="connsiteY27" fmla="*/ 349956 h 448381"/>
                <a:gd name="connsiteX28" fmla="*/ 256999 w 389177"/>
                <a:gd name="connsiteY28" fmla="*/ 319882 h 448381"/>
                <a:gd name="connsiteX29" fmla="*/ 240595 w 389177"/>
                <a:gd name="connsiteY29" fmla="*/ 292542 h 448381"/>
                <a:gd name="connsiteX30" fmla="*/ 232393 w 389177"/>
                <a:gd name="connsiteY30" fmla="*/ 265201 h 448381"/>
                <a:gd name="connsiteX31" fmla="*/ 298010 w 389177"/>
                <a:gd name="connsiteY31" fmla="*/ 262467 h 448381"/>
                <a:gd name="connsiteX32" fmla="*/ 319882 w 389177"/>
                <a:gd name="connsiteY32" fmla="*/ 276138 h 448381"/>
                <a:gd name="connsiteX33" fmla="*/ 328084 w 389177"/>
                <a:gd name="connsiteY33" fmla="*/ 281606 h 448381"/>
                <a:gd name="connsiteX34" fmla="*/ 360893 w 389177"/>
                <a:gd name="connsiteY34" fmla="*/ 256999 h 448381"/>
                <a:gd name="connsiteX35" fmla="*/ 352690 w 389177"/>
                <a:gd name="connsiteY35" fmla="*/ 210521 h 448381"/>
                <a:gd name="connsiteX36" fmla="*/ 300744 w 389177"/>
                <a:gd name="connsiteY36" fmla="*/ 158574 h 448381"/>
                <a:gd name="connsiteX37" fmla="*/ 267935 w 389177"/>
                <a:gd name="connsiteY37" fmla="*/ 114829 h 448381"/>
                <a:gd name="connsiteX38" fmla="*/ 292542 w 389177"/>
                <a:gd name="connsiteY38" fmla="*/ 79287 h 448381"/>
                <a:gd name="connsiteX39" fmla="*/ 303478 w 389177"/>
                <a:gd name="connsiteY39" fmla="*/ 68351 h 448381"/>
                <a:gd name="connsiteX40" fmla="*/ 199584 w 389177"/>
                <a:gd name="connsiteY40" fmla="*/ 30074 h 448381"/>
                <a:gd name="connsiteX41" fmla="*/ 199584 w 389177"/>
                <a:gd name="connsiteY41" fmla="*/ 30074 h 448381"/>
                <a:gd name="connsiteX42" fmla="*/ 82021 w 389177"/>
                <a:gd name="connsiteY42" fmla="*/ 76553 h 448381"/>
                <a:gd name="connsiteX43" fmla="*/ 35542 w 389177"/>
                <a:gd name="connsiteY43" fmla="*/ 142170 h 448381"/>
                <a:gd name="connsiteX44" fmla="*/ 32808 w 389177"/>
                <a:gd name="connsiteY44" fmla="*/ 311680 h 448381"/>
                <a:gd name="connsiteX45" fmla="*/ 76553 w 389177"/>
                <a:gd name="connsiteY45" fmla="*/ 358159 h 448381"/>
                <a:gd name="connsiteX46" fmla="*/ 68351 w 389177"/>
                <a:gd name="connsiteY46" fmla="*/ 448382 h 4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89177" h="448381">
                  <a:moveTo>
                    <a:pt x="68351" y="448382"/>
                  </a:moveTo>
                  <a:lnTo>
                    <a:pt x="43744" y="434712"/>
                  </a:lnTo>
                  <a:cubicBezTo>
                    <a:pt x="46479" y="431978"/>
                    <a:pt x="60149" y="399169"/>
                    <a:pt x="46479" y="369095"/>
                  </a:cubicBezTo>
                  <a:cubicBezTo>
                    <a:pt x="35542" y="347222"/>
                    <a:pt x="16404" y="336286"/>
                    <a:pt x="8202" y="330818"/>
                  </a:cubicBezTo>
                  <a:cubicBezTo>
                    <a:pt x="2734" y="328084"/>
                    <a:pt x="0" y="322616"/>
                    <a:pt x="0" y="317148"/>
                  </a:cubicBezTo>
                  <a:lnTo>
                    <a:pt x="2734" y="136702"/>
                  </a:lnTo>
                  <a:cubicBezTo>
                    <a:pt x="2734" y="133968"/>
                    <a:pt x="2734" y="133968"/>
                    <a:pt x="2734" y="131234"/>
                  </a:cubicBezTo>
                  <a:cubicBezTo>
                    <a:pt x="13670" y="101159"/>
                    <a:pt x="32808" y="73819"/>
                    <a:pt x="57414" y="54681"/>
                  </a:cubicBezTo>
                  <a:cubicBezTo>
                    <a:pt x="76553" y="38276"/>
                    <a:pt x="125765" y="0"/>
                    <a:pt x="196850" y="0"/>
                  </a:cubicBezTo>
                  <a:cubicBezTo>
                    <a:pt x="251531" y="0"/>
                    <a:pt x="325350" y="24606"/>
                    <a:pt x="328084" y="62883"/>
                  </a:cubicBezTo>
                  <a:cubicBezTo>
                    <a:pt x="328084" y="79287"/>
                    <a:pt x="314414" y="90223"/>
                    <a:pt x="303478" y="95691"/>
                  </a:cubicBezTo>
                  <a:cubicBezTo>
                    <a:pt x="295275" y="101159"/>
                    <a:pt x="289807" y="106627"/>
                    <a:pt x="289807" y="109361"/>
                  </a:cubicBezTo>
                  <a:cubicBezTo>
                    <a:pt x="289807" y="114829"/>
                    <a:pt x="300744" y="120298"/>
                    <a:pt x="311680" y="128500"/>
                  </a:cubicBezTo>
                  <a:cubicBezTo>
                    <a:pt x="330818" y="139436"/>
                    <a:pt x="355425" y="158574"/>
                    <a:pt x="374563" y="191382"/>
                  </a:cubicBezTo>
                  <a:cubicBezTo>
                    <a:pt x="380031" y="205053"/>
                    <a:pt x="396435" y="229659"/>
                    <a:pt x="385499" y="259733"/>
                  </a:cubicBezTo>
                  <a:cubicBezTo>
                    <a:pt x="374563" y="287074"/>
                    <a:pt x="347222" y="306212"/>
                    <a:pt x="325350" y="303478"/>
                  </a:cubicBezTo>
                  <a:cubicBezTo>
                    <a:pt x="314414" y="303478"/>
                    <a:pt x="308946" y="298010"/>
                    <a:pt x="303478" y="292542"/>
                  </a:cubicBezTo>
                  <a:cubicBezTo>
                    <a:pt x="300744" y="289808"/>
                    <a:pt x="295275" y="287074"/>
                    <a:pt x="287074" y="281606"/>
                  </a:cubicBezTo>
                  <a:cubicBezTo>
                    <a:pt x="278872" y="278872"/>
                    <a:pt x="273404" y="276138"/>
                    <a:pt x="265201" y="276138"/>
                  </a:cubicBezTo>
                  <a:cubicBezTo>
                    <a:pt x="270669" y="281606"/>
                    <a:pt x="276137" y="292542"/>
                    <a:pt x="281605" y="306212"/>
                  </a:cubicBezTo>
                  <a:cubicBezTo>
                    <a:pt x="287074" y="319882"/>
                    <a:pt x="295275" y="339020"/>
                    <a:pt x="287074" y="358159"/>
                  </a:cubicBezTo>
                  <a:cubicBezTo>
                    <a:pt x="281605" y="371829"/>
                    <a:pt x="273404" y="377297"/>
                    <a:pt x="267935" y="380031"/>
                  </a:cubicBezTo>
                  <a:cubicBezTo>
                    <a:pt x="265201" y="382765"/>
                    <a:pt x="259733" y="385499"/>
                    <a:pt x="256999" y="390967"/>
                  </a:cubicBezTo>
                  <a:cubicBezTo>
                    <a:pt x="248797" y="401903"/>
                    <a:pt x="246063" y="415573"/>
                    <a:pt x="248797" y="437446"/>
                  </a:cubicBezTo>
                  <a:lnTo>
                    <a:pt x="221457" y="440180"/>
                  </a:lnTo>
                  <a:cubicBezTo>
                    <a:pt x="218723" y="412839"/>
                    <a:pt x="224191" y="388233"/>
                    <a:pt x="237861" y="374563"/>
                  </a:cubicBezTo>
                  <a:cubicBezTo>
                    <a:pt x="243329" y="366361"/>
                    <a:pt x="248797" y="363627"/>
                    <a:pt x="254265" y="360893"/>
                  </a:cubicBezTo>
                  <a:cubicBezTo>
                    <a:pt x="259733" y="358159"/>
                    <a:pt x="262467" y="355425"/>
                    <a:pt x="262467" y="349956"/>
                  </a:cubicBezTo>
                  <a:cubicBezTo>
                    <a:pt x="265201" y="341754"/>
                    <a:pt x="259733" y="330818"/>
                    <a:pt x="256999" y="319882"/>
                  </a:cubicBezTo>
                  <a:cubicBezTo>
                    <a:pt x="251531" y="306212"/>
                    <a:pt x="246063" y="298010"/>
                    <a:pt x="240595" y="292542"/>
                  </a:cubicBezTo>
                  <a:cubicBezTo>
                    <a:pt x="235127" y="284340"/>
                    <a:pt x="226925" y="276138"/>
                    <a:pt x="232393" y="265201"/>
                  </a:cubicBezTo>
                  <a:cubicBezTo>
                    <a:pt x="246063" y="240595"/>
                    <a:pt x="295275" y="262467"/>
                    <a:pt x="298010" y="262467"/>
                  </a:cubicBezTo>
                  <a:cubicBezTo>
                    <a:pt x="308946" y="267935"/>
                    <a:pt x="317148" y="273404"/>
                    <a:pt x="319882" y="276138"/>
                  </a:cubicBezTo>
                  <a:cubicBezTo>
                    <a:pt x="325350" y="278872"/>
                    <a:pt x="325350" y="281606"/>
                    <a:pt x="328084" y="281606"/>
                  </a:cubicBezTo>
                  <a:cubicBezTo>
                    <a:pt x="339020" y="281606"/>
                    <a:pt x="355425" y="270669"/>
                    <a:pt x="360893" y="256999"/>
                  </a:cubicBezTo>
                  <a:cubicBezTo>
                    <a:pt x="366361" y="240595"/>
                    <a:pt x="358158" y="221457"/>
                    <a:pt x="352690" y="210521"/>
                  </a:cubicBezTo>
                  <a:cubicBezTo>
                    <a:pt x="339020" y="183180"/>
                    <a:pt x="317148" y="169510"/>
                    <a:pt x="300744" y="158574"/>
                  </a:cubicBezTo>
                  <a:cubicBezTo>
                    <a:pt x="284340" y="147638"/>
                    <a:pt x="265201" y="136702"/>
                    <a:pt x="267935" y="114829"/>
                  </a:cubicBezTo>
                  <a:cubicBezTo>
                    <a:pt x="267935" y="95691"/>
                    <a:pt x="284340" y="87489"/>
                    <a:pt x="292542" y="79287"/>
                  </a:cubicBezTo>
                  <a:cubicBezTo>
                    <a:pt x="298010" y="76553"/>
                    <a:pt x="303478" y="71085"/>
                    <a:pt x="303478" y="68351"/>
                  </a:cubicBezTo>
                  <a:cubicBezTo>
                    <a:pt x="303478" y="57415"/>
                    <a:pt x="254265" y="32808"/>
                    <a:pt x="199584" y="30074"/>
                  </a:cubicBezTo>
                  <a:cubicBezTo>
                    <a:pt x="199584" y="30074"/>
                    <a:pt x="199584" y="30074"/>
                    <a:pt x="199584" y="30074"/>
                  </a:cubicBezTo>
                  <a:cubicBezTo>
                    <a:pt x="139436" y="30074"/>
                    <a:pt x="95691" y="62883"/>
                    <a:pt x="82021" y="76553"/>
                  </a:cubicBezTo>
                  <a:cubicBezTo>
                    <a:pt x="62882" y="95691"/>
                    <a:pt x="46479" y="117563"/>
                    <a:pt x="35542" y="142170"/>
                  </a:cubicBezTo>
                  <a:lnTo>
                    <a:pt x="32808" y="311680"/>
                  </a:lnTo>
                  <a:cubicBezTo>
                    <a:pt x="46479" y="319882"/>
                    <a:pt x="65617" y="333552"/>
                    <a:pt x="76553" y="358159"/>
                  </a:cubicBezTo>
                  <a:cubicBezTo>
                    <a:pt x="92957" y="399169"/>
                    <a:pt x="73819" y="440180"/>
                    <a:pt x="68351" y="44838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52">
              <a:extLst>
                <a:ext uri="{FF2B5EF4-FFF2-40B4-BE49-F238E27FC236}">
                  <a16:creationId xmlns:a16="http://schemas.microsoft.com/office/drawing/2014/main" id="{D2D52E89-1A8E-40C2-B9A8-6F3F0F5D9F1B}"/>
                </a:ext>
              </a:extLst>
            </p:cNvPr>
            <p:cNvSpPr/>
            <p:nvPr/>
          </p:nvSpPr>
          <p:spPr>
            <a:xfrm>
              <a:off x="4926502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13" name="Рисунок 18">
              <a:extLst>
                <a:ext uri="{FF2B5EF4-FFF2-40B4-BE49-F238E27FC236}">
                  <a16:creationId xmlns:a16="http://schemas.microsoft.com/office/drawing/2014/main" id="{A941311E-C23E-4ACC-AD2C-E652687F21CA}"/>
                </a:ext>
              </a:extLst>
            </p:cNvPr>
            <p:cNvGrpSpPr/>
            <p:nvPr/>
          </p:nvGrpSpPr>
          <p:grpSpPr>
            <a:xfrm>
              <a:off x="4923768" y="1411282"/>
              <a:ext cx="281605" cy="60148"/>
              <a:chOff x="4923768" y="1411282"/>
              <a:chExt cx="281605" cy="60148"/>
            </a:xfrm>
            <a:grpFill/>
          </p:grpSpPr>
          <p:sp>
            <p:nvSpPr>
              <p:cNvPr id="214" name="Полилиния: фигура 54">
                <a:extLst>
                  <a:ext uri="{FF2B5EF4-FFF2-40B4-BE49-F238E27FC236}">
                    <a16:creationId xmlns:a16="http://schemas.microsoft.com/office/drawing/2014/main" id="{33AFEC57-4E82-4E41-960B-76E8E6ACD5EF}"/>
                  </a:ext>
                </a:extLst>
              </p:cNvPr>
              <p:cNvSpPr/>
              <p:nvPr/>
            </p:nvSpPr>
            <p:spPr>
              <a:xfrm>
                <a:off x="5033129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15" name="Полилиния: фигура 55">
                <a:extLst>
                  <a:ext uri="{FF2B5EF4-FFF2-40B4-BE49-F238E27FC236}">
                    <a16:creationId xmlns:a16="http://schemas.microsoft.com/office/drawing/2014/main" id="{23BDC4FA-883D-4AEA-9134-882E3264FA59}"/>
                  </a:ext>
                </a:extLst>
              </p:cNvPr>
              <p:cNvSpPr/>
              <p:nvPr/>
            </p:nvSpPr>
            <p:spPr>
              <a:xfrm>
                <a:off x="5142491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16" name="Полилиния: фигура 56">
                <a:extLst>
                  <a:ext uri="{FF2B5EF4-FFF2-40B4-BE49-F238E27FC236}">
                    <a16:creationId xmlns:a16="http://schemas.microsoft.com/office/drawing/2014/main" id="{3480B569-9C31-460E-98C2-CE65A9F1229A}"/>
                  </a:ext>
                </a:extLst>
              </p:cNvPr>
              <p:cNvSpPr/>
              <p:nvPr/>
            </p:nvSpPr>
            <p:spPr>
              <a:xfrm>
                <a:off x="4923768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217" name="Группа 216">
            <a:extLst>
              <a:ext uri="{FF2B5EF4-FFF2-40B4-BE49-F238E27FC236}">
                <a16:creationId xmlns:a16="http://schemas.microsoft.com/office/drawing/2014/main" id="{CAD789DF-B3D5-4092-A691-202EAF77FE26}"/>
              </a:ext>
            </a:extLst>
          </p:cNvPr>
          <p:cNvGrpSpPr>
            <a:grpSpLocks noChangeAspect="1"/>
          </p:cNvGrpSpPr>
          <p:nvPr/>
        </p:nvGrpSpPr>
        <p:grpSpPr>
          <a:xfrm>
            <a:off x="4010205" y="5240548"/>
            <a:ext cx="435995" cy="333996"/>
            <a:chOff x="6419284" y="2899233"/>
            <a:chExt cx="1192037" cy="913167"/>
          </a:xfrm>
          <a:solidFill>
            <a:srgbClr val="000000"/>
          </a:solidFill>
        </p:grpSpPr>
        <p:sp>
          <p:nvSpPr>
            <p:cNvPr id="218" name="Полилиния: фигура 105">
              <a:extLst>
                <a:ext uri="{FF2B5EF4-FFF2-40B4-BE49-F238E27FC236}">
                  <a16:creationId xmlns:a16="http://schemas.microsoft.com/office/drawing/2014/main" id="{17E4E10A-608B-4827-837C-E86FA2331F82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107">
              <a:extLst>
                <a:ext uri="{FF2B5EF4-FFF2-40B4-BE49-F238E27FC236}">
                  <a16:creationId xmlns:a16="http://schemas.microsoft.com/office/drawing/2014/main" id="{22228C24-D5D3-4A5F-AC76-A2EB583E0DCC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108">
              <a:extLst>
                <a:ext uri="{FF2B5EF4-FFF2-40B4-BE49-F238E27FC236}">
                  <a16:creationId xmlns:a16="http://schemas.microsoft.com/office/drawing/2014/main" id="{C49BE54D-67A0-42A1-A2C1-66DF8330B061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109">
              <a:extLst>
                <a:ext uri="{FF2B5EF4-FFF2-40B4-BE49-F238E27FC236}">
                  <a16:creationId xmlns:a16="http://schemas.microsoft.com/office/drawing/2014/main" id="{8115E754-572D-44C3-BA6C-F36B0D2897F2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: фигура 110">
              <a:extLst>
                <a:ext uri="{FF2B5EF4-FFF2-40B4-BE49-F238E27FC236}">
                  <a16:creationId xmlns:a16="http://schemas.microsoft.com/office/drawing/2014/main" id="{73CACF0D-FE5B-4757-A40C-6E0901AE18B3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3" name="Полилиния: фигура 111">
              <a:extLst>
                <a:ext uri="{FF2B5EF4-FFF2-40B4-BE49-F238E27FC236}">
                  <a16:creationId xmlns:a16="http://schemas.microsoft.com/office/drawing/2014/main" id="{0871748B-B1DE-472C-82AC-19F9293874BE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4" name="Полилиния: фигура 112">
              <a:extLst>
                <a:ext uri="{FF2B5EF4-FFF2-40B4-BE49-F238E27FC236}">
                  <a16:creationId xmlns:a16="http://schemas.microsoft.com/office/drawing/2014/main" id="{61E2F4E7-ABC3-4F52-8370-13A42B4E1A76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5" name="Полилиния: фигура 113">
              <a:extLst>
                <a:ext uri="{FF2B5EF4-FFF2-40B4-BE49-F238E27FC236}">
                  <a16:creationId xmlns:a16="http://schemas.microsoft.com/office/drawing/2014/main" id="{E784913D-6969-4A82-8CE7-ACE16D801220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6" name="Полилиния: фигура 114">
              <a:extLst>
                <a:ext uri="{FF2B5EF4-FFF2-40B4-BE49-F238E27FC236}">
                  <a16:creationId xmlns:a16="http://schemas.microsoft.com/office/drawing/2014/main" id="{1540AA49-929D-4169-95FA-48C3FAF3F3CE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7" name="Полилиния: фигура 166">
              <a:extLst>
                <a:ext uri="{FF2B5EF4-FFF2-40B4-BE49-F238E27FC236}">
                  <a16:creationId xmlns:a16="http://schemas.microsoft.com/office/drawing/2014/main" id="{02766EFA-C9D3-4870-837D-43D40B4B60D9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8" name="Полилиния: фигура 167">
              <a:extLst>
                <a:ext uri="{FF2B5EF4-FFF2-40B4-BE49-F238E27FC236}">
                  <a16:creationId xmlns:a16="http://schemas.microsoft.com/office/drawing/2014/main" id="{15F7D8D4-48E8-4BE3-9185-4AE76FC3CA1D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: Rounded Corners 23">
            <a:extLst>
              <a:ext uri="{FF2B5EF4-FFF2-40B4-BE49-F238E27FC236}">
                <a16:creationId xmlns:a16="http://schemas.microsoft.com/office/drawing/2014/main" id="{D7D532E2-75EF-804A-E178-61E40B6FE128}"/>
              </a:ext>
            </a:extLst>
          </p:cNvPr>
          <p:cNvSpPr/>
          <p:nvPr/>
        </p:nvSpPr>
        <p:spPr>
          <a:xfrm>
            <a:off x="420624" y="932688"/>
            <a:ext cx="6281928" cy="3236976"/>
          </a:xfrm>
          <a:prstGeom prst="roundRect">
            <a:avLst>
              <a:gd name="adj" fmla="val 3771"/>
            </a:avLst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8566B93B-09F4-C189-04CF-9C9DC5F1822E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Пример структуры лаборатории тестирования</a:t>
            </a:r>
            <a:endParaRPr lang="en-US" dirty="0"/>
          </a:p>
        </p:txBody>
      </p:sp>
      <p:sp>
        <p:nvSpPr>
          <p:cNvPr id="22" name="Rectangle: Rounded Corners 5">
            <a:extLst>
              <a:ext uri="{FF2B5EF4-FFF2-40B4-BE49-F238E27FC236}">
                <a16:creationId xmlns:a16="http://schemas.microsoft.com/office/drawing/2014/main" id="{14753983-7CFB-2427-7318-A209A2E7258C}"/>
              </a:ext>
            </a:extLst>
          </p:cNvPr>
          <p:cNvSpPr/>
          <p:nvPr/>
        </p:nvSpPr>
        <p:spPr>
          <a:xfrm>
            <a:off x="658367" y="1417320"/>
            <a:ext cx="5518497" cy="530352"/>
          </a:xfrm>
          <a:prstGeom prst="roundRect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6">
            <a:extLst>
              <a:ext uri="{FF2B5EF4-FFF2-40B4-BE49-F238E27FC236}">
                <a16:creationId xmlns:a16="http://schemas.microsoft.com/office/drawing/2014/main" id="{C0185489-D1DA-591C-8F58-D6A4A6FF481D}"/>
              </a:ext>
            </a:extLst>
          </p:cNvPr>
          <p:cNvSpPr/>
          <p:nvPr/>
        </p:nvSpPr>
        <p:spPr>
          <a:xfrm>
            <a:off x="658367" y="2042160"/>
            <a:ext cx="5518497" cy="530352"/>
          </a:xfrm>
          <a:prstGeom prst="roundRect">
            <a:avLst/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7">
            <a:extLst>
              <a:ext uri="{FF2B5EF4-FFF2-40B4-BE49-F238E27FC236}">
                <a16:creationId xmlns:a16="http://schemas.microsoft.com/office/drawing/2014/main" id="{E8BC4515-2C8E-B2F0-EA07-DFFF5DDE7781}"/>
              </a:ext>
            </a:extLst>
          </p:cNvPr>
          <p:cNvSpPr/>
          <p:nvPr/>
        </p:nvSpPr>
        <p:spPr>
          <a:xfrm>
            <a:off x="658367" y="2667000"/>
            <a:ext cx="5518497" cy="530352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8">
            <a:extLst>
              <a:ext uri="{FF2B5EF4-FFF2-40B4-BE49-F238E27FC236}">
                <a16:creationId xmlns:a16="http://schemas.microsoft.com/office/drawing/2014/main" id="{BC819C65-6096-D15D-D516-B56D25CD6196}"/>
              </a:ext>
            </a:extLst>
          </p:cNvPr>
          <p:cNvSpPr/>
          <p:nvPr/>
        </p:nvSpPr>
        <p:spPr>
          <a:xfrm>
            <a:off x="658367" y="3298632"/>
            <a:ext cx="5518497" cy="530352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9">
            <a:extLst>
              <a:ext uri="{FF2B5EF4-FFF2-40B4-BE49-F238E27FC236}">
                <a16:creationId xmlns:a16="http://schemas.microsoft.com/office/drawing/2014/main" id="{8A96F2F3-9A07-140B-89FD-B1FE81A0E5A3}"/>
              </a:ext>
            </a:extLst>
          </p:cNvPr>
          <p:cNvSpPr/>
          <p:nvPr/>
        </p:nvSpPr>
        <p:spPr>
          <a:xfrm>
            <a:off x="658368" y="4776216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10">
            <a:extLst>
              <a:ext uri="{FF2B5EF4-FFF2-40B4-BE49-F238E27FC236}">
                <a16:creationId xmlns:a16="http://schemas.microsoft.com/office/drawing/2014/main" id="{A75C5B87-318B-9A87-B99D-3981D809ED48}"/>
              </a:ext>
            </a:extLst>
          </p:cNvPr>
          <p:cNvSpPr/>
          <p:nvPr/>
        </p:nvSpPr>
        <p:spPr>
          <a:xfrm>
            <a:off x="658368" y="5394960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11">
            <a:extLst>
              <a:ext uri="{FF2B5EF4-FFF2-40B4-BE49-F238E27FC236}">
                <a16:creationId xmlns:a16="http://schemas.microsoft.com/office/drawing/2014/main" id="{28F05E2E-6020-44B0-1D02-44C4B95DFEAF}"/>
              </a:ext>
            </a:extLst>
          </p:cNvPr>
          <p:cNvSpPr/>
          <p:nvPr/>
        </p:nvSpPr>
        <p:spPr>
          <a:xfrm>
            <a:off x="2834640" y="4776216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12">
            <a:extLst>
              <a:ext uri="{FF2B5EF4-FFF2-40B4-BE49-F238E27FC236}">
                <a16:creationId xmlns:a16="http://schemas.microsoft.com/office/drawing/2014/main" id="{48361C82-02D8-0B27-39E6-99943C7E523E}"/>
              </a:ext>
            </a:extLst>
          </p:cNvPr>
          <p:cNvSpPr/>
          <p:nvPr/>
        </p:nvSpPr>
        <p:spPr>
          <a:xfrm>
            <a:off x="2834640" y="5394960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13">
            <a:extLst>
              <a:ext uri="{FF2B5EF4-FFF2-40B4-BE49-F238E27FC236}">
                <a16:creationId xmlns:a16="http://schemas.microsoft.com/office/drawing/2014/main" id="{D2EDF2A8-EC9E-61A3-8B02-9B0208CF6CF2}"/>
              </a:ext>
            </a:extLst>
          </p:cNvPr>
          <p:cNvSpPr/>
          <p:nvPr/>
        </p:nvSpPr>
        <p:spPr>
          <a:xfrm>
            <a:off x="5010912" y="4776216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14">
            <a:extLst>
              <a:ext uri="{FF2B5EF4-FFF2-40B4-BE49-F238E27FC236}">
                <a16:creationId xmlns:a16="http://schemas.microsoft.com/office/drawing/2014/main" id="{87779584-B58E-AE6F-D1AE-4909C704DCED}"/>
              </a:ext>
            </a:extLst>
          </p:cNvPr>
          <p:cNvSpPr/>
          <p:nvPr/>
        </p:nvSpPr>
        <p:spPr>
          <a:xfrm>
            <a:off x="5010912" y="5394960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15">
            <a:extLst>
              <a:ext uri="{FF2B5EF4-FFF2-40B4-BE49-F238E27FC236}">
                <a16:creationId xmlns:a16="http://schemas.microsoft.com/office/drawing/2014/main" id="{9C2A7477-F99F-1455-5DF9-48E022C21FC5}"/>
              </a:ext>
            </a:extLst>
          </p:cNvPr>
          <p:cNvSpPr/>
          <p:nvPr/>
        </p:nvSpPr>
        <p:spPr>
          <a:xfrm>
            <a:off x="7498080" y="4776216"/>
            <a:ext cx="2075688" cy="530352"/>
          </a:xfrm>
          <a:prstGeom prst="roundRect">
            <a:avLst/>
          </a:prstGeom>
          <a:noFill/>
          <a:ln>
            <a:solidFill>
              <a:srgbClr val="7D70EF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16">
            <a:extLst>
              <a:ext uri="{FF2B5EF4-FFF2-40B4-BE49-F238E27FC236}">
                <a16:creationId xmlns:a16="http://schemas.microsoft.com/office/drawing/2014/main" id="{7655F696-464C-EBFA-CEEF-534B15C3EA30}"/>
              </a:ext>
            </a:extLst>
          </p:cNvPr>
          <p:cNvSpPr/>
          <p:nvPr/>
        </p:nvSpPr>
        <p:spPr>
          <a:xfrm>
            <a:off x="7498080" y="5394960"/>
            <a:ext cx="2075688" cy="530352"/>
          </a:xfrm>
          <a:prstGeom prst="roundRect">
            <a:avLst/>
          </a:prstGeom>
          <a:noFill/>
          <a:ln>
            <a:solidFill>
              <a:srgbClr val="7D70EF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17">
            <a:extLst>
              <a:ext uri="{FF2B5EF4-FFF2-40B4-BE49-F238E27FC236}">
                <a16:creationId xmlns:a16="http://schemas.microsoft.com/office/drawing/2014/main" id="{7383FF74-466E-A61C-B282-62785CD2E592}"/>
              </a:ext>
            </a:extLst>
          </p:cNvPr>
          <p:cNvSpPr/>
          <p:nvPr/>
        </p:nvSpPr>
        <p:spPr>
          <a:xfrm>
            <a:off x="9671304" y="4776216"/>
            <a:ext cx="2075688" cy="530352"/>
          </a:xfrm>
          <a:prstGeom prst="roundRect">
            <a:avLst/>
          </a:prstGeom>
          <a:noFill/>
          <a:ln>
            <a:solidFill>
              <a:srgbClr val="7D70EF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18">
            <a:extLst>
              <a:ext uri="{FF2B5EF4-FFF2-40B4-BE49-F238E27FC236}">
                <a16:creationId xmlns:a16="http://schemas.microsoft.com/office/drawing/2014/main" id="{5B595757-2C48-6B8B-C371-F7AC2DFE3EA5}"/>
              </a:ext>
            </a:extLst>
          </p:cNvPr>
          <p:cNvSpPr/>
          <p:nvPr/>
        </p:nvSpPr>
        <p:spPr>
          <a:xfrm>
            <a:off x="8078376" y="1417320"/>
            <a:ext cx="3185855" cy="530352"/>
          </a:xfrm>
          <a:prstGeom prst="round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19">
            <a:extLst>
              <a:ext uri="{FF2B5EF4-FFF2-40B4-BE49-F238E27FC236}">
                <a16:creationId xmlns:a16="http://schemas.microsoft.com/office/drawing/2014/main" id="{3072173C-BA5F-E7DE-56E9-AE12622E0538}"/>
              </a:ext>
            </a:extLst>
          </p:cNvPr>
          <p:cNvSpPr/>
          <p:nvPr/>
        </p:nvSpPr>
        <p:spPr>
          <a:xfrm>
            <a:off x="8078376" y="2044424"/>
            <a:ext cx="3185855" cy="530352"/>
          </a:xfrm>
          <a:prstGeom prst="round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20">
            <a:extLst>
              <a:ext uri="{FF2B5EF4-FFF2-40B4-BE49-F238E27FC236}">
                <a16:creationId xmlns:a16="http://schemas.microsoft.com/office/drawing/2014/main" id="{3E6ADDF9-75EB-F86B-6E21-084BA534D1B8}"/>
              </a:ext>
            </a:extLst>
          </p:cNvPr>
          <p:cNvSpPr/>
          <p:nvPr/>
        </p:nvSpPr>
        <p:spPr>
          <a:xfrm>
            <a:off x="8078375" y="2671528"/>
            <a:ext cx="3185855" cy="530352"/>
          </a:xfrm>
          <a:prstGeom prst="round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21">
            <a:extLst>
              <a:ext uri="{FF2B5EF4-FFF2-40B4-BE49-F238E27FC236}">
                <a16:creationId xmlns:a16="http://schemas.microsoft.com/office/drawing/2014/main" id="{EA827DA2-BC45-19C7-F30B-7728E08EB922}"/>
              </a:ext>
            </a:extLst>
          </p:cNvPr>
          <p:cNvSpPr/>
          <p:nvPr/>
        </p:nvSpPr>
        <p:spPr>
          <a:xfrm>
            <a:off x="8078374" y="3298632"/>
            <a:ext cx="3185855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24">
            <a:extLst>
              <a:ext uri="{FF2B5EF4-FFF2-40B4-BE49-F238E27FC236}">
                <a16:creationId xmlns:a16="http://schemas.microsoft.com/office/drawing/2014/main" id="{99127F70-9684-BD2F-E64A-8DC28B916DF4}"/>
              </a:ext>
            </a:extLst>
          </p:cNvPr>
          <p:cNvSpPr/>
          <p:nvPr/>
        </p:nvSpPr>
        <p:spPr>
          <a:xfrm>
            <a:off x="420624" y="4361688"/>
            <a:ext cx="6839712" cy="1719072"/>
          </a:xfrm>
          <a:prstGeom prst="roundRect">
            <a:avLst>
              <a:gd name="adj" fmla="val 6838"/>
            </a:avLst>
          </a:prstGeom>
          <a:noFill/>
          <a:ln w="6350">
            <a:solidFill>
              <a:srgbClr val="FFFFFF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25">
            <a:extLst>
              <a:ext uri="{FF2B5EF4-FFF2-40B4-BE49-F238E27FC236}">
                <a16:creationId xmlns:a16="http://schemas.microsoft.com/office/drawing/2014/main" id="{665E45F4-7DDC-D737-10D6-053B90A5566F}"/>
              </a:ext>
            </a:extLst>
          </p:cNvPr>
          <p:cNvSpPr/>
          <p:nvPr/>
        </p:nvSpPr>
        <p:spPr>
          <a:xfrm>
            <a:off x="7360920" y="4361688"/>
            <a:ext cx="4524756" cy="1721577"/>
          </a:xfrm>
          <a:prstGeom prst="roundRect">
            <a:avLst>
              <a:gd name="adj" fmla="val 6275"/>
            </a:avLst>
          </a:prstGeom>
          <a:noFill/>
          <a:ln w="6350">
            <a:solidFill>
              <a:srgbClr val="000000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26">
            <a:extLst>
              <a:ext uri="{FF2B5EF4-FFF2-40B4-BE49-F238E27FC236}">
                <a16:creationId xmlns:a16="http://schemas.microsoft.com/office/drawing/2014/main" id="{4B6083EF-F54C-DC00-A32F-A112C60AE4CF}"/>
              </a:ext>
            </a:extLst>
          </p:cNvPr>
          <p:cNvSpPr/>
          <p:nvPr/>
        </p:nvSpPr>
        <p:spPr>
          <a:xfrm>
            <a:off x="7360920" y="932688"/>
            <a:ext cx="4524756" cy="3236976"/>
          </a:xfrm>
          <a:prstGeom prst="roundRect">
            <a:avLst>
              <a:gd name="adj" fmla="val 2543"/>
            </a:avLst>
          </a:prstGeom>
          <a:noFill/>
          <a:ln w="6350">
            <a:solidFill>
              <a:srgbClr val="000000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53">
            <a:extLst>
              <a:ext uri="{FF2B5EF4-FFF2-40B4-BE49-F238E27FC236}">
                <a16:creationId xmlns:a16="http://schemas.microsoft.com/office/drawing/2014/main" id="{C89F802A-412C-4290-846E-016FF3032D65}"/>
              </a:ext>
            </a:extLst>
          </p:cNvPr>
          <p:cNvSpPr/>
          <p:nvPr/>
        </p:nvSpPr>
        <p:spPr>
          <a:xfrm>
            <a:off x="3023118" y="1287624"/>
            <a:ext cx="2929813" cy="2696547"/>
          </a:xfrm>
          <a:prstGeom prst="rect">
            <a:avLst/>
          </a:prstGeom>
          <a:solidFill>
            <a:srgbClr val="FFFFFF">
              <a:alpha val="76000"/>
            </a:srgbClr>
          </a:solidFill>
          <a:ln w="63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B1B75EED-8F76-E46C-3CA1-7AD4CDF42C52}"/>
              </a:ext>
            </a:extLst>
          </p:cNvPr>
          <p:cNvSpPr/>
          <p:nvPr/>
        </p:nvSpPr>
        <p:spPr>
          <a:xfrm>
            <a:off x="3743977" y="2249294"/>
            <a:ext cx="1488094" cy="801624"/>
          </a:xfrm>
          <a:prstGeom prst="roundRect">
            <a:avLst>
              <a:gd name="adj" fmla="val 0"/>
            </a:avLst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56">
            <a:extLst>
              <a:ext uri="{FF2B5EF4-FFF2-40B4-BE49-F238E27FC236}">
                <a16:creationId xmlns:a16="http://schemas.microsoft.com/office/drawing/2014/main" id="{FF5920C1-5AD9-0435-29EC-F22D52232CDE}"/>
              </a:ext>
            </a:extLst>
          </p:cNvPr>
          <p:cNvCxnSpPr/>
          <p:nvPr/>
        </p:nvCxnSpPr>
        <p:spPr>
          <a:xfrm flipV="1">
            <a:off x="4114800" y="1831239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45" name="Straight Arrow Connector 57">
            <a:extLst>
              <a:ext uri="{FF2B5EF4-FFF2-40B4-BE49-F238E27FC236}">
                <a16:creationId xmlns:a16="http://schemas.microsoft.com/office/drawing/2014/main" id="{C65C2839-5172-1138-0044-407F5355B3D3}"/>
              </a:ext>
            </a:extLst>
          </p:cNvPr>
          <p:cNvCxnSpPr/>
          <p:nvPr/>
        </p:nvCxnSpPr>
        <p:spPr>
          <a:xfrm flipV="1">
            <a:off x="4910328" y="1829410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46" name="Straight Arrow Connector 58">
            <a:extLst>
              <a:ext uri="{FF2B5EF4-FFF2-40B4-BE49-F238E27FC236}">
                <a16:creationId xmlns:a16="http://schemas.microsoft.com/office/drawing/2014/main" id="{F1435E1D-5E45-7042-613F-135CB55A44FE}"/>
              </a:ext>
            </a:extLst>
          </p:cNvPr>
          <p:cNvCxnSpPr>
            <a:cxnSpLocks/>
          </p:cNvCxnSpPr>
          <p:nvPr/>
        </p:nvCxnSpPr>
        <p:spPr>
          <a:xfrm>
            <a:off x="4488024" y="2958389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47" name="TextBox 59">
            <a:extLst>
              <a:ext uri="{FF2B5EF4-FFF2-40B4-BE49-F238E27FC236}">
                <a16:creationId xmlns:a16="http://schemas.microsoft.com/office/drawing/2014/main" id="{E56C9C72-B9A6-B43F-1C42-7F7A5DC9F662}"/>
              </a:ext>
            </a:extLst>
          </p:cNvPr>
          <p:cNvSpPr txBox="1"/>
          <p:nvPr/>
        </p:nvSpPr>
        <p:spPr>
          <a:xfrm>
            <a:off x="3417615" y="1524961"/>
            <a:ext cx="1202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Команда 1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8" name="TextBox 60">
            <a:extLst>
              <a:ext uri="{FF2B5EF4-FFF2-40B4-BE49-F238E27FC236}">
                <a16:creationId xmlns:a16="http://schemas.microsoft.com/office/drawing/2014/main" id="{03216E17-4BF1-CB08-8842-C729B4C083A4}"/>
              </a:ext>
            </a:extLst>
          </p:cNvPr>
          <p:cNvSpPr txBox="1"/>
          <p:nvPr/>
        </p:nvSpPr>
        <p:spPr>
          <a:xfrm>
            <a:off x="4429800" y="1524961"/>
            <a:ext cx="1202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Команда 2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9" name="TextBox 61">
            <a:extLst>
              <a:ext uri="{FF2B5EF4-FFF2-40B4-BE49-F238E27FC236}">
                <a16:creationId xmlns:a16="http://schemas.microsoft.com/office/drawing/2014/main" id="{1C5D937B-63FC-7E33-8D57-A059503BDA71}"/>
              </a:ext>
            </a:extLst>
          </p:cNvPr>
          <p:cNvSpPr txBox="1"/>
          <p:nvPr/>
        </p:nvSpPr>
        <p:spPr>
          <a:xfrm>
            <a:off x="3872484" y="3389376"/>
            <a:ext cx="1202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Команда </a:t>
            </a:r>
            <a:r>
              <a:rPr lang="en-US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N</a:t>
            </a:r>
          </a:p>
        </p:txBody>
      </p:sp>
      <p:sp>
        <p:nvSpPr>
          <p:cNvPr id="50" name="TextBox 62">
            <a:extLst>
              <a:ext uri="{FF2B5EF4-FFF2-40B4-BE49-F238E27FC236}">
                <a16:creationId xmlns:a16="http://schemas.microsoft.com/office/drawing/2014/main" id="{73E1BEDD-0D8C-C081-F246-9B5B3DC1D0DA}"/>
              </a:ext>
            </a:extLst>
          </p:cNvPr>
          <p:cNvSpPr txBox="1"/>
          <p:nvPr/>
        </p:nvSpPr>
        <p:spPr>
          <a:xfrm>
            <a:off x="3840480" y="2367892"/>
            <a:ext cx="1331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Пул тестирования</a:t>
            </a:r>
            <a:endParaRPr lang="en-US" sz="1200" b="1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1" name="TextBox 63">
            <a:extLst>
              <a:ext uri="{FF2B5EF4-FFF2-40B4-BE49-F238E27FC236}">
                <a16:creationId xmlns:a16="http://schemas.microsoft.com/office/drawing/2014/main" id="{76520F57-CCC4-7B86-AEE7-C63F1FC1D46C}"/>
              </a:ext>
            </a:extLst>
          </p:cNvPr>
          <p:cNvSpPr txBox="1"/>
          <p:nvPr/>
        </p:nvSpPr>
        <p:spPr>
          <a:xfrm>
            <a:off x="829313" y="1551432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Знания</a:t>
            </a:r>
            <a:endParaRPr lang="en-US" sz="1200" b="1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2" name="TextBox 64">
            <a:extLst>
              <a:ext uri="{FF2B5EF4-FFF2-40B4-BE49-F238E27FC236}">
                <a16:creationId xmlns:a16="http://schemas.microsoft.com/office/drawing/2014/main" id="{D58AA7C0-45E7-8CEC-0487-B1F00A5E28EA}"/>
              </a:ext>
            </a:extLst>
          </p:cNvPr>
          <p:cNvSpPr txBox="1"/>
          <p:nvPr/>
        </p:nvSpPr>
        <p:spPr>
          <a:xfrm>
            <a:off x="813053" y="2139696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Процессы</a:t>
            </a:r>
            <a:endParaRPr lang="en-US" sz="1200" b="1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3" name="TextBox 65">
            <a:extLst>
              <a:ext uri="{FF2B5EF4-FFF2-40B4-BE49-F238E27FC236}">
                <a16:creationId xmlns:a16="http://schemas.microsoft.com/office/drawing/2014/main" id="{E056E623-586F-E12A-37AA-47B7E865146A}"/>
              </a:ext>
            </a:extLst>
          </p:cNvPr>
          <p:cNvSpPr txBox="1"/>
          <p:nvPr/>
        </p:nvSpPr>
        <p:spPr>
          <a:xfrm>
            <a:off x="829313" y="2787122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Инструменты</a:t>
            </a:r>
            <a:endParaRPr lang="en-US" sz="1200" b="1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4" name="TextBox 66">
            <a:extLst>
              <a:ext uri="{FF2B5EF4-FFF2-40B4-BE49-F238E27FC236}">
                <a16:creationId xmlns:a16="http://schemas.microsoft.com/office/drawing/2014/main" id="{6771ABCC-7E3C-67C6-C176-6AE82B3E4839}"/>
              </a:ext>
            </a:extLst>
          </p:cNvPr>
          <p:cNvSpPr txBox="1"/>
          <p:nvPr/>
        </p:nvSpPr>
        <p:spPr>
          <a:xfrm>
            <a:off x="829313" y="3380417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Опыт</a:t>
            </a:r>
            <a:endParaRPr lang="en-US" sz="1200" b="1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5" name="TextBox 7">
            <a:extLst>
              <a:ext uri="{FF2B5EF4-FFF2-40B4-BE49-F238E27FC236}">
                <a16:creationId xmlns:a16="http://schemas.microsoft.com/office/drawing/2014/main" id="{DDA30C21-2596-A32C-DEF4-9C3FF6CE43A5}"/>
              </a:ext>
            </a:extLst>
          </p:cNvPr>
          <p:cNvSpPr txBox="1"/>
          <p:nvPr/>
        </p:nvSpPr>
        <p:spPr bwMode="auto">
          <a:xfrm>
            <a:off x="611949" y="1004953"/>
            <a:ext cx="48223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Лаборатория тестирования</a:t>
            </a: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BB8C31AE-EAB8-F882-90DD-A26AA6A682ED}"/>
              </a:ext>
            </a:extLst>
          </p:cNvPr>
          <p:cNvSpPr txBox="1"/>
          <p:nvPr/>
        </p:nvSpPr>
        <p:spPr bwMode="auto">
          <a:xfrm>
            <a:off x="608403" y="4376798"/>
            <a:ext cx="48223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Практика по тестированию </a:t>
            </a:r>
            <a:r>
              <a:rPr lang="en-US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RNT Group</a:t>
            </a:r>
            <a:endParaRPr lang="ru-RU" sz="1500" spc="50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1A75784B-A847-9E2C-3E49-9F5EEF024738}"/>
              </a:ext>
            </a:extLst>
          </p:cNvPr>
          <p:cNvSpPr txBox="1"/>
          <p:nvPr/>
        </p:nvSpPr>
        <p:spPr bwMode="auto">
          <a:xfrm>
            <a:off x="7498080" y="1005486"/>
            <a:ext cx="42732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Заказчик</a:t>
            </a:r>
          </a:p>
        </p:txBody>
      </p:sp>
      <p:sp>
        <p:nvSpPr>
          <p:cNvPr id="58" name="TextBox 7">
            <a:extLst>
              <a:ext uri="{FF2B5EF4-FFF2-40B4-BE49-F238E27FC236}">
                <a16:creationId xmlns:a16="http://schemas.microsoft.com/office/drawing/2014/main" id="{DB77A0DE-A01B-C4F5-513E-E611CBE29F76}"/>
              </a:ext>
            </a:extLst>
          </p:cNvPr>
          <p:cNvSpPr txBox="1"/>
          <p:nvPr/>
        </p:nvSpPr>
        <p:spPr bwMode="auto">
          <a:xfrm>
            <a:off x="7448115" y="4376798"/>
            <a:ext cx="42732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Другие подрядчики</a:t>
            </a:r>
          </a:p>
        </p:txBody>
      </p:sp>
      <p:cxnSp>
        <p:nvCxnSpPr>
          <p:cNvPr id="59" name="Straight Arrow Connector 71">
            <a:extLst>
              <a:ext uri="{FF2B5EF4-FFF2-40B4-BE49-F238E27FC236}">
                <a16:creationId xmlns:a16="http://schemas.microsoft.com/office/drawing/2014/main" id="{020909F4-8B16-ECBF-6279-DB99DA83CBC1}"/>
              </a:ext>
            </a:extLst>
          </p:cNvPr>
          <p:cNvCxnSpPr>
            <a:cxnSpLocks/>
          </p:cNvCxnSpPr>
          <p:nvPr/>
        </p:nvCxnSpPr>
        <p:spPr>
          <a:xfrm flipV="1">
            <a:off x="4761410" y="4010272"/>
            <a:ext cx="0" cy="578291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0" name="Straight Arrow Connector 72">
            <a:extLst>
              <a:ext uri="{FF2B5EF4-FFF2-40B4-BE49-F238E27FC236}">
                <a16:creationId xmlns:a16="http://schemas.microsoft.com/office/drawing/2014/main" id="{054D4CBB-6410-DD94-4573-D6AF6409A9D3}"/>
              </a:ext>
            </a:extLst>
          </p:cNvPr>
          <p:cNvCxnSpPr>
            <a:cxnSpLocks/>
          </p:cNvCxnSpPr>
          <p:nvPr/>
        </p:nvCxnSpPr>
        <p:spPr>
          <a:xfrm flipV="1">
            <a:off x="5279067" y="4010272"/>
            <a:ext cx="0" cy="578291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1" name="Straight Arrow Connector 73">
            <a:extLst>
              <a:ext uri="{FF2B5EF4-FFF2-40B4-BE49-F238E27FC236}">
                <a16:creationId xmlns:a16="http://schemas.microsoft.com/office/drawing/2014/main" id="{881BC543-9608-1CEB-021C-975EC2149C88}"/>
              </a:ext>
            </a:extLst>
          </p:cNvPr>
          <p:cNvCxnSpPr>
            <a:cxnSpLocks/>
          </p:cNvCxnSpPr>
          <p:nvPr/>
        </p:nvCxnSpPr>
        <p:spPr>
          <a:xfrm flipV="1">
            <a:off x="5761030" y="4010272"/>
            <a:ext cx="0" cy="578291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grpSp>
        <p:nvGrpSpPr>
          <p:cNvPr id="62" name="Group 77">
            <a:extLst>
              <a:ext uri="{FF2B5EF4-FFF2-40B4-BE49-F238E27FC236}">
                <a16:creationId xmlns:a16="http://schemas.microsoft.com/office/drawing/2014/main" id="{F6FB4FDB-4A59-714B-92AF-796030CD1C2B}"/>
              </a:ext>
            </a:extLst>
          </p:cNvPr>
          <p:cNvGrpSpPr/>
          <p:nvPr/>
        </p:nvGrpSpPr>
        <p:grpSpPr>
          <a:xfrm rot="16200000">
            <a:off x="6478508" y="1910603"/>
            <a:ext cx="1100746" cy="942403"/>
            <a:chOff x="4481316" y="4194566"/>
            <a:chExt cx="1331903" cy="483601"/>
          </a:xfrm>
        </p:grpSpPr>
        <p:cxnSp>
          <p:nvCxnSpPr>
            <p:cNvPr id="63" name="Straight Arrow Connector 74">
              <a:extLst>
                <a:ext uri="{FF2B5EF4-FFF2-40B4-BE49-F238E27FC236}">
                  <a16:creationId xmlns:a16="http://schemas.microsoft.com/office/drawing/2014/main" id="{CB0D3BFA-6591-B749-7DB1-0608682D0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1316" y="4200241"/>
              <a:ext cx="0" cy="477926"/>
            </a:xfrm>
            <a:prstGeom prst="straightConnector1">
              <a:avLst/>
            </a:prstGeom>
            <a:ln w="127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64" name="Straight Arrow Connector 75">
              <a:extLst>
                <a:ext uri="{FF2B5EF4-FFF2-40B4-BE49-F238E27FC236}">
                  <a16:creationId xmlns:a16="http://schemas.microsoft.com/office/drawing/2014/main" id="{D7F4C784-7562-8F7C-5889-AA027B44F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1419" y="4194566"/>
              <a:ext cx="0" cy="477926"/>
            </a:xfrm>
            <a:prstGeom prst="straightConnector1">
              <a:avLst/>
            </a:prstGeom>
            <a:ln w="127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65" name="Straight Arrow Connector 76">
              <a:extLst>
                <a:ext uri="{FF2B5EF4-FFF2-40B4-BE49-F238E27FC236}">
                  <a16:creationId xmlns:a16="http://schemas.microsoft.com/office/drawing/2014/main" id="{6BA141A2-C52A-2418-E799-AB8F0EAEB5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3219" y="4194566"/>
              <a:ext cx="0" cy="477926"/>
            </a:xfrm>
            <a:prstGeom prst="straightConnector1">
              <a:avLst/>
            </a:prstGeom>
            <a:ln w="127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cxnSp>
        <p:nvCxnSpPr>
          <p:cNvPr id="66" name="Straight Arrow Connector 78">
            <a:extLst>
              <a:ext uri="{FF2B5EF4-FFF2-40B4-BE49-F238E27FC236}">
                <a16:creationId xmlns:a16="http://schemas.microsoft.com/office/drawing/2014/main" id="{2586818B-440F-733D-C1BC-A3A0586D56E6}"/>
              </a:ext>
            </a:extLst>
          </p:cNvPr>
          <p:cNvCxnSpPr>
            <a:cxnSpLocks/>
          </p:cNvCxnSpPr>
          <p:nvPr/>
        </p:nvCxnSpPr>
        <p:spPr>
          <a:xfrm flipH="1">
            <a:off x="6386683" y="3563808"/>
            <a:ext cx="1596029" cy="0"/>
          </a:xfrm>
          <a:prstGeom prst="straightConnector1">
            <a:avLst/>
          </a:prstGeom>
          <a:ln w="12700">
            <a:solidFill>
              <a:srgbClr val="000000"/>
            </a:solidFill>
            <a:prstDash val="lgDash"/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7" name="Straight Arrow Connector 80">
            <a:extLst>
              <a:ext uri="{FF2B5EF4-FFF2-40B4-BE49-F238E27FC236}">
                <a16:creationId xmlns:a16="http://schemas.microsoft.com/office/drawing/2014/main" id="{447FE07A-6B8E-0A89-53FE-D4E5466651B1}"/>
              </a:ext>
            </a:extLst>
          </p:cNvPr>
          <p:cNvCxnSpPr>
            <a:cxnSpLocks/>
          </p:cNvCxnSpPr>
          <p:nvPr/>
        </p:nvCxnSpPr>
        <p:spPr>
          <a:xfrm flipH="1" flipV="1">
            <a:off x="6360003" y="3755833"/>
            <a:ext cx="1156035" cy="694636"/>
          </a:xfrm>
          <a:prstGeom prst="straightConnector1">
            <a:avLst/>
          </a:prstGeom>
          <a:ln w="12700">
            <a:solidFill>
              <a:srgbClr val="000000"/>
            </a:solidFill>
            <a:prstDash val="lgDash"/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68" name="TextBox 85">
            <a:extLst>
              <a:ext uri="{FF2B5EF4-FFF2-40B4-BE49-F238E27FC236}">
                <a16:creationId xmlns:a16="http://schemas.microsoft.com/office/drawing/2014/main" id="{7FB4F26B-0693-49A9-5726-B2E8349E4CB9}"/>
              </a:ext>
            </a:extLst>
          </p:cNvPr>
          <p:cNvSpPr txBox="1"/>
          <p:nvPr/>
        </p:nvSpPr>
        <p:spPr>
          <a:xfrm>
            <a:off x="744953" y="4803235"/>
            <a:ext cx="198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Функциональные тестировщики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9" name="TextBox 86">
            <a:extLst>
              <a:ext uri="{FF2B5EF4-FFF2-40B4-BE49-F238E27FC236}">
                <a16:creationId xmlns:a16="http://schemas.microsoft.com/office/drawing/2014/main" id="{89D4FB5D-E9E8-DF57-AE4D-32BD9168D12B}"/>
              </a:ext>
            </a:extLst>
          </p:cNvPr>
          <p:cNvSpPr txBox="1"/>
          <p:nvPr/>
        </p:nvSpPr>
        <p:spPr>
          <a:xfrm>
            <a:off x="776957" y="5521636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Тест-аналитики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0" name="TextBox 87">
            <a:extLst>
              <a:ext uri="{FF2B5EF4-FFF2-40B4-BE49-F238E27FC236}">
                <a16:creationId xmlns:a16="http://schemas.microsoft.com/office/drawing/2014/main" id="{CB3F8EAB-34E7-B429-553A-CCAF2C5AB40B}"/>
              </a:ext>
            </a:extLst>
          </p:cNvPr>
          <p:cNvSpPr txBox="1"/>
          <p:nvPr/>
        </p:nvSpPr>
        <p:spPr>
          <a:xfrm>
            <a:off x="2871216" y="4908962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Автоматизаторы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1" name="TextBox 88">
            <a:extLst>
              <a:ext uri="{FF2B5EF4-FFF2-40B4-BE49-F238E27FC236}">
                <a16:creationId xmlns:a16="http://schemas.microsoft.com/office/drawing/2014/main" id="{37080555-E70D-3611-03F9-B0B573CDD63E}"/>
              </a:ext>
            </a:extLst>
          </p:cNvPr>
          <p:cNvSpPr txBox="1"/>
          <p:nvPr/>
        </p:nvSpPr>
        <p:spPr>
          <a:xfrm>
            <a:off x="2884649" y="5426389"/>
            <a:ext cx="198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Аналитики производительности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2" name="TextBox 89">
            <a:extLst>
              <a:ext uri="{FF2B5EF4-FFF2-40B4-BE49-F238E27FC236}">
                <a16:creationId xmlns:a16="http://schemas.microsoft.com/office/drawing/2014/main" id="{252229E1-3D8D-C2B8-F0D8-8D9799FC7B51}"/>
              </a:ext>
            </a:extLst>
          </p:cNvPr>
          <p:cNvSpPr txBox="1"/>
          <p:nvPr/>
        </p:nvSpPr>
        <p:spPr>
          <a:xfrm>
            <a:off x="5045309" y="4923206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Mobile-</a:t>
            </a:r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тестировщики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3" name="TextBox 90">
            <a:extLst>
              <a:ext uri="{FF2B5EF4-FFF2-40B4-BE49-F238E27FC236}">
                <a16:creationId xmlns:a16="http://schemas.microsoft.com/office/drawing/2014/main" id="{DD7FCBFA-6FD6-FA9B-857F-AFEF829378F3}"/>
              </a:ext>
            </a:extLst>
          </p:cNvPr>
          <p:cNvSpPr txBox="1"/>
          <p:nvPr/>
        </p:nvSpPr>
        <p:spPr>
          <a:xfrm>
            <a:off x="5059680" y="5493815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Тест-менеджеры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4" name="TextBox 91">
            <a:extLst>
              <a:ext uri="{FF2B5EF4-FFF2-40B4-BE49-F238E27FC236}">
                <a16:creationId xmlns:a16="http://schemas.microsoft.com/office/drawing/2014/main" id="{D81D9ABA-3379-9D8D-9458-564DBF167D0F}"/>
              </a:ext>
            </a:extLst>
          </p:cNvPr>
          <p:cNvSpPr txBox="1"/>
          <p:nvPr/>
        </p:nvSpPr>
        <p:spPr>
          <a:xfrm>
            <a:off x="7516038" y="4816629"/>
            <a:ext cx="198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Функциональные тестировщики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5" name="TextBox 92">
            <a:extLst>
              <a:ext uri="{FF2B5EF4-FFF2-40B4-BE49-F238E27FC236}">
                <a16:creationId xmlns:a16="http://schemas.microsoft.com/office/drawing/2014/main" id="{84E2F9EC-F2AA-7E24-5C69-01AE4745B2A1}"/>
              </a:ext>
            </a:extLst>
          </p:cNvPr>
          <p:cNvSpPr txBox="1"/>
          <p:nvPr/>
        </p:nvSpPr>
        <p:spPr>
          <a:xfrm>
            <a:off x="7541372" y="5493815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Mobile</a:t>
            </a:r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-тестировщики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6" name="TextBox 93">
            <a:extLst>
              <a:ext uri="{FF2B5EF4-FFF2-40B4-BE49-F238E27FC236}">
                <a16:creationId xmlns:a16="http://schemas.microsoft.com/office/drawing/2014/main" id="{A0713E3C-39A7-6BB4-9294-AADA17AB0D45}"/>
              </a:ext>
            </a:extLst>
          </p:cNvPr>
          <p:cNvSpPr txBox="1"/>
          <p:nvPr/>
        </p:nvSpPr>
        <p:spPr>
          <a:xfrm>
            <a:off x="9714596" y="4886288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Автоматизаторы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7" name="TextBox 94">
            <a:extLst>
              <a:ext uri="{FF2B5EF4-FFF2-40B4-BE49-F238E27FC236}">
                <a16:creationId xmlns:a16="http://schemas.microsoft.com/office/drawing/2014/main" id="{2944BED1-7679-B419-2ADE-ECF1E071A6E1}"/>
              </a:ext>
            </a:extLst>
          </p:cNvPr>
          <p:cNvSpPr txBox="1"/>
          <p:nvPr/>
        </p:nvSpPr>
        <p:spPr>
          <a:xfrm>
            <a:off x="8280712" y="3404802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Специалисты по тестированию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8" name="TextBox 95">
            <a:extLst>
              <a:ext uri="{FF2B5EF4-FFF2-40B4-BE49-F238E27FC236}">
                <a16:creationId xmlns:a16="http://schemas.microsoft.com/office/drawing/2014/main" id="{8C42CAFD-99B4-B1C9-B6CF-A76CB7EC6A88}"/>
              </a:ext>
            </a:extLst>
          </p:cNvPr>
          <p:cNvSpPr txBox="1"/>
          <p:nvPr/>
        </p:nvSpPr>
        <p:spPr>
          <a:xfrm>
            <a:off x="8244139" y="1551431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1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9" name="TextBox 96">
            <a:extLst>
              <a:ext uri="{FF2B5EF4-FFF2-40B4-BE49-F238E27FC236}">
                <a16:creationId xmlns:a16="http://schemas.microsoft.com/office/drawing/2014/main" id="{00477583-817B-46C3-203A-2C28F9A8CC34}"/>
              </a:ext>
            </a:extLst>
          </p:cNvPr>
          <p:cNvSpPr txBox="1"/>
          <p:nvPr/>
        </p:nvSpPr>
        <p:spPr>
          <a:xfrm>
            <a:off x="8232709" y="2187265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2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80" name="TextBox 97">
            <a:extLst>
              <a:ext uri="{FF2B5EF4-FFF2-40B4-BE49-F238E27FC236}">
                <a16:creationId xmlns:a16="http://schemas.microsoft.com/office/drawing/2014/main" id="{BEFF15CA-63ED-618A-31EF-BB36B3B06AF5}"/>
              </a:ext>
            </a:extLst>
          </p:cNvPr>
          <p:cNvSpPr txBox="1"/>
          <p:nvPr/>
        </p:nvSpPr>
        <p:spPr>
          <a:xfrm>
            <a:off x="8232709" y="2773919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</a:t>
            </a:r>
            <a:r>
              <a:rPr lang="en-US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N</a:t>
            </a:r>
          </a:p>
        </p:txBody>
      </p:sp>
      <p:cxnSp>
        <p:nvCxnSpPr>
          <p:cNvPr id="81" name="Straight Arrow Connector 98">
            <a:extLst>
              <a:ext uri="{FF2B5EF4-FFF2-40B4-BE49-F238E27FC236}">
                <a16:creationId xmlns:a16="http://schemas.microsoft.com/office/drawing/2014/main" id="{43F2C92B-772C-A9DD-DAE7-65935C267FCC}"/>
              </a:ext>
            </a:extLst>
          </p:cNvPr>
          <p:cNvCxnSpPr>
            <a:cxnSpLocks/>
          </p:cNvCxnSpPr>
          <p:nvPr/>
        </p:nvCxnSpPr>
        <p:spPr>
          <a:xfrm flipV="1">
            <a:off x="10421795" y="1765272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82" name="Straight Arrow Connector 99">
            <a:extLst>
              <a:ext uri="{FF2B5EF4-FFF2-40B4-BE49-F238E27FC236}">
                <a16:creationId xmlns:a16="http://schemas.microsoft.com/office/drawing/2014/main" id="{44208359-778B-0D90-093F-F13E1FC34E82}"/>
              </a:ext>
            </a:extLst>
          </p:cNvPr>
          <p:cNvCxnSpPr>
            <a:cxnSpLocks/>
          </p:cNvCxnSpPr>
          <p:nvPr/>
        </p:nvCxnSpPr>
        <p:spPr>
          <a:xfrm flipV="1">
            <a:off x="9963217" y="2396934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83" name="Straight Arrow Connector 100">
            <a:extLst>
              <a:ext uri="{FF2B5EF4-FFF2-40B4-BE49-F238E27FC236}">
                <a16:creationId xmlns:a16="http://schemas.microsoft.com/office/drawing/2014/main" id="{BD51101B-2D35-9F18-706B-5ACCC1E3D10C}"/>
              </a:ext>
            </a:extLst>
          </p:cNvPr>
          <p:cNvCxnSpPr>
            <a:cxnSpLocks/>
          </p:cNvCxnSpPr>
          <p:nvPr/>
        </p:nvCxnSpPr>
        <p:spPr>
          <a:xfrm flipV="1">
            <a:off x="10921667" y="1765272"/>
            <a:ext cx="0" cy="1064285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7">
            <a:extLst>
              <a:ext uri="{FF2B5EF4-FFF2-40B4-BE49-F238E27FC236}">
                <a16:creationId xmlns:a16="http://schemas.microsoft.com/office/drawing/2014/main" id="{6386B355-E89B-AF62-CEF7-1CE9E5D60313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Ключевые особенности лабораторий тестирования</a:t>
            </a:r>
            <a:endParaRPr lang="en-US" dirty="0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AC9A33CF-1C66-991C-6A60-9750DB680931}"/>
              </a:ext>
            </a:extLst>
          </p:cNvPr>
          <p:cNvSpPr/>
          <p:nvPr/>
        </p:nvSpPr>
        <p:spPr bwMode="auto">
          <a:xfrm>
            <a:off x="638695" y="1020733"/>
            <a:ext cx="2415401" cy="2408268"/>
          </a:xfrm>
          <a:prstGeom prst="rect">
            <a:avLst/>
          </a:prstGeom>
          <a:noFill/>
          <a:ln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0ACC7846-8C8E-38FD-3506-3B901117EFE7}"/>
              </a:ext>
            </a:extLst>
          </p:cNvPr>
          <p:cNvSpPr/>
          <p:nvPr/>
        </p:nvSpPr>
        <p:spPr bwMode="auto">
          <a:xfrm>
            <a:off x="3259975" y="1020733"/>
            <a:ext cx="2415401" cy="2408267"/>
          </a:xfrm>
          <a:prstGeom prst="rect">
            <a:avLst/>
          </a:prstGeom>
          <a:noFill/>
          <a:ln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423722A2-FFC0-E274-8C37-EA281B1209CB}"/>
              </a:ext>
            </a:extLst>
          </p:cNvPr>
          <p:cNvSpPr/>
          <p:nvPr/>
        </p:nvSpPr>
        <p:spPr bwMode="auto">
          <a:xfrm>
            <a:off x="5881255" y="1020733"/>
            <a:ext cx="2415401" cy="2408267"/>
          </a:xfrm>
          <a:prstGeom prst="rect">
            <a:avLst/>
          </a:prstGeom>
          <a:noFill/>
          <a:ln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69EC0C12-23BE-B367-8A2B-131776B3A975}"/>
              </a:ext>
            </a:extLst>
          </p:cNvPr>
          <p:cNvSpPr/>
          <p:nvPr/>
        </p:nvSpPr>
        <p:spPr bwMode="auto">
          <a:xfrm>
            <a:off x="638695" y="3566027"/>
            <a:ext cx="2415401" cy="2408268"/>
          </a:xfrm>
          <a:prstGeom prst="rect">
            <a:avLst/>
          </a:prstGeom>
          <a:noFill/>
          <a:ln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0F0EDDFB-4BFC-D9EC-4CF8-9C4AE6F4508D}"/>
              </a:ext>
            </a:extLst>
          </p:cNvPr>
          <p:cNvSpPr/>
          <p:nvPr/>
        </p:nvSpPr>
        <p:spPr bwMode="auto">
          <a:xfrm>
            <a:off x="3259975" y="3566027"/>
            <a:ext cx="2415401" cy="2408267"/>
          </a:xfrm>
          <a:prstGeom prst="rect">
            <a:avLst/>
          </a:prstGeom>
          <a:noFill/>
          <a:ln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1D3930EA-7B8B-A0E8-6A4F-BCB95C08184A}"/>
              </a:ext>
            </a:extLst>
          </p:cNvPr>
          <p:cNvSpPr/>
          <p:nvPr/>
        </p:nvSpPr>
        <p:spPr bwMode="auto">
          <a:xfrm>
            <a:off x="5881255" y="3566027"/>
            <a:ext cx="2415401" cy="2408267"/>
          </a:xfrm>
          <a:prstGeom prst="rect">
            <a:avLst/>
          </a:prstGeom>
          <a:noFill/>
          <a:ln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11CC9678-55B5-99DE-B745-808A021930B5}"/>
              </a:ext>
            </a:extLst>
          </p:cNvPr>
          <p:cNvSpPr/>
          <p:nvPr/>
        </p:nvSpPr>
        <p:spPr bwMode="auto">
          <a:xfrm>
            <a:off x="8502535" y="1020734"/>
            <a:ext cx="2415401" cy="2408266"/>
          </a:xfrm>
          <a:prstGeom prst="rect">
            <a:avLst/>
          </a:prstGeom>
          <a:noFill/>
          <a:ln>
            <a:solidFill>
              <a:srgbClr val="7D70E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37F2E55F-69B2-33AF-7CC5-F96D878BE706}"/>
              </a:ext>
            </a:extLst>
          </p:cNvPr>
          <p:cNvSpPr txBox="1"/>
          <p:nvPr/>
        </p:nvSpPr>
        <p:spPr>
          <a:xfrm>
            <a:off x="718254" y="1952840"/>
            <a:ext cx="2256282" cy="1098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Специалисты выделяются не под каждый конкретный проект заказчика, а под группу проектов в рамках направления бизнеса 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AD42926F-E154-401D-1554-6945C05C4CB6}"/>
              </a:ext>
            </a:extLst>
          </p:cNvPr>
          <p:cNvSpPr txBox="1"/>
          <p:nvPr/>
        </p:nvSpPr>
        <p:spPr>
          <a:xfrm>
            <a:off x="3339534" y="1952839"/>
            <a:ext cx="2256282" cy="1098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Специалисты лаборатории перемещаются между проектами заказчика, но остаются «внутри» лаборатории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1F928C8B-CEDA-498A-8966-E8F11754962B}"/>
              </a:ext>
            </a:extLst>
          </p:cNvPr>
          <p:cNvSpPr txBox="1"/>
          <p:nvPr/>
        </p:nvSpPr>
        <p:spPr>
          <a:xfrm>
            <a:off x="5960814" y="2005106"/>
            <a:ext cx="2256282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Накапливается база знаний, подходов и инструментов, специфичных для данного заказчика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799745BA-AC79-FEA0-11B4-CDCCF962616F}"/>
              </a:ext>
            </a:extLst>
          </p:cNvPr>
          <p:cNvSpPr txBox="1"/>
          <p:nvPr/>
        </p:nvSpPr>
        <p:spPr>
          <a:xfrm>
            <a:off x="8582094" y="2005106"/>
            <a:ext cx="2256282" cy="1303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Подключение к проекту происходит максимально быстро за счет ротаций между проектами и резерва людей, входящих в лабораторию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C30D2F13-35BD-E502-28DD-BFDA1ABA73FE}"/>
              </a:ext>
            </a:extLst>
          </p:cNvPr>
          <p:cNvSpPr txBox="1"/>
          <p:nvPr/>
        </p:nvSpPr>
        <p:spPr>
          <a:xfrm>
            <a:off x="718255" y="4327786"/>
            <a:ext cx="2256282" cy="150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4"/>
              </a:lnSpc>
              <a:defRPr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Подготовка новых специалистов по специальным знаниям осуществляется силами сотрудников лаборатории,  позволяет быстро обеспечить масштабируемость команд </a:t>
            </a: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684D5C6E-C964-F537-9629-703E457B793D}"/>
              </a:ext>
            </a:extLst>
          </p:cNvPr>
          <p:cNvSpPr txBox="1"/>
          <p:nvPr/>
        </p:nvSpPr>
        <p:spPr>
          <a:xfrm>
            <a:off x="3339534" y="4331021"/>
            <a:ext cx="2256282" cy="150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В лабораторию могут включаться специалисты заказчика или другого подрядчика. Формируется единая команда тестирования без лишних структурных барьеров</a:t>
            </a: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0774B44C-38DA-CB3D-6942-9FDF54377F81}"/>
              </a:ext>
            </a:extLst>
          </p:cNvPr>
          <p:cNvSpPr txBox="1"/>
          <p:nvPr/>
        </p:nvSpPr>
        <p:spPr>
          <a:xfrm>
            <a:off x="5960814" y="4331021"/>
            <a:ext cx="2335842" cy="150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Масштабность задач и разнообразие проектов позволяют выстраивать долгосрочные планы развития сотрудников, минимизируя ротации за пределы лаборатории</a:t>
            </a: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95444AA1-1809-FE7F-B119-D2B2D611D1D8}"/>
              </a:ext>
            </a:extLst>
          </p:cNvPr>
          <p:cNvSpPr txBox="1"/>
          <p:nvPr/>
        </p:nvSpPr>
        <p:spPr bwMode="auto">
          <a:xfrm>
            <a:off x="718255" y="1194105"/>
            <a:ext cx="2061341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en-US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QA </a:t>
            </a: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ДЛЯ ГРУППЫ ПРОЕКТОВ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3FC492EE-4741-FA7A-2B46-CB0F43E39FE7}"/>
              </a:ext>
            </a:extLst>
          </p:cNvPr>
          <p:cNvSpPr txBox="1"/>
          <p:nvPr/>
        </p:nvSpPr>
        <p:spPr bwMode="auto">
          <a:xfrm>
            <a:off x="3339534" y="1194105"/>
            <a:ext cx="2061341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РОТАЦИИ ВНУТРИ ЛАБОРАТОРИИ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ADD7BA6E-B9E7-CFB2-B520-781A2FF459E7}"/>
              </a:ext>
            </a:extLst>
          </p:cNvPr>
          <p:cNvSpPr txBox="1"/>
          <p:nvPr/>
        </p:nvSpPr>
        <p:spPr bwMode="auto">
          <a:xfrm>
            <a:off x="5960814" y="1194105"/>
            <a:ext cx="2061341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НАКОПЛЕНИЕ ЭКСПЕРТИЗЫ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CAD4F892-4908-A2EA-5732-31F824AFB1DB}"/>
              </a:ext>
            </a:extLst>
          </p:cNvPr>
          <p:cNvSpPr txBox="1"/>
          <p:nvPr/>
        </p:nvSpPr>
        <p:spPr bwMode="auto">
          <a:xfrm>
            <a:off x="8582094" y="1194105"/>
            <a:ext cx="2061341" cy="758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СКОРОСТЬ ПОДКЛЮЧЕНИЯ К ПРОЕКТУ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3B31B9CC-5609-2613-ED7F-35ED77D04720}"/>
              </a:ext>
            </a:extLst>
          </p:cNvPr>
          <p:cNvSpPr txBox="1"/>
          <p:nvPr/>
        </p:nvSpPr>
        <p:spPr bwMode="auto">
          <a:xfrm>
            <a:off x="718255" y="3731372"/>
            <a:ext cx="2256282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БЫСТРАЯ МАСШТАБИРУЕМОСТЬ</a:t>
            </a: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74269D12-8818-9251-A9AD-1381D3D626C0}"/>
              </a:ext>
            </a:extLst>
          </p:cNvPr>
          <p:cNvSpPr txBox="1"/>
          <p:nvPr/>
        </p:nvSpPr>
        <p:spPr bwMode="auto">
          <a:xfrm>
            <a:off x="3339534" y="3731372"/>
            <a:ext cx="1945698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ЕДИНАЯ </a:t>
            </a:r>
            <a:r>
              <a:rPr lang="en-US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QA-</a:t>
            </a: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КОМАНДА</a:t>
            </a:r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09B4C3AC-DCBF-06B2-5C88-E2FD26B1FF6D}"/>
              </a:ext>
            </a:extLst>
          </p:cNvPr>
          <p:cNvSpPr txBox="1"/>
          <p:nvPr/>
        </p:nvSpPr>
        <p:spPr bwMode="auto">
          <a:xfrm>
            <a:off x="5960814" y="3731372"/>
            <a:ext cx="2256282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ДОЛГОСРОЧНОЕ РАЗВИТИЕ</a:t>
            </a: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79586059-CEBF-0D75-3B86-C97DAFEE4577}"/>
              </a:ext>
            </a:extLst>
          </p:cNvPr>
          <p:cNvSpPr/>
          <p:nvPr/>
        </p:nvSpPr>
        <p:spPr bwMode="auto">
          <a:xfrm>
            <a:off x="8502534" y="3547962"/>
            <a:ext cx="2415401" cy="2408267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grpSp>
        <p:nvGrpSpPr>
          <p:cNvPr id="43" name="Группа 317">
            <a:extLst>
              <a:ext uri="{FF2B5EF4-FFF2-40B4-BE49-F238E27FC236}">
                <a16:creationId xmlns:a16="http://schemas.microsoft.com/office/drawing/2014/main" id="{8F5C9213-65D7-9A52-A323-779B68E05B72}"/>
              </a:ext>
            </a:extLst>
          </p:cNvPr>
          <p:cNvGrpSpPr>
            <a:grpSpLocks noChangeAspect="1"/>
          </p:cNvGrpSpPr>
          <p:nvPr/>
        </p:nvGrpSpPr>
        <p:grpSpPr>
          <a:xfrm>
            <a:off x="9264941" y="4232984"/>
            <a:ext cx="890588" cy="928687"/>
            <a:chOff x="6494463" y="4914365"/>
            <a:chExt cx="890588" cy="928687"/>
          </a:xfrm>
          <a:solidFill>
            <a:srgbClr val="FFFFFF"/>
          </a:solidFill>
        </p:grpSpPr>
        <p:sp>
          <p:nvSpPr>
            <p:cNvPr id="44" name="Freeform 53">
              <a:extLst>
                <a:ext uri="{FF2B5EF4-FFF2-40B4-BE49-F238E27FC236}">
                  <a16:creationId xmlns:a16="http://schemas.microsoft.com/office/drawing/2014/main" id="{D4681966-1BC1-C86E-EF78-2092347D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9901" y="5190590"/>
              <a:ext cx="376238" cy="485775"/>
            </a:xfrm>
            <a:custGeom>
              <a:avLst/>
              <a:gdLst>
                <a:gd name="T0" fmla="*/ 21 w 52"/>
                <a:gd name="T1" fmla="*/ 67 h 67"/>
                <a:gd name="T2" fmla="*/ 17 w 52"/>
                <a:gd name="T3" fmla="*/ 65 h 67"/>
                <a:gd name="T4" fmla="*/ 0 w 52"/>
                <a:gd name="T5" fmla="*/ 35 h 67"/>
                <a:gd name="T6" fmla="*/ 7 w 52"/>
                <a:gd name="T7" fmla="*/ 31 h 67"/>
                <a:gd name="T8" fmla="*/ 20 w 52"/>
                <a:gd name="T9" fmla="*/ 54 h 67"/>
                <a:gd name="T10" fmla="*/ 44 w 52"/>
                <a:gd name="T11" fmla="*/ 0 h 67"/>
                <a:gd name="T12" fmla="*/ 52 w 52"/>
                <a:gd name="T13" fmla="*/ 3 h 67"/>
                <a:gd name="T14" fmla="*/ 24 w 52"/>
                <a:gd name="T15" fmla="*/ 64 h 67"/>
                <a:gd name="T16" fmla="*/ 21 w 52"/>
                <a:gd name="T17" fmla="*/ 67 h 67"/>
                <a:gd name="T18" fmla="*/ 21 w 52"/>
                <a:gd name="T19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67">
                  <a:moveTo>
                    <a:pt x="21" y="67"/>
                  </a:moveTo>
                  <a:cubicBezTo>
                    <a:pt x="19" y="67"/>
                    <a:pt x="18" y="66"/>
                    <a:pt x="17" y="6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6"/>
                    <a:pt x="22" y="67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5" name="Freeform 54">
              <a:extLst>
                <a:ext uri="{FF2B5EF4-FFF2-40B4-BE49-F238E27FC236}">
                  <a16:creationId xmlns:a16="http://schemas.microsoft.com/office/drawing/2014/main" id="{4DCA1F5C-FD33-494A-1006-C581494EB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4914365"/>
              <a:ext cx="890588" cy="928687"/>
            </a:xfrm>
            <a:custGeom>
              <a:avLst/>
              <a:gdLst>
                <a:gd name="T0" fmla="*/ 64 w 123"/>
                <a:gd name="T1" fmla="*/ 128 h 128"/>
                <a:gd name="T2" fmla="*/ 59 w 123"/>
                <a:gd name="T3" fmla="*/ 128 h 128"/>
                <a:gd name="T4" fmla="*/ 16 w 123"/>
                <a:gd name="T5" fmla="*/ 106 h 128"/>
                <a:gd name="T6" fmla="*/ 2 w 123"/>
                <a:gd name="T7" fmla="*/ 60 h 128"/>
                <a:gd name="T8" fmla="*/ 69 w 123"/>
                <a:gd name="T9" fmla="*/ 3 h 128"/>
                <a:gd name="T10" fmla="*/ 122 w 123"/>
                <a:gd name="T11" fmla="*/ 43 h 128"/>
                <a:gd name="T12" fmla="*/ 119 w 123"/>
                <a:gd name="T13" fmla="*/ 44 h 128"/>
                <a:gd name="T14" fmla="*/ 69 w 123"/>
                <a:gd name="T15" fmla="*/ 7 h 128"/>
                <a:gd name="T16" fmla="*/ 6 w 123"/>
                <a:gd name="T17" fmla="*/ 61 h 128"/>
                <a:gd name="T18" fmla="*/ 19 w 123"/>
                <a:gd name="T19" fmla="*/ 103 h 128"/>
                <a:gd name="T20" fmla="*/ 59 w 123"/>
                <a:gd name="T21" fmla="*/ 124 h 128"/>
                <a:gd name="T22" fmla="*/ 119 w 123"/>
                <a:gd name="T23" fmla="*/ 86 h 128"/>
                <a:gd name="T24" fmla="*/ 123 w 123"/>
                <a:gd name="T25" fmla="*/ 87 h 128"/>
                <a:gd name="T26" fmla="*/ 64 w 123"/>
                <a:gd name="T2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3" h="128">
                  <a:moveTo>
                    <a:pt x="64" y="128"/>
                  </a:moveTo>
                  <a:cubicBezTo>
                    <a:pt x="62" y="128"/>
                    <a:pt x="61" y="128"/>
                    <a:pt x="59" y="128"/>
                  </a:cubicBezTo>
                  <a:cubicBezTo>
                    <a:pt x="42" y="127"/>
                    <a:pt x="27" y="119"/>
                    <a:pt x="16" y="106"/>
                  </a:cubicBezTo>
                  <a:cubicBezTo>
                    <a:pt x="5" y="93"/>
                    <a:pt x="0" y="77"/>
                    <a:pt x="2" y="60"/>
                  </a:cubicBezTo>
                  <a:cubicBezTo>
                    <a:pt x="5" y="26"/>
                    <a:pt x="35" y="0"/>
                    <a:pt x="69" y="3"/>
                  </a:cubicBezTo>
                  <a:cubicBezTo>
                    <a:pt x="93" y="5"/>
                    <a:pt x="113" y="20"/>
                    <a:pt x="122" y="43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0" y="23"/>
                    <a:pt x="91" y="9"/>
                    <a:pt x="69" y="7"/>
                  </a:cubicBezTo>
                  <a:cubicBezTo>
                    <a:pt x="37" y="4"/>
                    <a:pt x="8" y="29"/>
                    <a:pt x="6" y="61"/>
                  </a:cubicBezTo>
                  <a:cubicBezTo>
                    <a:pt x="4" y="76"/>
                    <a:pt x="9" y="92"/>
                    <a:pt x="19" y="103"/>
                  </a:cubicBezTo>
                  <a:cubicBezTo>
                    <a:pt x="29" y="115"/>
                    <a:pt x="44" y="123"/>
                    <a:pt x="59" y="124"/>
                  </a:cubicBezTo>
                  <a:cubicBezTo>
                    <a:pt x="85" y="126"/>
                    <a:pt x="110" y="110"/>
                    <a:pt x="119" y="86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14" y="112"/>
                    <a:pt x="90" y="128"/>
                    <a:pt x="64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6" name="Rectangle 55">
              <a:extLst>
                <a:ext uri="{FF2B5EF4-FFF2-40B4-BE49-F238E27FC236}">
                  <a16:creationId xmlns:a16="http://schemas.microsoft.com/office/drawing/2014/main" id="{8E9816A1-8383-28FC-65B9-49B8F47A8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588" y="5255678"/>
              <a:ext cx="109538" cy="107950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Тестирование </a:t>
            </a:r>
          </a:p>
          <a:p>
            <a:r>
              <a:rPr lang="ru-RU"/>
              <a:t>как сервис (TaaS)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EE3FF858-FC22-4D14-87F6-62566E15B549}"/>
              </a:ext>
            </a:extLst>
          </p:cNvPr>
          <p:cNvSpPr/>
          <p:nvPr/>
        </p:nvSpPr>
        <p:spPr bwMode="auto">
          <a:xfrm>
            <a:off x="578068" y="3235736"/>
            <a:ext cx="2755767" cy="1251993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F07F2BE0-FA85-4E21-BDB0-0AB38D508019}"/>
              </a:ext>
            </a:extLst>
          </p:cNvPr>
          <p:cNvSpPr/>
          <p:nvPr/>
        </p:nvSpPr>
        <p:spPr bwMode="auto">
          <a:xfrm>
            <a:off x="3479019" y="3235736"/>
            <a:ext cx="3063992" cy="1251993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D3BA55B6-D3AD-4F5E-A3FA-A5297444BACF}"/>
              </a:ext>
            </a:extLst>
          </p:cNvPr>
          <p:cNvSpPr/>
          <p:nvPr/>
        </p:nvSpPr>
        <p:spPr bwMode="auto">
          <a:xfrm>
            <a:off x="578069" y="4660895"/>
            <a:ext cx="2751276" cy="1251993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9ADA60E6-4293-4648-B8B8-E5C9127F9A25}"/>
              </a:ext>
            </a:extLst>
          </p:cNvPr>
          <p:cNvSpPr/>
          <p:nvPr/>
        </p:nvSpPr>
        <p:spPr bwMode="auto">
          <a:xfrm>
            <a:off x="3479019" y="4660895"/>
            <a:ext cx="3063991" cy="1251993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как сервис (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TaaS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25" name="Rectangle: Rounded Corners 9">
            <a:extLst>
              <a:ext uri="{FF2B5EF4-FFF2-40B4-BE49-F238E27FC236}">
                <a16:creationId xmlns:a16="http://schemas.microsoft.com/office/drawing/2014/main" id="{AA61F46C-2541-46B4-9721-8B3E3C88849F}"/>
              </a:ext>
            </a:extLst>
          </p:cNvPr>
          <p:cNvSpPr/>
          <p:nvPr/>
        </p:nvSpPr>
        <p:spPr>
          <a:xfrm>
            <a:off x="578069" y="1168751"/>
            <a:ext cx="11103453" cy="1431530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691E1028-F78E-47A9-81C9-EDF76CEFA14E}"/>
              </a:ext>
            </a:extLst>
          </p:cNvPr>
          <p:cNvSpPr txBox="1"/>
          <p:nvPr/>
        </p:nvSpPr>
        <p:spPr>
          <a:xfrm>
            <a:off x="526330" y="860841"/>
            <a:ext cx="38669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Когда услуги по модели </a:t>
            </a:r>
            <a:r>
              <a:rPr lang="en-US" sz="1050" b="0" spc="30" dirty="0" err="1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TaaS</a:t>
            </a:r>
            <a:r>
              <a:rPr lang="en-US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будут полезны?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6FDE138-EB5D-4C3F-81BC-723A5CC23716}"/>
              </a:ext>
            </a:extLst>
          </p:cNvPr>
          <p:cNvSpPr/>
          <p:nvPr/>
        </p:nvSpPr>
        <p:spPr>
          <a:xfrm>
            <a:off x="797942" y="1402737"/>
            <a:ext cx="1827365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274"/>
              </a:lnSpc>
              <a:spcBef>
                <a:spcPts val="980"/>
              </a:spcBef>
              <a:buClr>
                <a:srgbClr val="7D70EF"/>
              </a:buClr>
            </a:pP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выполнение </a:t>
            </a:r>
            <a:r>
              <a:rPr lang="ru-RU" sz="9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быстрых</a:t>
            </a: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разовых тестов или </a:t>
            </a:r>
            <a:r>
              <a:rPr lang="ru-RU" sz="9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специальных</a:t>
            </a: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тестов, выходящих за рамки обычной работы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D3E19C69-8132-4A0C-9FBD-521ECFE194C6}"/>
              </a:ext>
            </a:extLst>
          </p:cNvPr>
          <p:cNvSpPr/>
          <p:nvPr/>
        </p:nvSpPr>
        <p:spPr>
          <a:xfrm>
            <a:off x="2806212" y="1402737"/>
            <a:ext cx="1827365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48"/>
              </a:lnSpc>
              <a:spcBef>
                <a:spcPts val="960"/>
              </a:spcBef>
              <a:buClr>
                <a:srgbClr val="7D70EF"/>
              </a:buClr>
            </a:pP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Существует потребность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lang="ru-RU" sz="9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беспристрастных тестировщиках</a:t>
            </a: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 ограниченными знаниями в предметной области</a:t>
            </a: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ED5A914A-483B-4C44-B73F-EB90DCCEE1E1}"/>
              </a:ext>
            </a:extLst>
          </p:cNvPr>
          <p:cNvSpPr/>
          <p:nvPr/>
        </p:nvSpPr>
        <p:spPr>
          <a:xfrm>
            <a:off x="4749503" y="1402737"/>
            <a:ext cx="1647521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Отсутствие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квалифицированного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персонала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или ресурсов, необходимых для тестирования</a:t>
            </a:r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1E9DE71B-F90F-4930-AF37-675805829CAE}"/>
              </a:ext>
            </a:extLst>
          </p:cNvPr>
          <p:cNvSpPr/>
          <p:nvPr/>
        </p:nvSpPr>
        <p:spPr>
          <a:xfrm>
            <a:off x="6584070" y="1402737"/>
            <a:ext cx="1647520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48"/>
              </a:lnSpc>
              <a:spcBef>
                <a:spcPts val="960"/>
              </a:spcBef>
              <a:buClr>
                <a:srgbClr val="7D70EF"/>
              </a:buClr>
            </a:pP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Существует необходимость краткосрочного </a:t>
            </a:r>
            <a:r>
              <a:rPr lang="ru-RU" sz="9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усиления </a:t>
            </a: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текущей команды тестирования</a:t>
            </a:r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248A4971-A993-408C-B323-26C3069A0C04}"/>
              </a:ext>
            </a:extLst>
          </p:cNvPr>
          <p:cNvSpPr/>
          <p:nvPr/>
        </p:nvSpPr>
        <p:spPr>
          <a:xfrm>
            <a:off x="8325113" y="1402737"/>
            <a:ext cx="1712132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Тесты включают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повторяющиеся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простые задачи, которые отнимают время у команды</a:t>
            </a: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B4834D56-401F-4BBD-A511-44AB8F86B78C}"/>
              </a:ext>
            </a:extLst>
          </p:cNvPr>
          <p:cNvSpPr/>
          <p:nvPr/>
        </p:nvSpPr>
        <p:spPr>
          <a:xfrm>
            <a:off x="9963217" y="1402737"/>
            <a:ext cx="1550754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Существует необходимость избегать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накладных расходов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инфраструктуру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05C1DE39-FE12-4FAF-8B9E-91233EFC7D1C}"/>
              </a:ext>
            </a:extLst>
          </p:cNvPr>
          <p:cNvSpPr txBox="1"/>
          <p:nvPr/>
        </p:nvSpPr>
        <p:spPr>
          <a:xfrm>
            <a:off x="526330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A28F4FBB-FE2A-4C39-BADC-C3F85C5CAC30}"/>
              </a:ext>
            </a:extLst>
          </p:cNvPr>
          <p:cNvSpPr txBox="1"/>
          <p:nvPr/>
        </p:nvSpPr>
        <p:spPr>
          <a:xfrm>
            <a:off x="7510207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grpSp>
        <p:nvGrpSpPr>
          <p:cNvPr id="35" name="Группа 101">
            <a:extLst>
              <a:ext uri="{FF2B5EF4-FFF2-40B4-BE49-F238E27FC236}">
                <a16:creationId xmlns:a16="http://schemas.microsoft.com/office/drawing/2014/main" id="{6CECF41F-1313-4A63-82DD-A3670BE44710}"/>
              </a:ext>
            </a:extLst>
          </p:cNvPr>
          <p:cNvGrpSpPr>
            <a:grpSpLocks noChangeAspect="1"/>
          </p:cNvGrpSpPr>
          <p:nvPr/>
        </p:nvGrpSpPr>
        <p:grpSpPr>
          <a:xfrm>
            <a:off x="682049" y="1463889"/>
            <a:ext cx="86027" cy="173846"/>
            <a:chOff x="709299" y="904822"/>
            <a:chExt cx="432256" cy="873515"/>
          </a:xfrm>
        </p:grpSpPr>
        <p:sp>
          <p:nvSpPr>
            <p:cNvPr id="36" name="Полилиния: фигура 499">
              <a:extLst>
                <a:ext uri="{FF2B5EF4-FFF2-40B4-BE49-F238E27FC236}">
                  <a16:creationId xmlns:a16="http://schemas.microsoft.com/office/drawing/2014/main" id="{956AAB12-21DC-40D8-8C3A-27B1B2DBF72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7" name="Рисунок 476">
              <a:extLst>
                <a:ext uri="{FF2B5EF4-FFF2-40B4-BE49-F238E27FC236}">
                  <a16:creationId xmlns:a16="http://schemas.microsoft.com/office/drawing/2014/main" id="{3E6596F2-ABF9-438D-8BCF-3541C5033F7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FFFFFF"/>
            </a:solidFill>
          </p:grpSpPr>
          <p:sp>
            <p:nvSpPr>
              <p:cNvPr id="38" name="Полилиния: фигура 501">
                <a:extLst>
                  <a:ext uri="{FF2B5EF4-FFF2-40B4-BE49-F238E27FC236}">
                    <a16:creationId xmlns:a16="http://schemas.microsoft.com/office/drawing/2014/main" id="{365BC67F-068F-4FD0-B1DE-1085F346E29D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: фигура 502">
                <a:extLst>
                  <a:ext uri="{FF2B5EF4-FFF2-40B4-BE49-F238E27FC236}">
                    <a16:creationId xmlns:a16="http://schemas.microsoft.com/office/drawing/2014/main" id="{AC279EF5-6C88-406A-A860-4897CC8C8C38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40" name="Группа 102">
            <a:extLst>
              <a:ext uri="{FF2B5EF4-FFF2-40B4-BE49-F238E27FC236}">
                <a16:creationId xmlns:a16="http://schemas.microsoft.com/office/drawing/2014/main" id="{5C748D65-237D-451D-9DCE-14786B18F9A6}"/>
              </a:ext>
            </a:extLst>
          </p:cNvPr>
          <p:cNvGrpSpPr>
            <a:grpSpLocks noChangeAspect="1"/>
          </p:cNvGrpSpPr>
          <p:nvPr/>
        </p:nvGrpSpPr>
        <p:grpSpPr>
          <a:xfrm>
            <a:off x="2661693" y="1483842"/>
            <a:ext cx="139209" cy="162814"/>
            <a:chOff x="1571161" y="904822"/>
            <a:chExt cx="749659" cy="876775"/>
          </a:xfrm>
        </p:grpSpPr>
        <p:sp>
          <p:nvSpPr>
            <p:cNvPr id="41" name="Полилиния: фигура 504">
              <a:extLst>
                <a:ext uri="{FF2B5EF4-FFF2-40B4-BE49-F238E27FC236}">
                  <a16:creationId xmlns:a16="http://schemas.microsoft.com/office/drawing/2014/main" id="{4FE19686-9773-409E-8AB6-3093C56F17B9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grpSp>
          <p:nvGrpSpPr>
            <p:cNvPr id="42" name="Рисунок 481">
              <a:extLst>
                <a:ext uri="{FF2B5EF4-FFF2-40B4-BE49-F238E27FC236}">
                  <a16:creationId xmlns:a16="http://schemas.microsoft.com/office/drawing/2014/main" id="{05B0D46F-FA28-4C14-8F6D-D2B93D7C4902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FFFFFF"/>
            </a:solidFill>
          </p:grpSpPr>
          <p:sp>
            <p:nvSpPr>
              <p:cNvPr id="43" name="Полилиния: фигура 506">
                <a:extLst>
                  <a:ext uri="{FF2B5EF4-FFF2-40B4-BE49-F238E27FC236}">
                    <a16:creationId xmlns:a16="http://schemas.microsoft.com/office/drawing/2014/main" id="{1F7602AC-6700-4F76-B3D9-13CC4DF1BE3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: фигура 507">
                <a:extLst>
                  <a:ext uri="{FF2B5EF4-FFF2-40B4-BE49-F238E27FC236}">
                    <a16:creationId xmlns:a16="http://schemas.microsoft.com/office/drawing/2014/main" id="{104081EC-A3EC-4BAF-8F7E-9143ACC3C6A1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45" name="Группа 103">
            <a:extLst>
              <a:ext uri="{FF2B5EF4-FFF2-40B4-BE49-F238E27FC236}">
                <a16:creationId xmlns:a16="http://schemas.microsoft.com/office/drawing/2014/main" id="{3D558282-4351-4FAD-979B-4E39F5B3CA77}"/>
              </a:ext>
            </a:extLst>
          </p:cNvPr>
          <p:cNvGrpSpPr>
            <a:grpSpLocks noChangeAspect="1"/>
          </p:cNvGrpSpPr>
          <p:nvPr/>
        </p:nvGrpSpPr>
        <p:grpSpPr>
          <a:xfrm>
            <a:off x="4610633" y="1476262"/>
            <a:ext cx="129837" cy="176477"/>
            <a:chOff x="2784188" y="876468"/>
            <a:chExt cx="671434" cy="912628"/>
          </a:xfrm>
        </p:grpSpPr>
        <p:sp>
          <p:nvSpPr>
            <p:cNvPr id="46" name="Полилиния: фигура 509">
              <a:extLst>
                <a:ext uri="{FF2B5EF4-FFF2-40B4-BE49-F238E27FC236}">
                  <a16:creationId xmlns:a16="http://schemas.microsoft.com/office/drawing/2014/main" id="{88E9B49E-AF44-43DF-AEA4-E9B502B5EE76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: фигура 510">
              <a:extLst>
                <a:ext uri="{FF2B5EF4-FFF2-40B4-BE49-F238E27FC236}">
                  <a16:creationId xmlns:a16="http://schemas.microsoft.com/office/drawing/2014/main" id="{ABD168FC-5197-4A43-B706-A435F4D93023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FFFFFF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8" name="Группа 104">
            <a:extLst>
              <a:ext uri="{FF2B5EF4-FFF2-40B4-BE49-F238E27FC236}">
                <a16:creationId xmlns:a16="http://schemas.microsoft.com/office/drawing/2014/main" id="{F1F244A8-80CD-4393-ABB3-B65C2CB0D6D8}"/>
              </a:ext>
            </a:extLst>
          </p:cNvPr>
          <p:cNvGrpSpPr>
            <a:grpSpLocks noChangeAspect="1"/>
          </p:cNvGrpSpPr>
          <p:nvPr/>
        </p:nvGrpSpPr>
        <p:grpSpPr>
          <a:xfrm>
            <a:off x="6424814" y="1487607"/>
            <a:ext cx="154417" cy="165132"/>
            <a:chOff x="3862546" y="921118"/>
            <a:chExt cx="798550" cy="853959"/>
          </a:xfrm>
        </p:grpSpPr>
        <p:sp>
          <p:nvSpPr>
            <p:cNvPr id="49" name="Полилиния: фигура 76">
              <a:extLst>
                <a:ext uri="{FF2B5EF4-FFF2-40B4-BE49-F238E27FC236}">
                  <a16:creationId xmlns:a16="http://schemas.microsoft.com/office/drawing/2014/main" id="{47F20D21-0E6E-4F4D-8673-D2CCCACF81EC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0" name="Рисунок 485">
              <a:extLst>
                <a:ext uri="{FF2B5EF4-FFF2-40B4-BE49-F238E27FC236}">
                  <a16:creationId xmlns:a16="http://schemas.microsoft.com/office/drawing/2014/main" id="{7A33BBBB-7DD6-4360-9B8F-642EF253B4EB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FFFFFF"/>
            </a:solidFill>
          </p:grpSpPr>
          <p:sp>
            <p:nvSpPr>
              <p:cNvPr id="51" name="Полилиния: фигура 78">
                <a:extLst>
                  <a:ext uri="{FF2B5EF4-FFF2-40B4-BE49-F238E27FC236}">
                    <a16:creationId xmlns:a16="http://schemas.microsoft.com/office/drawing/2014/main" id="{4C152417-AE4B-4863-B2E5-CE28F3230F30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52" name="Полилиния: фигура 79">
                <a:extLst>
                  <a:ext uri="{FF2B5EF4-FFF2-40B4-BE49-F238E27FC236}">
                    <a16:creationId xmlns:a16="http://schemas.microsoft.com/office/drawing/2014/main" id="{899A5550-6CB8-4DBB-B8BA-6B4D5BD3F590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53" name="Группа 105">
            <a:extLst>
              <a:ext uri="{FF2B5EF4-FFF2-40B4-BE49-F238E27FC236}">
                <a16:creationId xmlns:a16="http://schemas.microsoft.com/office/drawing/2014/main" id="{928B1318-06D2-4483-BBFC-CCFCECB00231}"/>
              </a:ext>
            </a:extLst>
          </p:cNvPr>
          <p:cNvGrpSpPr>
            <a:grpSpLocks noChangeAspect="1"/>
          </p:cNvGrpSpPr>
          <p:nvPr/>
        </p:nvGrpSpPr>
        <p:grpSpPr>
          <a:xfrm>
            <a:off x="8180748" y="1492094"/>
            <a:ext cx="134248" cy="170805"/>
            <a:chOff x="5133962" y="904822"/>
            <a:chExt cx="694248" cy="883294"/>
          </a:xfrm>
        </p:grpSpPr>
        <p:sp>
          <p:nvSpPr>
            <p:cNvPr id="54" name="Полилиния: фигура 81">
              <a:extLst>
                <a:ext uri="{FF2B5EF4-FFF2-40B4-BE49-F238E27FC236}">
                  <a16:creationId xmlns:a16="http://schemas.microsoft.com/office/drawing/2014/main" id="{5E68F1FF-FA5C-4D56-B09C-289349C0E56F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: фигура 82">
              <a:extLst>
                <a:ext uri="{FF2B5EF4-FFF2-40B4-BE49-F238E27FC236}">
                  <a16:creationId xmlns:a16="http://schemas.microsoft.com/office/drawing/2014/main" id="{20F1460B-0608-415A-B00E-39A037B0A7AC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solidFill>
              <a:srgbClr val="FFFFFF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: фигура 83">
              <a:extLst>
                <a:ext uri="{FF2B5EF4-FFF2-40B4-BE49-F238E27FC236}">
                  <a16:creationId xmlns:a16="http://schemas.microsoft.com/office/drawing/2014/main" id="{782A63AB-487D-474C-9216-F819674C17BF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7" name="Группа 106">
            <a:extLst>
              <a:ext uri="{FF2B5EF4-FFF2-40B4-BE49-F238E27FC236}">
                <a16:creationId xmlns:a16="http://schemas.microsoft.com/office/drawing/2014/main" id="{C9E5EB26-121C-4A9B-87EF-6059BD1CFCB5}"/>
              </a:ext>
            </a:extLst>
          </p:cNvPr>
          <p:cNvGrpSpPr>
            <a:grpSpLocks noChangeAspect="1"/>
          </p:cNvGrpSpPr>
          <p:nvPr/>
        </p:nvGrpSpPr>
        <p:grpSpPr>
          <a:xfrm>
            <a:off x="9833107" y="1496581"/>
            <a:ext cx="135510" cy="168914"/>
            <a:chOff x="6275002" y="904822"/>
            <a:chExt cx="700768" cy="873515"/>
          </a:xfrm>
        </p:grpSpPr>
        <p:sp>
          <p:nvSpPr>
            <p:cNvPr id="58" name="Полилиния: фигура 85">
              <a:extLst>
                <a:ext uri="{FF2B5EF4-FFF2-40B4-BE49-F238E27FC236}">
                  <a16:creationId xmlns:a16="http://schemas.microsoft.com/office/drawing/2014/main" id="{A1A5DD3B-6306-4189-BC11-3AE07B9A17DC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solidFill>
              <a:srgbClr val="000000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: фигура 86">
              <a:extLst>
                <a:ext uri="{FF2B5EF4-FFF2-40B4-BE49-F238E27FC236}">
                  <a16:creationId xmlns:a16="http://schemas.microsoft.com/office/drawing/2014/main" id="{B2ABDDFA-770B-4E68-8B34-AD68288B38F7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FFFFFF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0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884033" y="3620074"/>
            <a:ext cx="413412" cy="187038"/>
            <a:chOff x="10329863" y="3142398"/>
            <a:chExt cx="817563" cy="369887"/>
          </a:xfrm>
        </p:grpSpPr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4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884033" y="4410666"/>
            <a:ext cx="413412" cy="187038"/>
            <a:chOff x="10329863" y="3142398"/>
            <a:chExt cx="817563" cy="369887"/>
          </a:xfrm>
        </p:grpSpPr>
        <p:sp>
          <p:nvSpPr>
            <p:cNvPr id="65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8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884033" y="5268225"/>
            <a:ext cx="413412" cy="187038"/>
            <a:chOff x="10329863" y="3142398"/>
            <a:chExt cx="817563" cy="369887"/>
          </a:xfrm>
        </p:grpSpPr>
        <p:sp>
          <p:nvSpPr>
            <p:cNvPr id="69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01AA94D3-8148-45A9-B7B4-F5212B4161DC}"/>
              </a:ext>
            </a:extLst>
          </p:cNvPr>
          <p:cNvSpPr txBox="1">
            <a:spLocks/>
          </p:cNvSpPr>
          <p:nvPr/>
        </p:nvSpPr>
        <p:spPr>
          <a:xfrm>
            <a:off x="8425793" y="3233584"/>
            <a:ext cx="3496935" cy="26504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D70EF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Гибкий ресурсный план</a:t>
            </a:r>
            <a:br>
              <a:rPr lang="ru-RU" sz="1000" b="0" dirty="0">
                <a:latin typeface="Stapel Medium"/>
                <a:ea typeface="Stapel Medium"/>
                <a:cs typeface="Stapel Medium"/>
              </a:rPr>
            </a:br>
            <a:endParaRPr lang="en-US" sz="1000" dirty="0"/>
          </a:p>
        </p:txBody>
      </p:sp>
      <p:sp>
        <p:nvSpPr>
          <p:cNvPr id="73" name="Rectangle 64">
            <a:extLst>
              <a:ext uri="{FF2B5EF4-FFF2-40B4-BE49-F238E27FC236}">
                <a16:creationId xmlns:a16="http://schemas.microsoft.com/office/drawing/2014/main" id="{25149BAC-C3F1-4275-80EE-3E6C3592D122}"/>
              </a:ext>
            </a:extLst>
          </p:cNvPr>
          <p:cNvSpPr/>
          <p:nvPr/>
        </p:nvSpPr>
        <p:spPr>
          <a:xfrm>
            <a:off x="8425793" y="5448370"/>
            <a:ext cx="3048000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Экономия времени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4" name="Rectangle 65">
            <a:extLst>
              <a:ext uri="{FF2B5EF4-FFF2-40B4-BE49-F238E27FC236}">
                <a16:creationId xmlns:a16="http://schemas.microsoft.com/office/drawing/2014/main" id="{31F511CE-E979-41CC-99F6-0A71C8357122}"/>
              </a:ext>
            </a:extLst>
          </p:cNvPr>
          <p:cNvSpPr/>
          <p:nvPr/>
        </p:nvSpPr>
        <p:spPr>
          <a:xfrm>
            <a:off x="8425793" y="3986535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Масштабируемость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5" name="Rectangle 66">
            <a:extLst>
              <a:ext uri="{FF2B5EF4-FFF2-40B4-BE49-F238E27FC236}">
                <a16:creationId xmlns:a16="http://schemas.microsoft.com/office/drawing/2014/main" id="{4A23773E-18BF-4748-878B-56EAF005CC47}"/>
              </a:ext>
            </a:extLst>
          </p:cNvPr>
          <p:cNvSpPr/>
          <p:nvPr/>
        </p:nvSpPr>
        <p:spPr>
          <a:xfrm>
            <a:off x="8425793" y="4832260"/>
            <a:ext cx="3358040" cy="455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Отсутствие переплат команде</a:t>
            </a:r>
            <a:b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Оплата только за то, что использовали</a:t>
            </a:r>
          </a:p>
        </p:txBody>
      </p:sp>
      <p:grpSp>
        <p:nvGrpSpPr>
          <p:cNvPr id="76" name="Группа 114">
            <a:extLst>
              <a:ext uri="{FF2B5EF4-FFF2-40B4-BE49-F238E27FC236}">
                <a16:creationId xmlns:a16="http://schemas.microsoft.com/office/drawing/2014/main" id="{E39B86A9-1E2D-4D0E-9E80-AEC010EBDF48}"/>
              </a:ext>
            </a:extLst>
          </p:cNvPr>
          <p:cNvGrpSpPr>
            <a:grpSpLocks noChangeAspect="1"/>
          </p:cNvGrpSpPr>
          <p:nvPr/>
        </p:nvGrpSpPr>
        <p:grpSpPr>
          <a:xfrm>
            <a:off x="7701614" y="3329868"/>
            <a:ext cx="482494" cy="327064"/>
            <a:chOff x="6496050" y="897859"/>
            <a:chExt cx="1039813" cy="704850"/>
          </a:xfrm>
        </p:grpSpPr>
        <p:sp>
          <p:nvSpPr>
            <p:cNvPr id="77" name="Freeform 41">
              <a:extLst>
                <a:ext uri="{FF2B5EF4-FFF2-40B4-BE49-F238E27FC236}">
                  <a16:creationId xmlns:a16="http://schemas.microsoft.com/office/drawing/2014/main" id="{BD836001-0F6F-4568-8D6C-5543041B6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888" y="1323309"/>
              <a:ext cx="85725" cy="279400"/>
            </a:xfrm>
            <a:custGeom>
              <a:avLst/>
              <a:gdLst>
                <a:gd name="T0" fmla="*/ 54 w 54"/>
                <a:gd name="T1" fmla="*/ 176 h 176"/>
                <a:gd name="T2" fmla="*/ 0 w 54"/>
                <a:gd name="T3" fmla="*/ 176 h 176"/>
                <a:gd name="T4" fmla="*/ 13 w 54"/>
                <a:gd name="T5" fmla="*/ 0 h 176"/>
                <a:gd name="T6" fmla="*/ 41 w 54"/>
                <a:gd name="T7" fmla="*/ 0 h 176"/>
                <a:gd name="T8" fmla="*/ 54 w 54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176">
                  <a:moveTo>
                    <a:pt x="54" y="176"/>
                  </a:moveTo>
                  <a:lnTo>
                    <a:pt x="0" y="176"/>
                  </a:lnTo>
                  <a:lnTo>
                    <a:pt x="13" y="0"/>
                  </a:lnTo>
                  <a:lnTo>
                    <a:pt x="41" y="0"/>
                  </a:lnTo>
                  <a:lnTo>
                    <a:pt x="54" y="176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Rectangle 42">
              <a:extLst>
                <a:ext uri="{FF2B5EF4-FFF2-40B4-BE49-F238E27FC236}">
                  <a16:creationId xmlns:a16="http://schemas.microsoft.com/office/drawing/2014/main" id="{E88049BD-F5F7-43B9-B920-B2FD33D90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6125" y="1543971"/>
              <a:ext cx="57150" cy="58738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9" name="Rectangle 43">
              <a:extLst>
                <a:ext uri="{FF2B5EF4-FFF2-40B4-BE49-F238E27FC236}">
                  <a16:creationId xmlns:a16="http://schemas.microsoft.com/office/drawing/2014/main" id="{F580C2F3-81B8-4511-952E-4B4D2A709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788" y="1543971"/>
              <a:ext cx="65088" cy="58738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0" name="Freeform 44">
              <a:extLst>
                <a:ext uri="{FF2B5EF4-FFF2-40B4-BE49-F238E27FC236}">
                  <a16:creationId xmlns:a16="http://schemas.microsoft.com/office/drawing/2014/main" id="{B7AD10AD-59D9-45CC-A786-D46C4D76DF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80225" y="985171"/>
              <a:ext cx="273050" cy="287338"/>
            </a:xfrm>
            <a:custGeom>
              <a:avLst/>
              <a:gdLst>
                <a:gd name="T0" fmla="*/ 19 w 38"/>
                <a:gd name="T1" fmla="*/ 39 h 39"/>
                <a:gd name="T2" fmla="*/ 0 w 38"/>
                <a:gd name="T3" fmla="*/ 19 h 39"/>
                <a:gd name="T4" fmla="*/ 19 w 38"/>
                <a:gd name="T5" fmla="*/ 0 h 39"/>
                <a:gd name="T6" fmla="*/ 38 w 38"/>
                <a:gd name="T7" fmla="*/ 19 h 39"/>
                <a:gd name="T8" fmla="*/ 19 w 38"/>
                <a:gd name="T9" fmla="*/ 39 h 39"/>
                <a:gd name="T10" fmla="*/ 19 w 38"/>
                <a:gd name="T11" fmla="*/ 4 h 39"/>
                <a:gd name="T12" fmla="*/ 4 w 38"/>
                <a:gd name="T13" fmla="*/ 19 h 39"/>
                <a:gd name="T14" fmla="*/ 19 w 38"/>
                <a:gd name="T15" fmla="*/ 35 h 39"/>
                <a:gd name="T16" fmla="*/ 34 w 38"/>
                <a:gd name="T17" fmla="*/ 19 h 39"/>
                <a:gd name="T18" fmla="*/ 19 w 38"/>
                <a:gd name="T19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9">
                  <a:moveTo>
                    <a:pt x="19" y="39"/>
                  </a:moveTo>
                  <a:cubicBezTo>
                    <a:pt x="8" y="39"/>
                    <a:pt x="0" y="30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cubicBezTo>
                    <a:pt x="38" y="30"/>
                    <a:pt x="29" y="39"/>
                    <a:pt x="19" y="39"/>
                  </a:cubicBezTo>
                  <a:close/>
                  <a:moveTo>
                    <a:pt x="19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19" y="35"/>
                  </a:cubicBezTo>
                  <a:cubicBezTo>
                    <a:pt x="27" y="35"/>
                    <a:pt x="34" y="28"/>
                    <a:pt x="34" y="19"/>
                  </a:cubicBezTo>
                  <a:cubicBezTo>
                    <a:pt x="34" y="11"/>
                    <a:pt x="27" y="4"/>
                    <a:pt x="19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" name="Freeform 45">
              <a:extLst>
                <a:ext uri="{FF2B5EF4-FFF2-40B4-BE49-F238E27FC236}">
                  <a16:creationId xmlns:a16="http://schemas.microsoft.com/office/drawing/2014/main" id="{727465D6-06D5-4AAB-BCBF-9E153BDB6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8188" y="1315371"/>
              <a:ext cx="231775" cy="287338"/>
            </a:xfrm>
            <a:custGeom>
              <a:avLst/>
              <a:gdLst>
                <a:gd name="T0" fmla="*/ 32 w 32"/>
                <a:gd name="T1" fmla="*/ 39 h 39"/>
                <a:gd name="T2" fmla="*/ 28 w 32"/>
                <a:gd name="T3" fmla="*/ 39 h 39"/>
                <a:gd name="T4" fmla="*/ 28 w 32"/>
                <a:gd name="T5" fmla="*/ 33 h 39"/>
                <a:gd name="T6" fmla="*/ 28 w 32"/>
                <a:gd name="T7" fmla="*/ 22 h 39"/>
                <a:gd name="T8" fmla="*/ 23 w 32"/>
                <a:gd name="T9" fmla="*/ 9 h 39"/>
                <a:gd name="T10" fmla="*/ 6 w 32"/>
                <a:gd name="T11" fmla="*/ 4 h 39"/>
                <a:gd name="T12" fmla="*/ 0 w 32"/>
                <a:gd name="T13" fmla="*/ 4 h 39"/>
                <a:gd name="T14" fmla="*/ 0 w 32"/>
                <a:gd name="T15" fmla="*/ 0 h 39"/>
                <a:gd name="T16" fmla="*/ 6 w 32"/>
                <a:gd name="T17" fmla="*/ 0 h 39"/>
                <a:gd name="T18" fmla="*/ 26 w 32"/>
                <a:gd name="T19" fmla="*/ 6 h 39"/>
                <a:gd name="T20" fmla="*/ 32 w 32"/>
                <a:gd name="T21" fmla="*/ 22 h 39"/>
                <a:gd name="T22" fmla="*/ 32 w 32"/>
                <a:gd name="T23" fmla="*/ 33 h 39"/>
                <a:gd name="T24" fmla="*/ 32 w 32"/>
                <a:gd name="T2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9">
                  <a:moveTo>
                    <a:pt x="32" y="39"/>
                  </a:moveTo>
                  <a:cubicBezTo>
                    <a:pt x="28" y="39"/>
                    <a:pt x="28" y="39"/>
                    <a:pt x="28" y="39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0"/>
                    <a:pt x="28" y="27"/>
                    <a:pt x="28" y="22"/>
                  </a:cubicBezTo>
                  <a:cubicBezTo>
                    <a:pt x="28" y="18"/>
                    <a:pt x="27" y="13"/>
                    <a:pt x="23" y="9"/>
                  </a:cubicBezTo>
                  <a:cubicBezTo>
                    <a:pt x="21" y="7"/>
                    <a:pt x="16" y="4"/>
                    <a:pt x="6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15" y="0"/>
                    <a:pt x="22" y="2"/>
                    <a:pt x="26" y="6"/>
                  </a:cubicBezTo>
                  <a:cubicBezTo>
                    <a:pt x="32" y="12"/>
                    <a:pt x="32" y="21"/>
                    <a:pt x="32" y="22"/>
                  </a:cubicBezTo>
                  <a:cubicBezTo>
                    <a:pt x="32" y="27"/>
                    <a:pt x="32" y="30"/>
                    <a:pt x="32" y="33"/>
                  </a:cubicBezTo>
                  <a:lnTo>
                    <a:pt x="32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" name="Freeform 46">
              <a:extLst>
                <a:ext uri="{FF2B5EF4-FFF2-40B4-BE49-F238E27FC236}">
                  <a16:creationId xmlns:a16="http://schemas.microsoft.com/office/drawing/2014/main" id="{B23113ED-C157-4312-ABC6-45CAA2B0E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538" y="1315371"/>
              <a:ext cx="238125" cy="279400"/>
            </a:xfrm>
            <a:custGeom>
              <a:avLst/>
              <a:gdLst>
                <a:gd name="T0" fmla="*/ 4 w 33"/>
                <a:gd name="T1" fmla="*/ 38 h 38"/>
                <a:gd name="T2" fmla="*/ 0 w 33"/>
                <a:gd name="T3" fmla="*/ 38 h 38"/>
                <a:gd name="T4" fmla="*/ 0 w 33"/>
                <a:gd name="T5" fmla="*/ 19 h 38"/>
                <a:gd name="T6" fmla="*/ 8 w 33"/>
                <a:gd name="T7" fmla="*/ 5 h 38"/>
                <a:gd name="T8" fmla="*/ 33 w 33"/>
                <a:gd name="T9" fmla="*/ 0 h 38"/>
                <a:gd name="T10" fmla="*/ 33 w 33"/>
                <a:gd name="T11" fmla="*/ 4 h 38"/>
                <a:gd name="T12" fmla="*/ 10 w 33"/>
                <a:gd name="T13" fmla="*/ 8 h 38"/>
                <a:gd name="T14" fmla="*/ 4 w 33"/>
                <a:gd name="T15" fmla="*/ 20 h 38"/>
                <a:gd name="T16" fmla="*/ 4 w 33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8">
                  <a:moveTo>
                    <a:pt x="4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17"/>
                    <a:pt x="2" y="10"/>
                    <a:pt x="8" y="5"/>
                  </a:cubicBezTo>
                  <a:cubicBezTo>
                    <a:pt x="13" y="0"/>
                    <a:pt x="22" y="0"/>
                    <a:pt x="33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21" y="4"/>
                    <a:pt x="15" y="5"/>
                    <a:pt x="10" y="8"/>
                  </a:cubicBezTo>
                  <a:cubicBezTo>
                    <a:pt x="6" y="12"/>
                    <a:pt x="5" y="18"/>
                    <a:pt x="4" y="20"/>
                  </a:cubicBezTo>
                  <a:lnTo>
                    <a:pt x="4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3" name="Freeform 47">
              <a:extLst>
                <a:ext uri="{FF2B5EF4-FFF2-40B4-BE49-F238E27FC236}">
                  <a16:creationId xmlns:a16="http://schemas.microsoft.com/office/drawing/2014/main" id="{A4FC7A0C-C2F5-4E79-839C-A5BD69F51A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6225" y="897859"/>
              <a:ext cx="223838" cy="227013"/>
            </a:xfrm>
            <a:custGeom>
              <a:avLst/>
              <a:gdLst>
                <a:gd name="T0" fmla="*/ 15 w 31"/>
                <a:gd name="T1" fmla="*/ 31 h 31"/>
                <a:gd name="T2" fmla="*/ 0 w 31"/>
                <a:gd name="T3" fmla="*/ 15 h 31"/>
                <a:gd name="T4" fmla="*/ 15 w 31"/>
                <a:gd name="T5" fmla="*/ 0 h 31"/>
                <a:gd name="T6" fmla="*/ 31 w 31"/>
                <a:gd name="T7" fmla="*/ 15 h 31"/>
                <a:gd name="T8" fmla="*/ 15 w 31"/>
                <a:gd name="T9" fmla="*/ 31 h 31"/>
                <a:gd name="T10" fmla="*/ 15 w 31"/>
                <a:gd name="T11" fmla="*/ 4 h 31"/>
                <a:gd name="T12" fmla="*/ 4 w 31"/>
                <a:gd name="T13" fmla="*/ 15 h 31"/>
                <a:gd name="T14" fmla="*/ 15 w 31"/>
                <a:gd name="T15" fmla="*/ 27 h 31"/>
                <a:gd name="T16" fmla="*/ 27 w 31"/>
                <a:gd name="T17" fmla="*/ 15 h 31"/>
                <a:gd name="T18" fmla="*/ 15 w 31"/>
                <a:gd name="T1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15" y="31"/>
                  </a:moveTo>
                  <a:cubicBezTo>
                    <a:pt x="7" y="31"/>
                    <a:pt x="0" y="24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5"/>
                  </a:cubicBezTo>
                  <a:cubicBezTo>
                    <a:pt x="31" y="24"/>
                    <a:pt x="24" y="31"/>
                    <a:pt x="15" y="31"/>
                  </a:cubicBezTo>
                  <a:close/>
                  <a:moveTo>
                    <a:pt x="15" y="4"/>
                  </a:moveTo>
                  <a:cubicBezTo>
                    <a:pt x="9" y="4"/>
                    <a:pt x="4" y="9"/>
                    <a:pt x="4" y="15"/>
                  </a:cubicBezTo>
                  <a:cubicBezTo>
                    <a:pt x="4" y="22"/>
                    <a:pt x="9" y="27"/>
                    <a:pt x="15" y="27"/>
                  </a:cubicBezTo>
                  <a:cubicBezTo>
                    <a:pt x="22" y="27"/>
                    <a:pt x="27" y="22"/>
                    <a:pt x="27" y="15"/>
                  </a:cubicBezTo>
                  <a:cubicBezTo>
                    <a:pt x="27" y="9"/>
                    <a:pt x="22" y="4"/>
                    <a:pt x="15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4" name="Freeform 48">
              <a:extLst>
                <a:ext uri="{FF2B5EF4-FFF2-40B4-BE49-F238E27FC236}">
                  <a16:creationId xmlns:a16="http://schemas.microsoft.com/office/drawing/2014/main" id="{754E943F-DD8C-4A77-9AE9-E2F15354C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6050" y="1155034"/>
              <a:ext cx="188913" cy="227013"/>
            </a:xfrm>
            <a:custGeom>
              <a:avLst/>
              <a:gdLst>
                <a:gd name="T0" fmla="*/ 4 w 26"/>
                <a:gd name="T1" fmla="*/ 31 h 31"/>
                <a:gd name="T2" fmla="*/ 0 w 26"/>
                <a:gd name="T3" fmla="*/ 31 h 31"/>
                <a:gd name="T4" fmla="*/ 0 w 26"/>
                <a:gd name="T5" fmla="*/ 16 h 31"/>
                <a:gd name="T6" fmla="*/ 6 w 26"/>
                <a:gd name="T7" fmla="*/ 4 h 31"/>
                <a:gd name="T8" fmla="*/ 26 w 26"/>
                <a:gd name="T9" fmla="*/ 0 h 31"/>
                <a:gd name="T10" fmla="*/ 26 w 26"/>
                <a:gd name="T11" fmla="*/ 4 h 31"/>
                <a:gd name="T12" fmla="*/ 9 w 26"/>
                <a:gd name="T13" fmla="*/ 7 h 31"/>
                <a:gd name="T14" fmla="*/ 4 w 26"/>
                <a:gd name="T15" fmla="*/ 16 h 31"/>
                <a:gd name="T16" fmla="*/ 4 w 26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1">
                  <a:moveTo>
                    <a:pt x="4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1" y="8"/>
                    <a:pt x="6" y="4"/>
                  </a:cubicBezTo>
                  <a:cubicBezTo>
                    <a:pt x="11" y="0"/>
                    <a:pt x="17" y="0"/>
                    <a:pt x="26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7" y="4"/>
                    <a:pt x="12" y="5"/>
                    <a:pt x="9" y="7"/>
                  </a:cubicBezTo>
                  <a:cubicBezTo>
                    <a:pt x="5" y="11"/>
                    <a:pt x="4" y="15"/>
                    <a:pt x="4" y="16"/>
                  </a:cubicBezTo>
                  <a:lnTo>
                    <a:pt x="4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Freeform 49">
              <a:extLst>
                <a:ext uri="{FF2B5EF4-FFF2-40B4-BE49-F238E27FC236}">
                  <a16:creationId xmlns:a16="http://schemas.microsoft.com/office/drawing/2014/main" id="{768BF3C0-4967-43AF-A96D-8635709A2E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3438" y="897859"/>
              <a:ext cx="223838" cy="227013"/>
            </a:xfrm>
            <a:custGeom>
              <a:avLst/>
              <a:gdLst>
                <a:gd name="T0" fmla="*/ 15 w 31"/>
                <a:gd name="T1" fmla="*/ 31 h 31"/>
                <a:gd name="T2" fmla="*/ 0 w 31"/>
                <a:gd name="T3" fmla="*/ 16 h 31"/>
                <a:gd name="T4" fmla="*/ 15 w 31"/>
                <a:gd name="T5" fmla="*/ 0 h 31"/>
                <a:gd name="T6" fmla="*/ 31 w 31"/>
                <a:gd name="T7" fmla="*/ 16 h 31"/>
                <a:gd name="T8" fmla="*/ 15 w 31"/>
                <a:gd name="T9" fmla="*/ 31 h 31"/>
                <a:gd name="T10" fmla="*/ 15 w 31"/>
                <a:gd name="T11" fmla="*/ 4 h 31"/>
                <a:gd name="T12" fmla="*/ 4 w 31"/>
                <a:gd name="T13" fmla="*/ 16 h 31"/>
                <a:gd name="T14" fmla="*/ 15 w 31"/>
                <a:gd name="T15" fmla="*/ 27 h 31"/>
                <a:gd name="T16" fmla="*/ 27 w 31"/>
                <a:gd name="T17" fmla="*/ 16 h 31"/>
                <a:gd name="T18" fmla="*/ 15 w 31"/>
                <a:gd name="T1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15" y="31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24"/>
                    <a:pt x="24" y="31"/>
                    <a:pt x="15" y="31"/>
                  </a:cubicBezTo>
                  <a:close/>
                  <a:moveTo>
                    <a:pt x="15" y="4"/>
                  </a:moveTo>
                  <a:cubicBezTo>
                    <a:pt x="9" y="4"/>
                    <a:pt x="4" y="9"/>
                    <a:pt x="4" y="16"/>
                  </a:cubicBezTo>
                  <a:cubicBezTo>
                    <a:pt x="4" y="22"/>
                    <a:pt x="9" y="27"/>
                    <a:pt x="15" y="27"/>
                  </a:cubicBezTo>
                  <a:cubicBezTo>
                    <a:pt x="22" y="27"/>
                    <a:pt x="27" y="22"/>
                    <a:pt x="27" y="16"/>
                  </a:cubicBezTo>
                  <a:cubicBezTo>
                    <a:pt x="27" y="9"/>
                    <a:pt x="22" y="4"/>
                    <a:pt x="15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" name="Freeform 50">
              <a:extLst>
                <a:ext uri="{FF2B5EF4-FFF2-40B4-BE49-F238E27FC236}">
                  <a16:creationId xmlns:a16="http://schemas.microsoft.com/office/drawing/2014/main" id="{030616B2-C5AD-48F0-A33F-FA70521BB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188" y="1161384"/>
              <a:ext cx="193675" cy="220663"/>
            </a:xfrm>
            <a:custGeom>
              <a:avLst/>
              <a:gdLst>
                <a:gd name="T0" fmla="*/ 23 w 27"/>
                <a:gd name="T1" fmla="*/ 30 h 30"/>
                <a:gd name="T2" fmla="*/ 23 w 27"/>
                <a:gd name="T3" fmla="*/ 16 h 30"/>
                <a:gd name="T4" fmla="*/ 18 w 27"/>
                <a:gd name="T5" fmla="*/ 7 h 30"/>
                <a:gd name="T6" fmla="*/ 0 w 27"/>
                <a:gd name="T7" fmla="*/ 4 h 30"/>
                <a:gd name="T8" fmla="*/ 0 w 27"/>
                <a:gd name="T9" fmla="*/ 0 h 30"/>
                <a:gd name="T10" fmla="*/ 21 w 27"/>
                <a:gd name="T11" fmla="*/ 4 h 30"/>
                <a:gd name="T12" fmla="*/ 27 w 27"/>
                <a:gd name="T13" fmla="*/ 15 h 30"/>
                <a:gd name="T14" fmla="*/ 27 w 27"/>
                <a:gd name="T15" fmla="*/ 30 h 30"/>
                <a:gd name="T16" fmla="*/ 23 w 27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0">
                  <a:moveTo>
                    <a:pt x="23" y="30"/>
                  </a:moveTo>
                  <a:cubicBezTo>
                    <a:pt x="23" y="16"/>
                    <a:pt x="23" y="16"/>
                    <a:pt x="23" y="16"/>
                  </a:cubicBezTo>
                  <a:cubicBezTo>
                    <a:pt x="22" y="14"/>
                    <a:pt x="22" y="10"/>
                    <a:pt x="18" y="7"/>
                  </a:cubicBezTo>
                  <a:cubicBezTo>
                    <a:pt x="15" y="4"/>
                    <a:pt x="1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6" y="0"/>
                    <a:pt x="21" y="4"/>
                  </a:cubicBezTo>
                  <a:cubicBezTo>
                    <a:pt x="25" y="8"/>
                    <a:pt x="26" y="13"/>
                    <a:pt x="27" y="15"/>
                  </a:cubicBezTo>
                  <a:cubicBezTo>
                    <a:pt x="27" y="30"/>
                    <a:pt x="27" y="30"/>
                    <a:pt x="27" y="30"/>
                  </a:cubicBezTo>
                  <a:lnTo>
                    <a:pt x="23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87" name="Группа 241">
            <a:extLst>
              <a:ext uri="{FF2B5EF4-FFF2-40B4-BE49-F238E27FC236}">
                <a16:creationId xmlns:a16="http://schemas.microsoft.com/office/drawing/2014/main" id="{23B8C4DE-CD57-4EF0-94F9-2EE675FF981F}"/>
              </a:ext>
            </a:extLst>
          </p:cNvPr>
          <p:cNvGrpSpPr>
            <a:grpSpLocks noChangeAspect="1"/>
          </p:cNvGrpSpPr>
          <p:nvPr/>
        </p:nvGrpSpPr>
        <p:grpSpPr>
          <a:xfrm>
            <a:off x="7714735" y="4044497"/>
            <a:ext cx="456987" cy="466396"/>
            <a:chOff x="6497160" y="5202191"/>
            <a:chExt cx="929571" cy="948710"/>
          </a:xfrm>
        </p:grpSpPr>
        <p:sp>
          <p:nvSpPr>
            <p:cNvPr id="88" name="Полилиния: фигура 35">
              <a:extLst>
                <a:ext uri="{FF2B5EF4-FFF2-40B4-BE49-F238E27FC236}">
                  <a16:creationId xmlns:a16="http://schemas.microsoft.com/office/drawing/2014/main" id="{F209D70D-BD45-45BD-B9B1-50C9C0E394B2}"/>
                </a:ext>
              </a:extLst>
            </p:cNvPr>
            <p:cNvSpPr/>
            <p:nvPr/>
          </p:nvSpPr>
          <p:spPr>
            <a:xfrm>
              <a:off x="6776032" y="5478329"/>
              <a:ext cx="388232" cy="390967"/>
            </a:xfrm>
            <a:custGeom>
              <a:avLst/>
              <a:gdLst>
                <a:gd name="connsiteX0" fmla="*/ 388233 w 388232"/>
                <a:gd name="connsiteY0" fmla="*/ 390967 h 390967"/>
                <a:gd name="connsiteX1" fmla="*/ 0 w 388232"/>
                <a:gd name="connsiteY1" fmla="*/ 390967 h 390967"/>
                <a:gd name="connsiteX2" fmla="*/ 0 w 388232"/>
                <a:gd name="connsiteY2" fmla="*/ 319882 h 390967"/>
                <a:gd name="connsiteX3" fmla="*/ 27340 w 388232"/>
                <a:gd name="connsiteY3" fmla="*/ 319882 h 390967"/>
                <a:gd name="connsiteX4" fmla="*/ 27340 w 388232"/>
                <a:gd name="connsiteY4" fmla="*/ 363627 h 390967"/>
                <a:gd name="connsiteX5" fmla="*/ 360893 w 388232"/>
                <a:gd name="connsiteY5" fmla="*/ 363627 h 390967"/>
                <a:gd name="connsiteX6" fmla="*/ 360893 w 388232"/>
                <a:gd name="connsiteY6" fmla="*/ 27340 h 390967"/>
                <a:gd name="connsiteX7" fmla="*/ 27340 w 388232"/>
                <a:gd name="connsiteY7" fmla="*/ 27340 h 390967"/>
                <a:gd name="connsiteX8" fmla="*/ 27340 w 388232"/>
                <a:gd name="connsiteY8" fmla="*/ 183181 h 390967"/>
                <a:gd name="connsiteX9" fmla="*/ 0 w 388232"/>
                <a:gd name="connsiteY9" fmla="*/ 183181 h 390967"/>
                <a:gd name="connsiteX10" fmla="*/ 0 w 388232"/>
                <a:gd name="connsiteY10" fmla="*/ 0 h 390967"/>
                <a:gd name="connsiteX11" fmla="*/ 388233 w 388232"/>
                <a:gd name="connsiteY11" fmla="*/ 0 h 39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232" h="390967">
                  <a:moveTo>
                    <a:pt x="388233" y="390967"/>
                  </a:moveTo>
                  <a:lnTo>
                    <a:pt x="0" y="390967"/>
                  </a:lnTo>
                  <a:lnTo>
                    <a:pt x="0" y="319882"/>
                  </a:lnTo>
                  <a:lnTo>
                    <a:pt x="27340" y="319882"/>
                  </a:lnTo>
                  <a:lnTo>
                    <a:pt x="27340" y="363627"/>
                  </a:lnTo>
                  <a:lnTo>
                    <a:pt x="360893" y="363627"/>
                  </a:lnTo>
                  <a:lnTo>
                    <a:pt x="360893" y="27340"/>
                  </a:lnTo>
                  <a:lnTo>
                    <a:pt x="27340" y="27340"/>
                  </a:lnTo>
                  <a:lnTo>
                    <a:pt x="27340" y="183181"/>
                  </a:lnTo>
                  <a:lnTo>
                    <a:pt x="0" y="183181"/>
                  </a:lnTo>
                  <a:lnTo>
                    <a:pt x="0" y="0"/>
                  </a:lnTo>
                  <a:lnTo>
                    <a:pt x="388233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36">
              <a:extLst>
                <a:ext uri="{FF2B5EF4-FFF2-40B4-BE49-F238E27FC236}">
                  <a16:creationId xmlns:a16="http://schemas.microsoft.com/office/drawing/2014/main" id="{089C4BD4-1F2F-4178-A46F-E3DF598AF9A0}"/>
                </a:ext>
              </a:extLst>
            </p:cNvPr>
            <p:cNvSpPr/>
            <p:nvPr/>
          </p:nvSpPr>
          <p:spPr>
            <a:xfrm>
              <a:off x="6871723" y="5576754"/>
              <a:ext cx="196850" cy="196850"/>
            </a:xfrm>
            <a:custGeom>
              <a:avLst/>
              <a:gdLst>
                <a:gd name="connsiteX0" fmla="*/ 196850 w 196850"/>
                <a:gd name="connsiteY0" fmla="*/ 196850 h 196850"/>
                <a:gd name="connsiteX1" fmla="*/ 0 w 196850"/>
                <a:gd name="connsiteY1" fmla="*/ 196850 h 196850"/>
                <a:gd name="connsiteX2" fmla="*/ 0 w 196850"/>
                <a:gd name="connsiteY2" fmla="*/ 0 h 196850"/>
                <a:gd name="connsiteX3" fmla="*/ 196850 w 196850"/>
                <a:gd name="connsiteY3" fmla="*/ 0 h 196850"/>
                <a:gd name="connsiteX4" fmla="*/ 196850 w 196850"/>
                <a:gd name="connsiteY4" fmla="*/ 196850 h 196850"/>
                <a:gd name="connsiteX5" fmla="*/ 27340 w 196850"/>
                <a:gd name="connsiteY5" fmla="*/ 169510 h 196850"/>
                <a:gd name="connsiteX6" fmla="*/ 169510 w 196850"/>
                <a:gd name="connsiteY6" fmla="*/ 169510 h 196850"/>
                <a:gd name="connsiteX7" fmla="*/ 169510 w 196850"/>
                <a:gd name="connsiteY7" fmla="*/ 27340 h 196850"/>
                <a:gd name="connsiteX8" fmla="*/ 27340 w 196850"/>
                <a:gd name="connsiteY8" fmla="*/ 27340 h 196850"/>
                <a:gd name="connsiteX9" fmla="*/ 27340 w 196850"/>
                <a:gd name="connsiteY9" fmla="*/ 169510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850" h="196850">
                  <a:moveTo>
                    <a:pt x="196850" y="196850"/>
                  </a:moveTo>
                  <a:lnTo>
                    <a:pt x="0" y="196850"/>
                  </a:lnTo>
                  <a:lnTo>
                    <a:pt x="0" y="0"/>
                  </a:lnTo>
                  <a:lnTo>
                    <a:pt x="196850" y="0"/>
                  </a:lnTo>
                  <a:lnTo>
                    <a:pt x="196850" y="196850"/>
                  </a:lnTo>
                  <a:close/>
                  <a:moveTo>
                    <a:pt x="27340" y="169510"/>
                  </a:moveTo>
                  <a:lnTo>
                    <a:pt x="169510" y="169510"/>
                  </a:lnTo>
                  <a:lnTo>
                    <a:pt x="169510" y="27340"/>
                  </a:lnTo>
                  <a:lnTo>
                    <a:pt x="27340" y="27340"/>
                  </a:lnTo>
                  <a:lnTo>
                    <a:pt x="27340" y="169510"/>
                  </a:ln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37">
              <a:extLst>
                <a:ext uri="{FF2B5EF4-FFF2-40B4-BE49-F238E27FC236}">
                  <a16:creationId xmlns:a16="http://schemas.microsoft.com/office/drawing/2014/main" id="{5076DFFB-B8B6-45F8-899B-74641B87C846}"/>
                </a:ext>
              </a:extLst>
            </p:cNvPr>
            <p:cNvSpPr/>
            <p:nvPr/>
          </p:nvSpPr>
          <p:spPr>
            <a:xfrm>
              <a:off x="7287296" y="5732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38">
              <a:extLst>
                <a:ext uri="{FF2B5EF4-FFF2-40B4-BE49-F238E27FC236}">
                  <a16:creationId xmlns:a16="http://schemas.microsoft.com/office/drawing/2014/main" id="{F232C9B3-F724-42A2-895D-3996DED8717D}"/>
                </a:ext>
              </a:extLst>
            </p:cNvPr>
            <p:cNvSpPr/>
            <p:nvPr/>
          </p:nvSpPr>
          <p:spPr>
            <a:xfrm>
              <a:off x="7205275" y="5647839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1 h 27340"/>
                <a:gd name="connsiteX3" fmla="*/ 0 w 221456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39">
              <a:extLst>
                <a:ext uri="{FF2B5EF4-FFF2-40B4-BE49-F238E27FC236}">
                  <a16:creationId xmlns:a16="http://schemas.microsoft.com/office/drawing/2014/main" id="{EB31082D-D940-403C-A426-8736909B72C0}"/>
                </a:ext>
              </a:extLst>
            </p:cNvPr>
            <p:cNvSpPr/>
            <p:nvPr/>
          </p:nvSpPr>
          <p:spPr>
            <a:xfrm>
              <a:off x="7205275" y="5524807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1 h 27340"/>
                <a:gd name="connsiteX3" fmla="*/ 0 w 95691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40">
              <a:extLst>
                <a:ext uri="{FF2B5EF4-FFF2-40B4-BE49-F238E27FC236}">
                  <a16:creationId xmlns:a16="http://schemas.microsoft.com/office/drawing/2014/main" id="{D17D85BB-9902-4239-8D69-73BA6EB60697}"/>
                </a:ext>
              </a:extLst>
            </p:cNvPr>
            <p:cNvSpPr/>
            <p:nvPr/>
          </p:nvSpPr>
          <p:spPr>
            <a:xfrm>
              <a:off x="7205275" y="577360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41">
              <a:extLst>
                <a:ext uri="{FF2B5EF4-FFF2-40B4-BE49-F238E27FC236}">
                  <a16:creationId xmlns:a16="http://schemas.microsoft.com/office/drawing/2014/main" id="{A999EF2D-D912-4E25-AD64-B8339999A7D9}"/>
                </a:ext>
              </a:extLst>
            </p:cNvPr>
            <p:cNvSpPr/>
            <p:nvPr/>
          </p:nvSpPr>
          <p:spPr>
            <a:xfrm rot="16200000">
              <a:off x="7036725" y="5242327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: фигура 42">
              <a:extLst>
                <a:ext uri="{FF2B5EF4-FFF2-40B4-BE49-F238E27FC236}">
                  <a16:creationId xmlns:a16="http://schemas.microsoft.com/office/drawing/2014/main" id="{86A7AF90-3307-4CBC-A534-C7B4CAC23206}"/>
                </a:ext>
              </a:extLst>
            </p:cNvPr>
            <p:cNvSpPr/>
            <p:nvPr/>
          </p:nvSpPr>
          <p:spPr>
            <a:xfrm>
              <a:off x="6956478" y="5202191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43">
              <a:extLst>
                <a:ext uri="{FF2B5EF4-FFF2-40B4-BE49-F238E27FC236}">
                  <a16:creationId xmlns:a16="http://schemas.microsoft.com/office/drawing/2014/main" id="{FDF7FA2E-0C36-4779-BE46-88364D4DB91D}"/>
                </a:ext>
              </a:extLst>
            </p:cNvPr>
            <p:cNvSpPr/>
            <p:nvPr/>
          </p:nvSpPr>
          <p:spPr>
            <a:xfrm>
              <a:off x="6830712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44">
              <a:extLst>
                <a:ext uri="{FF2B5EF4-FFF2-40B4-BE49-F238E27FC236}">
                  <a16:creationId xmlns:a16="http://schemas.microsoft.com/office/drawing/2014/main" id="{B574AF79-8B43-444F-943C-A0D59EB80317}"/>
                </a:ext>
              </a:extLst>
            </p:cNvPr>
            <p:cNvSpPr/>
            <p:nvPr/>
          </p:nvSpPr>
          <p:spPr>
            <a:xfrm>
              <a:off x="7079510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45">
              <a:extLst>
                <a:ext uri="{FF2B5EF4-FFF2-40B4-BE49-F238E27FC236}">
                  <a16:creationId xmlns:a16="http://schemas.microsoft.com/office/drawing/2014/main" id="{69687EBE-D90F-4482-A313-E7DAC19A6827}"/>
                </a:ext>
              </a:extLst>
            </p:cNvPr>
            <p:cNvSpPr/>
            <p:nvPr/>
          </p:nvSpPr>
          <p:spPr>
            <a:xfrm rot="10800000">
              <a:off x="6533523" y="5521499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46">
              <a:extLst>
                <a:ext uri="{FF2B5EF4-FFF2-40B4-BE49-F238E27FC236}">
                  <a16:creationId xmlns:a16="http://schemas.microsoft.com/office/drawing/2014/main" id="{36C488BF-C39A-4031-9D99-A7BFA423F4ED}"/>
                </a:ext>
              </a:extLst>
            </p:cNvPr>
            <p:cNvSpPr/>
            <p:nvPr/>
          </p:nvSpPr>
          <p:spPr>
            <a:xfrm>
              <a:off x="6497160" y="5677913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0 h 27340"/>
                <a:gd name="connsiteX3" fmla="*/ 0 w 221456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47">
              <a:extLst>
                <a:ext uri="{FF2B5EF4-FFF2-40B4-BE49-F238E27FC236}">
                  <a16:creationId xmlns:a16="http://schemas.microsoft.com/office/drawing/2014/main" id="{AC0E3B62-2AE7-4CAC-92E0-831DB7B82DEE}"/>
                </a:ext>
              </a:extLst>
            </p:cNvPr>
            <p:cNvSpPr/>
            <p:nvPr/>
          </p:nvSpPr>
          <p:spPr>
            <a:xfrm>
              <a:off x="6622926" y="580094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48">
              <a:extLst>
                <a:ext uri="{FF2B5EF4-FFF2-40B4-BE49-F238E27FC236}">
                  <a16:creationId xmlns:a16="http://schemas.microsoft.com/office/drawing/2014/main" id="{E039640F-6934-4338-9CBB-9C66A82BC294}"/>
                </a:ext>
              </a:extLst>
            </p:cNvPr>
            <p:cNvSpPr/>
            <p:nvPr/>
          </p:nvSpPr>
          <p:spPr>
            <a:xfrm>
              <a:off x="6622926" y="5554882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49">
              <a:extLst>
                <a:ext uri="{FF2B5EF4-FFF2-40B4-BE49-F238E27FC236}">
                  <a16:creationId xmlns:a16="http://schemas.microsoft.com/office/drawing/2014/main" id="{4D066EE4-200B-4AC8-9D42-9D7C2A0BDD84}"/>
                </a:ext>
              </a:extLst>
            </p:cNvPr>
            <p:cNvSpPr/>
            <p:nvPr/>
          </p:nvSpPr>
          <p:spPr>
            <a:xfrm rot="5400000">
              <a:off x="6784371" y="6011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50">
              <a:extLst>
                <a:ext uri="{FF2B5EF4-FFF2-40B4-BE49-F238E27FC236}">
                  <a16:creationId xmlns:a16="http://schemas.microsoft.com/office/drawing/2014/main" id="{DBCBA4A5-9D70-4AC1-84EF-43372237B9AA}"/>
                </a:ext>
              </a:extLst>
            </p:cNvPr>
            <p:cNvSpPr/>
            <p:nvPr/>
          </p:nvSpPr>
          <p:spPr>
            <a:xfrm>
              <a:off x="6942808" y="5929445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51">
              <a:extLst>
                <a:ext uri="{FF2B5EF4-FFF2-40B4-BE49-F238E27FC236}">
                  <a16:creationId xmlns:a16="http://schemas.microsoft.com/office/drawing/2014/main" id="{19BF5BB2-ED50-4412-9217-7C6439C1D069}"/>
                </a:ext>
              </a:extLst>
            </p:cNvPr>
            <p:cNvSpPr/>
            <p:nvPr/>
          </p:nvSpPr>
          <p:spPr>
            <a:xfrm>
              <a:off x="7065839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52">
              <a:extLst>
                <a:ext uri="{FF2B5EF4-FFF2-40B4-BE49-F238E27FC236}">
                  <a16:creationId xmlns:a16="http://schemas.microsoft.com/office/drawing/2014/main" id="{E38ECC9B-29B6-4627-96DF-BB551A324C73}"/>
                </a:ext>
              </a:extLst>
            </p:cNvPr>
            <p:cNvSpPr/>
            <p:nvPr/>
          </p:nvSpPr>
          <p:spPr>
            <a:xfrm>
              <a:off x="6819776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6" name="Группа 234">
            <a:extLst>
              <a:ext uri="{FF2B5EF4-FFF2-40B4-BE49-F238E27FC236}">
                <a16:creationId xmlns:a16="http://schemas.microsoft.com/office/drawing/2014/main" id="{30BE42AB-662E-41FD-9E37-4A2E617F7003}"/>
              </a:ext>
            </a:extLst>
          </p:cNvPr>
          <p:cNvGrpSpPr>
            <a:grpSpLocks noChangeAspect="1"/>
          </p:cNvGrpSpPr>
          <p:nvPr/>
        </p:nvGrpSpPr>
        <p:grpSpPr>
          <a:xfrm>
            <a:off x="7704859" y="4839218"/>
            <a:ext cx="401403" cy="396516"/>
            <a:chOff x="6472554" y="3526228"/>
            <a:chExt cx="982544" cy="970582"/>
          </a:xfrm>
        </p:grpSpPr>
        <p:sp>
          <p:nvSpPr>
            <p:cNvPr id="107" name="Полилиния: фигура 101">
              <a:extLst>
                <a:ext uri="{FF2B5EF4-FFF2-40B4-BE49-F238E27FC236}">
                  <a16:creationId xmlns:a16="http://schemas.microsoft.com/office/drawing/2014/main" id="{9D384933-D93E-43CC-8E99-BAA4F4C268BD}"/>
                </a:ext>
              </a:extLst>
            </p:cNvPr>
            <p:cNvSpPr/>
            <p:nvPr/>
          </p:nvSpPr>
          <p:spPr>
            <a:xfrm>
              <a:off x="6721351" y="4116758"/>
              <a:ext cx="454052" cy="251552"/>
            </a:xfrm>
            <a:custGeom>
              <a:avLst/>
              <a:gdLst>
                <a:gd name="connsiteX0" fmla="*/ 396435 w 454052"/>
                <a:gd name="connsiteY0" fmla="*/ 251553 h 251552"/>
                <a:gd name="connsiteX1" fmla="*/ 347222 w 454052"/>
                <a:gd name="connsiteY1" fmla="*/ 240616 h 251552"/>
                <a:gd name="connsiteX2" fmla="*/ 144904 w 454052"/>
                <a:gd name="connsiteY2" fmla="*/ 177734 h 251552"/>
                <a:gd name="connsiteX3" fmla="*/ 144904 w 454052"/>
                <a:gd name="connsiteY3" fmla="*/ 150393 h 251552"/>
                <a:gd name="connsiteX4" fmla="*/ 358158 w 454052"/>
                <a:gd name="connsiteY4" fmla="*/ 216010 h 251552"/>
                <a:gd name="connsiteX5" fmla="*/ 410105 w 454052"/>
                <a:gd name="connsiteY5" fmla="*/ 224212 h 251552"/>
                <a:gd name="connsiteX6" fmla="*/ 423775 w 454052"/>
                <a:gd name="connsiteY6" fmla="*/ 202340 h 251552"/>
                <a:gd name="connsiteX7" fmla="*/ 407371 w 454052"/>
                <a:gd name="connsiteY7" fmla="*/ 161329 h 251552"/>
                <a:gd name="connsiteX8" fmla="*/ 311680 w 454052"/>
                <a:gd name="connsiteY8" fmla="*/ 109383 h 251552"/>
                <a:gd name="connsiteX9" fmla="*/ 235127 w 454052"/>
                <a:gd name="connsiteY9" fmla="*/ 71106 h 251552"/>
                <a:gd name="connsiteX10" fmla="*/ 147638 w 454052"/>
                <a:gd name="connsiteY10" fmla="*/ 30096 h 251552"/>
                <a:gd name="connsiteX11" fmla="*/ 13670 w 454052"/>
                <a:gd name="connsiteY11" fmla="*/ 51968 h 251552"/>
                <a:gd name="connsiteX12" fmla="*/ 8202 w 454052"/>
                <a:gd name="connsiteY12" fmla="*/ 54702 h 251552"/>
                <a:gd name="connsiteX13" fmla="*/ 0 w 454052"/>
                <a:gd name="connsiteY13" fmla="*/ 27362 h 251552"/>
                <a:gd name="connsiteX14" fmla="*/ 5468 w 454052"/>
                <a:gd name="connsiteY14" fmla="*/ 24628 h 251552"/>
                <a:gd name="connsiteX15" fmla="*/ 153106 w 454052"/>
                <a:gd name="connsiteY15" fmla="*/ 2755 h 251552"/>
                <a:gd name="connsiteX16" fmla="*/ 248797 w 454052"/>
                <a:gd name="connsiteY16" fmla="*/ 46500 h 251552"/>
                <a:gd name="connsiteX17" fmla="*/ 325350 w 454052"/>
                <a:gd name="connsiteY17" fmla="*/ 84776 h 251552"/>
                <a:gd name="connsiteX18" fmla="*/ 429243 w 454052"/>
                <a:gd name="connsiteY18" fmla="*/ 142191 h 251552"/>
                <a:gd name="connsiteX19" fmla="*/ 451116 w 454052"/>
                <a:gd name="connsiteY19" fmla="*/ 210542 h 251552"/>
                <a:gd name="connsiteX20" fmla="*/ 421041 w 454052"/>
                <a:gd name="connsiteY20" fmla="*/ 246085 h 251552"/>
                <a:gd name="connsiteX21" fmla="*/ 396435 w 454052"/>
                <a:gd name="connsiteY21" fmla="*/ 251553 h 25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4052" h="251552">
                  <a:moveTo>
                    <a:pt x="396435" y="251553"/>
                  </a:moveTo>
                  <a:cubicBezTo>
                    <a:pt x="382765" y="251553"/>
                    <a:pt x="366361" y="248818"/>
                    <a:pt x="347222" y="240616"/>
                  </a:cubicBezTo>
                  <a:cubicBezTo>
                    <a:pt x="292542" y="218744"/>
                    <a:pt x="158574" y="180468"/>
                    <a:pt x="144904" y="177734"/>
                  </a:cubicBezTo>
                  <a:lnTo>
                    <a:pt x="144904" y="150393"/>
                  </a:lnTo>
                  <a:cubicBezTo>
                    <a:pt x="158574" y="150393"/>
                    <a:pt x="303478" y="194138"/>
                    <a:pt x="358158" y="216010"/>
                  </a:cubicBezTo>
                  <a:cubicBezTo>
                    <a:pt x="382765" y="224212"/>
                    <a:pt x="399169" y="226946"/>
                    <a:pt x="410105" y="224212"/>
                  </a:cubicBezTo>
                  <a:cubicBezTo>
                    <a:pt x="418307" y="221478"/>
                    <a:pt x="421041" y="213276"/>
                    <a:pt x="423775" y="202340"/>
                  </a:cubicBezTo>
                  <a:cubicBezTo>
                    <a:pt x="423775" y="199606"/>
                    <a:pt x="429243" y="183202"/>
                    <a:pt x="407371" y="161329"/>
                  </a:cubicBezTo>
                  <a:cubicBezTo>
                    <a:pt x="393701" y="147659"/>
                    <a:pt x="352690" y="128521"/>
                    <a:pt x="311680" y="109383"/>
                  </a:cubicBezTo>
                  <a:cubicBezTo>
                    <a:pt x="284339" y="95713"/>
                    <a:pt x="256999" y="82043"/>
                    <a:pt x="235127" y="71106"/>
                  </a:cubicBezTo>
                  <a:cubicBezTo>
                    <a:pt x="194116" y="46500"/>
                    <a:pt x="172244" y="35564"/>
                    <a:pt x="147638" y="30096"/>
                  </a:cubicBezTo>
                  <a:cubicBezTo>
                    <a:pt x="114829" y="24628"/>
                    <a:pt x="76553" y="35564"/>
                    <a:pt x="13670" y="51968"/>
                  </a:cubicBezTo>
                  <a:lnTo>
                    <a:pt x="8202" y="54702"/>
                  </a:lnTo>
                  <a:lnTo>
                    <a:pt x="0" y="27362"/>
                  </a:lnTo>
                  <a:lnTo>
                    <a:pt x="5468" y="24628"/>
                  </a:lnTo>
                  <a:cubicBezTo>
                    <a:pt x="71085" y="5490"/>
                    <a:pt x="112095" y="-5447"/>
                    <a:pt x="153106" y="2755"/>
                  </a:cubicBezTo>
                  <a:cubicBezTo>
                    <a:pt x="180446" y="8223"/>
                    <a:pt x="205053" y="21893"/>
                    <a:pt x="248797" y="46500"/>
                  </a:cubicBezTo>
                  <a:cubicBezTo>
                    <a:pt x="270669" y="57436"/>
                    <a:pt x="298010" y="71106"/>
                    <a:pt x="325350" y="84776"/>
                  </a:cubicBezTo>
                  <a:cubicBezTo>
                    <a:pt x="369095" y="106649"/>
                    <a:pt x="410105" y="125787"/>
                    <a:pt x="429243" y="142191"/>
                  </a:cubicBezTo>
                  <a:cubicBezTo>
                    <a:pt x="462052" y="175000"/>
                    <a:pt x="453850" y="205074"/>
                    <a:pt x="451116" y="210542"/>
                  </a:cubicBezTo>
                  <a:cubicBezTo>
                    <a:pt x="448382" y="218744"/>
                    <a:pt x="440179" y="237882"/>
                    <a:pt x="421041" y="246085"/>
                  </a:cubicBezTo>
                  <a:cubicBezTo>
                    <a:pt x="412839" y="248818"/>
                    <a:pt x="404637" y="251553"/>
                    <a:pt x="396435" y="251553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102">
              <a:extLst>
                <a:ext uri="{FF2B5EF4-FFF2-40B4-BE49-F238E27FC236}">
                  <a16:creationId xmlns:a16="http://schemas.microsoft.com/office/drawing/2014/main" id="{D62F9BCE-8F8C-4CB4-A1F9-674B42A2BA17}"/>
                </a:ext>
              </a:extLst>
            </p:cNvPr>
            <p:cNvSpPr/>
            <p:nvPr/>
          </p:nvSpPr>
          <p:spPr>
            <a:xfrm>
              <a:off x="6696745" y="4195454"/>
              <a:ext cx="758353" cy="301356"/>
            </a:xfrm>
            <a:custGeom>
              <a:avLst/>
              <a:gdLst>
                <a:gd name="connsiteX0" fmla="*/ 314414 w 758353"/>
                <a:gd name="connsiteY0" fmla="*/ 301356 h 301356"/>
                <a:gd name="connsiteX1" fmla="*/ 259733 w 758353"/>
                <a:gd name="connsiteY1" fmla="*/ 295888 h 301356"/>
                <a:gd name="connsiteX2" fmla="*/ 0 w 758353"/>
                <a:gd name="connsiteY2" fmla="*/ 208399 h 301356"/>
                <a:gd name="connsiteX3" fmla="*/ 10936 w 758353"/>
                <a:gd name="connsiteY3" fmla="*/ 183793 h 301356"/>
                <a:gd name="connsiteX4" fmla="*/ 267936 w 758353"/>
                <a:gd name="connsiteY4" fmla="*/ 271282 h 301356"/>
                <a:gd name="connsiteX5" fmla="*/ 347223 w 758353"/>
                <a:gd name="connsiteY5" fmla="*/ 274016 h 301356"/>
                <a:gd name="connsiteX6" fmla="*/ 492126 w 758353"/>
                <a:gd name="connsiteY6" fmla="*/ 213867 h 301356"/>
                <a:gd name="connsiteX7" fmla="*/ 620626 w 758353"/>
                <a:gd name="connsiteY7" fmla="*/ 145517 h 301356"/>
                <a:gd name="connsiteX8" fmla="*/ 628828 w 758353"/>
                <a:gd name="connsiteY8" fmla="*/ 140049 h 301356"/>
                <a:gd name="connsiteX9" fmla="*/ 645232 w 758353"/>
                <a:gd name="connsiteY9" fmla="*/ 129112 h 301356"/>
                <a:gd name="connsiteX10" fmla="*/ 732721 w 758353"/>
                <a:gd name="connsiteY10" fmla="*/ 58028 h 301356"/>
                <a:gd name="connsiteX11" fmla="*/ 729988 w 758353"/>
                <a:gd name="connsiteY11" fmla="*/ 38889 h 301356"/>
                <a:gd name="connsiteX12" fmla="*/ 645232 w 758353"/>
                <a:gd name="connsiteY12" fmla="*/ 47091 h 301356"/>
                <a:gd name="connsiteX13" fmla="*/ 574147 w 758353"/>
                <a:gd name="connsiteY13" fmla="*/ 77166 h 301356"/>
                <a:gd name="connsiteX14" fmla="*/ 519467 w 758353"/>
                <a:gd name="connsiteY14" fmla="*/ 101772 h 301356"/>
                <a:gd name="connsiteX15" fmla="*/ 508531 w 758353"/>
                <a:gd name="connsiteY15" fmla="*/ 77166 h 301356"/>
                <a:gd name="connsiteX16" fmla="*/ 563211 w 758353"/>
                <a:gd name="connsiteY16" fmla="*/ 52559 h 301356"/>
                <a:gd name="connsiteX17" fmla="*/ 631562 w 758353"/>
                <a:gd name="connsiteY17" fmla="*/ 22485 h 301356"/>
                <a:gd name="connsiteX18" fmla="*/ 749126 w 758353"/>
                <a:gd name="connsiteY18" fmla="*/ 25219 h 301356"/>
                <a:gd name="connsiteX19" fmla="*/ 757328 w 758353"/>
                <a:gd name="connsiteY19" fmla="*/ 66229 h 301356"/>
                <a:gd name="connsiteX20" fmla="*/ 656168 w 758353"/>
                <a:gd name="connsiteY20" fmla="*/ 156453 h 301356"/>
                <a:gd name="connsiteX21" fmla="*/ 639764 w 758353"/>
                <a:gd name="connsiteY21" fmla="*/ 164655 h 301356"/>
                <a:gd name="connsiteX22" fmla="*/ 628828 w 758353"/>
                <a:gd name="connsiteY22" fmla="*/ 170123 h 301356"/>
                <a:gd name="connsiteX23" fmla="*/ 500328 w 758353"/>
                <a:gd name="connsiteY23" fmla="*/ 238474 h 301356"/>
                <a:gd name="connsiteX24" fmla="*/ 344489 w 758353"/>
                <a:gd name="connsiteY24" fmla="*/ 301356 h 301356"/>
                <a:gd name="connsiteX25" fmla="*/ 314414 w 758353"/>
                <a:gd name="connsiteY25" fmla="*/ 301356 h 30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58353" h="301356">
                  <a:moveTo>
                    <a:pt x="314414" y="301356"/>
                  </a:moveTo>
                  <a:cubicBezTo>
                    <a:pt x="289808" y="301356"/>
                    <a:pt x="270670" y="298622"/>
                    <a:pt x="259733" y="295888"/>
                  </a:cubicBezTo>
                  <a:cubicBezTo>
                    <a:pt x="235127" y="290420"/>
                    <a:pt x="46479" y="224803"/>
                    <a:pt x="0" y="208399"/>
                  </a:cubicBezTo>
                  <a:lnTo>
                    <a:pt x="10936" y="183793"/>
                  </a:lnTo>
                  <a:cubicBezTo>
                    <a:pt x="60149" y="202931"/>
                    <a:pt x="246063" y="265814"/>
                    <a:pt x="267936" y="271282"/>
                  </a:cubicBezTo>
                  <a:cubicBezTo>
                    <a:pt x="278872" y="274016"/>
                    <a:pt x="311680" y="279484"/>
                    <a:pt x="347223" y="274016"/>
                  </a:cubicBezTo>
                  <a:cubicBezTo>
                    <a:pt x="388233" y="268548"/>
                    <a:pt x="429244" y="249410"/>
                    <a:pt x="492126" y="213867"/>
                  </a:cubicBezTo>
                  <a:cubicBezTo>
                    <a:pt x="555009" y="181059"/>
                    <a:pt x="601488" y="156453"/>
                    <a:pt x="620626" y="145517"/>
                  </a:cubicBezTo>
                  <a:cubicBezTo>
                    <a:pt x="626094" y="142782"/>
                    <a:pt x="628828" y="140049"/>
                    <a:pt x="628828" y="140049"/>
                  </a:cubicBezTo>
                  <a:cubicBezTo>
                    <a:pt x="634296" y="137314"/>
                    <a:pt x="639764" y="134580"/>
                    <a:pt x="645232" y="129112"/>
                  </a:cubicBezTo>
                  <a:cubicBezTo>
                    <a:pt x="678041" y="109974"/>
                    <a:pt x="727253" y="82634"/>
                    <a:pt x="732721" y="58028"/>
                  </a:cubicBezTo>
                  <a:cubicBezTo>
                    <a:pt x="735456" y="52559"/>
                    <a:pt x="732721" y="44357"/>
                    <a:pt x="729988" y="38889"/>
                  </a:cubicBezTo>
                  <a:cubicBezTo>
                    <a:pt x="724519" y="30687"/>
                    <a:pt x="713583" y="14283"/>
                    <a:pt x="645232" y="47091"/>
                  </a:cubicBezTo>
                  <a:cubicBezTo>
                    <a:pt x="626094" y="55293"/>
                    <a:pt x="609690" y="63496"/>
                    <a:pt x="574147" y="77166"/>
                  </a:cubicBezTo>
                  <a:lnTo>
                    <a:pt x="519467" y="101772"/>
                  </a:lnTo>
                  <a:lnTo>
                    <a:pt x="508531" y="77166"/>
                  </a:lnTo>
                  <a:lnTo>
                    <a:pt x="563211" y="52559"/>
                  </a:lnTo>
                  <a:cubicBezTo>
                    <a:pt x="596020" y="38889"/>
                    <a:pt x="612424" y="30687"/>
                    <a:pt x="631562" y="22485"/>
                  </a:cubicBezTo>
                  <a:cubicBezTo>
                    <a:pt x="675307" y="613"/>
                    <a:pt x="724519" y="-15792"/>
                    <a:pt x="749126" y="25219"/>
                  </a:cubicBezTo>
                  <a:cubicBezTo>
                    <a:pt x="757328" y="38889"/>
                    <a:pt x="760062" y="52559"/>
                    <a:pt x="757328" y="66229"/>
                  </a:cubicBezTo>
                  <a:cubicBezTo>
                    <a:pt x="749126" y="104506"/>
                    <a:pt x="697179" y="131846"/>
                    <a:pt x="656168" y="156453"/>
                  </a:cubicBezTo>
                  <a:cubicBezTo>
                    <a:pt x="650700" y="159187"/>
                    <a:pt x="645232" y="161921"/>
                    <a:pt x="639764" y="164655"/>
                  </a:cubicBezTo>
                  <a:cubicBezTo>
                    <a:pt x="639764" y="164655"/>
                    <a:pt x="634296" y="167389"/>
                    <a:pt x="628828" y="170123"/>
                  </a:cubicBezTo>
                  <a:cubicBezTo>
                    <a:pt x="609690" y="181059"/>
                    <a:pt x="563211" y="202931"/>
                    <a:pt x="500328" y="238474"/>
                  </a:cubicBezTo>
                  <a:cubicBezTo>
                    <a:pt x="434712" y="274016"/>
                    <a:pt x="390967" y="293154"/>
                    <a:pt x="344489" y="301356"/>
                  </a:cubicBezTo>
                  <a:cubicBezTo>
                    <a:pt x="336286" y="301356"/>
                    <a:pt x="325350" y="301356"/>
                    <a:pt x="314414" y="301356"/>
                  </a:cubicBez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103">
              <a:extLst>
                <a:ext uri="{FF2B5EF4-FFF2-40B4-BE49-F238E27FC236}">
                  <a16:creationId xmlns:a16="http://schemas.microsoft.com/office/drawing/2014/main" id="{935118EE-64DC-42E7-9437-0E1748A680B4}"/>
                </a:ext>
              </a:extLst>
            </p:cNvPr>
            <p:cNvSpPr/>
            <p:nvPr/>
          </p:nvSpPr>
          <p:spPr>
            <a:xfrm>
              <a:off x="6472554" y="4111311"/>
              <a:ext cx="213254" cy="385499"/>
            </a:xfrm>
            <a:custGeom>
              <a:avLst/>
              <a:gdLst>
                <a:gd name="connsiteX0" fmla="*/ 213255 w 213254"/>
                <a:gd name="connsiteY0" fmla="*/ 385499 h 385499"/>
                <a:gd name="connsiteX1" fmla="*/ 144904 w 213254"/>
                <a:gd name="connsiteY1" fmla="*/ 385499 h 385499"/>
                <a:gd name="connsiteX2" fmla="*/ 144904 w 213254"/>
                <a:gd name="connsiteY2" fmla="*/ 358159 h 385499"/>
                <a:gd name="connsiteX3" fmla="*/ 185914 w 213254"/>
                <a:gd name="connsiteY3" fmla="*/ 358159 h 385499"/>
                <a:gd name="connsiteX4" fmla="*/ 180446 w 213254"/>
                <a:gd name="connsiteY4" fmla="*/ 27340 h 385499"/>
                <a:gd name="connsiteX5" fmla="*/ 0 w 213254"/>
                <a:gd name="connsiteY5" fmla="*/ 27340 h 385499"/>
                <a:gd name="connsiteX6" fmla="*/ 0 w 213254"/>
                <a:gd name="connsiteY6" fmla="*/ 0 h 385499"/>
                <a:gd name="connsiteX7" fmla="*/ 207787 w 213254"/>
                <a:gd name="connsiteY7" fmla="*/ 0 h 38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3254" h="385499">
                  <a:moveTo>
                    <a:pt x="213255" y="385499"/>
                  </a:moveTo>
                  <a:lnTo>
                    <a:pt x="144904" y="385499"/>
                  </a:lnTo>
                  <a:lnTo>
                    <a:pt x="144904" y="358159"/>
                  </a:lnTo>
                  <a:lnTo>
                    <a:pt x="185914" y="358159"/>
                  </a:lnTo>
                  <a:lnTo>
                    <a:pt x="18044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104">
              <a:extLst>
                <a:ext uri="{FF2B5EF4-FFF2-40B4-BE49-F238E27FC236}">
                  <a16:creationId xmlns:a16="http://schemas.microsoft.com/office/drawing/2014/main" id="{4AE69BC1-2CF9-4994-83EB-25E54EC093F1}"/>
                </a:ext>
              </a:extLst>
            </p:cNvPr>
            <p:cNvSpPr/>
            <p:nvPr/>
          </p:nvSpPr>
          <p:spPr>
            <a:xfrm>
              <a:off x="6521767" y="4193332"/>
              <a:ext cx="82021" cy="79287"/>
            </a:xfrm>
            <a:custGeom>
              <a:avLst/>
              <a:gdLst>
                <a:gd name="connsiteX0" fmla="*/ 0 w 82021"/>
                <a:gd name="connsiteY0" fmla="*/ 0 h 79287"/>
                <a:gd name="connsiteX1" fmla="*/ 82021 w 82021"/>
                <a:gd name="connsiteY1" fmla="*/ 0 h 79287"/>
                <a:gd name="connsiteX2" fmla="*/ 82021 w 82021"/>
                <a:gd name="connsiteY2" fmla="*/ 79287 h 79287"/>
                <a:gd name="connsiteX3" fmla="*/ 0 w 82021"/>
                <a:gd name="connsiteY3" fmla="*/ 79287 h 7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21" h="79287">
                  <a:moveTo>
                    <a:pt x="0" y="0"/>
                  </a:moveTo>
                  <a:lnTo>
                    <a:pt x="82021" y="0"/>
                  </a:lnTo>
                  <a:lnTo>
                    <a:pt x="82021" y="79287"/>
                  </a:lnTo>
                  <a:lnTo>
                    <a:pt x="0" y="79287"/>
                  </a:ln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11" name="Рисунок 12">
              <a:extLst>
                <a:ext uri="{FF2B5EF4-FFF2-40B4-BE49-F238E27FC236}">
                  <a16:creationId xmlns:a16="http://schemas.microsoft.com/office/drawing/2014/main" id="{4CE963FF-ABB1-4B41-855E-BD1799613828}"/>
                </a:ext>
              </a:extLst>
            </p:cNvPr>
            <p:cNvGrpSpPr/>
            <p:nvPr/>
          </p:nvGrpSpPr>
          <p:grpSpPr>
            <a:xfrm>
              <a:off x="7008425" y="3714876"/>
              <a:ext cx="254856" cy="278871"/>
              <a:chOff x="7008425" y="3714876"/>
              <a:chExt cx="254856" cy="278871"/>
            </a:xfrm>
            <a:solidFill>
              <a:srgbClr val="000000"/>
            </a:solidFill>
          </p:grpSpPr>
          <p:sp>
            <p:nvSpPr>
              <p:cNvPr id="112" name="Полилиния: фигура 106">
                <a:extLst>
                  <a:ext uri="{FF2B5EF4-FFF2-40B4-BE49-F238E27FC236}">
                    <a16:creationId xmlns:a16="http://schemas.microsoft.com/office/drawing/2014/main" id="{B4862A24-15BB-4B4D-83E2-9ADB464C37AD}"/>
                  </a:ext>
                </a:extLst>
              </p:cNvPr>
              <p:cNvSpPr/>
              <p:nvPr/>
            </p:nvSpPr>
            <p:spPr>
              <a:xfrm>
                <a:off x="7011159" y="3714876"/>
                <a:ext cx="252122" cy="278871"/>
              </a:xfrm>
              <a:custGeom>
                <a:avLst/>
                <a:gdLst>
                  <a:gd name="connsiteX0" fmla="*/ 84755 w 252122"/>
                  <a:gd name="connsiteY0" fmla="*/ 278871 h 278871"/>
                  <a:gd name="connsiteX1" fmla="*/ 57415 w 252122"/>
                  <a:gd name="connsiteY1" fmla="*/ 278871 h 278871"/>
                  <a:gd name="connsiteX2" fmla="*/ 57415 w 252122"/>
                  <a:gd name="connsiteY2" fmla="*/ 169510 h 278871"/>
                  <a:gd name="connsiteX3" fmla="*/ 0 w 252122"/>
                  <a:gd name="connsiteY3" fmla="*/ 169510 h 278871"/>
                  <a:gd name="connsiteX4" fmla="*/ 0 w 252122"/>
                  <a:gd name="connsiteY4" fmla="*/ 142170 h 278871"/>
                  <a:gd name="connsiteX5" fmla="*/ 57415 w 252122"/>
                  <a:gd name="connsiteY5" fmla="*/ 142170 h 278871"/>
                  <a:gd name="connsiteX6" fmla="*/ 57415 w 252122"/>
                  <a:gd name="connsiteY6" fmla="*/ 0 h 278871"/>
                  <a:gd name="connsiteX7" fmla="*/ 183181 w 252122"/>
                  <a:gd name="connsiteY7" fmla="*/ 2734 h 278871"/>
                  <a:gd name="connsiteX8" fmla="*/ 243329 w 252122"/>
                  <a:gd name="connsiteY8" fmla="*/ 51947 h 278871"/>
                  <a:gd name="connsiteX9" fmla="*/ 226925 w 252122"/>
                  <a:gd name="connsiteY9" fmla="*/ 150372 h 278871"/>
                  <a:gd name="connsiteX10" fmla="*/ 183181 w 252122"/>
                  <a:gd name="connsiteY10" fmla="*/ 169510 h 278871"/>
                  <a:gd name="connsiteX11" fmla="*/ 82021 w 252122"/>
                  <a:gd name="connsiteY11" fmla="*/ 169510 h 278871"/>
                  <a:gd name="connsiteX12" fmla="*/ 82021 w 252122"/>
                  <a:gd name="connsiteY12" fmla="*/ 278871 h 278871"/>
                  <a:gd name="connsiteX13" fmla="*/ 84755 w 252122"/>
                  <a:gd name="connsiteY13" fmla="*/ 139436 h 278871"/>
                  <a:gd name="connsiteX14" fmla="*/ 183181 w 252122"/>
                  <a:gd name="connsiteY14" fmla="*/ 139436 h 278871"/>
                  <a:gd name="connsiteX15" fmla="*/ 210521 w 252122"/>
                  <a:gd name="connsiteY15" fmla="*/ 125766 h 278871"/>
                  <a:gd name="connsiteX16" fmla="*/ 218723 w 252122"/>
                  <a:gd name="connsiteY16" fmla="*/ 60149 h 278871"/>
                  <a:gd name="connsiteX17" fmla="*/ 177712 w 252122"/>
                  <a:gd name="connsiteY17" fmla="*/ 27340 h 278871"/>
                  <a:gd name="connsiteX18" fmla="*/ 82021 w 252122"/>
                  <a:gd name="connsiteY18" fmla="*/ 27340 h 278871"/>
                  <a:gd name="connsiteX19" fmla="*/ 82021 w 252122"/>
                  <a:gd name="connsiteY19" fmla="*/ 139436 h 278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2122" h="278871">
                    <a:moveTo>
                      <a:pt x="84755" y="278871"/>
                    </a:moveTo>
                    <a:lnTo>
                      <a:pt x="57415" y="278871"/>
                    </a:lnTo>
                    <a:lnTo>
                      <a:pt x="57415" y="169510"/>
                    </a:lnTo>
                    <a:lnTo>
                      <a:pt x="0" y="169510"/>
                    </a:lnTo>
                    <a:lnTo>
                      <a:pt x="0" y="142170"/>
                    </a:lnTo>
                    <a:lnTo>
                      <a:pt x="57415" y="142170"/>
                    </a:lnTo>
                    <a:lnTo>
                      <a:pt x="57415" y="0"/>
                    </a:lnTo>
                    <a:lnTo>
                      <a:pt x="183181" y="2734"/>
                    </a:lnTo>
                    <a:cubicBezTo>
                      <a:pt x="194117" y="5468"/>
                      <a:pt x="226925" y="16404"/>
                      <a:pt x="243329" y="51947"/>
                    </a:cubicBezTo>
                    <a:cubicBezTo>
                      <a:pt x="257000" y="82021"/>
                      <a:pt x="257000" y="123032"/>
                      <a:pt x="226925" y="150372"/>
                    </a:cubicBezTo>
                    <a:cubicBezTo>
                      <a:pt x="213255" y="164042"/>
                      <a:pt x="194117" y="169510"/>
                      <a:pt x="183181" y="169510"/>
                    </a:cubicBezTo>
                    <a:lnTo>
                      <a:pt x="82021" y="169510"/>
                    </a:lnTo>
                    <a:lnTo>
                      <a:pt x="82021" y="278871"/>
                    </a:lnTo>
                    <a:close/>
                    <a:moveTo>
                      <a:pt x="84755" y="139436"/>
                    </a:moveTo>
                    <a:lnTo>
                      <a:pt x="183181" y="139436"/>
                    </a:lnTo>
                    <a:cubicBezTo>
                      <a:pt x="188649" y="139436"/>
                      <a:pt x="202319" y="136702"/>
                      <a:pt x="210521" y="125766"/>
                    </a:cubicBezTo>
                    <a:cubicBezTo>
                      <a:pt x="229659" y="109361"/>
                      <a:pt x="229659" y="79287"/>
                      <a:pt x="218723" y="60149"/>
                    </a:cubicBezTo>
                    <a:cubicBezTo>
                      <a:pt x="207787" y="38277"/>
                      <a:pt x="185914" y="30074"/>
                      <a:pt x="177712" y="27340"/>
                    </a:cubicBezTo>
                    <a:lnTo>
                      <a:pt x="82021" y="27340"/>
                    </a:lnTo>
                    <a:lnTo>
                      <a:pt x="82021" y="139436"/>
                    </a:lnTo>
                    <a:close/>
                  </a:path>
                </a:pathLst>
              </a:custGeom>
              <a:solidFill>
                <a:srgbClr val="FFFFFF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3" name="Полилиния: фигура 107">
                <a:extLst>
                  <a:ext uri="{FF2B5EF4-FFF2-40B4-BE49-F238E27FC236}">
                    <a16:creationId xmlns:a16="http://schemas.microsoft.com/office/drawing/2014/main" id="{9994ED46-0B01-4C01-B680-F19670AE14EF}"/>
                  </a:ext>
                </a:extLst>
              </p:cNvPr>
              <p:cNvSpPr/>
              <p:nvPr/>
            </p:nvSpPr>
            <p:spPr>
              <a:xfrm>
                <a:off x="7008425" y="3914461"/>
                <a:ext cx="136701" cy="27340"/>
              </a:xfrm>
              <a:custGeom>
                <a:avLst/>
                <a:gdLst>
                  <a:gd name="connsiteX0" fmla="*/ 0 w 136701"/>
                  <a:gd name="connsiteY0" fmla="*/ 0 h 27340"/>
                  <a:gd name="connsiteX1" fmla="*/ 136702 w 136701"/>
                  <a:gd name="connsiteY1" fmla="*/ 0 h 27340"/>
                  <a:gd name="connsiteX2" fmla="*/ 136702 w 136701"/>
                  <a:gd name="connsiteY2" fmla="*/ 27340 h 27340"/>
                  <a:gd name="connsiteX3" fmla="*/ 0 w 136701"/>
                  <a:gd name="connsiteY3" fmla="*/ 27340 h 2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701" h="27340">
                    <a:moveTo>
                      <a:pt x="0" y="0"/>
                    </a:moveTo>
                    <a:lnTo>
                      <a:pt x="136702" y="0"/>
                    </a:lnTo>
                    <a:lnTo>
                      <a:pt x="136702" y="27340"/>
                    </a:lnTo>
                    <a:lnTo>
                      <a:pt x="0" y="27340"/>
                    </a:lnTo>
                    <a:close/>
                  </a:path>
                </a:pathLst>
              </a:custGeom>
              <a:solidFill>
                <a:srgbClr val="8F0D6B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14" name="Полилиния: фигура 108">
              <a:extLst>
                <a:ext uri="{FF2B5EF4-FFF2-40B4-BE49-F238E27FC236}">
                  <a16:creationId xmlns:a16="http://schemas.microsoft.com/office/drawing/2014/main" id="{7B017136-F683-4CFB-B649-259D6834CB75}"/>
                </a:ext>
              </a:extLst>
            </p:cNvPr>
            <p:cNvSpPr/>
            <p:nvPr/>
          </p:nvSpPr>
          <p:spPr>
            <a:xfrm>
              <a:off x="6781500" y="3526228"/>
              <a:ext cx="658902" cy="658902"/>
            </a:xfrm>
            <a:custGeom>
              <a:avLst/>
              <a:gdLst>
                <a:gd name="connsiteX0" fmla="*/ 328084 w 658902"/>
                <a:gd name="connsiteY0" fmla="*/ 658903 h 658902"/>
                <a:gd name="connsiteX1" fmla="*/ 0 w 658902"/>
                <a:gd name="connsiteY1" fmla="*/ 328084 h 658902"/>
                <a:gd name="connsiteX2" fmla="*/ 328084 w 658902"/>
                <a:gd name="connsiteY2" fmla="*/ 0 h 658902"/>
                <a:gd name="connsiteX3" fmla="*/ 658903 w 658902"/>
                <a:gd name="connsiteY3" fmla="*/ 328084 h 658902"/>
                <a:gd name="connsiteX4" fmla="*/ 541339 w 658902"/>
                <a:gd name="connsiteY4" fmla="*/ 445648 h 658902"/>
                <a:gd name="connsiteX5" fmla="*/ 522201 w 658902"/>
                <a:gd name="connsiteY5" fmla="*/ 426509 h 658902"/>
                <a:gd name="connsiteX6" fmla="*/ 620626 w 658902"/>
                <a:gd name="connsiteY6" fmla="*/ 328084 h 658902"/>
                <a:gd name="connsiteX7" fmla="*/ 328084 w 658902"/>
                <a:gd name="connsiteY7" fmla="*/ 38277 h 658902"/>
                <a:gd name="connsiteX8" fmla="*/ 38276 w 658902"/>
                <a:gd name="connsiteY8" fmla="*/ 328084 h 658902"/>
                <a:gd name="connsiteX9" fmla="*/ 328084 w 658902"/>
                <a:gd name="connsiteY9" fmla="*/ 620626 h 658902"/>
                <a:gd name="connsiteX10" fmla="*/ 418307 w 658902"/>
                <a:gd name="connsiteY10" fmla="*/ 530403 h 658902"/>
                <a:gd name="connsiteX11" fmla="*/ 437446 w 658902"/>
                <a:gd name="connsiteY11" fmla="*/ 549541 h 658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8902" h="658902">
                  <a:moveTo>
                    <a:pt x="328084" y="658903"/>
                  </a:moveTo>
                  <a:lnTo>
                    <a:pt x="0" y="328084"/>
                  </a:lnTo>
                  <a:lnTo>
                    <a:pt x="328084" y="0"/>
                  </a:lnTo>
                  <a:lnTo>
                    <a:pt x="658903" y="328084"/>
                  </a:lnTo>
                  <a:lnTo>
                    <a:pt x="541339" y="445648"/>
                  </a:lnTo>
                  <a:lnTo>
                    <a:pt x="522201" y="426509"/>
                  </a:lnTo>
                  <a:lnTo>
                    <a:pt x="620626" y="328084"/>
                  </a:lnTo>
                  <a:lnTo>
                    <a:pt x="328084" y="38277"/>
                  </a:lnTo>
                  <a:lnTo>
                    <a:pt x="38276" y="328084"/>
                  </a:lnTo>
                  <a:lnTo>
                    <a:pt x="328084" y="620626"/>
                  </a:lnTo>
                  <a:lnTo>
                    <a:pt x="418307" y="530403"/>
                  </a:lnTo>
                  <a:lnTo>
                    <a:pt x="437446" y="5495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5" name="Группа 476">
            <a:extLst>
              <a:ext uri="{FF2B5EF4-FFF2-40B4-BE49-F238E27FC236}">
                <a16:creationId xmlns:a16="http://schemas.microsoft.com/office/drawing/2014/main" id="{421AA0C0-4672-4F98-9CD7-D9B66364F856}"/>
              </a:ext>
            </a:extLst>
          </p:cNvPr>
          <p:cNvGrpSpPr>
            <a:grpSpLocks noChangeAspect="1"/>
          </p:cNvGrpSpPr>
          <p:nvPr/>
        </p:nvGrpSpPr>
        <p:grpSpPr>
          <a:xfrm>
            <a:off x="7698641" y="5626426"/>
            <a:ext cx="449398" cy="381914"/>
            <a:chOff x="10361005" y="926469"/>
            <a:chExt cx="1021745" cy="868314"/>
          </a:xfrm>
        </p:grpSpPr>
        <p:sp>
          <p:nvSpPr>
            <p:cNvPr id="116" name="Полилиния: фигура 7">
              <a:extLst>
                <a:ext uri="{FF2B5EF4-FFF2-40B4-BE49-F238E27FC236}">
                  <a16:creationId xmlns:a16="http://schemas.microsoft.com/office/drawing/2014/main" id="{14F6B81A-C5E7-4AF3-974C-51C96CF072EF}"/>
                </a:ext>
              </a:extLst>
            </p:cNvPr>
            <p:cNvSpPr/>
            <p:nvPr/>
          </p:nvSpPr>
          <p:spPr>
            <a:xfrm>
              <a:off x="10752682" y="1011006"/>
              <a:ext cx="235410" cy="553906"/>
            </a:xfrm>
            <a:custGeom>
              <a:avLst/>
              <a:gdLst>
                <a:gd name="connsiteX0" fmla="*/ 196637 w 235410"/>
                <a:gd name="connsiteY0" fmla="*/ 553907 h 553906"/>
                <a:gd name="connsiteX1" fmla="*/ 8309 w 235410"/>
                <a:gd name="connsiteY1" fmla="*/ 384965 h 553906"/>
                <a:gd name="connsiteX2" fmla="*/ 0 w 235410"/>
                <a:gd name="connsiteY2" fmla="*/ 365579 h 553906"/>
                <a:gd name="connsiteX3" fmla="*/ 0 w 235410"/>
                <a:gd name="connsiteY3" fmla="*/ 0 h 553906"/>
                <a:gd name="connsiteX4" fmla="*/ 55391 w 235410"/>
                <a:gd name="connsiteY4" fmla="*/ 0 h 553906"/>
                <a:gd name="connsiteX5" fmla="*/ 55391 w 235410"/>
                <a:gd name="connsiteY5" fmla="*/ 348961 h 553906"/>
                <a:gd name="connsiteX6" fmla="*/ 235410 w 235410"/>
                <a:gd name="connsiteY6" fmla="*/ 509594 h 553906"/>
                <a:gd name="connsiteX7" fmla="*/ 196637 w 235410"/>
                <a:gd name="connsiteY7" fmla="*/ 553907 h 553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410" h="553906">
                  <a:moveTo>
                    <a:pt x="196637" y="553907"/>
                  </a:moveTo>
                  <a:lnTo>
                    <a:pt x="8309" y="384965"/>
                  </a:lnTo>
                  <a:cubicBezTo>
                    <a:pt x="2770" y="379426"/>
                    <a:pt x="0" y="371118"/>
                    <a:pt x="0" y="365579"/>
                  </a:cubicBezTo>
                  <a:lnTo>
                    <a:pt x="0" y="0"/>
                  </a:lnTo>
                  <a:lnTo>
                    <a:pt x="55391" y="0"/>
                  </a:lnTo>
                  <a:lnTo>
                    <a:pt x="55391" y="348961"/>
                  </a:lnTo>
                  <a:lnTo>
                    <a:pt x="235410" y="509594"/>
                  </a:lnTo>
                  <a:lnTo>
                    <a:pt x="196637" y="553907"/>
                  </a:ln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8">
              <a:extLst>
                <a:ext uri="{FF2B5EF4-FFF2-40B4-BE49-F238E27FC236}">
                  <a16:creationId xmlns:a16="http://schemas.microsoft.com/office/drawing/2014/main" id="{B042BD3B-D770-4EFF-8A8C-80CBFA1D8A08}"/>
                </a:ext>
              </a:extLst>
            </p:cNvPr>
            <p:cNvSpPr/>
            <p:nvPr/>
          </p:nvSpPr>
          <p:spPr>
            <a:xfrm>
              <a:off x="10361005" y="926469"/>
              <a:ext cx="771102" cy="868314"/>
            </a:xfrm>
            <a:custGeom>
              <a:avLst/>
              <a:gdLst>
                <a:gd name="connsiteX0" fmla="*/ 433220 w 771102"/>
                <a:gd name="connsiteY0" fmla="*/ 868315 h 868314"/>
                <a:gd name="connsiteX1" fmla="*/ 397216 w 771102"/>
                <a:gd name="connsiteY1" fmla="*/ 865545 h 868314"/>
                <a:gd name="connsiteX2" fmla="*/ 103646 w 771102"/>
                <a:gd name="connsiteY2" fmla="*/ 713221 h 868314"/>
                <a:gd name="connsiteX3" fmla="*/ 1173 w 771102"/>
                <a:gd name="connsiteY3" fmla="*/ 397494 h 868314"/>
                <a:gd name="connsiteX4" fmla="*/ 469224 w 771102"/>
                <a:gd name="connsiteY4" fmla="*/ 1450 h 868314"/>
                <a:gd name="connsiteX5" fmla="*/ 771103 w 771102"/>
                <a:gd name="connsiteY5" fmla="*/ 159314 h 868314"/>
                <a:gd name="connsiteX6" fmla="*/ 748947 w 771102"/>
                <a:gd name="connsiteY6" fmla="*/ 175931 h 868314"/>
                <a:gd name="connsiteX7" fmla="*/ 466454 w 771102"/>
                <a:gd name="connsiteY7" fmla="*/ 26376 h 868314"/>
                <a:gd name="connsiteX8" fmla="*/ 28868 w 771102"/>
                <a:gd name="connsiteY8" fmla="*/ 397494 h 868314"/>
                <a:gd name="connsiteX9" fmla="*/ 123032 w 771102"/>
                <a:gd name="connsiteY9" fmla="*/ 693834 h 868314"/>
                <a:gd name="connsiteX10" fmla="*/ 399985 w 771102"/>
                <a:gd name="connsiteY10" fmla="*/ 835080 h 868314"/>
                <a:gd name="connsiteX11" fmla="*/ 624318 w 771102"/>
                <a:gd name="connsiteY11" fmla="*/ 787998 h 868314"/>
                <a:gd name="connsiteX12" fmla="*/ 638165 w 771102"/>
                <a:gd name="connsiteY12" fmla="*/ 812924 h 868314"/>
                <a:gd name="connsiteX13" fmla="*/ 433220 w 771102"/>
                <a:gd name="connsiteY13" fmla="*/ 868315 h 86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1102" h="868314">
                  <a:moveTo>
                    <a:pt x="433220" y="868315"/>
                  </a:moveTo>
                  <a:cubicBezTo>
                    <a:pt x="422142" y="868315"/>
                    <a:pt x="408294" y="868315"/>
                    <a:pt x="397216" y="865545"/>
                  </a:cubicBezTo>
                  <a:cubicBezTo>
                    <a:pt x="280896" y="857236"/>
                    <a:pt x="178423" y="801846"/>
                    <a:pt x="103646" y="713221"/>
                  </a:cubicBezTo>
                  <a:cubicBezTo>
                    <a:pt x="28868" y="624595"/>
                    <a:pt x="-7136" y="513814"/>
                    <a:pt x="1173" y="397494"/>
                  </a:cubicBezTo>
                  <a:cubicBezTo>
                    <a:pt x="20560" y="159314"/>
                    <a:pt x="231044" y="-17937"/>
                    <a:pt x="469224" y="1450"/>
                  </a:cubicBezTo>
                  <a:cubicBezTo>
                    <a:pt x="588314" y="12528"/>
                    <a:pt x="693556" y="67919"/>
                    <a:pt x="771103" y="159314"/>
                  </a:cubicBezTo>
                  <a:lnTo>
                    <a:pt x="748947" y="175931"/>
                  </a:lnTo>
                  <a:cubicBezTo>
                    <a:pt x="679708" y="90075"/>
                    <a:pt x="577236" y="37454"/>
                    <a:pt x="466454" y="26376"/>
                  </a:cubicBezTo>
                  <a:cubicBezTo>
                    <a:pt x="242122" y="6989"/>
                    <a:pt x="48255" y="173161"/>
                    <a:pt x="28868" y="397494"/>
                  </a:cubicBezTo>
                  <a:cubicBezTo>
                    <a:pt x="20560" y="505505"/>
                    <a:pt x="53794" y="610748"/>
                    <a:pt x="123032" y="693834"/>
                  </a:cubicBezTo>
                  <a:cubicBezTo>
                    <a:pt x="192271" y="776920"/>
                    <a:pt x="291974" y="826772"/>
                    <a:pt x="399985" y="835080"/>
                  </a:cubicBezTo>
                  <a:cubicBezTo>
                    <a:pt x="477532" y="840619"/>
                    <a:pt x="555079" y="826772"/>
                    <a:pt x="624318" y="787998"/>
                  </a:cubicBezTo>
                  <a:lnTo>
                    <a:pt x="638165" y="812924"/>
                  </a:lnTo>
                  <a:cubicBezTo>
                    <a:pt x="574466" y="851697"/>
                    <a:pt x="505228" y="868315"/>
                    <a:pt x="433220" y="868315"/>
                  </a:cubicBez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9">
              <a:extLst>
                <a:ext uri="{FF2B5EF4-FFF2-40B4-BE49-F238E27FC236}">
                  <a16:creationId xmlns:a16="http://schemas.microsoft.com/office/drawing/2014/main" id="{12F94E24-AFFF-4D4D-BFBD-81BC7EA00F88}"/>
                </a:ext>
              </a:extLst>
            </p:cNvPr>
            <p:cNvSpPr/>
            <p:nvPr/>
          </p:nvSpPr>
          <p:spPr>
            <a:xfrm>
              <a:off x="11032405" y="1598147"/>
              <a:ext cx="105242" cy="102472"/>
            </a:xfrm>
            <a:custGeom>
              <a:avLst/>
              <a:gdLst>
                <a:gd name="connsiteX0" fmla="*/ 0 w 105242"/>
                <a:gd name="connsiteY0" fmla="*/ 0 h 102472"/>
                <a:gd name="connsiteX1" fmla="*/ 105242 w 105242"/>
                <a:gd name="connsiteY1" fmla="*/ 0 h 102472"/>
                <a:gd name="connsiteX2" fmla="*/ 105242 w 105242"/>
                <a:gd name="connsiteY2" fmla="*/ 102473 h 102472"/>
                <a:gd name="connsiteX3" fmla="*/ 0 w 105242"/>
                <a:gd name="connsiteY3" fmla="*/ 102473 h 10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42" h="102472">
                  <a:moveTo>
                    <a:pt x="0" y="0"/>
                  </a:moveTo>
                  <a:lnTo>
                    <a:pt x="105242" y="0"/>
                  </a:lnTo>
                  <a:lnTo>
                    <a:pt x="105242" y="102473"/>
                  </a:lnTo>
                  <a:lnTo>
                    <a:pt x="0" y="102473"/>
                  </a:lnTo>
                  <a:close/>
                </a:path>
              </a:pathLst>
            </a:custGeom>
            <a:solidFill>
              <a:srgbClr val="FFFFFF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10">
              <a:extLst>
                <a:ext uri="{FF2B5EF4-FFF2-40B4-BE49-F238E27FC236}">
                  <a16:creationId xmlns:a16="http://schemas.microsoft.com/office/drawing/2014/main" id="{BF8E14E7-9FC5-4A9D-9469-61AD949A6EE9}"/>
                </a:ext>
              </a:extLst>
            </p:cNvPr>
            <p:cNvSpPr/>
            <p:nvPr/>
          </p:nvSpPr>
          <p:spPr>
            <a:xfrm>
              <a:off x="10990862" y="963924"/>
              <a:ext cx="157863" cy="160632"/>
            </a:xfrm>
            <a:custGeom>
              <a:avLst/>
              <a:gdLst>
                <a:gd name="connsiteX0" fmla="*/ 146785 w 157863"/>
                <a:gd name="connsiteY0" fmla="*/ 160633 h 160632"/>
                <a:gd name="connsiteX1" fmla="*/ 144016 w 157863"/>
                <a:gd name="connsiteY1" fmla="*/ 160633 h 160632"/>
                <a:gd name="connsiteX2" fmla="*/ 0 w 157863"/>
                <a:gd name="connsiteY2" fmla="*/ 127399 h 160632"/>
                <a:gd name="connsiteX3" fmla="*/ 5539 w 157863"/>
                <a:gd name="connsiteY3" fmla="*/ 99703 h 160632"/>
                <a:gd name="connsiteX4" fmla="*/ 127399 w 157863"/>
                <a:gd name="connsiteY4" fmla="*/ 127399 h 160632"/>
                <a:gd name="connsiteX5" fmla="*/ 99703 w 157863"/>
                <a:gd name="connsiteY5" fmla="*/ 5539 h 160632"/>
                <a:gd name="connsiteX6" fmla="*/ 127399 w 157863"/>
                <a:gd name="connsiteY6" fmla="*/ 0 h 160632"/>
                <a:gd name="connsiteX7" fmla="*/ 157863 w 157863"/>
                <a:gd name="connsiteY7" fmla="*/ 144016 h 160632"/>
                <a:gd name="connsiteX8" fmla="*/ 155094 w 157863"/>
                <a:gd name="connsiteY8" fmla="*/ 157863 h 160632"/>
                <a:gd name="connsiteX9" fmla="*/ 146785 w 157863"/>
                <a:gd name="connsiteY9" fmla="*/ 160633 h 1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863" h="160632">
                  <a:moveTo>
                    <a:pt x="146785" y="160633"/>
                  </a:moveTo>
                  <a:cubicBezTo>
                    <a:pt x="146785" y="160633"/>
                    <a:pt x="144016" y="160633"/>
                    <a:pt x="144016" y="160633"/>
                  </a:cubicBezTo>
                  <a:lnTo>
                    <a:pt x="0" y="127399"/>
                  </a:lnTo>
                  <a:lnTo>
                    <a:pt x="5539" y="99703"/>
                  </a:lnTo>
                  <a:lnTo>
                    <a:pt x="127399" y="127399"/>
                  </a:lnTo>
                  <a:lnTo>
                    <a:pt x="99703" y="5539"/>
                  </a:lnTo>
                  <a:lnTo>
                    <a:pt x="127399" y="0"/>
                  </a:lnTo>
                  <a:lnTo>
                    <a:pt x="157863" y="144016"/>
                  </a:lnTo>
                  <a:cubicBezTo>
                    <a:pt x="157863" y="149555"/>
                    <a:pt x="157863" y="152324"/>
                    <a:pt x="155094" y="157863"/>
                  </a:cubicBezTo>
                  <a:cubicBezTo>
                    <a:pt x="152324" y="160633"/>
                    <a:pt x="149555" y="160633"/>
                    <a:pt x="146785" y="160633"/>
                  </a:cubicBezTo>
                  <a:close/>
                </a:path>
              </a:pathLst>
            </a:custGeom>
            <a:solidFill>
              <a:srgbClr val="FFFFFF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20" name="Рисунок 2">
              <a:extLst>
                <a:ext uri="{FF2B5EF4-FFF2-40B4-BE49-F238E27FC236}">
                  <a16:creationId xmlns:a16="http://schemas.microsoft.com/office/drawing/2014/main" id="{C946009D-FDAE-4739-B674-85F204438FE9}"/>
                </a:ext>
              </a:extLst>
            </p:cNvPr>
            <p:cNvGrpSpPr/>
            <p:nvPr/>
          </p:nvGrpSpPr>
          <p:grpSpPr>
            <a:xfrm>
              <a:off x="10992247" y="1157791"/>
              <a:ext cx="390503" cy="384965"/>
              <a:chOff x="10992247" y="1157791"/>
              <a:chExt cx="390503" cy="384965"/>
            </a:xfrm>
            <a:solidFill>
              <a:srgbClr val="000000"/>
            </a:solidFill>
          </p:grpSpPr>
          <p:grpSp>
            <p:nvGrpSpPr>
              <p:cNvPr id="121" name="Рисунок 2">
                <a:extLst>
                  <a:ext uri="{FF2B5EF4-FFF2-40B4-BE49-F238E27FC236}">
                    <a16:creationId xmlns:a16="http://schemas.microsoft.com/office/drawing/2014/main" id="{40803AB1-3E79-490C-994A-FDF06EBDE6FF}"/>
                  </a:ext>
                </a:extLst>
              </p:cNvPr>
              <p:cNvGrpSpPr/>
              <p:nvPr/>
            </p:nvGrpSpPr>
            <p:grpSpPr>
              <a:xfrm>
                <a:off x="11129339" y="1263033"/>
                <a:ext cx="152548" cy="168941"/>
                <a:chOff x="11129339" y="1263033"/>
                <a:chExt cx="152548" cy="168941"/>
              </a:xfrm>
              <a:solidFill>
                <a:srgbClr val="FFFFFF"/>
              </a:solidFill>
            </p:grpSpPr>
            <p:sp>
              <p:nvSpPr>
                <p:cNvPr id="122" name="Полилиния: фигура 32">
                  <a:extLst>
                    <a:ext uri="{FF2B5EF4-FFF2-40B4-BE49-F238E27FC236}">
                      <a16:creationId xmlns:a16="http://schemas.microsoft.com/office/drawing/2014/main" id="{3C1AFC5B-742F-4705-BC47-C1F2710F22E2}"/>
                    </a:ext>
                  </a:extLst>
                </p:cNvPr>
                <p:cNvSpPr/>
                <p:nvPr/>
              </p:nvSpPr>
              <p:spPr>
                <a:xfrm>
                  <a:off x="11129339" y="1263033"/>
                  <a:ext cx="152548" cy="168941"/>
                </a:xfrm>
                <a:custGeom>
                  <a:avLst/>
                  <a:gdLst>
                    <a:gd name="connsiteX0" fmla="*/ 55391 w 152548"/>
                    <a:gd name="connsiteY0" fmla="*/ 168942 h 168941"/>
                    <a:gd name="connsiteX1" fmla="*/ 27695 w 152548"/>
                    <a:gd name="connsiteY1" fmla="*/ 168942 h 168941"/>
                    <a:gd name="connsiteX2" fmla="*/ 27695 w 152548"/>
                    <a:gd name="connsiteY2" fmla="*/ 110781 h 168941"/>
                    <a:gd name="connsiteX3" fmla="*/ 0 w 152548"/>
                    <a:gd name="connsiteY3" fmla="*/ 110781 h 168941"/>
                    <a:gd name="connsiteX4" fmla="*/ 0 w 152548"/>
                    <a:gd name="connsiteY4" fmla="*/ 83086 h 168941"/>
                    <a:gd name="connsiteX5" fmla="*/ 27695 w 152548"/>
                    <a:gd name="connsiteY5" fmla="*/ 83086 h 168941"/>
                    <a:gd name="connsiteX6" fmla="*/ 27695 w 152548"/>
                    <a:gd name="connsiteY6" fmla="*/ 13848 h 168941"/>
                    <a:gd name="connsiteX7" fmla="*/ 30465 w 152548"/>
                    <a:gd name="connsiteY7" fmla="*/ 2770 h 168941"/>
                    <a:gd name="connsiteX8" fmla="*/ 41543 w 152548"/>
                    <a:gd name="connsiteY8" fmla="*/ 0 h 168941"/>
                    <a:gd name="connsiteX9" fmla="*/ 105242 w 152548"/>
                    <a:gd name="connsiteY9" fmla="*/ 0 h 168941"/>
                    <a:gd name="connsiteX10" fmla="*/ 108012 w 152548"/>
                    <a:gd name="connsiteY10" fmla="*/ 0 h 168941"/>
                    <a:gd name="connsiteX11" fmla="*/ 146785 w 152548"/>
                    <a:gd name="connsiteY11" fmla="*/ 30465 h 168941"/>
                    <a:gd name="connsiteX12" fmla="*/ 135707 w 152548"/>
                    <a:gd name="connsiteY12" fmla="*/ 94164 h 168941"/>
                    <a:gd name="connsiteX13" fmla="*/ 108012 w 152548"/>
                    <a:gd name="connsiteY13" fmla="*/ 108012 h 168941"/>
                    <a:gd name="connsiteX14" fmla="*/ 55391 w 152548"/>
                    <a:gd name="connsiteY14" fmla="*/ 108012 h 168941"/>
                    <a:gd name="connsiteX15" fmla="*/ 55391 w 152548"/>
                    <a:gd name="connsiteY15" fmla="*/ 168942 h 168941"/>
                    <a:gd name="connsiteX16" fmla="*/ 55391 w 152548"/>
                    <a:gd name="connsiteY16" fmla="*/ 83086 h 168941"/>
                    <a:gd name="connsiteX17" fmla="*/ 105242 w 152548"/>
                    <a:gd name="connsiteY17" fmla="*/ 83086 h 168941"/>
                    <a:gd name="connsiteX18" fmla="*/ 116320 w 152548"/>
                    <a:gd name="connsiteY18" fmla="*/ 77547 h 168941"/>
                    <a:gd name="connsiteX19" fmla="*/ 121859 w 152548"/>
                    <a:gd name="connsiteY19" fmla="*/ 47082 h 168941"/>
                    <a:gd name="connsiteX20" fmla="*/ 102473 w 152548"/>
                    <a:gd name="connsiteY20" fmla="*/ 30465 h 168941"/>
                    <a:gd name="connsiteX21" fmla="*/ 55391 w 152548"/>
                    <a:gd name="connsiteY21" fmla="*/ 30465 h 168941"/>
                    <a:gd name="connsiteX22" fmla="*/ 55391 w 152548"/>
                    <a:gd name="connsiteY22" fmla="*/ 83086 h 168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52548" h="168941">
                      <a:moveTo>
                        <a:pt x="55391" y="168942"/>
                      </a:moveTo>
                      <a:lnTo>
                        <a:pt x="27695" y="168942"/>
                      </a:lnTo>
                      <a:lnTo>
                        <a:pt x="27695" y="110781"/>
                      </a:lnTo>
                      <a:lnTo>
                        <a:pt x="0" y="110781"/>
                      </a:lnTo>
                      <a:lnTo>
                        <a:pt x="0" y="83086"/>
                      </a:lnTo>
                      <a:lnTo>
                        <a:pt x="27695" y="83086"/>
                      </a:lnTo>
                      <a:lnTo>
                        <a:pt x="27695" y="13848"/>
                      </a:lnTo>
                      <a:cubicBezTo>
                        <a:pt x="27695" y="11078"/>
                        <a:pt x="30465" y="5539"/>
                        <a:pt x="30465" y="2770"/>
                      </a:cubicBezTo>
                      <a:cubicBezTo>
                        <a:pt x="33234" y="0"/>
                        <a:pt x="38773" y="0"/>
                        <a:pt x="41543" y="0"/>
                      </a:cubicBezTo>
                      <a:lnTo>
                        <a:pt x="105242" y="0"/>
                      </a:lnTo>
                      <a:cubicBezTo>
                        <a:pt x="105242" y="0"/>
                        <a:pt x="108012" y="0"/>
                        <a:pt x="108012" y="0"/>
                      </a:cubicBezTo>
                      <a:cubicBezTo>
                        <a:pt x="113551" y="2770"/>
                        <a:pt x="135707" y="8309"/>
                        <a:pt x="146785" y="30465"/>
                      </a:cubicBezTo>
                      <a:cubicBezTo>
                        <a:pt x="157863" y="52621"/>
                        <a:pt x="152324" y="80316"/>
                        <a:pt x="135707" y="94164"/>
                      </a:cubicBezTo>
                      <a:cubicBezTo>
                        <a:pt x="127399" y="102473"/>
                        <a:pt x="119090" y="105242"/>
                        <a:pt x="108012" y="108012"/>
                      </a:cubicBezTo>
                      <a:lnTo>
                        <a:pt x="55391" y="108012"/>
                      </a:lnTo>
                      <a:lnTo>
                        <a:pt x="55391" y="168942"/>
                      </a:lnTo>
                      <a:close/>
                      <a:moveTo>
                        <a:pt x="55391" y="83086"/>
                      </a:moveTo>
                      <a:lnTo>
                        <a:pt x="105242" y="83086"/>
                      </a:lnTo>
                      <a:cubicBezTo>
                        <a:pt x="108012" y="83086"/>
                        <a:pt x="113551" y="80316"/>
                        <a:pt x="116320" y="77547"/>
                      </a:cubicBezTo>
                      <a:cubicBezTo>
                        <a:pt x="124629" y="69238"/>
                        <a:pt x="124629" y="55391"/>
                        <a:pt x="121859" y="47082"/>
                      </a:cubicBezTo>
                      <a:cubicBezTo>
                        <a:pt x="116320" y="36004"/>
                        <a:pt x="108012" y="33234"/>
                        <a:pt x="102473" y="30465"/>
                      </a:cubicBezTo>
                      <a:lnTo>
                        <a:pt x="55391" y="30465"/>
                      </a:lnTo>
                      <a:lnTo>
                        <a:pt x="55391" y="830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68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23" name="Полилиния: фигура 35">
                  <a:extLst>
                    <a:ext uri="{FF2B5EF4-FFF2-40B4-BE49-F238E27FC236}">
                      <a16:creationId xmlns:a16="http://schemas.microsoft.com/office/drawing/2014/main" id="{6B03367E-85D2-4805-A993-E6A05FB4238E}"/>
                    </a:ext>
                  </a:extLst>
                </p:cNvPr>
                <p:cNvSpPr/>
                <p:nvPr/>
              </p:nvSpPr>
              <p:spPr>
                <a:xfrm>
                  <a:off x="11129339" y="1379354"/>
                  <a:ext cx="80316" cy="27695"/>
                </a:xfrm>
                <a:custGeom>
                  <a:avLst/>
                  <a:gdLst>
                    <a:gd name="connsiteX0" fmla="*/ 0 w 80316"/>
                    <a:gd name="connsiteY0" fmla="*/ 0 h 27695"/>
                    <a:gd name="connsiteX1" fmla="*/ 80316 w 80316"/>
                    <a:gd name="connsiteY1" fmla="*/ 0 h 27695"/>
                    <a:gd name="connsiteX2" fmla="*/ 80316 w 80316"/>
                    <a:gd name="connsiteY2" fmla="*/ 27695 h 27695"/>
                    <a:gd name="connsiteX3" fmla="*/ 0 w 80316"/>
                    <a:gd name="connsiteY3" fmla="*/ 27695 h 27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316" h="27695">
                      <a:moveTo>
                        <a:pt x="0" y="0"/>
                      </a:moveTo>
                      <a:lnTo>
                        <a:pt x="80316" y="0"/>
                      </a:lnTo>
                      <a:lnTo>
                        <a:pt x="80316" y="27695"/>
                      </a:lnTo>
                      <a:lnTo>
                        <a:pt x="0" y="2769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768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124" name="Полилиния: фигура 36">
                <a:extLst>
                  <a:ext uri="{FF2B5EF4-FFF2-40B4-BE49-F238E27FC236}">
                    <a16:creationId xmlns:a16="http://schemas.microsoft.com/office/drawing/2014/main" id="{FEA0DA0D-88FC-4FD5-B5CE-1AC5A18E40CA}"/>
                  </a:ext>
                </a:extLst>
              </p:cNvPr>
              <p:cNvSpPr/>
              <p:nvPr/>
            </p:nvSpPr>
            <p:spPr>
              <a:xfrm>
                <a:off x="10992247" y="1157791"/>
                <a:ext cx="390503" cy="384965"/>
              </a:xfrm>
              <a:custGeom>
                <a:avLst/>
                <a:gdLst>
                  <a:gd name="connsiteX0" fmla="*/ 195252 w 390503"/>
                  <a:gd name="connsiteY0" fmla="*/ 384965 h 384965"/>
                  <a:gd name="connsiteX1" fmla="*/ 184174 w 390503"/>
                  <a:gd name="connsiteY1" fmla="*/ 382196 h 384965"/>
                  <a:gd name="connsiteX2" fmla="*/ 126014 w 390503"/>
                  <a:gd name="connsiteY2" fmla="*/ 324036 h 384965"/>
                  <a:gd name="connsiteX3" fmla="*/ 145401 w 390503"/>
                  <a:gd name="connsiteY3" fmla="*/ 304649 h 384965"/>
                  <a:gd name="connsiteX4" fmla="*/ 192482 w 390503"/>
                  <a:gd name="connsiteY4" fmla="*/ 351731 h 384965"/>
                  <a:gd name="connsiteX5" fmla="*/ 353115 w 390503"/>
                  <a:gd name="connsiteY5" fmla="*/ 191098 h 384965"/>
                  <a:gd name="connsiteX6" fmla="*/ 192482 w 390503"/>
                  <a:gd name="connsiteY6" fmla="*/ 30465 h 384965"/>
                  <a:gd name="connsiteX7" fmla="*/ 31850 w 390503"/>
                  <a:gd name="connsiteY7" fmla="*/ 191098 h 384965"/>
                  <a:gd name="connsiteX8" fmla="*/ 84471 w 390503"/>
                  <a:gd name="connsiteY8" fmla="*/ 243719 h 384965"/>
                  <a:gd name="connsiteX9" fmla="*/ 65084 w 390503"/>
                  <a:gd name="connsiteY9" fmla="*/ 263106 h 384965"/>
                  <a:gd name="connsiteX10" fmla="*/ 4154 w 390503"/>
                  <a:gd name="connsiteY10" fmla="*/ 202176 h 384965"/>
                  <a:gd name="connsiteX11" fmla="*/ 4154 w 390503"/>
                  <a:gd name="connsiteY11" fmla="*/ 182789 h 384965"/>
                  <a:gd name="connsiteX12" fmla="*/ 184174 w 390503"/>
                  <a:gd name="connsiteY12" fmla="*/ 2770 h 384965"/>
                  <a:gd name="connsiteX13" fmla="*/ 195252 w 390503"/>
                  <a:gd name="connsiteY13" fmla="*/ 0 h 384965"/>
                  <a:gd name="connsiteX14" fmla="*/ 195252 w 390503"/>
                  <a:gd name="connsiteY14" fmla="*/ 0 h 384965"/>
                  <a:gd name="connsiteX15" fmla="*/ 206330 w 390503"/>
                  <a:gd name="connsiteY15" fmla="*/ 2770 h 384965"/>
                  <a:gd name="connsiteX16" fmla="*/ 386350 w 390503"/>
                  <a:gd name="connsiteY16" fmla="*/ 182789 h 384965"/>
                  <a:gd name="connsiteX17" fmla="*/ 386350 w 390503"/>
                  <a:gd name="connsiteY17" fmla="*/ 202176 h 384965"/>
                  <a:gd name="connsiteX18" fmla="*/ 206330 w 390503"/>
                  <a:gd name="connsiteY18" fmla="*/ 382196 h 384965"/>
                  <a:gd name="connsiteX19" fmla="*/ 195252 w 390503"/>
                  <a:gd name="connsiteY19" fmla="*/ 384965 h 384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90503" h="384965">
                    <a:moveTo>
                      <a:pt x="195252" y="384965"/>
                    </a:moveTo>
                    <a:cubicBezTo>
                      <a:pt x="192482" y="384965"/>
                      <a:pt x="186944" y="384965"/>
                      <a:pt x="184174" y="382196"/>
                    </a:cubicBezTo>
                    <a:lnTo>
                      <a:pt x="126014" y="324036"/>
                    </a:lnTo>
                    <a:lnTo>
                      <a:pt x="145401" y="304649"/>
                    </a:lnTo>
                    <a:lnTo>
                      <a:pt x="192482" y="351731"/>
                    </a:lnTo>
                    <a:lnTo>
                      <a:pt x="353115" y="191098"/>
                    </a:lnTo>
                    <a:lnTo>
                      <a:pt x="192482" y="30465"/>
                    </a:lnTo>
                    <a:lnTo>
                      <a:pt x="31850" y="191098"/>
                    </a:lnTo>
                    <a:lnTo>
                      <a:pt x="84471" y="243719"/>
                    </a:lnTo>
                    <a:lnTo>
                      <a:pt x="65084" y="263106"/>
                    </a:lnTo>
                    <a:lnTo>
                      <a:pt x="4154" y="202176"/>
                    </a:lnTo>
                    <a:cubicBezTo>
                      <a:pt x="-1385" y="196637"/>
                      <a:pt x="-1385" y="188328"/>
                      <a:pt x="4154" y="182789"/>
                    </a:cubicBezTo>
                    <a:lnTo>
                      <a:pt x="184174" y="2770"/>
                    </a:lnTo>
                    <a:cubicBezTo>
                      <a:pt x="186944" y="0"/>
                      <a:pt x="189713" y="0"/>
                      <a:pt x="195252" y="0"/>
                    </a:cubicBezTo>
                    <a:lnTo>
                      <a:pt x="195252" y="0"/>
                    </a:lnTo>
                    <a:cubicBezTo>
                      <a:pt x="198021" y="0"/>
                      <a:pt x="203560" y="2770"/>
                      <a:pt x="206330" y="2770"/>
                    </a:cubicBezTo>
                    <a:lnTo>
                      <a:pt x="386350" y="182789"/>
                    </a:lnTo>
                    <a:cubicBezTo>
                      <a:pt x="391889" y="188328"/>
                      <a:pt x="391889" y="196637"/>
                      <a:pt x="386350" y="202176"/>
                    </a:cubicBezTo>
                    <a:lnTo>
                      <a:pt x="206330" y="382196"/>
                    </a:lnTo>
                    <a:cubicBezTo>
                      <a:pt x="203560" y="384965"/>
                      <a:pt x="198021" y="384965"/>
                      <a:pt x="195252" y="3849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25" name="Полилиния: фигура 473">
              <a:extLst>
                <a:ext uri="{FF2B5EF4-FFF2-40B4-BE49-F238E27FC236}">
                  <a16:creationId xmlns:a16="http://schemas.microsoft.com/office/drawing/2014/main" id="{A0C6230B-B376-46B9-B1A8-CFE985FD2D08}"/>
                </a:ext>
              </a:extLst>
            </p:cNvPr>
            <p:cNvSpPr/>
            <p:nvPr/>
          </p:nvSpPr>
          <p:spPr>
            <a:xfrm>
              <a:off x="10425878" y="1365506"/>
              <a:ext cx="80316" cy="27695"/>
            </a:xfrm>
            <a:custGeom>
              <a:avLst/>
              <a:gdLst>
                <a:gd name="connsiteX0" fmla="*/ 0 w 80316"/>
                <a:gd name="connsiteY0" fmla="*/ 0 h 27695"/>
                <a:gd name="connsiteX1" fmla="*/ 80316 w 80316"/>
                <a:gd name="connsiteY1" fmla="*/ 0 h 27695"/>
                <a:gd name="connsiteX2" fmla="*/ 80316 w 80316"/>
                <a:gd name="connsiteY2" fmla="*/ 27695 h 27695"/>
                <a:gd name="connsiteX3" fmla="*/ 0 w 80316"/>
                <a:gd name="connsiteY3" fmla="*/ 27695 h 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16" h="27695">
                  <a:moveTo>
                    <a:pt x="0" y="0"/>
                  </a:moveTo>
                  <a:lnTo>
                    <a:pt x="80316" y="0"/>
                  </a:lnTo>
                  <a:lnTo>
                    <a:pt x="80316" y="27695"/>
                  </a:lnTo>
                  <a:lnTo>
                    <a:pt x="0" y="27695"/>
                  </a:lnTo>
                  <a:close/>
                </a:path>
              </a:pathLst>
            </a:custGeom>
            <a:solidFill>
              <a:srgbClr val="FFFFFF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474">
              <a:extLst>
                <a:ext uri="{FF2B5EF4-FFF2-40B4-BE49-F238E27FC236}">
                  <a16:creationId xmlns:a16="http://schemas.microsoft.com/office/drawing/2014/main" id="{C1F20F98-4B64-4747-A2D4-804DEA8983A8}"/>
                </a:ext>
              </a:extLst>
            </p:cNvPr>
            <p:cNvSpPr/>
            <p:nvPr/>
          </p:nvSpPr>
          <p:spPr>
            <a:xfrm>
              <a:off x="10774839" y="1667385"/>
              <a:ext cx="27695" cy="69238"/>
            </a:xfrm>
            <a:custGeom>
              <a:avLst/>
              <a:gdLst>
                <a:gd name="connsiteX0" fmla="*/ 0 w 27695"/>
                <a:gd name="connsiteY0" fmla="*/ 0 h 69238"/>
                <a:gd name="connsiteX1" fmla="*/ 27695 w 27695"/>
                <a:gd name="connsiteY1" fmla="*/ 0 h 69238"/>
                <a:gd name="connsiteX2" fmla="*/ 27695 w 27695"/>
                <a:gd name="connsiteY2" fmla="*/ 69238 h 69238"/>
                <a:gd name="connsiteX3" fmla="*/ 0 w 27695"/>
                <a:gd name="connsiteY3" fmla="*/ 69238 h 6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95" h="69238">
                  <a:moveTo>
                    <a:pt x="0" y="0"/>
                  </a:moveTo>
                  <a:lnTo>
                    <a:pt x="27695" y="0"/>
                  </a:lnTo>
                  <a:lnTo>
                    <a:pt x="27695" y="69238"/>
                  </a:lnTo>
                  <a:lnTo>
                    <a:pt x="0" y="69238"/>
                  </a:lnTo>
                  <a:close/>
                </a:path>
              </a:pathLst>
            </a:custGeom>
            <a:solidFill>
              <a:srgbClr val="FFFFFF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27" name="Rectangle 121">
            <a:extLst>
              <a:ext uri="{FF2B5EF4-FFF2-40B4-BE49-F238E27FC236}">
                <a16:creationId xmlns:a16="http://schemas.microsoft.com/office/drawing/2014/main" id="{5468F63B-E83F-465D-BCF7-F70D9093084A}"/>
              </a:ext>
            </a:extLst>
          </p:cNvPr>
          <p:cNvSpPr/>
          <p:nvPr/>
        </p:nvSpPr>
        <p:spPr>
          <a:xfrm>
            <a:off x="1136547" y="3437047"/>
            <a:ext cx="212838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Подключение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 проекту специалистов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 квалификацией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под конкретную задачу</a:t>
            </a:r>
          </a:p>
        </p:txBody>
      </p:sp>
      <p:sp>
        <p:nvSpPr>
          <p:cNvPr id="128" name="Rectangle 122">
            <a:extLst>
              <a:ext uri="{FF2B5EF4-FFF2-40B4-BE49-F238E27FC236}">
                <a16:creationId xmlns:a16="http://schemas.microsoft.com/office/drawing/2014/main" id="{6BC94E6E-4FC4-4EE2-ACE6-F09F614FE5B3}"/>
              </a:ext>
            </a:extLst>
          </p:cNvPr>
          <p:cNvSpPr/>
          <p:nvPr/>
        </p:nvSpPr>
        <p:spPr>
          <a:xfrm>
            <a:off x="4084223" y="3453617"/>
            <a:ext cx="228841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Привлечение специалистов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на определенный срок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(от нескольких часов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 нескольких месяцев)</a:t>
            </a:r>
          </a:p>
        </p:txBody>
      </p:sp>
      <p:sp>
        <p:nvSpPr>
          <p:cNvPr id="129" name="Rectangle 127">
            <a:extLst>
              <a:ext uri="{FF2B5EF4-FFF2-40B4-BE49-F238E27FC236}">
                <a16:creationId xmlns:a16="http://schemas.microsoft.com/office/drawing/2014/main" id="{24EBA151-8080-49CA-A5F7-291538C7775E}"/>
              </a:ext>
            </a:extLst>
          </p:cNvPr>
          <p:cNvSpPr/>
          <p:nvPr/>
        </p:nvSpPr>
        <p:spPr>
          <a:xfrm>
            <a:off x="1186751" y="4883504"/>
            <a:ext cx="231245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Постоянная </a:t>
            </a:r>
            <a:r>
              <a:rPr lang="ru-RU" sz="105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коррекция команды</a:t>
            </a:r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в соответствии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ресурсными планами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задачами</a:t>
            </a:r>
          </a:p>
        </p:txBody>
      </p:sp>
      <p:sp>
        <p:nvSpPr>
          <p:cNvPr id="130" name="Rectangle 128">
            <a:extLst>
              <a:ext uri="{FF2B5EF4-FFF2-40B4-BE49-F238E27FC236}">
                <a16:creationId xmlns:a16="http://schemas.microsoft.com/office/drawing/2014/main" id="{0351B47E-8960-45E9-8AA5-D82692E6999C}"/>
              </a:ext>
            </a:extLst>
          </p:cNvPr>
          <p:cNvSpPr/>
          <p:nvPr/>
        </p:nvSpPr>
        <p:spPr>
          <a:xfrm>
            <a:off x="3913775" y="4778628"/>
            <a:ext cx="2967767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Выполнение задач </a:t>
            </a:r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 разным направлениям (тестирование, подготовка документации, автоматизация, обучение,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5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координация команд и др.)</a:t>
            </a:r>
          </a:p>
        </p:txBody>
      </p:sp>
      <p:sp>
        <p:nvSpPr>
          <p:cNvPr id="131" name="Rectangle 5">
            <a:extLst>
              <a:ext uri="{FF2B5EF4-FFF2-40B4-BE49-F238E27FC236}">
                <a16:creationId xmlns:a16="http://schemas.microsoft.com/office/drawing/2014/main" id="{CC3E7186-8833-4168-B8DE-532EA66DC7E6}"/>
              </a:ext>
            </a:extLst>
          </p:cNvPr>
          <p:cNvSpPr/>
          <p:nvPr/>
        </p:nvSpPr>
        <p:spPr>
          <a:xfrm>
            <a:off x="8426728" y="3444606"/>
            <a:ext cx="34057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7D70EF"/>
              </a:buClr>
            </a:pPr>
            <a:r>
              <a:rPr lang="ru-RU" sz="950" dirty="0">
                <a:solidFill>
                  <a:prstClr val="black"/>
                </a:solidFill>
                <a:latin typeface="+mn-lt"/>
              </a:rPr>
              <a:t>Сервис позволяет легко корректировать ресурсные планы по мере изменения потребностей</a:t>
            </a:r>
          </a:p>
        </p:txBody>
      </p:sp>
      <p:sp>
        <p:nvSpPr>
          <p:cNvPr id="132" name="Rectangle 7">
            <a:extLst>
              <a:ext uri="{FF2B5EF4-FFF2-40B4-BE49-F238E27FC236}">
                <a16:creationId xmlns:a16="http://schemas.microsoft.com/office/drawing/2014/main" id="{6D430650-32AB-45B0-8230-86C1B66C1881}"/>
              </a:ext>
            </a:extLst>
          </p:cNvPr>
          <p:cNvSpPr/>
          <p:nvPr/>
        </p:nvSpPr>
        <p:spPr>
          <a:xfrm>
            <a:off x="8425793" y="4196514"/>
            <a:ext cx="39278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Предложения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TaaS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могут быть скорректированы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соответствии с размером проекта</a:t>
            </a:r>
            <a:endParaRPr lang="ru-RU" dirty="0"/>
          </a:p>
        </p:txBody>
      </p:sp>
      <p:sp>
        <p:nvSpPr>
          <p:cNvPr id="133" name="Rectangle 11">
            <a:extLst>
              <a:ext uri="{FF2B5EF4-FFF2-40B4-BE49-F238E27FC236}">
                <a16:creationId xmlns:a16="http://schemas.microsoft.com/office/drawing/2014/main" id="{C1EF9CB8-E370-4DC9-8F51-08E0CDA4E23D}"/>
              </a:ext>
            </a:extLst>
          </p:cNvPr>
          <p:cNvSpPr/>
          <p:nvPr/>
        </p:nvSpPr>
        <p:spPr>
          <a:xfrm>
            <a:off x="8418819" y="5675632"/>
            <a:ext cx="37672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Простые задачи не будут выполнять синьоры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лиды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из основной команды тестирования</a:t>
            </a:r>
            <a:endParaRPr lang="ru-RU" dirty="0"/>
          </a:p>
        </p:txBody>
      </p:sp>
      <p:grpSp>
        <p:nvGrpSpPr>
          <p:cNvPr id="134" name="Группа 113">
            <a:extLst>
              <a:ext uri="{FF2B5EF4-FFF2-40B4-BE49-F238E27FC236}">
                <a16:creationId xmlns:a16="http://schemas.microsoft.com/office/drawing/2014/main" id="{CEFAD63C-62D2-4562-A30A-034186FBD931}"/>
              </a:ext>
            </a:extLst>
          </p:cNvPr>
          <p:cNvGrpSpPr>
            <a:grpSpLocks noChangeAspect="1"/>
          </p:cNvGrpSpPr>
          <p:nvPr/>
        </p:nvGrpSpPr>
        <p:grpSpPr>
          <a:xfrm>
            <a:off x="706702" y="3620074"/>
            <a:ext cx="366495" cy="363352"/>
            <a:chOff x="4849813" y="808959"/>
            <a:chExt cx="925513" cy="917575"/>
          </a:xfrm>
          <a:solidFill>
            <a:srgbClr val="FFFFFF"/>
          </a:solidFill>
        </p:grpSpPr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id="{174335DC-57E3-4FCB-9F2C-987A85499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2113" y="1418559"/>
              <a:ext cx="303213" cy="307975"/>
            </a:xfrm>
            <a:custGeom>
              <a:avLst/>
              <a:gdLst>
                <a:gd name="T0" fmla="*/ 0 w 191"/>
                <a:gd name="T1" fmla="*/ 51 h 194"/>
                <a:gd name="T2" fmla="*/ 50 w 191"/>
                <a:gd name="T3" fmla="*/ 0 h 194"/>
                <a:gd name="T4" fmla="*/ 191 w 191"/>
                <a:gd name="T5" fmla="*/ 139 h 194"/>
                <a:gd name="T6" fmla="*/ 141 w 191"/>
                <a:gd name="T7" fmla="*/ 194 h 194"/>
                <a:gd name="T8" fmla="*/ 0 w 191"/>
                <a:gd name="T9" fmla="*/ 51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194">
                  <a:moveTo>
                    <a:pt x="0" y="51"/>
                  </a:moveTo>
                  <a:lnTo>
                    <a:pt x="50" y="0"/>
                  </a:lnTo>
                  <a:lnTo>
                    <a:pt x="191" y="139"/>
                  </a:lnTo>
                  <a:lnTo>
                    <a:pt x="141" y="194"/>
                  </a:lnTo>
                  <a:lnTo>
                    <a:pt x="0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59114933-1E97-439D-9BBB-01D3E58A4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813" y="808959"/>
              <a:ext cx="781050" cy="757238"/>
            </a:xfrm>
            <a:custGeom>
              <a:avLst/>
              <a:gdLst>
                <a:gd name="T0" fmla="*/ 52 w 108"/>
                <a:gd name="T1" fmla="*/ 103 h 103"/>
                <a:gd name="T2" fmla="*/ 19 w 108"/>
                <a:gd name="T3" fmla="*/ 91 h 103"/>
                <a:gd name="T4" fmla="*/ 1 w 108"/>
                <a:gd name="T5" fmla="*/ 56 h 103"/>
                <a:gd name="T6" fmla="*/ 13 w 108"/>
                <a:gd name="T7" fmla="*/ 19 h 103"/>
                <a:gd name="T8" fmla="*/ 48 w 108"/>
                <a:gd name="T9" fmla="*/ 1 h 103"/>
                <a:gd name="T10" fmla="*/ 85 w 108"/>
                <a:gd name="T11" fmla="*/ 13 h 103"/>
                <a:gd name="T12" fmla="*/ 97 w 108"/>
                <a:gd name="T13" fmla="*/ 76 h 103"/>
                <a:gd name="T14" fmla="*/ 93 w 108"/>
                <a:gd name="T15" fmla="*/ 74 h 103"/>
                <a:gd name="T16" fmla="*/ 82 w 108"/>
                <a:gd name="T17" fmla="*/ 16 h 103"/>
                <a:gd name="T18" fmla="*/ 48 w 108"/>
                <a:gd name="T19" fmla="*/ 5 h 103"/>
                <a:gd name="T20" fmla="*/ 16 w 108"/>
                <a:gd name="T21" fmla="*/ 21 h 103"/>
                <a:gd name="T22" fmla="*/ 5 w 108"/>
                <a:gd name="T23" fmla="*/ 56 h 103"/>
                <a:gd name="T24" fmla="*/ 22 w 108"/>
                <a:gd name="T25" fmla="*/ 88 h 103"/>
                <a:gd name="T26" fmla="*/ 78 w 108"/>
                <a:gd name="T27" fmla="*/ 91 h 103"/>
                <a:gd name="T28" fmla="*/ 81 w 108"/>
                <a:gd name="T29" fmla="*/ 94 h 103"/>
                <a:gd name="T30" fmla="*/ 52 w 108"/>
                <a:gd name="T3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103">
                  <a:moveTo>
                    <a:pt x="52" y="103"/>
                  </a:moveTo>
                  <a:cubicBezTo>
                    <a:pt x="40" y="103"/>
                    <a:pt x="29" y="99"/>
                    <a:pt x="19" y="91"/>
                  </a:cubicBezTo>
                  <a:cubicBezTo>
                    <a:pt x="9" y="82"/>
                    <a:pt x="2" y="69"/>
                    <a:pt x="1" y="56"/>
                  </a:cubicBezTo>
                  <a:cubicBezTo>
                    <a:pt x="0" y="42"/>
                    <a:pt x="4" y="29"/>
                    <a:pt x="13" y="19"/>
                  </a:cubicBezTo>
                  <a:cubicBezTo>
                    <a:pt x="22" y="8"/>
                    <a:pt x="34" y="2"/>
                    <a:pt x="48" y="1"/>
                  </a:cubicBezTo>
                  <a:cubicBezTo>
                    <a:pt x="61" y="0"/>
                    <a:pt x="75" y="4"/>
                    <a:pt x="85" y="13"/>
                  </a:cubicBezTo>
                  <a:cubicBezTo>
                    <a:pt x="103" y="29"/>
                    <a:pt x="108" y="55"/>
                    <a:pt x="97" y="76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04" y="55"/>
                    <a:pt x="99" y="30"/>
                    <a:pt x="82" y="16"/>
                  </a:cubicBezTo>
                  <a:cubicBezTo>
                    <a:pt x="73" y="8"/>
                    <a:pt x="61" y="4"/>
                    <a:pt x="48" y="5"/>
                  </a:cubicBezTo>
                  <a:cubicBezTo>
                    <a:pt x="36" y="6"/>
                    <a:pt x="24" y="12"/>
                    <a:pt x="16" y="21"/>
                  </a:cubicBezTo>
                  <a:cubicBezTo>
                    <a:pt x="8" y="31"/>
                    <a:pt x="4" y="43"/>
                    <a:pt x="5" y="56"/>
                  </a:cubicBezTo>
                  <a:cubicBezTo>
                    <a:pt x="6" y="68"/>
                    <a:pt x="12" y="79"/>
                    <a:pt x="22" y="88"/>
                  </a:cubicBezTo>
                  <a:cubicBezTo>
                    <a:pt x="38" y="101"/>
                    <a:pt x="61" y="102"/>
                    <a:pt x="78" y="91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72" y="100"/>
                    <a:pt x="62" y="103"/>
                    <a:pt x="52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" name="Rectangle 19">
              <a:extLst>
                <a:ext uri="{FF2B5EF4-FFF2-40B4-BE49-F238E27FC236}">
                  <a16:creationId xmlns:a16="http://schemas.microsoft.com/office/drawing/2014/main" id="{86B4414C-F392-443E-BF1B-109752AE0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625" y="1331246"/>
              <a:ext cx="57150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" name="Rectangle 20">
              <a:extLst>
                <a:ext uri="{FF2B5EF4-FFF2-40B4-BE49-F238E27FC236}">
                  <a16:creationId xmlns:a16="http://schemas.microsoft.com/office/drawing/2014/main" id="{3791EF59-15C2-4EB9-A597-7F4F2F90A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8288" y="1331246"/>
              <a:ext cx="50800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" name="Freeform 21">
              <a:extLst>
                <a:ext uri="{FF2B5EF4-FFF2-40B4-BE49-F238E27FC236}">
                  <a16:creationId xmlns:a16="http://schemas.microsoft.com/office/drawing/2014/main" id="{1256A6E4-7A76-48DB-8D58-CED4B6DC0C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24450" y="934371"/>
              <a:ext cx="209550" cy="212725"/>
            </a:xfrm>
            <a:custGeom>
              <a:avLst/>
              <a:gdLst>
                <a:gd name="T0" fmla="*/ 15 w 29"/>
                <a:gd name="T1" fmla="*/ 29 h 29"/>
                <a:gd name="T2" fmla="*/ 0 w 29"/>
                <a:gd name="T3" fmla="*/ 14 h 29"/>
                <a:gd name="T4" fmla="*/ 15 w 29"/>
                <a:gd name="T5" fmla="*/ 0 h 29"/>
                <a:gd name="T6" fmla="*/ 29 w 29"/>
                <a:gd name="T7" fmla="*/ 14 h 29"/>
                <a:gd name="T8" fmla="*/ 15 w 29"/>
                <a:gd name="T9" fmla="*/ 29 h 29"/>
                <a:gd name="T10" fmla="*/ 15 w 29"/>
                <a:gd name="T11" fmla="*/ 4 h 29"/>
                <a:gd name="T12" fmla="*/ 4 w 29"/>
                <a:gd name="T13" fmla="*/ 14 h 29"/>
                <a:gd name="T14" fmla="*/ 15 w 29"/>
                <a:gd name="T15" fmla="*/ 25 h 29"/>
                <a:gd name="T16" fmla="*/ 25 w 29"/>
                <a:gd name="T17" fmla="*/ 14 h 29"/>
                <a:gd name="T18" fmla="*/ 15 w 29"/>
                <a:gd name="T19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7" y="29"/>
                    <a:pt x="0" y="22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23" y="0"/>
                    <a:pt x="29" y="6"/>
                    <a:pt x="29" y="14"/>
                  </a:cubicBezTo>
                  <a:cubicBezTo>
                    <a:pt x="29" y="22"/>
                    <a:pt x="23" y="29"/>
                    <a:pt x="15" y="29"/>
                  </a:cubicBezTo>
                  <a:close/>
                  <a:moveTo>
                    <a:pt x="15" y="4"/>
                  </a:moveTo>
                  <a:cubicBezTo>
                    <a:pt x="9" y="4"/>
                    <a:pt x="4" y="8"/>
                    <a:pt x="4" y="14"/>
                  </a:cubicBezTo>
                  <a:cubicBezTo>
                    <a:pt x="4" y="20"/>
                    <a:pt x="9" y="25"/>
                    <a:pt x="15" y="25"/>
                  </a:cubicBezTo>
                  <a:cubicBezTo>
                    <a:pt x="21" y="25"/>
                    <a:pt x="25" y="20"/>
                    <a:pt x="25" y="14"/>
                  </a:cubicBezTo>
                  <a:cubicBezTo>
                    <a:pt x="25" y="8"/>
                    <a:pt x="21" y="4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57F73A84-1474-42A5-A5DD-BA3F9FE52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200" y="1177259"/>
              <a:ext cx="173038" cy="204788"/>
            </a:xfrm>
            <a:custGeom>
              <a:avLst/>
              <a:gdLst>
                <a:gd name="T0" fmla="*/ 24 w 24"/>
                <a:gd name="T1" fmla="*/ 28 h 28"/>
                <a:gd name="T2" fmla="*/ 20 w 24"/>
                <a:gd name="T3" fmla="*/ 28 h 28"/>
                <a:gd name="T4" fmla="*/ 20 w 24"/>
                <a:gd name="T5" fmla="*/ 24 h 28"/>
                <a:gd name="T6" fmla="*/ 20 w 24"/>
                <a:gd name="T7" fmla="*/ 16 h 28"/>
                <a:gd name="T8" fmla="*/ 17 w 24"/>
                <a:gd name="T9" fmla="*/ 7 h 28"/>
                <a:gd name="T10" fmla="*/ 5 w 24"/>
                <a:gd name="T11" fmla="*/ 4 h 28"/>
                <a:gd name="T12" fmla="*/ 0 w 24"/>
                <a:gd name="T13" fmla="*/ 4 h 28"/>
                <a:gd name="T14" fmla="*/ 0 w 24"/>
                <a:gd name="T15" fmla="*/ 0 h 28"/>
                <a:gd name="T16" fmla="*/ 5 w 24"/>
                <a:gd name="T17" fmla="*/ 0 h 28"/>
                <a:gd name="T18" fmla="*/ 20 w 24"/>
                <a:gd name="T19" fmla="*/ 4 h 28"/>
                <a:gd name="T20" fmla="*/ 24 w 24"/>
                <a:gd name="T21" fmla="*/ 16 h 28"/>
                <a:gd name="T22" fmla="*/ 24 w 24"/>
                <a:gd name="T23" fmla="*/ 24 h 28"/>
                <a:gd name="T24" fmla="*/ 24 w 24"/>
                <a:gd name="T2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28">
                  <a:moveTo>
                    <a:pt x="24" y="28"/>
                  </a:moveTo>
                  <a:cubicBezTo>
                    <a:pt x="20" y="28"/>
                    <a:pt x="20" y="28"/>
                    <a:pt x="20" y="28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2"/>
                    <a:pt x="20" y="19"/>
                    <a:pt x="20" y="16"/>
                  </a:cubicBezTo>
                  <a:cubicBezTo>
                    <a:pt x="20" y="13"/>
                    <a:pt x="19" y="9"/>
                    <a:pt x="17" y="7"/>
                  </a:cubicBezTo>
                  <a:cubicBezTo>
                    <a:pt x="15" y="5"/>
                    <a:pt x="12" y="4"/>
                    <a:pt x="5" y="4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12" y="0"/>
                    <a:pt x="16" y="1"/>
                    <a:pt x="20" y="4"/>
                  </a:cubicBezTo>
                  <a:cubicBezTo>
                    <a:pt x="24" y="8"/>
                    <a:pt x="24" y="15"/>
                    <a:pt x="24" y="16"/>
                  </a:cubicBezTo>
                  <a:cubicBezTo>
                    <a:pt x="24" y="19"/>
                    <a:pt x="24" y="22"/>
                    <a:pt x="24" y="24"/>
                  </a:cubicBezTo>
                  <a:lnTo>
                    <a:pt x="24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" name="Freeform 23">
              <a:extLst>
                <a:ext uri="{FF2B5EF4-FFF2-40B4-BE49-F238E27FC236}">
                  <a16:creationId xmlns:a16="http://schemas.microsoft.com/office/drawing/2014/main" id="{45D12AA8-B6EB-481B-8BE4-2A2C3A55A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563" y="1169321"/>
              <a:ext cx="180975" cy="212725"/>
            </a:xfrm>
            <a:custGeom>
              <a:avLst/>
              <a:gdLst>
                <a:gd name="T0" fmla="*/ 4 w 25"/>
                <a:gd name="T1" fmla="*/ 29 h 29"/>
                <a:gd name="T2" fmla="*/ 0 w 25"/>
                <a:gd name="T3" fmla="*/ 29 h 29"/>
                <a:gd name="T4" fmla="*/ 0 w 25"/>
                <a:gd name="T5" fmla="*/ 15 h 29"/>
                <a:gd name="T6" fmla="*/ 6 w 25"/>
                <a:gd name="T7" fmla="*/ 4 h 29"/>
                <a:gd name="T8" fmla="*/ 25 w 25"/>
                <a:gd name="T9" fmla="*/ 0 h 29"/>
                <a:gd name="T10" fmla="*/ 24 w 25"/>
                <a:gd name="T11" fmla="*/ 4 h 29"/>
                <a:gd name="T12" fmla="*/ 8 w 25"/>
                <a:gd name="T13" fmla="*/ 7 h 29"/>
                <a:gd name="T14" fmla="*/ 4 w 25"/>
                <a:gd name="T15" fmla="*/ 15 h 29"/>
                <a:gd name="T16" fmla="*/ 4 w 25"/>
                <a:gd name="T1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9">
                  <a:moveTo>
                    <a:pt x="4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8"/>
                    <a:pt x="6" y="4"/>
                  </a:cubicBezTo>
                  <a:cubicBezTo>
                    <a:pt x="10" y="1"/>
                    <a:pt x="16" y="0"/>
                    <a:pt x="25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16" y="4"/>
                    <a:pt x="11" y="5"/>
                    <a:pt x="8" y="7"/>
                  </a:cubicBezTo>
                  <a:cubicBezTo>
                    <a:pt x="5" y="10"/>
                    <a:pt x="4" y="14"/>
                    <a:pt x="4" y="15"/>
                  </a:cubicBezTo>
                  <a:lnTo>
                    <a:pt x="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42" name="Группа 477">
            <a:extLst>
              <a:ext uri="{FF2B5EF4-FFF2-40B4-BE49-F238E27FC236}">
                <a16:creationId xmlns:a16="http://schemas.microsoft.com/office/drawing/2014/main" id="{A768CD4F-A7FF-4077-9C08-07F1B1DA5109}"/>
              </a:ext>
            </a:extLst>
          </p:cNvPr>
          <p:cNvGrpSpPr>
            <a:grpSpLocks noChangeAspect="1"/>
          </p:cNvGrpSpPr>
          <p:nvPr/>
        </p:nvGrpSpPr>
        <p:grpSpPr>
          <a:xfrm>
            <a:off x="682049" y="5077949"/>
            <a:ext cx="379505" cy="297612"/>
            <a:chOff x="8589678" y="916842"/>
            <a:chExt cx="1052421" cy="825320"/>
          </a:xfrm>
          <a:solidFill>
            <a:srgbClr val="FFFFFF"/>
          </a:solidFill>
        </p:grpSpPr>
        <p:grpSp>
          <p:nvGrpSpPr>
            <p:cNvPr id="143" name="Рисунок 2">
              <a:extLst>
                <a:ext uri="{FF2B5EF4-FFF2-40B4-BE49-F238E27FC236}">
                  <a16:creationId xmlns:a16="http://schemas.microsoft.com/office/drawing/2014/main" id="{09C04569-A995-4AEC-AA17-5288149682C1}"/>
                </a:ext>
              </a:extLst>
            </p:cNvPr>
            <p:cNvGrpSpPr/>
            <p:nvPr/>
          </p:nvGrpSpPr>
          <p:grpSpPr>
            <a:xfrm>
              <a:off x="9323604" y="986080"/>
              <a:ext cx="243718" cy="232640"/>
              <a:chOff x="9323604" y="986080"/>
              <a:chExt cx="243718" cy="232640"/>
            </a:xfrm>
            <a:grpFill/>
          </p:grpSpPr>
          <p:sp>
            <p:nvSpPr>
              <p:cNvPr id="144" name="Полилиния: фигура 40">
                <a:extLst>
                  <a:ext uri="{FF2B5EF4-FFF2-40B4-BE49-F238E27FC236}">
                    <a16:creationId xmlns:a16="http://schemas.microsoft.com/office/drawing/2014/main" id="{DACBD925-3349-4D7E-AF84-7733B14C5376}"/>
                  </a:ext>
                </a:extLst>
              </p:cNvPr>
              <p:cNvSpPr/>
              <p:nvPr/>
            </p:nvSpPr>
            <p:spPr>
              <a:xfrm>
                <a:off x="9384534" y="986080"/>
                <a:ext cx="121859" cy="121859"/>
              </a:xfrm>
              <a:custGeom>
                <a:avLst/>
                <a:gdLst>
                  <a:gd name="connsiteX0" fmla="*/ 60930 w 121859"/>
                  <a:gd name="connsiteY0" fmla="*/ 121860 h 121859"/>
                  <a:gd name="connsiteX1" fmla="*/ 0 w 121859"/>
                  <a:gd name="connsiteY1" fmla="*/ 60930 h 121859"/>
                  <a:gd name="connsiteX2" fmla="*/ 60930 w 121859"/>
                  <a:gd name="connsiteY2" fmla="*/ 0 h 121859"/>
                  <a:gd name="connsiteX3" fmla="*/ 121859 w 121859"/>
                  <a:gd name="connsiteY3" fmla="*/ 60930 h 121859"/>
                  <a:gd name="connsiteX4" fmla="*/ 60930 w 121859"/>
                  <a:gd name="connsiteY4" fmla="*/ 121860 h 121859"/>
                  <a:gd name="connsiteX5" fmla="*/ 60930 w 121859"/>
                  <a:gd name="connsiteY5" fmla="*/ 27695 h 121859"/>
                  <a:gd name="connsiteX6" fmla="*/ 27695 w 121859"/>
                  <a:gd name="connsiteY6" fmla="*/ 60930 h 121859"/>
                  <a:gd name="connsiteX7" fmla="*/ 60930 w 121859"/>
                  <a:gd name="connsiteY7" fmla="*/ 94164 h 121859"/>
                  <a:gd name="connsiteX8" fmla="*/ 94164 w 121859"/>
                  <a:gd name="connsiteY8" fmla="*/ 60930 h 121859"/>
                  <a:gd name="connsiteX9" fmla="*/ 60930 w 121859"/>
                  <a:gd name="connsiteY9" fmla="*/ 27695 h 121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859" h="121859">
                    <a:moveTo>
                      <a:pt x="60930" y="121860"/>
                    </a:moveTo>
                    <a:cubicBezTo>
                      <a:pt x="27695" y="121860"/>
                      <a:pt x="0" y="94164"/>
                      <a:pt x="0" y="60930"/>
                    </a:cubicBezTo>
                    <a:cubicBezTo>
                      <a:pt x="0" y="27695"/>
                      <a:pt x="27695" y="0"/>
                      <a:pt x="60930" y="0"/>
                    </a:cubicBezTo>
                    <a:cubicBezTo>
                      <a:pt x="94164" y="0"/>
                      <a:pt x="121859" y="27695"/>
                      <a:pt x="121859" y="60930"/>
                    </a:cubicBezTo>
                    <a:cubicBezTo>
                      <a:pt x="121859" y="94164"/>
                      <a:pt x="94164" y="121860"/>
                      <a:pt x="60930" y="121860"/>
                    </a:cubicBezTo>
                    <a:close/>
                    <a:moveTo>
                      <a:pt x="60930" y="27695"/>
                    </a:moveTo>
                    <a:cubicBezTo>
                      <a:pt x="41543" y="27695"/>
                      <a:pt x="27695" y="41543"/>
                      <a:pt x="27695" y="60930"/>
                    </a:cubicBezTo>
                    <a:cubicBezTo>
                      <a:pt x="27695" y="80317"/>
                      <a:pt x="41543" y="94164"/>
                      <a:pt x="60930" y="94164"/>
                    </a:cubicBezTo>
                    <a:cubicBezTo>
                      <a:pt x="80316" y="94164"/>
                      <a:pt x="94164" y="80317"/>
                      <a:pt x="94164" y="60930"/>
                    </a:cubicBezTo>
                    <a:cubicBezTo>
                      <a:pt x="94164" y="41543"/>
                      <a:pt x="77547" y="27695"/>
                      <a:pt x="60930" y="27695"/>
                    </a:cubicBez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5" name="Полилиния: фигура 41">
                <a:extLst>
                  <a:ext uri="{FF2B5EF4-FFF2-40B4-BE49-F238E27FC236}">
                    <a16:creationId xmlns:a16="http://schemas.microsoft.com/office/drawing/2014/main" id="{D2EC32DC-0F27-4F7B-B4C9-0A3992D489CA}"/>
                  </a:ext>
                </a:extLst>
              </p:cNvPr>
              <p:cNvSpPr/>
              <p:nvPr/>
            </p:nvSpPr>
            <p:spPr>
              <a:xfrm>
                <a:off x="9473158" y="1107939"/>
                <a:ext cx="94164" cy="110781"/>
              </a:xfrm>
              <a:custGeom>
                <a:avLst/>
                <a:gdLst>
                  <a:gd name="connsiteX0" fmla="*/ 94164 w 94164"/>
                  <a:gd name="connsiteY0" fmla="*/ 110781 h 110781"/>
                  <a:gd name="connsiteX1" fmla="*/ 66469 w 94164"/>
                  <a:gd name="connsiteY1" fmla="*/ 110781 h 110781"/>
                  <a:gd name="connsiteX2" fmla="*/ 66469 w 94164"/>
                  <a:gd name="connsiteY2" fmla="*/ 69238 h 110781"/>
                  <a:gd name="connsiteX3" fmla="*/ 55391 w 94164"/>
                  <a:gd name="connsiteY3" fmla="*/ 38773 h 110781"/>
                  <a:gd name="connsiteX4" fmla="*/ 16617 w 94164"/>
                  <a:gd name="connsiteY4" fmla="*/ 27695 h 110781"/>
                  <a:gd name="connsiteX5" fmla="*/ 0 w 94164"/>
                  <a:gd name="connsiteY5" fmla="*/ 27695 h 110781"/>
                  <a:gd name="connsiteX6" fmla="*/ 0 w 94164"/>
                  <a:gd name="connsiteY6" fmla="*/ 0 h 110781"/>
                  <a:gd name="connsiteX7" fmla="*/ 16617 w 94164"/>
                  <a:gd name="connsiteY7" fmla="*/ 0 h 110781"/>
                  <a:gd name="connsiteX8" fmla="*/ 74777 w 94164"/>
                  <a:gd name="connsiteY8" fmla="*/ 19387 h 110781"/>
                  <a:gd name="connsiteX9" fmla="*/ 94164 w 94164"/>
                  <a:gd name="connsiteY9" fmla="*/ 69238 h 110781"/>
                  <a:gd name="connsiteX10" fmla="*/ 94164 w 94164"/>
                  <a:gd name="connsiteY10" fmla="*/ 110781 h 11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164" h="110781">
                    <a:moveTo>
                      <a:pt x="94164" y="110781"/>
                    </a:moveTo>
                    <a:lnTo>
                      <a:pt x="66469" y="110781"/>
                    </a:lnTo>
                    <a:lnTo>
                      <a:pt x="66469" y="69238"/>
                    </a:lnTo>
                    <a:cubicBezTo>
                      <a:pt x="66469" y="60930"/>
                      <a:pt x="63699" y="47082"/>
                      <a:pt x="55391" y="38773"/>
                    </a:cubicBezTo>
                    <a:cubicBezTo>
                      <a:pt x="49852" y="33234"/>
                      <a:pt x="38773" y="27695"/>
                      <a:pt x="16617" y="27695"/>
                    </a:cubicBezTo>
                    <a:lnTo>
                      <a:pt x="0" y="27695"/>
                    </a:lnTo>
                    <a:lnTo>
                      <a:pt x="0" y="0"/>
                    </a:lnTo>
                    <a:lnTo>
                      <a:pt x="16617" y="0"/>
                    </a:lnTo>
                    <a:cubicBezTo>
                      <a:pt x="44313" y="0"/>
                      <a:pt x="63699" y="5539"/>
                      <a:pt x="74777" y="19387"/>
                    </a:cubicBezTo>
                    <a:cubicBezTo>
                      <a:pt x="91395" y="36004"/>
                      <a:pt x="94164" y="60930"/>
                      <a:pt x="94164" y="69238"/>
                    </a:cubicBezTo>
                    <a:lnTo>
                      <a:pt x="94164" y="110781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6" name="Полилиния: фигура 42">
                <a:extLst>
                  <a:ext uri="{FF2B5EF4-FFF2-40B4-BE49-F238E27FC236}">
                    <a16:creationId xmlns:a16="http://schemas.microsoft.com/office/drawing/2014/main" id="{3622FB8A-CC23-45F9-B98A-84462E3DEF05}"/>
                  </a:ext>
                </a:extLst>
              </p:cNvPr>
              <p:cNvSpPr/>
              <p:nvPr/>
            </p:nvSpPr>
            <p:spPr>
              <a:xfrm>
                <a:off x="9323604" y="1107939"/>
                <a:ext cx="96933" cy="110781"/>
              </a:xfrm>
              <a:custGeom>
                <a:avLst/>
                <a:gdLst>
                  <a:gd name="connsiteX0" fmla="*/ 27695 w 96933"/>
                  <a:gd name="connsiteY0" fmla="*/ 110781 h 110781"/>
                  <a:gd name="connsiteX1" fmla="*/ 0 w 96933"/>
                  <a:gd name="connsiteY1" fmla="*/ 110781 h 110781"/>
                  <a:gd name="connsiteX2" fmla="*/ 0 w 96933"/>
                  <a:gd name="connsiteY2" fmla="*/ 60930 h 110781"/>
                  <a:gd name="connsiteX3" fmla="*/ 22156 w 96933"/>
                  <a:gd name="connsiteY3" fmla="*/ 16617 h 110781"/>
                  <a:gd name="connsiteX4" fmla="*/ 96934 w 96933"/>
                  <a:gd name="connsiteY4" fmla="*/ 0 h 110781"/>
                  <a:gd name="connsiteX5" fmla="*/ 96934 w 96933"/>
                  <a:gd name="connsiteY5" fmla="*/ 27695 h 110781"/>
                  <a:gd name="connsiteX6" fmla="*/ 41543 w 96933"/>
                  <a:gd name="connsiteY6" fmla="*/ 36004 h 110781"/>
                  <a:gd name="connsiteX7" fmla="*/ 27695 w 96933"/>
                  <a:gd name="connsiteY7" fmla="*/ 60930 h 110781"/>
                  <a:gd name="connsiteX8" fmla="*/ 27695 w 96933"/>
                  <a:gd name="connsiteY8" fmla="*/ 110781 h 11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933" h="110781">
                    <a:moveTo>
                      <a:pt x="27695" y="110781"/>
                    </a:moveTo>
                    <a:lnTo>
                      <a:pt x="0" y="110781"/>
                    </a:lnTo>
                    <a:lnTo>
                      <a:pt x="0" y="60930"/>
                    </a:lnTo>
                    <a:cubicBezTo>
                      <a:pt x="0" y="52621"/>
                      <a:pt x="5539" y="30465"/>
                      <a:pt x="22156" y="16617"/>
                    </a:cubicBezTo>
                    <a:cubicBezTo>
                      <a:pt x="38773" y="2770"/>
                      <a:pt x="63699" y="0"/>
                      <a:pt x="96934" y="0"/>
                    </a:cubicBezTo>
                    <a:lnTo>
                      <a:pt x="96934" y="27695"/>
                    </a:lnTo>
                    <a:cubicBezTo>
                      <a:pt x="66469" y="27695"/>
                      <a:pt x="49851" y="27695"/>
                      <a:pt x="41543" y="36004"/>
                    </a:cubicBezTo>
                    <a:cubicBezTo>
                      <a:pt x="30465" y="44313"/>
                      <a:pt x="27695" y="58160"/>
                      <a:pt x="27695" y="60930"/>
                    </a:cubicBezTo>
                    <a:lnTo>
                      <a:pt x="27695" y="110781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7" name="Рисунок 2">
              <a:extLst>
                <a:ext uri="{FF2B5EF4-FFF2-40B4-BE49-F238E27FC236}">
                  <a16:creationId xmlns:a16="http://schemas.microsoft.com/office/drawing/2014/main" id="{7938FF0F-29A6-41AA-9133-68642C9E684D}"/>
                </a:ext>
              </a:extLst>
            </p:cNvPr>
            <p:cNvGrpSpPr/>
            <p:nvPr/>
          </p:nvGrpSpPr>
          <p:grpSpPr>
            <a:xfrm>
              <a:off x="8589678" y="1071935"/>
              <a:ext cx="966566" cy="670227"/>
              <a:chOff x="8589678" y="1071935"/>
              <a:chExt cx="966566" cy="670227"/>
            </a:xfrm>
            <a:grpFill/>
          </p:grpSpPr>
          <p:sp>
            <p:nvSpPr>
              <p:cNvPr id="148" name="Полилиния: фигура 44">
                <a:extLst>
                  <a:ext uri="{FF2B5EF4-FFF2-40B4-BE49-F238E27FC236}">
                    <a16:creationId xmlns:a16="http://schemas.microsoft.com/office/drawing/2014/main" id="{A2EDB229-5356-48F9-96FB-290DD295ACFE}"/>
                  </a:ext>
                </a:extLst>
              </p:cNvPr>
              <p:cNvSpPr/>
              <p:nvPr/>
            </p:nvSpPr>
            <p:spPr>
              <a:xfrm>
                <a:off x="8963565" y="1274111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9" name="Полилиния: фигура 45">
                <a:extLst>
                  <a:ext uri="{FF2B5EF4-FFF2-40B4-BE49-F238E27FC236}">
                    <a16:creationId xmlns:a16="http://schemas.microsoft.com/office/drawing/2014/main" id="{4878CD57-E85E-4C3A-8694-A2E5B749DEC6}"/>
                  </a:ext>
                </a:extLst>
              </p:cNvPr>
              <p:cNvSpPr/>
              <p:nvPr/>
            </p:nvSpPr>
            <p:spPr>
              <a:xfrm>
                <a:off x="9071576" y="1274111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0" name="Полилиния: фигура 53">
                <a:extLst>
                  <a:ext uri="{FF2B5EF4-FFF2-40B4-BE49-F238E27FC236}">
                    <a16:creationId xmlns:a16="http://schemas.microsoft.com/office/drawing/2014/main" id="{B9DA69B7-5ABD-45DA-BD29-FB1D3BCCD329}"/>
                  </a:ext>
                </a:extLst>
              </p:cNvPr>
              <p:cNvSpPr/>
              <p:nvPr/>
            </p:nvSpPr>
            <p:spPr>
              <a:xfrm>
                <a:off x="8963565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1" name="Полилиния: фигура 60">
                <a:extLst>
                  <a:ext uri="{FF2B5EF4-FFF2-40B4-BE49-F238E27FC236}">
                    <a16:creationId xmlns:a16="http://schemas.microsoft.com/office/drawing/2014/main" id="{7B8B8B2D-BC07-4B65-B51A-0902E38AA7B1}"/>
                  </a:ext>
                </a:extLst>
              </p:cNvPr>
              <p:cNvSpPr/>
              <p:nvPr/>
            </p:nvSpPr>
            <p:spPr>
              <a:xfrm>
                <a:off x="9074346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2" name="Полилиния: фигура 61">
                <a:extLst>
                  <a:ext uri="{FF2B5EF4-FFF2-40B4-BE49-F238E27FC236}">
                    <a16:creationId xmlns:a16="http://schemas.microsoft.com/office/drawing/2014/main" id="{28116788-51AF-4DCA-88EA-1C71DFCE7B1E}"/>
                  </a:ext>
                </a:extLst>
              </p:cNvPr>
              <p:cNvSpPr/>
              <p:nvPr/>
            </p:nvSpPr>
            <p:spPr>
              <a:xfrm>
                <a:off x="8755850" y="1094092"/>
                <a:ext cx="800394" cy="648071"/>
              </a:xfrm>
              <a:custGeom>
                <a:avLst/>
                <a:gdLst>
                  <a:gd name="connsiteX0" fmla="*/ 783777 w 800394"/>
                  <a:gd name="connsiteY0" fmla="*/ 648071 h 648071"/>
                  <a:gd name="connsiteX1" fmla="*/ 13848 w 800394"/>
                  <a:gd name="connsiteY1" fmla="*/ 648071 h 648071"/>
                  <a:gd name="connsiteX2" fmla="*/ 0 w 800394"/>
                  <a:gd name="connsiteY2" fmla="*/ 634223 h 648071"/>
                  <a:gd name="connsiteX3" fmla="*/ 0 w 800394"/>
                  <a:gd name="connsiteY3" fmla="*/ 13848 h 648071"/>
                  <a:gd name="connsiteX4" fmla="*/ 13848 w 800394"/>
                  <a:gd name="connsiteY4" fmla="*/ 0 h 648071"/>
                  <a:gd name="connsiteX5" fmla="*/ 121859 w 800394"/>
                  <a:gd name="connsiteY5" fmla="*/ 0 h 648071"/>
                  <a:gd name="connsiteX6" fmla="*/ 121859 w 800394"/>
                  <a:gd name="connsiteY6" fmla="*/ 27695 h 648071"/>
                  <a:gd name="connsiteX7" fmla="*/ 27695 w 800394"/>
                  <a:gd name="connsiteY7" fmla="*/ 27695 h 648071"/>
                  <a:gd name="connsiteX8" fmla="*/ 27695 w 800394"/>
                  <a:gd name="connsiteY8" fmla="*/ 620376 h 648071"/>
                  <a:gd name="connsiteX9" fmla="*/ 772699 w 800394"/>
                  <a:gd name="connsiteY9" fmla="*/ 620376 h 648071"/>
                  <a:gd name="connsiteX10" fmla="*/ 772699 w 800394"/>
                  <a:gd name="connsiteY10" fmla="*/ 318496 h 648071"/>
                  <a:gd name="connsiteX11" fmla="*/ 800395 w 800394"/>
                  <a:gd name="connsiteY11" fmla="*/ 318496 h 648071"/>
                  <a:gd name="connsiteX12" fmla="*/ 800395 w 800394"/>
                  <a:gd name="connsiteY12" fmla="*/ 634223 h 648071"/>
                  <a:gd name="connsiteX13" fmla="*/ 783777 w 800394"/>
                  <a:gd name="connsiteY13" fmla="*/ 648071 h 648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0394" h="648071">
                    <a:moveTo>
                      <a:pt x="783777" y="648071"/>
                    </a:moveTo>
                    <a:lnTo>
                      <a:pt x="13848" y="648071"/>
                    </a:lnTo>
                    <a:cubicBezTo>
                      <a:pt x="5539" y="648071"/>
                      <a:pt x="0" y="642532"/>
                      <a:pt x="0" y="634223"/>
                    </a:cubicBezTo>
                    <a:lnTo>
                      <a:pt x="0" y="13848"/>
                    </a:lnTo>
                    <a:cubicBezTo>
                      <a:pt x="0" y="5539"/>
                      <a:pt x="5539" y="0"/>
                      <a:pt x="13848" y="0"/>
                    </a:cubicBezTo>
                    <a:lnTo>
                      <a:pt x="121859" y="0"/>
                    </a:lnTo>
                    <a:lnTo>
                      <a:pt x="121859" y="27695"/>
                    </a:lnTo>
                    <a:lnTo>
                      <a:pt x="27695" y="27695"/>
                    </a:lnTo>
                    <a:lnTo>
                      <a:pt x="27695" y="620376"/>
                    </a:lnTo>
                    <a:lnTo>
                      <a:pt x="772699" y="620376"/>
                    </a:lnTo>
                    <a:lnTo>
                      <a:pt x="772699" y="318496"/>
                    </a:lnTo>
                    <a:lnTo>
                      <a:pt x="800395" y="318496"/>
                    </a:lnTo>
                    <a:lnTo>
                      <a:pt x="800395" y="634223"/>
                    </a:lnTo>
                    <a:cubicBezTo>
                      <a:pt x="797625" y="642532"/>
                      <a:pt x="792086" y="648071"/>
                      <a:pt x="783777" y="648071"/>
                    </a:cubicBez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3" name="Полилиния: фигура 62">
                <a:extLst>
                  <a:ext uri="{FF2B5EF4-FFF2-40B4-BE49-F238E27FC236}">
                    <a16:creationId xmlns:a16="http://schemas.microsoft.com/office/drawing/2014/main" id="{8CF3FAC9-E29D-468A-A0DD-123A1B8F113E}"/>
                  </a:ext>
                </a:extLst>
              </p:cNvPr>
              <p:cNvSpPr/>
              <p:nvPr/>
            </p:nvSpPr>
            <p:spPr>
              <a:xfrm>
                <a:off x="8589678" y="1235338"/>
                <a:ext cx="130168" cy="415430"/>
              </a:xfrm>
              <a:custGeom>
                <a:avLst/>
                <a:gdLst>
                  <a:gd name="connsiteX0" fmla="*/ 116320 w 130168"/>
                  <a:gd name="connsiteY0" fmla="*/ 415430 h 415430"/>
                  <a:gd name="connsiteX1" fmla="*/ 13848 w 130168"/>
                  <a:gd name="connsiteY1" fmla="*/ 415430 h 415430"/>
                  <a:gd name="connsiteX2" fmla="*/ 2770 w 130168"/>
                  <a:gd name="connsiteY2" fmla="*/ 409891 h 415430"/>
                  <a:gd name="connsiteX3" fmla="*/ 0 w 130168"/>
                  <a:gd name="connsiteY3" fmla="*/ 398813 h 415430"/>
                  <a:gd name="connsiteX4" fmla="*/ 102473 w 130168"/>
                  <a:gd name="connsiteY4" fmla="*/ 0 h 415430"/>
                  <a:gd name="connsiteX5" fmla="*/ 130168 w 130168"/>
                  <a:gd name="connsiteY5" fmla="*/ 8309 h 415430"/>
                  <a:gd name="connsiteX6" fmla="*/ 30465 w 130168"/>
                  <a:gd name="connsiteY6" fmla="*/ 387735 h 415430"/>
                  <a:gd name="connsiteX7" fmla="*/ 116320 w 130168"/>
                  <a:gd name="connsiteY7" fmla="*/ 387735 h 415430"/>
                  <a:gd name="connsiteX8" fmla="*/ 116320 w 130168"/>
                  <a:gd name="connsiteY8" fmla="*/ 415430 h 41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168" h="415430">
                    <a:moveTo>
                      <a:pt x="116320" y="415430"/>
                    </a:moveTo>
                    <a:lnTo>
                      <a:pt x="13848" y="415430"/>
                    </a:lnTo>
                    <a:cubicBezTo>
                      <a:pt x="8309" y="415430"/>
                      <a:pt x="5539" y="412661"/>
                      <a:pt x="2770" y="409891"/>
                    </a:cubicBezTo>
                    <a:cubicBezTo>
                      <a:pt x="0" y="407122"/>
                      <a:pt x="0" y="401583"/>
                      <a:pt x="0" y="398813"/>
                    </a:cubicBezTo>
                    <a:lnTo>
                      <a:pt x="102473" y="0"/>
                    </a:lnTo>
                    <a:lnTo>
                      <a:pt x="130168" y="8309"/>
                    </a:lnTo>
                    <a:lnTo>
                      <a:pt x="30465" y="387735"/>
                    </a:lnTo>
                    <a:lnTo>
                      <a:pt x="116320" y="387735"/>
                    </a:lnTo>
                    <a:lnTo>
                      <a:pt x="116320" y="415430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4" name="Полилиния: фигура 450">
                <a:extLst>
                  <a:ext uri="{FF2B5EF4-FFF2-40B4-BE49-F238E27FC236}">
                    <a16:creationId xmlns:a16="http://schemas.microsoft.com/office/drawing/2014/main" id="{762D2417-AD8E-44D0-A613-3A07843D38C4}"/>
                  </a:ext>
                </a:extLst>
              </p:cNvPr>
              <p:cNvSpPr/>
              <p:nvPr/>
            </p:nvSpPr>
            <p:spPr>
              <a:xfrm>
                <a:off x="9190666" y="1274111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5" name="Полилиния: фигура 457">
                <a:extLst>
                  <a:ext uri="{FF2B5EF4-FFF2-40B4-BE49-F238E27FC236}">
                    <a16:creationId xmlns:a16="http://schemas.microsoft.com/office/drawing/2014/main" id="{381DE823-1111-44B4-8F90-D1D92472BFF9}"/>
                  </a:ext>
                </a:extLst>
              </p:cNvPr>
              <p:cNvSpPr/>
              <p:nvPr/>
            </p:nvSpPr>
            <p:spPr>
              <a:xfrm>
                <a:off x="9193436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6" name="Полилиния: фигура 460">
                <a:extLst>
                  <a:ext uri="{FF2B5EF4-FFF2-40B4-BE49-F238E27FC236}">
                    <a16:creationId xmlns:a16="http://schemas.microsoft.com/office/drawing/2014/main" id="{FC810586-B376-4F40-A5A4-39737FAD6FC9}"/>
                  </a:ext>
                </a:extLst>
              </p:cNvPr>
              <p:cNvSpPr/>
              <p:nvPr/>
            </p:nvSpPr>
            <p:spPr>
              <a:xfrm>
                <a:off x="9301448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7" name="Полилиния: фигура 461">
                <a:extLst>
                  <a:ext uri="{FF2B5EF4-FFF2-40B4-BE49-F238E27FC236}">
                    <a16:creationId xmlns:a16="http://schemas.microsoft.com/office/drawing/2014/main" id="{19031052-CA54-497A-9DD6-2FB45231F37C}"/>
                  </a:ext>
                </a:extLst>
              </p:cNvPr>
              <p:cNvSpPr/>
              <p:nvPr/>
            </p:nvSpPr>
            <p:spPr>
              <a:xfrm>
                <a:off x="8963565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8" name="Полилиния: фигура 462">
                <a:extLst>
                  <a:ext uri="{FF2B5EF4-FFF2-40B4-BE49-F238E27FC236}">
                    <a16:creationId xmlns:a16="http://schemas.microsoft.com/office/drawing/2014/main" id="{E6C6D024-A58A-44E4-92CA-C7C0439A6EF1}"/>
                  </a:ext>
                </a:extLst>
              </p:cNvPr>
              <p:cNvSpPr/>
              <p:nvPr/>
            </p:nvSpPr>
            <p:spPr>
              <a:xfrm>
                <a:off x="9071576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9" name="Полилиния: фигура 463">
                <a:extLst>
                  <a:ext uri="{FF2B5EF4-FFF2-40B4-BE49-F238E27FC236}">
                    <a16:creationId xmlns:a16="http://schemas.microsoft.com/office/drawing/2014/main" id="{5B953304-4663-480C-8546-E78042BE93D1}"/>
                  </a:ext>
                </a:extLst>
              </p:cNvPr>
              <p:cNvSpPr/>
              <p:nvPr/>
            </p:nvSpPr>
            <p:spPr>
              <a:xfrm>
                <a:off x="9190666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0" name="Полилиния: фигура 464">
                <a:extLst>
                  <a:ext uri="{FF2B5EF4-FFF2-40B4-BE49-F238E27FC236}">
                    <a16:creationId xmlns:a16="http://schemas.microsoft.com/office/drawing/2014/main" id="{84D89D2F-4B58-4885-ABD6-D900EAAF10FB}"/>
                  </a:ext>
                </a:extLst>
              </p:cNvPr>
              <p:cNvSpPr/>
              <p:nvPr/>
            </p:nvSpPr>
            <p:spPr>
              <a:xfrm>
                <a:off x="9298678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1" name="Полилиния: фигура 465">
                <a:extLst>
                  <a:ext uri="{FF2B5EF4-FFF2-40B4-BE49-F238E27FC236}">
                    <a16:creationId xmlns:a16="http://schemas.microsoft.com/office/drawing/2014/main" id="{830F54F0-04A5-484A-8628-9972F266BB25}"/>
                  </a:ext>
                </a:extLst>
              </p:cNvPr>
              <p:cNvSpPr/>
              <p:nvPr/>
            </p:nvSpPr>
            <p:spPr>
              <a:xfrm>
                <a:off x="8897096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2" name="Полилиния: фигура 466">
                <a:extLst>
                  <a:ext uri="{FF2B5EF4-FFF2-40B4-BE49-F238E27FC236}">
                    <a16:creationId xmlns:a16="http://schemas.microsoft.com/office/drawing/2014/main" id="{11BCFC4B-9244-48DA-B30E-F2F1636AE9BA}"/>
                  </a:ext>
                </a:extLst>
              </p:cNvPr>
              <p:cNvSpPr/>
              <p:nvPr/>
            </p:nvSpPr>
            <p:spPr>
              <a:xfrm>
                <a:off x="8982951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3" name="Полилиния: фигура 467">
                <a:extLst>
                  <a:ext uri="{FF2B5EF4-FFF2-40B4-BE49-F238E27FC236}">
                    <a16:creationId xmlns:a16="http://schemas.microsoft.com/office/drawing/2014/main" id="{5B7D1CB1-4D76-4710-B2B6-65C5D1185B4D}"/>
                  </a:ext>
                </a:extLst>
              </p:cNvPr>
              <p:cNvSpPr/>
              <p:nvPr/>
            </p:nvSpPr>
            <p:spPr>
              <a:xfrm>
                <a:off x="9068807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4" name="Полилиния: фигура 468">
                <a:extLst>
                  <a:ext uri="{FF2B5EF4-FFF2-40B4-BE49-F238E27FC236}">
                    <a16:creationId xmlns:a16="http://schemas.microsoft.com/office/drawing/2014/main" id="{85591C4D-4E79-46E3-8706-61A6690C34F9}"/>
                  </a:ext>
                </a:extLst>
              </p:cNvPr>
              <p:cNvSpPr/>
              <p:nvPr/>
            </p:nvSpPr>
            <p:spPr>
              <a:xfrm>
                <a:off x="9149123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5" name="Полилиния: фигура 469">
                <a:extLst>
                  <a:ext uri="{FF2B5EF4-FFF2-40B4-BE49-F238E27FC236}">
                    <a16:creationId xmlns:a16="http://schemas.microsoft.com/office/drawing/2014/main" id="{158664A8-041A-433F-AAE0-9D569D5DB7F8}"/>
                  </a:ext>
                </a:extLst>
              </p:cNvPr>
              <p:cNvSpPr/>
              <p:nvPr/>
            </p:nvSpPr>
            <p:spPr>
              <a:xfrm>
                <a:off x="8814010" y="1495674"/>
                <a:ext cx="196636" cy="188328"/>
              </a:xfrm>
              <a:custGeom>
                <a:avLst/>
                <a:gdLst>
                  <a:gd name="connsiteX0" fmla="*/ 196637 w 196636"/>
                  <a:gd name="connsiteY0" fmla="*/ 188328 h 188328"/>
                  <a:gd name="connsiteX1" fmla="*/ 13848 w 196636"/>
                  <a:gd name="connsiteY1" fmla="*/ 188328 h 188328"/>
                  <a:gd name="connsiteX2" fmla="*/ 0 w 196636"/>
                  <a:gd name="connsiteY2" fmla="*/ 174481 h 188328"/>
                  <a:gd name="connsiteX3" fmla="*/ 0 w 196636"/>
                  <a:gd name="connsiteY3" fmla="*/ 0 h 188328"/>
                  <a:gd name="connsiteX4" fmla="*/ 27695 w 196636"/>
                  <a:gd name="connsiteY4" fmla="*/ 0 h 188328"/>
                  <a:gd name="connsiteX5" fmla="*/ 27695 w 196636"/>
                  <a:gd name="connsiteY5" fmla="*/ 160633 h 188328"/>
                  <a:gd name="connsiteX6" fmla="*/ 196637 w 196636"/>
                  <a:gd name="connsiteY6" fmla="*/ 160633 h 188328"/>
                  <a:gd name="connsiteX7" fmla="*/ 196637 w 196636"/>
                  <a:gd name="connsiteY7" fmla="*/ 188328 h 188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6636" h="188328">
                    <a:moveTo>
                      <a:pt x="196637" y="188328"/>
                    </a:moveTo>
                    <a:lnTo>
                      <a:pt x="13848" y="188328"/>
                    </a:lnTo>
                    <a:cubicBezTo>
                      <a:pt x="5539" y="188328"/>
                      <a:pt x="0" y="182789"/>
                      <a:pt x="0" y="174481"/>
                    </a:cubicBezTo>
                    <a:lnTo>
                      <a:pt x="0" y="0"/>
                    </a:lnTo>
                    <a:lnTo>
                      <a:pt x="27695" y="0"/>
                    </a:lnTo>
                    <a:lnTo>
                      <a:pt x="27695" y="160633"/>
                    </a:lnTo>
                    <a:lnTo>
                      <a:pt x="196637" y="160633"/>
                    </a:lnTo>
                    <a:lnTo>
                      <a:pt x="196637" y="188328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66" name="Полилиния: фигура 470">
              <a:extLst>
                <a:ext uri="{FF2B5EF4-FFF2-40B4-BE49-F238E27FC236}">
                  <a16:creationId xmlns:a16="http://schemas.microsoft.com/office/drawing/2014/main" id="{4D239672-1F5F-4590-89FD-897F3F33BE0B}"/>
                </a:ext>
              </a:extLst>
            </p:cNvPr>
            <p:cNvSpPr/>
            <p:nvPr/>
          </p:nvSpPr>
          <p:spPr>
            <a:xfrm>
              <a:off x="9237748" y="916842"/>
              <a:ext cx="404351" cy="404352"/>
            </a:xfrm>
            <a:custGeom>
              <a:avLst/>
              <a:gdLst>
                <a:gd name="connsiteX0" fmla="*/ 202176 w 404351"/>
                <a:gd name="connsiteY0" fmla="*/ 404352 h 404352"/>
                <a:gd name="connsiteX1" fmla="*/ 0 w 404351"/>
                <a:gd name="connsiteY1" fmla="*/ 202176 h 404352"/>
                <a:gd name="connsiteX2" fmla="*/ 202176 w 404351"/>
                <a:gd name="connsiteY2" fmla="*/ 0 h 404352"/>
                <a:gd name="connsiteX3" fmla="*/ 404352 w 404351"/>
                <a:gd name="connsiteY3" fmla="*/ 202176 h 404352"/>
                <a:gd name="connsiteX4" fmla="*/ 202176 w 404351"/>
                <a:gd name="connsiteY4" fmla="*/ 404352 h 404352"/>
                <a:gd name="connsiteX5" fmla="*/ 202176 w 404351"/>
                <a:gd name="connsiteY5" fmla="*/ 27695 h 404352"/>
                <a:gd name="connsiteX6" fmla="*/ 27695 w 404351"/>
                <a:gd name="connsiteY6" fmla="*/ 202176 h 404352"/>
                <a:gd name="connsiteX7" fmla="*/ 202176 w 404351"/>
                <a:gd name="connsiteY7" fmla="*/ 376657 h 404352"/>
                <a:gd name="connsiteX8" fmla="*/ 376657 w 404351"/>
                <a:gd name="connsiteY8" fmla="*/ 202176 h 404352"/>
                <a:gd name="connsiteX9" fmla="*/ 202176 w 404351"/>
                <a:gd name="connsiteY9" fmla="*/ 27695 h 40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4351" h="404352">
                  <a:moveTo>
                    <a:pt x="202176" y="404352"/>
                  </a:moveTo>
                  <a:cubicBezTo>
                    <a:pt x="91395" y="404352"/>
                    <a:pt x="0" y="312957"/>
                    <a:pt x="0" y="202176"/>
                  </a:cubicBezTo>
                  <a:cubicBezTo>
                    <a:pt x="0" y="91395"/>
                    <a:pt x="91395" y="0"/>
                    <a:pt x="202176" y="0"/>
                  </a:cubicBezTo>
                  <a:cubicBezTo>
                    <a:pt x="312957" y="0"/>
                    <a:pt x="404352" y="91395"/>
                    <a:pt x="404352" y="202176"/>
                  </a:cubicBezTo>
                  <a:cubicBezTo>
                    <a:pt x="404352" y="312957"/>
                    <a:pt x="315727" y="404352"/>
                    <a:pt x="202176" y="404352"/>
                  </a:cubicBezTo>
                  <a:close/>
                  <a:moveTo>
                    <a:pt x="202176" y="27695"/>
                  </a:moveTo>
                  <a:cubicBezTo>
                    <a:pt x="105242" y="27695"/>
                    <a:pt x="27695" y="105242"/>
                    <a:pt x="27695" y="202176"/>
                  </a:cubicBezTo>
                  <a:cubicBezTo>
                    <a:pt x="27695" y="299110"/>
                    <a:pt x="105242" y="376657"/>
                    <a:pt x="202176" y="376657"/>
                  </a:cubicBezTo>
                  <a:cubicBezTo>
                    <a:pt x="299110" y="376657"/>
                    <a:pt x="376657" y="299110"/>
                    <a:pt x="376657" y="202176"/>
                  </a:cubicBezTo>
                  <a:cubicBezTo>
                    <a:pt x="376657" y="105242"/>
                    <a:pt x="299110" y="27695"/>
                    <a:pt x="202176" y="27695"/>
                  </a:cubicBez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7" name="Группа 478">
            <a:extLst>
              <a:ext uri="{FF2B5EF4-FFF2-40B4-BE49-F238E27FC236}">
                <a16:creationId xmlns:a16="http://schemas.microsoft.com/office/drawing/2014/main" id="{6AA5555F-0D0B-46E7-9C3D-6441924096DF}"/>
              </a:ext>
            </a:extLst>
          </p:cNvPr>
          <p:cNvGrpSpPr>
            <a:grpSpLocks noChangeAspect="1"/>
          </p:cNvGrpSpPr>
          <p:nvPr/>
        </p:nvGrpSpPr>
        <p:grpSpPr>
          <a:xfrm>
            <a:off x="3649734" y="3620074"/>
            <a:ext cx="323269" cy="316209"/>
            <a:chOff x="6945895" y="918161"/>
            <a:chExt cx="887700" cy="868314"/>
          </a:xfrm>
          <a:solidFill>
            <a:srgbClr val="FFFFFF"/>
          </a:solidFill>
        </p:grpSpPr>
        <p:sp>
          <p:nvSpPr>
            <p:cNvPr id="168" name="Полилиния: фигура 28">
              <a:extLst>
                <a:ext uri="{FF2B5EF4-FFF2-40B4-BE49-F238E27FC236}">
                  <a16:creationId xmlns:a16="http://schemas.microsoft.com/office/drawing/2014/main" id="{294B950F-FE47-4A68-93BF-BA2E43CB421F}"/>
                </a:ext>
              </a:extLst>
            </p:cNvPr>
            <p:cNvSpPr/>
            <p:nvPr/>
          </p:nvSpPr>
          <p:spPr>
            <a:xfrm>
              <a:off x="7357236" y="1008236"/>
              <a:ext cx="235410" cy="551137"/>
            </a:xfrm>
            <a:custGeom>
              <a:avLst/>
              <a:gdLst>
                <a:gd name="connsiteX0" fmla="*/ 196637 w 235410"/>
                <a:gd name="connsiteY0" fmla="*/ 551137 h 551137"/>
                <a:gd name="connsiteX1" fmla="*/ 8309 w 235410"/>
                <a:gd name="connsiteY1" fmla="*/ 382196 h 551137"/>
                <a:gd name="connsiteX2" fmla="*/ 0 w 235410"/>
                <a:gd name="connsiteY2" fmla="*/ 362809 h 551137"/>
                <a:gd name="connsiteX3" fmla="*/ 0 w 235410"/>
                <a:gd name="connsiteY3" fmla="*/ 0 h 551137"/>
                <a:gd name="connsiteX4" fmla="*/ 55391 w 235410"/>
                <a:gd name="connsiteY4" fmla="*/ 0 h 551137"/>
                <a:gd name="connsiteX5" fmla="*/ 55391 w 235410"/>
                <a:gd name="connsiteY5" fmla="*/ 348961 h 551137"/>
                <a:gd name="connsiteX6" fmla="*/ 235410 w 235410"/>
                <a:gd name="connsiteY6" fmla="*/ 509594 h 551137"/>
                <a:gd name="connsiteX7" fmla="*/ 196637 w 235410"/>
                <a:gd name="connsiteY7" fmla="*/ 551137 h 55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410" h="551137">
                  <a:moveTo>
                    <a:pt x="196637" y="551137"/>
                  </a:moveTo>
                  <a:lnTo>
                    <a:pt x="8309" y="382196"/>
                  </a:lnTo>
                  <a:cubicBezTo>
                    <a:pt x="2770" y="376657"/>
                    <a:pt x="0" y="368348"/>
                    <a:pt x="0" y="362809"/>
                  </a:cubicBezTo>
                  <a:lnTo>
                    <a:pt x="0" y="0"/>
                  </a:lnTo>
                  <a:lnTo>
                    <a:pt x="55391" y="0"/>
                  </a:lnTo>
                  <a:lnTo>
                    <a:pt x="55391" y="348961"/>
                  </a:lnTo>
                  <a:lnTo>
                    <a:pt x="235410" y="509594"/>
                  </a:lnTo>
                  <a:lnTo>
                    <a:pt x="196637" y="551137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29">
              <a:extLst>
                <a:ext uri="{FF2B5EF4-FFF2-40B4-BE49-F238E27FC236}">
                  <a16:creationId xmlns:a16="http://schemas.microsoft.com/office/drawing/2014/main" id="{ACA724BC-8DF9-4851-9B05-BB6C3FAD5420}"/>
                </a:ext>
              </a:extLst>
            </p:cNvPr>
            <p:cNvSpPr/>
            <p:nvPr/>
          </p:nvSpPr>
          <p:spPr>
            <a:xfrm>
              <a:off x="7650807" y="1080244"/>
              <a:ext cx="160632" cy="160632"/>
            </a:xfrm>
            <a:custGeom>
              <a:avLst/>
              <a:gdLst>
                <a:gd name="connsiteX0" fmla="*/ 132938 w 160632"/>
                <a:gd name="connsiteY0" fmla="*/ 160633 h 160632"/>
                <a:gd name="connsiteX1" fmla="*/ 124629 w 160632"/>
                <a:gd name="connsiteY1" fmla="*/ 157863 h 160632"/>
                <a:gd name="connsiteX2" fmla="*/ 0 w 160632"/>
                <a:gd name="connsiteY2" fmla="*/ 85856 h 160632"/>
                <a:gd name="connsiteX3" fmla="*/ 13848 w 160632"/>
                <a:gd name="connsiteY3" fmla="*/ 60930 h 160632"/>
                <a:gd name="connsiteX4" fmla="*/ 121859 w 160632"/>
                <a:gd name="connsiteY4" fmla="*/ 124629 h 160632"/>
                <a:gd name="connsiteX5" fmla="*/ 132938 w 160632"/>
                <a:gd name="connsiteY5" fmla="*/ 0 h 160632"/>
                <a:gd name="connsiteX6" fmla="*/ 160633 w 160632"/>
                <a:gd name="connsiteY6" fmla="*/ 2770 h 160632"/>
                <a:gd name="connsiteX7" fmla="*/ 146785 w 160632"/>
                <a:gd name="connsiteY7" fmla="*/ 149555 h 160632"/>
                <a:gd name="connsiteX8" fmla="*/ 138477 w 160632"/>
                <a:gd name="connsiteY8" fmla="*/ 160633 h 160632"/>
                <a:gd name="connsiteX9" fmla="*/ 132938 w 160632"/>
                <a:gd name="connsiteY9" fmla="*/ 160633 h 1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632" h="160632">
                  <a:moveTo>
                    <a:pt x="132938" y="160633"/>
                  </a:moveTo>
                  <a:cubicBezTo>
                    <a:pt x="130168" y="160633"/>
                    <a:pt x="127398" y="160633"/>
                    <a:pt x="124629" y="157863"/>
                  </a:cubicBezTo>
                  <a:lnTo>
                    <a:pt x="0" y="85856"/>
                  </a:lnTo>
                  <a:lnTo>
                    <a:pt x="13848" y="60930"/>
                  </a:lnTo>
                  <a:lnTo>
                    <a:pt x="121859" y="124629"/>
                  </a:lnTo>
                  <a:lnTo>
                    <a:pt x="132938" y="0"/>
                  </a:lnTo>
                  <a:lnTo>
                    <a:pt x="160633" y="2770"/>
                  </a:lnTo>
                  <a:lnTo>
                    <a:pt x="146785" y="149555"/>
                  </a:lnTo>
                  <a:cubicBezTo>
                    <a:pt x="146785" y="155094"/>
                    <a:pt x="144016" y="157863"/>
                    <a:pt x="138477" y="160633"/>
                  </a:cubicBezTo>
                  <a:cubicBezTo>
                    <a:pt x="135707" y="160633"/>
                    <a:pt x="135707" y="160633"/>
                    <a:pt x="132938" y="160633"/>
                  </a:cubicBez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7">
              <a:extLst>
                <a:ext uri="{FF2B5EF4-FFF2-40B4-BE49-F238E27FC236}">
                  <a16:creationId xmlns:a16="http://schemas.microsoft.com/office/drawing/2014/main" id="{4959CFA8-2868-4F28-BC84-6EC078E6A45C}"/>
                </a:ext>
              </a:extLst>
            </p:cNvPr>
            <p:cNvSpPr/>
            <p:nvPr/>
          </p:nvSpPr>
          <p:spPr>
            <a:xfrm>
              <a:off x="6945895" y="918161"/>
              <a:ext cx="843387" cy="868314"/>
            </a:xfrm>
            <a:custGeom>
              <a:avLst/>
              <a:gdLst>
                <a:gd name="connsiteX0" fmla="*/ 433497 w 843387"/>
                <a:gd name="connsiteY0" fmla="*/ 868314 h 868314"/>
                <a:gd name="connsiteX1" fmla="*/ 397493 w 843387"/>
                <a:gd name="connsiteY1" fmla="*/ 865545 h 868314"/>
                <a:gd name="connsiteX2" fmla="*/ 1450 w 843387"/>
                <a:gd name="connsiteY2" fmla="*/ 397494 h 868314"/>
                <a:gd name="connsiteX3" fmla="*/ 469501 w 843387"/>
                <a:gd name="connsiteY3" fmla="*/ 1450 h 868314"/>
                <a:gd name="connsiteX4" fmla="*/ 837849 w 843387"/>
                <a:gd name="connsiteY4" fmla="*/ 272865 h 868314"/>
                <a:gd name="connsiteX5" fmla="*/ 812923 w 843387"/>
                <a:gd name="connsiteY5" fmla="*/ 283943 h 868314"/>
                <a:gd name="connsiteX6" fmla="*/ 469501 w 843387"/>
                <a:gd name="connsiteY6" fmla="*/ 29146 h 868314"/>
                <a:gd name="connsiteX7" fmla="*/ 173161 w 843387"/>
                <a:gd name="connsiteY7" fmla="*/ 126079 h 868314"/>
                <a:gd name="connsiteX8" fmla="*/ 31915 w 843387"/>
                <a:gd name="connsiteY8" fmla="*/ 403033 h 868314"/>
                <a:gd name="connsiteX9" fmla="*/ 403032 w 843387"/>
                <a:gd name="connsiteY9" fmla="*/ 840619 h 868314"/>
                <a:gd name="connsiteX10" fmla="*/ 818462 w 843387"/>
                <a:gd name="connsiteY10" fmla="*/ 577513 h 868314"/>
                <a:gd name="connsiteX11" fmla="*/ 843388 w 843387"/>
                <a:gd name="connsiteY11" fmla="*/ 585822 h 868314"/>
                <a:gd name="connsiteX12" fmla="*/ 433497 w 843387"/>
                <a:gd name="connsiteY12" fmla="*/ 868314 h 86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3387" h="868314">
                  <a:moveTo>
                    <a:pt x="433497" y="868314"/>
                  </a:moveTo>
                  <a:cubicBezTo>
                    <a:pt x="422419" y="868314"/>
                    <a:pt x="408571" y="868314"/>
                    <a:pt x="397493" y="865545"/>
                  </a:cubicBezTo>
                  <a:cubicBezTo>
                    <a:pt x="159314" y="846158"/>
                    <a:pt x="-17937" y="635674"/>
                    <a:pt x="1450" y="397494"/>
                  </a:cubicBezTo>
                  <a:cubicBezTo>
                    <a:pt x="20837" y="159314"/>
                    <a:pt x="231321" y="-17937"/>
                    <a:pt x="469501" y="1450"/>
                  </a:cubicBezTo>
                  <a:cubicBezTo>
                    <a:pt x="635673" y="15298"/>
                    <a:pt x="774150" y="120540"/>
                    <a:pt x="837849" y="272865"/>
                  </a:cubicBezTo>
                  <a:lnTo>
                    <a:pt x="812923" y="283943"/>
                  </a:lnTo>
                  <a:cubicBezTo>
                    <a:pt x="754763" y="139927"/>
                    <a:pt x="624595" y="42993"/>
                    <a:pt x="469501" y="29146"/>
                  </a:cubicBezTo>
                  <a:cubicBezTo>
                    <a:pt x="361489" y="23606"/>
                    <a:pt x="256247" y="56841"/>
                    <a:pt x="173161" y="126079"/>
                  </a:cubicBezTo>
                  <a:cubicBezTo>
                    <a:pt x="90075" y="195318"/>
                    <a:pt x="40224" y="295021"/>
                    <a:pt x="31915" y="403033"/>
                  </a:cubicBezTo>
                  <a:cubicBezTo>
                    <a:pt x="12528" y="624595"/>
                    <a:pt x="178700" y="821232"/>
                    <a:pt x="403032" y="840619"/>
                  </a:cubicBezTo>
                  <a:cubicBezTo>
                    <a:pt x="585821" y="854467"/>
                    <a:pt x="754763" y="746455"/>
                    <a:pt x="818462" y="577513"/>
                  </a:cubicBezTo>
                  <a:lnTo>
                    <a:pt x="843388" y="585822"/>
                  </a:lnTo>
                  <a:cubicBezTo>
                    <a:pt x="779689" y="757533"/>
                    <a:pt x="613517" y="868314"/>
                    <a:pt x="433497" y="868314"/>
                  </a:cubicBez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8">
              <a:extLst>
                <a:ext uri="{FF2B5EF4-FFF2-40B4-BE49-F238E27FC236}">
                  <a16:creationId xmlns:a16="http://schemas.microsoft.com/office/drawing/2014/main" id="{B9452865-F51C-489C-9DD0-CAFEA993A913}"/>
                </a:ext>
              </a:extLst>
            </p:cNvPr>
            <p:cNvSpPr/>
            <p:nvPr/>
          </p:nvSpPr>
          <p:spPr>
            <a:xfrm>
              <a:off x="7728353" y="1301807"/>
              <a:ext cx="105242" cy="102472"/>
            </a:xfrm>
            <a:custGeom>
              <a:avLst/>
              <a:gdLst>
                <a:gd name="connsiteX0" fmla="*/ 0 w 105242"/>
                <a:gd name="connsiteY0" fmla="*/ 0 h 102472"/>
                <a:gd name="connsiteX1" fmla="*/ 105242 w 105242"/>
                <a:gd name="connsiteY1" fmla="*/ 0 h 102472"/>
                <a:gd name="connsiteX2" fmla="*/ 105242 w 105242"/>
                <a:gd name="connsiteY2" fmla="*/ 102473 h 102472"/>
                <a:gd name="connsiteX3" fmla="*/ 0 w 105242"/>
                <a:gd name="connsiteY3" fmla="*/ 102473 h 10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42" h="102472">
                  <a:moveTo>
                    <a:pt x="0" y="0"/>
                  </a:moveTo>
                  <a:lnTo>
                    <a:pt x="105242" y="0"/>
                  </a:lnTo>
                  <a:lnTo>
                    <a:pt x="105242" y="102473"/>
                  </a:lnTo>
                  <a:lnTo>
                    <a:pt x="0" y="102473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471">
              <a:extLst>
                <a:ext uri="{FF2B5EF4-FFF2-40B4-BE49-F238E27FC236}">
                  <a16:creationId xmlns:a16="http://schemas.microsoft.com/office/drawing/2014/main" id="{891A778B-98F4-469D-8A74-8CA50B5D755A}"/>
                </a:ext>
              </a:extLst>
            </p:cNvPr>
            <p:cNvSpPr/>
            <p:nvPr/>
          </p:nvSpPr>
          <p:spPr>
            <a:xfrm>
              <a:off x="7002736" y="1359967"/>
              <a:ext cx="80316" cy="27695"/>
            </a:xfrm>
            <a:custGeom>
              <a:avLst/>
              <a:gdLst>
                <a:gd name="connsiteX0" fmla="*/ 0 w 80316"/>
                <a:gd name="connsiteY0" fmla="*/ 0 h 27695"/>
                <a:gd name="connsiteX1" fmla="*/ 80316 w 80316"/>
                <a:gd name="connsiteY1" fmla="*/ 0 h 27695"/>
                <a:gd name="connsiteX2" fmla="*/ 80316 w 80316"/>
                <a:gd name="connsiteY2" fmla="*/ 27695 h 27695"/>
                <a:gd name="connsiteX3" fmla="*/ 0 w 80316"/>
                <a:gd name="connsiteY3" fmla="*/ 27695 h 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16" h="27695">
                  <a:moveTo>
                    <a:pt x="0" y="0"/>
                  </a:moveTo>
                  <a:lnTo>
                    <a:pt x="80316" y="0"/>
                  </a:lnTo>
                  <a:lnTo>
                    <a:pt x="80316" y="27695"/>
                  </a:lnTo>
                  <a:lnTo>
                    <a:pt x="0" y="27695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472">
              <a:extLst>
                <a:ext uri="{FF2B5EF4-FFF2-40B4-BE49-F238E27FC236}">
                  <a16:creationId xmlns:a16="http://schemas.microsoft.com/office/drawing/2014/main" id="{1F408B5F-577F-44FF-AA41-56989E66A6CB}"/>
                </a:ext>
              </a:extLst>
            </p:cNvPr>
            <p:cNvSpPr/>
            <p:nvPr/>
          </p:nvSpPr>
          <p:spPr>
            <a:xfrm>
              <a:off x="7354467" y="1664616"/>
              <a:ext cx="27695" cy="69238"/>
            </a:xfrm>
            <a:custGeom>
              <a:avLst/>
              <a:gdLst>
                <a:gd name="connsiteX0" fmla="*/ 0 w 27695"/>
                <a:gd name="connsiteY0" fmla="*/ 0 h 69238"/>
                <a:gd name="connsiteX1" fmla="*/ 27695 w 27695"/>
                <a:gd name="connsiteY1" fmla="*/ 0 h 69238"/>
                <a:gd name="connsiteX2" fmla="*/ 27695 w 27695"/>
                <a:gd name="connsiteY2" fmla="*/ 69238 h 69238"/>
                <a:gd name="connsiteX3" fmla="*/ 0 w 27695"/>
                <a:gd name="connsiteY3" fmla="*/ 69238 h 6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95" h="69238">
                  <a:moveTo>
                    <a:pt x="0" y="0"/>
                  </a:moveTo>
                  <a:lnTo>
                    <a:pt x="27695" y="0"/>
                  </a:lnTo>
                  <a:lnTo>
                    <a:pt x="27695" y="69238"/>
                  </a:lnTo>
                  <a:lnTo>
                    <a:pt x="0" y="69238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4" name="Группа 549">
            <a:extLst>
              <a:ext uri="{FF2B5EF4-FFF2-40B4-BE49-F238E27FC236}">
                <a16:creationId xmlns:a16="http://schemas.microsoft.com/office/drawing/2014/main" id="{3CFED9E2-F94B-4D5F-A56F-5FFAE284C51A}"/>
              </a:ext>
            </a:extLst>
          </p:cNvPr>
          <p:cNvGrpSpPr>
            <a:grpSpLocks noChangeAspect="1"/>
          </p:cNvGrpSpPr>
          <p:nvPr/>
        </p:nvGrpSpPr>
        <p:grpSpPr>
          <a:xfrm>
            <a:off x="3644037" y="5066441"/>
            <a:ext cx="361624" cy="354583"/>
            <a:chOff x="2693038" y="2890114"/>
            <a:chExt cx="1012668" cy="992951"/>
          </a:xfrm>
          <a:solidFill>
            <a:srgbClr val="FFFFFF"/>
          </a:solidFill>
        </p:grpSpPr>
        <p:sp>
          <p:nvSpPr>
            <p:cNvPr id="175" name="Полилиния: фигура 571">
              <a:extLst>
                <a:ext uri="{FF2B5EF4-FFF2-40B4-BE49-F238E27FC236}">
                  <a16:creationId xmlns:a16="http://schemas.microsoft.com/office/drawing/2014/main" id="{EC53584B-38D8-407E-9FD5-7722F87D0565}"/>
                </a:ext>
              </a:extLst>
            </p:cNvPr>
            <p:cNvSpPr/>
            <p:nvPr/>
          </p:nvSpPr>
          <p:spPr>
            <a:xfrm>
              <a:off x="2723402" y="3490696"/>
              <a:ext cx="199931" cy="348203"/>
            </a:xfrm>
            <a:custGeom>
              <a:avLst/>
              <a:gdLst>
                <a:gd name="connsiteX0" fmla="*/ 184157 w 199931"/>
                <a:gd name="connsiteY0" fmla="*/ 348203 h 348203"/>
                <a:gd name="connsiteX1" fmla="*/ 168384 w 199931"/>
                <a:gd name="connsiteY1" fmla="*/ 332430 h 348203"/>
                <a:gd name="connsiteX2" fmla="*/ 168384 w 199931"/>
                <a:gd name="connsiteY2" fmla="*/ 102135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3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3"/>
                  </a:moveTo>
                  <a:cubicBezTo>
                    <a:pt x="174693" y="348203"/>
                    <a:pt x="168384" y="341894"/>
                    <a:pt x="168384" y="332430"/>
                  </a:cubicBezTo>
                  <a:lnTo>
                    <a:pt x="168384" y="102135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7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38740"/>
                    <a:pt x="190467" y="348203"/>
                    <a:pt x="184157" y="348203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33">
              <a:extLst>
                <a:ext uri="{FF2B5EF4-FFF2-40B4-BE49-F238E27FC236}">
                  <a16:creationId xmlns:a16="http://schemas.microsoft.com/office/drawing/2014/main" id="{1DEF230E-F6DD-481C-A3F4-D8521D36AC5F}"/>
                </a:ext>
              </a:extLst>
            </p:cNvPr>
            <p:cNvSpPr/>
            <p:nvPr/>
          </p:nvSpPr>
          <p:spPr>
            <a:xfrm>
              <a:off x="2693038" y="3498188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1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1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34">
              <a:extLst>
                <a:ext uri="{FF2B5EF4-FFF2-40B4-BE49-F238E27FC236}">
                  <a16:creationId xmlns:a16="http://schemas.microsoft.com/office/drawing/2014/main" id="{9B915867-29C5-42F5-9CE5-7E562464508C}"/>
                </a:ext>
              </a:extLst>
            </p:cNvPr>
            <p:cNvSpPr/>
            <p:nvPr/>
          </p:nvSpPr>
          <p:spPr>
            <a:xfrm>
              <a:off x="2925250" y="3479260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2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35">
              <a:extLst>
                <a:ext uri="{FF2B5EF4-FFF2-40B4-BE49-F238E27FC236}">
                  <a16:creationId xmlns:a16="http://schemas.microsoft.com/office/drawing/2014/main" id="{041B21E9-8C86-40D8-AB80-F85C2EE3337A}"/>
                </a:ext>
              </a:extLst>
            </p:cNvPr>
            <p:cNvSpPr/>
            <p:nvPr/>
          </p:nvSpPr>
          <p:spPr>
            <a:xfrm>
              <a:off x="2922096" y="3493796"/>
              <a:ext cx="169676" cy="99034"/>
            </a:xfrm>
            <a:custGeom>
              <a:avLst/>
              <a:gdLst>
                <a:gd name="connsiteX0" fmla="*/ 17011 w 169676"/>
                <a:gd name="connsiteY0" fmla="*/ 99035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5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5"/>
                  </a:moveTo>
                  <a:cubicBezTo>
                    <a:pt x="10702" y="99035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9035"/>
                    <a:pt x="20166" y="99035"/>
                    <a:pt x="17011" y="99035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36">
              <a:extLst>
                <a:ext uri="{FF2B5EF4-FFF2-40B4-BE49-F238E27FC236}">
                  <a16:creationId xmlns:a16="http://schemas.microsoft.com/office/drawing/2014/main" id="{BF1E3E00-F2D5-414D-8A96-E64776D254C2}"/>
                </a:ext>
              </a:extLst>
            </p:cNvPr>
            <p:cNvSpPr/>
            <p:nvPr/>
          </p:nvSpPr>
          <p:spPr>
            <a:xfrm>
              <a:off x="2710783" y="3382252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8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8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7"/>
                    <a:pt x="7492" y="112782"/>
                    <a:pt x="1183" y="103318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8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137">
              <a:extLst>
                <a:ext uri="{FF2B5EF4-FFF2-40B4-BE49-F238E27FC236}">
                  <a16:creationId xmlns:a16="http://schemas.microsoft.com/office/drawing/2014/main" id="{31F2339A-770B-4F34-8400-45EE4F684D8C}"/>
                </a:ext>
              </a:extLst>
            </p:cNvPr>
            <p:cNvSpPr/>
            <p:nvPr/>
          </p:nvSpPr>
          <p:spPr>
            <a:xfrm>
              <a:off x="2771906" y="3599140"/>
              <a:ext cx="59939" cy="97796"/>
            </a:xfrm>
            <a:custGeom>
              <a:avLst/>
              <a:gdLst>
                <a:gd name="connsiteX0" fmla="*/ 0 w 59939"/>
                <a:gd name="connsiteY0" fmla="*/ 72559 h 97796"/>
                <a:gd name="connsiteX1" fmla="*/ 59940 w 59939"/>
                <a:gd name="connsiteY1" fmla="*/ 97796 h 97796"/>
                <a:gd name="connsiteX2" fmla="*/ 59940 w 59939"/>
                <a:gd name="connsiteY2" fmla="*/ 25238 h 97796"/>
                <a:gd name="connsiteX3" fmla="*/ 0 w 59939"/>
                <a:gd name="connsiteY3" fmla="*/ 0 h 97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97796">
                  <a:moveTo>
                    <a:pt x="0" y="72559"/>
                  </a:moveTo>
                  <a:lnTo>
                    <a:pt x="59940" y="97796"/>
                  </a:lnTo>
                  <a:lnTo>
                    <a:pt x="59940" y="252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139">
              <a:extLst>
                <a:ext uri="{FF2B5EF4-FFF2-40B4-BE49-F238E27FC236}">
                  <a16:creationId xmlns:a16="http://schemas.microsoft.com/office/drawing/2014/main" id="{F0FA0D7E-B82D-489C-AB24-812C0F4AF305}"/>
                </a:ext>
              </a:extLst>
            </p:cNvPr>
            <p:cNvSpPr/>
            <p:nvPr/>
          </p:nvSpPr>
          <p:spPr>
            <a:xfrm>
              <a:off x="3007328" y="2998558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140">
              <a:extLst>
                <a:ext uri="{FF2B5EF4-FFF2-40B4-BE49-F238E27FC236}">
                  <a16:creationId xmlns:a16="http://schemas.microsoft.com/office/drawing/2014/main" id="{A9B00DE8-48EF-4FD6-8526-55D81F9FE73A}"/>
                </a:ext>
              </a:extLst>
            </p:cNvPr>
            <p:cNvSpPr/>
            <p:nvPr/>
          </p:nvSpPr>
          <p:spPr>
            <a:xfrm>
              <a:off x="2980118" y="3006050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141">
              <a:extLst>
                <a:ext uri="{FF2B5EF4-FFF2-40B4-BE49-F238E27FC236}">
                  <a16:creationId xmlns:a16="http://schemas.microsoft.com/office/drawing/2014/main" id="{96529354-B69D-4884-9AE7-90013889FB61}"/>
                </a:ext>
              </a:extLst>
            </p:cNvPr>
            <p:cNvSpPr/>
            <p:nvPr/>
          </p:nvSpPr>
          <p:spPr>
            <a:xfrm>
              <a:off x="3212331" y="2987122"/>
              <a:ext cx="206295" cy="353330"/>
            </a:xfrm>
            <a:custGeom>
              <a:avLst/>
              <a:gdLst>
                <a:gd name="connsiteX0" fmla="*/ 13857 w 206295"/>
                <a:gd name="connsiteY0" fmla="*/ 353330 h 353330"/>
                <a:gd name="connsiteX1" fmla="*/ 1238 w 206295"/>
                <a:gd name="connsiteY1" fmla="*/ 343866 h 353330"/>
                <a:gd name="connsiteX2" fmla="*/ 7547 w 206295"/>
                <a:gd name="connsiteY2" fmla="*/ 321783 h 353330"/>
                <a:gd name="connsiteX3" fmla="*/ 174748 w 206295"/>
                <a:gd name="connsiteY3" fmla="*/ 233450 h 353330"/>
                <a:gd name="connsiteX4" fmla="*/ 174748 w 206295"/>
                <a:gd name="connsiteY4" fmla="*/ 15774 h 353330"/>
                <a:gd name="connsiteX5" fmla="*/ 190522 w 206295"/>
                <a:gd name="connsiteY5" fmla="*/ 0 h 353330"/>
                <a:gd name="connsiteX6" fmla="*/ 206295 w 206295"/>
                <a:gd name="connsiteY6" fmla="*/ 15774 h 353330"/>
                <a:gd name="connsiteX7" fmla="*/ 206295 w 206295"/>
                <a:gd name="connsiteY7" fmla="*/ 242914 h 353330"/>
                <a:gd name="connsiteX8" fmla="*/ 196831 w 206295"/>
                <a:gd name="connsiteY8" fmla="*/ 255533 h 353330"/>
                <a:gd name="connsiteX9" fmla="*/ 23321 w 206295"/>
                <a:gd name="connsiteY9" fmla="*/ 350175 h 353330"/>
                <a:gd name="connsiteX10" fmla="*/ 13857 w 206295"/>
                <a:gd name="connsiteY10" fmla="*/ 353330 h 35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30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142">
              <a:extLst>
                <a:ext uri="{FF2B5EF4-FFF2-40B4-BE49-F238E27FC236}">
                  <a16:creationId xmlns:a16="http://schemas.microsoft.com/office/drawing/2014/main" id="{3E519464-3A47-4CFD-AF79-99A976871F40}"/>
                </a:ext>
              </a:extLst>
            </p:cNvPr>
            <p:cNvSpPr/>
            <p:nvPr/>
          </p:nvSpPr>
          <p:spPr>
            <a:xfrm>
              <a:off x="3209176" y="3004812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19" y="-1917"/>
                    <a:pt x="162129" y="1238"/>
                    <a:pt x="168438" y="7547"/>
                  </a:cubicBezTo>
                  <a:cubicBezTo>
                    <a:pt x="171593" y="13857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5880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143">
              <a:extLst>
                <a:ext uri="{FF2B5EF4-FFF2-40B4-BE49-F238E27FC236}">
                  <a16:creationId xmlns:a16="http://schemas.microsoft.com/office/drawing/2014/main" id="{09DE5292-C6A7-4EB8-8412-3A06D27AFB80}"/>
                </a:ext>
              </a:extLst>
            </p:cNvPr>
            <p:cNvSpPr/>
            <p:nvPr/>
          </p:nvSpPr>
          <p:spPr>
            <a:xfrm>
              <a:off x="2997864" y="2890114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7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6"/>
                    <a:pt x="7492" y="112782"/>
                    <a:pt x="1183" y="103317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7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144">
              <a:extLst>
                <a:ext uri="{FF2B5EF4-FFF2-40B4-BE49-F238E27FC236}">
                  <a16:creationId xmlns:a16="http://schemas.microsoft.com/office/drawing/2014/main" id="{497ABF70-0743-4C6F-BCA2-E95B08910D08}"/>
                </a:ext>
              </a:extLst>
            </p:cNvPr>
            <p:cNvSpPr/>
            <p:nvPr/>
          </p:nvSpPr>
          <p:spPr>
            <a:xfrm>
              <a:off x="3058987" y="3107001"/>
              <a:ext cx="59939" cy="100951"/>
            </a:xfrm>
            <a:custGeom>
              <a:avLst/>
              <a:gdLst>
                <a:gd name="connsiteX0" fmla="*/ 0 w 59939"/>
                <a:gd name="connsiteY0" fmla="*/ 72559 h 100951"/>
                <a:gd name="connsiteX1" fmla="*/ 59940 w 59939"/>
                <a:gd name="connsiteY1" fmla="*/ 100952 h 100951"/>
                <a:gd name="connsiteX2" fmla="*/ 59940 w 59939"/>
                <a:gd name="connsiteY2" fmla="*/ 28393 h 100951"/>
                <a:gd name="connsiteX3" fmla="*/ 0 w 59939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100951">
                  <a:moveTo>
                    <a:pt x="0" y="72559"/>
                  </a:moveTo>
                  <a:lnTo>
                    <a:pt x="59940" y="100952"/>
                  </a:lnTo>
                  <a:lnTo>
                    <a:pt x="59940" y="2839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146">
              <a:extLst>
                <a:ext uri="{FF2B5EF4-FFF2-40B4-BE49-F238E27FC236}">
                  <a16:creationId xmlns:a16="http://schemas.microsoft.com/office/drawing/2014/main" id="{0C59C6B8-26D6-4718-A7D0-A56A19C50C3B}"/>
                </a:ext>
              </a:extLst>
            </p:cNvPr>
            <p:cNvSpPr/>
            <p:nvPr/>
          </p:nvSpPr>
          <p:spPr>
            <a:xfrm>
              <a:off x="3294409" y="3481232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147">
              <a:extLst>
                <a:ext uri="{FF2B5EF4-FFF2-40B4-BE49-F238E27FC236}">
                  <a16:creationId xmlns:a16="http://schemas.microsoft.com/office/drawing/2014/main" id="{1B69B919-1E43-4A21-A2A4-946DEDE6F3DD}"/>
                </a:ext>
              </a:extLst>
            </p:cNvPr>
            <p:cNvSpPr/>
            <p:nvPr/>
          </p:nvSpPr>
          <p:spPr>
            <a:xfrm>
              <a:off x="3267199" y="3488724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31247"/>
                    <a:pt x="179820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148">
              <a:extLst>
                <a:ext uri="{FF2B5EF4-FFF2-40B4-BE49-F238E27FC236}">
                  <a16:creationId xmlns:a16="http://schemas.microsoft.com/office/drawing/2014/main" id="{74FA502D-7DB7-4D66-A643-8CBB988893F7}"/>
                </a:ext>
              </a:extLst>
            </p:cNvPr>
            <p:cNvSpPr/>
            <p:nvPr/>
          </p:nvSpPr>
          <p:spPr>
            <a:xfrm>
              <a:off x="3499411" y="3469795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1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1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17011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149">
              <a:extLst>
                <a:ext uri="{FF2B5EF4-FFF2-40B4-BE49-F238E27FC236}">
                  <a16:creationId xmlns:a16="http://schemas.microsoft.com/office/drawing/2014/main" id="{3A309FDF-0A4B-4478-A2A3-3315881FF7C7}"/>
                </a:ext>
              </a:extLst>
            </p:cNvPr>
            <p:cNvSpPr/>
            <p:nvPr/>
          </p:nvSpPr>
          <p:spPr>
            <a:xfrm>
              <a:off x="3496257" y="3487486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0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0166" y="99034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150">
              <a:extLst>
                <a:ext uri="{FF2B5EF4-FFF2-40B4-BE49-F238E27FC236}">
                  <a16:creationId xmlns:a16="http://schemas.microsoft.com/office/drawing/2014/main" id="{6F012735-1664-4CF5-B153-AB4E5E0CE19F}"/>
                </a:ext>
              </a:extLst>
            </p:cNvPr>
            <p:cNvSpPr/>
            <p:nvPr/>
          </p:nvSpPr>
          <p:spPr>
            <a:xfrm>
              <a:off x="3284944" y="3372788"/>
              <a:ext cx="396707" cy="113964"/>
            </a:xfrm>
            <a:custGeom>
              <a:avLst/>
              <a:gdLst>
                <a:gd name="connsiteX0" fmla="*/ 379751 w 396707"/>
                <a:gd name="connsiteY0" fmla="*/ 112781 h 113964"/>
                <a:gd name="connsiteX1" fmla="*/ 373441 w 396707"/>
                <a:gd name="connsiteY1" fmla="*/ 112781 h 113964"/>
                <a:gd name="connsiteX2" fmla="*/ 193622 w 396707"/>
                <a:gd name="connsiteY2" fmla="*/ 37068 h 113964"/>
                <a:gd name="connsiteX3" fmla="*/ 23266 w 396707"/>
                <a:gd name="connsiteY3" fmla="*/ 112781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4 w 396707"/>
                <a:gd name="connsiteY9" fmla="*/ 103317 h 113964"/>
                <a:gd name="connsiteX10" fmla="*/ 379751 w 396707"/>
                <a:gd name="connsiteY10" fmla="*/ 112781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1"/>
                  </a:moveTo>
                  <a:cubicBezTo>
                    <a:pt x="376596" y="112781"/>
                    <a:pt x="376596" y="112781"/>
                    <a:pt x="373441" y="112781"/>
                  </a:cubicBezTo>
                  <a:lnTo>
                    <a:pt x="193622" y="37068"/>
                  </a:lnTo>
                  <a:lnTo>
                    <a:pt x="23266" y="112781"/>
                  </a:lnTo>
                  <a:cubicBezTo>
                    <a:pt x="13802" y="115936"/>
                    <a:pt x="7492" y="112781"/>
                    <a:pt x="1183" y="103317"/>
                  </a:cubicBezTo>
                  <a:cubicBezTo>
                    <a:pt x="-1972" y="93853"/>
                    <a:pt x="1183" y="87543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4" y="84389"/>
                    <a:pt x="398679" y="93853"/>
                    <a:pt x="395524" y="103317"/>
                  </a:cubicBezTo>
                  <a:cubicBezTo>
                    <a:pt x="392370" y="109627"/>
                    <a:pt x="386060" y="112781"/>
                    <a:pt x="379751" y="11278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Полилиния: фигура 151">
              <a:extLst>
                <a:ext uri="{FF2B5EF4-FFF2-40B4-BE49-F238E27FC236}">
                  <a16:creationId xmlns:a16="http://schemas.microsoft.com/office/drawing/2014/main" id="{C6368BAB-9EF8-49F9-8EC8-5FD8919EFB0D}"/>
                </a:ext>
              </a:extLst>
            </p:cNvPr>
            <p:cNvSpPr/>
            <p:nvPr/>
          </p:nvSpPr>
          <p:spPr>
            <a:xfrm>
              <a:off x="3563744" y="3592830"/>
              <a:ext cx="56785" cy="100951"/>
            </a:xfrm>
            <a:custGeom>
              <a:avLst/>
              <a:gdLst>
                <a:gd name="connsiteX0" fmla="*/ 56785 w 56785"/>
                <a:gd name="connsiteY0" fmla="*/ 72558 h 100951"/>
                <a:gd name="connsiteX1" fmla="*/ 0 w 56785"/>
                <a:gd name="connsiteY1" fmla="*/ 100951 h 100951"/>
                <a:gd name="connsiteX2" fmla="*/ 0 w 56785"/>
                <a:gd name="connsiteY2" fmla="*/ 28392 h 100951"/>
                <a:gd name="connsiteX3" fmla="*/ 56785 w 56785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5" h="100951">
                  <a:moveTo>
                    <a:pt x="56785" y="72558"/>
                  </a:moveTo>
                  <a:lnTo>
                    <a:pt x="0" y="100951"/>
                  </a:lnTo>
                  <a:lnTo>
                    <a:pt x="0" y="28392"/>
                  </a:lnTo>
                  <a:lnTo>
                    <a:pt x="56785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3" name="Полилиния: фигура 152">
              <a:extLst>
                <a:ext uri="{FF2B5EF4-FFF2-40B4-BE49-F238E27FC236}">
                  <a16:creationId xmlns:a16="http://schemas.microsoft.com/office/drawing/2014/main" id="{AB77B92D-B3CA-459A-87CB-39BF9C7043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57749" y="3767608"/>
              <a:ext cx="293359" cy="115457"/>
            </a:xfrm>
            <a:custGeom>
              <a:avLst/>
              <a:gdLst>
                <a:gd name="connsiteX0" fmla="*/ 140046 w 293359"/>
                <a:gd name="connsiteY0" fmla="*/ 115457 h 115457"/>
                <a:gd name="connsiteX1" fmla="*/ 7547 w 293359"/>
                <a:gd name="connsiteY1" fmla="*/ 39743 h 115457"/>
                <a:gd name="connsiteX2" fmla="*/ 1238 w 293359"/>
                <a:gd name="connsiteY2" fmla="*/ 17660 h 115457"/>
                <a:gd name="connsiteX3" fmla="*/ 23321 w 293359"/>
                <a:gd name="connsiteY3" fmla="*/ 11351 h 115457"/>
                <a:gd name="connsiteX4" fmla="*/ 140046 w 293359"/>
                <a:gd name="connsiteY4" fmla="*/ 77600 h 115457"/>
                <a:gd name="connsiteX5" fmla="*/ 269390 w 293359"/>
                <a:gd name="connsiteY5" fmla="*/ 1887 h 115457"/>
                <a:gd name="connsiteX6" fmla="*/ 291473 w 293359"/>
                <a:gd name="connsiteY6" fmla="*/ 8196 h 115457"/>
                <a:gd name="connsiteX7" fmla="*/ 285163 w 293359"/>
                <a:gd name="connsiteY7" fmla="*/ 30279 h 115457"/>
                <a:gd name="connsiteX8" fmla="*/ 140046 w 293359"/>
                <a:gd name="connsiteY8" fmla="*/ 115457 h 115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359" h="115457">
                  <a:moveTo>
                    <a:pt x="140046" y="115457"/>
                  </a:moveTo>
                  <a:lnTo>
                    <a:pt x="7547" y="39743"/>
                  </a:lnTo>
                  <a:cubicBezTo>
                    <a:pt x="1238" y="36589"/>
                    <a:pt x="-1917" y="27125"/>
                    <a:pt x="1238" y="17660"/>
                  </a:cubicBezTo>
                  <a:cubicBezTo>
                    <a:pt x="4392" y="11351"/>
                    <a:pt x="13857" y="8196"/>
                    <a:pt x="23321" y="11351"/>
                  </a:cubicBezTo>
                  <a:lnTo>
                    <a:pt x="140046" y="77600"/>
                  </a:lnTo>
                  <a:lnTo>
                    <a:pt x="269390" y="1887"/>
                  </a:lnTo>
                  <a:cubicBezTo>
                    <a:pt x="275699" y="-1268"/>
                    <a:pt x="285163" y="-1268"/>
                    <a:pt x="291473" y="8196"/>
                  </a:cubicBezTo>
                  <a:cubicBezTo>
                    <a:pt x="294628" y="14506"/>
                    <a:pt x="294628" y="23970"/>
                    <a:pt x="285163" y="30279"/>
                  </a:cubicBezTo>
                  <a:lnTo>
                    <a:pt x="140046" y="11545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153">
              <a:extLst>
                <a:ext uri="{FF2B5EF4-FFF2-40B4-BE49-F238E27FC236}">
                  <a16:creationId xmlns:a16="http://schemas.microsoft.com/office/drawing/2014/main" id="{45995718-9579-41A6-8E1B-2C9C7541C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853" y="3143621"/>
              <a:ext cx="152664" cy="256770"/>
            </a:xfrm>
            <a:custGeom>
              <a:avLst/>
              <a:gdLst>
                <a:gd name="connsiteX0" fmla="*/ 136891 w 152664"/>
                <a:gd name="connsiteY0" fmla="*/ 256771 h 256770"/>
                <a:gd name="connsiteX1" fmla="*/ 121117 w 152664"/>
                <a:gd name="connsiteY1" fmla="*/ 240997 h 256770"/>
                <a:gd name="connsiteX2" fmla="*/ 121117 w 152664"/>
                <a:gd name="connsiteY2" fmla="*/ 95880 h 256770"/>
                <a:gd name="connsiteX3" fmla="*/ 7547 w 152664"/>
                <a:gd name="connsiteY3" fmla="*/ 29630 h 256770"/>
                <a:gd name="connsiteX4" fmla="*/ 1238 w 152664"/>
                <a:gd name="connsiteY4" fmla="*/ 7547 h 256770"/>
                <a:gd name="connsiteX5" fmla="*/ 23321 w 152664"/>
                <a:gd name="connsiteY5" fmla="*/ 1238 h 256770"/>
                <a:gd name="connsiteX6" fmla="*/ 152665 w 152664"/>
                <a:gd name="connsiteY6" fmla="*/ 76951 h 256770"/>
                <a:gd name="connsiteX7" fmla="*/ 152665 w 152664"/>
                <a:gd name="connsiteY7" fmla="*/ 240997 h 256770"/>
                <a:gd name="connsiteX8" fmla="*/ 136891 w 152664"/>
                <a:gd name="connsiteY8" fmla="*/ 256771 h 25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64" h="256770">
                  <a:moveTo>
                    <a:pt x="136891" y="256771"/>
                  </a:moveTo>
                  <a:cubicBezTo>
                    <a:pt x="127427" y="256771"/>
                    <a:pt x="121117" y="250461"/>
                    <a:pt x="121117" y="240997"/>
                  </a:cubicBezTo>
                  <a:lnTo>
                    <a:pt x="121117" y="95880"/>
                  </a:lnTo>
                  <a:lnTo>
                    <a:pt x="7547" y="29630"/>
                  </a:lnTo>
                  <a:cubicBezTo>
                    <a:pt x="1238" y="26475"/>
                    <a:pt x="-1917" y="17011"/>
                    <a:pt x="1238" y="7547"/>
                  </a:cubicBezTo>
                  <a:cubicBezTo>
                    <a:pt x="4392" y="1238"/>
                    <a:pt x="13857" y="-1917"/>
                    <a:pt x="23321" y="1238"/>
                  </a:cubicBezTo>
                  <a:lnTo>
                    <a:pt x="152665" y="76951"/>
                  </a:lnTo>
                  <a:lnTo>
                    <a:pt x="152665" y="240997"/>
                  </a:lnTo>
                  <a:cubicBezTo>
                    <a:pt x="152665" y="250461"/>
                    <a:pt x="146355" y="256771"/>
                    <a:pt x="136891" y="25677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154">
              <a:extLst>
                <a:ext uri="{FF2B5EF4-FFF2-40B4-BE49-F238E27FC236}">
                  <a16:creationId xmlns:a16="http://schemas.microsoft.com/office/drawing/2014/main" id="{A37C6080-34D5-4366-97E5-D5292D4CF8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6072" y="3139817"/>
              <a:ext cx="159623" cy="263729"/>
            </a:xfrm>
            <a:custGeom>
              <a:avLst/>
              <a:gdLst>
                <a:gd name="connsiteX0" fmla="*/ 15774 w 159623"/>
                <a:gd name="connsiteY0" fmla="*/ 263730 h 263729"/>
                <a:gd name="connsiteX1" fmla="*/ 0 w 159623"/>
                <a:gd name="connsiteY1" fmla="*/ 247956 h 263729"/>
                <a:gd name="connsiteX2" fmla="*/ 0 w 159623"/>
                <a:gd name="connsiteY2" fmla="*/ 80755 h 263729"/>
                <a:gd name="connsiteX3" fmla="*/ 135653 w 159623"/>
                <a:gd name="connsiteY3" fmla="*/ 1887 h 263729"/>
                <a:gd name="connsiteX4" fmla="*/ 157737 w 159623"/>
                <a:gd name="connsiteY4" fmla="*/ 8196 h 263729"/>
                <a:gd name="connsiteX5" fmla="*/ 151427 w 159623"/>
                <a:gd name="connsiteY5" fmla="*/ 30279 h 263729"/>
                <a:gd name="connsiteX6" fmla="*/ 31547 w 159623"/>
                <a:gd name="connsiteY6" fmla="*/ 99684 h 263729"/>
                <a:gd name="connsiteX7" fmla="*/ 31547 w 159623"/>
                <a:gd name="connsiteY7" fmla="*/ 247956 h 263729"/>
                <a:gd name="connsiteX8" fmla="*/ 15774 w 159623"/>
                <a:gd name="connsiteY8" fmla="*/ 263730 h 26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623" h="263729">
                  <a:moveTo>
                    <a:pt x="15774" y="263730"/>
                  </a:moveTo>
                  <a:cubicBezTo>
                    <a:pt x="6309" y="263730"/>
                    <a:pt x="0" y="257420"/>
                    <a:pt x="0" y="247956"/>
                  </a:cubicBezTo>
                  <a:lnTo>
                    <a:pt x="0" y="80755"/>
                  </a:lnTo>
                  <a:lnTo>
                    <a:pt x="135653" y="1887"/>
                  </a:lnTo>
                  <a:cubicBezTo>
                    <a:pt x="141963" y="-1268"/>
                    <a:pt x="151427" y="-1268"/>
                    <a:pt x="157737" y="8196"/>
                  </a:cubicBezTo>
                  <a:cubicBezTo>
                    <a:pt x="160891" y="14506"/>
                    <a:pt x="160891" y="23970"/>
                    <a:pt x="151427" y="30279"/>
                  </a:cubicBezTo>
                  <a:lnTo>
                    <a:pt x="31547" y="99684"/>
                  </a:lnTo>
                  <a:lnTo>
                    <a:pt x="31547" y="247956"/>
                  </a:lnTo>
                  <a:cubicBezTo>
                    <a:pt x="31547" y="257420"/>
                    <a:pt x="25238" y="263730"/>
                    <a:pt x="15774" y="2637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3">
            <a:extLst>
              <a:ext uri="{FF2B5EF4-FFF2-40B4-BE49-F238E27FC236}">
                <a16:creationId xmlns:a16="http://schemas.microsoft.com/office/drawing/2014/main" id="{40DCEA51-DEAE-4D8A-9BA6-6BB2D8A6A040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/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TaaS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vs Test Lab</a:t>
            </a:r>
            <a:endParaRPr lang="ru-RU" dirty="0"/>
          </a:p>
        </p:txBody>
      </p:sp>
      <p:graphicFrame>
        <p:spPr>
          <a:xfrm>
            <a:off x="515938" y="1184424"/>
            <a:ext cx="11160123" cy="4906886"/>
          </a:xfrm>
        </p:spPr>
        <p:nvGraphicFramePr>
          <p:cNvPr id="21" name="Table Placeholder 5">
            <a:extLst>
              <a:ext uri="{FF2B5EF4-FFF2-40B4-BE49-F238E27FC236}">
                <a16:creationId xmlns:a16="http://schemas.microsoft.com/office/drawing/2014/main" id="{32FD7EAB-3EBD-4F89-A4A3-A348A47AF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685944"/>
              </p:ext>
            </p:extLst>
          </p:nvPr>
        </p:nvGraphicFramePr>
        <p:xfrm>
          <a:off x="515938" y="1184275"/>
          <a:ext cx="11160126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42">
                  <a:extLst>
                    <a:ext uri="{9D8B030D-6E8A-4147-A177-3AD203B41FA5}">
                      <a16:colId xmlns:a16="http://schemas.microsoft.com/office/drawing/2014/main" val="3932990099"/>
                    </a:ext>
                  </a:extLst>
                </a:gridCol>
                <a:gridCol w="3720042">
                  <a:extLst>
                    <a:ext uri="{9D8B030D-6E8A-4147-A177-3AD203B41FA5}">
                      <a16:colId xmlns:a16="http://schemas.microsoft.com/office/drawing/2014/main" val="3445471211"/>
                    </a:ext>
                  </a:extLst>
                </a:gridCol>
                <a:gridCol w="3720042">
                  <a:extLst>
                    <a:ext uri="{9D8B030D-6E8A-4147-A177-3AD203B41FA5}">
                      <a16:colId xmlns:a16="http://schemas.microsoft.com/office/drawing/2014/main" val="2346603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TaaS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Test Lab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2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Нужно быстро решить проблему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Нужно обеспечить стабильное развитие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48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Основной акцент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Решение задачи здесь и сейчас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Долгосрочное развитие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52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Знание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Не требуется глубокое знание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Требуется глубокое знание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55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Масштаб использования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Обычно подключают под конкретные проекты/релизы, пилоты, пики нагрузки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Используется постоянно как общий ресурс для организации, группы проектов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979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Типы работ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Функциональное, регрессионное, нагрузочное, безопасность, аудит QA и т.д.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Проведение любых видов тестов, экспериментов, </a:t>
                      </a:r>
                      <a:r>
                        <a:rPr lang="ru-RU" sz="1400" dirty="0" err="1"/>
                        <a:t>PoC</a:t>
                      </a:r>
                      <a:r>
                        <a:rPr lang="ru-RU" sz="1400" dirty="0"/>
                        <a:t>; поддержка автоматизации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0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Ответственность за качество релиза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Команда </a:t>
                      </a:r>
                      <a:r>
                        <a:rPr lang="ru-RU" sz="1400" dirty="0" err="1"/>
                        <a:t>TaaS</a:t>
                      </a:r>
                      <a:r>
                        <a:rPr lang="ru-RU" sz="1400" dirty="0"/>
                        <a:t> берёт на себя часть/всю ответственность за тест‑результат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Ответственность за использование результатов остаётся за продуктовыми командами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273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Гибкость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Быстрое наращивание/снижение QA‑ресурсов под спрос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Фиксированный или планируемый пул людей и мощностей, менее гибкий оперативно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636060"/>
                  </a:ext>
                </a:extLst>
              </a:tr>
            </a:tbl>
          </a:graphicData>
        </a:graphic>
      </p:graphicFrame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08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Тестирование производительности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9D08BE81-5D3D-43F4-AC08-448774E079F6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производительности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28C050A2-308A-4824-A751-062B60981523}"/>
              </a:ext>
            </a:extLst>
          </p:cNvPr>
          <p:cNvSpPr/>
          <p:nvPr/>
        </p:nvSpPr>
        <p:spPr bwMode="auto">
          <a:xfrm>
            <a:off x="575108" y="3661486"/>
            <a:ext cx="3230909" cy="1103682"/>
          </a:xfrm>
          <a:prstGeom prst="roundRect">
            <a:avLst>
              <a:gd name="adj" fmla="val 6651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B06B1A22-56E1-41EF-B4C8-1EFE0DDDD55A}"/>
              </a:ext>
            </a:extLst>
          </p:cNvPr>
          <p:cNvSpPr txBox="1"/>
          <p:nvPr/>
        </p:nvSpPr>
        <p:spPr bwMode="auto">
          <a:xfrm>
            <a:off x="1155964" y="3727585"/>
            <a:ext cx="2546247" cy="971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с нарастанием, ёмкостное, стресс, стабильности, </a:t>
            </a:r>
            <a:r>
              <a:rPr lang="ru-RU" sz="1000" b="0" spc="30" dirty="0" err="1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спайк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, масштабируемости, объёмное, отказоустойчивости и конфигурационное.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1C194B1-EB0B-4A68-8E0F-D5A744D1F46F}"/>
              </a:ext>
            </a:extLst>
          </p:cNvPr>
          <p:cNvSpPr/>
          <p:nvPr/>
        </p:nvSpPr>
        <p:spPr bwMode="auto">
          <a:xfrm>
            <a:off x="3904047" y="2851977"/>
            <a:ext cx="2939460" cy="68924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60928D75-13EC-4797-B617-14A32B72BCBD}"/>
              </a:ext>
            </a:extLst>
          </p:cNvPr>
          <p:cNvSpPr/>
          <p:nvPr/>
        </p:nvSpPr>
        <p:spPr bwMode="auto">
          <a:xfrm>
            <a:off x="3885868" y="3661486"/>
            <a:ext cx="2957639" cy="1103682"/>
          </a:xfrm>
          <a:prstGeom prst="roundRect">
            <a:avLst>
              <a:gd name="adj" fmla="val 7649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8AAA0E5A-0AE8-4648-9B02-A057E6B216DC}"/>
              </a:ext>
            </a:extLst>
          </p:cNvPr>
          <p:cNvSpPr txBox="1"/>
          <p:nvPr/>
        </p:nvSpPr>
        <p:spPr bwMode="auto">
          <a:xfrm>
            <a:off x="4492979" y="2853373"/>
            <a:ext cx="2456633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Анализ и оптимизация производительности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клиентской части приложений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93574383-85AF-4778-9CA8-4C7503297227}"/>
              </a:ext>
            </a:extLst>
          </p:cNvPr>
          <p:cNvSpPr txBox="1"/>
          <p:nvPr/>
        </p:nvSpPr>
        <p:spPr bwMode="auto">
          <a:xfrm>
            <a:off x="4466724" y="3817353"/>
            <a:ext cx="2165304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Анализ производительности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веб-серверов, серверов приложений и оптимизация конфигураций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CDE7E550-C44D-4131-825B-141E5974FAE5}"/>
              </a:ext>
            </a:extLst>
          </p:cNvPr>
          <p:cNvSpPr/>
          <p:nvPr/>
        </p:nvSpPr>
        <p:spPr bwMode="auto">
          <a:xfrm>
            <a:off x="575108" y="4861132"/>
            <a:ext cx="3230908" cy="546399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808F8F26-B686-48FD-907F-81F18BFF57C8}"/>
              </a:ext>
            </a:extLst>
          </p:cNvPr>
          <p:cNvSpPr txBox="1"/>
          <p:nvPr/>
        </p:nvSpPr>
        <p:spPr bwMode="auto">
          <a:xfrm>
            <a:off x="1155964" y="4897574"/>
            <a:ext cx="2376783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Локализация узких мест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производительности</a:t>
            </a:r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0C60CC47-69AC-4CA7-8312-56C3E28B2DD0}"/>
              </a:ext>
            </a:extLst>
          </p:cNvPr>
          <p:cNvSpPr/>
          <p:nvPr/>
        </p:nvSpPr>
        <p:spPr bwMode="auto">
          <a:xfrm>
            <a:off x="575108" y="5503495"/>
            <a:ext cx="3216166" cy="54640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99D7186A-E9EA-4912-8EB6-31F9CE9003D2}"/>
              </a:ext>
            </a:extLst>
          </p:cNvPr>
          <p:cNvSpPr/>
          <p:nvPr/>
        </p:nvSpPr>
        <p:spPr bwMode="auto">
          <a:xfrm>
            <a:off x="3885868" y="4861131"/>
            <a:ext cx="2957640" cy="54640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A0400281-6D24-41E8-8B24-4FB14C137E14}"/>
              </a:ext>
            </a:extLst>
          </p:cNvPr>
          <p:cNvSpPr txBox="1"/>
          <p:nvPr/>
        </p:nvSpPr>
        <p:spPr bwMode="auto">
          <a:xfrm>
            <a:off x="4466724" y="4917894"/>
            <a:ext cx="22023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Профилирование </a:t>
            </a:r>
            <a:b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кода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A7266199-C684-4012-9573-29F6F6537DB5}"/>
              </a:ext>
            </a:extLst>
          </p:cNvPr>
          <p:cNvSpPr txBox="1"/>
          <p:nvPr/>
        </p:nvSpPr>
        <p:spPr bwMode="auto">
          <a:xfrm>
            <a:off x="1155964" y="5560258"/>
            <a:ext cx="2525710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Оптимизация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производительности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баз данных</a:t>
            </a:r>
          </a:p>
        </p:txBody>
      </p:sp>
      <p:sp>
        <p:nvSpPr>
          <p:cNvPr id="33" name="Rectangle 12">
            <a:extLst>
              <a:ext uri="{FF2B5EF4-FFF2-40B4-BE49-F238E27FC236}">
                <a16:creationId xmlns:a16="http://schemas.microsoft.com/office/drawing/2014/main" id="{609AAB71-5331-4B43-9F71-71122C919C9E}"/>
              </a:ext>
            </a:extLst>
          </p:cNvPr>
          <p:cNvSpPr/>
          <p:nvPr/>
        </p:nvSpPr>
        <p:spPr bwMode="auto">
          <a:xfrm>
            <a:off x="575108" y="2847408"/>
            <a:ext cx="3230909" cy="68924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0A132529-2816-4D95-A0FD-869D03FF5AE9}"/>
              </a:ext>
            </a:extLst>
          </p:cNvPr>
          <p:cNvSpPr txBox="1"/>
          <p:nvPr/>
        </p:nvSpPr>
        <p:spPr bwMode="auto">
          <a:xfrm>
            <a:off x="1152562" y="2848876"/>
            <a:ext cx="2635310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Инжиниринг производительности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включая мобильные устройства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облака</a:t>
            </a: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C4146368-3081-4FE1-B9C7-6A10F7F46184}"/>
              </a:ext>
            </a:extLst>
          </p:cNvPr>
          <p:cNvSpPr/>
          <p:nvPr/>
        </p:nvSpPr>
        <p:spPr bwMode="auto">
          <a:xfrm>
            <a:off x="3885868" y="5503494"/>
            <a:ext cx="2957640" cy="54640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78942FC4-95E6-4777-9678-1D7C6A4EDBFC}"/>
              </a:ext>
            </a:extLst>
          </p:cNvPr>
          <p:cNvSpPr txBox="1"/>
          <p:nvPr/>
        </p:nvSpPr>
        <p:spPr bwMode="auto">
          <a:xfrm>
            <a:off x="4466724" y="5560257"/>
            <a:ext cx="2282190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Управление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тестовыми данными</a:t>
            </a:r>
          </a:p>
        </p:txBody>
      </p:sp>
      <p:sp>
        <p:nvSpPr>
          <p:cNvPr id="37" name="TextBox 29">
            <a:extLst>
              <a:ext uri="{FF2B5EF4-FFF2-40B4-BE49-F238E27FC236}">
                <a16:creationId xmlns:a16="http://schemas.microsoft.com/office/drawing/2014/main" id="{AD844CCC-E744-4F8D-AB5E-DFC3DDE41286}"/>
              </a:ext>
            </a:extLst>
          </p:cNvPr>
          <p:cNvSpPr txBox="1"/>
          <p:nvPr/>
        </p:nvSpPr>
        <p:spPr>
          <a:xfrm>
            <a:off x="7578857" y="1966968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4C42FDAE-0EC4-418D-B213-67D225CF15B1}"/>
              </a:ext>
            </a:extLst>
          </p:cNvPr>
          <p:cNvSpPr txBox="1">
            <a:spLocks/>
          </p:cNvSpPr>
          <p:nvPr/>
        </p:nvSpPr>
        <p:spPr>
          <a:xfrm>
            <a:off x="8302544" y="2989898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D70EF"/>
              </a:buClr>
            </a:pPr>
            <a:r>
              <a:rPr lang="ru-RU" sz="12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Реалистичное представление</a:t>
            </a:r>
            <a:endParaRPr lang="en-US" sz="1000" dirty="0">
              <a:solidFill>
                <a:srgbClr val="7D70EF"/>
              </a:solidFill>
            </a:endParaRPr>
          </a:p>
        </p:txBody>
      </p:sp>
      <p:sp>
        <p:nvSpPr>
          <p:cNvPr id="39" name="Rectangle 31">
            <a:extLst>
              <a:ext uri="{FF2B5EF4-FFF2-40B4-BE49-F238E27FC236}">
                <a16:creationId xmlns:a16="http://schemas.microsoft.com/office/drawing/2014/main" id="{58A46C40-FED6-41CE-B808-2D78CD527695}"/>
              </a:ext>
            </a:extLst>
          </p:cNvPr>
          <p:cNvSpPr/>
          <p:nvPr/>
        </p:nvSpPr>
        <p:spPr>
          <a:xfrm>
            <a:off x="8308264" y="530589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Улучшение пользовательского опыта</a:t>
            </a:r>
            <a:endParaRPr lang="ru-RU" sz="1000" spc="30" dirty="0">
              <a:solidFill>
                <a:srgbClr val="7D70E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F484CA37-2C54-4B1D-8898-121878AA4B33}"/>
              </a:ext>
            </a:extLst>
          </p:cNvPr>
          <p:cNvSpPr/>
          <p:nvPr/>
        </p:nvSpPr>
        <p:spPr>
          <a:xfrm>
            <a:off x="8307364" y="3816856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Повышение надежности</a:t>
            </a:r>
            <a:endParaRPr lang="ru-RU" sz="1000" spc="30" dirty="0">
              <a:solidFill>
                <a:srgbClr val="7D70E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1" name="Rectangle 33">
            <a:extLst>
              <a:ext uri="{FF2B5EF4-FFF2-40B4-BE49-F238E27FC236}">
                <a16:creationId xmlns:a16="http://schemas.microsoft.com/office/drawing/2014/main" id="{102CECBB-220F-41E1-8B8C-608D47DEBB27}"/>
              </a:ext>
            </a:extLst>
          </p:cNvPr>
          <p:cNvSpPr/>
          <p:nvPr/>
        </p:nvSpPr>
        <p:spPr>
          <a:xfrm>
            <a:off x="8307365" y="4469346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Оптимизация ресурсов</a:t>
            </a:r>
            <a:endParaRPr lang="ru-RU" sz="1000" spc="30" dirty="0">
              <a:solidFill>
                <a:srgbClr val="7D70E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2" name="Rectangle 62">
            <a:extLst>
              <a:ext uri="{FF2B5EF4-FFF2-40B4-BE49-F238E27FC236}">
                <a16:creationId xmlns:a16="http://schemas.microsoft.com/office/drawing/2014/main" id="{B3308EF5-515E-428C-94BE-945EE5C89312}"/>
              </a:ext>
            </a:extLst>
          </p:cNvPr>
          <p:cNvSpPr/>
          <p:nvPr/>
        </p:nvSpPr>
        <p:spPr>
          <a:xfrm>
            <a:off x="8312907" y="3184548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 возможностях систем, их скорости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стабильности с различными уровнями нагрузки, включая пиковые</a:t>
            </a:r>
          </a:p>
        </p:txBody>
      </p:sp>
      <p:sp>
        <p:nvSpPr>
          <p:cNvPr id="43" name="Rectangle 63">
            <a:extLst>
              <a:ext uri="{FF2B5EF4-FFF2-40B4-BE49-F238E27FC236}">
                <a16:creationId xmlns:a16="http://schemas.microsoft.com/office/drawing/2014/main" id="{3FA70BD6-162D-4DC2-BD7D-B730FC497124}"/>
              </a:ext>
            </a:extLst>
          </p:cNvPr>
          <p:cNvSpPr/>
          <p:nvPr/>
        </p:nvSpPr>
        <p:spPr>
          <a:xfrm>
            <a:off x="8307364" y="4008735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стабильности и отказоустойчивости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выявления узких мест и их устранения</a:t>
            </a:r>
          </a:p>
        </p:txBody>
      </p:sp>
      <p:sp>
        <p:nvSpPr>
          <p:cNvPr id="44" name="Rectangle 64">
            <a:extLst>
              <a:ext uri="{FF2B5EF4-FFF2-40B4-BE49-F238E27FC236}">
                <a16:creationId xmlns:a16="http://schemas.microsoft.com/office/drawing/2014/main" id="{E5867C6E-FC2B-44B5-9AED-D345613CB0FD}"/>
              </a:ext>
            </a:extLst>
          </p:cNvPr>
          <p:cNvSpPr/>
          <p:nvPr/>
        </p:nvSpPr>
        <p:spPr>
          <a:xfrm>
            <a:off x="8308265" y="5525236"/>
            <a:ext cx="33821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улучшения качества кода, повышения скорости, надежности, и правильной работы функционала</a:t>
            </a:r>
          </a:p>
        </p:txBody>
      </p:sp>
      <p:sp>
        <p:nvSpPr>
          <p:cNvPr id="45" name="Rectangle 65">
            <a:extLst>
              <a:ext uri="{FF2B5EF4-FFF2-40B4-BE49-F238E27FC236}">
                <a16:creationId xmlns:a16="http://schemas.microsoft.com/office/drawing/2014/main" id="{BCD18E91-E739-460E-84A8-916739FC8966}"/>
              </a:ext>
            </a:extLst>
          </p:cNvPr>
          <p:cNvSpPr/>
          <p:nvPr/>
        </p:nvSpPr>
        <p:spPr>
          <a:xfrm>
            <a:off x="8307365" y="4679768"/>
            <a:ext cx="325538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серверов, памяти и т.д. для планирования масштабируемости и повышения эффективности работы систем</a:t>
            </a:r>
          </a:p>
        </p:txBody>
      </p:sp>
      <p:sp>
        <p:nvSpPr>
          <p:cNvPr id="46" name="Rectangle: Rounded Corners 155">
            <a:extLst>
              <a:ext uri="{FF2B5EF4-FFF2-40B4-BE49-F238E27FC236}">
                <a16:creationId xmlns:a16="http://schemas.microsoft.com/office/drawing/2014/main" id="{D5709E7A-F99F-42F4-B061-9BA1D07E4F42}"/>
              </a:ext>
            </a:extLst>
          </p:cNvPr>
          <p:cNvSpPr/>
          <p:nvPr/>
        </p:nvSpPr>
        <p:spPr>
          <a:xfrm>
            <a:off x="538376" y="1174655"/>
            <a:ext cx="11103453" cy="686209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7" name="TextBox 156">
            <a:extLst>
              <a:ext uri="{FF2B5EF4-FFF2-40B4-BE49-F238E27FC236}">
                <a16:creationId xmlns:a16="http://schemas.microsoft.com/office/drawing/2014/main" id="{8A4DB1CA-A0E3-4BDD-8D4F-32FC71D0533D}"/>
              </a:ext>
            </a:extLst>
          </p:cNvPr>
          <p:cNvSpPr txBox="1"/>
          <p:nvPr/>
        </p:nvSpPr>
        <p:spPr>
          <a:xfrm>
            <a:off x="526330" y="860841"/>
            <a:ext cx="2682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48" name="Group 256">
            <a:extLst>
              <a:ext uri="{FF2B5EF4-FFF2-40B4-BE49-F238E27FC236}">
                <a16:creationId xmlns:a16="http://schemas.microsoft.com/office/drawing/2014/main" id="{497AA017-B709-4D02-9BAE-278D5089BC61}"/>
              </a:ext>
            </a:extLst>
          </p:cNvPr>
          <p:cNvGrpSpPr/>
          <p:nvPr/>
        </p:nvGrpSpPr>
        <p:grpSpPr>
          <a:xfrm>
            <a:off x="883514" y="1199062"/>
            <a:ext cx="1982478" cy="743858"/>
            <a:chOff x="855823" y="1331617"/>
            <a:chExt cx="1720306" cy="743858"/>
          </a:xfrm>
        </p:grpSpPr>
        <p:sp>
          <p:nvSpPr>
            <p:cNvPr id="49" name="Rectangle 158">
              <a:extLst>
                <a:ext uri="{FF2B5EF4-FFF2-40B4-BE49-F238E27FC236}">
                  <a16:creationId xmlns:a16="http://schemas.microsoft.com/office/drawing/2014/main" id="{E882F4AF-0003-4526-A9BC-405E9019764B}"/>
                </a:ext>
              </a:extLst>
            </p:cNvPr>
            <p:cNvSpPr/>
            <p:nvPr/>
          </p:nvSpPr>
          <p:spPr>
            <a:xfrm>
              <a:off x="1007815" y="1331617"/>
              <a:ext cx="1568314" cy="743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D70EF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Определить</a:t>
              </a:r>
              <a:r>
                <a:rPr lang="en-US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 </a:t>
              </a: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возможность систем работать под разной нагрузкой</a:t>
              </a:r>
            </a:p>
          </p:txBody>
        </p:sp>
        <p:grpSp>
          <p:nvGrpSpPr>
            <p:cNvPr id="50" name="Группа 101">
              <a:extLst>
                <a:ext uri="{FF2B5EF4-FFF2-40B4-BE49-F238E27FC236}">
                  <a16:creationId xmlns:a16="http://schemas.microsoft.com/office/drawing/2014/main" id="{A2A89726-ACF1-4DA1-AEF7-71CB0DC8A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51" name="Полилиния: фигура 499">
                <a:extLst>
                  <a:ext uri="{FF2B5EF4-FFF2-40B4-BE49-F238E27FC236}">
                    <a16:creationId xmlns:a16="http://schemas.microsoft.com/office/drawing/2014/main" id="{72785610-E400-4C66-A3FE-3E698A291AE0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grpSp>
            <p:nvGrpSpPr>
              <p:cNvPr id="52" name="Рисунок 476">
                <a:extLst>
                  <a:ext uri="{FF2B5EF4-FFF2-40B4-BE49-F238E27FC236}">
                    <a16:creationId xmlns:a16="http://schemas.microsoft.com/office/drawing/2014/main" id="{44E660BD-33D3-4563-AFF7-CAD6297320B6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FFFFFF"/>
              </a:solidFill>
            </p:grpSpPr>
            <p:sp>
              <p:nvSpPr>
                <p:cNvPr id="53" name="Полилиния: фигура 501">
                  <a:extLst>
                    <a:ext uri="{FF2B5EF4-FFF2-40B4-BE49-F238E27FC236}">
                      <a16:creationId xmlns:a16="http://schemas.microsoft.com/office/drawing/2014/main" id="{2096509E-4CE5-4A83-AB2C-92F053D8C08E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Полилиния: фигура 502">
                  <a:extLst>
                    <a:ext uri="{FF2B5EF4-FFF2-40B4-BE49-F238E27FC236}">
                      <a16:creationId xmlns:a16="http://schemas.microsoft.com/office/drawing/2014/main" id="{E112F103-13F7-4239-81E0-09DCEE241749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55" name="Rectangle 157">
            <a:extLst>
              <a:ext uri="{FF2B5EF4-FFF2-40B4-BE49-F238E27FC236}">
                <a16:creationId xmlns:a16="http://schemas.microsoft.com/office/drawing/2014/main" id="{D4C58E8A-FF41-4DBF-8447-B891AEF1883A}"/>
              </a:ext>
            </a:extLst>
          </p:cNvPr>
          <p:cNvSpPr/>
          <p:nvPr/>
        </p:nvSpPr>
        <p:spPr>
          <a:xfrm>
            <a:off x="3142479" y="1207018"/>
            <a:ext cx="1565236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248"/>
              </a:lnSpc>
              <a:spcBef>
                <a:spcPts val="960"/>
              </a:spcBef>
              <a:buClr>
                <a:srgbClr val="7D70EF"/>
              </a:buClr>
            </a:pP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</a:t>
            </a:r>
            <a:r>
              <a:rPr lang="en-US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скорость работы и время отклика систем</a:t>
            </a:r>
          </a:p>
        </p:txBody>
      </p:sp>
      <p:grpSp>
        <p:nvGrpSpPr>
          <p:cNvPr id="56" name="Группа 102">
            <a:extLst>
              <a:ext uri="{FF2B5EF4-FFF2-40B4-BE49-F238E27FC236}">
                <a16:creationId xmlns:a16="http://schemas.microsoft.com/office/drawing/2014/main" id="{525525A0-B739-408C-8917-9556503F0D9F}"/>
              </a:ext>
            </a:extLst>
          </p:cNvPr>
          <p:cNvGrpSpPr>
            <a:grpSpLocks noChangeAspect="1"/>
          </p:cNvGrpSpPr>
          <p:nvPr/>
        </p:nvGrpSpPr>
        <p:grpSpPr>
          <a:xfrm>
            <a:off x="2916264" y="1266493"/>
            <a:ext cx="139209" cy="162814"/>
            <a:chOff x="1571161" y="904822"/>
            <a:chExt cx="749659" cy="876775"/>
          </a:xfrm>
        </p:grpSpPr>
        <p:sp>
          <p:nvSpPr>
            <p:cNvPr id="57" name="Полилиния: фигура 504">
              <a:extLst>
                <a:ext uri="{FF2B5EF4-FFF2-40B4-BE49-F238E27FC236}">
                  <a16:creationId xmlns:a16="http://schemas.microsoft.com/office/drawing/2014/main" id="{E659738E-AAB8-444C-ABB0-EAAE83512D9D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58" name="Рисунок 481">
              <a:extLst>
                <a:ext uri="{FF2B5EF4-FFF2-40B4-BE49-F238E27FC236}">
                  <a16:creationId xmlns:a16="http://schemas.microsoft.com/office/drawing/2014/main" id="{65711006-168A-4AB3-8263-3D6DB8874BDE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FFFFFF"/>
            </a:solidFill>
          </p:grpSpPr>
          <p:sp>
            <p:nvSpPr>
              <p:cNvPr id="59" name="Полилиния: фигура 506">
                <a:extLst>
                  <a:ext uri="{FF2B5EF4-FFF2-40B4-BE49-F238E27FC236}">
                    <a16:creationId xmlns:a16="http://schemas.microsoft.com/office/drawing/2014/main" id="{BB8EE9FD-66DF-4B00-9541-15A804B347C8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07">
                <a:extLst>
                  <a:ext uri="{FF2B5EF4-FFF2-40B4-BE49-F238E27FC236}">
                    <a16:creationId xmlns:a16="http://schemas.microsoft.com/office/drawing/2014/main" id="{CC9ED035-B9D9-46EF-AB0C-E5C248FE3C49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258">
            <a:extLst>
              <a:ext uri="{FF2B5EF4-FFF2-40B4-BE49-F238E27FC236}">
                <a16:creationId xmlns:a16="http://schemas.microsoft.com/office/drawing/2014/main" id="{2D68D591-6976-4FC2-9471-CC3F2CF61C23}"/>
              </a:ext>
            </a:extLst>
          </p:cNvPr>
          <p:cNvGrpSpPr/>
          <p:nvPr/>
        </p:nvGrpSpPr>
        <p:grpSpPr>
          <a:xfrm>
            <a:off x="4707715" y="1206854"/>
            <a:ext cx="1890891" cy="577146"/>
            <a:chOff x="4876168" y="1331617"/>
            <a:chExt cx="1825902" cy="577146"/>
          </a:xfrm>
        </p:grpSpPr>
        <p:sp>
          <p:nvSpPr>
            <p:cNvPr id="62" name="Rectangle 159">
              <a:extLst>
                <a:ext uri="{FF2B5EF4-FFF2-40B4-BE49-F238E27FC236}">
                  <a16:creationId xmlns:a16="http://schemas.microsoft.com/office/drawing/2014/main" id="{EFA9535D-FF3E-45BD-8AE0-E5EEEC3C7CD2}"/>
                </a:ext>
              </a:extLst>
            </p:cNvPr>
            <p:cNvSpPr/>
            <p:nvPr/>
          </p:nvSpPr>
          <p:spPr>
            <a:xfrm>
              <a:off x="5054549" y="1331617"/>
              <a:ext cx="1647521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D70EF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Выявить </a:t>
              </a:r>
              <a:b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</a:b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«узкие» места </a:t>
              </a:r>
              <a:b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</a:b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в производительности</a:t>
              </a:r>
            </a:p>
          </p:txBody>
        </p:sp>
        <p:grpSp>
          <p:nvGrpSpPr>
            <p:cNvPr id="63" name="Группа 103">
              <a:extLst>
                <a:ext uri="{FF2B5EF4-FFF2-40B4-BE49-F238E27FC236}">
                  <a16:creationId xmlns:a16="http://schemas.microsoft.com/office/drawing/2014/main" id="{5D344CF7-C155-4F81-9E09-540E8F3DA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64" name="Полилиния: фигура 509">
                <a:extLst>
                  <a:ext uri="{FF2B5EF4-FFF2-40B4-BE49-F238E27FC236}">
                    <a16:creationId xmlns:a16="http://schemas.microsoft.com/office/drawing/2014/main" id="{D0A9A533-FAD1-4552-B0F3-1109E12FD454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510">
                <a:extLst>
                  <a:ext uri="{FF2B5EF4-FFF2-40B4-BE49-F238E27FC236}">
                    <a16:creationId xmlns:a16="http://schemas.microsoft.com/office/drawing/2014/main" id="{BC4BE9BC-E3A7-44A3-BDA7-A4DD6032D64D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FFFFFF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6" name="Rectangle 160">
            <a:extLst>
              <a:ext uri="{FF2B5EF4-FFF2-40B4-BE49-F238E27FC236}">
                <a16:creationId xmlns:a16="http://schemas.microsoft.com/office/drawing/2014/main" id="{9871FEE8-222C-49C8-8038-04196E21F2FC}"/>
              </a:ext>
            </a:extLst>
          </p:cNvPr>
          <p:cNvSpPr/>
          <p:nvPr/>
        </p:nvSpPr>
        <p:spPr>
          <a:xfrm>
            <a:off x="6777360" y="1210866"/>
            <a:ext cx="1974338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Найти возможные дефекты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при пиковых нагрузках или большом объеме данных</a:t>
            </a:r>
          </a:p>
        </p:txBody>
      </p:sp>
      <p:grpSp>
        <p:nvGrpSpPr>
          <p:cNvPr id="67" name="Группа 104">
            <a:extLst>
              <a:ext uri="{FF2B5EF4-FFF2-40B4-BE49-F238E27FC236}">
                <a16:creationId xmlns:a16="http://schemas.microsoft.com/office/drawing/2014/main" id="{96492C9C-E026-4AF2-85BE-61B867365E59}"/>
              </a:ext>
            </a:extLst>
          </p:cNvPr>
          <p:cNvGrpSpPr>
            <a:grpSpLocks noChangeAspect="1"/>
          </p:cNvGrpSpPr>
          <p:nvPr/>
        </p:nvGrpSpPr>
        <p:grpSpPr>
          <a:xfrm>
            <a:off x="6536118" y="1282585"/>
            <a:ext cx="154417" cy="165132"/>
            <a:chOff x="3862546" y="921118"/>
            <a:chExt cx="798550" cy="853959"/>
          </a:xfrm>
        </p:grpSpPr>
        <p:sp>
          <p:nvSpPr>
            <p:cNvPr id="68" name="Полилиния: фигура 76">
              <a:extLst>
                <a:ext uri="{FF2B5EF4-FFF2-40B4-BE49-F238E27FC236}">
                  <a16:creationId xmlns:a16="http://schemas.microsoft.com/office/drawing/2014/main" id="{CF044DD0-8CDF-4F8B-9F09-0245063DED91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69" name="Рисунок 485">
              <a:extLst>
                <a:ext uri="{FF2B5EF4-FFF2-40B4-BE49-F238E27FC236}">
                  <a16:creationId xmlns:a16="http://schemas.microsoft.com/office/drawing/2014/main" id="{3DD27A12-9D1A-4F41-8F46-3894288BBEC1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FFFFFF"/>
            </a:solidFill>
          </p:grpSpPr>
          <p:sp>
            <p:nvSpPr>
              <p:cNvPr id="70" name="Полилиния: фигура 78">
                <a:extLst>
                  <a:ext uri="{FF2B5EF4-FFF2-40B4-BE49-F238E27FC236}">
                    <a16:creationId xmlns:a16="http://schemas.microsoft.com/office/drawing/2014/main" id="{143640E5-974F-49CC-8E20-58ECC4AB6B86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71" name="Полилиния: фигура 79">
                <a:extLst>
                  <a:ext uri="{FF2B5EF4-FFF2-40B4-BE49-F238E27FC236}">
                    <a16:creationId xmlns:a16="http://schemas.microsoft.com/office/drawing/2014/main" id="{B27C7C42-3DAE-4F2C-B5D9-517262524513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" name="TextBox 188">
            <a:extLst>
              <a:ext uri="{FF2B5EF4-FFF2-40B4-BE49-F238E27FC236}">
                <a16:creationId xmlns:a16="http://schemas.microsoft.com/office/drawing/2014/main" id="{DD2FF680-8864-42DE-B667-47257CB63AC4}"/>
              </a:ext>
            </a:extLst>
          </p:cNvPr>
          <p:cNvSpPr txBox="1"/>
          <p:nvPr/>
        </p:nvSpPr>
        <p:spPr>
          <a:xfrm>
            <a:off x="501535" y="1953613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grpSp>
        <p:nvGrpSpPr>
          <p:cNvPr id="73" name="Группа 278">
            <a:extLst>
              <a:ext uri="{FF2B5EF4-FFF2-40B4-BE49-F238E27FC236}">
                <a16:creationId xmlns:a16="http://schemas.microsoft.com/office/drawing/2014/main" id="{B91E9F3C-9CD5-4511-B305-B9F6EF8C360A}"/>
              </a:ext>
            </a:extLst>
          </p:cNvPr>
          <p:cNvGrpSpPr>
            <a:grpSpLocks noChangeAspect="1"/>
          </p:cNvGrpSpPr>
          <p:nvPr/>
        </p:nvGrpSpPr>
        <p:grpSpPr>
          <a:xfrm>
            <a:off x="7698667" y="3180805"/>
            <a:ext cx="374160" cy="352459"/>
            <a:chOff x="5372101" y="896937"/>
            <a:chExt cx="793750" cy="747713"/>
          </a:xfrm>
          <a:solidFill>
            <a:srgbClr val="000000"/>
          </a:solidFill>
        </p:grpSpPr>
        <p:sp>
          <p:nvSpPr>
            <p:cNvPr id="74" name="Freeform 52">
              <a:extLst>
                <a:ext uri="{FF2B5EF4-FFF2-40B4-BE49-F238E27FC236}">
                  <a16:creationId xmlns:a16="http://schemas.microsoft.com/office/drawing/2014/main" id="{4EC364ED-94F9-49D5-8602-510A49AA04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2451" y="977900"/>
              <a:ext cx="266700" cy="260350"/>
            </a:xfrm>
            <a:custGeom>
              <a:avLst/>
              <a:gdLst>
                <a:gd name="T0" fmla="*/ 8 w 37"/>
                <a:gd name="T1" fmla="*/ 36 h 36"/>
                <a:gd name="T2" fmla="*/ 7 w 37"/>
                <a:gd name="T3" fmla="*/ 35 h 36"/>
                <a:gd name="T4" fmla="*/ 6 w 37"/>
                <a:gd name="T5" fmla="*/ 33 h 36"/>
                <a:gd name="T6" fmla="*/ 8 w 37"/>
                <a:gd name="T7" fmla="*/ 23 h 36"/>
                <a:gd name="T8" fmla="*/ 1 w 37"/>
                <a:gd name="T9" fmla="*/ 16 h 36"/>
                <a:gd name="T10" fmla="*/ 0 w 37"/>
                <a:gd name="T11" fmla="*/ 14 h 36"/>
                <a:gd name="T12" fmla="*/ 2 w 37"/>
                <a:gd name="T13" fmla="*/ 12 h 36"/>
                <a:gd name="T14" fmla="*/ 12 w 37"/>
                <a:gd name="T15" fmla="*/ 11 h 36"/>
                <a:gd name="T16" fmla="*/ 16 w 37"/>
                <a:gd name="T17" fmla="*/ 1 h 36"/>
                <a:gd name="T18" fmla="*/ 20 w 37"/>
                <a:gd name="T19" fmla="*/ 1 h 36"/>
                <a:gd name="T20" fmla="*/ 25 w 37"/>
                <a:gd name="T21" fmla="*/ 11 h 36"/>
                <a:gd name="T22" fmla="*/ 35 w 37"/>
                <a:gd name="T23" fmla="*/ 12 h 36"/>
                <a:gd name="T24" fmla="*/ 37 w 37"/>
                <a:gd name="T25" fmla="*/ 14 h 36"/>
                <a:gd name="T26" fmla="*/ 36 w 37"/>
                <a:gd name="T27" fmla="*/ 16 h 36"/>
                <a:gd name="T28" fmla="*/ 29 w 37"/>
                <a:gd name="T29" fmla="*/ 23 h 36"/>
                <a:gd name="T30" fmla="*/ 30 w 37"/>
                <a:gd name="T31" fmla="*/ 33 h 36"/>
                <a:gd name="T32" fmla="*/ 30 w 37"/>
                <a:gd name="T33" fmla="*/ 35 h 36"/>
                <a:gd name="T34" fmla="*/ 27 w 37"/>
                <a:gd name="T35" fmla="*/ 35 h 36"/>
                <a:gd name="T36" fmla="*/ 18 w 37"/>
                <a:gd name="T37" fmla="*/ 31 h 36"/>
                <a:gd name="T38" fmla="*/ 9 w 37"/>
                <a:gd name="T39" fmla="*/ 35 h 36"/>
                <a:gd name="T40" fmla="*/ 8 w 37"/>
                <a:gd name="T41" fmla="*/ 36 h 36"/>
                <a:gd name="T42" fmla="*/ 27 w 37"/>
                <a:gd name="T43" fmla="*/ 34 h 36"/>
                <a:gd name="T44" fmla="*/ 27 w 37"/>
                <a:gd name="T45" fmla="*/ 34 h 36"/>
                <a:gd name="T46" fmla="*/ 9 w 37"/>
                <a:gd name="T47" fmla="*/ 34 h 36"/>
                <a:gd name="T48" fmla="*/ 9 w 37"/>
                <a:gd name="T49" fmla="*/ 34 h 36"/>
                <a:gd name="T50" fmla="*/ 9 w 37"/>
                <a:gd name="T51" fmla="*/ 34 h 36"/>
                <a:gd name="T52" fmla="*/ 18 w 37"/>
                <a:gd name="T53" fmla="*/ 27 h 36"/>
                <a:gd name="T54" fmla="*/ 19 w 37"/>
                <a:gd name="T55" fmla="*/ 28 h 36"/>
                <a:gd name="T56" fmla="*/ 27 w 37"/>
                <a:gd name="T57" fmla="*/ 32 h 36"/>
                <a:gd name="T58" fmla="*/ 26 w 37"/>
                <a:gd name="T59" fmla="*/ 23 h 36"/>
                <a:gd name="T60" fmla="*/ 26 w 37"/>
                <a:gd name="T61" fmla="*/ 21 h 36"/>
                <a:gd name="T62" fmla="*/ 33 w 37"/>
                <a:gd name="T63" fmla="*/ 15 h 36"/>
                <a:gd name="T64" fmla="*/ 24 w 37"/>
                <a:gd name="T65" fmla="*/ 14 h 36"/>
                <a:gd name="T66" fmla="*/ 22 w 37"/>
                <a:gd name="T67" fmla="*/ 13 h 36"/>
                <a:gd name="T68" fmla="*/ 18 w 37"/>
                <a:gd name="T69" fmla="*/ 5 h 36"/>
                <a:gd name="T70" fmla="*/ 14 w 37"/>
                <a:gd name="T71" fmla="*/ 13 h 36"/>
                <a:gd name="T72" fmla="*/ 13 w 37"/>
                <a:gd name="T73" fmla="*/ 14 h 36"/>
                <a:gd name="T74" fmla="*/ 4 w 37"/>
                <a:gd name="T75" fmla="*/ 15 h 36"/>
                <a:gd name="T76" fmla="*/ 10 w 37"/>
                <a:gd name="T77" fmla="*/ 21 h 36"/>
                <a:gd name="T78" fmla="*/ 11 w 37"/>
                <a:gd name="T79" fmla="*/ 23 h 36"/>
                <a:gd name="T80" fmla="*/ 10 w 37"/>
                <a:gd name="T81" fmla="*/ 32 h 36"/>
                <a:gd name="T82" fmla="*/ 17 w 37"/>
                <a:gd name="T83" fmla="*/ 28 h 36"/>
                <a:gd name="T84" fmla="*/ 18 w 37"/>
                <a:gd name="T85" fmla="*/ 27 h 36"/>
                <a:gd name="T86" fmla="*/ 28 w 37"/>
                <a:gd name="T87" fmla="*/ 23 h 36"/>
                <a:gd name="T88" fmla="*/ 28 w 37"/>
                <a:gd name="T89" fmla="*/ 23 h 36"/>
                <a:gd name="T90" fmla="*/ 28 w 37"/>
                <a:gd name="T91" fmla="*/ 23 h 36"/>
                <a:gd name="T92" fmla="*/ 8 w 37"/>
                <a:gd name="T93" fmla="*/ 22 h 36"/>
                <a:gd name="T94" fmla="*/ 8 w 37"/>
                <a:gd name="T95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7" h="36">
                  <a:moveTo>
                    <a:pt x="8" y="36"/>
                  </a:moveTo>
                  <a:cubicBezTo>
                    <a:pt x="8" y="36"/>
                    <a:pt x="7" y="35"/>
                    <a:pt x="7" y="35"/>
                  </a:cubicBezTo>
                  <a:cubicBezTo>
                    <a:pt x="6" y="35"/>
                    <a:pt x="6" y="34"/>
                    <a:pt x="6" y="3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5"/>
                    <a:pt x="0" y="14"/>
                    <a:pt x="0" y="14"/>
                  </a:cubicBezTo>
                  <a:cubicBezTo>
                    <a:pt x="0" y="13"/>
                    <a:pt x="1" y="12"/>
                    <a:pt x="2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3"/>
                    <a:pt x="37" y="14"/>
                  </a:cubicBezTo>
                  <a:cubicBezTo>
                    <a:pt x="37" y="14"/>
                    <a:pt x="37" y="15"/>
                    <a:pt x="36" y="16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4"/>
                    <a:pt x="30" y="35"/>
                    <a:pt x="30" y="35"/>
                  </a:cubicBezTo>
                  <a:cubicBezTo>
                    <a:pt x="29" y="36"/>
                    <a:pt x="28" y="36"/>
                    <a:pt x="27" y="35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9" y="36"/>
                    <a:pt x="9" y="36"/>
                    <a:pt x="8" y="36"/>
                  </a:cubicBezTo>
                  <a:close/>
                  <a:moveTo>
                    <a:pt x="27" y="34"/>
                  </a:moveTo>
                  <a:cubicBezTo>
                    <a:pt x="27" y="34"/>
                    <a:pt x="27" y="34"/>
                    <a:pt x="27" y="34"/>
                  </a:cubicBez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lose/>
                  <a:moveTo>
                    <a:pt x="18" y="27"/>
                  </a:moveTo>
                  <a:cubicBezTo>
                    <a:pt x="19" y="27"/>
                    <a:pt x="19" y="27"/>
                    <a:pt x="19" y="28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2"/>
                    <a:pt x="26" y="22"/>
                    <a:pt x="26" y="21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3"/>
                    <a:pt x="22" y="13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4"/>
                    <a:pt x="1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2"/>
                    <a:pt x="11" y="22"/>
                    <a:pt x="11" y="2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lose/>
                  <a:moveTo>
                    <a:pt x="28" y="2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lose/>
                  <a:moveTo>
                    <a:pt x="8" y="22"/>
                  </a:moveTo>
                  <a:cubicBezTo>
                    <a:pt x="8" y="22"/>
                    <a:pt x="8" y="22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" name="Freeform 71">
              <a:extLst>
                <a:ext uri="{FF2B5EF4-FFF2-40B4-BE49-F238E27FC236}">
                  <a16:creationId xmlns:a16="http://schemas.microsoft.com/office/drawing/2014/main" id="{13ECF475-FCE1-4BA0-AF7D-D66DBD14D9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73701" y="896937"/>
              <a:ext cx="692150" cy="682625"/>
            </a:xfrm>
            <a:custGeom>
              <a:avLst/>
              <a:gdLst>
                <a:gd name="T0" fmla="*/ 18 w 436"/>
                <a:gd name="T1" fmla="*/ 430 h 430"/>
                <a:gd name="T2" fmla="*/ 0 w 436"/>
                <a:gd name="T3" fmla="*/ 430 h 430"/>
                <a:gd name="T4" fmla="*/ 0 w 436"/>
                <a:gd name="T5" fmla="*/ 0 h 430"/>
                <a:gd name="T6" fmla="*/ 431 w 436"/>
                <a:gd name="T7" fmla="*/ 0 h 430"/>
                <a:gd name="T8" fmla="*/ 322 w 436"/>
                <a:gd name="T9" fmla="*/ 138 h 430"/>
                <a:gd name="T10" fmla="*/ 436 w 436"/>
                <a:gd name="T11" fmla="*/ 284 h 430"/>
                <a:gd name="T12" fmla="*/ 18 w 436"/>
                <a:gd name="T13" fmla="*/ 288 h 430"/>
                <a:gd name="T14" fmla="*/ 18 w 436"/>
                <a:gd name="T15" fmla="*/ 430 h 430"/>
                <a:gd name="T16" fmla="*/ 18 w 436"/>
                <a:gd name="T17" fmla="*/ 19 h 430"/>
                <a:gd name="T18" fmla="*/ 18 w 436"/>
                <a:gd name="T19" fmla="*/ 270 h 430"/>
                <a:gd name="T20" fmla="*/ 399 w 436"/>
                <a:gd name="T21" fmla="*/ 266 h 430"/>
                <a:gd name="T22" fmla="*/ 299 w 436"/>
                <a:gd name="T23" fmla="*/ 138 h 430"/>
                <a:gd name="T24" fmla="*/ 395 w 436"/>
                <a:gd name="T25" fmla="*/ 19 h 430"/>
                <a:gd name="T26" fmla="*/ 18 w 436"/>
                <a:gd name="T27" fmla="*/ 1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6" h="430">
                  <a:moveTo>
                    <a:pt x="18" y="430"/>
                  </a:moveTo>
                  <a:lnTo>
                    <a:pt x="0" y="43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322" y="138"/>
                  </a:lnTo>
                  <a:lnTo>
                    <a:pt x="436" y="284"/>
                  </a:lnTo>
                  <a:lnTo>
                    <a:pt x="18" y="288"/>
                  </a:lnTo>
                  <a:lnTo>
                    <a:pt x="18" y="430"/>
                  </a:lnTo>
                  <a:close/>
                  <a:moveTo>
                    <a:pt x="18" y="19"/>
                  </a:moveTo>
                  <a:lnTo>
                    <a:pt x="18" y="270"/>
                  </a:lnTo>
                  <a:lnTo>
                    <a:pt x="399" y="266"/>
                  </a:lnTo>
                  <a:lnTo>
                    <a:pt x="299" y="138"/>
                  </a:lnTo>
                  <a:lnTo>
                    <a:pt x="395" y="19"/>
                  </a:lnTo>
                  <a:lnTo>
                    <a:pt x="1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" name="Rectangle 72">
              <a:extLst>
                <a:ext uri="{FF2B5EF4-FFF2-40B4-BE49-F238E27FC236}">
                  <a16:creationId xmlns:a16="http://schemas.microsoft.com/office/drawing/2014/main" id="{F7A4E193-44E4-4294-9658-29C535B36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101" y="1587500"/>
              <a:ext cx="246062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Rectangle 73">
              <a:extLst>
                <a:ext uri="{FF2B5EF4-FFF2-40B4-BE49-F238E27FC236}">
                  <a16:creationId xmlns:a16="http://schemas.microsoft.com/office/drawing/2014/main" id="{4FF2A560-CC64-4E07-95F0-C33FF4CF2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838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Rectangle 74">
              <a:extLst>
                <a:ext uri="{FF2B5EF4-FFF2-40B4-BE49-F238E27FC236}">
                  <a16:creationId xmlns:a16="http://schemas.microsoft.com/office/drawing/2014/main" id="{CAF8846F-2221-4D27-A2D2-9C839F4CD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1663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9" name="Рисунок 18">
            <a:extLst>
              <a:ext uri="{FF2B5EF4-FFF2-40B4-BE49-F238E27FC236}">
                <a16:creationId xmlns:a16="http://schemas.microsoft.com/office/drawing/2014/main" id="{37CC3288-80C1-46A3-8A56-2441A28C104D}"/>
              </a:ext>
            </a:extLst>
          </p:cNvPr>
          <p:cNvGrpSpPr>
            <a:grpSpLocks noChangeAspect="1"/>
          </p:cNvGrpSpPr>
          <p:nvPr/>
        </p:nvGrpSpPr>
        <p:grpSpPr>
          <a:xfrm>
            <a:off x="7664846" y="3890920"/>
            <a:ext cx="446024" cy="400110"/>
            <a:chOff x="3146645" y="4774145"/>
            <a:chExt cx="929571" cy="833880"/>
          </a:xfrm>
          <a:solidFill>
            <a:srgbClr val="000000"/>
          </a:solidFill>
        </p:grpSpPr>
        <p:sp>
          <p:nvSpPr>
            <p:cNvPr id="80" name="Полилиния: фигура 99">
              <a:extLst>
                <a:ext uri="{FF2B5EF4-FFF2-40B4-BE49-F238E27FC236}">
                  <a16:creationId xmlns:a16="http://schemas.microsoft.com/office/drawing/2014/main" id="{63BD9B49-DEF2-4FBE-B2E2-4984660ACAF1}"/>
                </a:ext>
              </a:extLst>
            </p:cNvPr>
            <p:cNvSpPr/>
            <p:nvPr/>
          </p:nvSpPr>
          <p:spPr>
            <a:xfrm>
              <a:off x="3548548" y="5402973"/>
              <a:ext cx="205052" cy="205052"/>
            </a:xfrm>
            <a:custGeom>
              <a:avLst/>
              <a:gdLst>
                <a:gd name="connsiteX0" fmla="*/ 0 w 205052"/>
                <a:gd name="connsiteY0" fmla="*/ 0 h 205052"/>
                <a:gd name="connsiteX1" fmla="*/ 205053 w 205052"/>
                <a:gd name="connsiteY1" fmla="*/ 0 h 205052"/>
                <a:gd name="connsiteX2" fmla="*/ 205053 w 205052"/>
                <a:gd name="connsiteY2" fmla="*/ 205053 h 205052"/>
                <a:gd name="connsiteX3" fmla="*/ 0 w 205052"/>
                <a:gd name="connsiteY3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052" h="205052">
                  <a:moveTo>
                    <a:pt x="0" y="0"/>
                  </a:moveTo>
                  <a:lnTo>
                    <a:pt x="205053" y="0"/>
                  </a:lnTo>
                  <a:lnTo>
                    <a:pt x="205053" y="205053"/>
                  </a:lnTo>
                  <a:lnTo>
                    <a:pt x="0" y="20505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: фигура 100">
              <a:extLst>
                <a:ext uri="{FF2B5EF4-FFF2-40B4-BE49-F238E27FC236}">
                  <a16:creationId xmlns:a16="http://schemas.microsoft.com/office/drawing/2014/main" id="{7672935D-62F7-4272-9CBA-72FE98AF8EF7}"/>
                </a:ext>
              </a:extLst>
            </p:cNvPr>
            <p:cNvSpPr/>
            <p:nvPr/>
          </p:nvSpPr>
          <p:spPr>
            <a:xfrm>
              <a:off x="3392708" y="5577951"/>
              <a:ext cx="516732" cy="27340"/>
            </a:xfrm>
            <a:custGeom>
              <a:avLst/>
              <a:gdLst>
                <a:gd name="connsiteX0" fmla="*/ 0 w 516732"/>
                <a:gd name="connsiteY0" fmla="*/ 0 h 27340"/>
                <a:gd name="connsiteX1" fmla="*/ 516733 w 516732"/>
                <a:gd name="connsiteY1" fmla="*/ 0 h 27340"/>
                <a:gd name="connsiteX2" fmla="*/ 516733 w 516732"/>
                <a:gd name="connsiteY2" fmla="*/ 27341 h 27340"/>
                <a:gd name="connsiteX3" fmla="*/ 0 w 516732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732" h="27340">
                  <a:moveTo>
                    <a:pt x="0" y="0"/>
                  </a:moveTo>
                  <a:lnTo>
                    <a:pt x="516733" y="0"/>
                  </a:lnTo>
                  <a:lnTo>
                    <a:pt x="516733" y="27341"/>
                  </a:lnTo>
                  <a:lnTo>
                    <a:pt x="0" y="2734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: фигура 101">
              <a:extLst>
                <a:ext uri="{FF2B5EF4-FFF2-40B4-BE49-F238E27FC236}">
                  <a16:creationId xmlns:a16="http://schemas.microsoft.com/office/drawing/2014/main" id="{8722B39D-E31C-46F7-91CD-5D7C33930956}"/>
                </a:ext>
              </a:extLst>
            </p:cNvPr>
            <p:cNvSpPr/>
            <p:nvPr/>
          </p:nvSpPr>
          <p:spPr>
            <a:xfrm>
              <a:off x="3389974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: фигура 102">
              <a:extLst>
                <a:ext uri="{FF2B5EF4-FFF2-40B4-BE49-F238E27FC236}">
                  <a16:creationId xmlns:a16="http://schemas.microsoft.com/office/drawing/2014/main" id="{E99A16AA-2E61-418D-B1EE-B0D2B4203410}"/>
                </a:ext>
              </a:extLst>
            </p:cNvPr>
            <p:cNvSpPr/>
            <p:nvPr/>
          </p:nvSpPr>
          <p:spPr>
            <a:xfrm>
              <a:off x="3515740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: фигура 103">
              <a:extLst>
                <a:ext uri="{FF2B5EF4-FFF2-40B4-BE49-F238E27FC236}">
                  <a16:creationId xmlns:a16="http://schemas.microsoft.com/office/drawing/2014/main" id="{23B14BED-A305-48B5-8753-786E4C809101}"/>
                </a:ext>
              </a:extLst>
            </p:cNvPr>
            <p:cNvSpPr/>
            <p:nvPr/>
          </p:nvSpPr>
          <p:spPr>
            <a:xfrm>
              <a:off x="3652441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: фигура 104">
              <a:extLst>
                <a:ext uri="{FF2B5EF4-FFF2-40B4-BE49-F238E27FC236}">
                  <a16:creationId xmlns:a16="http://schemas.microsoft.com/office/drawing/2014/main" id="{B383A90F-25F8-4C42-8487-AD39554A18A8}"/>
                </a:ext>
              </a:extLst>
            </p:cNvPr>
            <p:cNvSpPr/>
            <p:nvPr/>
          </p:nvSpPr>
          <p:spPr>
            <a:xfrm>
              <a:off x="3204060" y="4834293"/>
              <a:ext cx="199584" cy="191382"/>
            </a:xfrm>
            <a:custGeom>
              <a:avLst/>
              <a:gdLst>
                <a:gd name="connsiteX0" fmla="*/ 27340 w 199584"/>
                <a:gd name="connsiteY0" fmla="*/ 191382 h 191382"/>
                <a:gd name="connsiteX1" fmla="*/ 0 w 199584"/>
                <a:gd name="connsiteY1" fmla="*/ 191382 h 191382"/>
                <a:gd name="connsiteX2" fmla="*/ 0 w 199584"/>
                <a:gd name="connsiteY2" fmla="*/ 13670 h 191382"/>
                <a:gd name="connsiteX3" fmla="*/ 13670 w 199584"/>
                <a:gd name="connsiteY3" fmla="*/ 0 h 191382"/>
                <a:gd name="connsiteX4" fmla="*/ 199585 w 199584"/>
                <a:gd name="connsiteY4" fmla="*/ 0 h 191382"/>
                <a:gd name="connsiteX5" fmla="*/ 199585 w 199584"/>
                <a:gd name="connsiteY5" fmla="*/ 27340 h 191382"/>
                <a:gd name="connsiteX6" fmla="*/ 27340 w 199584"/>
                <a:gd name="connsiteY6" fmla="*/ 27340 h 191382"/>
                <a:gd name="connsiteX7" fmla="*/ 27340 w 199584"/>
                <a:gd name="connsiteY7" fmla="*/ 191382 h 191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584" h="191382">
                  <a:moveTo>
                    <a:pt x="27340" y="191382"/>
                  </a:moveTo>
                  <a:lnTo>
                    <a:pt x="0" y="191382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99585" y="0"/>
                  </a:lnTo>
                  <a:lnTo>
                    <a:pt x="199585" y="27340"/>
                  </a:lnTo>
                  <a:lnTo>
                    <a:pt x="27340" y="27340"/>
                  </a:lnTo>
                  <a:lnTo>
                    <a:pt x="27340" y="19138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86" name="Рисунок 18">
              <a:extLst>
                <a:ext uri="{FF2B5EF4-FFF2-40B4-BE49-F238E27FC236}">
                  <a16:creationId xmlns:a16="http://schemas.microsoft.com/office/drawing/2014/main" id="{18DCD016-FB7A-4E94-AA93-660E243A0EAB}"/>
                </a:ext>
              </a:extLst>
            </p:cNvPr>
            <p:cNvGrpSpPr/>
            <p:nvPr/>
          </p:nvGrpSpPr>
          <p:grpSpPr>
            <a:xfrm>
              <a:off x="3786409" y="4853432"/>
              <a:ext cx="276137" cy="470253"/>
              <a:chOff x="3786409" y="4853432"/>
              <a:chExt cx="276137" cy="470253"/>
            </a:xfrm>
            <a:grpFill/>
          </p:grpSpPr>
          <p:sp>
            <p:nvSpPr>
              <p:cNvPr id="87" name="Полилиния: фигура 106">
                <a:extLst>
                  <a:ext uri="{FF2B5EF4-FFF2-40B4-BE49-F238E27FC236}">
                    <a16:creationId xmlns:a16="http://schemas.microsoft.com/office/drawing/2014/main" id="{FA22E781-CCC3-48C3-8A9A-746C1E2E635B}"/>
                  </a:ext>
                </a:extLst>
              </p:cNvPr>
              <p:cNvSpPr/>
              <p:nvPr/>
            </p:nvSpPr>
            <p:spPr>
              <a:xfrm>
                <a:off x="3786409" y="4853432"/>
                <a:ext cx="276137" cy="470253"/>
              </a:xfrm>
              <a:custGeom>
                <a:avLst/>
                <a:gdLst>
                  <a:gd name="connsiteX0" fmla="*/ 276138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5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5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5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8 w 276137"/>
                  <a:gd name="connsiteY27" fmla="*/ 0 h 470253"/>
                  <a:gd name="connsiteX28" fmla="*/ 276138 w 276137"/>
                  <a:gd name="connsiteY28" fmla="*/ 27340 h 470253"/>
                  <a:gd name="connsiteX29" fmla="*/ 207787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8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5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5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5" y="169510"/>
                    </a:lnTo>
                    <a:cubicBezTo>
                      <a:pt x="60149" y="164042"/>
                      <a:pt x="62883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5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8" y="0"/>
                    </a:lnTo>
                    <a:lnTo>
                      <a:pt x="276138" y="27340"/>
                    </a:lnTo>
                    <a:lnTo>
                      <a:pt x="207787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2170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8" name="Полилиния: фигура 107">
                <a:extLst>
                  <a:ext uri="{FF2B5EF4-FFF2-40B4-BE49-F238E27FC236}">
                    <a16:creationId xmlns:a16="http://schemas.microsoft.com/office/drawing/2014/main" id="{0D9366AB-7200-48BE-9940-ECD0D4C9FD60}"/>
                  </a:ext>
                </a:extLst>
              </p:cNvPr>
              <p:cNvSpPr/>
              <p:nvPr/>
            </p:nvSpPr>
            <p:spPr>
              <a:xfrm>
                <a:off x="3931313" y="4987399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7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91382"/>
                      <a:pt x="103893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89" name="Полилиния: фигура 108">
              <a:extLst>
                <a:ext uri="{FF2B5EF4-FFF2-40B4-BE49-F238E27FC236}">
                  <a16:creationId xmlns:a16="http://schemas.microsoft.com/office/drawing/2014/main" id="{B5B0EB6C-F25C-4FCD-A6E9-20E016A22270}"/>
                </a:ext>
              </a:extLst>
            </p:cNvPr>
            <p:cNvSpPr/>
            <p:nvPr/>
          </p:nvSpPr>
          <p:spPr>
            <a:xfrm>
              <a:off x="3146645" y="4774145"/>
              <a:ext cx="929571" cy="642498"/>
            </a:xfrm>
            <a:custGeom>
              <a:avLst/>
              <a:gdLst>
                <a:gd name="connsiteX0" fmla="*/ 915902 w 929571"/>
                <a:gd name="connsiteY0" fmla="*/ 642498 h 642498"/>
                <a:gd name="connsiteX1" fmla="*/ 13670 w 929571"/>
                <a:gd name="connsiteY1" fmla="*/ 642498 h 642498"/>
                <a:gd name="connsiteX2" fmla="*/ 0 w 929571"/>
                <a:gd name="connsiteY2" fmla="*/ 628828 h 642498"/>
                <a:gd name="connsiteX3" fmla="*/ 0 w 929571"/>
                <a:gd name="connsiteY3" fmla="*/ 13670 h 642498"/>
                <a:gd name="connsiteX4" fmla="*/ 13670 w 929571"/>
                <a:gd name="connsiteY4" fmla="*/ 0 h 642498"/>
                <a:gd name="connsiteX5" fmla="*/ 757328 w 929571"/>
                <a:gd name="connsiteY5" fmla="*/ 0 h 642498"/>
                <a:gd name="connsiteX6" fmla="*/ 929572 w 929571"/>
                <a:gd name="connsiteY6" fmla="*/ 13670 h 642498"/>
                <a:gd name="connsiteX7" fmla="*/ 929572 w 929571"/>
                <a:gd name="connsiteY7" fmla="*/ 144904 h 642498"/>
                <a:gd name="connsiteX8" fmla="*/ 902232 w 929571"/>
                <a:gd name="connsiteY8" fmla="*/ 144904 h 642498"/>
                <a:gd name="connsiteX9" fmla="*/ 902232 w 929571"/>
                <a:gd name="connsiteY9" fmla="*/ 27340 h 642498"/>
                <a:gd name="connsiteX10" fmla="*/ 598754 w 929571"/>
                <a:gd name="connsiteY10" fmla="*/ 27340 h 642498"/>
                <a:gd name="connsiteX11" fmla="*/ 27340 w 929571"/>
                <a:gd name="connsiteY11" fmla="*/ 27340 h 642498"/>
                <a:gd name="connsiteX12" fmla="*/ 27340 w 929571"/>
                <a:gd name="connsiteY12" fmla="*/ 615158 h 642498"/>
                <a:gd name="connsiteX13" fmla="*/ 902232 w 929571"/>
                <a:gd name="connsiteY13" fmla="*/ 615158 h 642498"/>
                <a:gd name="connsiteX14" fmla="*/ 902232 w 929571"/>
                <a:gd name="connsiteY14" fmla="*/ 492126 h 642498"/>
                <a:gd name="connsiteX15" fmla="*/ 929572 w 929571"/>
                <a:gd name="connsiteY15" fmla="*/ 492126 h 642498"/>
                <a:gd name="connsiteX16" fmla="*/ 929572 w 929571"/>
                <a:gd name="connsiteY16" fmla="*/ 628828 h 642498"/>
                <a:gd name="connsiteX17" fmla="*/ 915902 w 929571"/>
                <a:gd name="connsiteY17" fmla="*/ 642498 h 64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9571" h="642498">
                  <a:moveTo>
                    <a:pt x="915902" y="642498"/>
                  </a:moveTo>
                  <a:lnTo>
                    <a:pt x="13670" y="642498"/>
                  </a:lnTo>
                  <a:cubicBezTo>
                    <a:pt x="5468" y="642498"/>
                    <a:pt x="0" y="637030"/>
                    <a:pt x="0" y="628828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757328" y="0"/>
                  </a:lnTo>
                  <a:cubicBezTo>
                    <a:pt x="929572" y="0"/>
                    <a:pt x="929572" y="0"/>
                    <a:pt x="929572" y="13670"/>
                  </a:cubicBezTo>
                  <a:lnTo>
                    <a:pt x="929572" y="144904"/>
                  </a:lnTo>
                  <a:lnTo>
                    <a:pt x="902232" y="144904"/>
                  </a:lnTo>
                  <a:lnTo>
                    <a:pt x="902232" y="27340"/>
                  </a:lnTo>
                  <a:cubicBezTo>
                    <a:pt x="842083" y="27340"/>
                    <a:pt x="598754" y="27340"/>
                    <a:pt x="598754" y="27340"/>
                  </a:cubicBezTo>
                  <a:lnTo>
                    <a:pt x="27340" y="27340"/>
                  </a:lnTo>
                  <a:lnTo>
                    <a:pt x="27340" y="615158"/>
                  </a:lnTo>
                  <a:lnTo>
                    <a:pt x="902232" y="615158"/>
                  </a:lnTo>
                  <a:lnTo>
                    <a:pt x="902232" y="492126"/>
                  </a:lnTo>
                  <a:lnTo>
                    <a:pt x="929572" y="492126"/>
                  </a:lnTo>
                  <a:lnTo>
                    <a:pt x="929572" y="628828"/>
                  </a:lnTo>
                  <a:cubicBezTo>
                    <a:pt x="929572" y="634296"/>
                    <a:pt x="921370" y="642498"/>
                    <a:pt x="915902" y="642498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0" name="Группа 182">
            <a:extLst>
              <a:ext uri="{FF2B5EF4-FFF2-40B4-BE49-F238E27FC236}">
                <a16:creationId xmlns:a16="http://schemas.microsoft.com/office/drawing/2014/main" id="{B56735E4-17D1-4368-8223-3E9F89A26B01}"/>
              </a:ext>
            </a:extLst>
          </p:cNvPr>
          <p:cNvGrpSpPr>
            <a:grpSpLocks noChangeAspect="1"/>
          </p:cNvGrpSpPr>
          <p:nvPr/>
        </p:nvGrpSpPr>
        <p:grpSpPr>
          <a:xfrm>
            <a:off x="7733522" y="4660695"/>
            <a:ext cx="360677" cy="321653"/>
            <a:chOff x="3198592" y="1362069"/>
            <a:chExt cx="833880" cy="743657"/>
          </a:xfrm>
          <a:solidFill>
            <a:srgbClr val="000000"/>
          </a:solidFill>
        </p:grpSpPr>
        <p:sp>
          <p:nvSpPr>
            <p:cNvPr id="91" name="Полилиния: фигура 29">
              <a:extLst>
                <a:ext uri="{FF2B5EF4-FFF2-40B4-BE49-F238E27FC236}">
                  <a16:creationId xmlns:a16="http://schemas.microsoft.com/office/drawing/2014/main" id="{24409716-3DD6-4C34-B035-935A9AAA3E18}"/>
                </a:ext>
              </a:extLst>
            </p:cNvPr>
            <p:cNvSpPr/>
            <p:nvPr/>
          </p:nvSpPr>
          <p:spPr>
            <a:xfrm>
              <a:off x="3677048" y="1441356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30">
              <a:extLst>
                <a:ext uri="{FF2B5EF4-FFF2-40B4-BE49-F238E27FC236}">
                  <a16:creationId xmlns:a16="http://schemas.microsoft.com/office/drawing/2014/main" id="{7DEF80BD-D5E2-454C-A306-C71CC5C00C43}"/>
                </a:ext>
              </a:extLst>
            </p:cNvPr>
            <p:cNvSpPr/>
            <p:nvPr/>
          </p:nvSpPr>
          <p:spPr>
            <a:xfrm>
              <a:off x="3280613" y="1435888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31">
              <a:extLst>
                <a:ext uri="{FF2B5EF4-FFF2-40B4-BE49-F238E27FC236}">
                  <a16:creationId xmlns:a16="http://schemas.microsoft.com/office/drawing/2014/main" id="{C3A248D3-D91A-49A5-8C87-7DD8C25CA1AA}"/>
                </a:ext>
              </a:extLst>
            </p:cNvPr>
            <p:cNvSpPr/>
            <p:nvPr/>
          </p:nvSpPr>
          <p:spPr>
            <a:xfrm>
              <a:off x="3395442" y="1435888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32">
              <a:extLst>
                <a:ext uri="{FF2B5EF4-FFF2-40B4-BE49-F238E27FC236}">
                  <a16:creationId xmlns:a16="http://schemas.microsoft.com/office/drawing/2014/main" id="{CE925628-411E-48C2-B2E1-9DB69539AFF6}"/>
                </a:ext>
              </a:extLst>
            </p:cNvPr>
            <p:cNvSpPr/>
            <p:nvPr/>
          </p:nvSpPr>
          <p:spPr>
            <a:xfrm>
              <a:off x="3677048" y="1619068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: фигура 33">
              <a:extLst>
                <a:ext uri="{FF2B5EF4-FFF2-40B4-BE49-F238E27FC236}">
                  <a16:creationId xmlns:a16="http://schemas.microsoft.com/office/drawing/2014/main" id="{E7EB49D6-41D6-4273-BFD1-DD7D0D9C5721}"/>
                </a:ext>
              </a:extLst>
            </p:cNvPr>
            <p:cNvSpPr/>
            <p:nvPr/>
          </p:nvSpPr>
          <p:spPr>
            <a:xfrm>
              <a:off x="3280613" y="1613600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34">
              <a:extLst>
                <a:ext uri="{FF2B5EF4-FFF2-40B4-BE49-F238E27FC236}">
                  <a16:creationId xmlns:a16="http://schemas.microsoft.com/office/drawing/2014/main" id="{0F45349A-AEA9-4BA6-B0E3-B473F97D4B96}"/>
                </a:ext>
              </a:extLst>
            </p:cNvPr>
            <p:cNvSpPr/>
            <p:nvPr/>
          </p:nvSpPr>
          <p:spPr>
            <a:xfrm>
              <a:off x="3395442" y="1613600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35">
              <a:extLst>
                <a:ext uri="{FF2B5EF4-FFF2-40B4-BE49-F238E27FC236}">
                  <a16:creationId xmlns:a16="http://schemas.microsoft.com/office/drawing/2014/main" id="{E30EC240-C490-4B6B-BE33-A415D528C26C}"/>
                </a:ext>
              </a:extLst>
            </p:cNvPr>
            <p:cNvSpPr/>
            <p:nvPr/>
          </p:nvSpPr>
          <p:spPr>
            <a:xfrm>
              <a:off x="3677048" y="1799515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36">
              <a:extLst>
                <a:ext uri="{FF2B5EF4-FFF2-40B4-BE49-F238E27FC236}">
                  <a16:creationId xmlns:a16="http://schemas.microsoft.com/office/drawing/2014/main" id="{06501BB3-8DBA-4AEC-8AEE-D20984708569}"/>
                </a:ext>
              </a:extLst>
            </p:cNvPr>
            <p:cNvSpPr/>
            <p:nvPr/>
          </p:nvSpPr>
          <p:spPr>
            <a:xfrm>
              <a:off x="3280613" y="179131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37">
              <a:extLst>
                <a:ext uri="{FF2B5EF4-FFF2-40B4-BE49-F238E27FC236}">
                  <a16:creationId xmlns:a16="http://schemas.microsoft.com/office/drawing/2014/main" id="{2291DDD1-FD53-48D4-8EF0-75BF04EAB04E}"/>
                </a:ext>
              </a:extLst>
            </p:cNvPr>
            <p:cNvSpPr/>
            <p:nvPr/>
          </p:nvSpPr>
          <p:spPr>
            <a:xfrm>
              <a:off x="3395442" y="179131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38">
              <a:extLst>
                <a:ext uri="{FF2B5EF4-FFF2-40B4-BE49-F238E27FC236}">
                  <a16:creationId xmlns:a16="http://schemas.microsoft.com/office/drawing/2014/main" id="{0724DB44-F49D-479D-8933-3C8F99A68062}"/>
                </a:ext>
              </a:extLst>
            </p:cNvPr>
            <p:cNvSpPr/>
            <p:nvPr/>
          </p:nvSpPr>
          <p:spPr>
            <a:xfrm>
              <a:off x="3677048" y="1985429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39">
              <a:extLst>
                <a:ext uri="{FF2B5EF4-FFF2-40B4-BE49-F238E27FC236}">
                  <a16:creationId xmlns:a16="http://schemas.microsoft.com/office/drawing/2014/main" id="{2936D7FA-1AF1-4C72-A03F-D3968B78588C}"/>
                </a:ext>
              </a:extLst>
            </p:cNvPr>
            <p:cNvSpPr/>
            <p:nvPr/>
          </p:nvSpPr>
          <p:spPr>
            <a:xfrm>
              <a:off x="3280613" y="197722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40">
              <a:extLst>
                <a:ext uri="{FF2B5EF4-FFF2-40B4-BE49-F238E27FC236}">
                  <a16:creationId xmlns:a16="http://schemas.microsoft.com/office/drawing/2014/main" id="{66337DED-E12B-4987-9F38-8A19A5EA6D9C}"/>
                </a:ext>
              </a:extLst>
            </p:cNvPr>
            <p:cNvSpPr/>
            <p:nvPr/>
          </p:nvSpPr>
          <p:spPr>
            <a:xfrm>
              <a:off x="3395442" y="197722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67">
              <a:extLst>
                <a:ext uri="{FF2B5EF4-FFF2-40B4-BE49-F238E27FC236}">
                  <a16:creationId xmlns:a16="http://schemas.microsoft.com/office/drawing/2014/main" id="{D16833CE-6980-4191-95E9-DB4EF38FE5D7}"/>
                </a:ext>
              </a:extLst>
            </p:cNvPr>
            <p:cNvSpPr/>
            <p:nvPr/>
          </p:nvSpPr>
          <p:spPr>
            <a:xfrm>
              <a:off x="3198592" y="1362069"/>
              <a:ext cx="831857" cy="205052"/>
            </a:xfrm>
            <a:custGeom>
              <a:avLst/>
              <a:gdLst>
                <a:gd name="connsiteX0" fmla="*/ 820211 w 831857"/>
                <a:gd name="connsiteY0" fmla="*/ 205053 h 205052"/>
                <a:gd name="connsiteX1" fmla="*/ 13670 w 831857"/>
                <a:gd name="connsiteY1" fmla="*/ 205053 h 205052"/>
                <a:gd name="connsiteX2" fmla="*/ 0 w 831857"/>
                <a:gd name="connsiteY2" fmla="*/ 191382 h 205052"/>
                <a:gd name="connsiteX3" fmla="*/ 0 w 831857"/>
                <a:gd name="connsiteY3" fmla="*/ 13670 h 205052"/>
                <a:gd name="connsiteX4" fmla="*/ 13670 w 831857"/>
                <a:gd name="connsiteY4" fmla="*/ 0 h 205052"/>
                <a:gd name="connsiteX5" fmla="*/ 84755 w 831857"/>
                <a:gd name="connsiteY5" fmla="*/ 0 h 205052"/>
                <a:gd name="connsiteX6" fmla="*/ 84755 w 831857"/>
                <a:gd name="connsiteY6" fmla="*/ 27340 h 205052"/>
                <a:gd name="connsiteX7" fmla="*/ 27340 w 831857"/>
                <a:gd name="connsiteY7" fmla="*/ 27340 h 205052"/>
                <a:gd name="connsiteX8" fmla="*/ 27340 w 831857"/>
                <a:gd name="connsiteY8" fmla="*/ 180446 h 205052"/>
                <a:gd name="connsiteX9" fmla="*/ 806540 w 831857"/>
                <a:gd name="connsiteY9" fmla="*/ 180446 h 205052"/>
                <a:gd name="connsiteX10" fmla="*/ 806540 w 831857"/>
                <a:gd name="connsiteY10" fmla="*/ 27340 h 205052"/>
                <a:gd name="connsiteX11" fmla="*/ 248797 w 831857"/>
                <a:gd name="connsiteY11" fmla="*/ 27340 h 205052"/>
                <a:gd name="connsiteX12" fmla="*/ 248797 w 831857"/>
                <a:gd name="connsiteY12" fmla="*/ 0 h 205052"/>
                <a:gd name="connsiteX13" fmla="*/ 817476 w 831857"/>
                <a:gd name="connsiteY13" fmla="*/ 0 h 205052"/>
                <a:gd name="connsiteX14" fmla="*/ 831147 w 831857"/>
                <a:gd name="connsiteY14" fmla="*/ 13670 h 205052"/>
                <a:gd name="connsiteX15" fmla="*/ 831147 w 831857"/>
                <a:gd name="connsiteY15" fmla="*/ 194116 h 205052"/>
                <a:gd name="connsiteX16" fmla="*/ 820211 w 831857"/>
                <a:gd name="connsiteY16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31857" h="205052">
                  <a:moveTo>
                    <a:pt x="820211" y="205053"/>
                  </a:moveTo>
                  <a:lnTo>
                    <a:pt x="13670" y="205053"/>
                  </a:lnTo>
                  <a:cubicBezTo>
                    <a:pt x="5468" y="205053"/>
                    <a:pt x="0" y="199585"/>
                    <a:pt x="0" y="19138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84755" y="0"/>
                  </a:lnTo>
                  <a:lnTo>
                    <a:pt x="84755" y="27340"/>
                  </a:lnTo>
                  <a:lnTo>
                    <a:pt x="27340" y="27340"/>
                  </a:lnTo>
                  <a:lnTo>
                    <a:pt x="27340" y="180446"/>
                  </a:lnTo>
                  <a:lnTo>
                    <a:pt x="806540" y="180446"/>
                  </a:lnTo>
                  <a:lnTo>
                    <a:pt x="806540" y="27340"/>
                  </a:lnTo>
                  <a:lnTo>
                    <a:pt x="248797" y="27340"/>
                  </a:lnTo>
                  <a:lnTo>
                    <a:pt x="248797" y="0"/>
                  </a:lnTo>
                  <a:lnTo>
                    <a:pt x="817476" y="0"/>
                  </a:lnTo>
                  <a:cubicBezTo>
                    <a:pt x="825679" y="0"/>
                    <a:pt x="831147" y="5468"/>
                    <a:pt x="831147" y="13670"/>
                  </a:cubicBezTo>
                  <a:lnTo>
                    <a:pt x="831147" y="194116"/>
                  </a:lnTo>
                  <a:cubicBezTo>
                    <a:pt x="833881" y="199585"/>
                    <a:pt x="828413" y="205053"/>
                    <a:pt x="820211" y="20505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68">
              <a:extLst>
                <a:ext uri="{FF2B5EF4-FFF2-40B4-BE49-F238E27FC236}">
                  <a16:creationId xmlns:a16="http://schemas.microsoft.com/office/drawing/2014/main" id="{E2BB9451-D707-49AF-B4F8-B571E7F13586}"/>
                </a:ext>
              </a:extLst>
            </p:cNvPr>
            <p:cNvSpPr/>
            <p:nvPr/>
          </p:nvSpPr>
          <p:spPr>
            <a:xfrm>
              <a:off x="3198592" y="1539781"/>
              <a:ext cx="833880" cy="207786"/>
            </a:xfrm>
            <a:custGeom>
              <a:avLst/>
              <a:gdLst>
                <a:gd name="connsiteX0" fmla="*/ 820211 w 833880"/>
                <a:gd name="connsiteY0" fmla="*/ 207787 h 207786"/>
                <a:gd name="connsiteX1" fmla="*/ 467520 w 833880"/>
                <a:gd name="connsiteY1" fmla="*/ 207787 h 207786"/>
                <a:gd name="connsiteX2" fmla="*/ 467520 w 833880"/>
                <a:gd name="connsiteY2" fmla="*/ 180446 h 207786"/>
                <a:gd name="connsiteX3" fmla="*/ 803806 w 833880"/>
                <a:gd name="connsiteY3" fmla="*/ 180446 h 207786"/>
                <a:gd name="connsiteX4" fmla="*/ 803806 w 833880"/>
                <a:gd name="connsiteY4" fmla="*/ 27340 h 207786"/>
                <a:gd name="connsiteX5" fmla="*/ 27340 w 833880"/>
                <a:gd name="connsiteY5" fmla="*/ 27340 h 207786"/>
                <a:gd name="connsiteX6" fmla="*/ 27340 w 833880"/>
                <a:gd name="connsiteY6" fmla="*/ 180446 h 207786"/>
                <a:gd name="connsiteX7" fmla="*/ 298010 w 833880"/>
                <a:gd name="connsiteY7" fmla="*/ 180446 h 207786"/>
                <a:gd name="connsiteX8" fmla="*/ 298010 w 833880"/>
                <a:gd name="connsiteY8" fmla="*/ 207787 h 207786"/>
                <a:gd name="connsiteX9" fmla="*/ 13670 w 833880"/>
                <a:gd name="connsiteY9" fmla="*/ 207787 h 207786"/>
                <a:gd name="connsiteX10" fmla="*/ 0 w 833880"/>
                <a:gd name="connsiteY10" fmla="*/ 194117 h 207786"/>
                <a:gd name="connsiteX11" fmla="*/ 0 w 833880"/>
                <a:gd name="connsiteY11" fmla="*/ 13670 h 207786"/>
                <a:gd name="connsiteX12" fmla="*/ 13670 w 833880"/>
                <a:gd name="connsiteY12" fmla="*/ 0 h 207786"/>
                <a:gd name="connsiteX13" fmla="*/ 820211 w 833880"/>
                <a:gd name="connsiteY13" fmla="*/ 0 h 207786"/>
                <a:gd name="connsiteX14" fmla="*/ 833881 w 833880"/>
                <a:gd name="connsiteY14" fmla="*/ 13670 h 207786"/>
                <a:gd name="connsiteX15" fmla="*/ 833881 w 833880"/>
                <a:gd name="connsiteY15" fmla="*/ 194117 h 207786"/>
                <a:gd name="connsiteX16" fmla="*/ 820211 w 833880"/>
                <a:gd name="connsiteY16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33880" h="207786">
                  <a:moveTo>
                    <a:pt x="820211" y="207787"/>
                  </a:moveTo>
                  <a:lnTo>
                    <a:pt x="467520" y="207787"/>
                  </a:lnTo>
                  <a:lnTo>
                    <a:pt x="467520" y="180446"/>
                  </a:lnTo>
                  <a:lnTo>
                    <a:pt x="803806" y="180446"/>
                  </a:lnTo>
                  <a:lnTo>
                    <a:pt x="803806" y="27340"/>
                  </a:lnTo>
                  <a:lnTo>
                    <a:pt x="27340" y="27340"/>
                  </a:lnTo>
                  <a:lnTo>
                    <a:pt x="27340" y="180446"/>
                  </a:lnTo>
                  <a:lnTo>
                    <a:pt x="298010" y="180446"/>
                  </a:lnTo>
                  <a:lnTo>
                    <a:pt x="298010" y="207787"/>
                  </a:lnTo>
                  <a:lnTo>
                    <a:pt x="13670" y="207787"/>
                  </a:lnTo>
                  <a:cubicBezTo>
                    <a:pt x="5468" y="207787"/>
                    <a:pt x="0" y="202319"/>
                    <a:pt x="0" y="194117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820211" y="0"/>
                  </a:lnTo>
                  <a:cubicBezTo>
                    <a:pt x="828413" y="0"/>
                    <a:pt x="833881" y="5468"/>
                    <a:pt x="833881" y="13670"/>
                  </a:cubicBezTo>
                  <a:lnTo>
                    <a:pt x="833881" y="194117"/>
                  </a:lnTo>
                  <a:cubicBezTo>
                    <a:pt x="833881" y="202319"/>
                    <a:pt x="828413" y="207787"/>
                    <a:pt x="820211" y="207787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69">
              <a:extLst>
                <a:ext uri="{FF2B5EF4-FFF2-40B4-BE49-F238E27FC236}">
                  <a16:creationId xmlns:a16="http://schemas.microsoft.com/office/drawing/2014/main" id="{A98F4259-E983-4E3D-9A8C-FC239B5C7B2E}"/>
                </a:ext>
              </a:extLst>
            </p:cNvPr>
            <p:cNvSpPr/>
            <p:nvPr/>
          </p:nvSpPr>
          <p:spPr>
            <a:xfrm>
              <a:off x="3198592" y="1720228"/>
              <a:ext cx="557743" cy="205052"/>
            </a:xfrm>
            <a:custGeom>
              <a:avLst/>
              <a:gdLst>
                <a:gd name="connsiteX0" fmla="*/ 557743 w 557743"/>
                <a:gd name="connsiteY0" fmla="*/ 205053 h 205052"/>
                <a:gd name="connsiteX1" fmla="*/ 13670 w 557743"/>
                <a:gd name="connsiteY1" fmla="*/ 205053 h 205052"/>
                <a:gd name="connsiteX2" fmla="*/ 0 w 557743"/>
                <a:gd name="connsiteY2" fmla="*/ 191382 h 205052"/>
                <a:gd name="connsiteX3" fmla="*/ 0 w 557743"/>
                <a:gd name="connsiteY3" fmla="*/ 13670 h 205052"/>
                <a:gd name="connsiteX4" fmla="*/ 13670 w 557743"/>
                <a:gd name="connsiteY4" fmla="*/ 0 h 205052"/>
                <a:gd name="connsiteX5" fmla="*/ 311680 w 557743"/>
                <a:gd name="connsiteY5" fmla="*/ 0 h 205052"/>
                <a:gd name="connsiteX6" fmla="*/ 311680 w 557743"/>
                <a:gd name="connsiteY6" fmla="*/ 27340 h 205052"/>
                <a:gd name="connsiteX7" fmla="*/ 27340 w 557743"/>
                <a:gd name="connsiteY7" fmla="*/ 27340 h 205052"/>
                <a:gd name="connsiteX8" fmla="*/ 27340 w 557743"/>
                <a:gd name="connsiteY8" fmla="*/ 177712 h 205052"/>
                <a:gd name="connsiteX9" fmla="*/ 557743 w 557743"/>
                <a:gd name="connsiteY9" fmla="*/ 177712 h 205052"/>
                <a:gd name="connsiteX10" fmla="*/ 557743 w 557743"/>
                <a:gd name="connsiteY10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7743" h="205052">
                  <a:moveTo>
                    <a:pt x="557743" y="205053"/>
                  </a:moveTo>
                  <a:lnTo>
                    <a:pt x="13670" y="205053"/>
                  </a:lnTo>
                  <a:cubicBezTo>
                    <a:pt x="5468" y="205053"/>
                    <a:pt x="0" y="199585"/>
                    <a:pt x="0" y="19138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1680" y="0"/>
                  </a:lnTo>
                  <a:lnTo>
                    <a:pt x="311680" y="27340"/>
                  </a:lnTo>
                  <a:lnTo>
                    <a:pt x="27340" y="27340"/>
                  </a:lnTo>
                  <a:lnTo>
                    <a:pt x="27340" y="177712"/>
                  </a:lnTo>
                  <a:lnTo>
                    <a:pt x="557743" y="177712"/>
                  </a:lnTo>
                  <a:lnTo>
                    <a:pt x="557743" y="20505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70">
              <a:extLst>
                <a:ext uri="{FF2B5EF4-FFF2-40B4-BE49-F238E27FC236}">
                  <a16:creationId xmlns:a16="http://schemas.microsoft.com/office/drawing/2014/main" id="{0256A870-37E5-4622-9DCB-DB38C54BB618}"/>
                </a:ext>
              </a:extLst>
            </p:cNvPr>
            <p:cNvSpPr/>
            <p:nvPr/>
          </p:nvSpPr>
          <p:spPr>
            <a:xfrm>
              <a:off x="3693452" y="1717494"/>
              <a:ext cx="336997" cy="207786"/>
            </a:xfrm>
            <a:custGeom>
              <a:avLst/>
              <a:gdLst>
                <a:gd name="connsiteX0" fmla="*/ 325350 w 336997"/>
                <a:gd name="connsiteY0" fmla="*/ 207787 h 207786"/>
                <a:gd name="connsiteX1" fmla="*/ 226925 w 336997"/>
                <a:gd name="connsiteY1" fmla="*/ 207787 h 207786"/>
                <a:gd name="connsiteX2" fmla="*/ 226925 w 336997"/>
                <a:gd name="connsiteY2" fmla="*/ 180446 h 207786"/>
                <a:gd name="connsiteX3" fmla="*/ 311680 w 336997"/>
                <a:gd name="connsiteY3" fmla="*/ 180446 h 207786"/>
                <a:gd name="connsiteX4" fmla="*/ 311680 w 336997"/>
                <a:gd name="connsiteY4" fmla="*/ 27340 h 207786"/>
                <a:gd name="connsiteX5" fmla="*/ 0 w 336997"/>
                <a:gd name="connsiteY5" fmla="*/ 27340 h 207786"/>
                <a:gd name="connsiteX6" fmla="*/ 0 w 336997"/>
                <a:gd name="connsiteY6" fmla="*/ 0 h 207786"/>
                <a:gd name="connsiteX7" fmla="*/ 322616 w 336997"/>
                <a:gd name="connsiteY7" fmla="*/ 0 h 207786"/>
                <a:gd name="connsiteX8" fmla="*/ 336286 w 336997"/>
                <a:gd name="connsiteY8" fmla="*/ 13670 h 207786"/>
                <a:gd name="connsiteX9" fmla="*/ 336286 w 336997"/>
                <a:gd name="connsiteY9" fmla="*/ 194117 h 207786"/>
                <a:gd name="connsiteX10" fmla="*/ 325350 w 336997"/>
                <a:gd name="connsiteY10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6997" h="207786">
                  <a:moveTo>
                    <a:pt x="325350" y="207787"/>
                  </a:moveTo>
                  <a:lnTo>
                    <a:pt x="226925" y="207787"/>
                  </a:lnTo>
                  <a:lnTo>
                    <a:pt x="226925" y="180446"/>
                  </a:lnTo>
                  <a:lnTo>
                    <a:pt x="311680" y="180446"/>
                  </a:lnTo>
                  <a:lnTo>
                    <a:pt x="311680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22616" y="0"/>
                  </a:lnTo>
                  <a:cubicBezTo>
                    <a:pt x="330818" y="0"/>
                    <a:pt x="336286" y="5468"/>
                    <a:pt x="336286" y="13670"/>
                  </a:cubicBezTo>
                  <a:lnTo>
                    <a:pt x="336286" y="194117"/>
                  </a:lnTo>
                  <a:cubicBezTo>
                    <a:pt x="339020" y="202319"/>
                    <a:pt x="333552" y="207787"/>
                    <a:pt x="325350" y="207787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71">
              <a:extLst>
                <a:ext uri="{FF2B5EF4-FFF2-40B4-BE49-F238E27FC236}">
                  <a16:creationId xmlns:a16="http://schemas.microsoft.com/office/drawing/2014/main" id="{9470C40C-C3A6-4027-ABA2-07BBD2FCBD98}"/>
                </a:ext>
              </a:extLst>
            </p:cNvPr>
            <p:cNvSpPr/>
            <p:nvPr/>
          </p:nvSpPr>
          <p:spPr>
            <a:xfrm>
              <a:off x="3455591" y="1897940"/>
              <a:ext cx="576881" cy="207786"/>
            </a:xfrm>
            <a:custGeom>
              <a:avLst/>
              <a:gdLst>
                <a:gd name="connsiteX0" fmla="*/ 563211 w 576881"/>
                <a:gd name="connsiteY0" fmla="*/ 207787 h 207786"/>
                <a:gd name="connsiteX1" fmla="*/ 0 w 576881"/>
                <a:gd name="connsiteY1" fmla="*/ 207787 h 207786"/>
                <a:gd name="connsiteX2" fmla="*/ 0 w 576881"/>
                <a:gd name="connsiteY2" fmla="*/ 180446 h 207786"/>
                <a:gd name="connsiteX3" fmla="*/ 549541 w 576881"/>
                <a:gd name="connsiteY3" fmla="*/ 180446 h 207786"/>
                <a:gd name="connsiteX4" fmla="*/ 549541 w 576881"/>
                <a:gd name="connsiteY4" fmla="*/ 27340 h 207786"/>
                <a:gd name="connsiteX5" fmla="*/ 459318 w 576881"/>
                <a:gd name="connsiteY5" fmla="*/ 27340 h 207786"/>
                <a:gd name="connsiteX6" fmla="*/ 459318 w 576881"/>
                <a:gd name="connsiteY6" fmla="*/ 0 h 207786"/>
                <a:gd name="connsiteX7" fmla="*/ 563211 w 576881"/>
                <a:gd name="connsiteY7" fmla="*/ 0 h 207786"/>
                <a:gd name="connsiteX8" fmla="*/ 576882 w 576881"/>
                <a:gd name="connsiteY8" fmla="*/ 13670 h 207786"/>
                <a:gd name="connsiteX9" fmla="*/ 576882 w 576881"/>
                <a:gd name="connsiteY9" fmla="*/ 194117 h 207786"/>
                <a:gd name="connsiteX10" fmla="*/ 563211 w 576881"/>
                <a:gd name="connsiteY10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6881" h="207786">
                  <a:moveTo>
                    <a:pt x="563211" y="207787"/>
                  </a:moveTo>
                  <a:lnTo>
                    <a:pt x="0" y="207787"/>
                  </a:lnTo>
                  <a:lnTo>
                    <a:pt x="0" y="180446"/>
                  </a:lnTo>
                  <a:lnTo>
                    <a:pt x="549541" y="180446"/>
                  </a:lnTo>
                  <a:lnTo>
                    <a:pt x="549541" y="27340"/>
                  </a:lnTo>
                  <a:lnTo>
                    <a:pt x="459318" y="27340"/>
                  </a:lnTo>
                  <a:lnTo>
                    <a:pt x="459318" y="0"/>
                  </a:lnTo>
                  <a:lnTo>
                    <a:pt x="563211" y="0"/>
                  </a:lnTo>
                  <a:cubicBezTo>
                    <a:pt x="571413" y="0"/>
                    <a:pt x="576882" y="5468"/>
                    <a:pt x="576882" y="13670"/>
                  </a:cubicBezTo>
                  <a:lnTo>
                    <a:pt x="576882" y="194117"/>
                  </a:lnTo>
                  <a:cubicBezTo>
                    <a:pt x="576882" y="202319"/>
                    <a:pt x="571413" y="207787"/>
                    <a:pt x="563211" y="207787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72">
              <a:extLst>
                <a:ext uri="{FF2B5EF4-FFF2-40B4-BE49-F238E27FC236}">
                  <a16:creationId xmlns:a16="http://schemas.microsoft.com/office/drawing/2014/main" id="{B2217B4D-B778-4137-ADA8-BBE7A06D93DA}"/>
                </a:ext>
              </a:extLst>
            </p:cNvPr>
            <p:cNvSpPr/>
            <p:nvPr/>
          </p:nvSpPr>
          <p:spPr>
            <a:xfrm>
              <a:off x="3198592" y="1897940"/>
              <a:ext cx="563211" cy="207786"/>
            </a:xfrm>
            <a:custGeom>
              <a:avLst/>
              <a:gdLst>
                <a:gd name="connsiteX0" fmla="*/ 98425 w 563211"/>
                <a:gd name="connsiteY0" fmla="*/ 207787 h 207786"/>
                <a:gd name="connsiteX1" fmla="*/ 13670 w 563211"/>
                <a:gd name="connsiteY1" fmla="*/ 207787 h 207786"/>
                <a:gd name="connsiteX2" fmla="*/ 0 w 563211"/>
                <a:gd name="connsiteY2" fmla="*/ 194117 h 207786"/>
                <a:gd name="connsiteX3" fmla="*/ 0 w 563211"/>
                <a:gd name="connsiteY3" fmla="*/ 13670 h 207786"/>
                <a:gd name="connsiteX4" fmla="*/ 13670 w 563211"/>
                <a:gd name="connsiteY4" fmla="*/ 0 h 207786"/>
                <a:gd name="connsiteX5" fmla="*/ 563211 w 563211"/>
                <a:gd name="connsiteY5" fmla="*/ 0 h 207786"/>
                <a:gd name="connsiteX6" fmla="*/ 563211 w 563211"/>
                <a:gd name="connsiteY6" fmla="*/ 27340 h 207786"/>
                <a:gd name="connsiteX7" fmla="*/ 27340 w 563211"/>
                <a:gd name="connsiteY7" fmla="*/ 27340 h 207786"/>
                <a:gd name="connsiteX8" fmla="*/ 27340 w 563211"/>
                <a:gd name="connsiteY8" fmla="*/ 180446 h 207786"/>
                <a:gd name="connsiteX9" fmla="*/ 98425 w 563211"/>
                <a:gd name="connsiteY9" fmla="*/ 180446 h 207786"/>
                <a:gd name="connsiteX10" fmla="*/ 98425 w 563211"/>
                <a:gd name="connsiteY10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3211" h="207786">
                  <a:moveTo>
                    <a:pt x="98425" y="207787"/>
                  </a:moveTo>
                  <a:lnTo>
                    <a:pt x="13670" y="207787"/>
                  </a:lnTo>
                  <a:cubicBezTo>
                    <a:pt x="5468" y="207787"/>
                    <a:pt x="0" y="202319"/>
                    <a:pt x="0" y="194117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563211" y="0"/>
                  </a:lnTo>
                  <a:lnTo>
                    <a:pt x="563211" y="27340"/>
                  </a:lnTo>
                  <a:lnTo>
                    <a:pt x="27340" y="27340"/>
                  </a:lnTo>
                  <a:lnTo>
                    <a:pt x="27340" y="180446"/>
                  </a:lnTo>
                  <a:lnTo>
                    <a:pt x="98425" y="180446"/>
                  </a:lnTo>
                  <a:lnTo>
                    <a:pt x="98425" y="20778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9" name="Группа 572">
            <a:extLst>
              <a:ext uri="{FF2B5EF4-FFF2-40B4-BE49-F238E27FC236}">
                <a16:creationId xmlns:a16="http://schemas.microsoft.com/office/drawing/2014/main" id="{5457DFC9-3429-4EBF-89A6-0CCB459F2F5D}"/>
              </a:ext>
            </a:extLst>
          </p:cNvPr>
          <p:cNvGrpSpPr>
            <a:grpSpLocks noChangeAspect="1"/>
          </p:cNvGrpSpPr>
          <p:nvPr/>
        </p:nvGrpSpPr>
        <p:grpSpPr>
          <a:xfrm>
            <a:off x="7684874" y="5407531"/>
            <a:ext cx="482132" cy="418440"/>
            <a:chOff x="656429" y="620079"/>
            <a:chExt cx="1062759" cy="922364"/>
          </a:xfrm>
          <a:solidFill>
            <a:srgbClr val="000000"/>
          </a:solidFill>
        </p:grpSpPr>
        <p:sp>
          <p:nvSpPr>
            <p:cNvPr id="110" name="Полилиния: фигура 554">
              <a:extLst>
                <a:ext uri="{FF2B5EF4-FFF2-40B4-BE49-F238E27FC236}">
                  <a16:creationId xmlns:a16="http://schemas.microsoft.com/office/drawing/2014/main" id="{1A673498-572D-4C28-9E20-9A0C80DC6DAA}"/>
                </a:ext>
              </a:extLst>
            </p:cNvPr>
            <p:cNvSpPr/>
            <p:nvPr/>
          </p:nvSpPr>
          <p:spPr>
            <a:xfrm>
              <a:off x="1210423" y="718647"/>
              <a:ext cx="330999" cy="301848"/>
            </a:xfrm>
            <a:custGeom>
              <a:avLst/>
              <a:gdLst>
                <a:gd name="connsiteX0" fmla="*/ 166041 w 330999"/>
                <a:gd name="connsiteY0" fmla="*/ 301849 h 301848"/>
                <a:gd name="connsiteX1" fmla="*/ 153464 w 330999"/>
                <a:gd name="connsiteY1" fmla="*/ 298705 h 301848"/>
                <a:gd name="connsiteX2" fmla="*/ 65425 w 330999"/>
                <a:gd name="connsiteY2" fmla="*/ 213810 h 301848"/>
                <a:gd name="connsiteX3" fmla="*/ 87435 w 330999"/>
                <a:gd name="connsiteY3" fmla="*/ 191800 h 301848"/>
                <a:gd name="connsiteX4" fmla="*/ 162897 w 330999"/>
                <a:gd name="connsiteY4" fmla="*/ 267262 h 301848"/>
                <a:gd name="connsiteX5" fmla="*/ 263513 w 330999"/>
                <a:gd name="connsiteY5" fmla="*/ 169790 h 301848"/>
                <a:gd name="connsiteX6" fmla="*/ 298100 w 330999"/>
                <a:gd name="connsiteY6" fmla="*/ 116338 h 301848"/>
                <a:gd name="connsiteX7" fmla="*/ 285523 w 330999"/>
                <a:gd name="connsiteY7" fmla="*/ 66029 h 301848"/>
                <a:gd name="connsiteX8" fmla="*/ 247792 w 330999"/>
                <a:gd name="connsiteY8" fmla="*/ 34587 h 301848"/>
                <a:gd name="connsiteX9" fmla="*/ 210061 w 330999"/>
                <a:gd name="connsiteY9" fmla="*/ 34587 h 301848"/>
                <a:gd name="connsiteX10" fmla="*/ 172330 w 330999"/>
                <a:gd name="connsiteY10" fmla="*/ 59741 h 301848"/>
                <a:gd name="connsiteX11" fmla="*/ 159753 w 330999"/>
                <a:gd name="connsiteY11" fmla="*/ 66029 h 301848"/>
                <a:gd name="connsiteX12" fmla="*/ 147175 w 330999"/>
                <a:gd name="connsiteY12" fmla="*/ 59741 h 301848"/>
                <a:gd name="connsiteX13" fmla="*/ 131454 w 330999"/>
                <a:gd name="connsiteY13" fmla="*/ 44020 h 301848"/>
                <a:gd name="connsiteX14" fmla="*/ 96867 w 330999"/>
                <a:gd name="connsiteY14" fmla="*/ 31443 h 301848"/>
                <a:gd name="connsiteX15" fmla="*/ 62280 w 330999"/>
                <a:gd name="connsiteY15" fmla="*/ 40875 h 301848"/>
                <a:gd name="connsiteX16" fmla="*/ 37126 w 330999"/>
                <a:gd name="connsiteY16" fmla="*/ 69174 h 301848"/>
                <a:gd name="connsiteX17" fmla="*/ 33982 w 330999"/>
                <a:gd name="connsiteY17" fmla="*/ 128915 h 301848"/>
                <a:gd name="connsiteX18" fmla="*/ 40271 w 330999"/>
                <a:gd name="connsiteY18" fmla="*/ 141492 h 301848"/>
                <a:gd name="connsiteX19" fmla="*/ 11972 w 330999"/>
                <a:gd name="connsiteY19" fmla="*/ 154069 h 301848"/>
                <a:gd name="connsiteX20" fmla="*/ 5684 w 330999"/>
                <a:gd name="connsiteY20" fmla="*/ 138347 h 301848"/>
                <a:gd name="connsiteX21" fmla="*/ 8828 w 330999"/>
                <a:gd name="connsiteY21" fmla="*/ 53452 h 301848"/>
                <a:gd name="connsiteX22" fmla="*/ 46559 w 330999"/>
                <a:gd name="connsiteY22" fmla="*/ 12577 h 301848"/>
                <a:gd name="connsiteX23" fmla="*/ 100012 w 330999"/>
                <a:gd name="connsiteY23" fmla="*/ 0 h 301848"/>
                <a:gd name="connsiteX24" fmla="*/ 150320 w 330999"/>
                <a:gd name="connsiteY24" fmla="*/ 18866 h 301848"/>
                <a:gd name="connsiteX25" fmla="*/ 159753 w 330999"/>
                <a:gd name="connsiteY25" fmla="*/ 28298 h 301848"/>
                <a:gd name="connsiteX26" fmla="*/ 200628 w 330999"/>
                <a:gd name="connsiteY26" fmla="*/ 6289 h 301848"/>
                <a:gd name="connsiteX27" fmla="*/ 257225 w 330999"/>
                <a:gd name="connsiteY27" fmla="*/ 6289 h 301848"/>
                <a:gd name="connsiteX28" fmla="*/ 313821 w 330999"/>
                <a:gd name="connsiteY28" fmla="*/ 44020 h 301848"/>
                <a:gd name="connsiteX29" fmla="*/ 329543 w 330999"/>
                <a:gd name="connsiteY29" fmla="*/ 116338 h 301848"/>
                <a:gd name="connsiteX30" fmla="*/ 285523 w 330999"/>
                <a:gd name="connsiteY30" fmla="*/ 188656 h 301848"/>
                <a:gd name="connsiteX31" fmla="*/ 175474 w 330999"/>
                <a:gd name="connsiteY31" fmla="*/ 298705 h 301848"/>
                <a:gd name="connsiteX32" fmla="*/ 166041 w 330999"/>
                <a:gd name="connsiteY32" fmla="*/ 301849 h 3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0999" h="301848">
                  <a:moveTo>
                    <a:pt x="166041" y="301849"/>
                  </a:moveTo>
                  <a:cubicBezTo>
                    <a:pt x="162897" y="301849"/>
                    <a:pt x="156608" y="301849"/>
                    <a:pt x="153464" y="298705"/>
                  </a:cubicBezTo>
                  <a:lnTo>
                    <a:pt x="65425" y="213810"/>
                  </a:lnTo>
                  <a:lnTo>
                    <a:pt x="87435" y="191800"/>
                  </a:lnTo>
                  <a:lnTo>
                    <a:pt x="162897" y="267262"/>
                  </a:lnTo>
                  <a:cubicBezTo>
                    <a:pt x="200628" y="226387"/>
                    <a:pt x="232071" y="198088"/>
                    <a:pt x="263513" y="169790"/>
                  </a:cubicBezTo>
                  <a:cubicBezTo>
                    <a:pt x="279234" y="154069"/>
                    <a:pt x="294956" y="138347"/>
                    <a:pt x="298100" y="116338"/>
                  </a:cubicBezTo>
                  <a:cubicBezTo>
                    <a:pt x="301244" y="91184"/>
                    <a:pt x="288667" y="69174"/>
                    <a:pt x="285523" y="66029"/>
                  </a:cubicBezTo>
                  <a:cubicBezTo>
                    <a:pt x="276090" y="47164"/>
                    <a:pt x="263513" y="37731"/>
                    <a:pt x="247792" y="34587"/>
                  </a:cubicBezTo>
                  <a:cubicBezTo>
                    <a:pt x="232071" y="28298"/>
                    <a:pt x="216349" y="31443"/>
                    <a:pt x="210061" y="34587"/>
                  </a:cubicBezTo>
                  <a:cubicBezTo>
                    <a:pt x="191195" y="40875"/>
                    <a:pt x="178618" y="53452"/>
                    <a:pt x="172330" y="59741"/>
                  </a:cubicBezTo>
                  <a:cubicBezTo>
                    <a:pt x="169185" y="62885"/>
                    <a:pt x="166041" y="66029"/>
                    <a:pt x="159753" y="66029"/>
                  </a:cubicBezTo>
                  <a:cubicBezTo>
                    <a:pt x="153464" y="66029"/>
                    <a:pt x="150320" y="62885"/>
                    <a:pt x="147175" y="59741"/>
                  </a:cubicBezTo>
                  <a:cubicBezTo>
                    <a:pt x="144031" y="53452"/>
                    <a:pt x="137743" y="47164"/>
                    <a:pt x="131454" y="44020"/>
                  </a:cubicBezTo>
                  <a:cubicBezTo>
                    <a:pt x="118877" y="34587"/>
                    <a:pt x="106300" y="31443"/>
                    <a:pt x="96867" y="31443"/>
                  </a:cubicBezTo>
                  <a:cubicBezTo>
                    <a:pt x="90579" y="31443"/>
                    <a:pt x="74858" y="31443"/>
                    <a:pt x="62280" y="40875"/>
                  </a:cubicBezTo>
                  <a:cubicBezTo>
                    <a:pt x="46559" y="50308"/>
                    <a:pt x="40271" y="66029"/>
                    <a:pt x="37126" y="69174"/>
                  </a:cubicBezTo>
                  <a:cubicBezTo>
                    <a:pt x="24549" y="94328"/>
                    <a:pt x="30838" y="122626"/>
                    <a:pt x="33982" y="128915"/>
                  </a:cubicBezTo>
                  <a:cubicBezTo>
                    <a:pt x="33982" y="132059"/>
                    <a:pt x="37126" y="138347"/>
                    <a:pt x="40271" y="141492"/>
                  </a:cubicBezTo>
                  <a:lnTo>
                    <a:pt x="11972" y="154069"/>
                  </a:lnTo>
                  <a:cubicBezTo>
                    <a:pt x="8828" y="147780"/>
                    <a:pt x="5684" y="144636"/>
                    <a:pt x="5684" y="138347"/>
                  </a:cubicBezTo>
                  <a:cubicBezTo>
                    <a:pt x="2540" y="125770"/>
                    <a:pt x="-6893" y="91184"/>
                    <a:pt x="8828" y="53452"/>
                  </a:cubicBezTo>
                  <a:cubicBezTo>
                    <a:pt x="11972" y="47164"/>
                    <a:pt x="21405" y="25154"/>
                    <a:pt x="46559" y="12577"/>
                  </a:cubicBezTo>
                  <a:cubicBezTo>
                    <a:pt x="68569" y="0"/>
                    <a:pt x="90579" y="0"/>
                    <a:pt x="100012" y="0"/>
                  </a:cubicBezTo>
                  <a:cubicBezTo>
                    <a:pt x="112589" y="0"/>
                    <a:pt x="131454" y="3144"/>
                    <a:pt x="150320" y="18866"/>
                  </a:cubicBezTo>
                  <a:cubicBezTo>
                    <a:pt x="153464" y="22010"/>
                    <a:pt x="156608" y="25154"/>
                    <a:pt x="159753" y="28298"/>
                  </a:cubicBezTo>
                  <a:cubicBezTo>
                    <a:pt x="169185" y="18866"/>
                    <a:pt x="181762" y="9433"/>
                    <a:pt x="200628" y="6289"/>
                  </a:cubicBezTo>
                  <a:cubicBezTo>
                    <a:pt x="210061" y="3144"/>
                    <a:pt x="232071" y="0"/>
                    <a:pt x="257225" y="6289"/>
                  </a:cubicBezTo>
                  <a:cubicBezTo>
                    <a:pt x="272946" y="6289"/>
                    <a:pt x="294956" y="18866"/>
                    <a:pt x="313821" y="44020"/>
                  </a:cubicBezTo>
                  <a:cubicBezTo>
                    <a:pt x="320110" y="53452"/>
                    <a:pt x="335831" y="81751"/>
                    <a:pt x="329543" y="116338"/>
                  </a:cubicBezTo>
                  <a:cubicBezTo>
                    <a:pt x="323254" y="150925"/>
                    <a:pt x="304389" y="169790"/>
                    <a:pt x="285523" y="188656"/>
                  </a:cubicBezTo>
                  <a:cubicBezTo>
                    <a:pt x="254080" y="220098"/>
                    <a:pt x="219494" y="254685"/>
                    <a:pt x="175474" y="298705"/>
                  </a:cubicBezTo>
                  <a:cubicBezTo>
                    <a:pt x="172330" y="301849"/>
                    <a:pt x="169185" y="301849"/>
                    <a:pt x="166041" y="301849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556">
              <a:extLst>
                <a:ext uri="{FF2B5EF4-FFF2-40B4-BE49-F238E27FC236}">
                  <a16:creationId xmlns:a16="http://schemas.microsoft.com/office/drawing/2014/main" id="{6D920E9B-E405-4204-8705-5CA1B7BE10FB}"/>
                </a:ext>
              </a:extLst>
            </p:cNvPr>
            <p:cNvSpPr/>
            <p:nvPr/>
          </p:nvSpPr>
          <p:spPr>
            <a:xfrm>
              <a:off x="1049461" y="620079"/>
              <a:ext cx="669727" cy="601649"/>
            </a:xfrm>
            <a:custGeom>
              <a:avLst/>
              <a:gdLst>
                <a:gd name="connsiteX0" fmla="*/ 264118 w 669727"/>
                <a:gd name="connsiteY0" fmla="*/ 598505 h 601649"/>
                <a:gd name="connsiteX1" fmla="*/ 254685 w 669727"/>
                <a:gd name="connsiteY1" fmla="*/ 595361 h 601649"/>
                <a:gd name="connsiteX2" fmla="*/ 248397 w 669727"/>
                <a:gd name="connsiteY2" fmla="*/ 579640 h 601649"/>
                <a:gd name="connsiteX3" fmla="*/ 267262 w 669727"/>
                <a:gd name="connsiteY3" fmla="*/ 485312 h 601649"/>
                <a:gd name="connsiteX4" fmla="*/ 169790 w 669727"/>
                <a:gd name="connsiteY4" fmla="*/ 485312 h 601649"/>
                <a:gd name="connsiteX5" fmla="*/ 169790 w 669727"/>
                <a:gd name="connsiteY5" fmla="*/ 453869 h 601649"/>
                <a:gd name="connsiteX6" fmla="*/ 286128 w 669727"/>
                <a:gd name="connsiteY6" fmla="*/ 453869 h 601649"/>
                <a:gd name="connsiteX7" fmla="*/ 298705 w 669727"/>
                <a:gd name="connsiteY7" fmla="*/ 460158 h 601649"/>
                <a:gd name="connsiteX8" fmla="*/ 301849 w 669727"/>
                <a:gd name="connsiteY8" fmla="*/ 472735 h 601649"/>
                <a:gd name="connsiteX9" fmla="*/ 286128 w 669727"/>
                <a:gd name="connsiteY9" fmla="*/ 554486 h 601649"/>
                <a:gd name="connsiteX10" fmla="*/ 477928 w 669727"/>
                <a:gd name="connsiteY10" fmla="*/ 453869 h 601649"/>
                <a:gd name="connsiteX11" fmla="*/ 484216 w 669727"/>
                <a:gd name="connsiteY11" fmla="*/ 450725 h 601649"/>
                <a:gd name="connsiteX12" fmla="*/ 591121 w 669727"/>
                <a:gd name="connsiteY12" fmla="*/ 450725 h 601649"/>
                <a:gd name="connsiteX13" fmla="*/ 625708 w 669727"/>
                <a:gd name="connsiteY13" fmla="*/ 431859 h 601649"/>
                <a:gd name="connsiteX14" fmla="*/ 635141 w 669727"/>
                <a:gd name="connsiteY14" fmla="*/ 409850 h 601649"/>
                <a:gd name="connsiteX15" fmla="*/ 631996 w 669727"/>
                <a:gd name="connsiteY15" fmla="*/ 70269 h 601649"/>
                <a:gd name="connsiteX16" fmla="*/ 619419 w 669727"/>
                <a:gd name="connsiteY16" fmla="*/ 45115 h 601649"/>
                <a:gd name="connsiteX17" fmla="*/ 581688 w 669727"/>
                <a:gd name="connsiteY17" fmla="*/ 29394 h 601649"/>
                <a:gd name="connsiteX18" fmla="*/ 339580 w 669727"/>
                <a:gd name="connsiteY18" fmla="*/ 29394 h 601649"/>
                <a:gd name="connsiteX19" fmla="*/ 97472 w 669727"/>
                <a:gd name="connsiteY19" fmla="*/ 29394 h 601649"/>
                <a:gd name="connsiteX20" fmla="*/ 53452 w 669727"/>
                <a:gd name="connsiteY20" fmla="*/ 41971 h 601649"/>
                <a:gd name="connsiteX21" fmla="*/ 31443 w 669727"/>
                <a:gd name="connsiteY21" fmla="*/ 70269 h 601649"/>
                <a:gd name="connsiteX22" fmla="*/ 31443 w 669727"/>
                <a:gd name="connsiteY22" fmla="*/ 164597 h 601649"/>
                <a:gd name="connsiteX23" fmla="*/ 0 w 669727"/>
                <a:gd name="connsiteY23" fmla="*/ 164597 h 601649"/>
                <a:gd name="connsiteX24" fmla="*/ 0 w 669727"/>
                <a:gd name="connsiteY24" fmla="*/ 70269 h 601649"/>
                <a:gd name="connsiteX25" fmla="*/ 0 w 669727"/>
                <a:gd name="connsiteY25" fmla="*/ 67125 h 601649"/>
                <a:gd name="connsiteX26" fmla="*/ 37731 w 669727"/>
                <a:gd name="connsiteY26" fmla="*/ 16817 h 601649"/>
                <a:gd name="connsiteX27" fmla="*/ 100616 w 669727"/>
                <a:gd name="connsiteY27" fmla="*/ 1096 h 601649"/>
                <a:gd name="connsiteX28" fmla="*/ 342724 w 669727"/>
                <a:gd name="connsiteY28" fmla="*/ 1096 h 601649"/>
                <a:gd name="connsiteX29" fmla="*/ 584833 w 669727"/>
                <a:gd name="connsiteY29" fmla="*/ 1096 h 601649"/>
                <a:gd name="connsiteX30" fmla="*/ 644573 w 669727"/>
                <a:gd name="connsiteY30" fmla="*/ 26250 h 601649"/>
                <a:gd name="connsiteX31" fmla="*/ 666583 w 669727"/>
                <a:gd name="connsiteY31" fmla="*/ 76558 h 601649"/>
                <a:gd name="connsiteX32" fmla="*/ 669728 w 669727"/>
                <a:gd name="connsiteY32" fmla="*/ 419282 h 601649"/>
                <a:gd name="connsiteX33" fmla="*/ 654006 w 669727"/>
                <a:gd name="connsiteY33" fmla="*/ 457013 h 601649"/>
                <a:gd name="connsiteX34" fmla="*/ 600554 w 669727"/>
                <a:gd name="connsiteY34" fmla="*/ 488456 h 601649"/>
                <a:gd name="connsiteX35" fmla="*/ 597410 w 669727"/>
                <a:gd name="connsiteY35" fmla="*/ 488456 h 601649"/>
                <a:gd name="connsiteX36" fmla="*/ 487360 w 669727"/>
                <a:gd name="connsiteY36" fmla="*/ 488456 h 601649"/>
                <a:gd name="connsiteX37" fmla="*/ 270406 w 669727"/>
                <a:gd name="connsiteY37" fmla="*/ 601649 h 601649"/>
                <a:gd name="connsiteX38" fmla="*/ 264118 w 669727"/>
                <a:gd name="connsiteY38" fmla="*/ 598505 h 60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9727" h="601649">
                  <a:moveTo>
                    <a:pt x="264118" y="598505"/>
                  </a:moveTo>
                  <a:cubicBezTo>
                    <a:pt x="260974" y="598505"/>
                    <a:pt x="257829" y="598505"/>
                    <a:pt x="254685" y="595361"/>
                  </a:cubicBezTo>
                  <a:cubicBezTo>
                    <a:pt x="248397" y="592217"/>
                    <a:pt x="248397" y="585928"/>
                    <a:pt x="248397" y="579640"/>
                  </a:cubicBezTo>
                  <a:lnTo>
                    <a:pt x="267262" y="485312"/>
                  </a:lnTo>
                  <a:lnTo>
                    <a:pt x="169790" y="485312"/>
                  </a:lnTo>
                  <a:lnTo>
                    <a:pt x="169790" y="453869"/>
                  </a:lnTo>
                  <a:lnTo>
                    <a:pt x="286128" y="453869"/>
                  </a:lnTo>
                  <a:cubicBezTo>
                    <a:pt x="292416" y="453869"/>
                    <a:pt x="295561" y="457013"/>
                    <a:pt x="298705" y="460158"/>
                  </a:cubicBezTo>
                  <a:cubicBezTo>
                    <a:pt x="301849" y="463302"/>
                    <a:pt x="301849" y="469591"/>
                    <a:pt x="301849" y="472735"/>
                  </a:cubicBezTo>
                  <a:lnTo>
                    <a:pt x="286128" y="554486"/>
                  </a:lnTo>
                  <a:lnTo>
                    <a:pt x="477928" y="453869"/>
                  </a:lnTo>
                  <a:cubicBezTo>
                    <a:pt x="481072" y="453869"/>
                    <a:pt x="484216" y="450725"/>
                    <a:pt x="484216" y="450725"/>
                  </a:cubicBezTo>
                  <a:lnTo>
                    <a:pt x="591121" y="450725"/>
                  </a:lnTo>
                  <a:cubicBezTo>
                    <a:pt x="600554" y="447581"/>
                    <a:pt x="616275" y="444436"/>
                    <a:pt x="625708" y="431859"/>
                  </a:cubicBezTo>
                  <a:cubicBezTo>
                    <a:pt x="631996" y="425571"/>
                    <a:pt x="635141" y="419282"/>
                    <a:pt x="635141" y="409850"/>
                  </a:cubicBezTo>
                  <a:lnTo>
                    <a:pt x="631996" y="70269"/>
                  </a:lnTo>
                  <a:cubicBezTo>
                    <a:pt x="631996" y="63981"/>
                    <a:pt x="631996" y="54548"/>
                    <a:pt x="619419" y="45115"/>
                  </a:cubicBezTo>
                  <a:cubicBezTo>
                    <a:pt x="606842" y="32538"/>
                    <a:pt x="584833" y="29394"/>
                    <a:pt x="581688" y="29394"/>
                  </a:cubicBezTo>
                  <a:cubicBezTo>
                    <a:pt x="459062" y="29394"/>
                    <a:pt x="399321" y="29394"/>
                    <a:pt x="339580" y="29394"/>
                  </a:cubicBezTo>
                  <a:cubicBezTo>
                    <a:pt x="279839" y="29394"/>
                    <a:pt x="220098" y="29394"/>
                    <a:pt x="97472" y="29394"/>
                  </a:cubicBezTo>
                  <a:cubicBezTo>
                    <a:pt x="88039" y="29394"/>
                    <a:pt x="69174" y="29394"/>
                    <a:pt x="53452" y="41971"/>
                  </a:cubicBezTo>
                  <a:cubicBezTo>
                    <a:pt x="37731" y="51404"/>
                    <a:pt x="31443" y="63981"/>
                    <a:pt x="31443" y="70269"/>
                  </a:cubicBezTo>
                  <a:lnTo>
                    <a:pt x="31443" y="164597"/>
                  </a:lnTo>
                  <a:lnTo>
                    <a:pt x="0" y="164597"/>
                  </a:lnTo>
                  <a:lnTo>
                    <a:pt x="0" y="70269"/>
                  </a:lnTo>
                  <a:cubicBezTo>
                    <a:pt x="0" y="70269"/>
                    <a:pt x="0" y="67125"/>
                    <a:pt x="0" y="67125"/>
                  </a:cubicBezTo>
                  <a:cubicBezTo>
                    <a:pt x="3144" y="54548"/>
                    <a:pt x="12577" y="32538"/>
                    <a:pt x="37731" y="16817"/>
                  </a:cubicBezTo>
                  <a:cubicBezTo>
                    <a:pt x="62885" y="1096"/>
                    <a:pt x="88039" y="-2049"/>
                    <a:pt x="100616" y="1096"/>
                  </a:cubicBezTo>
                  <a:cubicBezTo>
                    <a:pt x="226387" y="1096"/>
                    <a:pt x="282983" y="1096"/>
                    <a:pt x="342724" y="1096"/>
                  </a:cubicBezTo>
                  <a:cubicBezTo>
                    <a:pt x="402465" y="1096"/>
                    <a:pt x="462206" y="1096"/>
                    <a:pt x="584833" y="1096"/>
                  </a:cubicBezTo>
                  <a:cubicBezTo>
                    <a:pt x="594265" y="1096"/>
                    <a:pt x="622564" y="4240"/>
                    <a:pt x="644573" y="26250"/>
                  </a:cubicBezTo>
                  <a:cubicBezTo>
                    <a:pt x="663439" y="45115"/>
                    <a:pt x="666583" y="67125"/>
                    <a:pt x="666583" y="76558"/>
                  </a:cubicBezTo>
                  <a:lnTo>
                    <a:pt x="669728" y="419282"/>
                  </a:lnTo>
                  <a:cubicBezTo>
                    <a:pt x="669728" y="435004"/>
                    <a:pt x="663439" y="447581"/>
                    <a:pt x="654006" y="457013"/>
                  </a:cubicBezTo>
                  <a:cubicBezTo>
                    <a:pt x="638285" y="479023"/>
                    <a:pt x="613131" y="485312"/>
                    <a:pt x="600554" y="488456"/>
                  </a:cubicBezTo>
                  <a:cubicBezTo>
                    <a:pt x="600554" y="488456"/>
                    <a:pt x="597410" y="488456"/>
                    <a:pt x="597410" y="488456"/>
                  </a:cubicBezTo>
                  <a:lnTo>
                    <a:pt x="487360" y="488456"/>
                  </a:lnTo>
                  <a:lnTo>
                    <a:pt x="270406" y="601649"/>
                  </a:lnTo>
                  <a:cubicBezTo>
                    <a:pt x="267262" y="598505"/>
                    <a:pt x="264118" y="598505"/>
                    <a:pt x="264118" y="598505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12" name="Рисунок 452">
              <a:extLst>
                <a:ext uri="{FF2B5EF4-FFF2-40B4-BE49-F238E27FC236}">
                  <a16:creationId xmlns:a16="http://schemas.microsoft.com/office/drawing/2014/main" id="{A494EA60-8D9C-432A-95D9-3E644EC02B31}"/>
                </a:ext>
              </a:extLst>
            </p:cNvPr>
            <p:cNvGrpSpPr/>
            <p:nvPr/>
          </p:nvGrpSpPr>
          <p:grpSpPr>
            <a:xfrm>
              <a:off x="656429" y="882149"/>
              <a:ext cx="660294" cy="660294"/>
              <a:chOff x="656429" y="882149"/>
              <a:chExt cx="660294" cy="660294"/>
            </a:xfrm>
            <a:grpFill/>
          </p:grpSpPr>
          <p:sp>
            <p:nvSpPr>
              <p:cNvPr id="113" name="Полилиния: фигура 558">
                <a:extLst>
                  <a:ext uri="{FF2B5EF4-FFF2-40B4-BE49-F238E27FC236}">
                    <a16:creationId xmlns:a16="http://schemas.microsoft.com/office/drawing/2014/main" id="{10BD8BA4-3E91-42FF-925D-2836F88DAA96}"/>
                  </a:ext>
                </a:extLst>
              </p:cNvPr>
              <p:cNvSpPr/>
              <p:nvPr/>
            </p:nvSpPr>
            <p:spPr>
              <a:xfrm>
                <a:off x="936268" y="1246883"/>
                <a:ext cx="97472" cy="295560"/>
              </a:xfrm>
              <a:custGeom>
                <a:avLst/>
                <a:gdLst>
                  <a:gd name="connsiteX0" fmla="*/ 97472 w 97472"/>
                  <a:gd name="connsiteY0" fmla="*/ 295560 h 295560"/>
                  <a:gd name="connsiteX1" fmla="*/ 0 w 97472"/>
                  <a:gd name="connsiteY1" fmla="*/ 295560 h 295560"/>
                  <a:gd name="connsiteX2" fmla="*/ 22010 w 97472"/>
                  <a:gd name="connsiteY2" fmla="*/ 0 h 295560"/>
                  <a:gd name="connsiteX3" fmla="*/ 75462 w 97472"/>
                  <a:gd name="connsiteY3" fmla="*/ 0 h 295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472" h="295560">
                    <a:moveTo>
                      <a:pt x="97472" y="295560"/>
                    </a:moveTo>
                    <a:lnTo>
                      <a:pt x="0" y="295560"/>
                    </a:lnTo>
                    <a:lnTo>
                      <a:pt x="22010" y="0"/>
                    </a:lnTo>
                    <a:lnTo>
                      <a:pt x="75462" y="0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4" name="Полилиния: фигура 559">
                <a:extLst>
                  <a:ext uri="{FF2B5EF4-FFF2-40B4-BE49-F238E27FC236}">
                    <a16:creationId xmlns:a16="http://schemas.microsoft.com/office/drawing/2014/main" id="{24DEB428-FC10-496A-B534-A4CDF20A71E5}"/>
                  </a:ext>
                </a:extLst>
              </p:cNvPr>
              <p:cNvSpPr/>
              <p:nvPr/>
            </p:nvSpPr>
            <p:spPr>
              <a:xfrm>
                <a:off x="1068327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5" name="Полилиния: фигура 560">
                <a:extLst>
                  <a:ext uri="{FF2B5EF4-FFF2-40B4-BE49-F238E27FC236}">
                    <a16:creationId xmlns:a16="http://schemas.microsoft.com/office/drawing/2014/main" id="{D2138EDE-8879-4419-AFF1-5F025D8AFAFF}"/>
                  </a:ext>
                </a:extLst>
              </p:cNvPr>
              <p:cNvSpPr/>
              <p:nvPr/>
            </p:nvSpPr>
            <p:spPr>
              <a:xfrm>
                <a:off x="1178376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6" name="Полилиния: фигура 561">
                <a:extLst>
                  <a:ext uri="{FF2B5EF4-FFF2-40B4-BE49-F238E27FC236}">
                    <a16:creationId xmlns:a16="http://schemas.microsoft.com/office/drawing/2014/main" id="{EEFCB174-9AAE-4F6E-BD24-644520A5718E}"/>
                  </a:ext>
                </a:extLst>
              </p:cNvPr>
              <p:cNvSpPr/>
              <p:nvPr/>
            </p:nvSpPr>
            <p:spPr>
              <a:xfrm>
                <a:off x="832507" y="882149"/>
                <a:ext cx="301849" cy="301849"/>
              </a:xfrm>
              <a:custGeom>
                <a:avLst/>
                <a:gdLst>
                  <a:gd name="connsiteX0" fmla="*/ 150925 w 301849"/>
                  <a:gd name="connsiteY0" fmla="*/ 301849 h 301849"/>
                  <a:gd name="connsiteX1" fmla="*/ 0 w 301849"/>
                  <a:gd name="connsiteY1" fmla="*/ 150925 h 301849"/>
                  <a:gd name="connsiteX2" fmla="*/ 150925 w 301849"/>
                  <a:gd name="connsiteY2" fmla="*/ 0 h 301849"/>
                  <a:gd name="connsiteX3" fmla="*/ 301849 w 301849"/>
                  <a:gd name="connsiteY3" fmla="*/ 150925 h 301849"/>
                  <a:gd name="connsiteX4" fmla="*/ 150925 w 301849"/>
                  <a:gd name="connsiteY4" fmla="*/ 301849 h 301849"/>
                  <a:gd name="connsiteX5" fmla="*/ 150925 w 301849"/>
                  <a:gd name="connsiteY5" fmla="*/ 31443 h 301849"/>
                  <a:gd name="connsiteX6" fmla="*/ 31443 w 301849"/>
                  <a:gd name="connsiteY6" fmla="*/ 150925 h 301849"/>
                  <a:gd name="connsiteX7" fmla="*/ 150925 w 301849"/>
                  <a:gd name="connsiteY7" fmla="*/ 270406 h 301849"/>
                  <a:gd name="connsiteX8" fmla="*/ 270406 w 301849"/>
                  <a:gd name="connsiteY8" fmla="*/ 150925 h 301849"/>
                  <a:gd name="connsiteX9" fmla="*/ 150925 w 301849"/>
                  <a:gd name="connsiteY9" fmla="*/ 31443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1849" h="301849">
                    <a:moveTo>
                      <a:pt x="150925" y="301849"/>
                    </a:moveTo>
                    <a:cubicBezTo>
                      <a:pt x="69174" y="301849"/>
                      <a:pt x="0" y="235820"/>
                      <a:pt x="0" y="150925"/>
                    </a:cubicBezTo>
                    <a:cubicBezTo>
                      <a:pt x="0" y="69174"/>
                      <a:pt x="66029" y="0"/>
                      <a:pt x="150925" y="0"/>
                    </a:cubicBezTo>
                    <a:cubicBezTo>
                      <a:pt x="235820" y="0"/>
                      <a:pt x="301849" y="66029"/>
                      <a:pt x="301849" y="150925"/>
                    </a:cubicBezTo>
                    <a:cubicBezTo>
                      <a:pt x="301849" y="235820"/>
                      <a:pt x="235820" y="301849"/>
                      <a:pt x="150925" y="301849"/>
                    </a:cubicBezTo>
                    <a:close/>
                    <a:moveTo>
                      <a:pt x="150925" y="31443"/>
                    </a:moveTo>
                    <a:cubicBezTo>
                      <a:pt x="84895" y="31443"/>
                      <a:pt x="31443" y="84895"/>
                      <a:pt x="31443" y="150925"/>
                    </a:cubicBezTo>
                    <a:cubicBezTo>
                      <a:pt x="31443" y="216954"/>
                      <a:pt x="84895" y="270406"/>
                      <a:pt x="150925" y="270406"/>
                    </a:cubicBezTo>
                    <a:cubicBezTo>
                      <a:pt x="216954" y="270406"/>
                      <a:pt x="270406" y="216954"/>
                      <a:pt x="270406" y="150925"/>
                    </a:cubicBezTo>
                    <a:cubicBezTo>
                      <a:pt x="270406" y="84895"/>
                      <a:pt x="216954" y="31443"/>
                      <a:pt x="150925" y="31443"/>
                    </a:cubicBez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7" name="Полилиния: фигура 562">
                <a:extLst>
                  <a:ext uri="{FF2B5EF4-FFF2-40B4-BE49-F238E27FC236}">
                    <a16:creationId xmlns:a16="http://schemas.microsoft.com/office/drawing/2014/main" id="{9467E193-085F-4BAD-A612-2E37B5E45ED3}"/>
                  </a:ext>
                </a:extLst>
              </p:cNvPr>
              <p:cNvSpPr/>
              <p:nvPr/>
            </p:nvSpPr>
            <p:spPr>
              <a:xfrm>
                <a:off x="1065182" y="1237450"/>
                <a:ext cx="251540" cy="301849"/>
              </a:xfrm>
              <a:custGeom>
                <a:avLst/>
                <a:gdLst>
                  <a:gd name="connsiteX0" fmla="*/ 251541 w 251540"/>
                  <a:gd name="connsiteY0" fmla="*/ 301849 h 301849"/>
                  <a:gd name="connsiteX1" fmla="*/ 220098 w 251540"/>
                  <a:gd name="connsiteY1" fmla="*/ 301849 h 301849"/>
                  <a:gd name="connsiteX2" fmla="*/ 220098 w 251540"/>
                  <a:gd name="connsiteY2" fmla="*/ 257829 h 301849"/>
                  <a:gd name="connsiteX3" fmla="*/ 220098 w 251540"/>
                  <a:gd name="connsiteY3" fmla="*/ 172934 h 301849"/>
                  <a:gd name="connsiteX4" fmla="*/ 182367 w 251540"/>
                  <a:gd name="connsiteY4" fmla="*/ 69174 h 301849"/>
                  <a:gd name="connsiteX5" fmla="*/ 50308 w 251540"/>
                  <a:gd name="connsiteY5" fmla="*/ 31443 h 301849"/>
                  <a:gd name="connsiteX6" fmla="*/ 0 w 251540"/>
                  <a:gd name="connsiteY6" fmla="*/ 31443 h 301849"/>
                  <a:gd name="connsiteX7" fmla="*/ 0 w 251540"/>
                  <a:gd name="connsiteY7" fmla="*/ 0 h 301849"/>
                  <a:gd name="connsiteX8" fmla="*/ 50308 w 251540"/>
                  <a:gd name="connsiteY8" fmla="*/ 0 h 301849"/>
                  <a:gd name="connsiteX9" fmla="*/ 204377 w 251540"/>
                  <a:gd name="connsiteY9" fmla="*/ 47164 h 301849"/>
                  <a:gd name="connsiteX10" fmla="*/ 251541 w 251540"/>
                  <a:gd name="connsiteY10" fmla="*/ 172934 h 301849"/>
                  <a:gd name="connsiteX11" fmla="*/ 251541 w 251540"/>
                  <a:gd name="connsiteY11" fmla="*/ 257829 h 301849"/>
                  <a:gd name="connsiteX12" fmla="*/ 251541 w 251540"/>
                  <a:gd name="connsiteY12" fmla="*/ 301849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1540" h="301849">
                    <a:moveTo>
                      <a:pt x="251541" y="301849"/>
                    </a:moveTo>
                    <a:lnTo>
                      <a:pt x="220098" y="301849"/>
                    </a:lnTo>
                    <a:lnTo>
                      <a:pt x="220098" y="257829"/>
                    </a:lnTo>
                    <a:cubicBezTo>
                      <a:pt x="220098" y="232675"/>
                      <a:pt x="220098" y="207521"/>
                      <a:pt x="220098" y="172934"/>
                    </a:cubicBezTo>
                    <a:cubicBezTo>
                      <a:pt x="220098" y="141492"/>
                      <a:pt x="210665" y="97472"/>
                      <a:pt x="182367" y="69174"/>
                    </a:cubicBezTo>
                    <a:cubicBezTo>
                      <a:pt x="163502" y="50308"/>
                      <a:pt x="125770" y="31443"/>
                      <a:pt x="50308" y="31443"/>
                    </a:cubicBezTo>
                    <a:cubicBezTo>
                      <a:pt x="31443" y="31443"/>
                      <a:pt x="15721" y="31443"/>
                      <a:pt x="0" y="31443"/>
                    </a:cubicBezTo>
                    <a:lnTo>
                      <a:pt x="0" y="0"/>
                    </a:lnTo>
                    <a:cubicBezTo>
                      <a:pt x="15721" y="0"/>
                      <a:pt x="31443" y="0"/>
                      <a:pt x="50308" y="0"/>
                    </a:cubicBezTo>
                    <a:cubicBezTo>
                      <a:pt x="119482" y="0"/>
                      <a:pt x="172934" y="15721"/>
                      <a:pt x="204377" y="47164"/>
                    </a:cubicBezTo>
                    <a:cubicBezTo>
                      <a:pt x="248397" y="91184"/>
                      <a:pt x="251541" y="160357"/>
                      <a:pt x="251541" y="172934"/>
                    </a:cubicBezTo>
                    <a:cubicBezTo>
                      <a:pt x="251541" y="207521"/>
                      <a:pt x="251541" y="232675"/>
                      <a:pt x="251541" y="257829"/>
                    </a:cubicBezTo>
                    <a:lnTo>
                      <a:pt x="251541" y="30184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8" name="Полилиния: фигура 563">
                <a:extLst>
                  <a:ext uri="{FF2B5EF4-FFF2-40B4-BE49-F238E27FC236}">
                    <a16:creationId xmlns:a16="http://schemas.microsoft.com/office/drawing/2014/main" id="{A0DC2D0B-58F7-4B5F-96D9-6D8F803AEC1C}"/>
                  </a:ext>
                </a:extLst>
              </p:cNvPr>
              <p:cNvSpPr/>
              <p:nvPr/>
            </p:nvSpPr>
            <p:spPr>
              <a:xfrm>
                <a:off x="656429" y="1236528"/>
                <a:ext cx="257829" cy="299626"/>
              </a:xfrm>
              <a:custGeom>
                <a:avLst/>
                <a:gdLst>
                  <a:gd name="connsiteX0" fmla="*/ 31443 w 257829"/>
                  <a:gd name="connsiteY0" fmla="*/ 299626 h 299626"/>
                  <a:gd name="connsiteX1" fmla="*/ 0 w 257829"/>
                  <a:gd name="connsiteY1" fmla="*/ 299626 h 299626"/>
                  <a:gd name="connsiteX2" fmla="*/ 3144 w 257829"/>
                  <a:gd name="connsiteY2" fmla="*/ 151846 h 299626"/>
                  <a:gd name="connsiteX3" fmla="*/ 59741 w 257829"/>
                  <a:gd name="connsiteY3" fmla="*/ 38653 h 299626"/>
                  <a:gd name="connsiteX4" fmla="*/ 257829 w 257829"/>
                  <a:gd name="connsiteY4" fmla="*/ 922 h 299626"/>
                  <a:gd name="connsiteX5" fmla="*/ 257829 w 257829"/>
                  <a:gd name="connsiteY5" fmla="*/ 32364 h 299626"/>
                  <a:gd name="connsiteX6" fmla="*/ 78607 w 257829"/>
                  <a:gd name="connsiteY6" fmla="*/ 63807 h 299626"/>
                  <a:gd name="connsiteX7" fmla="*/ 31443 w 257829"/>
                  <a:gd name="connsiteY7" fmla="*/ 154991 h 299626"/>
                  <a:gd name="connsiteX8" fmla="*/ 31443 w 257829"/>
                  <a:gd name="connsiteY8" fmla="*/ 299626 h 29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7829" h="299626">
                    <a:moveTo>
                      <a:pt x="31443" y="299626"/>
                    </a:moveTo>
                    <a:lnTo>
                      <a:pt x="0" y="299626"/>
                    </a:lnTo>
                    <a:lnTo>
                      <a:pt x="3144" y="151846"/>
                    </a:lnTo>
                    <a:cubicBezTo>
                      <a:pt x="6289" y="129836"/>
                      <a:pt x="15721" y="76384"/>
                      <a:pt x="59741" y="38653"/>
                    </a:cubicBezTo>
                    <a:cubicBezTo>
                      <a:pt x="103761" y="922"/>
                      <a:pt x="169790" y="-2223"/>
                      <a:pt x="257829" y="922"/>
                    </a:cubicBezTo>
                    <a:lnTo>
                      <a:pt x="257829" y="32364"/>
                    </a:lnTo>
                    <a:cubicBezTo>
                      <a:pt x="163502" y="32364"/>
                      <a:pt x="110049" y="35509"/>
                      <a:pt x="78607" y="63807"/>
                    </a:cubicBezTo>
                    <a:cubicBezTo>
                      <a:pt x="40875" y="95250"/>
                      <a:pt x="34587" y="139269"/>
                      <a:pt x="31443" y="154991"/>
                    </a:cubicBezTo>
                    <a:lnTo>
                      <a:pt x="31443" y="299626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19" name="Группа 400">
            <a:extLst>
              <a:ext uri="{FF2B5EF4-FFF2-40B4-BE49-F238E27FC236}">
                <a16:creationId xmlns:a16="http://schemas.microsoft.com/office/drawing/2014/main" id="{DEDF7EC1-DF67-4529-892F-B305A0F6513B}"/>
              </a:ext>
            </a:extLst>
          </p:cNvPr>
          <p:cNvGrpSpPr>
            <a:grpSpLocks noChangeAspect="1"/>
          </p:cNvGrpSpPr>
          <p:nvPr/>
        </p:nvGrpSpPr>
        <p:grpSpPr>
          <a:xfrm>
            <a:off x="7099019" y="3098539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120" name="Freeform 41">
              <a:extLst>
                <a:ext uri="{FF2B5EF4-FFF2-40B4-BE49-F238E27FC236}">
                  <a16:creationId xmlns:a16="http://schemas.microsoft.com/office/drawing/2014/main" id="{A8E8FB7C-C76B-440C-9F31-2239DDFD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1" name="Rectangle 42">
              <a:extLst>
                <a:ext uri="{FF2B5EF4-FFF2-40B4-BE49-F238E27FC236}">
                  <a16:creationId xmlns:a16="http://schemas.microsoft.com/office/drawing/2014/main" id="{EAD79F30-F674-4C37-AA69-18EFC2E9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2" name="Rectangle 43">
              <a:extLst>
                <a:ext uri="{FF2B5EF4-FFF2-40B4-BE49-F238E27FC236}">
                  <a16:creationId xmlns:a16="http://schemas.microsoft.com/office/drawing/2014/main" id="{3D00C755-E15B-4FFE-826A-B975E4A6C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23" name="Группа 400">
            <a:extLst>
              <a:ext uri="{FF2B5EF4-FFF2-40B4-BE49-F238E27FC236}">
                <a16:creationId xmlns:a16="http://schemas.microsoft.com/office/drawing/2014/main" id="{1D5782FB-645C-494A-A3F6-01B237B2CCA7}"/>
              </a:ext>
            </a:extLst>
          </p:cNvPr>
          <p:cNvGrpSpPr>
            <a:grpSpLocks noChangeAspect="1"/>
          </p:cNvGrpSpPr>
          <p:nvPr/>
        </p:nvGrpSpPr>
        <p:grpSpPr>
          <a:xfrm>
            <a:off x="7086986" y="4098594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124" name="Freeform 41">
              <a:extLst>
                <a:ext uri="{FF2B5EF4-FFF2-40B4-BE49-F238E27FC236}">
                  <a16:creationId xmlns:a16="http://schemas.microsoft.com/office/drawing/2014/main" id="{D38CD580-CCCC-40EF-973B-F61506BD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5" name="Rectangle 42">
              <a:extLst>
                <a:ext uri="{FF2B5EF4-FFF2-40B4-BE49-F238E27FC236}">
                  <a16:creationId xmlns:a16="http://schemas.microsoft.com/office/drawing/2014/main" id="{45424202-6D32-4087-87CD-C5ECB9D8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6" name="Rectangle 43">
              <a:extLst>
                <a:ext uri="{FF2B5EF4-FFF2-40B4-BE49-F238E27FC236}">
                  <a16:creationId xmlns:a16="http://schemas.microsoft.com/office/drawing/2014/main" id="{F9721D5C-575D-4AE0-9E62-19A61E31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27" name="Группа 400">
            <a:extLst>
              <a:ext uri="{FF2B5EF4-FFF2-40B4-BE49-F238E27FC236}">
                <a16:creationId xmlns:a16="http://schemas.microsoft.com/office/drawing/2014/main" id="{26161A4F-A28B-4B2D-8DA7-BD954BFEB303}"/>
              </a:ext>
            </a:extLst>
          </p:cNvPr>
          <p:cNvGrpSpPr>
            <a:grpSpLocks noChangeAspect="1"/>
          </p:cNvGrpSpPr>
          <p:nvPr/>
        </p:nvGrpSpPr>
        <p:grpSpPr>
          <a:xfrm>
            <a:off x="7099680" y="5015492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128" name="Freeform 41">
              <a:extLst>
                <a:ext uri="{FF2B5EF4-FFF2-40B4-BE49-F238E27FC236}">
                  <a16:creationId xmlns:a16="http://schemas.microsoft.com/office/drawing/2014/main" id="{EFD73131-61CF-4E5A-AFD8-7AB3F3F6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9" name="Rectangle 42">
              <a:extLst>
                <a:ext uri="{FF2B5EF4-FFF2-40B4-BE49-F238E27FC236}">
                  <a16:creationId xmlns:a16="http://schemas.microsoft.com/office/drawing/2014/main" id="{8A86F624-4D03-42F5-8F4D-ABC48281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5D9D81CB-5D98-4836-96FE-7CC62773E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31" name="Группа 400">
            <a:extLst>
              <a:ext uri="{FF2B5EF4-FFF2-40B4-BE49-F238E27FC236}">
                <a16:creationId xmlns:a16="http://schemas.microsoft.com/office/drawing/2014/main" id="{70A61F8C-0110-48FE-888E-E313D86F5D0A}"/>
              </a:ext>
            </a:extLst>
          </p:cNvPr>
          <p:cNvGrpSpPr>
            <a:grpSpLocks noChangeAspect="1"/>
          </p:cNvGrpSpPr>
          <p:nvPr/>
        </p:nvGrpSpPr>
        <p:grpSpPr>
          <a:xfrm>
            <a:off x="7072756" y="5699015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132" name="Freeform 41">
              <a:extLst>
                <a:ext uri="{FF2B5EF4-FFF2-40B4-BE49-F238E27FC236}">
                  <a16:creationId xmlns:a16="http://schemas.microsoft.com/office/drawing/2014/main" id="{865E91A8-1F1B-4857-BF65-F6E80A3D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33" name="Rectangle 42">
              <a:extLst>
                <a:ext uri="{FF2B5EF4-FFF2-40B4-BE49-F238E27FC236}">
                  <a16:creationId xmlns:a16="http://schemas.microsoft.com/office/drawing/2014/main" id="{9D3E0D91-6209-4105-8F2C-AC159401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34" name="Rectangle 43">
              <a:extLst>
                <a:ext uri="{FF2B5EF4-FFF2-40B4-BE49-F238E27FC236}">
                  <a16:creationId xmlns:a16="http://schemas.microsoft.com/office/drawing/2014/main" id="{142299F7-9827-47B9-A690-95EB68C3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35" name="Group 260">
            <a:extLst>
              <a:ext uri="{FF2B5EF4-FFF2-40B4-BE49-F238E27FC236}">
                <a16:creationId xmlns:a16="http://schemas.microsoft.com/office/drawing/2014/main" id="{DE1C0D65-D816-40E0-BD6D-FEC442EF407F}"/>
              </a:ext>
            </a:extLst>
          </p:cNvPr>
          <p:cNvGrpSpPr/>
          <p:nvPr/>
        </p:nvGrpSpPr>
        <p:grpSpPr>
          <a:xfrm>
            <a:off x="8738946" y="1198256"/>
            <a:ext cx="2685049" cy="577146"/>
            <a:chOff x="9448288" y="1331617"/>
            <a:chExt cx="2115358" cy="577146"/>
          </a:xfrm>
        </p:grpSpPr>
        <p:sp>
          <p:nvSpPr>
            <p:cNvPr id="136" name="Rectangle 251">
              <a:extLst>
                <a:ext uri="{FF2B5EF4-FFF2-40B4-BE49-F238E27FC236}">
                  <a16:creationId xmlns:a16="http://schemas.microsoft.com/office/drawing/2014/main" id="{6D8CC7B4-1BA0-44EE-BBEF-7AB69A32E45A}"/>
                </a:ext>
              </a:extLst>
            </p:cNvPr>
            <p:cNvSpPr/>
            <p:nvPr/>
          </p:nvSpPr>
          <p:spPr>
            <a:xfrm>
              <a:off x="9635561" y="1331617"/>
              <a:ext cx="192808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D70EF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Проверить соответствие систем установленным бизнес-целям и ожиданиям пользователей</a:t>
              </a:r>
            </a:p>
          </p:txBody>
        </p:sp>
        <p:grpSp>
          <p:nvGrpSpPr>
            <p:cNvPr id="137" name="Группа 105">
              <a:extLst>
                <a:ext uri="{FF2B5EF4-FFF2-40B4-BE49-F238E27FC236}">
                  <a16:creationId xmlns:a16="http://schemas.microsoft.com/office/drawing/2014/main" id="{49820919-E354-4C02-9300-98BD5B0AEC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48288" y="1420974"/>
              <a:ext cx="134248" cy="170805"/>
              <a:chOff x="5133962" y="904822"/>
              <a:chExt cx="694248" cy="883294"/>
            </a:xfrm>
          </p:grpSpPr>
          <p:sp>
            <p:nvSpPr>
              <p:cNvPr id="138" name="Полилиния: фигура 81">
                <a:extLst>
                  <a:ext uri="{FF2B5EF4-FFF2-40B4-BE49-F238E27FC236}">
                    <a16:creationId xmlns:a16="http://schemas.microsoft.com/office/drawing/2014/main" id="{A978C1C5-B719-40BD-AF77-8613681932FC}"/>
                  </a:ext>
                </a:extLst>
              </p:cNvPr>
              <p:cNvSpPr/>
              <p:nvPr/>
            </p:nvSpPr>
            <p:spPr>
              <a:xfrm>
                <a:off x="5133962" y="904822"/>
                <a:ext cx="550836" cy="860478"/>
              </a:xfrm>
              <a:custGeom>
                <a:avLst/>
                <a:gdLst>
                  <a:gd name="connsiteX0" fmla="*/ 237935 w 550836"/>
                  <a:gd name="connsiteY0" fmla="*/ 860479 h 860478"/>
                  <a:gd name="connsiteX1" fmla="*/ 208601 w 550836"/>
                  <a:gd name="connsiteY1" fmla="*/ 853960 h 860478"/>
                  <a:gd name="connsiteX2" fmla="*/ 97782 w 550836"/>
                  <a:gd name="connsiteY2" fmla="*/ 811588 h 860478"/>
                  <a:gd name="connsiteX3" fmla="*/ 9778 w 550836"/>
                  <a:gd name="connsiteY3" fmla="*/ 756178 h 860478"/>
                  <a:gd name="connsiteX4" fmla="*/ 0 w 550836"/>
                  <a:gd name="connsiteY4" fmla="*/ 749659 h 860478"/>
                  <a:gd name="connsiteX5" fmla="*/ 91263 w 550836"/>
                  <a:gd name="connsiteY5" fmla="*/ 554096 h 860478"/>
                  <a:gd name="connsiteX6" fmla="*/ 107560 w 550836"/>
                  <a:gd name="connsiteY6" fmla="*/ 567134 h 860478"/>
                  <a:gd name="connsiteX7" fmla="*/ 176007 w 550836"/>
                  <a:gd name="connsiteY7" fmla="*/ 612765 h 860478"/>
                  <a:gd name="connsiteX8" fmla="*/ 244454 w 550836"/>
                  <a:gd name="connsiteY8" fmla="*/ 642100 h 860478"/>
                  <a:gd name="connsiteX9" fmla="*/ 306382 w 550836"/>
                  <a:gd name="connsiteY9" fmla="*/ 651878 h 860478"/>
                  <a:gd name="connsiteX10" fmla="*/ 387867 w 550836"/>
                  <a:gd name="connsiteY10" fmla="*/ 638840 h 860478"/>
                  <a:gd name="connsiteX11" fmla="*/ 433498 w 550836"/>
                  <a:gd name="connsiteY11" fmla="*/ 606246 h 860478"/>
                  <a:gd name="connsiteX12" fmla="*/ 449795 w 550836"/>
                  <a:gd name="connsiteY12" fmla="*/ 550837 h 860478"/>
                  <a:gd name="connsiteX13" fmla="*/ 430239 w 550836"/>
                  <a:gd name="connsiteY13" fmla="*/ 495427 h 860478"/>
                  <a:gd name="connsiteX14" fmla="*/ 378089 w 550836"/>
                  <a:gd name="connsiteY14" fmla="*/ 462833 h 860478"/>
                  <a:gd name="connsiteX15" fmla="*/ 237935 w 550836"/>
                  <a:gd name="connsiteY15" fmla="*/ 456314 h 860478"/>
                  <a:gd name="connsiteX16" fmla="*/ 162969 w 550836"/>
                  <a:gd name="connsiteY16" fmla="*/ 472611 h 860478"/>
                  <a:gd name="connsiteX17" fmla="*/ 84744 w 550836"/>
                  <a:gd name="connsiteY17" fmla="*/ 505205 h 860478"/>
                  <a:gd name="connsiteX18" fmla="*/ 52150 w 550836"/>
                  <a:gd name="connsiteY18" fmla="*/ 521502 h 860478"/>
                  <a:gd name="connsiteX19" fmla="*/ 176007 w 550836"/>
                  <a:gd name="connsiteY19" fmla="*/ 0 h 860478"/>
                  <a:gd name="connsiteX20" fmla="*/ 550836 w 550836"/>
                  <a:gd name="connsiteY20" fmla="*/ 0 h 860478"/>
                  <a:gd name="connsiteX21" fmla="*/ 550836 w 550836"/>
                  <a:gd name="connsiteY21" fmla="*/ 32594 h 860478"/>
                  <a:gd name="connsiteX22" fmla="*/ 202082 w 550836"/>
                  <a:gd name="connsiteY22" fmla="*/ 32594 h 860478"/>
                  <a:gd name="connsiteX23" fmla="*/ 97782 w 550836"/>
                  <a:gd name="connsiteY23" fmla="*/ 462833 h 860478"/>
                  <a:gd name="connsiteX24" fmla="*/ 153191 w 550836"/>
                  <a:gd name="connsiteY24" fmla="*/ 443277 h 860478"/>
                  <a:gd name="connsiteX25" fmla="*/ 234676 w 550836"/>
                  <a:gd name="connsiteY25" fmla="*/ 426980 h 860478"/>
                  <a:gd name="connsiteX26" fmla="*/ 387867 w 550836"/>
                  <a:gd name="connsiteY26" fmla="*/ 436758 h 860478"/>
                  <a:gd name="connsiteX27" fmla="*/ 453055 w 550836"/>
                  <a:gd name="connsiteY27" fmla="*/ 479130 h 860478"/>
                  <a:gd name="connsiteX28" fmla="*/ 479130 w 550836"/>
                  <a:gd name="connsiteY28" fmla="*/ 557356 h 860478"/>
                  <a:gd name="connsiteX29" fmla="*/ 456314 w 550836"/>
                  <a:gd name="connsiteY29" fmla="*/ 632321 h 860478"/>
                  <a:gd name="connsiteX30" fmla="*/ 394386 w 550836"/>
                  <a:gd name="connsiteY30" fmla="*/ 677953 h 860478"/>
                  <a:gd name="connsiteX31" fmla="*/ 303123 w 550836"/>
                  <a:gd name="connsiteY31" fmla="*/ 690991 h 860478"/>
                  <a:gd name="connsiteX32" fmla="*/ 231416 w 550836"/>
                  <a:gd name="connsiteY32" fmla="*/ 677953 h 860478"/>
                  <a:gd name="connsiteX33" fmla="*/ 156451 w 550836"/>
                  <a:gd name="connsiteY33" fmla="*/ 645359 h 860478"/>
                  <a:gd name="connsiteX34" fmla="*/ 101041 w 550836"/>
                  <a:gd name="connsiteY34" fmla="*/ 609506 h 860478"/>
                  <a:gd name="connsiteX35" fmla="*/ 39113 w 550836"/>
                  <a:gd name="connsiteY35" fmla="*/ 743141 h 860478"/>
                  <a:gd name="connsiteX36" fmla="*/ 110819 w 550836"/>
                  <a:gd name="connsiteY36" fmla="*/ 785513 h 860478"/>
                  <a:gd name="connsiteX37" fmla="*/ 215119 w 550836"/>
                  <a:gd name="connsiteY37" fmla="*/ 824625 h 860478"/>
                  <a:gd name="connsiteX38" fmla="*/ 241195 w 550836"/>
                  <a:gd name="connsiteY38" fmla="*/ 831144 h 860478"/>
                  <a:gd name="connsiteX39" fmla="*/ 237935 w 550836"/>
                  <a:gd name="connsiteY39" fmla="*/ 860479 h 86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50836" h="860478">
                    <a:moveTo>
                      <a:pt x="237935" y="860479"/>
                    </a:moveTo>
                    <a:cubicBezTo>
                      <a:pt x="228157" y="857219"/>
                      <a:pt x="218379" y="857219"/>
                      <a:pt x="208601" y="853960"/>
                    </a:cubicBezTo>
                    <a:cubicBezTo>
                      <a:pt x="169488" y="844182"/>
                      <a:pt x="130375" y="831144"/>
                      <a:pt x="97782" y="811588"/>
                    </a:cubicBezTo>
                    <a:cubicBezTo>
                      <a:pt x="65188" y="795291"/>
                      <a:pt x="35853" y="775735"/>
                      <a:pt x="9778" y="756178"/>
                    </a:cubicBezTo>
                    <a:lnTo>
                      <a:pt x="0" y="749659"/>
                    </a:lnTo>
                    <a:lnTo>
                      <a:pt x="91263" y="554096"/>
                    </a:lnTo>
                    <a:lnTo>
                      <a:pt x="107560" y="567134"/>
                    </a:lnTo>
                    <a:cubicBezTo>
                      <a:pt x="130375" y="586690"/>
                      <a:pt x="153191" y="599728"/>
                      <a:pt x="176007" y="612765"/>
                    </a:cubicBezTo>
                    <a:cubicBezTo>
                      <a:pt x="198823" y="625803"/>
                      <a:pt x="221638" y="635581"/>
                      <a:pt x="244454" y="642100"/>
                    </a:cubicBezTo>
                    <a:cubicBezTo>
                      <a:pt x="267270" y="648618"/>
                      <a:pt x="286826" y="651878"/>
                      <a:pt x="306382" y="651878"/>
                    </a:cubicBezTo>
                    <a:cubicBezTo>
                      <a:pt x="338976" y="651878"/>
                      <a:pt x="365051" y="648618"/>
                      <a:pt x="387867" y="638840"/>
                    </a:cubicBezTo>
                    <a:cubicBezTo>
                      <a:pt x="407423" y="632321"/>
                      <a:pt x="423720" y="619284"/>
                      <a:pt x="433498" y="606246"/>
                    </a:cubicBezTo>
                    <a:cubicBezTo>
                      <a:pt x="443276" y="589949"/>
                      <a:pt x="449795" y="573652"/>
                      <a:pt x="449795" y="550837"/>
                    </a:cubicBezTo>
                    <a:cubicBezTo>
                      <a:pt x="449795" y="528021"/>
                      <a:pt x="443276" y="508465"/>
                      <a:pt x="430239" y="495427"/>
                    </a:cubicBezTo>
                    <a:cubicBezTo>
                      <a:pt x="417201" y="482390"/>
                      <a:pt x="400904" y="469352"/>
                      <a:pt x="378089" y="462833"/>
                    </a:cubicBezTo>
                    <a:cubicBezTo>
                      <a:pt x="338976" y="449796"/>
                      <a:pt x="293345" y="449796"/>
                      <a:pt x="237935" y="456314"/>
                    </a:cubicBezTo>
                    <a:cubicBezTo>
                      <a:pt x="215119" y="459574"/>
                      <a:pt x="189044" y="462833"/>
                      <a:pt x="162969" y="472611"/>
                    </a:cubicBezTo>
                    <a:cubicBezTo>
                      <a:pt x="136894" y="479130"/>
                      <a:pt x="110819" y="488908"/>
                      <a:pt x="84744" y="505205"/>
                    </a:cubicBezTo>
                    <a:lnTo>
                      <a:pt x="52150" y="521502"/>
                    </a:lnTo>
                    <a:lnTo>
                      <a:pt x="176007" y="0"/>
                    </a:lnTo>
                    <a:lnTo>
                      <a:pt x="550836" y="0"/>
                    </a:lnTo>
                    <a:lnTo>
                      <a:pt x="550836" y="32594"/>
                    </a:lnTo>
                    <a:lnTo>
                      <a:pt x="202082" y="32594"/>
                    </a:lnTo>
                    <a:lnTo>
                      <a:pt x="97782" y="462833"/>
                    </a:lnTo>
                    <a:cubicBezTo>
                      <a:pt x="117338" y="456314"/>
                      <a:pt x="133635" y="449796"/>
                      <a:pt x="153191" y="443277"/>
                    </a:cubicBezTo>
                    <a:cubicBezTo>
                      <a:pt x="179266" y="436758"/>
                      <a:pt x="208601" y="430239"/>
                      <a:pt x="234676" y="426980"/>
                    </a:cubicBezTo>
                    <a:cubicBezTo>
                      <a:pt x="296604" y="420461"/>
                      <a:pt x="342236" y="420461"/>
                      <a:pt x="387867" y="436758"/>
                    </a:cubicBezTo>
                    <a:cubicBezTo>
                      <a:pt x="413942" y="446536"/>
                      <a:pt x="436758" y="459574"/>
                      <a:pt x="453055" y="479130"/>
                    </a:cubicBezTo>
                    <a:cubicBezTo>
                      <a:pt x="472611" y="498687"/>
                      <a:pt x="479130" y="524762"/>
                      <a:pt x="479130" y="557356"/>
                    </a:cubicBezTo>
                    <a:cubicBezTo>
                      <a:pt x="479130" y="586690"/>
                      <a:pt x="472611" y="612765"/>
                      <a:pt x="456314" y="632321"/>
                    </a:cubicBezTo>
                    <a:cubicBezTo>
                      <a:pt x="443276" y="651878"/>
                      <a:pt x="420461" y="668175"/>
                      <a:pt x="394386" y="677953"/>
                    </a:cubicBezTo>
                    <a:cubicBezTo>
                      <a:pt x="368311" y="687731"/>
                      <a:pt x="338976" y="690991"/>
                      <a:pt x="303123" y="690991"/>
                    </a:cubicBezTo>
                    <a:cubicBezTo>
                      <a:pt x="283567" y="690991"/>
                      <a:pt x="257491" y="687731"/>
                      <a:pt x="231416" y="677953"/>
                    </a:cubicBezTo>
                    <a:cubicBezTo>
                      <a:pt x="205341" y="671434"/>
                      <a:pt x="182526" y="658397"/>
                      <a:pt x="156451" y="645359"/>
                    </a:cubicBezTo>
                    <a:cubicBezTo>
                      <a:pt x="136894" y="635581"/>
                      <a:pt x="117338" y="622543"/>
                      <a:pt x="101041" y="609506"/>
                    </a:cubicBezTo>
                    <a:lnTo>
                      <a:pt x="39113" y="743141"/>
                    </a:lnTo>
                    <a:cubicBezTo>
                      <a:pt x="61928" y="759438"/>
                      <a:pt x="84744" y="772475"/>
                      <a:pt x="110819" y="785513"/>
                    </a:cubicBezTo>
                    <a:cubicBezTo>
                      <a:pt x="140154" y="801810"/>
                      <a:pt x="176007" y="814847"/>
                      <a:pt x="215119" y="824625"/>
                    </a:cubicBezTo>
                    <a:cubicBezTo>
                      <a:pt x="224898" y="827885"/>
                      <a:pt x="231416" y="827885"/>
                      <a:pt x="241195" y="831144"/>
                    </a:cubicBezTo>
                    <a:lnTo>
                      <a:pt x="237935" y="860479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39" name="Полилиния: фигура 82">
                <a:extLst>
                  <a:ext uri="{FF2B5EF4-FFF2-40B4-BE49-F238E27FC236}">
                    <a16:creationId xmlns:a16="http://schemas.microsoft.com/office/drawing/2014/main" id="{BDEFF326-42CD-4B95-86E1-9DE8D792182E}"/>
                  </a:ext>
                </a:extLst>
              </p:cNvPr>
              <p:cNvSpPr/>
              <p:nvPr/>
            </p:nvSpPr>
            <p:spPr>
              <a:xfrm>
                <a:off x="5397972" y="904822"/>
                <a:ext cx="430238" cy="853959"/>
              </a:xfrm>
              <a:custGeom>
                <a:avLst/>
                <a:gdLst>
                  <a:gd name="connsiteX0" fmla="*/ 202082 w 430238"/>
                  <a:gd name="connsiteY0" fmla="*/ 853960 h 853959"/>
                  <a:gd name="connsiteX1" fmla="*/ 195563 w 430238"/>
                  <a:gd name="connsiteY1" fmla="*/ 821366 h 853959"/>
                  <a:gd name="connsiteX2" fmla="*/ 202082 w 430238"/>
                  <a:gd name="connsiteY2" fmla="*/ 821366 h 853959"/>
                  <a:gd name="connsiteX3" fmla="*/ 303123 w 430238"/>
                  <a:gd name="connsiteY3" fmla="*/ 772475 h 853959"/>
                  <a:gd name="connsiteX4" fmla="*/ 374829 w 430238"/>
                  <a:gd name="connsiteY4" fmla="*/ 690991 h 853959"/>
                  <a:gd name="connsiteX5" fmla="*/ 400904 w 430238"/>
                  <a:gd name="connsiteY5" fmla="*/ 573652 h 853959"/>
                  <a:gd name="connsiteX6" fmla="*/ 368311 w 430238"/>
                  <a:gd name="connsiteY6" fmla="*/ 436758 h 853959"/>
                  <a:gd name="connsiteX7" fmla="*/ 283567 w 430238"/>
                  <a:gd name="connsiteY7" fmla="*/ 352014 h 853959"/>
                  <a:gd name="connsiteX8" fmla="*/ 169488 w 430238"/>
                  <a:gd name="connsiteY8" fmla="*/ 322680 h 853959"/>
                  <a:gd name="connsiteX9" fmla="*/ 97782 w 430238"/>
                  <a:gd name="connsiteY9" fmla="*/ 329198 h 853959"/>
                  <a:gd name="connsiteX10" fmla="*/ 32594 w 430238"/>
                  <a:gd name="connsiteY10" fmla="*/ 348755 h 853959"/>
                  <a:gd name="connsiteX11" fmla="*/ 0 w 430238"/>
                  <a:gd name="connsiteY11" fmla="*/ 365052 h 853959"/>
                  <a:gd name="connsiteX12" fmla="*/ 61928 w 430238"/>
                  <a:gd name="connsiteY12" fmla="*/ 172748 h 853959"/>
                  <a:gd name="connsiteX13" fmla="*/ 384608 w 430238"/>
                  <a:gd name="connsiteY13" fmla="*/ 172748 h 853959"/>
                  <a:gd name="connsiteX14" fmla="*/ 384608 w 430238"/>
                  <a:gd name="connsiteY14" fmla="*/ 32594 h 853959"/>
                  <a:gd name="connsiteX15" fmla="*/ 283567 w 430238"/>
                  <a:gd name="connsiteY15" fmla="*/ 32594 h 853959"/>
                  <a:gd name="connsiteX16" fmla="*/ 283567 w 430238"/>
                  <a:gd name="connsiteY16" fmla="*/ 0 h 853959"/>
                  <a:gd name="connsiteX17" fmla="*/ 417201 w 430238"/>
                  <a:gd name="connsiteY17" fmla="*/ 0 h 853959"/>
                  <a:gd name="connsiteX18" fmla="*/ 417201 w 430238"/>
                  <a:gd name="connsiteY18" fmla="*/ 205342 h 853959"/>
                  <a:gd name="connsiteX19" fmla="*/ 81485 w 430238"/>
                  <a:gd name="connsiteY19" fmla="*/ 205342 h 853959"/>
                  <a:gd name="connsiteX20" fmla="*/ 48891 w 430238"/>
                  <a:gd name="connsiteY20" fmla="*/ 306383 h 853959"/>
                  <a:gd name="connsiteX21" fmla="*/ 88003 w 430238"/>
                  <a:gd name="connsiteY21" fmla="*/ 296604 h 853959"/>
                  <a:gd name="connsiteX22" fmla="*/ 166229 w 430238"/>
                  <a:gd name="connsiteY22" fmla="*/ 290086 h 853959"/>
                  <a:gd name="connsiteX23" fmla="*/ 296604 w 430238"/>
                  <a:gd name="connsiteY23" fmla="*/ 322680 h 853959"/>
                  <a:gd name="connsiteX24" fmla="*/ 394386 w 430238"/>
                  <a:gd name="connsiteY24" fmla="*/ 420461 h 853959"/>
                  <a:gd name="connsiteX25" fmla="*/ 430239 w 430238"/>
                  <a:gd name="connsiteY25" fmla="*/ 573652 h 853959"/>
                  <a:gd name="connsiteX26" fmla="*/ 400904 w 430238"/>
                  <a:gd name="connsiteY26" fmla="*/ 707287 h 853959"/>
                  <a:gd name="connsiteX27" fmla="*/ 319420 w 430238"/>
                  <a:gd name="connsiteY27" fmla="*/ 798550 h 853959"/>
                  <a:gd name="connsiteX28" fmla="*/ 208601 w 430238"/>
                  <a:gd name="connsiteY28" fmla="*/ 850701 h 853959"/>
                  <a:gd name="connsiteX29" fmla="*/ 202082 w 430238"/>
                  <a:gd name="connsiteY29" fmla="*/ 853960 h 85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0238" h="853959">
                    <a:moveTo>
                      <a:pt x="202082" y="853960"/>
                    </a:moveTo>
                    <a:lnTo>
                      <a:pt x="195563" y="821366"/>
                    </a:lnTo>
                    <a:lnTo>
                      <a:pt x="202082" y="821366"/>
                    </a:lnTo>
                    <a:cubicBezTo>
                      <a:pt x="237935" y="811588"/>
                      <a:pt x="273788" y="795291"/>
                      <a:pt x="303123" y="772475"/>
                    </a:cubicBezTo>
                    <a:cubicBezTo>
                      <a:pt x="332457" y="752919"/>
                      <a:pt x="358532" y="723584"/>
                      <a:pt x="374829" y="690991"/>
                    </a:cubicBezTo>
                    <a:cubicBezTo>
                      <a:pt x="391126" y="658397"/>
                      <a:pt x="400904" y="619284"/>
                      <a:pt x="400904" y="573652"/>
                    </a:cubicBezTo>
                    <a:cubicBezTo>
                      <a:pt x="400904" y="518243"/>
                      <a:pt x="391126" y="472611"/>
                      <a:pt x="368311" y="436758"/>
                    </a:cubicBezTo>
                    <a:cubicBezTo>
                      <a:pt x="345495" y="400905"/>
                      <a:pt x="316160" y="371570"/>
                      <a:pt x="283567" y="352014"/>
                    </a:cubicBezTo>
                    <a:cubicBezTo>
                      <a:pt x="247713" y="332458"/>
                      <a:pt x="208601" y="322680"/>
                      <a:pt x="169488" y="322680"/>
                    </a:cubicBezTo>
                    <a:cubicBezTo>
                      <a:pt x="143413" y="322680"/>
                      <a:pt x="120597" y="325939"/>
                      <a:pt x="97782" y="329198"/>
                    </a:cubicBezTo>
                    <a:cubicBezTo>
                      <a:pt x="74966" y="332458"/>
                      <a:pt x="52150" y="338976"/>
                      <a:pt x="32594" y="348755"/>
                    </a:cubicBezTo>
                    <a:lnTo>
                      <a:pt x="0" y="365052"/>
                    </a:lnTo>
                    <a:lnTo>
                      <a:pt x="61928" y="172748"/>
                    </a:lnTo>
                    <a:lnTo>
                      <a:pt x="384608" y="172748"/>
                    </a:lnTo>
                    <a:lnTo>
                      <a:pt x="384608" y="32594"/>
                    </a:lnTo>
                    <a:lnTo>
                      <a:pt x="283567" y="32594"/>
                    </a:lnTo>
                    <a:lnTo>
                      <a:pt x="283567" y="0"/>
                    </a:lnTo>
                    <a:lnTo>
                      <a:pt x="417201" y="0"/>
                    </a:lnTo>
                    <a:lnTo>
                      <a:pt x="417201" y="205342"/>
                    </a:lnTo>
                    <a:lnTo>
                      <a:pt x="81485" y="205342"/>
                    </a:lnTo>
                    <a:lnTo>
                      <a:pt x="48891" y="306383"/>
                    </a:lnTo>
                    <a:cubicBezTo>
                      <a:pt x="61928" y="303123"/>
                      <a:pt x="74966" y="299864"/>
                      <a:pt x="88003" y="296604"/>
                    </a:cubicBezTo>
                    <a:cubicBezTo>
                      <a:pt x="114079" y="293345"/>
                      <a:pt x="140154" y="290086"/>
                      <a:pt x="166229" y="290086"/>
                    </a:cubicBezTo>
                    <a:cubicBezTo>
                      <a:pt x="211860" y="290086"/>
                      <a:pt x="257491" y="299864"/>
                      <a:pt x="296604" y="322680"/>
                    </a:cubicBezTo>
                    <a:cubicBezTo>
                      <a:pt x="335717" y="345495"/>
                      <a:pt x="368311" y="378089"/>
                      <a:pt x="394386" y="420461"/>
                    </a:cubicBezTo>
                    <a:cubicBezTo>
                      <a:pt x="420461" y="462833"/>
                      <a:pt x="430239" y="514983"/>
                      <a:pt x="430239" y="573652"/>
                    </a:cubicBezTo>
                    <a:cubicBezTo>
                      <a:pt x="430239" y="625803"/>
                      <a:pt x="420461" y="668175"/>
                      <a:pt x="400904" y="707287"/>
                    </a:cubicBezTo>
                    <a:cubicBezTo>
                      <a:pt x="381348" y="743141"/>
                      <a:pt x="352014" y="775735"/>
                      <a:pt x="319420" y="798550"/>
                    </a:cubicBezTo>
                    <a:cubicBezTo>
                      <a:pt x="286826" y="821366"/>
                      <a:pt x="247713" y="840922"/>
                      <a:pt x="208601" y="850701"/>
                    </a:cubicBezTo>
                    <a:lnTo>
                      <a:pt x="202082" y="853960"/>
                    </a:lnTo>
                    <a:close/>
                  </a:path>
                </a:pathLst>
              </a:custGeom>
              <a:solidFill>
                <a:srgbClr val="FFFFFF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40" name="Полилиния: фигура 83">
                <a:extLst>
                  <a:ext uri="{FF2B5EF4-FFF2-40B4-BE49-F238E27FC236}">
                    <a16:creationId xmlns:a16="http://schemas.microsoft.com/office/drawing/2014/main" id="{2D4821B6-1BDA-4394-96BE-1060D77EEBA2}"/>
                  </a:ext>
                </a:extLst>
              </p:cNvPr>
              <p:cNvSpPr/>
              <p:nvPr/>
            </p:nvSpPr>
            <p:spPr>
              <a:xfrm>
                <a:off x="5453381" y="170989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1" name="Группа 216">
            <a:extLst>
              <a:ext uri="{FF2B5EF4-FFF2-40B4-BE49-F238E27FC236}">
                <a16:creationId xmlns:a16="http://schemas.microsoft.com/office/drawing/2014/main" id="{3CF7B0C3-106F-4079-80BE-5E4C82BC942F}"/>
              </a:ext>
            </a:extLst>
          </p:cNvPr>
          <p:cNvGrpSpPr>
            <a:grpSpLocks noChangeAspect="1"/>
          </p:cNvGrpSpPr>
          <p:nvPr/>
        </p:nvGrpSpPr>
        <p:grpSpPr>
          <a:xfrm>
            <a:off x="764155" y="2986857"/>
            <a:ext cx="351884" cy="261476"/>
            <a:chOff x="8204610" y="4760474"/>
            <a:chExt cx="1085412" cy="806540"/>
          </a:xfrm>
        </p:grpSpPr>
        <p:sp>
          <p:nvSpPr>
            <p:cNvPr id="142" name="Полилиния: фигура 130">
              <a:extLst>
                <a:ext uri="{FF2B5EF4-FFF2-40B4-BE49-F238E27FC236}">
                  <a16:creationId xmlns:a16="http://schemas.microsoft.com/office/drawing/2014/main" id="{F99CF9F7-7FD8-40B5-B0A0-6B83E124280E}"/>
                </a:ext>
              </a:extLst>
            </p:cNvPr>
            <p:cNvSpPr/>
            <p:nvPr/>
          </p:nvSpPr>
          <p:spPr>
            <a:xfrm>
              <a:off x="8335844" y="4760474"/>
              <a:ext cx="814742" cy="806540"/>
            </a:xfrm>
            <a:custGeom>
              <a:avLst/>
              <a:gdLst>
                <a:gd name="connsiteX0" fmla="*/ 524935 w 814742"/>
                <a:gd name="connsiteY0" fmla="*/ 806540 h 806540"/>
                <a:gd name="connsiteX1" fmla="*/ 453850 w 814742"/>
                <a:gd name="connsiteY1" fmla="*/ 806540 h 806540"/>
                <a:gd name="connsiteX2" fmla="*/ 440179 w 814742"/>
                <a:gd name="connsiteY2" fmla="*/ 792870 h 806540"/>
                <a:gd name="connsiteX3" fmla="*/ 440179 w 814742"/>
                <a:gd name="connsiteY3" fmla="*/ 27340 h 806540"/>
                <a:gd name="connsiteX4" fmla="*/ 374563 w 814742"/>
                <a:gd name="connsiteY4" fmla="*/ 27340 h 806540"/>
                <a:gd name="connsiteX5" fmla="*/ 374563 w 814742"/>
                <a:gd name="connsiteY5" fmla="*/ 792870 h 806540"/>
                <a:gd name="connsiteX6" fmla="*/ 360893 w 814742"/>
                <a:gd name="connsiteY6" fmla="*/ 806540 h 806540"/>
                <a:gd name="connsiteX7" fmla="*/ 287074 w 814742"/>
                <a:gd name="connsiteY7" fmla="*/ 806540 h 806540"/>
                <a:gd name="connsiteX8" fmla="*/ 273404 w 814742"/>
                <a:gd name="connsiteY8" fmla="*/ 792870 h 806540"/>
                <a:gd name="connsiteX9" fmla="*/ 273404 w 814742"/>
                <a:gd name="connsiteY9" fmla="*/ 177712 h 806540"/>
                <a:gd name="connsiteX10" fmla="*/ 226925 w 814742"/>
                <a:gd name="connsiteY10" fmla="*/ 177712 h 806540"/>
                <a:gd name="connsiteX11" fmla="*/ 226925 w 814742"/>
                <a:gd name="connsiteY11" fmla="*/ 642498 h 806540"/>
                <a:gd name="connsiteX12" fmla="*/ 213255 w 814742"/>
                <a:gd name="connsiteY12" fmla="*/ 656168 h 806540"/>
                <a:gd name="connsiteX13" fmla="*/ 144904 w 814742"/>
                <a:gd name="connsiteY13" fmla="*/ 656168 h 806540"/>
                <a:gd name="connsiteX14" fmla="*/ 131234 w 814742"/>
                <a:gd name="connsiteY14" fmla="*/ 642498 h 806540"/>
                <a:gd name="connsiteX15" fmla="*/ 131234 w 814742"/>
                <a:gd name="connsiteY15" fmla="*/ 308946 h 806540"/>
                <a:gd name="connsiteX16" fmla="*/ 90223 w 814742"/>
                <a:gd name="connsiteY16" fmla="*/ 308946 h 806540"/>
                <a:gd name="connsiteX17" fmla="*/ 90223 w 814742"/>
                <a:gd name="connsiteY17" fmla="*/ 431978 h 806540"/>
                <a:gd name="connsiteX18" fmla="*/ 76553 w 814742"/>
                <a:gd name="connsiteY18" fmla="*/ 445648 h 806540"/>
                <a:gd name="connsiteX19" fmla="*/ 13670 w 814742"/>
                <a:gd name="connsiteY19" fmla="*/ 445648 h 806540"/>
                <a:gd name="connsiteX20" fmla="*/ 0 w 814742"/>
                <a:gd name="connsiteY20" fmla="*/ 431978 h 806540"/>
                <a:gd name="connsiteX21" fmla="*/ 13670 w 814742"/>
                <a:gd name="connsiteY21" fmla="*/ 418307 h 806540"/>
                <a:gd name="connsiteX22" fmla="*/ 62883 w 814742"/>
                <a:gd name="connsiteY22" fmla="*/ 418307 h 806540"/>
                <a:gd name="connsiteX23" fmla="*/ 62883 w 814742"/>
                <a:gd name="connsiteY23" fmla="*/ 295276 h 806540"/>
                <a:gd name="connsiteX24" fmla="*/ 76553 w 814742"/>
                <a:gd name="connsiteY24" fmla="*/ 281606 h 806540"/>
                <a:gd name="connsiteX25" fmla="*/ 142170 w 814742"/>
                <a:gd name="connsiteY25" fmla="*/ 281606 h 806540"/>
                <a:gd name="connsiteX26" fmla="*/ 155840 w 814742"/>
                <a:gd name="connsiteY26" fmla="*/ 295276 h 806540"/>
                <a:gd name="connsiteX27" fmla="*/ 155840 w 814742"/>
                <a:gd name="connsiteY27" fmla="*/ 628828 h 806540"/>
                <a:gd name="connsiteX28" fmla="*/ 196850 w 814742"/>
                <a:gd name="connsiteY28" fmla="*/ 628828 h 806540"/>
                <a:gd name="connsiteX29" fmla="*/ 196850 w 814742"/>
                <a:gd name="connsiteY29" fmla="*/ 164042 h 806540"/>
                <a:gd name="connsiteX30" fmla="*/ 210521 w 814742"/>
                <a:gd name="connsiteY30" fmla="*/ 150372 h 806540"/>
                <a:gd name="connsiteX31" fmla="*/ 287074 w 814742"/>
                <a:gd name="connsiteY31" fmla="*/ 150372 h 806540"/>
                <a:gd name="connsiteX32" fmla="*/ 300744 w 814742"/>
                <a:gd name="connsiteY32" fmla="*/ 164042 h 806540"/>
                <a:gd name="connsiteX33" fmla="*/ 300744 w 814742"/>
                <a:gd name="connsiteY33" fmla="*/ 779200 h 806540"/>
                <a:gd name="connsiteX34" fmla="*/ 347222 w 814742"/>
                <a:gd name="connsiteY34" fmla="*/ 779200 h 806540"/>
                <a:gd name="connsiteX35" fmla="*/ 347222 w 814742"/>
                <a:gd name="connsiteY35" fmla="*/ 13670 h 806540"/>
                <a:gd name="connsiteX36" fmla="*/ 360893 w 814742"/>
                <a:gd name="connsiteY36" fmla="*/ 0 h 806540"/>
                <a:gd name="connsiteX37" fmla="*/ 453850 w 814742"/>
                <a:gd name="connsiteY37" fmla="*/ 0 h 806540"/>
                <a:gd name="connsiteX38" fmla="*/ 467520 w 814742"/>
                <a:gd name="connsiteY38" fmla="*/ 13670 h 806540"/>
                <a:gd name="connsiteX39" fmla="*/ 467520 w 814742"/>
                <a:gd name="connsiteY39" fmla="*/ 779200 h 806540"/>
                <a:gd name="connsiteX40" fmla="*/ 511265 w 814742"/>
                <a:gd name="connsiteY40" fmla="*/ 779200 h 806540"/>
                <a:gd name="connsiteX41" fmla="*/ 511265 w 814742"/>
                <a:gd name="connsiteY41" fmla="*/ 164042 h 806540"/>
                <a:gd name="connsiteX42" fmla="*/ 524935 w 814742"/>
                <a:gd name="connsiteY42" fmla="*/ 150372 h 806540"/>
                <a:gd name="connsiteX43" fmla="*/ 601488 w 814742"/>
                <a:gd name="connsiteY43" fmla="*/ 150372 h 806540"/>
                <a:gd name="connsiteX44" fmla="*/ 615158 w 814742"/>
                <a:gd name="connsiteY44" fmla="*/ 164042 h 806540"/>
                <a:gd name="connsiteX45" fmla="*/ 615158 w 814742"/>
                <a:gd name="connsiteY45" fmla="*/ 628828 h 806540"/>
                <a:gd name="connsiteX46" fmla="*/ 658902 w 814742"/>
                <a:gd name="connsiteY46" fmla="*/ 628828 h 806540"/>
                <a:gd name="connsiteX47" fmla="*/ 658902 w 814742"/>
                <a:gd name="connsiteY47" fmla="*/ 295276 h 806540"/>
                <a:gd name="connsiteX48" fmla="*/ 672572 w 814742"/>
                <a:gd name="connsiteY48" fmla="*/ 281606 h 806540"/>
                <a:gd name="connsiteX49" fmla="*/ 738190 w 814742"/>
                <a:gd name="connsiteY49" fmla="*/ 281606 h 806540"/>
                <a:gd name="connsiteX50" fmla="*/ 751860 w 814742"/>
                <a:gd name="connsiteY50" fmla="*/ 295276 h 806540"/>
                <a:gd name="connsiteX51" fmla="*/ 751860 w 814742"/>
                <a:gd name="connsiteY51" fmla="*/ 418307 h 806540"/>
                <a:gd name="connsiteX52" fmla="*/ 801072 w 814742"/>
                <a:gd name="connsiteY52" fmla="*/ 418307 h 806540"/>
                <a:gd name="connsiteX53" fmla="*/ 814743 w 814742"/>
                <a:gd name="connsiteY53" fmla="*/ 431978 h 806540"/>
                <a:gd name="connsiteX54" fmla="*/ 801072 w 814742"/>
                <a:gd name="connsiteY54" fmla="*/ 445648 h 806540"/>
                <a:gd name="connsiteX55" fmla="*/ 738190 w 814742"/>
                <a:gd name="connsiteY55" fmla="*/ 445648 h 806540"/>
                <a:gd name="connsiteX56" fmla="*/ 724520 w 814742"/>
                <a:gd name="connsiteY56" fmla="*/ 431978 h 806540"/>
                <a:gd name="connsiteX57" fmla="*/ 724520 w 814742"/>
                <a:gd name="connsiteY57" fmla="*/ 308946 h 806540"/>
                <a:gd name="connsiteX58" fmla="*/ 686243 w 814742"/>
                <a:gd name="connsiteY58" fmla="*/ 308946 h 806540"/>
                <a:gd name="connsiteX59" fmla="*/ 686243 w 814742"/>
                <a:gd name="connsiteY59" fmla="*/ 642498 h 806540"/>
                <a:gd name="connsiteX60" fmla="*/ 672572 w 814742"/>
                <a:gd name="connsiteY60" fmla="*/ 656168 h 806540"/>
                <a:gd name="connsiteX61" fmla="*/ 601488 w 814742"/>
                <a:gd name="connsiteY61" fmla="*/ 656168 h 806540"/>
                <a:gd name="connsiteX62" fmla="*/ 587818 w 814742"/>
                <a:gd name="connsiteY62" fmla="*/ 642498 h 806540"/>
                <a:gd name="connsiteX63" fmla="*/ 587818 w 814742"/>
                <a:gd name="connsiteY63" fmla="*/ 177712 h 806540"/>
                <a:gd name="connsiteX64" fmla="*/ 538605 w 814742"/>
                <a:gd name="connsiteY64" fmla="*/ 177712 h 806540"/>
                <a:gd name="connsiteX65" fmla="*/ 538605 w 814742"/>
                <a:gd name="connsiteY65" fmla="*/ 792870 h 806540"/>
                <a:gd name="connsiteX66" fmla="*/ 524935 w 814742"/>
                <a:gd name="connsiteY66" fmla="*/ 806540 h 80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814742" h="806540">
                  <a:moveTo>
                    <a:pt x="524935" y="806540"/>
                  </a:moveTo>
                  <a:lnTo>
                    <a:pt x="453850" y="806540"/>
                  </a:lnTo>
                  <a:cubicBezTo>
                    <a:pt x="445648" y="806540"/>
                    <a:pt x="440179" y="801072"/>
                    <a:pt x="440179" y="792870"/>
                  </a:cubicBezTo>
                  <a:lnTo>
                    <a:pt x="440179" y="27340"/>
                  </a:lnTo>
                  <a:lnTo>
                    <a:pt x="374563" y="27340"/>
                  </a:lnTo>
                  <a:lnTo>
                    <a:pt x="374563" y="792870"/>
                  </a:lnTo>
                  <a:cubicBezTo>
                    <a:pt x="374563" y="801072"/>
                    <a:pt x="369095" y="806540"/>
                    <a:pt x="360893" y="806540"/>
                  </a:cubicBezTo>
                  <a:lnTo>
                    <a:pt x="287074" y="806540"/>
                  </a:lnTo>
                  <a:cubicBezTo>
                    <a:pt x="278872" y="806540"/>
                    <a:pt x="273404" y="801072"/>
                    <a:pt x="273404" y="792870"/>
                  </a:cubicBezTo>
                  <a:lnTo>
                    <a:pt x="273404" y="177712"/>
                  </a:lnTo>
                  <a:lnTo>
                    <a:pt x="226925" y="177712"/>
                  </a:lnTo>
                  <a:lnTo>
                    <a:pt x="226925" y="642498"/>
                  </a:lnTo>
                  <a:cubicBezTo>
                    <a:pt x="226925" y="650700"/>
                    <a:pt x="221457" y="656168"/>
                    <a:pt x="213255" y="656168"/>
                  </a:cubicBezTo>
                  <a:lnTo>
                    <a:pt x="144904" y="656168"/>
                  </a:lnTo>
                  <a:cubicBezTo>
                    <a:pt x="136702" y="656168"/>
                    <a:pt x="131234" y="650700"/>
                    <a:pt x="131234" y="642498"/>
                  </a:cubicBezTo>
                  <a:lnTo>
                    <a:pt x="131234" y="308946"/>
                  </a:lnTo>
                  <a:lnTo>
                    <a:pt x="90223" y="308946"/>
                  </a:lnTo>
                  <a:lnTo>
                    <a:pt x="90223" y="431978"/>
                  </a:lnTo>
                  <a:cubicBezTo>
                    <a:pt x="90223" y="440180"/>
                    <a:pt x="84755" y="445648"/>
                    <a:pt x="76553" y="445648"/>
                  </a:cubicBezTo>
                  <a:lnTo>
                    <a:pt x="13670" y="445648"/>
                  </a:lnTo>
                  <a:cubicBezTo>
                    <a:pt x="5468" y="445648"/>
                    <a:pt x="0" y="440180"/>
                    <a:pt x="0" y="431978"/>
                  </a:cubicBezTo>
                  <a:cubicBezTo>
                    <a:pt x="0" y="423775"/>
                    <a:pt x="5468" y="418307"/>
                    <a:pt x="13670" y="418307"/>
                  </a:cubicBezTo>
                  <a:lnTo>
                    <a:pt x="62883" y="418307"/>
                  </a:lnTo>
                  <a:lnTo>
                    <a:pt x="62883" y="295276"/>
                  </a:lnTo>
                  <a:cubicBezTo>
                    <a:pt x="62883" y="287074"/>
                    <a:pt x="68351" y="281606"/>
                    <a:pt x="76553" y="281606"/>
                  </a:cubicBezTo>
                  <a:lnTo>
                    <a:pt x="142170" y="281606"/>
                  </a:lnTo>
                  <a:cubicBezTo>
                    <a:pt x="150372" y="281606"/>
                    <a:pt x="155840" y="287074"/>
                    <a:pt x="155840" y="295276"/>
                  </a:cubicBezTo>
                  <a:lnTo>
                    <a:pt x="155840" y="628828"/>
                  </a:lnTo>
                  <a:lnTo>
                    <a:pt x="196850" y="628828"/>
                  </a:lnTo>
                  <a:lnTo>
                    <a:pt x="196850" y="164042"/>
                  </a:lnTo>
                  <a:cubicBezTo>
                    <a:pt x="196850" y="155840"/>
                    <a:pt x="202319" y="150372"/>
                    <a:pt x="210521" y="150372"/>
                  </a:cubicBezTo>
                  <a:lnTo>
                    <a:pt x="287074" y="150372"/>
                  </a:lnTo>
                  <a:cubicBezTo>
                    <a:pt x="295276" y="150372"/>
                    <a:pt x="300744" y="155840"/>
                    <a:pt x="300744" y="164042"/>
                  </a:cubicBezTo>
                  <a:lnTo>
                    <a:pt x="300744" y="779200"/>
                  </a:lnTo>
                  <a:lnTo>
                    <a:pt x="347222" y="779200"/>
                  </a:lnTo>
                  <a:lnTo>
                    <a:pt x="347222" y="13670"/>
                  </a:lnTo>
                  <a:cubicBezTo>
                    <a:pt x="347222" y="5468"/>
                    <a:pt x="352691" y="0"/>
                    <a:pt x="360893" y="0"/>
                  </a:cubicBezTo>
                  <a:lnTo>
                    <a:pt x="453850" y="0"/>
                  </a:lnTo>
                  <a:cubicBezTo>
                    <a:pt x="462052" y="0"/>
                    <a:pt x="467520" y="5468"/>
                    <a:pt x="467520" y="13670"/>
                  </a:cubicBezTo>
                  <a:lnTo>
                    <a:pt x="467520" y="779200"/>
                  </a:lnTo>
                  <a:lnTo>
                    <a:pt x="511265" y="779200"/>
                  </a:lnTo>
                  <a:lnTo>
                    <a:pt x="511265" y="164042"/>
                  </a:lnTo>
                  <a:cubicBezTo>
                    <a:pt x="511265" y="155840"/>
                    <a:pt x="516733" y="150372"/>
                    <a:pt x="524935" y="150372"/>
                  </a:cubicBezTo>
                  <a:lnTo>
                    <a:pt x="601488" y="150372"/>
                  </a:lnTo>
                  <a:cubicBezTo>
                    <a:pt x="609690" y="150372"/>
                    <a:pt x="615158" y="155840"/>
                    <a:pt x="615158" y="164042"/>
                  </a:cubicBezTo>
                  <a:lnTo>
                    <a:pt x="615158" y="628828"/>
                  </a:lnTo>
                  <a:lnTo>
                    <a:pt x="658902" y="628828"/>
                  </a:lnTo>
                  <a:lnTo>
                    <a:pt x="658902" y="295276"/>
                  </a:lnTo>
                  <a:cubicBezTo>
                    <a:pt x="658902" y="287074"/>
                    <a:pt x="664371" y="281606"/>
                    <a:pt x="672572" y="281606"/>
                  </a:cubicBezTo>
                  <a:lnTo>
                    <a:pt x="738190" y="281606"/>
                  </a:lnTo>
                  <a:cubicBezTo>
                    <a:pt x="746392" y="281606"/>
                    <a:pt x="751860" y="287074"/>
                    <a:pt x="751860" y="295276"/>
                  </a:cubicBezTo>
                  <a:lnTo>
                    <a:pt x="751860" y="418307"/>
                  </a:lnTo>
                  <a:lnTo>
                    <a:pt x="801072" y="418307"/>
                  </a:lnTo>
                  <a:cubicBezTo>
                    <a:pt x="809274" y="418307"/>
                    <a:pt x="814743" y="423775"/>
                    <a:pt x="814743" y="431978"/>
                  </a:cubicBezTo>
                  <a:cubicBezTo>
                    <a:pt x="814743" y="440180"/>
                    <a:pt x="809274" y="445648"/>
                    <a:pt x="801072" y="445648"/>
                  </a:cubicBezTo>
                  <a:lnTo>
                    <a:pt x="738190" y="445648"/>
                  </a:lnTo>
                  <a:cubicBezTo>
                    <a:pt x="729987" y="445648"/>
                    <a:pt x="724520" y="440180"/>
                    <a:pt x="724520" y="431978"/>
                  </a:cubicBezTo>
                  <a:lnTo>
                    <a:pt x="724520" y="308946"/>
                  </a:lnTo>
                  <a:lnTo>
                    <a:pt x="686243" y="308946"/>
                  </a:lnTo>
                  <a:lnTo>
                    <a:pt x="686243" y="642498"/>
                  </a:lnTo>
                  <a:cubicBezTo>
                    <a:pt x="686243" y="650700"/>
                    <a:pt x="680775" y="656168"/>
                    <a:pt x="672572" y="656168"/>
                  </a:cubicBezTo>
                  <a:lnTo>
                    <a:pt x="601488" y="656168"/>
                  </a:lnTo>
                  <a:cubicBezTo>
                    <a:pt x="593286" y="656168"/>
                    <a:pt x="587818" y="650700"/>
                    <a:pt x="587818" y="642498"/>
                  </a:cubicBezTo>
                  <a:lnTo>
                    <a:pt x="587818" y="177712"/>
                  </a:lnTo>
                  <a:lnTo>
                    <a:pt x="538605" y="177712"/>
                  </a:lnTo>
                  <a:lnTo>
                    <a:pt x="538605" y="792870"/>
                  </a:lnTo>
                  <a:cubicBezTo>
                    <a:pt x="538605" y="798338"/>
                    <a:pt x="533137" y="806540"/>
                    <a:pt x="524935" y="806540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62">
              <a:extLst>
                <a:ext uri="{FF2B5EF4-FFF2-40B4-BE49-F238E27FC236}">
                  <a16:creationId xmlns:a16="http://schemas.microsoft.com/office/drawing/2014/main" id="{ABBF641D-1498-4C94-8D4A-93EDA05EFC55}"/>
                </a:ext>
              </a:extLst>
            </p:cNvPr>
            <p:cNvSpPr/>
            <p:nvPr/>
          </p:nvSpPr>
          <p:spPr>
            <a:xfrm>
              <a:off x="8204610" y="5115899"/>
              <a:ext cx="144903" cy="144903"/>
            </a:xfrm>
            <a:custGeom>
              <a:avLst/>
              <a:gdLst>
                <a:gd name="connsiteX0" fmla="*/ 0 w 144903"/>
                <a:gd name="connsiteY0" fmla="*/ 0 h 144903"/>
                <a:gd name="connsiteX1" fmla="*/ 144904 w 144903"/>
                <a:gd name="connsiteY1" fmla="*/ 0 h 144903"/>
                <a:gd name="connsiteX2" fmla="*/ 144904 w 144903"/>
                <a:gd name="connsiteY2" fmla="*/ 144904 h 144903"/>
                <a:gd name="connsiteX3" fmla="*/ 0 w 144903"/>
                <a:gd name="connsiteY3" fmla="*/ 144904 h 14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903" h="144903">
                  <a:moveTo>
                    <a:pt x="0" y="0"/>
                  </a:moveTo>
                  <a:lnTo>
                    <a:pt x="144904" y="0"/>
                  </a:lnTo>
                  <a:lnTo>
                    <a:pt x="144904" y="144904"/>
                  </a:lnTo>
                  <a:lnTo>
                    <a:pt x="0" y="144904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163">
              <a:extLst>
                <a:ext uri="{FF2B5EF4-FFF2-40B4-BE49-F238E27FC236}">
                  <a16:creationId xmlns:a16="http://schemas.microsoft.com/office/drawing/2014/main" id="{600D76F5-9841-407D-B384-8EB44221891B}"/>
                </a:ext>
              </a:extLst>
            </p:cNvPr>
            <p:cNvSpPr/>
            <p:nvPr/>
          </p:nvSpPr>
          <p:spPr>
            <a:xfrm>
              <a:off x="9123246" y="5104963"/>
              <a:ext cx="166776" cy="166775"/>
            </a:xfrm>
            <a:custGeom>
              <a:avLst/>
              <a:gdLst>
                <a:gd name="connsiteX0" fmla="*/ 166776 w 166776"/>
                <a:gd name="connsiteY0" fmla="*/ 166776 h 166775"/>
                <a:gd name="connsiteX1" fmla="*/ 0 w 166776"/>
                <a:gd name="connsiteY1" fmla="*/ 166776 h 166775"/>
                <a:gd name="connsiteX2" fmla="*/ 0 w 166776"/>
                <a:gd name="connsiteY2" fmla="*/ 0 h 166775"/>
                <a:gd name="connsiteX3" fmla="*/ 166776 w 166776"/>
                <a:gd name="connsiteY3" fmla="*/ 0 h 166775"/>
                <a:gd name="connsiteX4" fmla="*/ 166776 w 166776"/>
                <a:gd name="connsiteY4" fmla="*/ 166776 h 166775"/>
                <a:gd name="connsiteX5" fmla="*/ 27340 w 166776"/>
                <a:gd name="connsiteY5" fmla="*/ 139436 h 166775"/>
                <a:gd name="connsiteX6" fmla="*/ 139436 w 166776"/>
                <a:gd name="connsiteY6" fmla="*/ 139436 h 166775"/>
                <a:gd name="connsiteX7" fmla="*/ 139436 w 166776"/>
                <a:gd name="connsiteY7" fmla="*/ 27340 h 166775"/>
                <a:gd name="connsiteX8" fmla="*/ 27340 w 166776"/>
                <a:gd name="connsiteY8" fmla="*/ 27340 h 166775"/>
                <a:gd name="connsiteX9" fmla="*/ 27340 w 166776"/>
                <a:gd name="connsiteY9" fmla="*/ 139436 h 1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776" h="166775">
                  <a:moveTo>
                    <a:pt x="166776" y="166776"/>
                  </a:moveTo>
                  <a:lnTo>
                    <a:pt x="0" y="166776"/>
                  </a:lnTo>
                  <a:lnTo>
                    <a:pt x="0" y="0"/>
                  </a:lnTo>
                  <a:lnTo>
                    <a:pt x="166776" y="0"/>
                  </a:lnTo>
                  <a:lnTo>
                    <a:pt x="166776" y="166776"/>
                  </a:lnTo>
                  <a:close/>
                  <a:moveTo>
                    <a:pt x="27340" y="139436"/>
                  </a:moveTo>
                  <a:lnTo>
                    <a:pt x="139436" y="139436"/>
                  </a:lnTo>
                  <a:lnTo>
                    <a:pt x="139436" y="27340"/>
                  </a:lnTo>
                  <a:lnTo>
                    <a:pt x="27340" y="27340"/>
                  </a:lnTo>
                  <a:lnTo>
                    <a:pt x="27340" y="139436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5" name="Группа 347">
            <a:extLst>
              <a:ext uri="{FF2B5EF4-FFF2-40B4-BE49-F238E27FC236}">
                <a16:creationId xmlns:a16="http://schemas.microsoft.com/office/drawing/2014/main" id="{26C6B9B9-D0D9-4364-BC0A-90AB216311DD}"/>
              </a:ext>
            </a:extLst>
          </p:cNvPr>
          <p:cNvGrpSpPr>
            <a:grpSpLocks noChangeAspect="1"/>
          </p:cNvGrpSpPr>
          <p:nvPr/>
        </p:nvGrpSpPr>
        <p:grpSpPr>
          <a:xfrm>
            <a:off x="733404" y="4044039"/>
            <a:ext cx="398126" cy="304856"/>
            <a:chOff x="3729558" y="761244"/>
            <a:chExt cx="1185862" cy="908049"/>
          </a:xfrm>
          <a:solidFill>
            <a:srgbClr val="000000"/>
          </a:solidFill>
        </p:grpSpPr>
        <p:sp>
          <p:nvSpPr>
            <p:cNvPr id="146" name="Freeform 18">
              <a:extLst>
                <a:ext uri="{FF2B5EF4-FFF2-40B4-BE49-F238E27FC236}">
                  <a16:creationId xmlns:a16="http://schemas.microsoft.com/office/drawing/2014/main" id="{41336D74-9C22-46EA-8E77-11F7199142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083" y="935869"/>
              <a:ext cx="750887" cy="287337"/>
            </a:xfrm>
            <a:custGeom>
              <a:avLst/>
              <a:gdLst>
                <a:gd name="T0" fmla="*/ 15 w 93"/>
                <a:gd name="T1" fmla="*/ 0 h 36"/>
                <a:gd name="T2" fmla="*/ 0 w 93"/>
                <a:gd name="T3" fmla="*/ 22 h 36"/>
                <a:gd name="T4" fmla="*/ 79 w 93"/>
                <a:gd name="T5" fmla="*/ 36 h 36"/>
                <a:gd name="T6" fmla="*/ 87 w 93"/>
                <a:gd name="T7" fmla="*/ 27 h 36"/>
                <a:gd name="T8" fmla="*/ 90 w 93"/>
                <a:gd name="T9" fmla="*/ 25 h 36"/>
                <a:gd name="T10" fmla="*/ 93 w 93"/>
                <a:gd name="T11" fmla="*/ 22 h 36"/>
                <a:gd name="T12" fmla="*/ 79 w 93"/>
                <a:gd name="T13" fmla="*/ 0 h 36"/>
                <a:gd name="T14" fmla="*/ 21 w 93"/>
                <a:gd name="T15" fmla="*/ 12 h 36"/>
                <a:gd name="T16" fmla="*/ 17 w 93"/>
                <a:gd name="T17" fmla="*/ 27 h 36"/>
                <a:gd name="T18" fmla="*/ 12 w 93"/>
                <a:gd name="T19" fmla="*/ 12 h 36"/>
                <a:gd name="T20" fmla="*/ 26 w 93"/>
                <a:gd name="T21" fmla="*/ 9 h 36"/>
                <a:gd name="T22" fmla="*/ 44 w 93"/>
                <a:gd name="T23" fmla="*/ 12 h 36"/>
                <a:gd name="T24" fmla="*/ 35 w 93"/>
                <a:gd name="T25" fmla="*/ 16 h 36"/>
                <a:gd name="T26" fmla="*/ 43 w 93"/>
                <a:gd name="T27" fmla="*/ 19 h 36"/>
                <a:gd name="T28" fmla="*/ 35 w 93"/>
                <a:gd name="T29" fmla="*/ 24 h 36"/>
                <a:gd name="T30" fmla="*/ 44 w 93"/>
                <a:gd name="T31" fmla="*/ 27 h 36"/>
                <a:gd name="T32" fmla="*/ 34 w 93"/>
                <a:gd name="T33" fmla="*/ 27 h 36"/>
                <a:gd name="T34" fmla="*/ 32 w 93"/>
                <a:gd name="T35" fmla="*/ 9 h 36"/>
                <a:gd name="T36" fmla="*/ 35 w 93"/>
                <a:gd name="T37" fmla="*/ 9 h 36"/>
                <a:gd name="T38" fmla="*/ 44 w 93"/>
                <a:gd name="T39" fmla="*/ 12 h 36"/>
                <a:gd name="T40" fmla="*/ 62 w 93"/>
                <a:gd name="T41" fmla="*/ 26 h 36"/>
                <a:gd name="T42" fmla="*/ 57 w 93"/>
                <a:gd name="T43" fmla="*/ 28 h 36"/>
                <a:gd name="T44" fmla="*/ 51 w 93"/>
                <a:gd name="T45" fmla="*/ 25 h 36"/>
                <a:gd name="T46" fmla="*/ 53 w 93"/>
                <a:gd name="T47" fmla="*/ 21 h 36"/>
                <a:gd name="T48" fmla="*/ 56 w 93"/>
                <a:gd name="T49" fmla="*/ 24 h 36"/>
                <a:gd name="T50" fmla="*/ 59 w 93"/>
                <a:gd name="T51" fmla="*/ 24 h 36"/>
                <a:gd name="T52" fmla="*/ 60 w 93"/>
                <a:gd name="T53" fmla="*/ 21 h 36"/>
                <a:gd name="T54" fmla="*/ 56 w 93"/>
                <a:gd name="T55" fmla="*/ 19 h 36"/>
                <a:gd name="T56" fmla="*/ 53 w 93"/>
                <a:gd name="T57" fmla="*/ 17 h 36"/>
                <a:gd name="T58" fmla="*/ 51 w 93"/>
                <a:gd name="T59" fmla="*/ 14 h 36"/>
                <a:gd name="T60" fmla="*/ 54 w 93"/>
                <a:gd name="T61" fmla="*/ 9 h 36"/>
                <a:gd name="T62" fmla="*/ 61 w 93"/>
                <a:gd name="T63" fmla="*/ 9 h 36"/>
                <a:gd name="T64" fmla="*/ 64 w 93"/>
                <a:gd name="T65" fmla="*/ 12 h 36"/>
                <a:gd name="T66" fmla="*/ 60 w 93"/>
                <a:gd name="T67" fmla="*/ 13 h 36"/>
                <a:gd name="T68" fmla="*/ 57 w 93"/>
                <a:gd name="T69" fmla="*/ 12 h 36"/>
                <a:gd name="T70" fmla="*/ 55 w 93"/>
                <a:gd name="T71" fmla="*/ 13 h 36"/>
                <a:gd name="T72" fmla="*/ 57 w 93"/>
                <a:gd name="T73" fmla="*/ 16 h 36"/>
                <a:gd name="T74" fmla="*/ 61 w 93"/>
                <a:gd name="T75" fmla="*/ 17 h 36"/>
                <a:gd name="T76" fmla="*/ 64 w 93"/>
                <a:gd name="T77" fmla="*/ 20 h 36"/>
                <a:gd name="T78" fmla="*/ 64 w 93"/>
                <a:gd name="T79" fmla="*/ 24 h 36"/>
                <a:gd name="T80" fmla="*/ 78 w 93"/>
                <a:gd name="T81" fmla="*/ 12 h 36"/>
                <a:gd name="T82" fmla="*/ 74 w 93"/>
                <a:gd name="T83" fmla="*/ 27 h 36"/>
                <a:gd name="T84" fmla="*/ 69 w 93"/>
                <a:gd name="T85" fmla="*/ 12 h 36"/>
                <a:gd name="T86" fmla="*/ 83 w 93"/>
                <a:gd name="T87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3" h="36">
                  <a:moveTo>
                    <a:pt x="7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0"/>
                    <a:pt x="7" y="36"/>
                    <a:pt x="15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82" y="36"/>
                    <a:pt x="85" y="35"/>
                    <a:pt x="87" y="34"/>
                  </a:cubicBezTo>
                  <a:cubicBezTo>
                    <a:pt x="87" y="31"/>
                    <a:pt x="87" y="29"/>
                    <a:pt x="87" y="27"/>
                  </a:cubicBezTo>
                  <a:cubicBezTo>
                    <a:pt x="87" y="27"/>
                    <a:pt x="87" y="26"/>
                    <a:pt x="87" y="26"/>
                  </a:cubicBezTo>
                  <a:cubicBezTo>
                    <a:pt x="87" y="25"/>
                    <a:pt x="89" y="24"/>
                    <a:pt x="90" y="25"/>
                  </a:cubicBezTo>
                  <a:cubicBezTo>
                    <a:pt x="91" y="26"/>
                    <a:pt x="91" y="27"/>
                    <a:pt x="92" y="27"/>
                  </a:cubicBezTo>
                  <a:cubicBezTo>
                    <a:pt x="93" y="26"/>
                    <a:pt x="93" y="24"/>
                    <a:pt x="93" y="22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7"/>
                    <a:pt x="87" y="0"/>
                    <a:pt x="79" y="0"/>
                  </a:cubicBezTo>
                  <a:close/>
                  <a:moveTo>
                    <a:pt x="26" y="12"/>
                  </a:moveTo>
                  <a:cubicBezTo>
                    <a:pt x="21" y="12"/>
                    <a:pt x="21" y="12"/>
                    <a:pt x="21" y="1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2"/>
                  </a:lnTo>
                  <a:close/>
                  <a:moveTo>
                    <a:pt x="44" y="12"/>
                  </a:moveTo>
                  <a:cubicBezTo>
                    <a:pt x="35" y="12"/>
                    <a:pt x="35" y="12"/>
                    <a:pt x="35" y="12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44" y="9"/>
                    <a:pt x="44" y="9"/>
                    <a:pt x="44" y="9"/>
                  </a:cubicBezTo>
                  <a:lnTo>
                    <a:pt x="44" y="12"/>
                  </a:lnTo>
                  <a:close/>
                  <a:moveTo>
                    <a:pt x="64" y="24"/>
                  </a:moveTo>
                  <a:cubicBezTo>
                    <a:pt x="63" y="25"/>
                    <a:pt x="63" y="26"/>
                    <a:pt x="62" y="26"/>
                  </a:cubicBezTo>
                  <a:cubicBezTo>
                    <a:pt x="62" y="27"/>
                    <a:pt x="61" y="27"/>
                    <a:pt x="60" y="27"/>
                  </a:cubicBezTo>
                  <a:cubicBezTo>
                    <a:pt x="59" y="28"/>
                    <a:pt x="58" y="28"/>
                    <a:pt x="57" y="28"/>
                  </a:cubicBezTo>
                  <a:cubicBezTo>
                    <a:pt x="56" y="28"/>
                    <a:pt x="55" y="27"/>
                    <a:pt x="54" y="27"/>
                  </a:cubicBezTo>
                  <a:cubicBezTo>
                    <a:pt x="53" y="27"/>
                    <a:pt x="52" y="26"/>
                    <a:pt x="51" y="25"/>
                  </a:cubicBezTo>
                  <a:cubicBezTo>
                    <a:pt x="51" y="25"/>
                    <a:pt x="50" y="24"/>
                    <a:pt x="50" y="23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2"/>
                    <a:pt x="53" y="22"/>
                    <a:pt x="54" y="23"/>
                  </a:cubicBezTo>
                  <a:cubicBezTo>
                    <a:pt x="54" y="23"/>
                    <a:pt x="55" y="24"/>
                    <a:pt x="56" y="24"/>
                  </a:cubicBezTo>
                  <a:cubicBezTo>
                    <a:pt x="56" y="24"/>
                    <a:pt x="57" y="24"/>
                    <a:pt x="57" y="24"/>
                  </a:cubicBezTo>
                  <a:cubicBezTo>
                    <a:pt x="58" y="24"/>
                    <a:pt x="59" y="24"/>
                    <a:pt x="59" y="24"/>
                  </a:cubicBezTo>
                  <a:cubicBezTo>
                    <a:pt x="60" y="23"/>
                    <a:pt x="60" y="23"/>
                    <a:pt x="60" y="22"/>
                  </a:cubicBezTo>
                  <a:cubicBezTo>
                    <a:pt x="60" y="22"/>
                    <a:pt x="60" y="21"/>
                    <a:pt x="60" y="21"/>
                  </a:cubicBezTo>
                  <a:cubicBezTo>
                    <a:pt x="59" y="21"/>
                    <a:pt x="59" y="20"/>
                    <a:pt x="58" y="20"/>
                  </a:cubicBezTo>
                  <a:cubicBezTo>
                    <a:pt x="58" y="20"/>
                    <a:pt x="57" y="19"/>
                    <a:pt x="56" y="19"/>
                  </a:cubicBezTo>
                  <a:cubicBezTo>
                    <a:pt x="56" y="19"/>
                    <a:pt x="55" y="19"/>
                    <a:pt x="54" y="18"/>
                  </a:cubicBezTo>
                  <a:cubicBezTo>
                    <a:pt x="54" y="18"/>
                    <a:pt x="53" y="18"/>
                    <a:pt x="53" y="17"/>
                  </a:cubicBezTo>
                  <a:cubicBezTo>
                    <a:pt x="52" y="17"/>
                    <a:pt x="52" y="16"/>
                    <a:pt x="51" y="16"/>
                  </a:cubicBezTo>
                  <a:cubicBezTo>
                    <a:pt x="51" y="15"/>
                    <a:pt x="51" y="14"/>
                    <a:pt x="51" y="14"/>
                  </a:cubicBezTo>
                  <a:cubicBezTo>
                    <a:pt x="51" y="13"/>
                    <a:pt x="51" y="12"/>
                    <a:pt x="52" y="11"/>
                  </a:cubicBezTo>
                  <a:cubicBezTo>
                    <a:pt x="52" y="10"/>
                    <a:pt x="53" y="10"/>
                    <a:pt x="54" y="9"/>
                  </a:cubicBezTo>
                  <a:cubicBezTo>
                    <a:pt x="55" y="9"/>
                    <a:pt x="56" y="9"/>
                    <a:pt x="57" y="9"/>
                  </a:cubicBezTo>
                  <a:cubicBezTo>
                    <a:pt x="59" y="9"/>
                    <a:pt x="60" y="9"/>
                    <a:pt x="61" y="9"/>
                  </a:cubicBezTo>
                  <a:cubicBezTo>
                    <a:pt x="61" y="9"/>
                    <a:pt x="62" y="10"/>
                    <a:pt x="63" y="11"/>
                  </a:cubicBezTo>
                  <a:cubicBezTo>
                    <a:pt x="63" y="11"/>
                    <a:pt x="64" y="12"/>
                    <a:pt x="64" y="12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0" y="13"/>
                    <a:pt x="60" y="13"/>
                  </a:cubicBezTo>
                  <a:cubicBezTo>
                    <a:pt x="60" y="13"/>
                    <a:pt x="59" y="12"/>
                    <a:pt x="59" y="12"/>
                  </a:cubicBezTo>
                  <a:cubicBezTo>
                    <a:pt x="58" y="12"/>
                    <a:pt x="58" y="12"/>
                    <a:pt x="57" y="12"/>
                  </a:cubicBezTo>
                  <a:cubicBezTo>
                    <a:pt x="57" y="12"/>
                    <a:pt x="56" y="12"/>
                    <a:pt x="56" y="12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4"/>
                    <a:pt x="55" y="14"/>
                    <a:pt x="55" y="15"/>
                  </a:cubicBezTo>
                  <a:cubicBezTo>
                    <a:pt x="56" y="15"/>
                    <a:pt x="56" y="15"/>
                    <a:pt x="57" y="16"/>
                  </a:cubicBezTo>
                  <a:cubicBezTo>
                    <a:pt x="58" y="16"/>
                    <a:pt x="58" y="16"/>
                    <a:pt x="59" y="16"/>
                  </a:cubicBezTo>
                  <a:cubicBezTo>
                    <a:pt x="60" y="17"/>
                    <a:pt x="61" y="17"/>
                    <a:pt x="61" y="17"/>
                  </a:cubicBezTo>
                  <a:cubicBezTo>
                    <a:pt x="62" y="18"/>
                    <a:pt x="62" y="18"/>
                    <a:pt x="63" y="18"/>
                  </a:cubicBezTo>
                  <a:cubicBezTo>
                    <a:pt x="63" y="19"/>
                    <a:pt x="64" y="19"/>
                    <a:pt x="64" y="20"/>
                  </a:cubicBezTo>
                  <a:cubicBezTo>
                    <a:pt x="64" y="21"/>
                    <a:pt x="64" y="21"/>
                    <a:pt x="64" y="22"/>
                  </a:cubicBezTo>
                  <a:cubicBezTo>
                    <a:pt x="64" y="23"/>
                    <a:pt x="64" y="24"/>
                    <a:pt x="64" y="24"/>
                  </a:cubicBezTo>
                  <a:close/>
                  <a:moveTo>
                    <a:pt x="83" y="12"/>
                  </a:moveTo>
                  <a:cubicBezTo>
                    <a:pt x="78" y="12"/>
                    <a:pt x="78" y="12"/>
                    <a:pt x="78" y="12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83" y="9"/>
                    <a:pt x="83" y="9"/>
                    <a:pt x="83" y="9"/>
                  </a:cubicBezTo>
                  <a:lnTo>
                    <a:pt x="8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147" name="Freeform 19">
              <a:extLst>
                <a:ext uri="{FF2B5EF4-FFF2-40B4-BE49-F238E27FC236}">
                  <a16:creationId xmlns:a16="http://schemas.microsoft.com/office/drawing/2014/main" id="{9117D568-8269-40A9-B7D7-9304DA55B1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1883" y="1112081"/>
              <a:ext cx="363537" cy="557212"/>
            </a:xfrm>
            <a:custGeom>
              <a:avLst/>
              <a:gdLst>
                <a:gd name="T0" fmla="*/ 26 w 45"/>
                <a:gd name="T1" fmla="*/ 70 h 70"/>
                <a:gd name="T2" fmla="*/ 25 w 45"/>
                <a:gd name="T3" fmla="*/ 70 h 70"/>
                <a:gd name="T4" fmla="*/ 23 w 45"/>
                <a:gd name="T5" fmla="*/ 68 h 70"/>
                <a:gd name="T6" fmla="*/ 15 w 45"/>
                <a:gd name="T7" fmla="*/ 49 h 70"/>
                <a:gd name="T8" fmla="*/ 12 w 45"/>
                <a:gd name="T9" fmla="*/ 53 h 70"/>
                <a:gd name="T10" fmla="*/ 6 w 45"/>
                <a:gd name="T11" fmla="*/ 58 h 70"/>
                <a:gd name="T12" fmla="*/ 2 w 45"/>
                <a:gd name="T13" fmla="*/ 59 h 70"/>
                <a:gd name="T14" fmla="*/ 0 w 45"/>
                <a:gd name="T15" fmla="*/ 55 h 70"/>
                <a:gd name="T16" fmla="*/ 0 w 45"/>
                <a:gd name="T17" fmla="*/ 5 h 70"/>
                <a:gd name="T18" fmla="*/ 0 w 45"/>
                <a:gd name="T19" fmla="*/ 3 h 70"/>
                <a:gd name="T20" fmla="*/ 3 w 45"/>
                <a:gd name="T21" fmla="*/ 1 h 70"/>
                <a:gd name="T22" fmla="*/ 6 w 45"/>
                <a:gd name="T23" fmla="*/ 2 h 70"/>
                <a:gd name="T24" fmla="*/ 43 w 45"/>
                <a:gd name="T25" fmla="*/ 36 h 70"/>
                <a:gd name="T26" fmla="*/ 45 w 45"/>
                <a:gd name="T27" fmla="*/ 39 h 70"/>
                <a:gd name="T28" fmla="*/ 43 w 45"/>
                <a:gd name="T29" fmla="*/ 42 h 70"/>
                <a:gd name="T30" fmla="*/ 41 w 45"/>
                <a:gd name="T31" fmla="*/ 43 h 70"/>
                <a:gd name="T32" fmla="*/ 38 w 45"/>
                <a:gd name="T33" fmla="*/ 43 h 70"/>
                <a:gd name="T34" fmla="*/ 28 w 45"/>
                <a:gd name="T35" fmla="*/ 44 h 70"/>
                <a:gd name="T36" fmla="*/ 37 w 45"/>
                <a:gd name="T37" fmla="*/ 62 h 70"/>
                <a:gd name="T38" fmla="*/ 37 w 45"/>
                <a:gd name="T39" fmla="*/ 65 h 70"/>
                <a:gd name="T40" fmla="*/ 35 w 45"/>
                <a:gd name="T41" fmla="*/ 67 h 70"/>
                <a:gd name="T42" fmla="*/ 28 w 45"/>
                <a:gd name="T43" fmla="*/ 70 h 70"/>
                <a:gd name="T44" fmla="*/ 26 w 45"/>
                <a:gd name="T45" fmla="*/ 70 h 70"/>
                <a:gd name="T46" fmla="*/ 17 w 45"/>
                <a:gd name="T47" fmla="*/ 43 h 70"/>
                <a:gd name="T48" fmla="*/ 18 w 45"/>
                <a:gd name="T49" fmla="*/ 46 h 70"/>
                <a:gd name="T50" fmla="*/ 27 w 45"/>
                <a:gd name="T51" fmla="*/ 66 h 70"/>
                <a:gd name="T52" fmla="*/ 33 w 45"/>
                <a:gd name="T53" fmla="*/ 63 h 70"/>
                <a:gd name="T54" fmla="*/ 22 w 45"/>
                <a:gd name="T55" fmla="*/ 40 h 70"/>
                <a:gd name="T56" fmla="*/ 38 w 45"/>
                <a:gd name="T57" fmla="*/ 39 h 70"/>
                <a:gd name="T58" fmla="*/ 40 w 45"/>
                <a:gd name="T59" fmla="*/ 39 h 70"/>
                <a:gd name="T60" fmla="*/ 4 w 45"/>
                <a:gd name="T61" fmla="*/ 5 h 70"/>
                <a:gd name="T62" fmla="*/ 4 w 45"/>
                <a:gd name="T63" fmla="*/ 55 h 70"/>
                <a:gd name="T64" fmla="*/ 9 w 45"/>
                <a:gd name="T65" fmla="*/ 50 h 70"/>
                <a:gd name="T66" fmla="*/ 17 w 45"/>
                <a:gd name="T67" fmla="*/ 4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" h="70">
                  <a:moveTo>
                    <a:pt x="26" y="70"/>
                  </a:moveTo>
                  <a:cubicBezTo>
                    <a:pt x="26" y="70"/>
                    <a:pt x="26" y="70"/>
                    <a:pt x="25" y="70"/>
                  </a:cubicBezTo>
                  <a:cubicBezTo>
                    <a:pt x="24" y="69"/>
                    <a:pt x="24" y="69"/>
                    <a:pt x="23" y="68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0" y="54"/>
                    <a:pt x="8" y="56"/>
                    <a:pt x="6" y="58"/>
                  </a:cubicBezTo>
                  <a:cubicBezTo>
                    <a:pt x="5" y="59"/>
                    <a:pt x="4" y="59"/>
                    <a:pt x="2" y="59"/>
                  </a:cubicBezTo>
                  <a:cubicBezTo>
                    <a:pt x="1" y="58"/>
                    <a:pt x="0" y="57"/>
                    <a:pt x="0" y="5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4" y="0"/>
                    <a:pt x="5" y="1"/>
                    <a:pt x="6" y="2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4" y="37"/>
                    <a:pt x="45" y="38"/>
                    <a:pt x="45" y="39"/>
                  </a:cubicBezTo>
                  <a:cubicBezTo>
                    <a:pt x="45" y="40"/>
                    <a:pt x="44" y="41"/>
                    <a:pt x="43" y="42"/>
                  </a:cubicBezTo>
                  <a:cubicBezTo>
                    <a:pt x="43" y="42"/>
                    <a:pt x="42" y="42"/>
                    <a:pt x="41" y="43"/>
                  </a:cubicBezTo>
                  <a:cubicBezTo>
                    <a:pt x="40" y="43"/>
                    <a:pt x="39" y="43"/>
                    <a:pt x="38" y="43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37" y="63"/>
                    <a:pt x="37" y="64"/>
                    <a:pt x="37" y="65"/>
                  </a:cubicBezTo>
                  <a:cubicBezTo>
                    <a:pt x="36" y="65"/>
                    <a:pt x="36" y="66"/>
                    <a:pt x="35" y="67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28" y="70"/>
                    <a:pt x="27" y="70"/>
                    <a:pt x="26" y="70"/>
                  </a:cubicBezTo>
                  <a:close/>
                  <a:moveTo>
                    <a:pt x="17" y="43"/>
                  </a:moveTo>
                  <a:cubicBezTo>
                    <a:pt x="18" y="46"/>
                    <a:pt x="18" y="46"/>
                    <a:pt x="18" y="4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9" y="39"/>
                    <a:pt x="40" y="39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6" y="53"/>
                    <a:pt x="7" y="51"/>
                    <a:pt x="9" y="50"/>
                  </a:cubicBezTo>
                  <a:lnTo>
                    <a:pt x="17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" name="Freeform 20">
              <a:extLst>
                <a:ext uri="{FF2B5EF4-FFF2-40B4-BE49-F238E27FC236}">
                  <a16:creationId xmlns:a16="http://schemas.microsoft.com/office/drawing/2014/main" id="{0ECC9EEA-E823-4107-9326-E7A0DF78E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558" y="761244"/>
              <a:ext cx="1008062" cy="892175"/>
            </a:xfrm>
            <a:custGeom>
              <a:avLst/>
              <a:gdLst>
                <a:gd name="T0" fmla="*/ 123 w 125"/>
                <a:gd name="T1" fmla="*/ 0 h 112"/>
                <a:gd name="T2" fmla="*/ 2 w 125"/>
                <a:gd name="T3" fmla="*/ 0 h 112"/>
                <a:gd name="T4" fmla="*/ 0 w 125"/>
                <a:gd name="T5" fmla="*/ 2 h 112"/>
                <a:gd name="T6" fmla="*/ 0 w 125"/>
                <a:gd name="T7" fmla="*/ 85 h 112"/>
                <a:gd name="T8" fmla="*/ 2 w 125"/>
                <a:gd name="T9" fmla="*/ 87 h 112"/>
                <a:gd name="T10" fmla="*/ 50 w 125"/>
                <a:gd name="T11" fmla="*/ 87 h 112"/>
                <a:gd name="T12" fmla="*/ 50 w 125"/>
                <a:gd name="T13" fmla="*/ 108 h 112"/>
                <a:gd name="T14" fmla="*/ 29 w 125"/>
                <a:gd name="T15" fmla="*/ 108 h 112"/>
                <a:gd name="T16" fmla="*/ 29 w 125"/>
                <a:gd name="T17" fmla="*/ 112 h 112"/>
                <a:gd name="T18" fmla="*/ 98 w 125"/>
                <a:gd name="T19" fmla="*/ 112 h 112"/>
                <a:gd name="T20" fmla="*/ 98 w 125"/>
                <a:gd name="T21" fmla="*/ 108 h 112"/>
                <a:gd name="T22" fmla="*/ 77 w 125"/>
                <a:gd name="T23" fmla="*/ 108 h 112"/>
                <a:gd name="T24" fmla="*/ 77 w 125"/>
                <a:gd name="T25" fmla="*/ 87 h 112"/>
                <a:gd name="T26" fmla="*/ 92 w 125"/>
                <a:gd name="T27" fmla="*/ 87 h 112"/>
                <a:gd name="T28" fmla="*/ 92 w 125"/>
                <a:gd name="T29" fmla="*/ 83 h 112"/>
                <a:gd name="T30" fmla="*/ 61 w 125"/>
                <a:gd name="T31" fmla="*/ 83 h 112"/>
                <a:gd name="T32" fmla="*/ 61 w 125"/>
                <a:gd name="T33" fmla="*/ 83 h 112"/>
                <a:gd name="T34" fmla="*/ 4 w 125"/>
                <a:gd name="T35" fmla="*/ 83 h 112"/>
                <a:gd name="T36" fmla="*/ 4 w 125"/>
                <a:gd name="T37" fmla="*/ 4 h 112"/>
                <a:gd name="T38" fmla="*/ 121 w 125"/>
                <a:gd name="T39" fmla="*/ 4 h 112"/>
                <a:gd name="T40" fmla="*/ 121 w 125"/>
                <a:gd name="T41" fmla="*/ 42 h 112"/>
                <a:gd name="T42" fmla="*/ 125 w 125"/>
                <a:gd name="T43" fmla="*/ 42 h 112"/>
                <a:gd name="T44" fmla="*/ 125 w 125"/>
                <a:gd name="T45" fmla="*/ 2 h 112"/>
                <a:gd name="T46" fmla="*/ 123 w 125"/>
                <a:gd name="T4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5" h="112">
                  <a:moveTo>
                    <a:pt x="1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1" y="87"/>
                    <a:pt x="2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92" y="87"/>
                    <a:pt x="92" y="87"/>
                    <a:pt x="92" y="87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21" y="42"/>
                    <a:pt x="121" y="42"/>
                    <a:pt x="121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4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49" name="Группа 394">
            <a:extLst>
              <a:ext uri="{FF2B5EF4-FFF2-40B4-BE49-F238E27FC236}">
                <a16:creationId xmlns:a16="http://schemas.microsoft.com/office/drawing/2014/main" id="{3843C891-D5DB-46F3-BFC9-CFA5A4FEAD09}"/>
              </a:ext>
            </a:extLst>
          </p:cNvPr>
          <p:cNvGrpSpPr>
            <a:grpSpLocks noChangeAspect="1"/>
          </p:cNvGrpSpPr>
          <p:nvPr/>
        </p:nvGrpSpPr>
        <p:grpSpPr>
          <a:xfrm>
            <a:off x="4035925" y="5621024"/>
            <a:ext cx="323845" cy="309344"/>
            <a:chOff x="1030288" y="4885790"/>
            <a:chExt cx="1063625" cy="1016000"/>
          </a:xfrm>
        </p:grpSpPr>
        <p:sp>
          <p:nvSpPr>
            <p:cNvPr id="150" name="Freeform 7">
              <a:extLst>
                <a:ext uri="{FF2B5EF4-FFF2-40B4-BE49-F238E27FC236}">
                  <a16:creationId xmlns:a16="http://schemas.microsoft.com/office/drawing/2014/main" id="{8D5456DC-394D-4575-B20C-B5A507395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117565"/>
              <a:ext cx="433388" cy="158750"/>
            </a:xfrm>
            <a:custGeom>
              <a:avLst/>
              <a:gdLst>
                <a:gd name="T0" fmla="*/ 30 w 60"/>
                <a:gd name="T1" fmla="*/ 22 h 22"/>
                <a:gd name="T2" fmla="*/ 0 w 60"/>
                <a:gd name="T3" fmla="*/ 11 h 22"/>
                <a:gd name="T4" fmla="*/ 30 w 60"/>
                <a:gd name="T5" fmla="*/ 0 h 22"/>
                <a:gd name="T6" fmla="*/ 33 w 60"/>
                <a:gd name="T7" fmla="*/ 0 h 22"/>
                <a:gd name="T8" fmla="*/ 33 w 60"/>
                <a:gd name="T9" fmla="*/ 4 h 22"/>
                <a:gd name="T10" fmla="*/ 30 w 60"/>
                <a:gd name="T11" fmla="*/ 4 h 22"/>
                <a:gd name="T12" fmla="*/ 4 w 60"/>
                <a:gd name="T13" fmla="*/ 11 h 22"/>
                <a:gd name="T14" fmla="*/ 30 w 60"/>
                <a:gd name="T15" fmla="*/ 18 h 22"/>
                <a:gd name="T16" fmla="*/ 56 w 60"/>
                <a:gd name="T17" fmla="*/ 11 h 22"/>
                <a:gd name="T18" fmla="*/ 49 w 60"/>
                <a:gd name="T19" fmla="*/ 7 h 22"/>
                <a:gd name="T20" fmla="*/ 51 w 60"/>
                <a:gd name="T21" fmla="*/ 3 h 22"/>
                <a:gd name="T22" fmla="*/ 60 w 60"/>
                <a:gd name="T23" fmla="*/ 11 h 22"/>
                <a:gd name="T24" fmla="*/ 30 w 60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22">
                  <a:moveTo>
                    <a:pt x="30" y="22"/>
                  </a:moveTo>
                  <a:cubicBezTo>
                    <a:pt x="15" y="22"/>
                    <a:pt x="0" y="19"/>
                    <a:pt x="0" y="11"/>
                  </a:cubicBezTo>
                  <a:cubicBezTo>
                    <a:pt x="0" y="4"/>
                    <a:pt x="15" y="0"/>
                    <a:pt x="30" y="0"/>
                  </a:cubicBezTo>
                  <a:cubicBezTo>
                    <a:pt x="31" y="0"/>
                    <a:pt x="32" y="0"/>
                    <a:pt x="33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2" y="4"/>
                    <a:pt x="31" y="4"/>
                    <a:pt x="30" y="4"/>
                  </a:cubicBezTo>
                  <a:cubicBezTo>
                    <a:pt x="15" y="4"/>
                    <a:pt x="4" y="9"/>
                    <a:pt x="4" y="11"/>
                  </a:cubicBezTo>
                  <a:cubicBezTo>
                    <a:pt x="4" y="14"/>
                    <a:pt x="15" y="18"/>
                    <a:pt x="30" y="18"/>
                  </a:cubicBezTo>
                  <a:cubicBezTo>
                    <a:pt x="46" y="18"/>
                    <a:pt x="56" y="14"/>
                    <a:pt x="56" y="11"/>
                  </a:cubicBezTo>
                  <a:cubicBezTo>
                    <a:pt x="56" y="10"/>
                    <a:pt x="55" y="9"/>
                    <a:pt x="49" y="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9" y="6"/>
                    <a:pt x="60" y="9"/>
                    <a:pt x="60" y="11"/>
                  </a:cubicBezTo>
                  <a:cubicBezTo>
                    <a:pt x="60" y="19"/>
                    <a:pt x="45" y="22"/>
                    <a:pt x="30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" name="Freeform 8">
              <a:extLst>
                <a:ext uri="{FF2B5EF4-FFF2-40B4-BE49-F238E27FC236}">
                  <a16:creationId xmlns:a16="http://schemas.microsoft.com/office/drawing/2014/main" id="{0FFAC91C-AE38-4E5C-B9D7-14F6CC553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306478"/>
              <a:ext cx="433388" cy="93662"/>
            </a:xfrm>
            <a:custGeom>
              <a:avLst/>
              <a:gdLst>
                <a:gd name="T0" fmla="*/ 30 w 60"/>
                <a:gd name="T1" fmla="*/ 13 h 13"/>
                <a:gd name="T2" fmla="*/ 0 w 60"/>
                <a:gd name="T3" fmla="*/ 2 h 13"/>
                <a:gd name="T4" fmla="*/ 1 w 60"/>
                <a:gd name="T5" fmla="*/ 0 h 13"/>
                <a:gd name="T6" fmla="*/ 4 w 60"/>
                <a:gd name="T7" fmla="*/ 1 h 13"/>
                <a:gd name="T8" fmla="*/ 30 w 60"/>
                <a:gd name="T9" fmla="*/ 9 h 13"/>
                <a:gd name="T10" fmla="*/ 56 w 60"/>
                <a:gd name="T11" fmla="*/ 2 h 13"/>
                <a:gd name="T12" fmla="*/ 56 w 60"/>
                <a:gd name="T13" fmla="*/ 1 h 13"/>
                <a:gd name="T14" fmla="*/ 60 w 60"/>
                <a:gd name="T15" fmla="*/ 0 h 13"/>
                <a:gd name="T16" fmla="*/ 60 w 60"/>
                <a:gd name="T17" fmla="*/ 2 h 13"/>
                <a:gd name="T18" fmla="*/ 30 w 6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3">
                  <a:moveTo>
                    <a:pt x="30" y="13"/>
                  </a:moveTo>
                  <a:cubicBezTo>
                    <a:pt x="15" y="13"/>
                    <a:pt x="0" y="9"/>
                    <a:pt x="0" y="2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5"/>
                    <a:pt x="15" y="9"/>
                    <a:pt x="30" y="9"/>
                  </a:cubicBezTo>
                  <a:cubicBezTo>
                    <a:pt x="46" y="9"/>
                    <a:pt x="56" y="5"/>
                    <a:pt x="56" y="2"/>
                  </a:cubicBezTo>
                  <a:cubicBezTo>
                    <a:pt x="56" y="2"/>
                    <a:pt x="56" y="1"/>
                    <a:pt x="56" y="1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1"/>
                    <a:pt x="60" y="2"/>
                  </a:cubicBezTo>
                  <a:cubicBezTo>
                    <a:pt x="60" y="9"/>
                    <a:pt x="45" y="13"/>
                    <a:pt x="30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" name="Freeform 9">
              <a:extLst>
                <a:ext uri="{FF2B5EF4-FFF2-40B4-BE49-F238E27FC236}">
                  <a16:creationId xmlns:a16="http://schemas.microsoft.com/office/drawing/2014/main" id="{802A45C8-A3AA-47AF-AD9B-BDA8A0225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422365"/>
              <a:ext cx="433388" cy="93662"/>
            </a:xfrm>
            <a:custGeom>
              <a:avLst/>
              <a:gdLst>
                <a:gd name="T0" fmla="*/ 30 w 60"/>
                <a:gd name="T1" fmla="*/ 13 h 13"/>
                <a:gd name="T2" fmla="*/ 0 w 60"/>
                <a:gd name="T3" fmla="*/ 2 h 13"/>
                <a:gd name="T4" fmla="*/ 1 w 60"/>
                <a:gd name="T5" fmla="*/ 0 h 13"/>
                <a:gd name="T6" fmla="*/ 4 w 60"/>
                <a:gd name="T7" fmla="*/ 2 h 13"/>
                <a:gd name="T8" fmla="*/ 30 w 60"/>
                <a:gd name="T9" fmla="*/ 9 h 13"/>
                <a:gd name="T10" fmla="*/ 56 w 60"/>
                <a:gd name="T11" fmla="*/ 2 h 13"/>
                <a:gd name="T12" fmla="*/ 56 w 60"/>
                <a:gd name="T13" fmla="*/ 2 h 13"/>
                <a:gd name="T14" fmla="*/ 60 w 60"/>
                <a:gd name="T15" fmla="*/ 0 h 13"/>
                <a:gd name="T16" fmla="*/ 60 w 60"/>
                <a:gd name="T17" fmla="*/ 2 h 13"/>
                <a:gd name="T18" fmla="*/ 30 w 6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3">
                  <a:moveTo>
                    <a:pt x="30" y="13"/>
                  </a:moveTo>
                  <a:cubicBezTo>
                    <a:pt x="15" y="13"/>
                    <a:pt x="0" y="9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5"/>
                    <a:pt x="15" y="9"/>
                    <a:pt x="30" y="9"/>
                  </a:cubicBezTo>
                  <a:cubicBezTo>
                    <a:pt x="46" y="9"/>
                    <a:pt x="56" y="5"/>
                    <a:pt x="56" y="2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"/>
                    <a:pt x="60" y="1"/>
                    <a:pt x="60" y="2"/>
                  </a:cubicBezTo>
                  <a:cubicBezTo>
                    <a:pt x="60" y="9"/>
                    <a:pt x="45" y="13"/>
                    <a:pt x="30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" name="Freeform 10">
              <a:extLst>
                <a:ext uri="{FF2B5EF4-FFF2-40B4-BE49-F238E27FC236}">
                  <a16:creationId xmlns:a16="http://schemas.microsoft.com/office/drawing/2014/main" id="{2E6A56D0-9A24-4DE7-9FC8-7CEDD79F3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546190"/>
              <a:ext cx="433388" cy="93662"/>
            </a:xfrm>
            <a:custGeom>
              <a:avLst/>
              <a:gdLst>
                <a:gd name="T0" fmla="*/ 30 w 60"/>
                <a:gd name="T1" fmla="*/ 13 h 13"/>
                <a:gd name="T2" fmla="*/ 0 w 60"/>
                <a:gd name="T3" fmla="*/ 2 h 13"/>
                <a:gd name="T4" fmla="*/ 1 w 60"/>
                <a:gd name="T5" fmla="*/ 0 h 13"/>
                <a:gd name="T6" fmla="*/ 4 w 60"/>
                <a:gd name="T7" fmla="*/ 1 h 13"/>
                <a:gd name="T8" fmla="*/ 30 w 60"/>
                <a:gd name="T9" fmla="*/ 9 h 13"/>
                <a:gd name="T10" fmla="*/ 56 w 60"/>
                <a:gd name="T11" fmla="*/ 2 h 13"/>
                <a:gd name="T12" fmla="*/ 56 w 60"/>
                <a:gd name="T13" fmla="*/ 1 h 13"/>
                <a:gd name="T14" fmla="*/ 60 w 60"/>
                <a:gd name="T15" fmla="*/ 0 h 13"/>
                <a:gd name="T16" fmla="*/ 60 w 60"/>
                <a:gd name="T17" fmla="*/ 2 h 13"/>
                <a:gd name="T18" fmla="*/ 30 w 6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3">
                  <a:moveTo>
                    <a:pt x="30" y="13"/>
                  </a:moveTo>
                  <a:cubicBezTo>
                    <a:pt x="15" y="13"/>
                    <a:pt x="0" y="9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4"/>
                    <a:pt x="15" y="9"/>
                    <a:pt x="30" y="9"/>
                  </a:cubicBezTo>
                  <a:cubicBezTo>
                    <a:pt x="46" y="9"/>
                    <a:pt x="56" y="4"/>
                    <a:pt x="56" y="2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1"/>
                    <a:pt x="60" y="2"/>
                  </a:cubicBezTo>
                  <a:cubicBezTo>
                    <a:pt x="60" y="9"/>
                    <a:pt x="45" y="13"/>
                    <a:pt x="30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" name="Rectangle 11">
              <a:extLst>
                <a:ext uri="{FF2B5EF4-FFF2-40B4-BE49-F238E27FC236}">
                  <a16:creationId xmlns:a16="http://schemas.microsoft.com/office/drawing/2014/main" id="{64BBEF3E-A7E5-4596-AACE-0D748AB56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288" y="5196940"/>
              <a:ext cx="28575" cy="3635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5" name="Rectangle 12">
              <a:extLst>
                <a:ext uri="{FF2B5EF4-FFF2-40B4-BE49-F238E27FC236}">
                  <a16:creationId xmlns:a16="http://schemas.microsoft.com/office/drawing/2014/main" id="{9B5B43C8-7A7B-438C-BFF5-88F2327BE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1" y="5196940"/>
              <a:ext cx="28575" cy="3778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6" name="Rectangle 13">
              <a:extLst>
                <a:ext uri="{FF2B5EF4-FFF2-40B4-BE49-F238E27FC236}">
                  <a16:creationId xmlns:a16="http://schemas.microsoft.com/office/drawing/2014/main" id="{2FF2063E-62B9-4526-9E78-FA90DF3F1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763" y="5377915"/>
              <a:ext cx="115888" cy="3016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7" name="Freeform 14">
              <a:extLst>
                <a:ext uri="{FF2B5EF4-FFF2-40B4-BE49-F238E27FC236}">
                  <a16:creationId xmlns:a16="http://schemas.microsoft.com/office/drawing/2014/main" id="{A0AF2F6A-D95A-436B-BF6C-19A9D5E40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3" y="5058828"/>
              <a:ext cx="123825" cy="668337"/>
            </a:xfrm>
            <a:custGeom>
              <a:avLst/>
              <a:gdLst>
                <a:gd name="T0" fmla="*/ 78 w 78"/>
                <a:gd name="T1" fmla="*/ 421 h 421"/>
                <a:gd name="T2" fmla="*/ 0 w 78"/>
                <a:gd name="T3" fmla="*/ 421 h 421"/>
                <a:gd name="T4" fmla="*/ 0 w 78"/>
                <a:gd name="T5" fmla="*/ 0 h 421"/>
                <a:gd name="T6" fmla="*/ 73 w 78"/>
                <a:gd name="T7" fmla="*/ 0 h 421"/>
                <a:gd name="T8" fmla="*/ 73 w 78"/>
                <a:gd name="T9" fmla="*/ 19 h 421"/>
                <a:gd name="T10" fmla="*/ 18 w 78"/>
                <a:gd name="T11" fmla="*/ 19 h 421"/>
                <a:gd name="T12" fmla="*/ 18 w 78"/>
                <a:gd name="T13" fmla="*/ 403 h 421"/>
                <a:gd name="T14" fmla="*/ 78 w 78"/>
                <a:gd name="T15" fmla="*/ 403 h 421"/>
                <a:gd name="T16" fmla="*/ 78 w 78"/>
                <a:gd name="T17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421">
                  <a:moveTo>
                    <a:pt x="78" y="421"/>
                  </a:moveTo>
                  <a:lnTo>
                    <a:pt x="0" y="421"/>
                  </a:lnTo>
                  <a:lnTo>
                    <a:pt x="0" y="0"/>
                  </a:lnTo>
                  <a:lnTo>
                    <a:pt x="73" y="0"/>
                  </a:lnTo>
                  <a:lnTo>
                    <a:pt x="73" y="19"/>
                  </a:lnTo>
                  <a:lnTo>
                    <a:pt x="18" y="19"/>
                  </a:lnTo>
                  <a:lnTo>
                    <a:pt x="18" y="403"/>
                  </a:lnTo>
                  <a:lnTo>
                    <a:pt x="78" y="403"/>
                  </a:lnTo>
                  <a:lnTo>
                    <a:pt x="78" y="4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8" name="Freeform 15">
              <a:extLst>
                <a:ext uri="{FF2B5EF4-FFF2-40B4-BE49-F238E27FC236}">
                  <a16:creationId xmlns:a16="http://schemas.microsoft.com/office/drawing/2014/main" id="{B6052C0C-B199-4449-8B6B-3AE99C817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4885790"/>
              <a:ext cx="406400" cy="304800"/>
            </a:xfrm>
            <a:custGeom>
              <a:avLst/>
              <a:gdLst>
                <a:gd name="T0" fmla="*/ 6 w 56"/>
                <a:gd name="T1" fmla="*/ 42 h 42"/>
                <a:gd name="T2" fmla="*/ 0 w 56"/>
                <a:gd name="T3" fmla="*/ 36 h 42"/>
                <a:gd name="T4" fmla="*/ 0 w 56"/>
                <a:gd name="T5" fmla="*/ 23 h 42"/>
                <a:gd name="T6" fmla="*/ 0 w 56"/>
                <a:gd name="T7" fmla="*/ 6 h 42"/>
                <a:gd name="T8" fmla="*/ 2 w 56"/>
                <a:gd name="T9" fmla="*/ 2 h 42"/>
                <a:gd name="T10" fmla="*/ 6 w 56"/>
                <a:gd name="T11" fmla="*/ 0 h 42"/>
                <a:gd name="T12" fmla="*/ 21 w 56"/>
                <a:gd name="T13" fmla="*/ 0 h 42"/>
                <a:gd name="T14" fmla="*/ 27 w 56"/>
                <a:gd name="T15" fmla="*/ 3 h 42"/>
                <a:gd name="T16" fmla="*/ 27 w 56"/>
                <a:gd name="T17" fmla="*/ 4 h 42"/>
                <a:gd name="T18" fmla="*/ 27 w 56"/>
                <a:gd name="T19" fmla="*/ 4 h 42"/>
                <a:gd name="T20" fmla="*/ 27 w 56"/>
                <a:gd name="T21" fmla="*/ 6 h 42"/>
                <a:gd name="T22" fmla="*/ 28 w 56"/>
                <a:gd name="T23" fmla="*/ 8 h 42"/>
                <a:gd name="T24" fmla="*/ 28 w 56"/>
                <a:gd name="T25" fmla="*/ 8 h 42"/>
                <a:gd name="T26" fmla="*/ 30 w 56"/>
                <a:gd name="T27" fmla="*/ 10 h 42"/>
                <a:gd name="T28" fmla="*/ 50 w 56"/>
                <a:gd name="T29" fmla="*/ 10 h 42"/>
                <a:gd name="T30" fmla="*/ 50 w 56"/>
                <a:gd name="T31" fmla="*/ 10 h 42"/>
                <a:gd name="T32" fmla="*/ 56 w 56"/>
                <a:gd name="T33" fmla="*/ 17 h 42"/>
                <a:gd name="T34" fmla="*/ 56 w 56"/>
                <a:gd name="T35" fmla="*/ 36 h 42"/>
                <a:gd name="T36" fmla="*/ 49 w 56"/>
                <a:gd name="T37" fmla="*/ 42 h 42"/>
                <a:gd name="T38" fmla="*/ 27 w 56"/>
                <a:gd name="T39" fmla="*/ 42 h 42"/>
                <a:gd name="T40" fmla="*/ 27 w 56"/>
                <a:gd name="T41" fmla="*/ 38 h 42"/>
                <a:gd name="T42" fmla="*/ 49 w 56"/>
                <a:gd name="T43" fmla="*/ 38 h 42"/>
                <a:gd name="T44" fmla="*/ 52 w 56"/>
                <a:gd name="T45" fmla="*/ 36 h 42"/>
                <a:gd name="T46" fmla="*/ 52 w 56"/>
                <a:gd name="T47" fmla="*/ 17 h 42"/>
                <a:gd name="T48" fmla="*/ 49 w 56"/>
                <a:gd name="T49" fmla="*/ 14 h 42"/>
                <a:gd name="T50" fmla="*/ 31 w 56"/>
                <a:gd name="T51" fmla="*/ 14 h 42"/>
                <a:gd name="T52" fmla="*/ 24 w 56"/>
                <a:gd name="T53" fmla="*/ 10 h 42"/>
                <a:gd name="T54" fmla="*/ 24 w 56"/>
                <a:gd name="T55" fmla="*/ 9 h 42"/>
                <a:gd name="T56" fmla="*/ 24 w 56"/>
                <a:gd name="T57" fmla="*/ 7 h 42"/>
                <a:gd name="T58" fmla="*/ 23 w 56"/>
                <a:gd name="T59" fmla="*/ 5 h 42"/>
                <a:gd name="T60" fmla="*/ 21 w 56"/>
                <a:gd name="T61" fmla="*/ 4 h 42"/>
                <a:gd name="T62" fmla="*/ 6 w 56"/>
                <a:gd name="T63" fmla="*/ 4 h 42"/>
                <a:gd name="T64" fmla="*/ 5 w 56"/>
                <a:gd name="T65" fmla="*/ 5 h 42"/>
                <a:gd name="T66" fmla="*/ 4 w 56"/>
                <a:gd name="T67" fmla="*/ 6 h 42"/>
                <a:gd name="T68" fmla="*/ 4 w 56"/>
                <a:gd name="T69" fmla="*/ 23 h 42"/>
                <a:gd name="T70" fmla="*/ 4 w 56"/>
                <a:gd name="T71" fmla="*/ 36 h 42"/>
                <a:gd name="T72" fmla="*/ 6 w 56"/>
                <a:gd name="T73" fmla="*/ 38 h 42"/>
                <a:gd name="T74" fmla="*/ 12 w 56"/>
                <a:gd name="T75" fmla="*/ 38 h 42"/>
                <a:gd name="T76" fmla="*/ 12 w 56"/>
                <a:gd name="T77" fmla="*/ 42 h 42"/>
                <a:gd name="T78" fmla="*/ 6 w 56"/>
                <a:gd name="T7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42">
                  <a:moveTo>
                    <a:pt x="6" y="42"/>
                  </a:moveTo>
                  <a:cubicBezTo>
                    <a:pt x="2" y="42"/>
                    <a:pt x="0" y="40"/>
                    <a:pt x="0" y="36"/>
                  </a:cubicBezTo>
                  <a:cubicBezTo>
                    <a:pt x="0" y="32"/>
                    <a:pt x="0" y="27"/>
                    <a:pt x="0" y="23"/>
                  </a:cubicBezTo>
                  <a:cubicBezTo>
                    <a:pt x="0" y="14"/>
                    <a:pt x="0" y="8"/>
                    <a:pt x="0" y="6"/>
                  </a:cubicBezTo>
                  <a:cubicBezTo>
                    <a:pt x="0" y="5"/>
                    <a:pt x="0" y="3"/>
                    <a:pt x="2" y="2"/>
                  </a:cubicBezTo>
                  <a:cubicBezTo>
                    <a:pt x="3" y="1"/>
                    <a:pt x="5" y="0"/>
                    <a:pt x="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5" y="1"/>
                    <a:pt x="27" y="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5"/>
                    <a:pt x="27" y="6"/>
                    <a:pt x="27" y="6"/>
                  </a:cubicBezTo>
                  <a:cubicBezTo>
                    <a:pt x="28" y="7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2" y="10"/>
                    <a:pt x="56" y="13"/>
                    <a:pt x="56" y="1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40"/>
                    <a:pt x="54" y="41"/>
                    <a:pt x="49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2" y="38"/>
                    <a:pt x="52" y="37"/>
                    <a:pt x="52" y="36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5"/>
                    <a:pt x="50" y="14"/>
                    <a:pt x="49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26" y="14"/>
                    <a:pt x="25" y="11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8"/>
                    <a:pt x="24" y="8"/>
                    <a:pt x="24" y="7"/>
                  </a:cubicBezTo>
                  <a:cubicBezTo>
                    <a:pt x="23" y="6"/>
                    <a:pt x="23" y="6"/>
                    <a:pt x="23" y="5"/>
                  </a:cubicBezTo>
                  <a:cubicBezTo>
                    <a:pt x="23" y="5"/>
                    <a:pt x="22" y="4"/>
                    <a:pt x="2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8"/>
                    <a:pt x="4" y="15"/>
                    <a:pt x="4" y="23"/>
                  </a:cubicBezTo>
                  <a:cubicBezTo>
                    <a:pt x="4" y="27"/>
                    <a:pt x="4" y="32"/>
                    <a:pt x="4" y="36"/>
                  </a:cubicBezTo>
                  <a:cubicBezTo>
                    <a:pt x="4" y="37"/>
                    <a:pt x="4" y="38"/>
                    <a:pt x="6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01DF6329-222C-405F-965F-CFDE6B103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233453"/>
              <a:ext cx="406400" cy="304800"/>
            </a:xfrm>
            <a:custGeom>
              <a:avLst/>
              <a:gdLst>
                <a:gd name="T0" fmla="*/ 6 w 56"/>
                <a:gd name="T1" fmla="*/ 42 h 42"/>
                <a:gd name="T2" fmla="*/ 0 w 56"/>
                <a:gd name="T3" fmla="*/ 36 h 42"/>
                <a:gd name="T4" fmla="*/ 0 w 56"/>
                <a:gd name="T5" fmla="*/ 23 h 42"/>
                <a:gd name="T6" fmla="*/ 0 w 56"/>
                <a:gd name="T7" fmla="*/ 5 h 42"/>
                <a:gd name="T8" fmla="*/ 2 w 56"/>
                <a:gd name="T9" fmla="*/ 1 h 42"/>
                <a:gd name="T10" fmla="*/ 6 w 56"/>
                <a:gd name="T11" fmla="*/ 0 h 42"/>
                <a:gd name="T12" fmla="*/ 21 w 56"/>
                <a:gd name="T13" fmla="*/ 0 h 42"/>
                <a:gd name="T14" fmla="*/ 27 w 56"/>
                <a:gd name="T15" fmla="*/ 3 h 42"/>
                <a:gd name="T16" fmla="*/ 27 w 56"/>
                <a:gd name="T17" fmla="*/ 3 h 42"/>
                <a:gd name="T18" fmla="*/ 27 w 56"/>
                <a:gd name="T19" fmla="*/ 4 h 42"/>
                <a:gd name="T20" fmla="*/ 27 w 56"/>
                <a:gd name="T21" fmla="*/ 6 h 42"/>
                <a:gd name="T22" fmla="*/ 28 w 56"/>
                <a:gd name="T23" fmla="*/ 7 h 42"/>
                <a:gd name="T24" fmla="*/ 28 w 56"/>
                <a:gd name="T25" fmla="*/ 8 h 42"/>
                <a:gd name="T26" fmla="*/ 30 w 56"/>
                <a:gd name="T27" fmla="*/ 9 h 42"/>
                <a:gd name="T28" fmla="*/ 50 w 56"/>
                <a:gd name="T29" fmla="*/ 9 h 42"/>
                <a:gd name="T30" fmla="*/ 50 w 56"/>
                <a:gd name="T31" fmla="*/ 9 h 42"/>
                <a:gd name="T32" fmla="*/ 56 w 56"/>
                <a:gd name="T33" fmla="*/ 16 h 42"/>
                <a:gd name="T34" fmla="*/ 56 w 56"/>
                <a:gd name="T35" fmla="*/ 35 h 42"/>
                <a:gd name="T36" fmla="*/ 49 w 56"/>
                <a:gd name="T37" fmla="*/ 41 h 42"/>
                <a:gd name="T38" fmla="*/ 28 w 56"/>
                <a:gd name="T39" fmla="*/ 41 h 42"/>
                <a:gd name="T40" fmla="*/ 28 w 56"/>
                <a:gd name="T41" fmla="*/ 37 h 42"/>
                <a:gd name="T42" fmla="*/ 49 w 56"/>
                <a:gd name="T43" fmla="*/ 37 h 42"/>
                <a:gd name="T44" fmla="*/ 52 w 56"/>
                <a:gd name="T45" fmla="*/ 35 h 42"/>
                <a:gd name="T46" fmla="*/ 52 w 56"/>
                <a:gd name="T47" fmla="*/ 16 h 42"/>
                <a:gd name="T48" fmla="*/ 49 w 56"/>
                <a:gd name="T49" fmla="*/ 13 h 42"/>
                <a:gd name="T50" fmla="*/ 31 w 56"/>
                <a:gd name="T51" fmla="*/ 13 h 42"/>
                <a:gd name="T52" fmla="*/ 24 w 56"/>
                <a:gd name="T53" fmla="*/ 9 h 42"/>
                <a:gd name="T54" fmla="*/ 24 w 56"/>
                <a:gd name="T55" fmla="*/ 8 h 42"/>
                <a:gd name="T56" fmla="*/ 24 w 56"/>
                <a:gd name="T57" fmla="*/ 6 h 42"/>
                <a:gd name="T58" fmla="*/ 23 w 56"/>
                <a:gd name="T59" fmla="*/ 5 h 42"/>
                <a:gd name="T60" fmla="*/ 21 w 56"/>
                <a:gd name="T61" fmla="*/ 4 h 42"/>
                <a:gd name="T62" fmla="*/ 6 w 56"/>
                <a:gd name="T63" fmla="*/ 4 h 42"/>
                <a:gd name="T64" fmla="*/ 5 w 56"/>
                <a:gd name="T65" fmla="*/ 4 h 42"/>
                <a:gd name="T66" fmla="*/ 4 w 56"/>
                <a:gd name="T67" fmla="*/ 6 h 42"/>
                <a:gd name="T68" fmla="*/ 4 w 56"/>
                <a:gd name="T69" fmla="*/ 23 h 42"/>
                <a:gd name="T70" fmla="*/ 4 w 56"/>
                <a:gd name="T71" fmla="*/ 36 h 42"/>
                <a:gd name="T72" fmla="*/ 6 w 56"/>
                <a:gd name="T73" fmla="*/ 38 h 42"/>
                <a:gd name="T74" fmla="*/ 13 w 56"/>
                <a:gd name="T75" fmla="*/ 38 h 42"/>
                <a:gd name="T76" fmla="*/ 14 w 56"/>
                <a:gd name="T77" fmla="*/ 42 h 42"/>
                <a:gd name="T78" fmla="*/ 6 w 56"/>
                <a:gd name="T7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42">
                  <a:moveTo>
                    <a:pt x="6" y="42"/>
                  </a:moveTo>
                  <a:cubicBezTo>
                    <a:pt x="2" y="41"/>
                    <a:pt x="0" y="39"/>
                    <a:pt x="0" y="36"/>
                  </a:cubicBezTo>
                  <a:cubicBezTo>
                    <a:pt x="0" y="31"/>
                    <a:pt x="0" y="27"/>
                    <a:pt x="0" y="23"/>
                  </a:cubicBezTo>
                  <a:cubicBezTo>
                    <a:pt x="0" y="13"/>
                    <a:pt x="0" y="7"/>
                    <a:pt x="0" y="5"/>
                  </a:cubicBezTo>
                  <a:cubicBezTo>
                    <a:pt x="0" y="5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5" y="1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5"/>
                    <a:pt x="27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9"/>
                    <a:pt x="29" y="9"/>
                    <a:pt x="3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2" y="10"/>
                    <a:pt x="56" y="12"/>
                    <a:pt x="56" y="16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6" y="39"/>
                    <a:pt x="54" y="41"/>
                    <a:pt x="4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52" y="37"/>
                    <a:pt x="52" y="36"/>
                    <a:pt x="52" y="35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2" y="14"/>
                    <a:pt x="50" y="13"/>
                    <a:pt x="49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26" y="14"/>
                    <a:pt x="25" y="11"/>
                    <a:pt x="24" y="9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7"/>
                    <a:pt x="24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4"/>
                  </a:cubicBezTo>
                  <a:cubicBezTo>
                    <a:pt x="4" y="5"/>
                    <a:pt x="4" y="5"/>
                    <a:pt x="4" y="6"/>
                  </a:cubicBezTo>
                  <a:cubicBezTo>
                    <a:pt x="4" y="8"/>
                    <a:pt x="4" y="14"/>
                    <a:pt x="4" y="23"/>
                  </a:cubicBezTo>
                  <a:cubicBezTo>
                    <a:pt x="4" y="27"/>
                    <a:pt x="4" y="31"/>
                    <a:pt x="4" y="36"/>
                  </a:cubicBezTo>
                  <a:cubicBezTo>
                    <a:pt x="4" y="37"/>
                    <a:pt x="4" y="38"/>
                    <a:pt x="6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42"/>
                    <a:pt x="14" y="42"/>
                    <a:pt x="14" y="42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0" name="Freeform 17">
              <a:extLst>
                <a:ext uri="{FF2B5EF4-FFF2-40B4-BE49-F238E27FC236}">
                  <a16:creationId xmlns:a16="http://schemas.microsoft.com/office/drawing/2014/main" id="{B58F8B35-1E3F-4EB2-B032-E9E9AC97E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596990"/>
              <a:ext cx="406400" cy="304800"/>
            </a:xfrm>
            <a:custGeom>
              <a:avLst/>
              <a:gdLst>
                <a:gd name="T0" fmla="*/ 6 w 56"/>
                <a:gd name="T1" fmla="*/ 42 h 42"/>
                <a:gd name="T2" fmla="*/ 0 w 56"/>
                <a:gd name="T3" fmla="*/ 36 h 42"/>
                <a:gd name="T4" fmla="*/ 0 w 56"/>
                <a:gd name="T5" fmla="*/ 23 h 42"/>
                <a:gd name="T6" fmla="*/ 0 w 56"/>
                <a:gd name="T7" fmla="*/ 6 h 42"/>
                <a:gd name="T8" fmla="*/ 2 w 56"/>
                <a:gd name="T9" fmla="*/ 2 h 42"/>
                <a:gd name="T10" fmla="*/ 6 w 56"/>
                <a:gd name="T11" fmla="*/ 0 h 42"/>
                <a:gd name="T12" fmla="*/ 21 w 56"/>
                <a:gd name="T13" fmla="*/ 0 h 42"/>
                <a:gd name="T14" fmla="*/ 27 w 56"/>
                <a:gd name="T15" fmla="*/ 3 h 42"/>
                <a:gd name="T16" fmla="*/ 27 w 56"/>
                <a:gd name="T17" fmla="*/ 4 h 42"/>
                <a:gd name="T18" fmla="*/ 27 w 56"/>
                <a:gd name="T19" fmla="*/ 4 h 42"/>
                <a:gd name="T20" fmla="*/ 27 w 56"/>
                <a:gd name="T21" fmla="*/ 6 h 42"/>
                <a:gd name="T22" fmla="*/ 28 w 56"/>
                <a:gd name="T23" fmla="*/ 8 h 42"/>
                <a:gd name="T24" fmla="*/ 28 w 56"/>
                <a:gd name="T25" fmla="*/ 8 h 42"/>
                <a:gd name="T26" fmla="*/ 30 w 56"/>
                <a:gd name="T27" fmla="*/ 10 h 42"/>
                <a:gd name="T28" fmla="*/ 50 w 56"/>
                <a:gd name="T29" fmla="*/ 10 h 42"/>
                <a:gd name="T30" fmla="*/ 50 w 56"/>
                <a:gd name="T31" fmla="*/ 10 h 42"/>
                <a:gd name="T32" fmla="*/ 56 w 56"/>
                <a:gd name="T33" fmla="*/ 17 h 42"/>
                <a:gd name="T34" fmla="*/ 56 w 56"/>
                <a:gd name="T35" fmla="*/ 36 h 42"/>
                <a:gd name="T36" fmla="*/ 49 w 56"/>
                <a:gd name="T37" fmla="*/ 42 h 42"/>
                <a:gd name="T38" fmla="*/ 27 w 56"/>
                <a:gd name="T39" fmla="*/ 42 h 42"/>
                <a:gd name="T40" fmla="*/ 27 w 56"/>
                <a:gd name="T41" fmla="*/ 38 h 42"/>
                <a:gd name="T42" fmla="*/ 49 w 56"/>
                <a:gd name="T43" fmla="*/ 38 h 42"/>
                <a:gd name="T44" fmla="*/ 52 w 56"/>
                <a:gd name="T45" fmla="*/ 36 h 42"/>
                <a:gd name="T46" fmla="*/ 52 w 56"/>
                <a:gd name="T47" fmla="*/ 16 h 42"/>
                <a:gd name="T48" fmla="*/ 49 w 56"/>
                <a:gd name="T49" fmla="*/ 14 h 42"/>
                <a:gd name="T50" fmla="*/ 31 w 56"/>
                <a:gd name="T51" fmla="*/ 14 h 42"/>
                <a:gd name="T52" fmla="*/ 24 w 56"/>
                <a:gd name="T53" fmla="*/ 10 h 42"/>
                <a:gd name="T54" fmla="*/ 24 w 56"/>
                <a:gd name="T55" fmla="*/ 9 h 42"/>
                <a:gd name="T56" fmla="*/ 24 w 56"/>
                <a:gd name="T57" fmla="*/ 7 h 42"/>
                <a:gd name="T58" fmla="*/ 23 w 56"/>
                <a:gd name="T59" fmla="*/ 5 h 42"/>
                <a:gd name="T60" fmla="*/ 21 w 56"/>
                <a:gd name="T61" fmla="*/ 4 h 42"/>
                <a:gd name="T62" fmla="*/ 6 w 56"/>
                <a:gd name="T63" fmla="*/ 4 h 42"/>
                <a:gd name="T64" fmla="*/ 5 w 56"/>
                <a:gd name="T65" fmla="*/ 5 h 42"/>
                <a:gd name="T66" fmla="*/ 4 w 56"/>
                <a:gd name="T67" fmla="*/ 6 h 42"/>
                <a:gd name="T68" fmla="*/ 4 w 56"/>
                <a:gd name="T69" fmla="*/ 23 h 42"/>
                <a:gd name="T70" fmla="*/ 4 w 56"/>
                <a:gd name="T71" fmla="*/ 36 h 42"/>
                <a:gd name="T72" fmla="*/ 6 w 56"/>
                <a:gd name="T73" fmla="*/ 38 h 42"/>
                <a:gd name="T74" fmla="*/ 13 w 56"/>
                <a:gd name="T75" fmla="*/ 38 h 42"/>
                <a:gd name="T76" fmla="*/ 13 w 56"/>
                <a:gd name="T77" fmla="*/ 42 h 42"/>
                <a:gd name="T78" fmla="*/ 6 w 56"/>
                <a:gd name="T7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42">
                  <a:moveTo>
                    <a:pt x="6" y="42"/>
                  </a:moveTo>
                  <a:cubicBezTo>
                    <a:pt x="2" y="42"/>
                    <a:pt x="0" y="40"/>
                    <a:pt x="0" y="36"/>
                  </a:cubicBezTo>
                  <a:cubicBezTo>
                    <a:pt x="0" y="32"/>
                    <a:pt x="0" y="27"/>
                    <a:pt x="0" y="23"/>
                  </a:cubicBezTo>
                  <a:cubicBezTo>
                    <a:pt x="0" y="14"/>
                    <a:pt x="0" y="8"/>
                    <a:pt x="0" y="6"/>
                  </a:cubicBezTo>
                  <a:cubicBezTo>
                    <a:pt x="0" y="5"/>
                    <a:pt x="0" y="3"/>
                    <a:pt x="2" y="2"/>
                  </a:cubicBezTo>
                  <a:cubicBezTo>
                    <a:pt x="3" y="1"/>
                    <a:pt x="5" y="0"/>
                    <a:pt x="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5" y="1"/>
                    <a:pt x="27" y="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8" y="7"/>
                    <a:pt x="28" y="7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9"/>
                    <a:pt x="29" y="10"/>
                    <a:pt x="3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2" y="10"/>
                    <a:pt x="56" y="12"/>
                    <a:pt x="56" y="1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9"/>
                    <a:pt x="54" y="41"/>
                    <a:pt x="49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2" y="37"/>
                    <a:pt x="52" y="37"/>
                    <a:pt x="52" y="3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2" y="15"/>
                    <a:pt x="50" y="14"/>
                    <a:pt x="49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26" y="14"/>
                    <a:pt x="25" y="11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8"/>
                    <a:pt x="24" y="7"/>
                    <a:pt x="24" y="7"/>
                  </a:cubicBezTo>
                  <a:cubicBezTo>
                    <a:pt x="23" y="6"/>
                    <a:pt x="23" y="6"/>
                    <a:pt x="23" y="5"/>
                  </a:cubicBezTo>
                  <a:cubicBezTo>
                    <a:pt x="23" y="5"/>
                    <a:pt x="22" y="4"/>
                    <a:pt x="2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8"/>
                    <a:pt x="4" y="15"/>
                    <a:pt x="4" y="23"/>
                  </a:cubicBezTo>
                  <a:cubicBezTo>
                    <a:pt x="4" y="27"/>
                    <a:pt x="4" y="32"/>
                    <a:pt x="4" y="36"/>
                  </a:cubicBezTo>
                  <a:cubicBezTo>
                    <a:pt x="4" y="37"/>
                    <a:pt x="4" y="38"/>
                    <a:pt x="6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1" name="Rectangle 18">
              <a:extLst>
                <a:ext uri="{FF2B5EF4-FFF2-40B4-BE49-F238E27FC236}">
                  <a16:creationId xmlns:a16="http://schemas.microsoft.com/office/drawing/2014/main" id="{3AF72384-4A65-4616-BF98-07E064146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1" y="5052478"/>
              <a:ext cx="5715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2" name="Rectangle 19">
              <a:extLst>
                <a:ext uri="{FF2B5EF4-FFF2-40B4-BE49-F238E27FC236}">
                  <a16:creationId xmlns:a16="http://schemas.microsoft.com/office/drawing/2014/main" id="{64AB562F-5EDF-471B-AF0E-457D0DC4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1" y="5400140"/>
              <a:ext cx="57150" cy="587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3" name="Rectangle 20">
              <a:extLst>
                <a:ext uri="{FF2B5EF4-FFF2-40B4-BE49-F238E27FC236}">
                  <a16:creationId xmlns:a16="http://schemas.microsoft.com/office/drawing/2014/main" id="{DBC115C9-B6D7-49A8-8AF7-CD83475C1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1" y="5770028"/>
              <a:ext cx="57150" cy="587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64" name="Группа 332">
            <a:extLst>
              <a:ext uri="{FF2B5EF4-FFF2-40B4-BE49-F238E27FC236}">
                <a16:creationId xmlns:a16="http://schemas.microsoft.com/office/drawing/2014/main" id="{08C332AC-B7D3-4CFC-A9E4-F85F031210E2}"/>
              </a:ext>
            </a:extLst>
          </p:cNvPr>
          <p:cNvGrpSpPr>
            <a:grpSpLocks noChangeAspect="1"/>
          </p:cNvGrpSpPr>
          <p:nvPr/>
        </p:nvGrpSpPr>
        <p:grpSpPr>
          <a:xfrm>
            <a:off x="4066605" y="3026287"/>
            <a:ext cx="341286" cy="235630"/>
            <a:chOff x="5537101" y="827894"/>
            <a:chExt cx="1292224" cy="892175"/>
          </a:xfrm>
          <a:solidFill>
            <a:srgbClr val="000000"/>
          </a:solidFill>
        </p:grpSpPr>
        <p:sp>
          <p:nvSpPr>
            <p:cNvPr id="165" name="Freeform 9">
              <a:extLst>
                <a:ext uri="{FF2B5EF4-FFF2-40B4-BE49-F238E27FC236}">
                  <a16:creationId xmlns:a16="http://schemas.microsoft.com/office/drawing/2014/main" id="{1F101F17-2C3B-4CA8-8300-EB869D849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6" name="Freeform 10">
              <a:extLst>
                <a:ext uri="{FF2B5EF4-FFF2-40B4-BE49-F238E27FC236}">
                  <a16:creationId xmlns:a16="http://schemas.microsoft.com/office/drawing/2014/main" id="{24684175-89BD-4AE3-BD57-AF3391365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7" name="Freeform 11">
              <a:extLst>
                <a:ext uri="{FF2B5EF4-FFF2-40B4-BE49-F238E27FC236}">
                  <a16:creationId xmlns:a16="http://schemas.microsoft.com/office/drawing/2014/main" id="{4A661A10-B2A3-4A2F-8714-01DBCDABA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8" name="Rectangle 12">
              <a:extLst>
                <a:ext uri="{FF2B5EF4-FFF2-40B4-BE49-F238E27FC236}">
                  <a16:creationId xmlns:a16="http://schemas.microsoft.com/office/drawing/2014/main" id="{C7A98532-3D9C-4056-9068-62EAD4880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9" name="Freeform 13">
              <a:extLst>
                <a:ext uri="{FF2B5EF4-FFF2-40B4-BE49-F238E27FC236}">
                  <a16:creationId xmlns:a16="http://schemas.microsoft.com/office/drawing/2014/main" id="{B6C6009A-80F8-43F7-BECA-1B7245BB6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0" name="Freeform 14">
              <a:extLst>
                <a:ext uri="{FF2B5EF4-FFF2-40B4-BE49-F238E27FC236}">
                  <a16:creationId xmlns:a16="http://schemas.microsoft.com/office/drawing/2014/main" id="{7D7127E5-1E07-407D-9948-E11AF450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71" name="Группа 198">
            <a:extLst>
              <a:ext uri="{FF2B5EF4-FFF2-40B4-BE49-F238E27FC236}">
                <a16:creationId xmlns:a16="http://schemas.microsoft.com/office/drawing/2014/main" id="{4CBD6410-E393-4CFF-BCB3-F2B6E552BD91}"/>
              </a:ext>
            </a:extLst>
          </p:cNvPr>
          <p:cNvGrpSpPr>
            <a:grpSpLocks noChangeAspect="1"/>
          </p:cNvGrpSpPr>
          <p:nvPr/>
        </p:nvGrpSpPr>
        <p:grpSpPr>
          <a:xfrm>
            <a:off x="4066527" y="4072878"/>
            <a:ext cx="258148" cy="280897"/>
            <a:chOff x="6625660" y="2082658"/>
            <a:chExt cx="713582" cy="776464"/>
          </a:xfrm>
        </p:grpSpPr>
        <p:sp>
          <p:nvSpPr>
            <p:cNvPr id="172" name="Полилиния: фигура 139">
              <a:extLst>
                <a:ext uri="{FF2B5EF4-FFF2-40B4-BE49-F238E27FC236}">
                  <a16:creationId xmlns:a16="http://schemas.microsoft.com/office/drawing/2014/main" id="{D4EE6EB2-1463-4A69-B351-E4213DBCC241}"/>
                </a:ext>
              </a:extLst>
            </p:cNvPr>
            <p:cNvSpPr/>
            <p:nvPr/>
          </p:nvSpPr>
          <p:spPr>
            <a:xfrm>
              <a:off x="6625660" y="2082658"/>
              <a:ext cx="713582" cy="199584"/>
            </a:xfrm>
            <a:custGeom>
              <a:avLst/>
              <a:gdLst>
                <a:gd name="connsiteX0" fmla="*/ 699913 w 713582"/>
                <a:gd name="connsiteY0" fmla="*/ 199585 h 199584"/>
                <a:gd name="connsiteX1" fmla="*/ 13670 w 713582"/>
                <a:gd name="connsiteY1" fmla="*/ 199585 h 199584"/>
                <a:gd name="connsiteX2" fmla="*/ 0 w 713582"/>
                <a:gd name="connsiteY2" fmla="*/ 185914 h 199584"/>
                <a:gd name="connsiteX3" fmla="*/ 0 w 713582"/>
                <a:gd name="connsiteY3" fmla="*/ 13670 h 199584"/>
                <a:gd name="connsiteX4" fmla="*/ 13670 w 713582"/>
                <a:gd name="connsiteY4" fmla="*/ 0 h 199584"/>
                <a:gd name="connsiteX5" fmla="*/ 92957 w 713582"/>
                <a:gd name="connsiteY5" fmla="*/ 0 h 199584"/>
                <a:gd name="connsiteX6" fmla="*/ 92957 w 713582"/>
                <a:gd name="connsiteY6" fmla="*/ 27340 h 199584"/>
                <a:gd name="connsiteX7" fmla="*/ 27340 w 713582"/>
                <a:gd name="connsiteY7" fmla="*/ 27340 h 199584"/>
                <a:gd name="connsiteX8" fmla="*/ 27340 w 713582"/>
                <a:gd name="connsiteY8" fmla="*/ 172244 h 199584"/>
                <a:gd name="connsiteX9" fmla="*/ 686243 w 713582"/>
                <a:gd name="connsiteY9" fmla="*/ 172244 h 199584"/>
                <a:gd name="connsiteX10" fmla="*/ 686243 w 713582"/>
                <a:gd name="connsiteY10" fmla="*/ 27340 h 199584"/>
                <a:gd name="connsiteX11" fmla="*/ 308946 w 713582"/>
                <a:gd name="connsiteY11" fmla="*/ 27340 h 199584"/>
                <a:gd name="connsiteX12" fmla="*/ 308946 w 713582"/>
                <a:gd name="connsiteY12" fmla="*/ 0 h 199584"/>
                <a:gd name="connsiteX13" fmla="*/ 699913 w 713582"/>
                <a:gd name="connsiteY13" fmla="*/ 0 h 199584"/>
                <a:gd name="connsiteX14" fmla="*/ 713583 w 713582"/>
                <a:gd name="connsiteY14" fmla="*/ 13670 h 199584"/>
                <a:gd name="connsiteX15" fmla="*/ 713583 w 713582"/>
                <a:gd name="connsiteY15" fmla="*/ 185914 h 199584"/>
                <a:gd name="connsiteX16" fmla="*/ 699913 w 713582"/>
                <a:gd name="connsiteY16" fmla="*/ 199585 h 19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3582" h="199584">
                  <a:moveTo>
                    <a:pt x="699913" y="199585"/>
                  </a:moveTo>
                  <a:lnTo>
                    <a:pt x="13670" y="199585"/>
                  </a:lnTo>
                  <a:cubicBezTo>
                    <a:pt x="5468" y="199585"/>
                    <a:pt x="0" y="194116"/>
                    <a:pt x="0" y="185914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92957" y="0"/>
                  </a:lnTo>
                  <a:lnTo>
                    <a:pt x="92957" y="27340"/>
                  </a:lnTo>
                  <a:lnTo>
                    <a:pt x="27340" y="27340"/>
                  </a:lnTo>
                  <a:lnTo>
                    <a:pt x="27340" y="172244"/>
                  </a:lnTo>
                  <a:lnTo>
                    <a:pt x="686243" y="172244"/>
                  </a:lnTo>
                  <a:lnTo>
                    <a:pt x="686243" y="27340"/>
                  </a:lnTo>
                  <a:lnTo>
                    <a:pt x="308946" y="27340"/>
                  </a:lnTo>
                  <a:lnTo>
                    <a:pt x="308946" y="0"/>
                  </a:lnTo>
                  <a:lnTo>
                    <a:pt x="699913" y="0"/>
                  </a:lnTo>
                  <a:cubicBezTo>
                    <a:pt x="708115" y="0"/>
                    <a:pt x="713583" y="5468"/>
                    <a:pt x="713583" y="13670"/>
                  </a:cubicBezTo>
                  <a:lnTo>
                    <a:pt x="713583" y="185914"/>
                  </a:lnTo>
                  <a:cubicBezTo>
                    <a:pt x="713583" y="194116"/>
                    <a:pt x="708115" y="199585"/>
                    <a:pt x="699913" y="199585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40">
              <a:extLst>
                <a:ext uri="{FF2B5EF4-FFF2-40B4-BE49-F238E27FC236}">
                  <a16:creationId xmlns:a16="http://schemas.microsoft.com/office/drawing/2014/main" id="{886A1773-AA7C-4AC9-8FC7-34A39FE020AD}"/>
                </a:ext>
              </a:extLst>
            </p:cNvPr>
            <p:cNvSpPr/>
            <p:nvPr/>
          </p:nvSpPr>
          <p:spPr>
            <a:xfrm>
              <a:off x="6642064" y="2711485"/>
              <a:ext cx="680774" cy="147637"/>
            </a:xfrm>
            <a:custGeom>
              <a:avLst/>
              <a:gdLst>
                <a:gd name="connsiteX0" fmla="*/ 276138 w 680774"/>
                <a:gd name="connsiteY0" fmla="*/ 57415 h 147637"/>
                <a:gd name="connsiteX1" fmla="*/ 276138 w 680774"/>
                <a:gd name="connsiteY1" fmla="*/ 0 h 147637"/>
                <a:gd name="connsiteX2" fmla="*/ 401903 w 680774"/>
                <a:gd name="connsiteY2" fmla="*/ 0 h 147637"/>
                <a:gd name="connsiteX3" fmla="*/ 401903 w 680774"/>
                <a:gd name="connsiteY3" fmla="*/ 57415 h 147637"/>
                <a:gd name="connsiteX4" fmla="*/ 478456 w 680774"/>
                <a:gd name="connsiteY4" fmla="*/ 57415 h 147637"/>
                <a:gd name="connsiteX5" fmla="*/ 478456 w 680774"/>
                <a:gd name="connsiteY5" fmla="*/ 79287 h 147637"/>
                <a:gd name="connsiteX6" fmla="*/ 680775 w 680774"/>
                <a:gd name="connsiteY6" fmla="*/ 79287 h 147637"/>
                <a:gd name="connsiteX7" fmla="*/ 680775 w 680774"/>
                <a:gd name="connsiteY7" fmla="*/ 123032 h 147637"/>
                <a:gd name="connsiteX8" fmla="*/ 478456 w 680774"/>
                <a:gd name="connsiteY8" fmla="*/ 123032 h 147637"/>
                <a:gd name="connsiteX9" fmla="*/ 478456 w 680774"/>
                <a:gd name="connsiteY9" fmla="*/ 147638 h 147637"/>
                <a:gd name="connsiteX10" fmla="*/ 199585 w 680774"/>
                <a:gd name="connsiteY10" fmla="*/ 147638 h 147637"/>
                <a:gd name="connsiteX11" fmla="*/ 199585 w 680774"/>
                <a:gd name="connsiteY11" fmla="*/ 123032 h 147637"/>
                <a:gd name="connsiteX12" fmla="*/ 0 w 680774"/>
                <a:gd name="connsiteY12" fmla="*/ 123032 h 147637"/>
                <a:gd name="connsiteX13" fmla="*/ 0 w 680774"/>
                <a:gd name="connsiteY13" fmla="*/ 79287 h 147637"/>
                <a:gd name="connsiteX14" fmla="*/ 199585 w 680774"/>
                <a:gd name="connsiteY14" fmla="*/ 79287 h 147637"/>
                <a:gd name="connsiteX15" fmla="*/ 199585 w 680774"/>
                <a:gd name="connsiteY15" fmla="*/ 57415 h 147637"/>
                <a:gd name="connsiteX16" fmla="*/ 276138 w 680774"/>
                <a:gd name="connsiteY16" fmla="*/ 57415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0774" h="147637">
                  <a:moveTo>
                    <a:pt x="276138" y="57415"/>
                  </a:moveTo>
                  <a:lnTo>
                    <a:pt x="276138" y="0"/>
                  </a:lnTo>
                  <a:lnTo>
                    <a:pt x="401903" y="0"/>
                  </a:lnTo>
                  <a:lnTo>
                    <a:pt x="401903" y="57415"/>
                  </a:lnTo>
                  <a:lnTo>
                    <a:pt x="478456" y="57415"/>
                  </a:lnTo>
                  <a:lnTo>
                    <a:pt x="478456" y="79287"/>
                  </a:lnTo>
                  <a:lnTo>
                    <a:pt x="680775" y="79287"/>
                  </a:lnTo>
                  <a:lnTo>
                    <a:pt x="680775" y="123032"/>
                  </a:lnTo>
                  <a:lnTo>
                    <a:pt x="478456" y="123032"/>
                  </a:lnTo>
                  <a:lnTo>
                    <a:pt x="478456" y="147638"/>
                  </a:lnTo>
                  <a:lnTo>
                    <a:pt x="199585" y="147638"/>
                  </a:lnTo>
                  <a:lnTo>
                    <a:pt x="199585" y="123032"/>
                  </a:lnTo>
                  <a:lnTo>
                    <a:pt x="0" y="123032"/>
                  </a:lnTo>
                  <a:lnTo>
                    <a:pt x="0" y="79287"/>
                  </a:lnTo>
                  <a:lnTo>
                    <a:pt x="199585" y="79287"/>
                  </a:lnTo>
                  <a:lnTo>
                    <a:pt x="199585" y="57415"/>
                  </a:lnTo>
                  <a:lnTo>
                    <a:pt x="276138" y="57415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41">
              <a:extLst>
                <a:ext uri="{FF2B5EF4-FFF2-40B4-BE49-F238E27FC236}">
                  <a16:creationId xmlns:a16="http://schemas.microsoft.com/office/drawing/2014/main" id="{3BAF5E64-DA65-4CB2-BAA6-EE1E4A97A6F9}"/>
                </a:ext>
              </a:extLst>
            </p:cNvPr>
            <p:cNvSpPr/>
            <p:nvPr/>
          </p:nvSpPr>
          <p:spPr>
            <a:xfrm>
              <a:off x="6625660" y="2490029"/>
              <a:ext cx="713582" cy="196850"/>
            </a:xfrm>
            <a:custGeom>
              <a:avLst/>
              <a:gdLst>
                <a:gd name="connsiteX0" fmla="*/ 699913 w 713582"/>
                <a:gd name="connsiteY0" fmla="*/ 196851 h 196850"/>
                <a:gd name="connsiteX1" fmla="*/ 13670 w 713582"/>
                <a:gd name="connsiteY1" fmla="*/ 196851 h 196850"/>
                <a:gd name="connsiteX2" fmla="*/ 0 w 713582"/>
                <a:gd name="connsiteY2" fmla="*/ 183180 h 196850"/>
                <a:gd name="connsiteX3" fmla="*/ 0 w 713582"/>
                <a:gd name="connsiteY3" fmla="*/ 13670 h 196850"/>
                <a:gd name="connsiteX4" fmla="*/ 13670 w 713582"/>
                <a:gd name="connsiteY4" fmla="*/ 0 h 196850"/>
                <a:gd name="connsiteX5" fmla="*/ 136702 w 713582"/>
                <a:gd name="connsiteY5" fmla="*/ 0 h 196850"/>
                <a:gd name="connsiteX6" fmla="*/ 136702 w 713582"/>
                <a:gd name="connsiteY6" fmla="*/ 27340 h 196850"/>
                <a:gd name="connsiteX7" fmla="*/ 27340 w 713582"/>
                <a:gd name="connsiteY7" fmla="*/ 27340 h 196850"/>
                <a:gd name="connsiteX8" fmla="*/ 27340 w 713582"/>
                <a:gd name="connsiteY8" fmla="*/ 169510 h 196850"/>
                <a:gd name="connsiteX9" fmla="*/ 686243 w 713582"/>
                <a:gd name="connsiteY9" fmla="*/ 169510 h 196850"/>
                <a:gd name="connsiteX10" fmla="*/ 686243 w 713582"/>
                <a:gd name="connsiteY10" fmla="*/ 27340 h 196850"/>
                <a:gd name="connsiteX11" fmla="*/ 393701 w 713582"/>
                <a:gd name="connsiteY11" fmla="*/ 27340 h 196850"/>
                <a:gd name="connsiteX12" fmla="*/ 393701 w 713582"/>
                <a:gd name="connsiteY12" fmla="*/ 0 h 196850"/>
                <a:gd name="connsiteX13" fmla="*/ 699913 w 713582"/>
                <a:gd name="connsiteY13" fmla="*/ 0 h 196850"/>
                <a:gd name="connsiteX14" fmla="*/ 713583 w 713582"/>
                <a:gd name="connsiteY14" fmla="*/ 13670 h 196850"/>
                <a:gd name="connsiteX15" fmla="*/ 713583 w 713582"/>
                <a:gd name="connsiteY15" fmla="*/ 183180 h 196850"/>
                <a:gd name="connsiteX16" fmla="*/ 699913 w 713582"/>
                <a:gd name="connsiteY16" fmla="*/ 196851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3582" h="196850">
                  <a:moveTo>
                    <a:pt x="699913" y="196851"/>
                  </a:moveTo>
                  <a:lnTo>
                    <a:pt x="13670" y="196851"/>
                  </a:lnTo>
                  <a:cubicBezTo>
                    <a:pt x="5468" y="196851"/>
                    <a:pt x="0" y="191382"/>
                    <a:pt x="0" y="183180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36702" y="0"/>
                  </a:lnTo>
                  <a:lnTo>
                    <a:pt x="136702" y="27340"/>
                  </a:lnTo>
                  <a:lnTo>
                    <a:pt x="27340" y="27340"/>
                  </a:lnTo>
                  <a:lnTo>
                    <a:pt x="27340" y="169510"/>
                  </a:lnTo>
                  <a:lnTo>
                    <a:pt x="686243" y="169510"/>
                  </a:lnTo>
                  <a:lnTo>
                    <a:pt x="686243" y="27340"/>
                  </a:lnTo>
                  <a:lnTo>
                    <a:pt x="393701" y="27340"/>
                  </a:lnTo>
                  <a:lnTo>
                    <a:pt x="393701" y="0"/>
                  </a:lnTo>
                  <a:lnTo>
                    <a:pt x="699913" y="0"/>
                  </a:lnTo>
                  <a:cubicBezTo>
                    <a:pt x="708115" y="0"/>
                    <a:pt x="713583" y="5468"/>
                    <a:pt x="713583" y="13670"/>
                  </a:cubicBezTo>
                  <a:lnTo>
                    <a:pt x="713583" y="183180"/>
                  </a:lnTo>
                  <a:cubicBezTo>
                    <a:pt x="713583" y="191382"/>
                    <a:pt x="708115" y="196851"/>
                    <a:pt x="699913" y="196851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42">
              <a:extLst>
                <a:ext uri="{FF2B5EF4-FFF2-40B4-BE49-F238E27FC236}">
                  <a16:creationId xmlns:a16="http://schemas.microsoft.com/office/drawing/2014/main" id="{7E7BC6E7-A1DB-4DB3-AB16-24A02BF33053}"/>
                </a:ext>
              </a:extLst>
            </p:cNvPr>
            <p:cNvSpPr/>
            <p:nvPr/>
          </p:nvSpPr>
          <p:spPr>
            <a:xfrm>
              <a:off x="6625660" y="2284976"/>
              <a:ext cx="713582" cy="199584"/>
            </a:xfrm>
            <a:custGeom>
              <a:avLst/>
              <a:gdLst>
                <a:gd name="connsiteX0" fmla="*/ 699913 w 713582"/>
                <a:gd name="connsiteY0" fmla="*/ 199585 h 199584"/>
                <a:gd name="connsiteX1" fmla="*/ 13670 w 713582"/>
                <a:gd name="connsiteY1" fmla="*/ 199585 h 199584"/>
                <a:gd name="connsiteX2" fmla="*/ 0 w 713582"/>
                <a:gd name="connsiteY2" fmla="*/ 185914 h 199584"/>
                <a:gd name="connsiteX3" fmla="*/ 0 w 713582"/>
                <a:gd name="connsiteY3" fmla="*/ 13670 h 199584"/>
                <a:gd name="connsiteX4" fmla="*/ 13670 w 713582"/>
                <a:gd name="connsiteY4" fmla="*/ 0 h 199584"/>
                <a:gd name="connsiteX5" fmla="*/ 317148 w 713582"/>
                <a:gd name="connsiteY5" fmla="*/ 0 h 199584"/>
                <a:gd name="connsiteX6" fmla="*/ 317148 w 713582"/>
                <a:gd name="connsiteY6" fmla="*/ 27340 h 199584"/>
                <a:gd name="connsiteX7" fmla="*/ 27340 w 713582"/>
                <a:gd name="connsiteY7" fmla="*/ 27340 h 199584"/>
                <a:gd name="connsiteX8" fmla="*/ 27340 w 713582"/>
                <a:gd name="connsiteY8" fmla="*/ 172244 h 199584"/>
                <a:gd name="connsiteX9" fmla="*/ 686243 w 713582"/>
                <a:gd name="connsiteY9" fmla="*/ 172244 h 199584"/>
                <a:gd name="connsiteX10" fmla="*/ 686243 w 713582"/>
                <a:gd name="connsiteY10" fmla="*/ 27340 h 199584"/>
                <a:gd name="connsiteX11" fmla="*/ 601488 w 713582"/>
                <a:gd name="connsiteY11" fmla="*/ 27340 h 199584"/>
                <a:gd name="connsiteX12" fmla="*/ 601488 w 713582"/>
                <a:gd name="connsiteY12" fmla="*/ 0 h 199584"/>
                <a:gd name="connsiteX13" fmla="*/ 699913 w 713582"/>
                <a:gd name="connsiteY13" fmla="*/ 0 h 199584"/>
                <a:gd name="connsiteX14" fmla="*/ 713583 w 713582"/>
                <a:gd name="connsiteY14" fmla="*/ 13670 h 199584"/>
                <a:gd name="connsiteX15" fmla="*/ 713583 w 713582"/>
                <a:gd name="connsiteY15" fmla="*/ 185914 h 199584"/>
                <a:gd name="connsiteX16" fmla="*/ 699913 w 713582"/>
                <a:gd name="connsiteY16" fmla="*/ 199585 h 19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3582" h="199584">
                  <a:moveTo>
                    <a:pt x="699913" y="199585"/>
                  </a:moveTo>
                  <a:lnTo>
                    <a:pt x="13670" y="199585"/>
                  </a:lnTo>
                  <a:cubicBezTo>
                    <a:pt x="5468" y="199585"/>
                    <a:pt x="0" y="194116"/>
                    <a:pt x="0" y="185914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7148" y="0"/>
                  </a:lnTo>
                  <a:lnTo>
                    <a:pt x="317148" y="27340"/>
                  </a:lnTo>
                  <a:lnTo>
                    <a:pt x="27340" y="27340"/>
                  </a:lnTo>
                  <a:lnTo>
                    <a:pt x="27340" y="172244"/>
                  </a:lnTo>
                  <a:lnTo>
                    <a:pt x="686243" y="172244"/>
                  </a:lnTo>
                  <a:lnTo>
                    <a:pt x="686243" y="27340"/>
                  </a:lnTo>
                  <a:lnTo>
                    <a:pt x="601488" y="27340"/>
                  </a:lnTo>
                  <a:lnTo>
                    <a:pt x="601488" y="0"/>
                  </a:lnTo>
                  <a:lnTo>
                    <a:pt x="699913" y="0"/>
                  </a:lnTo>
                  <a:cubicBezTo>
                    <a:pt x="708115" y="0"/>
                    <a:pt x="713583" y="5468"/>
                    <a:pt x="713583" y="13670"/>
                  </a:cubicBezTo>
                  <a:lnTo>
                    <a:pt x="713583" y="185914"/>
                  </a:lnTo>
                  <a:cubicBezTo>
                    <a:pt x="713583" y="194116"/>
                    <a:pt x="708115" y="199585"/>
                    <a:pt x="699913" y="199585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76" name="Рисунок 12">
              <a:extLst>
                <a:ext uri="{FF2B5EF4-FFF2-40B4-BE49-F238E27FC236}">
                  <a16:creationId xmlns:a16="http://schemas.microsoft.com/office/drawing/2014/main" id="{135F2A5C-58B7-4EC5-9993-77F26BF93EA1}"/>
                </a:ext>
              </a:extLst>
            </p:cNvPr>
            <p:cNvGrpSpPr/>
            <p:nvPr/>
          </p:nvGrpSpPr>
          <p:grpSpPr>
            <a:xfrm>
              <a:off x="6713149" y="2153742"/>
              <a:ext cx="287073" cy="62882"/>
              <a:chOff x="6713149" y="2153742"/>
              <a:chExt cx="287073" cy="62882"/>
            </a:xfrm>
            <a:solidFill>
              <a:srgbClr val="FFFFFF"/>
            </a:solidFill>
          </p:grpSpPr>
          <p:sp>
            <p:nvSpPr>
              <p:cNvPr id="177" name="Полилиния: фигура 144">
                <a:extLst>
                  <a:ext uri="{FF2B5EF4-FFF2-40B4-BE49-F238E27FC236}">
                    <a16:creationId xmlns:a16="http://schemas.microsoft.com/office/drawing/2014/main" id="{C8D4BFC7-24DC-489D-A5C1-B350E6C2AA08}"/>
                  </a:ext>
                </a:extLst>
              </p:cNvPr>
              <p:cNvSpPr/>
              <p:nvPr/>
            </p:nvSpPr>
            <p:spPr>
              <a:xfrm>
                <a:off x="6825244" y="2153742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8" name="Полилиния: фигура 145">
                <a:extLst>
                  <a:ext uri="{FF2B5EF4-FFF2-40B4-BE49-F238E27FC236}">
                    <a16:creationId xmlns:a16="http://schemas.microsoft.com/office/drawing/2014/main" id="{735CB5F3-9D99-4482-803A-A9A55B2D2F05}"/>
                  </a:ext>
                </a:extLst>
              </p:cNvPr>
              <p:cNvSpPr/>
              <p:nvPr/>
            </p:nvSpPr>
            <p:spPr>
              <a:xfrm>
                <a:off x="6937340" y="2153742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9" name="Полилиния: фигура 146">
                <a:extLst>
                  <a:ext uri="{FF2B5EF4-FFF2-40B4-BE49-F238E27FC236}">
                    <a16:creationId xmlns:a16="http://schemas.microsoft.com/office/drawing/2014/main" id="{8FC50CDF-492F-4D1C-A5B2-7DDA47B247EA}"/>
                  </a:ext>
                </a:extLst>
              </p:cNvPr>
              <p:cNvSpPr/>
              <p:nvPr/>
            </p:nvSpPr>
            <p:spPr>
              <a:xfrm>
                <a:off x="6713149" y="2153742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80" name="Полилиния: фигура 147">
              <a:extLst>
                <a:ext uri="{FF2B5EF4-FFF2-40B4-BE49-F238E27FC236}">
                  <a16:creationId xmlns:a16="http://schemas.microsoft.com/office/drawing/2014/main" id="{8ED65776-7318-446B-A0DC-97334F9838A8}"/>
                </a:ext>
              </a:extLst>
            </p:cNvPr>
            <p:cNvSpPr/>
            <p:nvPr/>
          </p:nvSpPr>
          <p:spPr>
            <a:xfrm>
              <a:off x="6713149" y="2561114"/>
              <a:ext cx="62882" cy="62882"/>
            </a:xfrm>
            <a:custGeom>
              <a:avLst/>
              <a:gdLst>
                <a:gd name="connsiteX0" fmla="*/ 0 w 62882"/>
                <a:gd name="connsiteY0" fmla="*/ 0 h 62882"/>
                <a:gd name="connsiteX1" fmla="*/ 62883 w 62882"/>
                <a:gd name="connsiteY1" fmla="*/ 0 h 62882"/>
                <a:gd name="connsiteX2" fmla="*/ 62883 w 62882"/>
                <a:gd name="connsiteY2" fmla="*/ 62883 h 62882"/>
                <a:gd name="connsiteX3" fmla="*/ 0 w 62882"/>
                <a:gd name="connsiteY3" fmla="*/ 62883 h 62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82" h="62882">
                  <a:moveTo>
                    <a:pt x="0" y="0"/>
                  </a:moveTo>
                  <a:lnTo>
                    <a:pt x="62883" y="0"/>
                  </a:lnTo>
                  <a:lnTo>
                    <a:pt x="62883" y="62883"/>
                  </a:lnTo>
                  <a:lnTo>
                    <a:pt x="0" y="62883"/>
                  </a:lnTo>
                  <a:close/>
                </a:path>
              </a:pathLst>
            </a:custGeom>
            <a:solidFill>
              <a:srgbClr val="FFFFFF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1" name="Рисунок 12">
              <a:extLst>
                <a:ext uri="{FF2B5EF4-FFF2-40B4-BE49-F238E27FC236}">
                  <a16:creationId xmlns:a16="http://schemas.microsoft.com/office/drawing/2014/main" id="{CD6EA769-1781-4698-935E-D40E696F4B23}"/>
                </a:ext>
              </a:extLst>
            </p:cNvPr>
            <p:cNvGrpSpPr/>
            <p:nvPr/>
          </p:nvGrpSpPr>
          <p:grpSpPr>
            <a:xfrm>
              <a:off x="6713149" y="2350593"/>
              <a:ext cx="174978" cy="62882"/>
              <a:chOff x="6713149" y="2350593"/>
              <a:chExt cx="174978" cy="62882"/>
            </a:xfrm>
            <a:solidFill>
              <a:srgbClr val="FFFFFF"/>
            </a:solidFill>
          </p:grpSpPr>
          <p:sp>
            <p:nvSpPr>
              <p:cNvPr id="182" name="Полилиния: фигура 149">
                <a:extLst>
                  <a:ext uri="{FF2B5EF4-FFF2-40B4-BE49-F238E27FC236}">
                    <a16:creationId xmlns:a16="http://schemas.microsoft.com/office/drawing/2014/main" id="{D7EE4F0F-99CD-4816-B5AC-6EF81D51F8DB}"/>
                  </a:ext>
                </a:extLst>
              </p:cNvPr>
              <p:cNvSpPr/>
              <p:nvPr/>
            </p:nvSpPr>
            <p:spPr>
              <a:xfrm>
                <a:off x="6825244" y="2350593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3" name="Полилиния: фигура 150">
                <a:extLst>
                  <a:ext uri="{FF2B5EF4-FFF2-40B4-BE49-F238E27FC236}">
                    <a16:creationId xmlns:a16="http://schemas.microsoft.com/office/drawing/2014/main" id="{EA66F771-DB4E-4CCB-A809-567D8A31B08D}"/>
                  </a:ext>
                </a:extLst>
              </p:cNvPr>
              <p:cNvSpPr/>
              <p:nvPr/>
            </p:nvSpPr>
            <p:spPr>
              <a:xfrm>
                <a:off x="6713149" y="2350593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84" name="Группа 536">
            <a:extLst>
              <a:ext uri="{FF2B5EF4-FFF2-40B4-BE49-F238E27FC236}">
                <a16:creationId xmlns:a16="http://schemas.microsoft.com/office/drawing/2014/main" id="{89E98368-6F5B-4155-8621-B8938E522650}"/>
              </a:ext>
            </a:extLst>
          </p:cNvPr>
          <p:cNvGrpSpPr>
            <a:grpSpLocks noChangeAspect="1"/>
          </p:cNvGrpSpPr>
          <p:nvPr/>
        </p:nvGrpSpPr>
        <p:grpSpPr>
          <a:xfrm>
            <a:off x="721947" y="4966239"/>
            <a:ext cx="344085" cy="325786"/>
            <a:chOff x="748802" y="4837609"/>
            <a:chExt cx="1058603" cy="1002304"/>
          </a:xfrm>
          <a:solidFill>
            <a:srgbClr val="000000"/>
          </a:solidFill>
        </p:grpSpPr>
        <p:sp>
          <p:nvSpPr>
            <p:cNvPr id="185" name="Полилиния: фигура 203">
              <a:extLst>
                <a:ext uri="{FF2B5EF4-FFF2-40B4-BE49-F238E27FC236}">
                  <a16:creationId xmlns:a16="http://schemas.microsoft.com/office/drawing/2014/main" id="{43C8CB44-4C0E-456C-AD6A-2494EA7161A0}"/>
                </a:ext>
              </a:extLst>
            </p:cNvPr>
            <p:cNvSpPr/>
            <p:nvPr/>
          </p:nvSpPr>
          <p:spPr>
            <a:xfrm>
              <a:off x="748802" y="5170470"/>
              <a:ext cx="671594" cy="669443"/>
            </a:xfrm>
            <a:custGeom>
              <a:avLst/>
              <a:gdLst>
                <a:gd name="connsiteX0" fmla="*/ 303838 w 554844"/>
                <a:gd name="connsiteY0" fmla="*/ 553067 h 553067"/>
                <a:gd name="connsiteX1" fmla="*/ 302690 w 554844"/>
                <a:gd name="connsiteY1" fmla="*/ 553067 h 553067"/>
                <a:gd name="connsiteX2" fmla="*/ 209660 w 554844"/>
                <a:gd name="connsiteY2" fmla="*/ 546176 h 553067"/>
                <a:gd name="connsiteX3" fmla="*/ 197600 w 554844"/>
                <a:gd name="connsiteY3" fmla="*/ 534691 h 553067"/>
                <a:gd name="connsiteX4" fmla="*/ 191283 w 554844"/>
                <a:gd name="connsiteY4" fmla="*/ 476691 h 553067"/>
                <a:gd name="connsiteX5" fmla="*/ 217125 w 554844"/>
                <a:gd name="connsiteY5" fmla="*/ 473819 h 553067"/>
                <a:gd name="connsiteX6" fmla="*/ 222293 w 554844"/>
                <a:gd name="connsiteY6" fmla="*/ 521483 h 553067"/>
                <a:gd name="connsiteX7" fmla="*/ 294650 w 554844"/>
                <a:gd name="connsiteY7" fmla="*/ 526651 h 553067"/>
                <a:gd name="connsiteX8" fmla="*/ 306710 w 554844"/>
                <a:gd name="connsiteY8" fmla="*/ 480136 h 553067"/>
                <a:gd name="connsiteX9" fmla="*/ 315898 w 554844"/>
                <a:gd name="connsiteY9" fmla="*/ 470948 h 553067"/>
                <a:gd name="connsiteX10" fmla="*/ 346334 w 554844"/>
                <a:gd name="connsiteY10" fmla="*/ 461760 h 553067"/>
                <a:gd name="connsiteX11" fmla="*/ 362413 w 554844"/>
                <a:gd name="connsiteY11" fmla="*/ 456591 h 553067"/>
                <a:gd name="connsiteX12" fmla="*/ 374472 w 554844"/>
                <a:gd name="connsiteY12" fmla="*/ 459463 h 553067"/>
                <a:gd name="connsiteX13" fmla="*/ 410651 w 554844"/>
                <a:gd name="connsiteY13" fmla="*/ 490473 h 553067"/>
                <a:gd name="connsiteX14" fmla="*/ 472097 w 554844"/>
                <a:gd name="connsiteY14" fmla="*/ 437067 h 553067"/>
                <a:gd name="connsiteX15" fmla="*/ 446255 w 554844"/>
                <a:gd name="connsiteY15" fmla="*/ 396868 h 553067"/>
                <a:gd name="connsiteX16" fmla="*/ 445681 w 554844"/>
                <a:gd name="connsiteY16" fmla="*/ 384235 h 553067"/>
                <a:gd name="connsiteX17" fmla="*/ 453146 w 554844"/>
                <a:gd name="connsiteY17" fmla="*/ 369304 h 553067"/>
                <a:gd name="connsiteX18" fmla="*/ 466354 w 554844"/>
                <a:gd name="connsiteY18" fmla="*/ 340591 h 553067"/>
                <a:gd name="connsiteX19" fmla="*/ 476691 w 554844"/>
                <a:gd name="connsiteY19" fmla="*/ 332551 h 553067"/>
                <a:gd name="connsiteX20" fmla="*/ 524354 w 554844"/>
                <a:gd name="connsiteY20" fmla="*/ 327383 h 553067"/>
                <a:gd name="connsiteX21" fmla="*/ 528374 w 554844"/>
                <a:gd name="connsiteY21" fmla="*/ 255600 h 553067"/>
                <a:gd name="connsiteX22" fmla="*/ 481859 w 554844"/>
                <a:gd name="connsiteY22" fmla="*/ 243541 h 553067"/>
                <a:gd name="connsiteX23" fmla="*/ 472097 w 554844"/>
                <a:gd name="connsiteY23" fmla="*/ 232630 h 553067"/>
                <a:gd name="connsiteX24" fmla="*/ 458889 w 554844"/>
                <a:gd name="connsiteY24" fmla="*/ 189560 h 553067"/>
                <a:gd name="connsiteX25" fmla="*/ 461186 w 554844"/>
                <a:gd name="connsiteY25" fmla="*/ 175778 h 553067"/>
                <a:gd name="connsiteX26" fmla="*/ 493344 w 554844"/>
                <a:gd name="connsiteY26" fmla="*/ 139025 h 553067"/>
                <a:gd name="connsiteX27" fmla="*/ 445681 w 554844"/>
                <a:gd name="connsiteY27" fmla="*/ 84471 h 553067"/>
                <a:gd name="connsiteX28" fmla="*/ 404334 w 554844"/>
                <a:gd name="connsiteY28" fmla="*/ 109164 h 553067"/>
                <a:gd name="connsiteX29" fmla="*/ 392274 w 554844"/>
                <a:gd name="connsiteY29" fmla="*/ 109738 h 553067"/>
                <a:gd name="connsiteX30" fmla="*/ 376769 w 554844"/>
                <a:gd name="connsiteY30" fmla="*/ 102273 h 553067"/>
                <a:gd name="connsiteX31" fmla="*/ 348056 w 554844"/>
                <a:gd name="connsiteY31" fmla="*/ 89065 h 553067"/>
                <a:gd name="connsiteX32" fmla="*/ 340017 w 554844"/>
                <a:gd name="connsiteY32" fmla="*/ 78728 h 553067"/>
                <a:gd name="connsiteX33" fmla="*/ 334848 w 554844"/>
                <a:gd name="connsiteY33" fmla="*/ 31064 h 553067"/>
                <a:gd name="connsiteX34" fmla="*/ 262491 w 554844"/>
                <a:gd name="connsiteY34" fmla="*/ 25896 h 553067"/>
                <a:gd name="connsiteX35" fmla="*/ 250432 w 554844"/>
                <a:gd name="connsiteY35" fmla="*/ 72411 h 553067"/>
                <a:gd name="connsiteX36" fmla="*/ 239521 w 554844"/>
                <a:gd name="connsiteY36" fmla="*/ 82174 h 553067"/>
                <a:gd name="connsiteX37" fmla="*/ 196452 w 554844"/>
                <a:gd name="connsiteY37" fmla="*/ 95382 h 553067"/>
                <a:gd name="connsiteX38" fmla="*/ 182669 w 554844"/>
                <a:gd name="connsiteY38" fmla="*/ 93659 h 553067"/>
                <a:gd name="connsiteX39" fmla="*/ 146491 w 554844"/>
                <a:gd name="connsiteY39" fmla="*/ 62649 h 553067"/>
                <a:gd name="connsiteX40" fmla="*/ 82748 w 554844"/>
                <a:gd name="connsiteY40" fmla="*/ 117778 h 553067"/>
                <a:gd name="connsiteX41" fmla="*/ 108590 w 554844"/>
                <a:gd name="connsiteY41" fmla="*/ 157976 h 553067"/>
                <a:gd name="connsiteX42" fmla="*/ 108590 w 554844"/>
                <a:gd name="connsiteY42" fmla="*/ 171758 h 553067"/>
                <a:gd name="connsiteX43" fmla="*/ 89065 w 554844"/>
                <a:gd name="connsiteY43" fmla="*/ 212531 h 553067"/>
                <a:gd name="connsiteX44" fmla="*/ 78154 w 554844"/>
                <a:gd name="connsiteY44" fmla="*/ 221719 h 553067"/>
                <a:gd name="connsiteX45" fmla="*/ 30490 w 554844"/>
                <a:gd name="connsiteY45" fmla="*/ 226887 h 553067"/>
                <a:gd name="connsiteX46" fmla="*/ 26470 w 554844"/>
                <a:gd name="connsiteY46" fmla="*/ 299244 h 553067"/>
                <a:gd name="connsiteX47" fmla="*/ 72411 w 554844"/>
                <a:gd name="connsiteY47" fmla="*/ 311304 h 553067"/>
                <a:gd name="connsiteX48" fmla="*/ 66669 w 554844"/>
                <a:gd name="connsiteY48" fmla="*/ 336571 h 553067"/>
                <a:gd name="connsiteX49" fmla="*/ 9817 w 554844"/>
                <a:gd name="connsiteY49" fmla="*/ 321640 h 553067"/>
                <a:gd name="connsiteX50" fmla="*/ 54 w 554844"/>
                <a:gd name="connsiteY50" fmla="*/ 308432 h 553067"/>
                <a:gd name="connsiteX51" fmla="*/ 6946 w 554844"/>
                <a:gd name="connsiteY51" fmla="*/ 214828 h 553067"/>
                <a:gd name="connsiteX52" fmla="*/ 18431 w 554844"/>
                <a:gd name="connsiteY52" fmla="*/ 202768 h 553067"/>
                <a:gd name="connsiteX53" fmla="*/ 68391 w 554844"/>
                <a:gd name="connsiteY53" fmla="*/ 197026 h 553067"/>
                <a:gd name="connsiteX54" fmla="*/ 83896 w 554844"/>
                <a:gd name="connsiteY54" fmla="*/ 164867 h 553067"/>
                <a:gd name="connsiteX55" fmla="*/ 56332 w 554844"/>
                <a:gd name="connsiteY55" fmla="*/ 122372 h 553067"/>
                <a:gd name="connsiteX56" fmla="*/ 58629 w 554844"/>
                <a:gd name="connsiteY56" fmla="*/ 105718 h 553067"/>
                <a:gd name="connsiteX57" fmla="*/ 139025 w 554844"/>
                <a:gd name="connsiteY57" fmla="*/ 35659 h 553067"/>
                <a:gd name="connsiteX58" fmla="*/ 155679 w 554844"/>
                <a:gd name="connsiteY58" fmla="*/ 35659 h 553067"/>
                <a:gd name="connsiteX59" fmla="*/ 194154 w 554844"/>
                <a:gd name="connsiteY59" fmla="*/ 68966 h 553067"/>
                <a:gd name="connsiteX60" fmla="*/ 228610 w 554844"/>
                <a:gd name="connsiteY60" fmla="*/ 58055 h 553067"/>
                <a:gd name="connsiteX61" fmla="*/ 241244 w 554844"/>
                <a:gd name="connsiteY61" fmla="*/ 9817 h 553067"/>
                <a:gd name="connsiteX62" fmla="*/ 254452 w 554844"/>
                <a:gd name="connsiteY62" fmla="*/ 54 h 553067"/>
                <a:gd name="connsiteX63" fmla="*/ 348056 w 554844"/>
                <a:gd name="connsiteY63" fmla="*/ 6371 h 553067"/>
                <a:gd name="connsiteX64" fmla="*/ 360116 w 554844"/>
                <a:gd name="connsiteY64" fmla="*/ 17856 h 553067"/>
                <a:gd name="connsiteX65" fmla="*/ 365858 w 554844"/>
                <a:gd name="connsiteY65" fmla="*/ 68391 h 553067"/>
                <a:gd name="connsiteX66" fmla="*/ 388829 w 554844"/>
                <a:gd name="connsiteY66" fmla="*/ 79302 h 553067"/>
                <a:gd name="connsiteX67" fmla="*/ 397443 w 554844"/>
                <a:gd name="connsiteY67" fmla="*/ 83322 h 553067"/>
                <a:gd name="connsiteX68" fmla="*/ 441661 w 554844"/>
                <a:gd name="connsiteY68" fmla="*/ 56332 h 553067"/>
                <a:gd name="connsiteX69" fmla="*/ 458314 w 554844"/>
                <a:gd name="connsiteY69" fmla="*/ 58629 h 553067"/>
                <a:gd name="connsiteX70" fmla="*/ 520334 w 554844"/>
                <a:gd name="connsiteY70" fmla="*/ 130412 h 553067"/>
                <a:gd name="connsiteX71" fmla="*/ 520334 w 554844"/>
                <a:gd name="connsiteY71" fmla="*/ 147639 h 553067"/>
                <a:gd name="connsiteX72" fmla="*/ 485879 w 554844"/>
                <a:gd name="connsiteY72" fmla="*/ 187263 h 553067"/>
                <a:gd name="connsiteX73" fmla="*/ 496790 w 554844"/>
                <a:gd name="connsiteY73" fmla="*/ 221719 h 553067"/>
                <a:gd name="connsiteX74" fmla="*/ 545028 w 554844"/>
                <a:gd name="connsiteY74" fmla="*/ 234353 h 553067"/>
                <a:gd name="connsiteX75" fmla="*/ 554790 w 554844"/>
                <a:gd name="connsiteY75" fmla="*/ 247561 h 553067"/>
                <a:gd name="connsiteX76" fmla="*/ 547899 w 554844"/>
                <a:gd name="connsiteY76" fmla="*/ 341165 h 553067"/>
                <a:gd name="connsiteX77" fmla="*/ 536414 w 554844"/>
                <a:gd name="connsiteY77" fmla="*/ 353225 h 553067"/>
                <a:gd name="connsiteX78" fmla="*/ 485879 w 554844"/>
                <a:gd name="connsiteY78" fmla="*/ 358967 h 553067"/>
                <a:gd name="connsiteX79" fmla="*/ 474968 w 554844"/>
                <a:gd name="connsiteY79" fmla="*/ 381938 h 553067"/>
                <a:gd name="connsiteX80" fmla="*/ 470948 w 554844"/>
                <a:gd name="connsiteY80" fmla="*/ 390552 h 553067"/>
                <a:gd name="connsiteX81" fmla="*/ 499087 w 554844"/>
                <a:gd name="connsiteY81" fmla="*/ 433621 h 553067"/>
                <a:gd name="connsiteX82" fmla="*/ 496790 w 554844"/>
                <a:gd name="connsiteY82" fmla="*/ 450275 h 553067"/>
                <a:gd name="connsiteX83" fmla="*/ 418690 w 554844"/>
                <a:gd name="connsiteY83" fmla="*/ 517463 h 553067"/>
                <a:gd name="connsiteX84" fmla="*/ 402037 w 554844"/>
                <a:gd name="connsiteY84" fmla="*/ 517463 h 553067"/>
                <a:gd name="connsiteX85" fmla="*/ 362987 w 554844"/>
                <a:gd name="connsiteY85" fmla="*/ 483582 h 553067"/>
                <a:gd name="connsiteX86" fmla="*/ 353799 w 554844"/>
                <a:gd name="connsiteY86" fmla="*/ 486453 h 553067"/>
                <a:gd name="connsiteX87" fmla="*/ 329680 w 554844"/>
                <a:gd name="connsiteY87" fmla="*/ 493918 h 553067"/>
                <a:gd name="connsiteX88" fmla="*/ 317046 w 554844"/>
                <a:gd name="connsiteY88" fmla="*/ 543305 h 553067"/>
                <a:gd name="connsiteX89" fmla="*/ 303838 w 554844"/>
                <a:gd name="connsiteY89" fmla="*/ 553067 h 55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54844" h="553067">
                  <a:moveTo>
                    <a:pt x="303838" y="553067"/>
                  </a:moveTo>
                  <a:cubicBezTo>
                    <a:pt x="303264" y="553067"/>
                    <a:pt x="303264" y="553067"/>
                    <a:pt x="302690" y="553067"/>
                  </a:cubicBezTo>
                  <a:lnTo>
                    <a:pt x="209660" y="546176"/>
                  </a:lnTo>
                  <a:cubicBezTo>
                    <a:pt x="203343" y="545602"/>
                    <a:pt x="198174" y="541008"/>
                    <a:pt x="197600" y="534691"/>
                  </a:cubicBezTo>
                  <a:lnTo>
                    <a:pt x="191283" y="476691"/>
                  </a:lnTo>
                  <a:lnTo>
                    <a:pt x="217125" y="473819"/>
                  </a:lnTo>
                  <a:lnTo>
                    <a:pt x="222293" y="521483"/>
                  </a:lnTo>
                  <a:lnTo>
                    <a:pt x="294650" y="526651"/>
                  </a:lnTo>
                  <a:lnTo>
                    <a:pt x="306710" y="480136"/>
                  </a:lnTo>
                  <a:cubicBezTo>
                    <a:pt x="307858" y="475542"/>
                    <a:pt x="311304" y="472097"/>
                    <a:pt x="315898" y="470948"/>
                  </a:cubicBezTo>
                  <a:cubicBezTo>
                    <a:pt x="325086" y="468651"/>
                    <a:pt x="335423" y="465205"/>
                    <a:pt x="346334" y="461760"/>
                  </a:cubicBezTo>
                  <a:lnTo>
                    <a:pt x="362413" y="456591"/>
                  </a:lnTo>
                  <a:cubicBezTo>
                    <a:pt x="366433" y="455443"/>
                    <a:pt x="371027" y="456017"/>
                    <a:pt x="374472" y="459463"/>
                  </a:cubicBezTo>
                  <a:lnTo>
                    <a:pt x="410651" y="490473"/>
                  </a:lnTo>
                  <a:lnTo>
                    <a:pt x="472097" y="437067"/>
                  </a:lnTo>
                  <a:lnTo>
                    <a:pt x="446255" y="396868"/>
                  </a:lnTo>
                  <a:cubicBezTo>
                    <a:pt x="443958" y="392849"/>
                    <a:pt x="443384" y="388254"/>
                    <a:pt x="445681" y="384235"/>
                  </a:cubicBezTo>
                  <a:lnTo>
                    <a:pt x="453146" y="369304"/>
                  </a:lnTo>
                  <a:cubicBezTo>
                    <a:pt x="457740" y="359541"/>
                    <a:pt x="462908" y="349205"/>
                    <a:pt x="466354" y="340591"/>
                  </a:cubicBezTo>
                  <a:cubicBezTo>
                    <a:pt x="468077" y="335997"/>
                    <a:pt x="472097" y="333125"/>
                    <a:pt x="476691" y="332551"/>
                  </a:cubicBezTo>
                  <a:lnTo>
                    <a:pt x="524354" y="327383"/>
                  </a:lnTo>
                  <a:lnTo>
                    <a:pt x="528374" y="255600"/>
                  </a:lnTo>
                  <a:lnTo>
                    <a:pt x="481859" y="243541"/>
                  </a:lnTo>
                  <a:cubicBezTo>
                    <a:pt x="476691" y="242392"/>
                    <a:pt x="472671" y="237798"/>
                    <a:pt x="472097" y="232630"/>
                  </a:cubicBezTo>
                  <a:cubicBezTo>
                    <a:pt x="469800" y="216551"/>
                    <a:pt x="465780" y="204491"/>
                    <a:pt x="458889" y="189560"/>
                  </a:cubicBezTo>
                  <a:cubicBezTo>
                    <a:pt x="456592" y="184966"/>
                    <a:pt x="457740" y="179798"/>
                    <a:pt x="461186" y="175778"/>
                  </a:cubicBezTo>
                  <a:lnTo>
                    <a:pt x="493344" y="139025"/>
                  </a:lnTo>
                  <a:lnTo>
                    <a:pt x="445681" y="84471"/>
                  </a:lnTo>
                  <a:lnTo>
                    <a:pt x="404334" y="109164"/>
                  </a:lnTo>
                  <a:cubicBezTo>
                    <a:pt x="400314" y="111461"/>
                    <a:pt x="396294" y="111461"/>
                    <a:pt x="392274" y="109738"/>
                  </a:cubicBezTo>
                  <a:lnTo>
                    <a:pt x="376769" y="102273"/>
                  </a:lnTo>
                  <a:cubicBezTo>
                    <a:pt x="367007" y="97679"/>
                    <a:pt x="357244" y="92510"/>
                    <a:pt x="348056" y="89065"/>
                  </a:cubicBezTo>
                  <a:cubicBezTo>
                    <a:pt x="343462" y="87342"/>
                    <a:pt x="340591" y="83322"/>
                    <a:pt x="340017" y="78728"/>
                  </a:cubicBezTo>
                  <a:lnTo>
                    <a:pt x="334848" y="31064"/>
                  </a:lnTo>
                  <a:lnTo>
                    <a:pt x="262491" y="25896"/>
                  </a:lnTo>
                  <a:lnTo>
                    <a:pt x="250432" y="72411"/>
                  </a:lnTo>
                  <a:cubicBezTo>
                    <a:pt x="249283" y="77580"/>
                    <a:pt x="244689" y="81599"/>
                    <a:pt x="239521" y="82174"/>
                  </a:cubicBezTo>
                  <a:cubicBezTo>
                    <a:pt x="223442" y="84471"/>
                    <a:pt x="211382" y="88491"/>
                    <a:pt x="196452" y="95382"/>
                  </a:cubicBezTo>
                  <a:cubicBezTo>
                    <a:pt x="191857" y="97679"/>
                    <a:pt x="186689" y="96530"/>
                    <a:pt x="182669" y="93659"/>
                  </a:cubicBezTo>
                  <a:lnTo>
                    <a:pt x="146491" y="62649"/>
                  </a:lnTo>
                  <a:lnTo>
                    <a:pt x="82748" y="117778"/>
                  </a:lnTo>
                  <a:lnTo>
                    <a:pt x="108590" y="157976"/>
                  </a:lnTo>
                  <a:cubicBezTo>
                    <a:pt x="111461" y="161996"/>
                    <a:pt x="111461" y="167738"/>
                    <a:pt x="108590" y="171758"/>
                  </a:cubicBezTo>
                  <a:cubicBezTo>
                    <a:pt x="99401" y="186115"/>
                    <a:pt x="93659" y="197026"/>
                    <a:pt x="89065" y="212531"/>
                  </a:cubicBezTo>
                  <a:cubicBezTo>
                    <a:pt x="87916" y="217699"/>
                    <a:pt x="83322" y="221145"/>
                    <a:pt x="78154" y="221719"/>
                  </a:cubicBezTo>
                  <a:lnTo>
                    <a:pt x="30490" y="226887"/>
                  </a:lnTo>
                  <a:lnTo>
                    <a:pt x="26470" y="299244"/>
                  </a:lnTo>
                  <a:cubicBezTo>
                    <a:pt x="42550" y="303264"/>
                    <a:pt x="71837" y="310729"/>
                    <a:pt x="72411" y="311304"/>
                  </a:cubicBezTo>
                  <a:lnTo>
                    <a:pt x="66669" y="336571"/>
                  </a:lnTo>
                  <a:cubicBezTo>
                    <a:pt x="66669" y="336571"/>
                    <a:pt x="9817" y="321640"/>
                    <a:pt x="9817" y="321640"/>
                  </a:cubicBezTo>
                  <a:cubicBezTo>
                    <a:pt x="3500" y="319917"/>
                    <a:pt x="-520" y="314175"/>
                    <a:pt x="54" y="308432"/>
                  </a:cubicBezTo>
                  <a:lnTo>
                    <a:pt x="6946" y="214828"/>
                  </a:lnTo>
                  <a:cubicBezTo>
                    <a:pt x="7520" y="208511"/>
                    <a:pt x="12114" y="203343"/>
                    <a:pt x="18431" y="202768"/>
                  </a:cubicBezTo>
                  <a:lnTo>
                    <a:pt x="68391" y="197026"/>
                  </a:lnTo>
                  <a:cubicBezTo>
                    <a:pt x="72411" y="184966"/>
                    <a:pt x="77580" y="175204"/>
                    <a:pt x="83896" y="164867"/>
                  </a:cubicBezTo>
                  <a:lnTo>
                    <a:pt x="56332" y="122372"/>
                  </a:lnTo>
                  <a:cubicBezTo>
                    <a:pt x="52886" y="117204"/>
                    <a:pt x="54035" y="109738"/>
                    <a:pt x="58629" y="105718"/>
                  </a:cubicBezTo>
                  <a:lnTo>
                    <a:pt x="139025" y="35659"/>
                  </a:lnTo>
                  <a:cubicBezTo>
                    <a:pt x="143620" y="31639"/>
                    <a:pt x="151085" y="31639"/>
                    <a:pt x="155679" y="35659"/>
                  </a:cubicBezTo>
                  <a:lnTo>
                    <a:pt x="194154" y="68966"/>
                  </a:lnTo>
                  <a:cubicBezTo>
                    <a:pt x="205640" y="64372"/>
                    <a:pt x="215976" y="60352"/>
                    <a:pt x="228610" y="58055"/>
                  </a:cubicBezTo>
                  <a:lnTo>
                    <a:pt x="241244" y="9817"/>
                  </a:lnTo>
                  <a:cubicBezTo>
                    <a:pt x="242967" y="3500"/>
                    <a:pt x="248709" y="-520"/>
                    <a:pt x="254452" y="54"/>
                  </a:cubicBezTo>
                  <a:lnTo>
                    <a:pt x="348056" y="6371"/>
                  </a:lnTo>
                  <a:cubicBezTo>
                    <a:pt x="354373" y="6946"/>
                    <a:pt x="359542" y="11540"/>
                    <a:pt x="360116" y="17856"/>
                  </a:cubicBezTo>
                  <a:lnTo>
                    <a:pt x="365858" y="68391"/>
                  </a:lnTo>
                  <a:cubicBezTo>
                    <a:pt x="373324" y="71837"/>
                    <a:pt x="380789" y="75283"/>
                    <a:pt x="388829" y="79302"/>
                  </a:cubicBezTo>
                  <a:lnTo>
                    <a:pt x="397443" y="83322"/>
                  </a:lnTo>
                  <a:lnTo>
                    <a:pt x="441661" y="56332"/>
                  </a:lnTo>
                  <a:cubicBezTo>
                    <a:pt x="446829" y="52886"/>
                    <a:pt x="453720" y="54035"/>
                    <a:pt x="458314" y="58629"/>
                  </a:cubicBezTo>
                  <a:lnTo>
                    <a:pt x="520334" y="130412"/>
                  </a:lnTo>
                  <a:cubicBezTo>
                    <a:pt x="524354" y="135006"/>
                    <a:pt x="524354" y="142471"/>
                    <a:pt x="520334" y="147639"/>
                  </a:cubicBezTo>
                  <a:lnTo>
                    <a:pt x="485879" y="187263"/>
                  </a:lnTo>
                  <a:cubicBezTo>
                    <a:pt x="490473" y="198749"/>
                    <a:pt x="494493" y="209085"/>
                    <a:pt x="496790" y="221719"/>
                  </a:cubicBezTo>
                  <a:lnTo>
                    <a:pt x="545028" y="234353"/>
                  </a:lnTo>
                  <a:cubicBezTo>
                    <a:pt x="551345" y="236075"/>
                    <a:pt x="555364" y="241818"/>
                    <a:pt x="554790" y="247561"/>
                  </a:cubicBezTo>
                  <a:lnTo>
                    <a:pt x="547899" y="341165"/>
                  </a:lnTo>
                  <a:cubicBezTo>
                    <a:pt x="547325" y="347482"/>
                    <a:pt x="542731" y="352650"/>
                    <a:pt x="536414" y="353225"/>
                  </a:cubicBezTo>
                  <a:lnTo>
                    <a:pt x="485879" y="358967"/>
                  </a:lnTo>
                  <a:cubicBezTo>
                    <a:pt x="482433" y="366433"/>
                    <a:pt x="478988" y="374472"/>
                    <a:pt x="474968" y="381938"/>
                  </a:cubicBezTo>
                  <a:lnTo>
                    <a:pt x="470948" y="390552"/>
                  </a:lnTo>
                  <a:lnTo>
                    <a:pt x="499087" y="433621"/>
                  </a:lnTo>
                  <a:cubicBezTo>
                    <a:pt x="502532" y="438789"/>
                    <a:pt x="501384" y="446255"/>
                    <a:pt x="496790" y="450275"/>
                  </a:cubicBezTo>
                  <a:lnTo>
                    <a:pt x="418690" y="517463"/>
                  </a:lnTo>
                  <a:cubicBezTo>
                    <a:pt x="413522" y="521483"/>
                    <a:pt x="406631" y="521483"/>
                    <a:pt x="402037" y="517463"/>
                  </a:cubicBezTo>
                  <a:lnTo>
                    <a:pt x="362987" y="483582"/>
                  </a:lnTo>
                  <a:lnTo>
                    <a:pt x="353799" y="486453"/>
                  </a:lnTo>
                  <a:cubicBezTo>
                    <a:pt x="345759" y="489324"/>
                    <a:pt x="337145" y="491621"/>
                    <a:pt x="329680" y="493918"/>
                  </a:cubicBezTo>
                  <a:lnTo>
                    <a:pt x="317046" y="543305"/>
                  </a:lnTo>
                  <a:cubicBezTo>
                    <a:pt x="315323" y="549047"/>
                    <a:pt x="310155" y="553067"/>
                    <a:pt x="303838" y="553067"/>
                  </a:cubicBezTo>
                  <a:close/>
                </a:path>
              </a:pathLst>
            </a:custGeom>
            <a:grpFill/>
            <a:ln w="57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04">
              <a:extLst>
                <a:ext uri="{FF2B5EF4-FFF2-40B4-BE49-F238E27FC236}">
                  <a16:creationId xmlns:a16="http://schemas.microsoft.com/office/drawing/2014/main" id="{620AAB53-1378-4CE6-802C-ECF4F45E7EA0}"/>
                </a:ext>
              </a:extLst>
            </p:cNvPr>
            <p:cNvSpPr/>
            <p:nvPr/>
          </p:nvSpPr>
          <p:spPr>
            <a:xfrm>
              <a:off x="1142516" y="4837609"/>
              <a:ext cx="664889" cy="671438"/>
            </a:xfrm>
            <a:custGeom>
              <a:avLst/>
              <a:gdLst>
                <a:gd name="connsiteX0" fmla="*/ 299005 w 549304"/>
                <a:gd name="connsiteY0" fmla="*/ 554715 h 554715"/>
                <a:gd name="connsiteX1" fmla="*/ 287520 w 549304"/>
                <a:gd name="connsiteY1" fmla="*/ 547250 h 554715"/>
                <a:gd name="connsiteX2" fmla="*/ 265124 w 549304"/>
                <a:gd name="connsiteY2" fmla="*/ 500735 h 554715"/>
                <a:gd name="connsiteX3" fmla="*/ 255361 w 549304"/>
                <a:gd name="connsiteY3" fmla="*/ 499586 h 554715"/>
                <a:gd name="connsiteX4" fmla="*/ 233539 w 549304"/>
                <a:gd name="connsiteY4" fmla="*/ 497289 h 554715"/>
                <a:gd name="connsiteX5" fmla="*/ 236411 w 549304"/>
                <a:gd name="connsiteY5" fmla="*/ 471447 h 554715"/>
                <a:gd name="connsiteX6" fmla="*/ 257658 w 549304"/>
                <a:gd name="connsiteY6" fmla="*/ 473744 h 554715"/>
                <a:gd name="connsiteX7" fmla="*/ 274886 w 549304"/>
                <a:gd name="connsiteY7" fmla="*/ 475467 h 554715"/>
                <a:gd name="connsiteX8" fmla="*/ 285223 w 549304"/>
                <a:gd name="connsiteY8" fmla="*/ 482933 h 554715"/>
                <a:gd name="connsiteX9" fmla="*/ 305896 w 549304"/>
                <a:gd name="connsiteY9" fmla="*/ 525428 h 554715"/>
                <a:gd name="connsiteX10" fmla="*/ 382847 w 549304"/>
                <a:gd name="connsiteY10" fmla="*/ 500735 h 554715"/>
                <a:gd name="connsiteX11" fmla="*/ 374808 w 549304"/>
                <a:gd name="connsiteY11" fmla="*/ 453645 h 554715"/>
                <a:gd name="connsiteX12" fmla="*/ 378827 w 549304"/>
                <a:gd name="connsiteY12" fmla="*/ 441586 h 554715"/>
                <a:gd name="connsiteX13" fmla="*/ 391461 w 549304"/>
                <a:gd name="connsiteY13" fmla="*/ 430675 h 554715"/>
                <a:gd name="connsiteX14" fmla="*/ 415006 w 549304"/>
                <a:gd name="connsiteY14" fmla="*/ 409427 h 554715"/>
                <a:gd name="connsiteX15" fmla="*/ 427640 w 549304"/>
                <a:gd name="connsiteY15" fmla="*/ 406556 h 554715"/>
                <a:gd name="connsiteX16" fmla="*/ 473580 w 549304"/>
                <a:gd name="connsiteY16" fmla="*/ 420338 h 554715"/>
                <a:gd name="connsiteX17" fmla="*/ 506887 w 549304"/>
                <a:gd name="connsiteY17" fmla="*/ 356021 h 554715"/>
                <a:gd name="connsiteX18" fmla="*/ 468986 w 549304"/>
                <a:gd name="connsiteY18" fmla="*/ 326734 h 554715"/>
                <a:gd name="connsiteX19" fmla="*/ 464392 w 549304"/>
                <a:gd name="connsiteY19" fmla="*/ 312951 h 554715"/>
                <a:gd name="connsiteX20" fmla="*/ 468986 w 549304"/>
                <a:gd name="connsiteY20" fmla="*/ 268159 h 554715"/>
                <a:gd name="connsiteX21" fmla="*/ 476452 w 549304"/>
                <a:gd name="connsiteY21" fmla="*/ 256100 h 554715"/>
                <a:gd name="connsiteX22" fmla="*/ 520670 w 549304"/>
                <a:gd name="connsiteY22" fmla="*/ 234852 h 554715"/>
                <a:gd name="connsiteX23" fmla="*/ 498848 w 549304"/>
                <a:gd name="connsiteY23" fmla="*/ 165941 h 554715"/>
                <a:gd name="connsiteX24" fmla="*/ 451184 w 549304"/>
                <a:gd name="connsiteY24" fmla="*/ 172832 h 554715"/>
                <a:gd name="connsiteX25" fmla="*/ 439699 w 549304"/>
                <a:gd name="connsiteY25" fmla="*/ 168812 h 554715"/>
                <a:gd name="connsiteX26" fmla="*/ 428788 w 549304"/>
                <a:gd name="connsiteY26" fmla="*/ 156178 h 554715"/>
                <a:gd name="connsiteX27" fmla="*/ 407540 w 549304"/>
                <a:gd name="connsiteY27" fmla="*/ 132634 h 554715"/>
                <a:gd name="connsiteX28" fmla="*/ 404669 w 549304"/>
                <a:gd name="connsiteY28" fmla="*/ 120000 h 554715"/>
                <a:gd name="connsiteX29" fmla="*/ 418451 w 549304"/>
                <a:gd name="connsiteY29" fmla="*/ 74059 h 554715"/>
                <a:gd name="connsiteX30" fmla="*/ 354134 w 549304"/>
                <a:gd name="connsiteY30" fmla="*/ 40752 h 554715"/>
                <a:gd name="connsiteX31" fmla="*/ 324847 w 549304"/>
                <a:gd name="connsiteY31" fmla="*/ 78653 h 554715"/>
                <a:gd name="connsiteX32" fmla="*/ 311065 w 549304"/>
                <a:gd name="connsiteY32" fmla="*/ 83247 h 554715"/>
                <a:gd name="connsiteX33" fmla="*/ 266272 w 549304"/>
                <a:gd name="connsiteY33" fmla="*/ 78653 h 554715"/>
                <a:gd name="connsiteX34" fmla="*/ 266272 w 549304"/>
                <a:gd name="connsiteY34" fmla="*/ 78653 h 554715"/>
                <a:gd name="connsiteX35" fmla="*/ 254787 w 549304"/>
                <a:gd name="connsiteY35" fmla="*/ 71188 h 554715"/>
                <a:gd name="connsiteX36" fmla="*/ 233539 w 549304"/>
                <a:gd name="connsiteY36" fmla="*/ 28693 h 554715"/>
                <a:gd name="connsiteX37" fmla="*/ 153143 w 549304"/>
                <a:gd name="connsiteY37" fmla="*/ 54534 h 554715"/>
                <a:gd name="connsiteX38" fmla="*/ 161183 w 549304"/>
                <a:gd name="connsiteY38" fmla="*/ 101624 h 554715"/>
                <a:gd name="connsiteX39" fmla="*/ 156014 w 549304"/>
                <a:gd name="connsiteY39" fmla="*/ 114257 h 554715"/>
                <a:gd name="connsiteX40" fmla="*/ 122133 w 549304"/>
                <a:gd name="connsiteY40" fmla="*/ 144119 h 554715"/>
                <a:gd name="connsiteX41" fmla="*/ 108351 w 549304"/>
                <a:gd name="connsiteY41" fmla="*/ 148713 h 554715"/>
                <a:gd name="connsiteX42" fmla="*/ 62410 w 549304"/>
                <a:gd name="connsiteY42" fmla="*/ 134931 h 554715"/>
                <a:gd name="connsiteX43" fmla="*/ 29103 w 549304"/>
                <a:gd name="connsiteY43" fmla="*/ 199248 h 554715"/>
                <a:gd name="connsiteX44" fmla="*/ 67004 w 549304"/>
                <a:gd name="connsiteY44" fmla="*/ 228535 h 554715"/>
                <a:gd name="connsiteX45" fmla="*/ 71598 w 549304"/>
                <a:gd name="connsiteY45" fmla="*/ 240595 h 554715"/>
                <a:gd name="connsiteX46" fmla="*/ 68152 w 549304"/>
                <a:gd name="connsiteY46" fmla="*/ 271605 h 554715"/>
                <a:gd name="connsiteX47" fmla="*/ 67004 w 549304"/>
                <a:gd name="connsiteY47" fmla="*/ 282516 h 554715"/>
                <a:gd name="connsiteX48" fmla="*/ 41162 w 549304"/>
                <a:gd name="connsiteY48" fmla="*/ 279644 h 554715"/>
                <a:gd name="connsiteX49" fmla="*/ 42311 w 549304"/>
                <a:gd name="connsiteY49" fmla="*/ 269308 h 554715"/>
                <a:gd name="connsiteX50" fmla="*/ 45182 w 549304"/>
                <a:gd name="connsiteY50" fmla="*/ 244040 h 554715"/>
                <a:gd name="connsiteX51" fmla="*/ 4984 w 549304"/>
                <a:gd name="connsiteY51" fmla="*/ 213030 h 554715"/>
                <a:gd name="connsiteX52" fmla="*/ 1538 w 549304"/>
                <a:gd name="connsiteY52" fmla="*/ 196951 h 554715"/>
                <a:gd name="connsiteX53" fmla="*/ 44608 w 549304"/>
                <a:gd name="connsiteY53" fmla="*/ 113109 h 554715"/>
                <a:gd name="connsiteX54" fmla="*/ 59539 w 549304"/>
                <a:gd name="connsiteY54" fmla="*/ 106792 h 554715"/>
                <a:gd name="connsiteX55" fmla="*/ 107202 w 549304"/>
                <a:gd name="connsiteY55" fmla="*/ 121148 h 554715"/>
                <a:gd name="connsiteX56" fmla="*/ 134192 w 549304"/>
                <a:gd name="connsiteY56" fmla="*/ 97604 h 554715"/>
                <a:gd name="connsiteX57" fmla="*/ 125578 w 549304"/>
                <a:gd name="connsiteY57" fmla="*/ 47643 h 554715"/>
                <a:gd name="connsiteX58" fmla="*/ 134192 w 549304"/>
                <a:gd name="connsiteY58" fmla="*/ 33287 h 554715"/>
                <a:gd name="connsiteX59" fmla="*/ 235836 w 549304"/>
                <a:gd name="connsiteY59" fmla="*/ 554 h 554715"/>
                <a:gd name="connsiteX60" fmla="*/ 251342 w 549304"/>
                <a:gd name="connsiteY60" fmla="*/ 7445 h 554715"/>
                <a:gd name="connsiteX61" fmla="*/ 273163 w 549304"/>
                <a:gd name="connsiteY61" fmla="*/ 52811 h 554715"/>
                <a:gd name="connsiteX62" fmla="*/ 308768 w 549304"/>
                <a:gd name="connsiteY62" fmla="*/ 56257 h 554715"/>
                <a:gd name="connsiteX63" fmla="*/ 339203 w 549304"/>
                <a:gd name="connsiteY63" fmla="*/ 16633 h 554715"/>
                <a:gd name="connsiteX64" fmla="*/ 355283 w 549304"/>
                <a:gd name="connsiteY64" fmla="*/ 13187 h 554715"/>
                <a:gd name="connsiteX65" fmla="*/ 439125 w 549304"/>
                <a:gd name="connsiteY65" fmla="*/ 56257 h 554715"/>
                <a:gd name="connsiteX66" fmla="*/ 445442 w 549304"/>
                <a:gd name="connsiteY66" fmla="*/ 71762 h 554715"/>
                <a:gd name="connsiteX67" fmla="*/ 430511 w 549304"/>
                <a:gd name="connsiteY67" fmla="*/ 120574 h 554715"/>
                <a:gd name="connsiteX68" fmla="*/ 447739 w 549304"/>
                <a:gd name="connsiteY68" fmla="*/ 140099 h 554715"/>
                <a:gd name="connsiteX69" fmla="*/ 454055 w 549304"/>
                <a:gd name="connsiteY69" fmla="*/ 146990 h 554715"/>
                <a:gd name="connsiteX70" fmla="*/ 505739 w 549304"/>
                <a:gd name="connsiteY70" fmla="*/ 139525 h 554715"/>
                <a:gd name="connsiteX71" fmla="*/ 520095 w 549304"/>
                <a:gd name="connsiteY71" fmla="*/ 148139 h 554715"/>
                <a:gd name="connsiteX72" fmla="*/ 548808 w 549304"/>
                <a:gd name="connsiteY72" fmla="*/ 238298 h 554715"/>
                <a:gd name="connsiteX73" fmla="*/ 541917 w 549304"/>
                <a:gd name="connsiteY73" fmla="*/ 253803 h 554715"/>
                <a:gd name="connsiteX74" fmla="*/ 494828 w 549304"/>
                <a:gd name="connsiteY74" fmla="*/ 276199 h 554715"/>
                <a:gd name="connsiteX75" fmla="*/ 491382 w 549304"/>
                <a:gd name="connsiteY75" fmla="*/ 311803 h 554715"/>
                <a:gd name="connsiteX76" fmla="*/ 531006 w 549304"/>
                <a:gd name="connsiteY76" fmla="*/ 342239 h 554715"/>
                <a:gd name="connsiteX77" fmla="*/ 534452 w 549304"/>
                <a:gd name="connsiteY77" fmla="*/ 358318 h 554715"/>
                <a:gd name="connsiteX78" fmla="*/ 491382 w 549304"/>
                <a:gd name="connsiteY78" fmla="*/ 442160 h 554715"/>
                <a:gd name="connsiteX79" fmla="*/ 476452 w 549304"/>
                <a:gd name="connsiteY79" fmla="*/ 448477 h 554715"/>
                <a:gd name="connsiteX80" fmla="*/ 427640 w 549304"/>
                <a:gd name="connsiteY80" fmla="*/ 433546 h 554715"/>
                <a:gd name="connsiteX81" fmla="*/ 408689 w 549304"/>
                <a:gd name="connsiteY81" fmla="*/ 450774 h 554715"/>
                <a:gd name="connsiteX82" fmla="*/ 401798 w 549304"/>
                <a:gd name="connsiteY82" fmla="*/ 457091 h 554715"/>
                <a:gd name="connsiteX83" fmla="*/ 410412 w 549304"/>
                <a:gd name="connsiteY83" fmla="*/ 507626 h 554715"/>
                <a:gd name="connsiteX84" fmla="*/ 401798 w 549304"/>
                <a:gd name="connsiteY84" fmla="*/ 521982 h 554715"/>
                <a:gd name="connsiteX85" fmla="*/ 303025 w 549304"/>
                <a:gd name="connsiteY85" fmla="*/ 553567 h 554715"/>
                <a:gd name="connsiteX86" fmla="*/ 299005 w 549304"/>
                <a:gd name="connsiteY86" fmla="*/ 554715 h 55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549304" h="554715">
                  <a:moveTo>
                    <a:pt x="299005" y="554715"/>
                  </a:moveTo>
                  <a:cubicBezTo>
                    <a:pt x="294411" y="554715"/>
                    <a:pt x="289817" y="551844"/>
                    <a:pt x="287520" y="547250"/>
                  </a:cubicBezTo>
                  <a:lnTo>
                    <a:pt x="265124" y="500735"/>
                  </a:lnTo>
                  <a:lnTo>
                    <a:pt x="255361" y="499586"/>
                  </a:lnTo>
                  <a:cubicBezTo>
                    <a:pt x="247896" y="499012"/>
                    <a:pt x="240431" y="498438"/>
                    <a:pt x="233539" y="497289"/>
                  </a:cubicBezTo>
                  <a:lnTo>
                    <a:pt x="236411" y="471447"/>
                  </a:lnTo>
                  <a:cubicBezTo>
                    <a:pt x="243302" y="472022"/>
                    <a:pt x="250767" y="473170"/>
                    <a:pt x="257658" y="473744"/>
                  </a:cubicBezTo>
                  <a:lnTo>
                    <a:pt x="274886" y="475467"/>
                  </a:lnTo>
                  <a:cubicBezTo>
                    <a:pt x="279480" y="476041"/>
                    <a:pt x="282926" y="478913"/>
                    <a:pt x="285223" y="482933"/>
                  </a:cubicBezTo>
                  <a:lnTo>
                    <a:pt x="305896" y="525428"/>
                  </a:lnTo>
                  <a:lnTo>
                    <a:pt x="382847" y="500735"/>
                  </a:lnTo>
                  <a:lnTo>
                    <a:pt x="374808" y="453645"/>
                  </a:lnTo>
                  <a:cubicBezTo>
                    <a:pt x="374233" y="449051"/>
                    <a:pt x="375382" y="445031"/>
                    <a:pt x="378827" y="441586"/>
                  </a:cubicBezTo>
                  <a:lnTo>
                    <a:pt x="391461" y="430675"/>
                  </a:lnTo>
                  <a:cubicBezTo>
                    <a:pt x="400075" y="423209"/>
                    <a:pt x="408115" y="416318"/>
                    <a:pt x="415006" y="409427"/>
                  </a:cubicBezTo>
                  <a:cubicBezTo>
                    <a:pt x="418451" y="405982"/>
                    <a:pt x="423045" y="404833"/>
                    <a:pt x="427640" y="406556"/>
                  </a:cubicBezTo>
                  <a:lnTo>
                    <a:pt x="473580" y="420338"/>
                  </a:lnTo>
                  <a:lnTo>
                    <a:pt x="506887" y="356021"/>
                  </a:lnTo>
                  <a:lnTo>
                    <a:pt x="468986" y="326734"/>
                  </a:lnTo>
                  <a:cubicBezTo>
                    <a:pt x="464966" y="323288"/>
                    <a:pt x="463244" y="318120"/>
                    <a:pt x="464392" y="312951"/>
                  </a:cubicBezTo>
                  <a:cubicBezTo>
                    <a:pt x="468986" y="297446"/>
                    <a:pt x="469561" y="284813"/>
                    <a:pt x="468986" y="268159"/>
                  </a:cubicBezTo>
                  <a:cubicBezTo>
                    <a:pt x="468986" y="262991"/>
                    <a:pt x="471858" y="258397"/>
                    <a:pt x="476452" y="256100"/>
                  </a:cubicBezTo>
                  <a:lnTo>
                    <a:pt x="520670" y="234852"/>
                  </a:lnTo>
                  <a:lnTo>
                    <a:pt x="498848" y="165941"/>
                  </a:lnTo>
                  <a:lnTo>
                    <a:pt x="451184" y="172832"/>
                  </a:lnTo>
                  <a:cubicBezTo>
                    <a:pt x="447164" y="173406"/>
                    <a:pt x="442570" y="171683"/>
                    <a:pt x="439699" y="168812"/>
                  </a:cubicBezTo>
                  <a:lnTo>
                    <a:pt x="428788" y="156178"/>
                  </a:lnTo>
                  <a:cubicBezTo>
                    <a:pt x="421323" y="147564"/>
                    <a:pt x="414432" y="139525"/>
                    <a:pt x="407540" y="132634"/>
                  </a:cubicBezTo>
                  <a:cubicBezTo>
                    <a:pt x="404095" y="129188"/>
                    <a:pt x="402946" y="124594"/>
                    <a:pt x="404669" y="120000"/>
                  </a:cubicBezTo>
                  <a:lnTo>
                    <a:pt x="418451" y="74059"/>
                  </a:lnTo>
                  <a:lnTo>
                    <a:pt x="354134" y="40752"/>
                  </a:lnTo>
                  <a:lnTo>
                    <a:pt x="324847" y="78653"/>
                  </a:lnTo>
                  <a:cubicBezTo>
                    <a:pt x="321401" y="82673"/>
                    <a:pt x="316233" y="84396"/>
                    <a:pt x="311065" y="83247"/>
                  </a:cubicBezTo>
                  <a:cubicBezTo>
                    <a:pt x="295560" y="78653"/>
                    <a:pt x="282926" y="78079"/>
                    <a:pt x="266272" y="78653"/>
                  </a:cubicBezTo>
                  <a:cubicBezTo>
                    <a:pt x="266272" y="78653"/>
                    <a:pt x="266272" y="78653"/>
                    <a:pt x="266272" y="78653"/>
                  </a:cubicBezTo>
                  <a:cubicBezTo>
                    <a:pt x="261104" y="78653"/>
                    <a:pt x="257084" y="75782"/>
                    <a:pt x="254787" y="71188"/>
                  </a:cubicBezTo>
                  <a:lnTo>
                    <a:pt x="233539" y="28693"/>
                  </a:lnTo>
                  <a:lnTo>
                    <a:pt x="153143" y="54534"/>
                  </a:lnTo>
                  <a:lnTo>
                    <a:pt x="161183" y="101624"/>
                  </a:lnTo>
                  <a:cubicBezTo>
                    <a:pt x="161757" y="106792"/>
                    <a:pt x="160034" y="111386"/>
                    <a:pt x="156014" y="114257"/>
                  </a:cubicBezTo>
                  <a:cubicBezTo>
                    <a:pt x="142232" y="124020"/>
                    <a:pt x="132470" y="131485"/>
                    <a:pt x="122133" y="144119"/>
                  </a:cubicBezTo>
                  <a:cubicBezTo>
                    <a:pt x="118687" y="148139"/>
                    <a:pt x="113519" y="149861"/>
                    <a:pt x="108351" y="148713"/>
                  </a:cubicBezTo>
                  <a:lnTo>
                    <a:pt x="62410" y="134931"/>
                  </a:lnTo>
                  <a:lnTo>
                    <a:pt x="29103" y="199248"/>
                  </a:lnTo>
                  <a:lnTo>
                    <a:pt x="67004" y="228535"/>
                  </a:lnTo>
                  <a:cubicBezTo>
                    <a:pt x="71024" y="231406"/>
                    <a:pt x="72747" y="236001"/>
                    <a:pt x="71598" y="240595"/>
                  </a:cubicBezTo>
                  <a:cubicBezTo>
                    <a:pt x="69875" y="250357"/>
                    <a:pt x="69301" y="260694"/>
                    <a:pt x="68152" y="271605"/>
                  </a:cubicBezTo>
                  <a:lnTo>
                    <a:pt x="67004" y="282516"/>
                  </a:lnTo>
                  <a:lnTo>
                    <a:pt x="41162" y="279644"/>
                  </a:lnTo>
                  <a:lnTo>
                    <a:pt x="42311" y="269308"/>
                  </a:lnTo>
                  <a:cubicBezTo>
                    <a:pt x="42885" y="260694"/>
                    <a:pt x="44033" y="252080"/>
                    <a:pt x="45182" y="244040"/>
                  </a:cubicBezTo>
                  <a:lnTo>
                    <a:pt x="4984" y="213030"/>
                  </a:lnTo>
                  <a:cubicBezTo>
                    <a:pt x="-185" y="209010"/>
                    <a:pt x="-1333" y="202693"/>
                    <a:pt x="1538" y="196951"/>
                  </a:cubicBezTo>
                  <a:lnTo>
                    <a:pt x="44608" y="113109"/>
                  </a:lnTo>
                  <a:cubicBezTo>
                    <a:pt x="47479" y="107366"/>
                    <a:pt x="53796" y="105069"/>
                    <a:pt x="59539" y="106792"/>
                  </a:cubicBezTo>
                  <a:lnTo>
                    <a:pt x="107202" y="121148"/>
                  </a:lnTo>
                  <a:cubicBezTo>
                    <a:pt x="115816" y="111960"/>
                    <a:pt x="124430" y="104495"/>
                    <a:pt x="134192" y="97604"/>
                  </a:cubicBezTo>
                  <a:lnTo>
                    <a:pt x="125578" y="47643"/>
                  </a:lnTo>
                  <a:cubicBezTo>
                    <a:pt x="124430" y="41326"/>
                    <a:pt x="128450" y="35009"/>
                    <a:pt x="134192" y="33287"/>
                  </a:cubicBezTo>
                  <a:lnTo>
                    <a:pt x="235836" y="554"/>
                  </a:lnTo>
                  <a:cubicBezTo>
                    <a:pt x="241579" y="-1169"/>
                    <a:pt x="248470" y="1128"/>
                    <a:pt x="251342" y="7445"/>
                  </a:cubicBezTo>
                  <a:lnTo>
                    <a:pt x="273163" y="52811"/>
                  </a:lnTo>
                  <a:cubicBezTo>
                    <a:pt x="285223" y="52811"/>
                    <a:pt x="296708" y="53960"/>
                    <a:pt x="308768" y="56257"/>
                  </a:cubicBezTo>
                  <a:lnTo>
                    <a:pt x="339203" y="16633"/>
                  </a:lnTo>
                  <a:cubicBezTo>
                    <a:pt x="343223" y="11465"/>
                    <a:pt x="350114" y="10316"/>
                    <a:pt x="355283" y="13187"/>
                  </a:cubicBezTo>
                  <a:lnTo>
                    <a:pt x="439125" y="56257"/>
                  </a:lnTo>
                  <a:cubicBezTo>
                    <a:pt x="444867" y="59128"/>
                    <a:pt x="447164" y="65445"/>
                    <a:pt x="445442" y="71762"/>
                  </a:cubicBezTo>
                  <a:lnTo>
                    <a:pt x="430511" y="120574"/>
                  </a:lnTo>
                  <a:cubicBezTo>
                    <a:pt x="436253" y="126317"/>
                    <a:pt x="441996" y="133208"/>
                    <a:pt x="447739" y="140099"/>
                  </a:cubicBezTo>
                  <a:lnTo>
                    <a:pt x="454055" y="146990"/>
                  </a:lnTo>
                  <a:lnTo>
                    <a:pt x="505739" y="139525"/>
                  </a:lnTo>
                  <a:cubicBezTo>
                    <a:pt x="512630" y="138376"/>
                    <a:pt x="517798" y="142396"/>
                    <a:pt x="520095" y="148139"/>
                  </a:cubicBezTo>
                  <a:lnTo>
                    <a:pt x="548808" y="238298"/>
                  </a:lnTo>
                  <a:cubicBezTo>
                    <a:pt x="550531" y="244614"/>
                    <a:pt x="547660" y="250931"/>
                    <a:pt x="541917" y="253803"/>
                  </a:cubicBezTo>
                  <a:lnTo>
                    <a:pt x="494828" y="276199"/>
                  </a:lnTo>
                  <a:cubicBezTo>
                    <a:pt x="494828" y="288258"/>
                    <a:pt x="493680" y="299743"/>
                    <a:pt x="491382" y="311803"/>
                  </a:cubicBezTo>
                  <a:lnTo>
                    <a:pt x="531006" y="342239"/>
                  </a:lnTo>
                  <a:cubicBezTo>
                    <a:pt x="536175" y="346259"/>
                    <a:pt x="537323" y="352575"/>
                    <a:pt x="534452" y="358318"/>
                  </a:cubicBezTo>
                  <a:lnTo>
                    <a:pt x="491382" y="442160"/>
                  </a:lnTo>
                  <a:cubicBezTo>
                    <a:pt x="488511" y="447903"/>
                    <a:pt x="482194" y="450200"/>
                    <a:pt x="476452" y="448477"/>
                  </a:cubicBezTo>
                  <a:lnTo>
                    <a:pt x="427640" y="433546"/>
                  </a:lnTo>
                  <a:cubicBezTo>
                    <a:pt x="421897" y="439289"/>
                    <a:pt x="415006" y="445031"/>
                    <a:pt x="408689" y="450774"/>
                  </a:cubicBezTo>
                  <a:lnTo>
                    <a:pt x="401798" y="457091"/>
                  </a:lnTo>
                  <a:lnTo>
                    <a:pt x="410412" y="507626"/>
                  </a:lnTo>
                  <a:cubicBezTo>
                    <a:pt x="411560" y="513943"/>
                    <a:pt x="407540" y="520259"/>
                    <a:pt x="401798" y="521982"/>
                  </a:cubicBezTo>
                  <a:lnTo>
                    <a:pt x="303025" y="553567"/>
                  </a:lnTo>
                  <a:cubicBezTo>
                    <a:pt x="301876" y="554715"/>
                    <a:pt x="300728" y="554715"/>
                    <a:pt x="299005" y="554715"/>
                  </a:cubicBezTo>
                  <a:close/>
                </a:path>
              </a:pathLst>
            </a:custGeom>
            <a:grpFill/>
            <a:ln w="57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05">
              <a:extLst>
                <a:ext uri="{FF2B5EF4-FFF2-40B4-BE49-F238E27FC236}">
                  <a16:creationId xmlns:a16="http://schemas.microsoft.com/office/drawing/2014/main" id="{55ACB15F-B09E-4C2D-8F38-08ECBB22BF0D}"/>
                </a:ext>
              </a:extLst>
            </p:cNvPr>
            <p:cNvSpPr/>
            <p:nvPr/>
          </p:nvSpPr>
          <p:spPr>
            <a:xfrm>
              <a:off x="771806" y="5465257"/>
              <a:ext cx="348419" cy="368401"/>
            </a:xfrm>
            <a:custGeom>
              <a:avLst/>
              <a:gdLst>
                <a:gd name="connsiteX0" fmla="*/ 59149 w 287850"/>
                <a:gd name="connsiteY0" fmla="*/ 304358 h 304358"/>
                <a:gd name="connsiteX1" fmla="*/ 41921 w 287850"/>
                <a:gd name="connsiteY1" fmla="*/ 284833 h 304358"/>
                <a:gd name="connsiteX2" fmla="*/ 209031 w 287850"/>
                <a:gd name="connsiteY2" fmla="*/ 137248 h 304358"/>
                <a:gd name="connsiteX3" fmla="*/ 227407 w 287850"/>
                <a:gd name="connsiteY3" fmla="*/ 138397 h 304358"/>
                <a:gd name="connsiteX4" fmla="*/ 248655 w 287850"/>
                <a:gd name="connsiteY4" fmla="*/ 161367 h 304358"/>
                <a:gd name="connsiteX5" fmla="*/ 262437 w 287850"/>
                <a:gd name="connsiteY5" fmla="*/ 33881 h 304358"/>
                <a:gd name="connsiteX6" fmla="*/ 126912 w 287850"/>
                <a:gd name="connsiteY6" fmla="*/ 26990 h 304358"/>
                <a:gd name="connsiteX7" fmla="*/ 149308 w 287850"/>
                <a:gd name="connsiteY7" fmla="*/ 51683 h 304358"/>
                <a:gd name="connsiteX8" fmla="*/ 152753 w 287850"/>
                <a:gd name="connsiteY8" fmla="*/ 60872 h 304358"/>
                <a:gd name="connsiteX9" fmla="*/ 148159 w 287850"/>
                <a:gd name="connsiteY9" fmla="*/ 70060 h 304358"/>
                <a:gd name="connsiteX10" fmla="*/ 17228 w 287850"/>
                <a:gd name="connsiteY10" fmla="*/ 184912 h 304358"/>
                <a:gd name="connsiteX11" fmla="*/ 0 w 287850"/>
                <a:gd name="connsiteY11" fmla="*/ 165387 h 304358"/>
                <a:gd name="connsiteX12" fmla="*/ 120020 w 287850"/>
                <a:gd name="connsiteY12" fmla="*/ 59723 h 304358"/>
                <a:gd name="connsiteX13" fmla="*/ 85565 w 287850"/>
                <a:gd name="connsiteY13" fmla="*/ 21822 h 304358"/>
                <a:gd name="connsiteX14" fmla="*/ 83268 w 287850"/>
                <a:gd name="connsiteY14" fmla="*/ 7465 h 304358"/>
                <a:gd name="connsiteX15" fmla="*/ 95327 w 287850"/>
                <a:gd name="connsiteY15" fmla="*/ 0 h 304358"/>
                <a:gd name="connsiteX16" fmla="*/ 275645 w 287850"/>
                <a:gd name="connsiteY16" fmla="*/ 8614 h 304358"/>
                <a:gd name="connsiteX17" fmla="*/ 284833 w 287850"/>
                <a:gd name="connsiteY17" fmla="*/ 13208 h 304358"/>
                <a:gd name="connsiteX18" fmla="*/ 287705 w 287850"/>
                <a:gd name="connsiteY18" fmla="*/ 22970 h 304358"/>
                <a:gd name="connsiteX19" fmla="*/ 269902 w 287850"/>
                <a:gd name="connsiteY19" fmla="*/ 192951 h 304358"/>
                <a:gd name="connsiteX20" fmla="*/ 261289 w 287850"/>
                <a:gd name="connsiteY20" fmla="*/ 203862 h 304358"/>
                <a:gd name="connsiteX21" fmla="*/ 247506 w 287850"/>
                <a:gd name="connsiteY21" fmla="*/ 200417 h 304358"/>
                <a:gd name="connsiteX22" fmla="*/ 215922 w 287850"/>
                <a:gd name="connsiteY22" fmla="*/ 165387 h 304358"/>
                <a:gd name="connsiteX23" fmla="*/ 59149 w 287850"/>
                <a:gd name="connsiteY23" fmla="*/ 304358 h 30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7850" h="304358">
                  <a:moveTo>
                    <a:pt x="59149" y="304358"/>
                  </a:moveTo>
                  <a:lnTo>
                    <a:pt x="41921" y="284833"/>
                  </a:lnTo>
                  <a:lnTo>
                    <a:pt x="209031" y="137248"/>
                  </a:lnTo>
                  <a:cubicBezTo>
                    <a:pt x="214199" y="132654"/>
                    <a:pt x="222239" y="133228"/>
                    <a:pt x="227407" y="138397"/>
                  </a:cubicBezTo>
                  <a:lnTo>
                    <a:pt x="248655" y="161367"/>
                  </a:lnTo>
                  <a:lnTo>
                    <a:pt x="262437" y="33881"/>
                  </a:lnTo>
                  <a:lnTo>
                    <a:pt x="126912" y="26990"/>
                  </a:lnTo>
                  <a:lnTo>
                    <a:pt x="149308" y="51683"/>
                  </a:lnTo>
                  <a:cubicBezTo>
                    <a:pt x="151605" y="53980"/>
                    <a:pt x="152753" y="57426"/>
                    <a:pt x="152753" y="60872"/>
                  </a:cubicBezTo>
                  <a:cubicBezTo>
                    <a:pt x="152753" y="64317"/>
                    <a:pt x="151031" y="67763"/>
                    <a:pt x="148159" y="70060"/>
                  </a:cubicBezTo>
                  <a:lnTo>
                    <a:pt x="17228" y="184912"/>
                  </a:lnTo>
                  <a:lnTo>
                    <a:pt x="0" y="165387"/>
                  </a:lnTo>
                  <a:lnTo>
                    <a:pt x="120020" y="59723"/>
                  </a:lnTo>
                  <a:lnTo>
                    <a:pt x="85565" y="21822"/>
                  </a:lnTo>
                  <a:cubicBezTo>
                    <a:pt x="82119" y="17802"/>
                    <a:pt x="80971" y="12059"/>
                    <a:pt x="83268" y="7465"/>
                  </a:cubicBezTo>
                  <a:cubicBezTo>
                    <a:pt x="85565" y="2871"/>
                    <a:pt x="90733" y="0"/>
                    <a:pt x="95327" y="0"/>
                  </a:cubicBezTo>
                  <a:lnTo>
                    <a:pt x="275645" y="8614"/>
                  </a:lnTo>
                  <a:cubicBezTo>
                    <a:pt x="279091" y="8614"/>
                    <a:pt x="282536" y="10337"/>
                    <a:pt x="284833" y="13208"/>
                  </a:cubicBezTo>
                  <a:cubicBezTo>
                    <a:pt x="287130" y="16079"/>
                    <a:pt x="288279" y="19525"/>
                    <a:pt x="287705" y="22970"/>
                  </a:cubicBezTo>
                  <a:lnTo>
                    <a:pt x="269902" y="192951"/>
                  </a:lnTo>
                  <a:cubicBezTo>
                    <a:pt x="269328" y="198120"/>
                    <a:pt x="265883" y="202140"/>
                    <a:pt x="261289" y="203862"/>
                  </a:cubicBezTo>
                  <a:cubicBezTo>
                    <a:pt x="256120" y="205585"/>
                    <a:pt x="250952" y="203862"/>
                    <a:pt x="247506" y="200417"/>
                  </a:cubicBezTo>
                  <a:lnTo>
                    <a:pt x="215922" y="165387"/>
                  </a:lnTo>
                  <a:lnTo>
                    <a:pt x="59149" y="304358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06">
              <a:extLst>
                <a:ext uri="{FF2B5EF4-FFF2-40B4-BE49-F238E27FC236}">
                  <a16:creationId xmlns:a16="http://schemas.microsoft.com/office/drawing/2014/main" id="{8AC71C1E-9016-4D85-A1F3-34714EEB986E}"/>
                </a:ext>
              </a:extLst>
            </p:cNvPr>
            <p:cNvSpPr/>
            <p:nvPr/>
          </p:nvSpPr>
          <p:spPr>
            <a:xfrm>
              <a:off x="970604" y="5346395"/>
              <a:ext cx="275270" cy="298890"/>
            </a:xfrm>
            <a:custGeom>
              <a:avLst/>
              <a:gdLst>
                <a:gd name="connsiteX0" fmla="*/ 163664 w 227417"/>
                <a:gd name="connsiteY0" fmla="*/ 246932 h 246931"/>
                <a:gd name="connsiteX1" fmla="*/ 150456 w 227417"/>
                <a:gd name="connsiteY1" fmla="*/ 225110 h 246931"/>
                <a:gd name="connsiteX2" fmla="*/ 202140 w 227417"/>
                <a:gd name="connsiteY2" fmla="*/ 133228 h 246931"/>
                <a:gd name="connsiteX3" fmla="*/ 94753 w 227417"/>
                <a:gd name="connsiteY3" fmla="*/ 25842 h 246931"/>
                <a:gd name="connsiteX4" fmla="*/ 18376 w 227417"/>
                <a:gd name="connsiteY4" fmla="*/ 57426 h 246931"/>
                <a:gd name="connsiteX5" fmla="*/ 0 w 227417"/>
                <a:gd name="connsiteY5" fmla="*/ 39050 h 246931"/>
                <a:gd name="connsiteX6" fmla="*/ 94179 w 227417"/>
                <a:gd name="connsiteY6" fmla="*/ 0 h 246931"/>
                <a:gd name="connsiteX7" fmla="*/ 227407 w 227417"/>
                <a:gd name="connsiteY7" fmla="*/ 133228 h 246931"/>
                <a:gd name="connsiteX8" fmla="*/ 163664 w 227417"/>
                <a:gd name="connsiteY8" fmla="*/ 246932 h 246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17" h="246931">
                  <a:moveTo>
                    <a:pt x="163664" y="246932"/>
                  </a:moveTo>
                  <a:lnTo>
                    <a:pt x="150456" y="225110"/>
                  </a:lnTo>
                  <a:cubicBezTo>
                    <a:pt x="183189" y="205585"/>
                    <a:pt x="202140" y="171130"/>
                    <a:pt x="202140" y="133228"/>
                  </a:cubicBezTo>
                  <a:cubicBezTo>
                    <a:pt x="202140" y="74080"/>
                    <a:pt x="153902" y="25842"/>
                    <a:pt x="94753" y="25842"/>
                  </a:cubicBezTo>
                  <a:cubicBezTo>
                    <a:pt x="66040" y="25842"/>
                    <a:pt x="39050" y="37327"/>
                    <a:pt x="18376" y="57426"/>
                  </a:cubicBezTo>
                  <a:lnTo>
                    <a:pt x="0" y="39050"/>
                  </a:lnTo>
                  <a:cubicBezTo>
                    <a:pt x="25267" y="13782"/>
                    <a:pt x="58575" y="0"/>
                    <a:pt x="94179" y="0"/>
                  </a:cubicBezTo>
                  <a:cubicBezTo>
                    <a:pt x="167684" y="0"/>
                    <a:pt x="227407" y="59723"/>
                    <a:pt x="227407" y="133228"/>
                  </a:cubicBezTo>
                  <a:cubicBezTo>
                    <a:pt x="227981" y="180318"/>
                    <a:pt x="203863" y="222813"/>
                    <a:pt x="163664" y="246932"/>
                  </a:cubicBezTo>
                  <a:close/>
                </a:path>
              </a:pathLst>
            </a:custGeom>
            <a:grpFill/>
            <a:ln w="57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9" name="Рисунок 197">
              <a:extLst>
                <a:ext uri="{FF2B5EF4-FFF2-40B4-BE49-F238E27FC236}">
                  <a16:creationId xmlns:a16="http://schemas.microsoft.com/office/drawing/2014/main" id="{9D626003-58A2-40FA-9DDC-DF63AD8A1387}"/>
                </a:ext>
              </a:extLst>
            </p:cNvPr>
            <p:cNvGrpSpPr/>
            <p:nvPr/>
          </p:nvGrpSpPr>
          <p:grpSpPr>
            <a:xfrm>
              <a:off x="1436082" y="5704069"/>
              <a:ext cx="234198" cy="92495"/>
              <a:chOff x="8962080" y="6444907"/>
              <a:chExt cx="193485" cy="76416"/>
            </a:xfrm>
            <a:grpFill/>
          </p:grpSpPr>
          <p:sp>
            <p:nvSpPr>
              <p:cNvPr id="190" name="Полилиния: фигура 209">
                <a:extLst>
                  <a:ext uri="{FF2B5EF4-FFF2-40B4-BE49-F238E27FC236}">
                    <a16:creationId xmlns:a16="http://schemas.microsoft.com/office/drawing/2014/main" id="{BD06FD93-E0AD-42E7-B714-7A8E757D0C74}"/>
                  </a:ext>
                </a:extLst>
              </p:cNvPr>
              <p:cNvSpPr/>
              <p:nvPr/>
            </p:nvSpPr>
            <p:spPr>
              <a:xfrm rot="5400000">
                <a:off x="9080337" y="6446095"/>
                <a:ext cx="76376" cy="74079"/>
              </a:xfrm>
              <a:custGeom>
                <a:avLst/>
                <a:gdLst>
                  <a:gd name="connsiteX0" fmla="*/ 0 w 76376"/>
                  <a:gd name="connsiteY0" fmla="*/ 0 h 74079"/>
                  <a:gd name="connsiteX1" fmla="*/ 76377 w 76376"/>
                  <a:gd name="connsiteY1" fmla="*/ 0 h 74079"/>
                  <a:gd name="connsiteX2" fmla="*/ 76377 w 76376"/>
                  <a:gd name="connsiteY2" fmla="*/ 74080 h 74079"/>
                  <a:gd name="connsiteX3" fmla="*/ 0 w 76376"/>
                  <a:gd name="connsiteY3" fmla="*/ 74080 h 7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376" h="74079">
                    <a:moveTo>
                      <a:pt x="0" y="0"/>
                    </a:moveTo>
                    <a:lnTo>
                      <a:pt x="76377" y="0"/>
                    </a:lnTo>
                    <a:lnTo>
                      <a:pt x="76377" y="74080"/>
                    </a:lnTo>
                    <a:lnTo>
                      <a:pt x="0" y="74080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1" name="Полилиния: фигура 210">
                <a:extLst>
                  <a:ext uri="{FF2B5EF4-FFF2-40B4-BE49-F238E27FC236}">
                    <a16:creationId xmlns:a16="http://schemas.microsoft.com/office/drawing/2014/main" id="{9A906BCF-352E-4CBB-826C-E08FCBC54986}"/>
                  </a:ext>
                </a:extLst>
              </p:cNvPr>
              <p:cNvSpPr/>
              <p:nvPr/>
            </p:nvSpPr>
            <p:spPr>
              <a:xfrm rot="5400000">
                <a:off x="8960931" y="6446056"/>
                <a:ext cx="76376" cy="74079"/>
              </a:xfrm>
              <a:custGeom>
                <a:avLst/>
                <a:gdLst>
                  <a:gd name="connsiteX0" fmla="*/ 0 w 76376"/>
                  <a:gd name="connsiteY0" fmla="*/ 0 h 74079"/>
                  <a:gd name="connsiteX1" fmla="*/ 76377 w 76376"/>
                  <a:gd name="connsiteY1" fmla="*/ 0 h 74079"/>
                  <a:gd name="connsiteX2" fmla="*/ 76377 w 76376"/>
                  <a:gd name="connsiteY2" fmla="*/ 74080 h 74079"/>
                  <a:gd name="connsiteX3" fmla="*/ 0 w 76376"/>
                  <a:gd name="connsiteY3" fmla="*/ 74080 h 7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376" h="74079">
                    <a:moveTo>
                      <a:pt x="0" y="0"/>
                    </a:moveTo>
                    <a:lnTo>
                      <a:pt x="76377" y="0"/>
                    </a:lnTo>
                    <a:lnTo>
                      <a:pt x="76377" y="74080"/>
                    </a:lnTo>
                    <a:lnTo>
                      <a:pt x="0" y="74080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2" name="Полилиния: фигура 208">
              <a:extLst>
                <a:ext uri="{FF2B5EF4-FFF2-40B4-BE49-F238E27FC236}">
                  <a16:creationId xmlns:a16="http://schemas.microsoft.com/office/drawing/2014/main" id="{7523FFD8-D24C-4CAF-9D0B-18586689080F}"/>
                </a:ext>
              </a:extLst>
            </p:cNvPr>
            <p:cNvSpPr/>
            <p:nvPr/>
          </p:nvSpPr>
          <p:spPr>
            <a:xfrm>
              <a:off x="1405038" y="5052369"/>
              <a:ext cx="196017" cy="186981"/>
            </a:xfrm>
            <a:custGeom>
              <a:avLst/>
              <a:gdLst>
                <a:gd name="connsiteX0" fmla="*/ 161941 w 161941"/>
                <a:gd name="connsiteY0" fmla="*/ 62020 h 154476"/>
                <a:gd name="connsiteX1" fmla="*/ 100496 w 161941"/>
                <a:gd name="connsiteY1" fmla="*/ 119446 h 154476"/>
                <a:gd name="connsiteX2" fmla="*/ 132654 w 161941"/>
                <a:gd name="connsiteY2" fmla="*/ 154476 h 154476"/>
                <a:gd name="connsiteX3" fmla="*/ 0 w 161941"/>
                <a:gd name="connsiteY3" fmla="*/ 150456 h 154476"/>
                <a:gd name="connsiteX4" fmla="*/ 10911 w 161941"/>
                <a:gd name="connsiteY4" fmla="*/ 24693 h 154476"/>
                <a:gd name="connsiteX5" fmla="*/ 41347 w 161941"/>
                <a:gd name="connsiteY5" fmla="*/ 56852 h 154476"/>
                <a:gd name="connsiteX6" fmla="*/ 101644 w 161941"/>
                <a:gd name="connsiteY6" fmla="*/ 0 h 15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41" h="154476">
                  <a:moveTo>
                    <a:pt x="161941" y="62020"/>
                  </a:moveTo>
                  <a:lnTo>
                    <a:pt x="100496" y="119446"/>
                  </a:lnTo>
                  <a:lnTo>
                    <a:pt x="132654" y="154476"/>
                  </a:lnTo>
                  <a:lnTo>
                    <a:pt x="0" y="150456"/>
                  </a:lnTo>
                  <a:lnTo>
                    <a:pt x="10911" y="24693"/>
                  </a:lnTo>
                  <a:lnTo>
                    <a:pt x="41347" y="56852"/>
                  </a:lnTo>
                  <a:lnTo>
                    <a:pt x="101644" y="0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3" name="Группа 181">
            <a:extLst>
              <a:ext uri="{FF2B5EF4-FFF2-40B4-BE49-F238E27FC236}">
                <a16:creationId xmlns:a16="http://schemas.microsoft.com/office/drawing/2014/main" id="{1F5FA237-E5B5-47D9-8198-3D1A20EEBFE5}"/>
              </a:ext>
            </a:extLst>
          </p:cNvPr>
          <p:cNvGrpSpPr>
            <a:grpSpLocks noChangeAspect="1"/>
          </p:cNvGrpSpPr>
          <p:nvPr/>
        </p:nvGrpSpPr>
        <p:grpSpPr>
          <a:xfrm>
            <a:off x="4047656" y="4985922"/>
            <a:ext cx="283509" cy="309945"/>
            <a:chOff x="1399597" y="1241772"/>
            <a:chExt cx="850284" cy="929571"/>
          </a:xfrm>
        </p:grpSpPr>
        <p:sp>
          <p:nvSpPr>
            <p:cNvPr id="194" name="Полилиния: фигура 20">
              <a:extLst>
                <a:ext uri="{FF2B5EF4-FFF2-40B4-BE49-F238E27FC236}">
                  <a16:creationId xmlns:a16="http://schemas.microsoft.com/office/drawing/2014/main" id="{4EC7750B-202B-4AF6-B6FD-C0DDB6466490}"/>
                </a:ext>
              </a:extLst>
            </p:cNvPr>
            <p:cNvSpPr/>
            <p:nvPr/>
          </p:nvSpPr>
          <p:spPr>
            <a:xfrm>
              <a:off x="1946404" y="131012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21">
              <a:extLst>
                <a:ext uri="{FF2B5EF4-FFF2-40B4-BE49-F238E27FC236}">
                  <a16:creationId xmlns:a16="http://schemas.microsoft.com/office/drawing/2014/main" id="{344C81F4-4C45-4278-BAC0-9E19F89A2782}"/>
                </a:ext>
              </a:extLst>
            </p:cNvPr>
            <p:cNvSpPr/>
            <p:nvPr/>
          </p:nvSpPr>
          <p:spPr>
            <a:xfrm>
              <a:off x="2126850" y="1446824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22">
              <a:extLst>
                <a:ext uri="{FF2B5EF4-FFF2-40B4-BE49-F238E27FC236}">
                  <a16:creationId xmlns:a16="http://schemas.microsoft.com/office/drawing/2014/main" id="{D9EBBC99-2400-45C8-ADBD-813AE769B5F6}"/>
                </a:ext>
              </a:extLst>
            </p:cNvPr>
            <p:cNvSpPr/>
            <p:nvPr/>
          </p:nvSpPr>
          <p:spPr>
            <a:xfrm>
              <a:off x="1935467" y="1534313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30074 w 136701"/>
                <a:gd name="connsiteY5" fmla="*/ 106627 h 133967"/>
                <a:gd name="connsiteX6" fmla="*/ 112095 w 136701"/>
                <a:gd name="connsiteY6" fmla="*/ 106627 h 133967"/>
                <a:gd name="connsiteX7" fmla="*/ 112095 w 136701"/>
                <a:gd name="connsiteY7" fmla="*/ 27340 h 133967"/>
                <a:gd name="connsiteX8" fmla="*/ 30074 w 136701"/>
                <a:gd name="connsiteY8" fmla="*/ 27340 h 133967"/>
                <a:gd name="connsiteX9" fmla="*/ 30074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30074" y="106627"/>
                  </a:moveTo>
                  <a:lnTo>
                    <a:pt x="112095" y="106627"/>
                  </a:lnTo>
                  <a:lnTo>
                    <a:pt x="112095" y="27340"/>
                  </a:lnTo>
                  <a:lnTo>
                    <a:pt x="30074" y="27340"/>
                  </a:lnTo>
                  <a:lnTo>
                    <a:pt x="30074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Полилиния: фигура 23">
              <a:extLst>
                <a:ext uri="{FF2B5EF4-FFF2-40B4-BE49-F238E27FC236}">
                  <a16:creationId xmlns:a16="http://schemas.microsoft.com/office/drawing/2014/main" id="{AABA3BD9-8787-4ABD-80A8-46CEDC357283}"/>
                </a:ext>
              </a:extLst>
            </p:cNvPr>
            <p:cNvSpPr/>
            <p:nvPr/>
          </p:nvSpPr>
          <p:spPr>
            <a:xfrm>
              <a:off x="2132318" y="1660079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24">
              <a:extLst>
                <a:ext uri="{FF2B5EF4-FFF2-40B4-BE49-F238E27FC236}">
                  <a16:creationId xmlns:a16="http://schemas.microsoft.com/office/drawing/2014/main" id="{52635EF2-9656-4138-876E-8F896AD5D780}"/>
                </a:ext>
              </a:extLst>
            </p:cNvPr>
            <p:cNvSpPr/>
            <p:nvPr/>
          </p:nvSpPr>
          <p:spPr>
            <a:xfrm>
              <a:off x="1946404" y="176397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25">
              <a:extLst>
                <a:ext uri="{FF2B5EF4-FFF2-40B4-BE49-F238E27FC236}">
                  <a16:creationId xmlns:a16="http://schemas.microsoft.com/office/drawing/2014/main" id="{C09D8411-3670-463D-ABF6-DB35C9FF66F5}"/>
                </a:ext>
              </a:extLst>
            </p:cNvPr>
            <p:cNvSpPr/>
            <p:nvPr/>
          </p:nvSpPr>
          <p:spPr>
            <a:xfrm>
              <a:off x="1946404" y="1974493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26">
              <a:extLst>
                <a:ext uri="{FF2B5EF4-FFF2-40B4-BE49-F238E27FC236}">
                  <a16:creationId xmlns:a16="http://schemas.microsoft.com/office/drawing/2014/main" id="{0D75187A-415A-49E7-AB48-B704C3FB9584}"/>
                </a:ext>
              </a:extLst>
            </p:cNvPr>
            <p:cNvSpPr/>
            <p:nvPr/>
          </p:nvSpPr>
          <p:spPr>
            <a:xfrm>
              <a:off x="2113180" y="1854195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27340 w 136701"/>
                <a:gd name="connsiteY5" fmla="*/ 106627 h 133967"/>
                <a:gd name="connsiteX6" fmla="*/ 109361 w 136701"/>
                <a:gd name="connsiteY6" fmla="*/ 106627 h 133967"/>
                <a:gd name="connsiteX7" fmla="*/ 109361 w 136701"/>
                <a:gd name="connsiteY7" fmla="*/ 27340 h 133967"/>
                <a:gd name="connsiteX8" fmla="*/ 27340 w 136701"/>
                <a:gd name="connsiteY8" fmla="*/ 27340 h 133967"/>
                <a:gd name="connsiteX9" fmla="*/ 27340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27340" y="106627"/>
                  </a:moveTo>
                  <a:lnTo>
                    <a:pt x="109361" y="106627"/>
                  </a:lnTo>
                  <a:lnTo>
                    <a:pt x="109361" y="27340"/>
                  </a:lnTo>
                  <a:lnTo>
                    <a:pt x="27340" y="27340"/>
                  </a:lnTo>
                  <a:lnTo>
                    <a:pt x="2734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27">
              <a:extLst>
                <a:ext uri="{FF2B5EF4-FFF2-40B4-BE49-F238E27FC236}">
                  <a16:creationId xmlns:a16="http://schemas.microsoft.com/office/drawing/2014/main" id="{E35F2D96-B7F6-47D6-9DE4-4CB88C13E637}"/>
                </a:ext>
              </a:extLst>
            </p:cNvPr>
            <p:cNvSpPr/>
            <p:nvPr/>
          </p:nvSpPr>
          <p:spPr>
            <a:xfrm>
              <a:off x="1399597" y="1241772"/>
              <a:ext cx="489392" cy="929571"/>
            </a:xfrm>
            <a:custGeom>
              <a:avLst/>
              <a:gdLst>
                <a:gd name="connsiteX0" fmla="*/ 472988 w 489392"/>
                <a:gd name="connsiteY0" fmla="*/ 929572 h 929571"/>
                <a:gd name="connsiteX1" fmla="*/ 382765 w 489392"/>
                <a:gd name="connsiteY1" fmla="*/ 929572 h 929571"/>
                <a:gd name="connsiteX2" fmla="*/ 369095 w 489392"/>
                <a:gd name="connsiteY2" fmla="*/ 918636 h 929571"/>
                <a:gd name="connsiteX3" fmla="*/ 355425 w 489392"/>
                <a:gd name="connsiteY3" fmla="*/ 825679 h 929571"/>
                <a:gd name="connsiteX4" fmla="*/ 336286 w 489392"/>
                <a:gd name="connsiteY4" fmla="*/ 817476 h 929571"/>
                <a:gd name="connsiteX5" fmla="*/ 292542 w 489392"/>
                <a:gd name="connsiteY5" fmla="*/ 798338 h 929571"/>
                <a:gd name="connsiteX6" fmla="*/ 215989 w 489392"/>
                <a:gd name="connsiteY6" fmla="*/ 847551 h 929571"/>
                <a:gd name="connsiteX7" fmla="*/ 199585 w 489392"/>
                <a:gd name="connsiteY7" fmla="*/ 844817 h 929571"/>
                <a:gd name="connsiteX8" fmla="*/ 84755 w 489392"/>
                <a:gd name="connsiteY8" fmla="*/ 729987 h 929571"/>
                <a:gd name="connsiteX9" fmla="*/ 82021 w 489392"/>
                <a:gd name="connsiteY9" fmla="*/ 713583 h 929571"/>
                <a:gd name="connsiteX10" fmla="*/ 133968 w 489392"/>
                <a:gd name="connsiteY10" fmla="*/ 637030 h 929571"/>
                <a:gd name="connsiteX11" fmla="*/ 106627 w 489392"/>
                <a:gd name="connsiteY11" fmla="*/ 571413 h 929571"/>
                <a:gd name="connsiteX12" fmla="*/ 10936 w 489392"/>
                <a:gd name="connsiteY12" fmla="*/ 557743 h 929571"/>
                <a:gd name="connsiteX13" fmla="*/ 0 w 489392"/>
                <a:gd name="connsiteY13" fmla="*/ 546807 h 929571"/>
                <a:gd name="connsiteX14" fmla="*/ 0 w 489392"/>
                <a:gd name="connsiteY14" fmla="*/ 382765 h 929571"/>
                <a:gd name="connsiteX15" fmla="*/ 10936 w 489392"/>
                <a:gd name="connsiteY15" fmla="*/ 369095 h 929571"/>
                <a:gd name="connsiteX16" fmla="*/ 103893 w 489392"/>
                <a:gd name="connsiteY16" fmla="*/ 355425 h 929571"/>
                <a:gd name="connsiteX17" fmla="*/ 112095 w 489392"/>
                <a:gd name="connsiteY17" fmla="*/ 336286 h 929571"/>
                <a:gd name="connsiteX18" fmla="*/ 131234 w 489392"/>
                <a:gd name="connsiteY18" fmla="*/ 292542 h 929571"/>
                <a:gd name="connsiteX19" fmla="*/ 79287 w 489392"/>
                <a:gd name="connsiteY19" fmla="*/ 213255 h 929571"/>
                <a:gd name="connsiteX20" fmla="*/ 82021 w 489392"/>
                <a:gd name="connsiteY20" fmla="*/ 196851 h 929571"/>
                <a:gd name="connsiteX21" fmla="*/ 196851 w 489392"/>
                <a:gd name="connsiteY21" fmla="*/ 82021 h 929571"/>
                <a:gd name="connsiteX22" fmla="*/ 213255 w 489392"/>
                <a:gd name="connsiteY22" fmla="*/ 79287 h 929571"/>
                <a:gd name="connsiteX23" fmla="*/ 289808 w 489392"/>
                <a:gd name="connsiteY23" fmla="*/ 131234 h 929571"/>
                <a:gd name="connsiteX24" fmla="*/ 355425 w 489392"/>
                <a:gd name="connsiteY24" fmla="*/ 103893 h 929571"/>
                <a:gd name="connsiteX25" fmla="*/ 369095 w 489392"/>
                <a:gd name="connsiteY25" fmla="*/ 10936 h 929571"/>
                <a:gd name="connsiteX26" fmla="*/ 382765 w 489392"/>
                <a:gd name="connsiteY26" fmla="*/ 0 h 929571"/>
                <a:gd name="connsiteX27" fmla="*/ 475722 w 489392"/>
                <a:gd name="connsiteY27" fmla="*/ 0 h 929571"/>
                <a:gd name="connsiteX28" fmla="*/ 489392 w 489392"/>
                <a:gd name="connsiteY28" fmla="*/ 13670 h 929571"/>
                <a:gd name="connsiteX29" fmla="*/ 489392 w 489392"/>
                <a:gd name="connsiteY29" fmla="*/ 256999 h 929571"/>
                <a:gd name="connsiteX30" fmla="*/ 475722 w 489392"/>
                <a:gd name="connsiteY30" fmla="*/ 270669 h 929571"/>
                <a:gd name="connsiteX31" fmla="*/ 287074 w 489392"/>
                <a:gd name="connsiteY31" fmla="*/ 374563 h 929571"/>
                <a:gd name="connsiteX32" fmla="*/ 267935 w 489392"/>
                <a:gd name="connsiteY32" fmla="*/ 380031 h 929571"/>
                <a:gd name="connsiteX33" fmla="*/ 262467 w 489392"/>
                <a:gd name="connsiteY33" fmla="*/ 360893 h 929571"/>
                <a:gd name="connsiteX34" fmla="*/ 462052 w 489392"/>
                <a:gd name="connsiteY34" fmla="*/ 243329 h 929571"/>
                <a:gd name="connsiteX35" fmla="*/ 462052 w 489392"/>
                <a:gd name="connsiteY35" fmla="*/ 27340 h 929571"/>
                <a:gd name="connsiteX36" fmla="*/ 393701 w 489392"/>
                <a:gd name="connsiteY36" fmla="*/ 27340 h 929571"/>
                <a:gd name="connsiteX37" fmla="*/ 380031 w 489392"/>
                <a:gd name="connsiteY37" fmla="*/ 114829 h 929571"/>
                <a:gd name="connsiteX38" fmla="*/ 369095 w 489392"/>
                <a:gd name="connsiteY38" fmla="*/ 125766 h 929571"/>
                <a:gd name="connsiteX39" fmla="*/ 295276 w 489392"/>
                <a:gd name="connsiteY39" fmla="*/ 158574 h 929571"/>
                <a:gd name="connsiteX40" fmla="*/ 278872 w 489392"/>
                <a:gd name="connsiteY40" fmla="*/ 158574 h 929571"/>
                <a:gd name="connsiteX41" fmla="*/ 207787 w 489392"/>
                <a:gd name="connsiteY41" fmla="*/ 109361 h 929571"/>
                <a:gd name="connsiteX42" fmla="*/ 109361 w 489392"/>
                <a:gd name="connsiteY42" fmla="*/ 207787 h 929571"/>
                <a:gd name="connsiteX43" fmla="*/ 161308 w 489392"/>
                <a:gd name="connsiteY43" fmla="*/ 281606 h 929571"/>
                <a:gd name="connsiteX44" fmla="*/ 161308 w 489392"/>
                <a:gd name="connsiteY44" fmla="*/ 295276 h 929571"/>
                <a:gd name="connsiteX45" fmla="*/ 139436 w 489392"/>
                <a:gd name="connsiteY45" fmla="*/ 344488 h 929571"/>
                <a:gd name="connsiteX46" fmla="*/ 128500 w 489392"/>
                <a:gd name="connsiteY46" fmla="*/ 371829 h 929571"/>
                <a:gd name="connsiteX47" fmla="*/ 117564 w 489392"/>
                <a:gd name="connsiteY47" fmla="*/ 380031 h 929571"/>
                <a:gd name="connsiteX48" fmla="*/ 27340 w 489392"/>
                <a:gd name="connsiteY48" fmla="*/ 396435 h 929571"/>
                <a:gd name="connsiteX49" fmla="*/ 27340 w 489392"/>
                <a:gd name="connsiteY49" fmla="*/ 535871 h 929571"/>
                <a:gd name="connsiteX50" fmla="*/ 117564 w 489392"/>
                <a:gd name="connsiteY50" fmla="*/ 546807 h 929571"/>
                <a:gd name="connsiteX51" fmla="*/ 128500 w 489392"/>
                <a:gd name="connsiteY51" fmla="*/ 557743 h 929571"/>
                <a:gd name="connsiteX52" fmla="*/ 161308 w 489392"/>
                <a:gd name="connsiteY52" fmla="*/ 631562 h 929571"/>
                <a:gd name="connsiteX53" fmla="*/ 161308 w 489392"/>
                <a:gd name="connsiteY53" fmla="*/ 647966 h 929571"/>
                <a:gd name="connsiteX54" fmla="*/ 109361 w 489392"/>
                <a:gd name="connsiteY54" fmla="*/ 721785 h 929571"/>
                <a:gd name="connsiteX55" fmla="*/ 210521 w 489392"/>
                <a:gd name="connsiteY55" fmla="*/ 820211 h 929571"/>
                <a:gd name="connsiteX56" fmla="*/ 284340 w 489392"/>
                <a:gd name="connsiteY56" fmla="*/ 768264 h 929571"/>
                <a:gd name="connsiteX57" fmla="*/ 298010 w 489392"/>
                <a:gd name="connsiteY57" fmla="*/ 768264 h 929571"/>
                <a:gd name="connsiteX58" fmla="*/ 347222 w 489392"/>
                <a:gd name="connsiteY58" fmla="*/ 790136 h 929571"/>
                <a:gd name="connsiteX59" fmla="*/ 374563 w 489392"/>
                <a:gd name="connsiteY59" fmla="*/ 801072 h 929571"/>
                <a:gd name="connsiteX60" fmla="*/ 382765 w 489392"/>
                <a:gd name="connsiteY60" fmla="*/ 812008 h 929571"/>
                <a:gd name="connsiteX61" fmla="*/ 396435 w 489392"/>
                <a:gd name="connsiteY61" fmla="*/ 899498 h 929571"/>
                <a:gd name="connsiteX62" fmla="*/ 462052 w 489392"/>
                <a:gd name="connsiteY62" fmla="*/ 899498 h 929571"/>
                <a:gd name="connsiteX63" fmla="*/ 462052 w 489392"/>
                <a:gd name="connsiteY63" fmla="*/ 683509 h 929571"/>
                <a:gd name="connsiteX64" fmla="*/ 265201 w 489392"/>
                <a:gd name="connsiteY64" fmla="*/ 571413 h 929571"/>
                <a:gd name="connsiteX65" fmla="*/ 270669 w 489392"/>
                <a:gd name="connsiteY65" fmla="*/ 552275 h 929571"/>
                <a:gd name="connsiteX66" fmla="*/ 289808 w 489392"/>
                <a:gd name="connsiteY66" fmla="*/ 557743 h 929571"/>
                <a:gd name="connsiteX67" fmla="*/ 475722 w 489392"/>
                <a:gd name="connsiteY67" fmla="*/ 656168 h 929571"/>
                <a:gd name="connsiteX68" fmla="*/ 489392 w 489392"/>
                <a:gd name="connsiteY68" fmla="*/ 669839 h 929571"/>
                <a:gd name="connsiteX69" fmla="*/ 489392 w 489392"/>
                <a:gd name="connsiteY69" fmla="*/ 913168 h 929571"/>
                <a:gd name="connsiteX70" fmla="*/ 486658 w 489392"/>
                <a:gd name="connsiteY70" fmla="*/ 924104 h 929571"/>
                <a:gd name="connsiteX71" fmla="*/ 472988 w 489392"/>
                <a:gd name="connsiteY71" fmla="*/ 929572 h 92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89392" h="929571">
                  <a:moveTo>
                    <a:pt x="472988" y="929572"/>
                  </a:moveTo>
                  <a:lnTo>
                    <a:pt x="382765" y="929572"/>
                  </a:lnTo>
                  <a:cubicBezTo>
                    <a:pt x="377297" y="929572"/>
                    <a:pt x="369095" y="924104"/>
                    <a:pt x="369095" y="918636"/>
                  </a:cubicBezTo>
                  <a:lnTo>
                    <a:pt x="355425" y="825679"/>
                  </a:lnTo>
                  <a:cubicBezTo>
                    <a:pt x="349957" y="822945"/>
                    <a:pt x="341754" y="820211"/>
                    <a:pt x="336286" y="817476"/>
                  </a:cubicBezTo>
                  <a:cubicBezTo>
                    <a:pt x="319882" y="812008"/>
                    <a:pt x="306212" y="803806"/>
                    <a:pt x="292542" y="798338"/>
                  </a:cubicBezTo>
                  <a:lnTo>
                    <a:pt x="215989" y="847551"/>
                  </a:lnTo>
                  <a:cubicBezTo>
                    <a:pt x="210521" y="850285"/>
                    <a:pt x="202319" y="850285"/>
                    <a:pt x="199585" y="844817"/>
                  </a:cubicBezTo>
                  <a:lnTo>
                    <a:pt x="84755" y="729987"/>
                  </a:lnTo>
                  <a:cubicBezTo>
                    <a:pt x="79287" y="724519"/>
                    <a:pt x="79287" y="719051"/>
                    <a:pt x="82021" y="713583"/>
                  </a:cubicBezTo>
                  <a:lnTo>
                    <a:pt x="133968" y="637030"/>
                  </a:lnTo>
                  <a:cubicBezTo>
                    <a:pt x="120298" y="615158"/>
                    <a:pt x="112095" y="596020"/>
                    <a:pt x="106627" y="571413"/>
                  </a:cubicBezTo>
                  <a:lnTo>
                    <a:pt x="10936" y="557743"/>
                  </a:lnTo>
                  <a:cubicBezTo>
                    <a:pt x="5468" y="560477"/>
                    <a:pt x="0" y="555009"/>
                    <a:pt x="0" y="546807"/>
                  </a:cubicBezTo>
                  <a:lnTo>
                    <a:pt x="0" y="382765"/>
                  </a:lnTo>
                  <a:cubicBezTo>
                    <a:pt x="0" y="377297"/>
                    <a:pt x="5468" y="369095"/>
                    <a:pt x="10936" y="369095"/>
                  </a:cubicBezTo>
                  <a:lnTo>
                    <a:pt x="103893" y="355425"/>
                  </a:lnTo>
                  <a:cubicBezTo>
                    <a:pt x="106627" y="349957"/>
                    <a:pt x="109361" y="341754"/>
                    <a:pt x="112095" y="336286"/>
                  </a:cubicBezTo>
                  <a:cubicBezTo>
                    <a:pt x="117564" y="319882"/>
                    <a:pt x="125766" y="306212"/>
                    <a:pt x="131234" y="292542"/>
                  </a:cubicBezTo>
                  <a:lnTo>
                    <a:pt x="79287" y="213255"/>
                  </a:lnTo>
                  <a:cubicBezTo>
                    <a:pt x="76553" y="207787"/>
                    <a:pt x="76553" y="199585"/>
                    <a:pt x="82021" y="196851"/>
                  </a:cubicBezTo>
                  <a:lnTo>
                    <a:pt x="196851" y="82021"/>
                  </a:lnTo>
                  <a:cubicBezTo>
                    <a:pt x="202319" y="76553"/>
                    <a:pt x="207787" y="76553"/>
                    <a:pt x="213255" y="79287"/>
                  </a:cubicBezTo>
                  <a:lnTo>
                    <a:pt x="289808" y="131234"/>
                  </a:lnTo>
                  <a:cubicBezTo>
                    <a:pt x="311680" y="117564"/>
                    <a:pt x="330818" y="109361"/>
                    <a:pt x="355425" y="103893"/>
                  </a:cubicBezTo>
                  <a:lnTo>
                    <a:pt x="369095" y="10936"/>
                  </a:lnTo>
                  <a:cubicBezTo>
                    <a:pt x="369095" y="5468"/>
                    <a:pt x="374563" y="0"/>
                    <a:pt x="382765" y="0"/>
                  </a:cubicBezTo>
                  <a:lnTo>
                    <a:pt x="475722" y="0"/>
                  </a:lnTo>
                  <a:cubicBezTo>
                    <a:pt x="483924" y="0"/>
                    <a:pt x="489392" y="5468"/>
                    <a:pt x="489392" y="13670"/>
                  </a:cubicBezTo>
                  <a:lnTo>
                    <a:pt x="489392" y="256999"/>
                  </a:lnTo>
                  <a:cubicBezTo>
                    <a:pt x="489392" y="265201"/>
                    <a:pt x="483924" y="270669"/>
                    <a:pt x="475722" y="270669"/>
                  </a:cubicBezTo>
                  <a:cubicBezTo>
                    <a:pt x="396435" y="270669"/>
                    <a:pt x="317148" y="314414"/>
                    <a:pt x="287074" y="374563"/>
                  </a:cubicBezTo>
                  <a:cubicBezTo>
                    <a:pt x="284340" y="380031"/>
                    <a:pt x="276138" y="382765"/>
                    <a:pt x="267935" y="380031"/>
                  </a:cubicBezTo>
                  <a:cubicBezTo>
                    <a:pt x="262467" y="377297"/>
                    <a:pt x="259733" y="369095"/>
                    <a:pt x="262467" y="360893"/>
                  </a:cubicBezTo>
                  <a:cubicBezTo>
                    <a:pt x="298010" y="295276"/>
                    <a:pt x="380031" y="246063"/>
                    <a:pt x="462052" y="243329"/>
                  </a:cubicBezTo>
                  <a:lnTo>
                    <a:pt x="462052" y="27340"/>
                  </a:lnTo>
                  <a:lnTo>
                    <a:pt x="393701" y="27340"/>
                  </a:lnTo>
                  <a:lnTo>
                    <a:pt x="380031" y="114829"/>
                  </a:lnTo>
                  <a:cubicBezTo>
                    <a:pt x="380031" y="120298"/>
                    <a:pt x="374563" y="125766"/>
                    <a:pt x="369095" y="125766"/>
                  </a:cubicBezTo>
                  <a:cubicBezTo>
                    <a:pt x="341754" y="133968"/>
                    <a:pt x="319882" y="142170"/>
                    <a:pt x="295276" y="158574"/>
                  </a:cubicBezTo>
                  <a:cubicBezTo>
                    <a:pt x="289808" y="161308"/>
                    <a:pt x="284340" y="161308"/>
                    <a:pt x="278872" y="158574"/>
                  </a:cubicBezTo>
                  <a:lnTo>
                    <a:pt x="207787" y="109361"/>
                  </a:lnTo>
                  <a:lnTo>
                    <a:pt x="109361" y="207787"/>
                  </a:lnTo>
                  <a:lnTo>
                    <a:pt x="161308" y="281606"/>
                  </a:lnTo>
                  <a:cubicBezTo>
                    <a:pt x="164042" y="287074"/>
                    <a:pt x="164042" y="289808"/>
                    <a:pt x="161308" y="295276"/>
                  </a:cubicBezTo>
                  <a:cubicBezTo>
                    <a:pt x="153106" y="311680"/>
                    <a:pt x="144904" y="328084"/>
                    <a:pt x="139436" y="344488"/>
                  </a:cubicBezTo>
                  <a:cubicBezTo>
                    <a:pt x="136702" y="352691"/>
                    <a:pt x="131234" y="363627"/>
                    <a:pt x="128500" y="371829"/>
                  </a:cubicBezTo>
                  <a:cubicBezTo>
                    <a:pt x="125766" y="377297"/>
                    <a:pt x="123032" y="380031"/>
                    <a:pt x="117564" y="380031"/>
                  </a:cubicBezTo>
                  <a:lnTo>
                    <a:pt x="27340" y="396435"/>
                  </a:lnTo>
                  <a:lnTo>
                    <a:pt x="27340" y="535871"/>
                  </a:lnTo>
                  <a:lnTo>
                    <a:pt x="117564" y="546807"/>
                  </a:lnTo>
                  <a:cubicBezTo>
                    <a:pt x="123032" y="546807"/>
                    <a:pt x="128500" y="552275"/>
                    <a:pt x="128500" y="557743"/>
                  </a:cubicBezTo>
                  <a:cubicBezTo>
                    <a:pt x="136702" y="585084"/>
                    <a:pt x="144904" y="606956"/>
                    <a:pt x="161308" y="631562"/>
                  </a:cubicBezTo>
                  <a:cubicBezTo>
                    <a:pt x="164042" y="637030"/>
                    <a:pt x="164042" y="642498"/>
                    <a:pt x="161308" y="647966"/>
                  </a:cubicBezTo>
                  <a:lnTo>
                    <a:pt x="109361" y="721785"/>
                  </a:lnTo>
                  <a:lnTo>
                    <a:pt x="210521" y="820211"/>
                  </a:lnTo>
                  <a:lnTo>
                    <a:pt x="284340" y="768264"/>
                  </a:lnTo>
                  <a:cubicBezTo>
                    <a:pt x="287074" y="765530"/>
                    <a:pt x="292542" y="765530"/>
                    <a:pt x="298010" y="768264"/>
                  </a:cubicBezTo>
                  <a:cubicBezTo>
                    <a:pt x="314414" y="776466"/>
                    <a:pt x="330818" y="784668"/>
                    <a:pt x="347222" y="790136"/>
                  </a:cubicBezTo>
                  <a:cubicBezTo>
                    <a:pt x="355425" y="792870"/>
                    <a:pt x="366361" y="798338"/>
                    <a:pt x="374563" y="801072"/>
                  </a:cubicBezTo>
                  <a:cubicBezTo>
                    <a:pt x="380031" y="803806"/>
                    <a:pt x="382765" y="806540"/>
                    <a:pt x="382765" y="812008"/>
                  </a:cubicBezTo>
                  <a:lnTo>
                    <a:pt x="396435" y="899498"/>
                  </a:lnTo>
                  <a:lnTo>
                    <a:pt x="462052" y="899498"/>
                  </a:lnTo>
                  <a:lnTo>
                    <a:pt x="462052" y="683509"/>
                  </a:lnTo>
                  <a:cubicBezTo>
                    <a:pt x="382765" y="678041"/>
                    <a:pt x="300744" y="631562"/>
                    <a:pt x="265201" y="571413"/>
                  </a:cubicBezTo>
                  <a:cubicBezTo>
                    <a:pt x="262467" y="565945"/>
                    <a:pt x="262467" y="557743"/>
                    <a:pt x="270669" y="552275"/>
                  </a:cubicBezTo>
                  <a:cubicBezTo>
                    <a:pt x="276138" y="549541"/>
                    <a:pt x="284340" y="549541"/>
                    <a:pt x="289808" y="557743"/>
                  </a:cubicBezTo>
                  <a:cubicBezTo>
                    <a:pt x="322616" y="615158"/>
                    <a:pt x="401903" y="656168"/>
                    <a:pt x="475722" y="656168"/>
                  </a:cubicBezTo>
                  <a:cubicBezTo>
                    <a:pt x="483924" y="656168"/>
                    <a:pt x="489392" y="661637"/>
                    <a:pt x="489392" y="669839"/>
                  </a:cubicBezTo>
                  <a:lnTo>
                    <a:pt x="489392" y="913168"/>
                  </a:lnTo>
                  <a:cubicBezTo>
                    <a:pt x="489392" y="915902"/>
                    <a:pt x="486658" y="921370"/>
                    <a:pt x="486658" y="924104"/>
                  </a:cubicBezTo>
                  <a:cubicBezTo>
                    <a:pt x="486658" y="926838"/>
                    <a:pt x="478456" y="929572"/>
                    <a:pt x="472988" y="929572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2" name="Group 357">
            <a:extLst>
              <a:ext uri="{FF2B5EF4-FFF2-40B4-BE49-F238E27FC236}">
                <a16:creationId xmlns:a16="http://schemas.microsoft.com/office/drawing/2014/main" id="{5C640561-5D8D-48B0-A618-2470CA0F6C82}"/>
              </a:ext>
            </a:extLst>
          </p:cNvPr>
          <p:cNvGrpSpPr/>
          <p:nvPr/>
        </p:nvGrpSpPr>
        <p:grpSpPr>
          <a:xfrm>
            <a:off x="760964" y="5669220"/>
            <a:ext cx="270368" cy="309869"/>
            <a:chOff x="760964" y="5669220"/>
            <a:chExt cx="270368" cy="309869"/>
          </a:xfrm>
        </p:grpSpPr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D9E01F2D-D78A-47A0-89DF-CC045DE1B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4" y="5669220"/>
              <a:ext cx="230488" cy="73661"/>
            </a:xfrm>
            <a:custGeom>
              <a:avLst/>
              <a:gdLst>
                <a:gd name="T0" fmla="*/ 42 w 85"/>
                <a:gd name="T1" fmla="*/ 27 h 27"/>
                <a:gd name="T2" fmla="*/ 0 w 85"/>
                <a:gd name="T3" fmla="*/ 14 h 27"/>
                <a:gd name="T4" fmla="*/ 42 w 85"/>
                <a:gd name="T5" fmla="*/ 0 h 27"/>
                <a:gd name="T6" fmla="*/ 47 w 85"/>
                <a:gd name="T7" fmla="*/ 0 h 27"/>
                <a:gd name="T8" fmla="*/ 47 w 85"/>
                <a:gd name="T9" fmla="*/ 4 h 27"/>
                <a:gd name="T10" fmla="*/ 42 w 85"/>
                <a:gd name="T11" fmla="*/ 4 h 27"/>
                <a:gd name="T12" fmla="*/ 4 w 85"/>
                <a:gd name="T13" fmla="*/ 14 h 27"/>
                <a:gd name="T14" fmla="*/ 42 w 85"/>
                <a:gd name="T15" fmla="*/ 23 h 27"/>
                <a:gd name="T16" fmla="*/ 81 w 85"/>
                <a:gd name="T17" fmla="*/ 14 h 27"/>
                <a:gd name="T18" fmla="*/ 70 w 85"/>
                <a:gd name="T19" fmla="*/ 7 h 27"/>
                <a:gd name="T20" fmla="*/ 71 w 85"/>
                <a:gd name="T21" fmla="*/ 3 h 27"/>
                <a:gd name="T22" fmla="*/ 85 w 85"/>
                <a:gd name="T23" fmla="*/ 14 h 27"/>
                <a:gd name="T24" fmla="*/ 42 w 85"/>
                <a:gd name="T2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27">
                  <a:moveTo>
                    <a:pt x="42" y="27"/>
                  </a:moveTo>
                  <a:cubicBezTo>
                    <a:pt x="21" y="27"/>
                    <a:pt x="0" y="22"/>
                    <a:pt x="0" y="14"/>
                  </a:cubicBezTo>
                  <a:cubicBezTo>
                    <a:pt x="0" y="5"/>
                    <a:pt x="21" y="0"/>
                    <a:pt x="42" y="0"/>
                  </a:cubicBezTo>
                  <a:cubicBezTo>
                    <a:pt x="44" y="0"/>
                    <a:pt x="45" y="0"/>
                    <a:pt x="47" y="0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5" y="4"/>
                    <a:pt x="44" y="4"/>
                    <a:pt x="42" y="4"/>
                  </a:cubicBezTo>
                  <a:cubicBezTo>
                    <a:pt x="19" y="4"/>
                    <a:pt x="4" y="10"/>
                    <a:pt x="4" y="14"/>
                  </a:cubicBezTo>
                  <a:cubicBezTo>
                    <a:pt x="4" y="17"/>
                    <a:pt x="19" y="23"/>
                    <a:pt x="42" y="23"/>
                  </a:cubicBezTo>
                  <a:cubicBezTo>
                    <a:pt x="66" y="23"/>
                    <a:pt x="81" y="17"/>
                    <a:pt x="81" y="14"/>
                  </a:cubicBezTo>
                  <a:cubicBezTo>
                    <a:pt x="81" y="12"/>
                    <a:pt x="77" y="9"/>
                    <a:pt x="70" y="7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80" y="6"/>
                    <a:pt x="85" y="9"/>
                    <a:pt x="85" y="14"/>
                  </a:cubicBezTo>
                  <a:cubicBezTo>
                    <a:pt x="85" y="22"/>
                    <a:pt x="63" y="27"/>
                    <a:pt x="42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1090E83B-5A63-4298-A36D-6CE911F50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4" y="5755950"/>
              <a:ext cx="227518" cy="43959"/>
            </a:xfrm>
            <a:custGeom>
              <a:avLst/>
              <a:gdLst>
                <a:gd name="T0" fmla="*/ 42 w 84"/>
                <a:gd name="T1" fmla="*/ 16 h 16"/>
                <a:gd name="T2" fmla="*/ 0 w 84"/>
                <a:gd name="T3" fmla="*/ 2 h 16"/>
                <a:gd name="T4" fmla="*/ 0 w 84"/>
                <a:gd name="T5" fmla="*/ 0 h 16"/>
                <a:gd name="T6" fmla="*/ 4 w 84"/>
                <a:gd name="T7" fmla="*/ 2 h 16"/>
                <a:gd name="T8" fmla="*/ 4 w 84"/>
                <a:gd name="T9" fmla="*/ 2 h 16"/>
                <a:gd name="T10" fmla="*/ 42 w 84"/>
                <a:gd name="T11" fmla="*/ 12 h 16"/>
                <a:gd name="T12" fmla="*/ 80 w 84"/>
                <a:gd name="T13" fmla="*/ 2 h 16"/>
                <a:gd name="T14" fmla="*/ 80 w 84"/>
                <a:gd name="T15" fmla="*/ 2 h 16"/>
                <a:gd name="T16" fmla="*/ 84 w 84"/>
                <a:gd name="T17" fmla="*/ 0 h 16"/>
                <a:gd name="T18" fmla="*/ 84 w 84"/>
                <a:gd name="T19" fmla="*/ 2 h 16"/>
                <a:gd name="T20" fmla="*/ 42 w 8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16">
                  <a:moveTo>
                    <a:pt x="42" y="16"/>
                  </a:moveTo>
                  <a:cubicBezTo>
                    <a:pt x="21" y="16"/>
                    <a:pt x="0" y="11"/>
                    <a:pt x="0" y="2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6"/>
                    <a:pt x="19" y="12"/>
                    <a:pt x="42" y="12"/>
                  </a:cubicBezTo>
                  <a:cubicBezTo>
                    <a:pt x="65" y="12"/>
                    <a:pt x="80" y="6"/>
                    <a:pt x="80" y="2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"/>
                    <a:pt x="84" y="2"/>
                    <a:pt x="84" y="2"/>
                  </a:cubicBezTo>
                  <a:cubicBezTo>
                    <a:pt x="84" y="11"/>
                    <a:pt x="63" y="16"/>
                    <a:pt x="42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CF3DD116-C361-4A08-82C9-C965FFB15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4" y="5812978"/>
              <a:ext cx="227518" cy="43959"/>
            </a:xfrm>
            <a:custGeom>
              <a:avLst/>
              <a:gdLst>
                <a:gd name="T0" fmla="*/ 42 w 84"/>
                <a:gd name="T1" fmla="*/ 16 h 16"/>
                <a:gd name="T2" fmla="*/ 0 w 84"/>
                <a:gd name="T3" fmla="*/ 2 h 16"/>
                <a:gd name="T4" fmla="*/ 0 w 84"/>
                <a:gd name="T5" fmla="*/ 0 h 16"/>
                <a:gd name="T6" fmla="*/ 4 w 84"/>
                <a:gd name="T7" fmla="*/ 2 h 16"/>
                <a:gd name="T8" fmla="*/ 4 w 84"/>
                <a:gd name="T9" fmla="*/ 2 h 16"/>
                <a:gd name="T10" fmla="*/ 42 w 84"/>
                <a:gd name="T11" fmla="*/ 12 h 16"/>
                <a:gd name="T12" fmla="*/ 80 w 84"/>
                <a:gd name="T13" fmla="*/ 2 h 16"/>
                <a:gd name="T14" fmla="*/ 80 w 84"/>
                <a:gd name="T15" fmla="*/ 2 h 16"/>
                <a:gd name="T16" fmla="*/ 84 w 84"/>
                <a:gd name="T17" fmla="*/ 0 h 16"/>
                <a:gd name="T18" fmla="*/ 84 w 84"/>
                <a:gd name="T19" fmla="*/ 2 h 16"/>
                <a:gd name="T20" fmla="*/ 42 w 8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16">
                  <a:moveTo>
                    <a:pt x="42" y="16"/>
                  </a:moveTo>
                  <a:cubicBezTo>
                    <a:pt x="21" y="16"/>
                    <a:pt x="0" y="11"/>
                    <a:pt x="0" y="2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6"/>
                    <a:pt x="19" y="12"/>
                    <a:pt x="42" y="12"/>
                  </a:cubicBezTo>
                  <a:cubicBezTo>
                    <a:pt x="65" y="12"/>
                    <a:pt x="80" y="6"/>
                    <a:pt x="80" y="2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"/>
                    <a:pt x="84" y="2"/>
                    <a:pt x="84" y="2"/>
                  </a:cubicBezTo>
                  <a:cubicBezTo>
                    <a:pt x="84" y="11"/>
                    <a:pt x="63" y="16"/>
                    <a:pt x="42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6" name="Freeform: Shape 355">
              <a:extLst>
                <a:ext uri="{FF2B5EF4-FFF2-40B4-BE49-F238E27FC236}">
                  <a16:creationId xmlns:a16="http://schemas.microsoft.com/office/drawing/2014/main" id="{BBFA24DD-89F5-42B6-A539-2D3A14C3A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5" y="5870006"/>
              <a:ext cx="151801" cy="43959"/>
            </a:xfrm>
            <a:custGeom>
              <a:avLst/>
              <a:gdLst>
                <a:gd name="connsiteX0" fmla="*/ 0 w 151801"/>
                <a:gd name="connsiteY0" fmla="*/ 0 h 43959"/>
                <a:gd name="connsiteX1" fmla="*/ 10834 w 151801"/>
                <a:gd name="connsiteY1" fmla="*/ 5495 h 43959"/>
                <a:gd name="connsiteX2" fmla="*/ 113759 w 151801"/>
                <a:gd name="connsiteY2" fmla="*/ 32969 h 43959"/>
                <a:gd name="connsiteX3" fmla="*/ 151801 w 151801"/>
                <a:gd name="connsiteY3" fmla="*/ 28080 h 43959"/>
                <a:gd name="connsiteX4" fmla="*/ 146681 w 151801"/>
                <a:gd name="connsiteY4" fmla="*/ 39767 h 43959"/>
                <a:gd name="connsiteX5" fmla="*/ 113759 w 151801"/>
                <a:gd name="connsiteY5" fmla="*/ 43959 h 43959"/>
                <a:gd name="connsiteX6" fmla="*/ 0 w 151801"/>
                <a:gd name="connsiteY6" fmla="*/ 5495 h 43959"/>
                <a:gd name="connsiteX7" fmla="*/ 0 w 151801"/>
                <a:gd name="connsiteY7" fmla="*/ 0 h 4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801" h="43959">
                  <a:moveTo>
                    <a:pt x="0" y="0"/>
                  </a:moveTo>
                  <a:cubicBezTo>
                    <a:pt x="10834" y="5495"/>
                    <a:pt x="10834" y="5495"/>
                    <a:pt x="10834" y="5495"/>
                  </a:cubicBezTo>
                  <a:cubicBezTo>
                    <a:pt x="10834" y="16485"/>
                    <a:pt x="51462" y="32969"/>
                    <a:pt x="113759" y="32969"/>
                  </a:cubicBezTo>
                  <a:lnTo>
                    <a:pt x="151801" y="28080"/>
                  </a:lnTo>
                  <a:lnTo>
                    <a:pt x="146681" y="39767"/>
                  </a:lnTo>
                  <a:lnTo>
                    <a:pt x="113759" y="43959"/>
                  </a:lnTo>
                  <a:cubicBezTo>
                    <a:pt x="56880" y="43959"/>
                    <a:pt x="0" y="30222"/>
                    <a:pt x="0" y="5495"/>
                  </a:cubicBezTo>
                  <a:cubicBezTo>
                    <a:pt x="0" y="5495"/>
                    <a:pt x="0" y="2748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 dirty="0"/>
            </a:p>
          </p:txBody>
        </p:sp>
        <p:sp>
          <p:nvSpPr>
            <p:cNvPr id="207" name="Rectangle 25">
              <a:extLst>
                <a:ext uri="{FF2B5EF4-FFF2-40B4-BE49-F238E27FC236}">
                  <a16:creationId xmlns:a16="http://schemas.microsoft.com/office/drawing/2014/main" id="{AF2790AE-0A97-49EA-B9F1-40C990605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964" y="5707239"/>
              <a:ext cx="11287" cy="1687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8" name="Rectangle 26">
              <a:extLst>
                <a:ext uri="{FF2B5EF4-FFF2-40B4-BE49-F238E27FC236}">
                  <a16:creationId xmlns:a16="http://schemas.microsoft.com/office/drawing/2014/main" id="{655C0CDC-521C-4114-B1F9-58E9E1025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789" y="5710209"/>
              <a:ext cx="10693" cy="14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9" name="Rectangle 27">
              <a:extLst>
                <a:ext uri="{FF2B5EF4-FFF2-40B4-BE49-F238E27FC236}">
                  <a16:creationId xmlns:a16="http://schemas.microsoft.com/office/drawing/2014/main" id="{DBEC55C2-4E83-4AD2-876E-8A97FB39A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606" y="5859313"/>
              <a:ext cx="24356" cy="24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0" name="Rectangle 28">
              <a:extLst>
                <a:ext uri="{FF2B5EF4-FFF2-40B4-BE49-F238E27FC236}">
                  <a16:creationId xmlns:a16="http://schemas.microsoft.com/office/drawing/2014/main" id="{AFF1A4C0-FDD7-42BB-B9B7-804A62803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606" y="5802285"/>
              <a:ext cx="24356" cy="219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1" name="Rectangle 29">
              <a:extLst>
                <a:ext uri="{FF2B5EF4-FFF2-40B4-BE49-F238E27FC236}">
                  <a16:creationId xmlns:a16="http://schemas.microsoft.com/office/drawing/2014/main" id="{AE2A24E5-6C0F-4017-9253-EACC5DE19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606" y="5748228"/>
              <a:ext cx="24356" cy="213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212" name="Группа 290">
              <a:extLst>
                <a:ext uri="{FF2B5EF4-FFF2-40B4-BE49-F238E27FC236}">
                  <a16:creationId xmlns:a16="http://schemas.microsoft.com/office/drawing/2014/main" id="{BCB4B780-4C6C-4D0F-A740-8D970FFDA9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27546" y="5878820"/>
              <a:ext cx="76660" cy="72000"/>
              <a:chOff x="1015845" y="4530606"/>
              <a:chExt cx="779992" cy="732581"/>
            </a:xfrm>
            <a:solidFill>
              <a:srgbClr val="000000"/>
            </a:solidFill>
          </p:grpSpPr>
          <p:grpSp>
            <p:nvGrpSpPr>
              <p:cNvPr id="213" name="Рисунок 2">
                <a:extLst>
                  <a:ext uri="{FF2B5EF4-FFF2-40B4-BE49-F238E27FC236}">
                    <a16:creationId xmlns:a16="http://schemas.microsoft.com/office/drawing/2014/main" id="{B52532C3-7D45-4E26-9DE0-53FAC32CEE8C}"/>
                  </a:ext>
                </a:extLst>
              </p:cNvPr>
              <p:cNvGrpSpPr/>
              <p:nvPr/>
            </p:nvGrpSpPr>
            <p:grpSpPr>
              <a:xfrm>
                <a:off x="1015845" y="4850427"/>
                <a:ext cx="221414" cy="396359"/>
                <a:chOff x="430687" y="3013818"/>
                <a:chExt cx="221414" cy="396359"/>
              </a:xfrm>
              <a:grpFill/>
            </p:grpSpPr>
            <p:sp>
              <p:nvSpPr>
                <p:cNvPr id="214" name="Полилиния: фигура 49">
                  <a:extLst>
                    <a:ext uri="{FF2B5EF4-FFF2-40B4-BE49-F238E27FC236}">
                      <a16:creationId xmlns:a16="http://schemas.microsoft.com/office/drawing/2014/main" id="{1B2DA2EF-40AE-4D9A-AFBB-6A5ADF5B4E92}"/>
                    </a:ext>
                  </a:extLst>
                </p:cNvPr>
                <p:cNvSpPr/>
                <p:nvPr/>
              </p:nvSpPr>
              <p:spPr>
                <a:xfrm>
                  <a:off x="430687" y="3013818"/>
                  <a:ext cx="221414" cy="396359"/>
                </a:xfrm>
                <a:custGeom>
                  <a:avLst/>
                  <a:gdLst>
                    <a:gd name="connsiteX0" fmla="*/ 221415 w 221414"/>
                    <a:gd name="connsiteY0" fmla="*/ 396359 h 396359"/>
                    <a:gd name="connsiteX1" fmla="*/ 150343 w 221414"/>
                    <a:gd name="connsiteY1" fmla="*/ 396359 h 396359"/>
                    <a:gd name="connsiteX2" fmla="*/ 150343 w 221414"/>
                    <a:gd name="connsiteY2" fmla="*/ 369024 h 396359"/>
                    <a:gd name="connsiteX3" fmla="*/ 194079 w 221414"/>
                    <a:gd name="connsiteY3" fmla="*/ 369024 h 396359"/>
                    <a:gd name="connsiteX4" fmla="*/ 188612 w 221414"/>
                    <a:gd name="connsiteY4" fmla="*/ 27335 h 396359"/>
                    <a:gd name="connsiteX5" fmla="*/ 0 w 221414"/>
                    <a:gd name="connsiteY5" fmla="*/ 27335 h 396359"/>
                    <a:gd name="connsiteX6" fmla="*/ 0 w 221414"/>
                    <a:gd name="connsiteY6" fmla="*/ 0 h 396359"/>
                    <a:gd name="connsiteX7" fmla="*/ 215947 w 221414"/>
                    <a:gd name="connsiteY7" fmla="*/ 0 h 396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1414" h="396359">
                      <a:moveTo>
                        <a:pt x="221415" y="396359"/>
                      </a:moveTo>
                      <a:lnTo>
                        <a:pt x="150343" y="396359"/>
                      </a:lnTo>
                      <a:lnTo>
                        <a:pt x="150343" y="369024"/>
                      </a:lnTo>
                      <a:lnTo>
                        <a:pt x="194079" y="369024"/>
                      </a:lnTo>
                      <a:lnTo>
                        <a:pt x="188612" y="27335"/>
                      </a:lnTo>
                      <a:lnTo>
                        <a:pt x="0" y="27335"/>
                      </a:lnTo>
                      <a:lnTo>
                        <a:pt x="0" y="0"/>
                      </a:lnTo>
                      <a:lnTo>
                        <a:pt x="215947" y="0"/>
                      </a:lnTo>
                      <a:close/>
                    </a:path>
                  </a:pathLst>
                </a:custGeom>
                <a:grpFill/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15" name="Полилиния: фигура 50">
                  <a:extLst>
                    <a:ext uri="{FF2B5EF4-FFF2-40B4-BE49-F238E27FC236}">
                      <a16:creationId xmlns:a16="http://schemas.microsoft.com/office/drawing/2014/main" id="{6D720D16-5E0F-4AF9-A066-80DF673E430E}"/>
                    </a:ext>
                  </a:extLst>
                </p:cNvPr>
                <p:cNvSpPr/>
                <p:nvPr/>
              </p:nvSpPr>
              <p:spPr>
                <a:xfrm>
                  <a:off x="468956" y="3095823"/>
                  <a:ext cx="98406" cy="95672"/>
                </a:xfrm>
                <a:custGeom>
                  <a:avLst/>
                  <a:gdLst>
                    <a:gd name="connsiteX0" fmla="*/ 0 w 98406"/>
                    <a:gd name="connsiteY0" fmla="*/ 0 h 95672"/>
                    <a:gd name="connsiteX1" fmla="*/ 98406 w 98406"/>
                    <a:gd name="connsiteY1" fmla="*/ 0 h 95672"/>
                    <a:gd name="connsiteX2" fmla="*/ 98406 w 98406"/>
                    <a:gd name="connsiteY2" fmla="*/ 95673 h 95672"/>
                    <a:gd name="connsiteX3" fmla="*/ 0 w 98406"/>
                    <a:gd name="connsiteY3" fmla="*/ 95673 h 95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406" h="95672">
                      <a:moveTo>
                        <a:pt x="0" y="0"/>
                      </a:moveTo>
                      <a:lnTo>
                        <a:pt x="98406" y="0"/>
                      </a:lnTo>
                      <a:lnTo>
                        <a:pt x="98406" y="95673"/>
                      </a:lnTo>
                      <a:lnTo>
                        <a:pt x="0" y="95673"/>
                      </a:lnTo>
                      <a:close/>
                    </a:path>
                  </a:pathLst>
                </a:custGeom>
                <a:grpFill/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216" name="Полилиния: фигура 51">
                <a:extLst>
                  <a:ext uri="{FF2B5EF4-FFF2-40B4-BE49-F238E27FC236}">
                    <a16:creationId xmlns:a16="http://schemas.microsoft.com/office/drawing/2014/main" id="{3BB8233D-B8AE-4417-A98C-F60DCECDF1D2}"/>
                  </a:ext>
                </a:extLst>
              </p:cNvPr>
              <p:cNvSpPr/>
              <p:nvPr/>
            </p:nvSpPr>
            <p:spPr>
              <a:xfrm>
                <a:off x="1261861" y="4530606"/>
                <a:ext cx="533976" cy="732581"/>
              </a:xfrm>
              <a:custGeom>
                <a:avLst/>
                <a:gdLst>
                  <a:gd name="connsiteX0" fmla="*/ 317087 w 533976"/>
                  <a:gd name="connsiteY0" fmla="*/ 732581 h 732581"/>
                  <a:gd name="connsiteX1" fmla="*/ 278818 w 533976"/>
                  <a:gd name="connsiteY1" fmla="*/ 732581 h 732581"/>
                  <a:gd name="connsiteX2" fmla="*/ 24602 w 533976"/>
                  <a:gd name="connsiteY2" fmla="*/ 707980 h 732581"/>
                  <a:gd name="connsiteX3" fmla="*/ 32802 w 533976"/>
                  <a:gd name="connsiteY3" fmla="*/ 680645 h 732581"/>
                  <a:gd name="connsiteX4" fmla="*/ 281552 w 533976"/>
                  <a:gd name="connsiteY4" fmla="*/ 705246 h 732581"/>
                  <a:gd name="connsiteX5" fmla="*/ 347156 w 533976"/>
                  <a:gd name="connsiteY5" fmla="*/ 705246 h 732581"/>
                  <a:gd name="connsiteX6" fmla="*/ 388159 w 533976"/>
                  <a:gd name="connsiteY6" fmla="*/ 702513 h 732581"/>
                  <a:gd name="connsiteX7" fmla="*/ 448296 w 533976"/>
                  <a:gd name="connsiteY7" fmla="*/ 639642 h 732581"/>
                  <a:gd name="connsiteX8" fmla="*/ 500233 w 533976"/>
                  <a:gd name="connsiteY8" fmla="*/ 333488 h 732581"/>
                  <a:gd name="connsiteX9" fmla="*/ 437362 w 533976"/>
                  <a:gd name="connsiteY9" fmla="*/ 297953 h 732581"/>
                  <a:gd name="connsiteX10" fmla="*/ 437362 w 533976"/>
                  <a:gd name="connsiteY10" fmla="*/ 297953 h 732581"/>
                  <a:gd name="connsiteX11" fmla="*/ 273351 w 533976"/>
                  <a:gd name="connsiteY11" fmla="*/ 297953 h 732581"/>
                  <a:gd name="connsiteX12" fmla="*/ 281552 w 533976"/>
                  <a:gd name="connsiteY12" fmla="*/ 278818 h 732581"/>
                  <a:gd name="connsiteX13" fmla="*/ 284285 w 533976"/>
                  <a:gd name="connsiteY13" fmla="*/ 41003 h 732581"/>
                  <a:gd name="connsiteX14" fmla="*/ 246016 w 533976"/>
                  <a:gd name="connsiteY14" fmla="*/ 27335 h 732581"/>
                  <a:gd name="connsiteX15" fmla="*/ 237816 w 533976"/>
                  <a:gd name="connsiteY15" fmla="*/ 32802 h 732581"/>
                  <a:gd name="connsiteX16" fmla="*/ 218681 w 533976"/>
                  <a:gd name="connsiteY16" fmla="*/ 68338 h 732581"/>
                  <a:gd name="connsiteX17" fmla="*/ 213214 w 533976"/>
                  <a:gd name="connsiteY17" fmla="*/ 101140 h 732581"/>
                  <a:gd name="connsiteX18" fmla="*/ 207747 w 533976"/>
                  <a:gd name="connsiteY18" fmla="*/ 136676 h 732581"/>
                  <a:gd name="connsiteX19" fmla="*/ 13668 w 533976"/>
                  <a:gd name="connsiteY19" fmla="*/ 360824 h 732581"/>
                  <a:gd name="connsiteX20" fmla="*/ 0 w 533976"/>
                  <a:gd name="connsiteY20" fmla="*/ 336222 h 732581"/>
                  <a:gd name="connsiteX21" fmla="*/ 8201 w 533976"/>
                  <a:gd name="connsiteY21" fmla="*/ 347156 h 732581"/>
                  <a:gd name="connsiteX22" fmla="*/ 0 w 533976"/>
                  <a:gd name="connsiteY22" fmla="*/ 336222 h 732581"/>
                  <a:gd name="connsiteX23" fmla="*/ 183145 w 533976"/>
                  <a:gd name="connsiteY23" fmla="*/ 128475 h 732581"/>
                  <a:gd name="connsiteX24" fmla="*/ 188612 w 533976"/>
                  <a:gd name="connsiteY24" fmla="*/ 95673 h 732581"/>
                  <a:gd name="connsiteX25" fmla="*/ 194079 w 533976"/>
                  <a:gd name="connsiteY25" fmla="*/ 60137 h 732581"/>
                  <a:gd name="connsiteX26" fmla="*/ 218681 w 533976"/>
                  <a:gd name="connsiteY26" fmla="*/ 13668 h 732581"/>
                  <a:gd name="connsiteX27" fmla="*/ 246016 w 533976"/>
                  <a:gd name="connsiteY27" fmla="*/ 0 h 732581"/>
                  <a:gd name="connsiteX28" fmla="*/ 303420 w 533976"/>
                  <a:gd name="connsiteY28" fmla="*/ 16401 h 732581"/>
                  <a:gd name="connsiteX29" fmla="*/ 314354 w 533976"/>
                  <a:gd name="connsiteY29" fmla="*/ 267884 h 732581"/>
                  <a:gd name="connsiteX30" fmla="*/ 437362 w 533976"/>
                  <a:gd name="connsiteY30" fmla="*/ 267884 h 732581"/>
                  <a:gd name="connsiteX31" fmla="*/ 524834 w 533976"/>
                  <a:gd name="connsiteY31" fmla="*/ 322555 h 732581"/>
                  <a:gd name="connsiteX32" fmla="*/ 470164 w 533976"/>
                  <a:gd name="connsiteY32" fmla="*/ 650576 h 732581"/>
                  <a:gd name="connsiteX33" fmla="*/ 393626 w 533976"/>
                  <a:gd name="connsiteY33" fmla="*/ 727114 h 732581"/>
                  <a:gd name="connsiteX34" fmla="*/ 344423 w 533976"/>
                  <a:gd name="connsiteY34" fmla="*/ 732581 h 732581"/>
                  <a:gd name="connsiteX35" fmla="*/ 317087 w 533976"/>
                  <a:gd name="connsiteY35" fmla="*/ 732581 h 732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33976" h="732581">
                    <a:moveTo>
                      <a:pt x="317087" y="732581"/>
                    </a:moveTo>
                    <a:cubicBezTo>
                      <a:pt x="303420" y="732581"/>
                      <a:pt x="292486" y="732581"/>
                      <a:pt x="278818" y="732581"/>
                    </a:cubicBezTo>
                    <a:cubicBezTo>
                      <a:pt x="265151" y="732581"/>
                      <a:pt x="87472" y="724381"/>
                      <a:pt x="24602" y="707980"/>
                    </a:cubicBezTo>
                    <a:lnTo>
                      <a:pt x="32802" y="680645"/>
                    </a:lnTo>
                    <a:cubicBezTo>
                      <a:pt x="90206" y="697046"/>
                      <a:pt x="259684" y="705246"/>
                      <a:pt x="281552" y="705246"/>
                    </a:cubicBezTo>
                    <a:cubicBezTo>
                      <a:pt x="303420" y="705246"/>
                      <a:pt x="325288" y="705246"/>
                      <a:pt x="347156" y="705246"/>
                    </a:cubicBezTo>
                    <a:cubicBezTo>
                      <a:pt x="366291" y="705246"/>
                      <a:pt x="382692" y="702513"/>
                      <a:pt x="388159" y="702513"/>
                    </a:cubicBezTo>
                    <a:cubicBezTo>
                      <a:pt x="407293" y="697046"/>
                      <a:pt x="429161" y="675178"/>
                      <a:pt x="448296" y="639642"/>
                    </a:cubicBezTo>
                    <a:cubicBezTo>
                      <a:pt x="497499" y="549436"/>
                      <a:pt x="522101" y="399093"/>
                      <a:pt x="500233" y="333488"/>
                    </a:cubicBezTo>
                    <a:cubicBezTo>
                      <a:pt x="492032" y="306153"/>
                      <a:pt x="456497" y="297953"/>
                      <a:pt x="437362" y="297953"/>
                    </a:cubicBezTo>
                    <a:cubicBezTo>
                      <a:pt x="437362" y="297953"/>
                      <a:pt x="437362" y="297953"/>
                      <a:pt x="437362" y="297953"/>
                    </a:cubicBezTo>
                    <a:lnTo>
                      <a:pt x="273351" y="297953"/>
                    </a:lnTo>
                    <a:lnTo>
                      <a:pt x="281552" y="278818"/>
                    </a:lnTo>
                    <a:cubicBezTo>
                      <a:pt x="289752" y="256950"/>
                      <a:pt x="325288" y="71071"/>
                      <a:pt x="284285" y="41003"/>
                    </a:cubicBezTo>
                    <a:cubicBezTo>
                      <a:pt x="270618" y="27335"/>
                      <a:pt x="265151" y="27335"/>
                      <a:pt x="246016" y="27335"/>
                    </a:cubicBezTo>
                    <a:cubicBezTo>
                      <a:pt x="243283" y="27335"/>
                      <a:pt x="240549" y="27335"/>
                      <a:pt x="237816" y="32802"/>
                    </a:cubicBezTo>
                    <a:cubicBezTo>
                      <a:pt x="229615" y="41003"/>
                      <a:pt x="224148" y="54670"/>
                      <a:pt x="218681" y="68338"/>
                    </a:cubicBezTo>
                    <a:cubicBezTo>
                      <a:pt x="215947" y="73805"/>
                      <a:pt x="215947" y="87472"/>
                      <a:pt x="213214" y="101140"/>
                    </a:cubicBezTo>
                    <a:cubicBezTo>
                      <a:pt x="210480" y="114807"/>
                      <a:pt x="210480" y="128475"/>
                      <a:pt x="207747" y="136676"/>
                    </a:cubicBezTo>
                    <a:cubicBezTo>
                      <a:pt x="177678" y="246016"/>
                      <a:pt x="13668" y="358090"/>
                      <a:pt x="13668" y="360824"/>
                    </a:cubicBezTo>
                    <a:lnTo>
                      <a:pt x="0" y="336222"/>
                    </a:lnTo>
                    <a:lnTo>
                      <a:pt x="8201" y="347156"/>
                    </a:lnTo>
                    <a:lnTo>
                      <a:pt x="0" y="336222"/>
                    </a:lnTo>
                    <a:cubicBezTo>
                      <a:pt x="2734" y="336222"/>
                      <a:pt x="155810" y="226882"/>
                      <a:pt x="183145" y="128475"/>
                    </a:cubicBezTo>
                    <a:cubicBezTo>
                      <a:pt x="185879" y="123008"/>
                      <a:pt x="185879" y="109340"/>
                      <a:pt x="188612" y="95673"/>
                    </a:cubicBezTo>
                    <a:cubicBezTo>
                      <a:pt x="191346" y="82005"/>
                      <a:pt x="191346" y="68338"/>
                      <a:pt x="194079" y="60137"/>
                    </a:cubicBezTo>
                    <a:cubicBezTo>
                      <a:pt x="199546" y="41003"/>
                      <a:pt x="207747" y="27335"/>
                      <a:pt x="218681" y="13668"/>
                    </a:cubicBezTo>
                    <a:cubicBezTo>
                      <a:pt x="226882" y="5467"/>
                      <a:pt x="235082" y="0"/>
                      <a:pt x="246016" y="0"/>
                    </a:cubicBezTo>
                    <a:cubicBezTo>
                      <a:pt x="270618" y="0"/>
                      <a:pt x="281552" y="0"/>
                      <a:pt x="303420" y="16401"/>
                    </a:cubicBezTo>
                    <a:cubicBezTo>
                      <a:pt x="355357" y="54670"/>
                      <a:pt x="328022" y="210480"/>
                      <a:pt x="314354" y="267884"/>
                    </a:cubicBezTo>
                    <a:lnTo>
                      <a:pt x="437362" y="267884"/>
                    </a:lnTo>
                    <a:cubicBezTo>
                      <a:pt x="470164" y="267884"/>
                      <a:pt x="513900" y="284285"/>
                      <a:pt x="524834" y="322555"/>
                    </a:cubicBezTo>
                    <a:cubicBezTo>
                      <a:pt x="549436" y="396359"/>
                      <a:pt x="522101" y="554903"/>
                      <a:pt x="470164" y="650576"/>
                    </a:cubicBezTo>
                    <a:cubicBezTo>
                      <a:pt x="445563" y="694312"/>
                      <a:pt x="420961" y="718914"/>
                      <a:pt x="393626" y="727114"/>
                    </a:cubicBezTo>
                    <a:cubicBezTo>
                      <a:pt x="382692" y="729848"/>
                      <a:pt x="360824" y="732581"/>
                      <a:pt x="344423" y="732581"/>
                    </a:cubicBezTo>
                    <a:cubicBezTo>
                      <a:pt x="336222" y="732581"/>
                      <a:pt x="325288" y="732581"/>
                      <a:pt x="317087" y="732581"/>
                    </a:cubicBezTo>
                    <a:close/>
                  </a:path>
                </a:pathLst>
              </a:custGeom>
              <a:grpFill/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17" name="Oval 356">
              <a:extLst>
                <a:ext uri="{FF2B5EF4-FFF2-40B4-BE49-F238E27FC236}">
                  <a16:creationId xmlns:a16="http://schemas.microsoft.com/office/drawing/2014/main" id="{C6719EEF-0B98-4E9E-A5EF-07D2FFC24BCF}"/>
                </a:ext>
              </a:extLst>
            </p:cNvPr>
            <p:cNvSpPr/>
            <p:nvPr/>
          </p:nvSpPr>
          <p:spPr>
            <a:xfrm>
              <a:off x="903705" y="5858438"/>
              <a:ext cx="127627" cy="120651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rgbClr val="8F0D6B">
                <a:shade val="50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8" name="Rectangle 12">
            <a:extLst>
              <a:ext uri="{FF2B5EF4-FFF2-40B4-BE49-F238E27FC236}">
                <a16:creationId xmlns:a16="http://schemas.microsoft.com/office/drawing/2014/main" id="{424F37D2-B043-4D71-B453-BD9F1B1C7142}"/>
              </a:ext>
            </a:extLst>
          </p:cNvPr>
          <p:cNvSpPr/>
          <p:nvPr/>
        </p:nvSpPr>
        <p:spPr bwMode="auto">
          <a:xfrm>
            <a:off x="563803" y="2221304"/>
            <a:ext cx="6279704" cy="54640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pic>
        <p:nvPicPr>
          <p:cNvPr id="219" name="Picture 1">
            <a:extLst>
              <a:ext uri="{FF2B5EF4-FFF2-40B4-BE49-F238E27FC236}">
                <a16:creationId xmlns:a16="http://schemas.microsoft.com/office/drawing/2014/main" id="{B2C1058D-5386-4AAD-AFCA-7492033F6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79" y="2272916"/>
            <a:ext cx="458690" cy="434729"/>
          </a:xfrm>
          <a:prstGeom prst="rect">
            <a:avLst/>
          </a:prstGeom>
          <a:solidFill>
            <a:srgbClr val="EEF3FF"/>
          </a:solidFill>
        </p:spPr>
      </p:pic>
      <p:sp>
        <p:nvSpPr>
          <p:cNvPr id="220" name="TextBox 261">
            <a:extLst>
              <a:ext uri="{FF2B5EF4-FFF2-40B4-BE49-F238E27FC236}">
                <a16:creationId xmlns:a16="http://schemas.microsoft.com/office/drawing/2014/main" id="{AB7E53CE-E0A3-4974-95AA-EBD6F6947501}"/>
              </a:ext>
            </a:extLst>
          </p:cNvPr>
          <p:cNvSpPr txBox="1"/>
          <p:nvPr/>
        </p:nvSpPr>
        <p:spPr bwMode="auto">
          <a:xfrm>
            <a:off x="1207362" y="2277929"/>
            <a:ext cx="5569998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Использование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ИИ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всех этапах тестирования от сбора требований и подготовки стратегии до генерации тестов и анализа результатов.</a:t>
            </a:r>
            <a:endParaRPr lang="ru-RU" sz="1000" b="1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21" name="Rectangle 262">
            <a:extLst>
              <a:ext uri="{FF2B5EF4-FFF2-40B4-BE49-F238E27FC236}">
                <a16:creationId xmlns:a16="http://schemas.microsoft.com/office/drawing/2014/main" id="{C205A7F0-37CE-491A-AE71-189076E26AE1}"/>
              </a:ext>
            </a:extLst>
          </p:cNvPr>
          <p:cNvSpPr/>
          <p:nvPr/>
        </p:nvSpPr>
        <p:spPr>
          <a:xfrm>
            <a:off x="8312907" y="2313029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Повышение скорости и эффективности</a:t>
            </a:r>
            <a:endParaRPr lang="ru-RU" sz="1000" spc="30" dirty="0">
              <a:solidFill>
                <a:srgbClr val="7D70E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22" name="Rectangle 263">
            <a:extLst>
              <a:ext uri="{FF2B5EF4-FFF2-40B4-BE49-F238E27FC236}">
                <a16:creationId xmlns:a16="http://schemas.microsoft.com/office/drawing/2014/main" id="{49C904E5-5C74-4891-AE2C-721CD3131817}"/>
              </a:ext>
            </a:extLst>
          </p:cNvPr>
          <p:cNvSpPr/>
          <p:nvPr/>
        </p:nvSpPr>
        <p:spPr>
          <a:xfrm>
            <a:off x="8307364" y="2511042"/>
            <a:ext cx="31166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практического применения современных инструментов и моделей ИИ</a:t>
            </a:r>
          </a:p>
        </p:txBody>
      </p:sp>
      <p:pic>
        <p:nvPicPr>
          <p:cNvPr id="223" name="Picture 264">
            <a:extLst>
              <a:ext uri="{FF2B5EF4-FFF2-40B4-BE49-F238E27FC236}">
                <a16:creationId xmlns:a16="http://schemas.microsoft.com/office/drawing/2014/main" id="{BFEF11CB-3A42-40BD-BC99-17759892A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346" y="2396953"/>
            <a:ext cx="458690" cy="434729"/>
          </a:xfrm>
          <a:prstGeom prst="rect">
            <a:avLst/>
          </a:prstGeom>
          <a:solidFill>
            <a:srgbClr val="EEF3FF"/>
          </a:solidFill>
        </p:spPr>
      </p:pic>
      <p:grpSp>
        <p:nvGrpSpPr>
          <p:cNvPr id="224" name="Группа 400">
            <a:extLst>
              <a:ext uri="{FF2B5EF4-FFF2-40B4-BE49-F238E27FC236}">
                <a16:creationId xmlns:a16="http://schemas.microsoft.com/office/drawing/2014/main" id="{5091DD02-31B8-46BF-85DB-4EB5BADB0713}"/>
              </a:ext>
            </a:extLst>
          </p:cNvPr>
          <p:cNvGrpSpPr>
            <a:grpSpLocks noChangeAspect="1"/>
          </p:cNvGrpSpPr>
          <p:nvPr/>
        </p:nvGrpSpPr>
        <p:grpSpPr>
          <a:xfrm>
            <a:off x="7132495" y="2444034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B7EAA0CF-3416-43F6-B778-1BBFA9477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26" name="Rectangle 42">
              <a:extLst>
                <a:ext uri="{FF2B5EF4-FFF2-40B4-BE49-F238E27FC236}">
                  <a16:creationId xmlns:a16="http://schemas.microsoft.com/office/drawing/2014/main" id="{5EE9BC30-A850-4CCB-B0E1-E5D3D506D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27" name="Rectangle 43">
              <a:extLst>
                <a:ext uri="{FF2B5EF4-FFF2-40B4-BE49-F238E27FC236}">
                  <a16:creationId xmlns:a16="http://schemas.microsoft.com/office/drawing/2014/main" id="{2B917A4B-4C83-4975-B5AB-12F6B21A9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ED2C281-5D73-4336-9312-C2232E81B3D8}"/>
              </a:ext>
            </a:extLst>
          </p:cNvPr>
          <p:cNvSpPr>
            <a:spLocks noGrp="1"/>
          </p:cNvSpPr>
          <p:nvPr/>
        </p:nvSpPr>
        <p:spPr>
          <a:xfrm>
            <a:off x="510476" y="411644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производительности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85D3245-09CC-40DA-9DB5-D620FAE5738A}"/>
              </a:ext>
            </a:extLst>
          </p:cNvPr>
          <p:cNvSpPr>
            <a:spLocks noGrp="1"/>
          </p:cNvSpPr>
          <p:nvPr/>
        </p:nvSpPr>
        <p:spPr>
          <a:xfrm>
            <a:off x="510475" y="1176226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Наши сервисы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35C3E8E-5258-4D43-9803-EC0E16CC66E2}"/>
              </a:ext>
            </a:extLst>
          </p:cNvPr>
          <p:cNvSpPr>
            <a:spLocks noGrp="1"/>
          </p:cNvSpPr>
          <p:nvPr/>
        </p:nvSpPr>
        <p:spPr>
          <a:xfrm>
            <a:off x="521760" y="1479276"/>
            <a:ext cx="5574240" cy="4789444"/>
          </a:xfrm>
        </p:spPr>
        <p:txBody>
          <a:bodyPr>
            <a:noAutofit/>
          </a:bodyPr>
          <a:lstStyle/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Оценка и внедрение тестирования производительности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Инжиниринг производительности, включая мобильные устройства и облака, бизнес-аналитика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Разработка стратегии и методики нагрузочного тестирования, подготовка моделей и профилей нагрузки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Проведение широкого спектра тестов производительности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Анализ производительности веб серверов, серверов приложений и оптимизация конфигураций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Анализ производительности на стороне клиента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Мониторинг и оптимизация производительности приложений и баз данных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Локализация узких мест производительности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Профилирование кода и запросов к БД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Управление тестовыми данными</a:t>
            </a:r>
          </a:p>
          <a:p>
            <a:pPr>
              <a:spcBef>
                <a:spcPts val="1400"/>
              </a:spcBef>
            </a:pPr>
            <a:endParaRPr lang="ru-RU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C84CDA9-7555-451B-92C9-8B346F1637E1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Инструменты</a:t>
            </a:r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B4130B19-ACBF-41E1-8F29-FEEE238AFA1A}"/>
              </a:ext>
            </a:extLst>
          </p:cNvPr>
          <p:cNvSpPr/>
          <p:nvPr/>
        </p:nvSpPr>
        <p:spPr>
          <a:xfrm>
            <a:off x="6696992" y="1556398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27B5C993-3EED-4CBE-A167-C3C9A6A3B05C}"/>
              </a:ext>
            </a:extLst>
          </p:cNvPr>
          <p:cNvSpPr/>
          <p:nvPr/>
        </p:nvSpPr>
        <p:spPr>
          <a:xfrm>
            <a:off x="8389743" y="1556400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41">
            <a:extLst>
              <a:ext uri="{FF2B5EF4-FFF2-40B4-BE49-F238E27FC236}">
                <a16:creationId xmlns:a16="http://schemas.microsoft.com/office/drawing/2014/main" id="{DA034C70-F8C0-484B-94C3-D7AF25F7A511}"/>
              </a:ext>
            </a:extLst>
          </p:cNvPr>
          <p:cNvSpPr/>
          <p:nvPr/>
        </p:nvSpPr>
        <p:spPr>
          <a:xfrm>
            <a:off x="10082494" y="2577359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2">
            <a:extLst>
              <a:ext uri="{FF2B5EF4-FFF2-40B4-BE49-F238E27FC236}">
                <a16:creationId xmlns:a16="http://schemas.microsoft.com/office/drawing/2014/main" id="{4E6EEA44-65F4-45C2-B3BC-4737EE462F96}"/>
              </a:ext>
            </a:extLst>
          </p:cNvPr>
          <p:cNvSpPr/>
          <p:nvPr/>
        </p:nvSpPr>
        <p:spPr>
          <a:xfrm>
            <a:off x="6696992" y="2577359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43">
            <a:extLst>
              <a:ext uri="{FF2B5EF4-FFF2-40B4-BE49-F238E27FC236}">
                <a16:creationId xmlns:a16="http://schemas.microsoft.com/office/drawing/2014/main" id="{B7FE02C9-3802-4DA8-93BA-407597BF63CC}"/>
              </a:ext>
            </a:extLst>
          </p:cNvPr>
          <p:cNvSpPr/>
          <p:nvPr/>
        </p:nvSpPr>
        <p:spPr>
          <a:xfrm>
            <a:off x="8389743" y="2577361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33">
            <a:extLst>
              <a:ext uri="{FF2B5EF4-FFF2-40B4-BE49-F238E27FC236}">
                <a16:creationId xmlns:a16="http://schemas.microsoft.com/office/drawing/2014/main" id="{AD17E69F-DAC4-42EA-9560-83059601C7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7405" y="1779537"/>
            <a:ext cx="1199319" cy="407444"/>
          </a:xfrm>
          <a:prstGeom prst="rect">
            <a:avLst/>
          </a:prstGeom>
        </p:spPr>
      </p:pic>
      <p:sp>
        <p:nvSpPr>
          <p:cNvPr id="31" name="Rectangle 24">
            <a:extLst>
              <a:ext uri="{FF2B5EF4-FFF2-40B4-BE49-F238E27FC236}">
                <a16:creationId xmlns:a16="http://schemas.microsoft.com/office/drawing/2014/main" id="{DDEB5877-649E-470E-974F-F5D0B7CABCCC}"/>
              </a:ext>
            </a:extLst>
          </p:cNvPr>
          <p:cNvSpPr/>
          <p:nvPr/>
        </p:nvSpPr>
        <p:spPr>
          <a:xfrm>
            <a:off x="6696992" y="3955980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9219986C-5FD9-4589-9CAF-9AA129F6E9CF}"/>
              </a:ext>
            </a:extLst>
          </p:cNvPr>
          <p:cNvSpPr/>
          <p:nvPr/>
        </p:nvSpPr>
        <p:spPr>
          <a:xfrm>
            <a:off x="8389743" y="3955979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26">
            <a:extLst>
              <a:ext uri="{FF2B5EF4-FFF2-40B4-BE49-F238E27FC236}">
                <a16:creationId xmlns:a16="http://schemas.microsoft.com/office/drawing/2014/main" id="{C9ED5C85-EA0D-47BE-863F-63E74AB2C2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2187" y="4251183"/>
            <a:ext cx="1015876" cy="263312"/>
          </a:xfrm>
          <a:prstGeom prst="rect">
            <a:avLst/>
          </a:prstGeom>
        </p:spPr>
      </p:pic>
      <p:pic>
        <p:nvPicPr>
          <p:cNvPr id="34" name="Picture 27">
            <a:extLst>
              <a:ext uri="{FF2B5EF4-FFF2-40B4-BE49-F238E27FC236}">
                <a16:creationId xmlns:a16="http://schemas.microsoft.com/office/drawing/2014/main" id="{8D72EC50-2105-415D-9FB7-82CA97971195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2649" y="4220651"/>
            <a:ext cx="460451" cy="416708"/>
          </a:xfrm>
          <a:prstGeom prst="rect">
            <a:avLst/>
          </a:prstGeom>
        </p:spPr>
      </p:pic>
      <p:pic>
        <p:nvPicPr>
          <p:cNvPr id="35" name="Picture 9">
            <a:extLst>
              <a:ext uri="{FF2B5EF4-FFF2-40B4-BE49-F238E27FC236}">
                <a16:creationId xmlns:a16="http://schemas.microsoft.com/office/drawing/2014/main" id="{7667140D-8CDB-4EF8-9B1A-5399C81592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408" y="2645395"/>
            <a:ext cx="429364" cy="429364"/>
          </a:xfrm>
          <a:prstGeom prst="rect">
            <a:avLst/>
          </a:prstGeom>
        </p:spPr>
      </p:pic>
      <p:sp>
        <p:nvSpPr>
          <p:cNvPr id="36" name="Rectangle 23">
            <a:extLst>
              <a:ext uri="{FF2B5EF4-FFF2-40B4-BE49-F238E27FC236}">
                <a16:creationId xmlns:a16="http://schemas.microsoft.com/office/drawing/2014/main" id="{0552D1B3-0A40-4D8D-87C6-AF4328E434B6}"/>
              </a:ext>
            </a:extLst>
          </p:cNvPr>
          <p:cNvSpPr/>
          <p:nvPr/>
        </p:nvSpPr>
        <p:spPr>
          <a:xfrm>
            <a:off x="8644299" y="5069832"/>
            <a:ext cx="977153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16">
            <a:extLst>
              <a:ext uri="{FF2B5EF4-FFF2-40B4-BE49-F238E27FC236}">
                <a16:creationId xmlns:a16="http://schemas.microsoft.com/office/drawing/2014/main" id="{965A480B-1535-4AAD-80D6-6332FCAC6E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88" y="2601143"/>
            <a:ext cx="729115" cy="729115"/>
          </a:xfrm>
          <a:prstGeom prst="rect">
            <a:avLst/>
          </a:prstGeom>
        </p:spPr>
      </p:pic>
      <p:pic>
        <p:nvPicPr>
          <p:cNvPr id="38" name="Picture 21">
            <a:extLst>
              <a:ext uri="{FF2B5EF4-FFF2-40B4-BE49-F238E27FC236}">
                <a16:creationId xmlns:a16="http://schemas.microsoft.com/office/drawing/2014/main" id="{6502AF0C-E7D9-49F1-9573-3C2932E08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013" y="5069832"/>
            <a:ext cx="853723" cy="853723"/>
          </a:xfrm>
          <a:prstGeom prst="rect">
            <a:avLst/>
          </a:prstGeom>
        </p:spPr>
      </p:pic>
      <p:pic>
        <p:nvPicPr>
          <p:cNvPr id="39" name="Picture 22" descr="Picture background">
            <a:extLst>
              <a:ext uri="{FF2B5EF4-FFF2-40B4-BE49-F238E27FC236}">
                <a16:creationId xmlns:a16="http://schemas.microsoft.com/office/drawing/2014/main" id="{396697C0-CC80-4D69-BA98-7B9E7E796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30" y="4235985"/>
            <a:ext cx="1237003" cy="24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6">
            <a:extLst>
              <a:ext uri="{FF2B5EF4-FFF2-40B4-BE49-F238E27FC236}">
                <a16:creationId xmlns:a16="http://schemas.microsoft.com/office/drawing/2014/main" id="{C1BCD1D5-C859-4DFC-854A-A32CC278108A}"/>
              </a:ext>
            </a:extLst>
          </p:cNvPr>
          <p:cNvSpPr/>
          <p:nvPr/>
        </p:nvSpPr>
        <p:spPr>
          <a:xfrm>
            <a:off x="10082494" y="3955979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28">
            <a:extLst>
              <a:ext uri="{FF2B5EF4-FFF2-40B4-BE49-F238E27FC236}">
                <a16:creationId xmlns:a16="http://schemas.microsoft.com/office/drawing/2014/main" id="{EE8B320C-F19D-43B1-BF21-6081670656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585" y="3084034"/>
            <a:ext cx="1323975" cy="285750"/>
          </a:xfrm>
          <a:prstGeom prst="rect">
            <a:avLst/>
          </a:prstGeom>
        </p:spPr>
      </p:pic>
      <p:pic>
        <p:nvPicPr>
          <p:cNvPr id="42" name="Picture 30">
            <a:extLst>
              <a:ext uri="{FF2B5EF4-FFF2-40B4-BE49-F238E27FC236}">
                <a16:creationId xmlns:a16="http://schemas.microsoft.com/office/drawing/2014/main" id="{184E7764-37C8-45DF-8F95-C697EF3D94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861" y="2761922"/>
            <a:ext cx="1440353" cy="483825"/>
          </a:xfrm>
          <a:prstGeom prst="rect">
            <a:avLst/>
          </a:prstGeom>
        </p:spPr>
      </p:pic>
      <p:sp>
        <p:nvSpPr>
          <p:cNvPr id="43" name="Rectangle 29">
            <a:extLst>
              <a:ext uri="{FF2B5EF4-FFF2-40B4-BE49-F238E27FC236}">
                <a16:creationId xmlns:a16="http://schemas.microsoft.com/office/drawing/2014/main" id="{18243193-D613-46AA-B675-55578E9975CA}"/>
              </a:ext>
            </a:extLst>
          </p:cNvPr>
          <p:cNvSpPr/>
          <p:nvPr/>
        </p:nvSpPr>
        <p:spPr>
          <a:xfrm>
            <a:off x="10082494" y="1562656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Picture 7">
            <a:extLst>
              <a:ext uri="{FF2B5EF4-FFF2-40B4-BE49-F238E27FC236}">
                <a16:creationId xmlns:a16="http://schemas.microsoft.com/office/drawing/2014/main" id="{E14476CB-B681-4D5D-B215-ECFF8C8070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6583" y="1756890"/>
            <a:ext cx="1232586" cy="452738"/>
          </a:xfrm>
          <a:prstGeom prst="rect">
            <a:avLst/>
          </a:prstGeom>
        </p:spPr>
      </p:pic>
      <p:pic>
        <p:nvPicPr>
          <p:cNvPr id="45" name="Picture 8">
            <a:extLst>
              <a:ext uri="{FF2B5EF4-FFF2-40B4-BE49-F238E27FC236}">
                <a16:creationId xmlns:a16="http://schemas.microsoft.com/office/drawing/2014/main" id="{1EC9A363-77DD-4B22-8558-01969872E0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3165" y="1804665"/>
            <a:ext cx="1304923" cy="357187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09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Внедрение процессов обеспечения качества данных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8FB28CD0-943C-47BC-998B-794F42B3425E}"/>
              </a:ext>
            </a:extLst>
          </p:cNvPr>
          <p:cNvSpPr/>
          <p:nvPr/>
        </p:nvSpPr>
        <p:spPr bwMode="auto">
          <a:xfrm>
            <a:off x="605367" y="2881200"/>
            <a:ext cx="2941502" cy="989487"/>
          </a:xfrm>
          <a:prstGeom prst="roundRect">
            <a:avLst>
              <a:gd name="adj" fmla="val 7901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AF02DDC5-BE65-4510-A214-40F28492BF82}"/>
              </a:ext>
            </a:extLst>
          </p:cNvPr>
          <p:cNvSpPr/>
          <p:nvPr/>
        </p:nvSpPr>
        <p:spPr bwMode="auto">
          <a:xfrm>
            <a:off x="605367" y="3915460"/>
            <a:ext cx="2941502" cy="774950"/>
          </a:xfrm>
          <a:prstGeom prst="roundRect">
            <a:avLst>
              <a:gd name="adj" fmla="val 9664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1C7D8531-3D34-4BE9-A7A5-2AABE75839D0}"/>
              </a:ext>
            </a:extLst>
          </p:cNvPr>
          <p:cNvSpPr/>
          <p:nvPr/>
        </p:nvSpPr>
        <p:spPr bwMode="auto">
          <a:xfrm>
            <a:off x="605367" y="4741461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F6DAE3FF-5D9B-4794-B47B-297B8E71AE63}"/>
              </a:ext>
            </a:extLst>
          </p:cNvPr>
          <p:cNvSpPr/>
          <p:nvPr/>
        </p:nvSpPr>
        <p:spPr bwMode="auto">
          <a:xfrm>
            <a:off x="3623221" y="2881200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: Rounded Corners 293">
            <a:extLst>
              <a:ext uri="{FF2B5EF4-FFF2-40B4-BE49-F238E27FC236}">
                <a16:creationId xmlns:a16="http://schemas.microsoft.com/office/drawing/2014/main" id="{A9D92AB8-FE36-4FDA-993C-83A3806F8DBE}"/>
              </a:ext>
            </a:extLst>
          </p:cNvPr>
          <p:cNvSpPr/>
          <p:nvPr/>
        </p:nvSpPr>
        <p:spPr>
          <a:xfrm>
            <a:off x="607759" y="1219049"/>
            <a:ext cx="11039967" cy="1171643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процессов обеспечения качества данных</a:t>
            </a:r>
          </a:p>
        </p:txBody>
      </p:sp>
      <p:grpSp>
        <p:nvGrpSpPr>
          <p:cNvPr id="26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3546206"/>
            <a:ext cx="300473" cy="135942"/>
            <a:chOff x="10329863" y="3142398"/>
            <a:chExt cx="817563" cy="369887"/>
          </a:xfrm>
        </p:grpSpPr>
        <p:sp>
          <p:nvSpPr>
            <p:cNvPr id="27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8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9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30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403765"/>
            <a:ext cx="300473" cy="135942"/>
            <a:chOff x="10329863" y="3142398"/>
            <a:chExt cx="817563" cy="369887"/>
          </a:xfrm>
        </p:grpSpPr>
        <p:sp>
          <p:nvSpPr>
            <p:cNvPr id="31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2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3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34" name="TextBox 292">
            <a:extLst>
              <a:ext uri="{FF2B5EF4-FFF2-40B4-BE49-F238E27FC236}">
                <a16:creationId xmlns:a16="http://schemas.microsoft.com/office/drawing/2014/main" id="{DA89BC08-9497-4BE6-A1E9-36A72BA4CBEE}"/>
              </a:ext>
            </a:extLst>
          </p:cNvPr>
          <p:cNvSpPr txBox="1"/>
          <p:nvPr/>
        </p:nvSpPr>
        <p:spPr>
          <a:xfrm>
            <a:off x="538376" y="843782"/>
            <a:ext cx="4500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en-US" sz="1050" b="1" i="0" u="none" strike="noStrike" kern="1200" cap="none" spc="3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5" name="TextBox 313">
            <a:extLst>
              <a:ext uri="{FF2B5EF4-FFF2-40B4-BE49-F238E27FC236}">
                <a16:creationId xmlns:a16="http://schemas.microsoft.com/office/drawing/2014/main" id="{EA9B5D1E-F94D-49D6-A289-0A873F7A7954}"/>
              </a:ext>
            </a:extLst>
          </p:cNvPr>
          <p:cNvSpPr txBox="1"/>
          <p:nvPr/>
        </p:nvSpPr>
        <p:spPr>
          <a:xfrm>
            <a:off x="538376" y="2513069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3908ECD0-697F-4340-B6F2-B8ECB476FA04}"/>
              </a:ext>
            </a:extLst>
          </p:cNvPr>
          <p:cNvSpPr txBox="1"/>
          <p:nvPr/>
        </p:nvSpPr>
        <p:spPr bwMode="auto">
          <a:xfrm>
            <a:off x="1291327" y="2970065"/>
            <a:ext cx="2110667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Автоматизация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процессов контроля качества данных, встраивание в систему управления данными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B98B4A38-B294-4D4E-9676-73D1C95E621C}"/>
              </a:ext>
            </a:extLst>
          </p:cNvPr>
          <p:cNvSpPr txBox="1"/>
          <p:nvPr/>
        </p:nvSpPr>
        <p:spPr bwMode="auto">
          <a:xfrm>
            <a:off x="4306723" y="2963317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Очистка</a:t>
            </a:r>
            <a:b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данных</a:t>
            </a:r>
            <a:endParaRPr kumimoji="0" lang="en-US" sz="1000" b="1" i="0" u="none" strike="noStrike" kern="1200" cap="none" spc="30" normalizeH="0" baseline="0" noProof="0" dirty="0">
              <a:ln>
                <a:noFill/>
              </a:ln>
              <a:solidFill>
                <a:srgbClr val="ACC4FE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38" name="Группа 400">
            <a:extLst>
              <a:ext uri="{FF2B5EF4-FFF2-40B4-BE49-F238E27FC236}">
                <a16:creationId xmlns:a16="http://schemas.microsoft.com/office/drawing/2014/main" id="{D207F270-F228-4FB0-9D1E-E9B56050035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5133986"/>
            <a:ext cx="300473" cy="135942"/>
            <a:chOff x="10329863" y="3142398"/>
            <a:chExt cx="817563" cy="369887"/>
          </a:xfrm>
        </p:grpSpPr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671123F8-3B9E-4959-9532-47ADF4839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0" name="Rectangle 42">
              <a:extLst>
                <a:ext uri="{FF2B5EF4-FFF2-40B4-BE49-F238E27FC236}">
                  <a16:creationId xmlns:a16="http://schemas.microsoft.com/office/drawing/2014/main" id="{49F8F1C3-96C0-4E90-89D9-62C7F18A9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1" name="Rectangle 43">
              <a:extLst>
                <a:ext uri="{FF2B5EF4-FFF2-40B4-BE49-F238E27FC236}">
                  <a16:creationId xmlns:a16="http://schemas.microsoft.com/office/drawing/2014/main" id="{3A45B9E0-EDEF-4DF4-8E31-280FE5A8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42" name="TextBox 462">
            <a:extLst>
              <a:ext uri="{FF2B5EF4-FFF2-40B4-BE49-F238E27FC236}">
                <a16:creationId xmlns:a16="http://schemas.microsoft.com/office/drawing/2014/main" id="{758E19F7-9E35-41B6-8DF2-D6C333A07490}"/>
              </a:ext>
            </a:extLst>
          </p:cNvPr>
          <p:cNvSpPr txBox="1"/>
          <p:nvPr/>
        </p:nvSpPr>
        <p:spPr>
          <a:xfrm>
            <a:off x="7625168" y="2559251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9688AF33-C03C-4711-8D46-BD8A8033EB04}"/>
              </a:ext>
            </a:extLst>
          </p:cNvPr>
          <p:cNvSpPr txBox="1">
            <a:spLocks/>
          </p:cNvSpPr>
          <p:nvPr/>
        </p:nvSpPr>
        <p:spPr>
          <a:xfrm>
            <a:off x="8308265" y="3068640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D70EF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Повышение гибкости бизнеса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4" name="Rectangle 464">
            <a:extLst>
              <a:ext uri="{FF2B5EF4-FFF2-40B4-BE49-F238E27FC236}">
                <a16:creationId xmlns:a16="http://schemas.microsoft.com/office/drawing/2014/main" id="{6B1D159D-9F56-47D4-9492-85BBFCCD3D1F}"/>
              </a:ext>
            </a:extLst>
          </p:cNvPr>
          <p:cNvSpPr/>
          <p:nvPr/>
        </p:nvSpPr>
        <p:spPr>
          <a:xfrm>
            <a:off x="8308264" y="5387857"/>
            <a:ext cx="3357695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Повышение согласованности </a:t>
            </a:r>
            <a:b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 целостности данных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5" name="Rectangle 465">
            <a:extLst>
              <a:ext uri="{FF2B5EF4-FFF2-40B4-BE49-F238E27FC236}">
                <a16:creationId xmlns:a16="http://schemas.microsoft.com/office/drawing/2014/main" id="{BB939DFB-C0C4-428A-84F2-4B18B0D50EE0}"/>
              </a:ext>
            </a:extLst>
          </p:cNvPr>
          <p:cNvSpPr/>
          <p:nvPr/>
        </p:nvSpPr>
        <p:spPr>
          <a:xfrm>
            <a:off x="8308265" y="3989770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D70EF"/>
              </a:buClr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Снижение затрат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6" name="Rectangle 466">
            <a:extLst>
              <a:ext uri="{FF2B5EF4-FFF2-40B4-BE49-F238E27FC236}">
                <a16:creationId xmlns:a16="http://schemas.microsoft.com/office/drawing/2014/main" id="{630D5A25-18D9-4A2B-8047-7ADF2314AB5A}"/>
              </a:ext>
            </a:extLst>
          </p:cNvPr>
          <p:cNvSpPr/>
          <p:nvPr/>
        </p:nvSpPr>
        <p:spPr>
          <a:xfrm>
            <a:off x="8308265" y="4710988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D70EF"/>
              </a:buClr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Ускорение бизнес-процессов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47" name="Группа 116">
            <a:extLst>
              <a:ext uri="{FF2B5EF4-FFF2-40B4-BE49-F238E27FC236}">
                <a16:creationId xmlns:a16="http://schemas.microsoft.com/office/drawing/2014/main" id="{5A29427B-CDDB-45E3-B981-78D0901518A0}"/>
              </a:ext>
            </a:extLst>
          </p:cNvPr>
          <p:cNvGrpSpPr>
            <a:grpSpLocks noChangeAspect="1"/>
          </p:cNvGrpSpPr>
          <p:nvPr/>
        </p:nvGrpSpPr>
        <p:grpSpPr>
          <a:xfrm>
            <a:off x="7696949" y="4028778"/>
            <a:ext cx="338317" cy="388109"/>
            <a:chOff x="10272713" y="839121"/>
            <a:chExt cx="787400" cy="903288"/>
          </a:xfrm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1EC30433-24DB-4CE2-BE94-2E3324679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1813" y="1499521"/>
              <a:ext cx="166688" cy="87313"/>
            </a:xfrm>
            <a:custGeom>
              <a:avLst/>
              <a:gdLst>
                <a:gd name="T0" fmla="*/ 12 w 23"/>
                <a:gd name="T1" fmla="*/ 0 h 12"/>
                <a:gd name="T2" fmla="*/ 20 w 23"/>
                <a:gd name="T3" fmla="*/ 2 h 12"/>
                <a:gd name="T4" fmla="*/ 22 w 23"/>
                <a:gd name="T5" fmla="*/ 3 h 12"/>
                <a:gd name="T6" fmla="*/ 22 w 23"/>
                <a:gd name="T7" fmla="*/ 8 h 12"/>
                <a:gd name="T8" fmla="*/ 19 w 23"/>
                <a:gd name="T9" fmla="*/ 11 h 12"/>
                <a:gd name="T10" fmla="*/ 10 w 23"/>
                <a:gd name="T11" fmla="*/ 12 h 12"/>
                <a:gd name="T12" fmla="*/ 4 w 23"/>
                <a:gd name="T13" fmla="*/ 10 h 12"/>
                <a:gd name="T14" fmla="*/ 2 w 23"/>
                <a:gd name="T15" fmla="*/ 8 h 12"/>
                <a:gd name="T16" fmla="*/ 2 w 23"/>
                <a:gd name="T17" fmla="*/ 3 h 12"/>
                <a:gd name="T18" fmla="*/ 6 w 23"/>
                <a:gd name="T19" fmla="*/ 1 h 12"/>
                <a:gd name="T20" fmla="*/ 12 w 2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2">
                  <a:moveTo>
                    <a:pt x="12" y="0"/>
                  </a:moveTo>
                  <a:cubicBezTo>
                    <a:pt x="15" y="0"/>
                    <a:pt x="17" y="0"/>
                    <a:pt x="20" y="2"/>
                  </a:cubicBezTo>
                  <a:cubicBezTo>
                    <a:pt x="21" y="2"/>
                    <a:pt x="22" y="3"/>
                    <a:pt x="22" y="3"/>
                  </a:cubicBezTo>
                  <a:cubicBezTo>
                    <a:pt x="23" y="5"/>
                    <a:pt x="23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6" y="12"/>
                    <a:pt x="13" y="12"/>
                    <a:pt x="10" y="12"/>
                  </a:cubicBezTo>
                  <a:cubicBezTo>
                    <a:pt x="8" y="12"/>
                    <a:pt x="6" y="11"/>
                    <a:pt x="4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7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78EE845E-799F-4F6C-B705-E9E9D959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580484"/>
              <a:ext cx="174625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4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7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DF8CD1B5-48DE-4F1E-B1C0-5C3CB3CF2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1426496"/>
              <a:ext cx="173038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5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4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C2D6C707-F19B-448A-BEF2-D5EC19AF5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07459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6 w 22"/>
                <a:gd name="T3" fmla="*/ 5 h 12"/>
                <a:gd name="T4" fmla="*/ 17 w 22"/>
                <a:gd name="T5" fmla="*/ 4 h 12"/>
                <a:gd name="T6" fmla="*/ 21 w 22"/>
                <a:gd name="T7" fmla="*/ 2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4 h 12"/>
                <a:gd name="T14" fmla="*/ 20 w 22"/>
                <a:gd name="T15" fmla="*/ 9 h 12"/>
                <a:gd name="T16" fmla="*/ 15 w 22"/>
                <a:gd name="T17" fmla="*/ 11 h 12"/>
                <a:gd name="T18" fmla="*/ 5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  <a:gd name="T26" fmla="*/ 0 w 22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3" y="4"/>
                    <a:pt x="6" y="5"/>
                  </a:cubicBezTo>
                  <a:cubicBezTo>
                    <a:pt x="10" y="6"/>
                    <a:pt x="14" y="6"/>
                    <a:pt x="17" y="4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8"/>
                    <a:pt x="20" y="9"/>
                  </a:cubicBezTo>
                  <a:cubicBezTo>
                    <a:pt x="19" y="10"/>
                    <a:pt x="17" y="10"/>
                    <a:pt x="15" y="11"/>
                  </a:cubicBezTo>
                  <a:cubicBezTo>
                    <a:pt x="12" y="12"/>
                    <a:pt x="8" y="11"/>
                    <a:pt x="5" y="10"/>
                  </a:cubicBezTo>
                  <a:cubicBezTo>
                    <a:pt x="4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0719F1F8-D861-4998-9544-589E9088B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661446"/>
              <a:ext cx="158750" cy="80963"/>
            </a:xfrm>
            <a:custGeom>
              <a:avLst/>
              <a:gdLst>
                <a:gd name="T0" fmla="*/ 22 w 22"/>
                <a:gd name="T1" fmla="*/ 0 h 11"/>
                <a:gd name="T2" fmla="*/ 22 w 22"/>
                <a:gd name="T3" fmla="*/ 0 h 11"/>
                <a:gd name="T4" fmla="*/ 22 w 22"/>
                <a:gd name="T5" fmla="*/ 5 h 11"/>
                <a:gd name="T6" fmla="*/ 21 w 22"/>
                <a:gd name="T7" fmla="*/ 8 h 11"/>
                <a:gd name="T8" fmla="*/ 15 w 22"/>
                <a:gd name="T9" fmla="*/ 11 h 11"/>
                <a:gd name="T10" fmla="*/ 4 w 22"/>
                <a:gd name="T11" fmla="*/ 10 h 11"/>
                <a:gd name="T12" fmla="*/ 1 w 22"/>
                <a:gd name="T13" fmla="*/ 8 h 11"/>
                <a:gd name="T14" fmla="*/ 0 w 22"/>
                <a:gd name="T15" fmla="*/ 4 h 11"/>
                <a:gd name="T16" fmla="*/ 0 w 22"/>
                <a:gd name="T17" fmla="*/ 0 h 11"/>
                <a:gd name="T18" fmla="*/ 1 w 22"/>
                <a:gd name="T19" fmla="*/ 1 h 11"/>
                <a:gd name="T20" fmla="*/ 3 w 22"/>
                <a:gd name="T21" fmla="*/ 3 h 11"/>
                <a:gd name="T22" fmla="*/ 9 w 22"/>
                <a:gd name="T23" fmla="*/ 5 h 11"/>
                <a:gd name="T24" fmla="*/ 18 w 22"/>
                <a:gd name="T25" fmla="*/ 4 h 11"/>
                <a:gd name="T26" fmla="*/ 20 w 22"/>
                <a:gd name="T27" fmla="*/ 3 h 11"/>
                <a:gd name="T28" fmla="*/ 22 w 22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7" y="10"/>
                    <a:pt x="15" y="11"/>
                  </a:cubicBezTo>
                  <a:cubicBezTo>
                    <a:pt x="12" y="11"/>
                    <a:pt x="8" y="11"/>
                    <a:pt x="4" y="10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0" y="7"/>
                    <a:pt x="0" y="6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7" y="5"/>
                    <a:pt x="9" y="5"/>
                  </a:cubicBezTo>
                  <a:cubicBezTo>
                    <a:pt x="12" y="5"/>
                    <a:pt x="15" y="5"/>
                    <a:pt x="18" y="4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1" y="2"/>
                    <a:pt x="22" y="1"/>
                    <a:pt x="2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C81130DE-CD24-49EF-BB10-2FFD4AEC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2 w 22"/>
                <a:gd name="T5" fmla="*/ 6 h 12"/>
                <a:gd name="T6" fmla="*/ 19 w 22"/>
                <a:gd name="T7" fmla="*/ 4 h 12"/>
                <a:gd name="T8" fmla="*/ 21 w 22"/>
                <a:gd name="T9" fmla="*/ 2 h 12"/>
                <a:gd name="T10" fmla="*/ 22 w 22"/>
                <a:gd name="T11" fmla="*/ 0 h 12"/>
                <a:gd name="T12" fmla="*/ 22 w 22"/>
                <a:gd name="T13" fmla="*/ 1 h 12"/>
                <a:gd name="T14" fmla="*/ 22 w 22"/>
                <a:gd name="T15" fmla="*/ 5 h 12"/>
                <a:gd name="T16" fmla="*/ 21 w 22"/>
                <a:gd name="T17" fmla="*/ 8 h 12"/>
                <a:gd name="T18" fmla="*/ 17 w 22"/>
                <a:gd name="T19" fmla="*/ 11 h 12"/>
                <a:gd name="T20" fmla="*/ 4 w 22"/>
                <a:gd name="T21" fmla="*/ 10 h 12"/>
                <a:gd name="T22" fmla="*/ 1 w 22"/>
                <a:gd name="T23" fmla="*/ 9 h 12"/>
                <a:gd name="T24" fmla="*/ 0 w 22"/>
                <a:gd name="T25" fmla="*/ 5 h 12"/>
                <a:gd name="T26" fmla="*/ 0 w 22"/>
                <a:gd name="T27" fmla="*/ 1 h 12"/>
                <a:gd name="T28" fmla="*/ 0 w 22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3"/>
                    <a:pt x="2" y="4"/>
                    <a:pt x="4" y="4"/>
                  </a:cubicBezTo>
                  <a:cubicBezTo>
                    <a:pt x="7" y="5"/>
                    <a:pt x="9" y="6"/>
                    <a:pt x="12" y="6"/>
                  </a:cubicBezTo>
                  <a:cubicBezTo>
                    <a:pt x="14" y="5"/>
                    <a:pt x="17" y="5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8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8"/>
                    <a:pt x="0" y="7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8352BCE7-4CFC-41A4-8197-69D4D9DF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661446"/>
              <a:ext cx="158750" cy="80963"/>
            </a:xfrm>
            <a:custGeom>
              <a:avLst/>
              <a:gdLst>
                <a:gd name="T0" fmla="*/ 0 w 22"/>
                <a:gd name="T1" fmla="*/ 0 h 11"/>
                <a:gd name="T2" fmla="*/ 4 w 22"/>
                <a:gd name="T3" fmla="*/ 4 h 11"/>
                <a:gd name="T4" fmla="*/ 18 w 22"/>
                <a:gd name="T5" fmla="*/ 4 h 11"/>
                <a:gd name="T6" fmla="*/ 21 w 22"/>
                <a:gd name="T7" fmla="*/ 2 h 11"/>
                <a:gd name="T8" fmla="*/ 22 w 22"/>
                <a:gd name="T9" fmla="*/ 0 h 11"/>
                <a:gd name="T10" fmla="*/ 22 w 22"/>
                <a:gd name="T11" fmla="*/ 0 h 11"/>
                <a:gd name="T12" fmla="*/ 22 w 22"/>
                <a:gd name="T13" fmla="*/ 4 h 11"/>
                <a:gd name="T14" fmla="*/ 21 w 22"/>
                <a:gd name="T15" fmla="*/ 8 h 11"/>
                <a:gd name="T16" fmla="*/ 16 w 22"/>
                <a:gd name="T17" fmla="*/ 10 h 11"/>
                <a:gd name="T18" fmla="*/ 3 w 22"/>
                <a:gd name="T19" fmla="*/ 9 h 11"/>
                <a:gd name="T20" fmla="*/ 0 w 22"/>
                <a:gd name="T21" fmla="*/ 7 h 11"/>
                <a:gd name="T22" fmla="*/ 0 w 22"/>
                <a:gd name="T23" fmla="*/ 5 h 11"/>
                <a:gd name="T24" fmla="*/ 0 w 22"/>
                <a:gd name="T25" fmla="*/ 0 h 11"/>
                <a:gd name="T26" fmla="*/ 0 w 2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1">
                  <a:moveTo>
                    <a:pt x="0" y="0"/>
                  </a:moveTo>
                  <a:cubicBezTo>
                    <a:pt x="0" y="2"/>
                    <a:pt x="2" y="3"/>
                    <a:pt x="4" y="4"/>
                  </a:cubicBezTo>
                  <a:cubicBezTo>
                    <a:pt x="9" y="6"/>
                    <a:pt x="14" y="5"/>
                    <a:pt x="18" y="4"/>
                  </a:cubicBezTo>
                  <a:cubicBezTo>
                    <a:pt x="19" y="3"/>
                    <a:pt x="20" y="3"/>
                    <a:pt x="21" y="2"/>
                  </a:cubicBezTo>
                  <a:cubicBezTo>
                    <a:pt x="21" y="1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8" y="10"/>
                    <a:pt x="16" y="10"/>
                  </a:cubicBezTo>
                  <a:cubicBezTo>
                    <a:pt x="12" y="11"/>
                    <a:pt x="7" y="11"/>
                    <a:pt x="3" y="9"/>
                  </a:cubicBezTo>
                  <a:cubicBezTo>
                    <a:pt x="2" y="9"/>
                    <a:pt x="1" y="8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98C654CA-CD2D-4380-9C06-E6C2BA587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8 w 22"/>
                <a:gd name="T5" fmla="*/ 4 h 12"/>
                <a:gd name="T6" fmla="*/ 21 w 22"/>
                <a:gd name="T7" fmla="*/ 3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5 h 12"/>
                <a:gd name="T14" fmla="*/ 21 w 22"/>
                <a:gd name="T15" fmla="*/ 8 h 12"/>
                <a:gd name="T16" fmla="*/ 17 w 22"/>
                <a:gd name="T17" fmla="*/ 11 h 12"/>
                <a:gd name="T18" fmla="*/ 4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2" y="4"/>
                    <a:pt x="4" y="4"/>
                  </a:cubicBezTo>
                  <a:cubicBezTo>
                    <a:pt x="9" y="6"/>
                    <a:pt x="13" y="6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9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63D02B39-8765-451B-B85C-69EA003CA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661446"/>
              <a:ext cx="166688" cy="80963"/>
            </a:xfrm>
            <a:custGeom>
              <a:avLst/>
              <a:gdLst>
                <a:gd name="T0" fmla="*/ 0 w 23"/>
                <a:gd name="T1" fmla="*/ 0 h 11"/>
                <a:gd name="T2" fmla="*/ 5 w 23"/>
                <a:gd name="T3" fmla="*/ 4 h 11"/>
                <a:gd name="T4" fmla="*/ 14 w 23"/>
                <a:gd name="T5" fmla="*/ 5 h 11"/>
                <a:gd name="T6" fmla="*/ 20 w 23"/>
                <a:gd name="T7" fmla="*/ 3 h 11"/>
                <a:gd name="T8" fmla="*/ 22 w 23"/>
                <a:gd name="T9" fmla="*/ 1 h 11"/>
                <a:gd name="T10" fmla="*/ 23 w 23"/>
                <a:gd name="T11" fmla="*/ 0 h 11"/>
                <a:gd name="T12" fmla="*/ 23 w 23"/>
                <a:gd name="T13" fmla="*/ 0 h 11"/>
                <a:gd name="T14" fmla="*/ 23 w 23"/>
                <a:gd name="T15" fmla="*/ 5 h 11"/>
                <a:gd name="T16" fmla="*/ 22 w 23"/>
                <a:gd name="T17" fmla="*/ 8 h 11"/>
                <a:gd name="T18" fmla="*/ 18 w 23"/>
                <a:gd name="T19" fmla="*/ 10 h 11"/>
                <a:gd name="T20" fmla="*/ 4 w 23"/>
                <a:gd name="T21" fmla="*/ 9 h 11"/>
                <a:gd name="T22" fmla="*/ 1 w 23"/>
                <a:gd name="T23" fmla="*/ 7 h 11"/>
                <a:gd name="T24" fmla="*/ 0 w 23"/>
                <a:gd name="T25" fmla="*/ 5 h 11"/>
                <a:gd name="T26" fmla="*/ 0 w 23"/>
                <a:gd name="T27" fmla="*/ 0 h 11"/>
                <a:gd name="T28" fmla="*/ 0 w 23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1" y="2"/>
                    <a:pt x="3" y="3"/>
                    <a:pt x="5" y="4"/>
                  </a:cubicBezTo>
                  <a:cubicBezTo>
                    <a:pt x="7" y="5"/>
                    <a:pt x="10" y="5"/>
                    <a:pt x="14" y="5"/>
                  </a:cubicBezTo>
                  <a:cubicBezTo>
                    <a:pt x="16" y="5"/>
                    <a:pt x="18" y="4"/>
                    <a:pt x="20" y="3"/>
                  </a:cubicBezTo>
                  <a:cubicBezTo>
                    <a:pt x="21" y="3"/>
                    <a:pt x="22" y="2"/>
                    <a:pt x="22" y="1"/>
                  </a:cubicBezTo>
                  <a:cubicBezTo>
                    <a:pt x="23" y="1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2"/>
                    <a:pt x="23" y="3"/>
                    <a:pt x="23" y="5"/>
                  </a:cubicBezTo>
                  <a:cubicBezTo>
                    <a:pt x="23" y="6"/>
                    <a:pt x="23" y="7"/>
                    <a:pt x="22" y="8"/>
                  </a:cubicBezTo>
                  <a:cubicBezTo>
                    <a:pt x="21" y="9"/>
                    <a:pt x="20" y="9"/>
                    <a:pt x="18" y="10"/>
                  </a:cubicBezTo>
                  <a:cubicBezTo>
                    <a:pt x="14" y="11"/>
                    <a:pt x="9" y="11"/>
                    <a:pt x="4" y="9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AC8FF4AC-F1DB-4A9C-96C1-931C9D55D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0838" y="1037559"/>
              <a:ext cx="274638" cy="293688"/>
            </a:xfrm>
            <a:custGeom>
              <a:avLst/>
              <a:gdLst>
                <a:gd name="T0" fmla="*/ 12 w 38"/>
                <a:gd name="T1" fmla="*/ 40 h 40"/>
                <a:gd name="T2" fmla="*/ 8 w 38"/>
                <a:gd name="T3" fmla="*/ 40 h 40"/>
                <a:gd name="T4" fmla="*/ 8 w 38"/>
                <a:gd name="T5" fmla="*/ 24 h 40"/>
                <a:gd name="T6" fmla="*/ 0 w 38"/>
                <a:gd name="T7" fmla="*/ 24 h 40"/>
                <a:gd name="T8" fmla="*/ 0 w 38"/>
                <a:gd name="T9" fmla="*/ 20 h 40"/>
                <a:gd name="T10" fmla="*/ 8 w 38"/>
                <a:gd name="T11" fmla="*/ 20 h 40"/>
                <a:gd name="T12" fmla="*/ 8 w 38"/>
                <a:gd name="T13" fmla="*/ 2 h 40"/>
                <a:gd name="T14" fmla="*/ 9 w 38"/>
                <a:gd name="T15" fmla="*/ 0 h 40"/>
                <a:gd name="T16" fmla="*/ 10 w 38"/>
                <a:gd name="T17" fmla="*/ 0 h 40"/>
                <a:gd name="T18" fmla="*/ 26 w 38"/>
                <a:gd name="T19" fmla="*/ 0 h 40"/>
                <a:gd name="T20" fmla="*/ 27 w 38"/>
                <a:gd name="T21" fmla="*/ 0 h 40"/>
                <a:gd name="T22" fmla="*/ 36 w 38"/>
                <a:gd name="T23" fmla="*/ 7 h 40"/>
                <a:gd name="T24" fmla="*/ 33 w 38"/>
                <a:gd name="T25" fmla="*/ 21 h 40"/>
                <a:gd name="T26" fmla="*/ 27 w 38"/>
                <a:gd name="T27" fmla="*/ 24 h 40"/>
                <a:gd name="T28" fmla="*/ 12 w 38"/>
                <a:gd name="T29" fmla="*/ 24 h 40"/>
                <a:gd name="T30" fmla="*/ 12 w 38"/>
                <a:gd name="T31" fmla="*/ 40 h 40"/>
                <a:gd name="T32" fmla="*/ 12 w 38"/>
                <a:gd name="T33" fmla="*/ 20 h 40"/>
                <a:gd name="T34" fmla="*/ 27 w 38"/>
                <a:gd name="T35" fmla="*/ 20 h 40"/>
                <a:gd name="T36" fmla="*/ 31 w 38"/>
                <a:gd name="T37" fmla="*/ 18 h 40"/>
                <a:gd name="T38" fmla="*/ 32 w 38"/>
                <a:gd name="T39" fmla="*/ 9 h 40"/>
                <a:gd name="T40" fmla="*/ 26 w 38"/>
                <a:gd name="T41" fmla="*/ 4 h 40"/>
                <a:gd name="T42" fmla="*/ 12 w 38"/>
                <a:gd name="T43" fmla="*/ 4 h 40"/>
                <a:gd name="T44" fmla="*/ 12 w 38"/>
                <a:gd name="T45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40">
                  <a:moveTo>
                    <a:pt x="12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8" y="0"/>
                    <a:pt x="33" y="2"/>
                    <a:pt x="36" y="7"/>
                  </a:cubicBezTo>
                  <a:cubicBezTo>
                    <a:pt x="38" y="11"/>
                    <a:pt x="37" y="17"/>
                    <a:pt x="33" y="21"/>
                  </a:cubicBezTo>
                  <a:cubicBezTo>
                    <a:pt x="31" y="23"/>
                    <a:pt x="29" y="24"/>
                    <a:pt x="27" y="24"/>
                  </a:cubicBezTo>
                  <a:cubicBezTo>
                    <a:pt x="12" y="24"/>
                    <a:pt x="12" y="24"/>
                    <a:pt x="12" y="24"/>
                  </a:cubicBezTo>
                  <a:lnTo>
                    <a:pt x="12" y="40"/>
                  </a:lnTo>
                  <a:close/>
                  <a:moveTo>
                    <a:pt x="12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9" y="20"/>
                    <a:pt x="31" y="18"/>
                  </a:cubicBezTo>
                  <a:cubicBezTo>
                    <a:pt x="33" y="16"/>
                    <a:pt x="33" y="11"/>
                    <a:pt x="32" y="9"/>
                  </a:cubicBezTo>
                  <a:cubicBezTo>
                    <a:pt x="30" y="5"/>
                    <a:pt x="27" y="4"/>
                    <a:pt x="26" y="4"/>
                  </a:cubicBezTo>
                  <a:cubicBezTo>
                    <a:pt x="12" y="4"/>
                    <a:pt x="12" y="4"/>
                    <a:pt x="12" y="4"/>
                  </a:cubicBezTo>
                  <a:lnTo>
                    <a:pt x="12" y="20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F9D8D156-8B60-43F7-B3EF-1856AA433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8" y="1250284"/>
              <a:ext cx="144463" cy="28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CC2A789E-2ACD-4222-A9C2-97E601E02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2713" y="839121"/>
              <a:ext cx="685800" cy="696913"/>
            </a:xfrm>
            <a:custGeom>
              <a:avLst/>
              <a:gdLst>
                <a:gd name="T0" fmla="*/ 48 w 95"/>
                <a:gd name="T1" fmla="*/ 95 h 95"/>
                <a:gd name="T2" fmla="*/ 46 w 95"/>
                <a:gd name="T3" fmla="*/ 94 h 95"/>
                <a:gd name="T4" fmla="*/ 1 w 95"/>
                <a:gd name="T5" fmla="*/ 49 h 95"/>
                <a:gd name="T6" fmla="*/ 1 w 95"/>
                <a:gd name="T7" fmla="*/ 46 h 95"/>
                <a:gd name="T8" fmla="*/ 46 w 95"/>
                <a:gd name="T9" fmla="*/ 0 h 95"/>
                <a:gd name="T10" fmla="*/ 49 w 95"/>
                <a:gd name="T11" fmla="*/ 0 h 95"/>
                <a:gd name="T12" fmla="*/ 94 w 95"/>
                <a:gd name="T13" fmla="*/ 46 h 95"/>
                <a:gd name="T14" fmla="*/ 94 w 95"/>
                <a:gd name="T15" fmla="*/ 49 h 95"/>
                <a:gd name="T16" fmla="*/ 79 w 95"/>
                <a:gd name="T17" fmla="*/ 64 h 95"/>
                <a:gd name="T18" fmla="*/ 76 w 95"/>
                <a:gd name="T19" fmla="*/ 61 h 95"/>
                <a:gd name="T20" fmla="*/ 90 w 95"/>
                <a:gd name="T21" fmla="*/ 47 h 95"/>
                <a:gd name="T22" fmla="*/ 48 w 95"/>
                <a:gd name="T23" fmla="*/ 5 h 95"/>
                <a:gd name="T24" fmla="*/ 5 w 95"/>
                <a:gd name="T25" fmla="*/ 47 h 95"/>
                <a:gd name="T26" fmla="*/ 48 w 95"/>
                <a:gd name="T27" fmla="*/ 90 h 95"/>
                <a:gd name="T28" fmla="*/ 61 w 95"/>
                <a:gd name="T29" fmla="*/ 77 h 95"/>
                <a:gd name="T30" fmla="*/ 64 w 95"/>
                <a:gd name="T31" fmla="*/ 79 h 95"/>
                <a:gd name="T32" fmla="*/ 49 w 95"/>
                <a:gd name="T33" fmla="*/ 94 h 95"/>
                <a:gd name="T34" fmla="*/ 48 w 95"/>
                <a:gd name="T3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cubicBezTo>
                    <a:pt x="47" y="95"/>
                    <a:pt x="47" y="94"/>
                    <a:pt x="46" y="9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7" y="0"/>
                    <a:pt x="48" y="0"/>
                    <a:pt x="49" y="0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7"/>
                    <a:pt x="95" y="48"/>
                    <a:pt x="94" y="49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94"/>
                    <a:pt x="48" y="95"/>
                    <a:pt x="48" y="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60" name="Rectangle 5">
            <a:extLst>
              <a:ext uri="{FF2B5EF4-FFF2-40B4-BE49-F238E27FC236}">
                <a16:creationId xmlns:a16="http://schemas.microsoft.com/office/drawing/2014/main" id="{6BBB0E90-66AF-4EED-8BE1-DD3343EEC40B}"/>
              </a:ext>
            </a:extLst>
          </p:cNvPr>
          <p:cNvSpPr/>
          <p:nvPr/>
        </p:nvSpPr>
        <p:spPr>
          <a:xfrm>
            <a:off x="8308265" y="3283649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возможности принятия своевременных взвешенных решений на основе надежных данных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1" name="Rectangle 6">
            <a:extLst>
              <a:ext uri="{FF2B5EF4-FFF2-40B4-BE49-F238E27FC236}">
                <a16:creationId xmlns:a16="http://schemas.microsoft.com/office/drawing/2014/main" id="{BE979077-9F52-4DFB-BFAF-747BECE09486}"/>
              </a:ext>
            </a:extLst>
          </p:cNvPr>
          <p:cNvSpPr/>
          <p:nvPr/>
        </p:nvSpPr>
        <p:spPr>
          <a:xfrm>
            <a:off x="8308265" y="4181649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хранение и управление данными</a:t>
            </a:r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D847CA13-1881-4429-B08F-22575CC2AD07}"/>
              </a:ext>
            </a:extLst>
          </p:cNvPr>
          <p:cNvSpPr/>
          <p:nvPr/>
        </p:nvSpPr>
        <p:spPr>
          <a:xfrm>
            <a:off x="8308265" y="5784796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508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D70EF"/>
              </a:buClr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получаемых из разных источников</a:t>
            </a: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5B699D4E-491F-426A-89EF-E9190B57B350}"/>
              </a:ext>
            </a:extLst>
          </p:cNvPr>
          <p:cNvSpPr/>
          <p:nvPr/>
        </p:nvSpPr>
        <p:spPr>
          <a:xfrm>
            <a:off x="8308265" y="4921410"/>
            <a:ext cx="325538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D70EF"/>
              </a:buClr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основе которых лежит работа с данными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4" name="Rectangle 12">
            <a:extLst>
              <a:ext uri="{FF2B5EF4-FFF2-40B4-BE49-F238E27FC236}">
                <a16:creationId xmlns:a16="http://schemas.microsoft.com/office/drawing/2014/main" id="{4FF0886C-C1E8-45C4-98F8-E2A6443B9138}"/>
              </a:ext>
            </a:extLst>
          </p:cNvPr>
          <p:cNvSpPr/>
          <p:nvPr/>
        </p:nvSpPr>
        <p:spPr bwMode="auto">
          <a:xfrm>
            <a:off x="3623221" y="3583228"/>
            <a:ext cx="2941502" cy="903307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65" name="TextBox 7">
            <a:extLst>
              <a:ext uri="{FF2B5EF4-FFF2-40B4-BE49-F238E27FC236}">
                <a16:creationId xmlns:a16="http://schemas.microsoft.com/office/drawing/2014/main" id="{4ECF4169-8439-4993-A492-D7D6CA4D3523}"/>
              </a:ext>
            </a:extLst>
          </p:cNvPr>
          <p:cNvSpPr txBox="1"/>
          <p:nvPr/>
        </p:nvSpPr>
        <p:spPr bwMode="auto">
          <a:xfrm>
            <a:off x="4306723" y="3654588"/>
            <a:ext cx="2278462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Профилирование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данных </a:t>
            </a:r>
            <a:b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автоматизированный контроль 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соответствия профилю</a:t>
            </a:r>
          </a:p>
        </p:txBody>
      </p:sp>
      <p:sp>
        <p:nvSpPr>
          <p:cNvPr id="66" name="Rectangle 12">
            <a:extLst>
              <a:ext uri="{FF2B5EF4-FFF2-40B4-BE49-F238E27FC236}">
                <a16:creationId xmlns:a16="http://schemas.microsoft.com/office/drawing/2014/main" id="{5E059C0B-3E3B-41C3-A85C-540B7D956D6F}"/>
              </a:ext>
            </a:extLst>
          </p:cNvPr>
          <p:cNvSpPr/>
          <p:nvPr/>
        </p:nvSpPr>
        <p:spPr bwMode="auto">
          <a:xfrm>
            <a:off x="3623221" y="4548550"/>
            <a:ext cx="2941502" cy="811741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67" name="TextBox 7">
            <a:extLst>
              <a:ext uri="{FF2B5EF4-FFF2-40B4-BE49-F238E27FC236}">
                <a16:creationId xmlns:a16="http://schemas.microsoft.com/office/drawing/2014/main" id="{3EBEBF35-EB18-4009-A87D-4D85A2567CF2}"/>
              </a:ext>
            </a:extLst>
          </p:cNvPr>
          <p:cNvSpPr txBox="1"/>
          <p:nvPr/>
        </p:nvSpPr>
        <p:spPr bwMode="auto">
          <a:xfrm>
            <a:off x="4306723" y="4632324"/>
            <a:ext cx="2278462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Анализ информативности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данных на каждом этапе их преобразования</a:t>
            </a:r>
          </a:p>
        </p:txBody>
      </p:sp>
      <p:sp>
        <p:nvSpPr>
          <p:cNvPr id="68" name="Rectangle 12">
            <a:extLst>
              <a:ext uri="{FF2B5EF4-FFF2-40B4-BE49-F238E27FC236}">
                <a16:creationId xmlns:a16="http://schemas.microsoft.com/office/drawing/2014/main" id="{1B968E1E-4F57-4B26-AA11-EFDDD25FE4FB}"/>
              </a:ext>
            </a:extLst>
          </p:cNvPr>
          <p:cNvSpPr/>
          <p:nvPr/>
        </p:nvSpPr>
        <p:spPr bwMode="auto">
          <a:xfrm>
            <a:off x="3623221" y="5461095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69" name="TextBox 7">
            <a:extLst>
              <a:ext uri="{FF2B5EF4-FFF2-40B4-BE49-F238E27FC236}">
                <a16:creationId xmlns:a16="http://schemas.microsoft.com/office/drawing/2014/main" id="{83CECB14-1356-4716-9D78-7BF99C80E910}"/>
              </a:ext>
            </a:extLst>
          </p:cNvPr>
          <p:cNvSpPr txBox="1"/>
          <p:nvPr/>
        </p:nvSpPr>
        <p:spPr bwMode="auto">
          <a:xfrm>
            <a:off x="4306723" y="5539850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Автоматизация </a:t>
            </a:r>
            <a:b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контроля миграции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данных </a:t>
            </a:r>
          </a:p>
        </p:txBody>
      </p:sp>
      <p:sp>
        <p:nvSpPr>
          <p:cNvPr id="70" name="TextBox 7">
            <a:extLst>
              <a:ext uri="{FF2B5EF4-FFF2-40B4-BE49-F238E27FC236}">
                <a16:creationId xmlns:a16="http://schemas.microsoft.com/office/drawing/2014/main" id="{750BD532-AAAF-4098-8288-34E29A522F86}"/>
              </a:ext>
            </a:extLst>
          </p:cNvPr>
          <p:cNvSpPr txBox="1"/>
          <p:nvPr/>
        </p:nvSpPr>
        <p:spPr bwMode="auto">
          <a:xfrm>
            <a:off x="1292297" y="3996729"/>
            <a:ext cx="2521237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Внедрение и отслеживание изменений различных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метрик качества данных</a:t>
            </a:r>
          </a:p>
        </p:txBody>
      </p:sp>
      <p:sp>
        <p:nvSpPr>
          <p:cNvPr id="71" name="TextBox 7">
            <a:extLst>
              <a:ext uri="{FF2B5EF4-FFF2-40B4-BE49-F238E27FC236}">
                <a16:creationId xmlns:a16="http://schemas.microsoft.com/office/drawing/2014/main" id="{736615BD-DE75-4B36-8BE6-9B49546198D1}"/>
              </a:ext>
            </a:extLst>
          </p:cNvPr>
          <p:cNvSpPr txBox="1"/>
          <p:nvPr/>
        </p:nvSpPr>
        <p:spPr bwMode="auto">
          <a:xfrm>
            <a:off x="1278898" y="4817162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области качества данных</a:t>
            </a:r>
          </a:p>
        </p:txBody>
      </p:sp>
      <p:grpSp>
        <p:nvGrpSpPr>
          <p:cNvPr id="72" name="Группа 332">
            <a:extLst>
              <a:ext uri="{FF2B5EF4-FFF2-40B4-BE49-F238E27FC236}">
                <a16:creationId xmlns:a16="http://schemas.microsoft.com/office/drawing/2014/main" id="{3D140743-6FF4-47FB-BD6C-E6C92A77C50C}"/>
              </a:ext>
            </a:extLst>
          </p:cNvPr>
          <p:cNvGrpSpPr>
            <a:grpSpLocks noChangeAspect="1"/>
          </p:cNvGrpSpPr>
          <p:nvPr/>
        </p:nvGrpSpPr>
        <p:grpSpPr>
          <a:xfrm>
            <a:off x="779036" y="4167268"/>
            <a:ext cx="404491" cy="279268"/>
            <a:chOff x="5537101" y="827894"/>
            <a:chExt cx="1292224" cy="892175"/>
          </a:xfrm>
          <a:solidFill>
            <a:srgbClr val="FFFFFF"/>
          </a:solidFill>
        </p:grpSpPr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08D8AAD6-F775-4DE3-8D1C-74C41215E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DEC5649C-7671-49F9-B208-8B1DC103CE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354A069C-92D9-4E78-81EA-976274EC0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6" name="Rectangle 12">
              <a:extLst>
                <a:ext uri="{FF2B5EF4-FFF2-40B4-BE49-F238E27FC236}">
                  <a16:creationId xmlns:a16="http://schemas.microsoft.com/office/drawing/2014/main" id="{C4647A00-6279-4BEA-A2E3-E2307F3CA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F8B08D96-2D2E-4727-BDC5-5312269AC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801D607B-8302-4F6B-BE92-93B5F10CB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79" name="Группа 217">
            <a:extLst>
              <a:ext uri="{FF2B5EF4-FFF2-40B4-BE49-F238E27FC236}">
                <a16:creationId xmlns:a16="http://schemas.microsoft.com/office/drawing/2014/main" id="{3BBF02DF-349F-43E3-AECA-11CF41A7E750}"/>
              </a:ext>
            </a:extLst>
          </p:cNvPr>
          <p:cNvGrpSpPr>
            <a:grpSpLocks noChangeAspect="1"/>
          </p:cNvGrpSpPr>
          <p:nvPr/>
        </p:nvGrpSpPr>
        <p:grpSpPr>
          <a:xfrm>
            <a:off x="825025" y="4900000"/>
            <a:ext cx="312512" cy="319775"/>
            <a:chOff x="3221080" y="2894972"/>
            <a:chExt cx="935178" cy="956912"/>
          </a:xfrm>
          <a:solidFill>
            <a:srgbClr val="FFFFFF"/>
          </a:solidFill>
        </p:grpSpPr>
        <p:sp>
          <p:nvSpPr>
            <p:cNvPr id="80" name="Полилиния: фигура 57">
              <a:extLst>
                <a:ext uri="{FF2B5EF4-FFF2-40B4-BE49-F238E27FC236}">
                  <a16:creationId xmlns:a16="http://schemas.microsoft.com/office/drawing/2014/main" id="{56374A92-29D1-41EF-BB8E-43460332D231}"/>
                </a:ext>
              </a:extLst>
            </p:cNvPr>
            <p:cNvSpPr/>
            <p:nvPr/>
          </p:nvSpPr>
          <p:spPr>
            <a:xfrm>
              <a:off x="3907323" y="3499194"/>
              <a:ext cx="194116" cy="185914"/>
            </a:xfrm>
            <a:custGeom>
              <a:avLst/>
              <a:gdLst>
                <a:gd name="connsiteX0" fmla="*/ 194117 w 194116"/>
                <a:gd name="connsiteY0" fmla="*/ 185914 h 185914"/>
                <a:gd name="connsiteX1" fmla="*/ 166776 w 194116"/>
                <a:gd name="connsiteY1" fmla="*/ 185914 h 185914"/>
                <a:gd name="connsiteX2" fmla="*/ 166776 w 194116"/>
                <a:gd name="connsiteY2" fmla="*/ 27340 h 185914"/>
                <a:gd name="connsiteX3" fmla="*/ 0 w 194116"/>
                <a:gd name="connsiteY3" fmla="*/ 27340 h 185914"/>
                <a:gd name="connsiteX4" fmla="*/ 0 w 194116"/>
                <a:gd name="connsiteY4" fmla="*/ 0 h 185914"/>
                <a:gd name="connsiteX5" fmla="*/ 180447 w 194116"/>
                <a:gd name="connsiteY5" fmla="*/ 0 h 185914"/>
                <a:gd name="connsiteX6" fmla="*/ 194117 w 194116"/>
                <a:gd name="connsiteY6" fmla="*/ 13670 h 185914"/>
                <a:gd name="connsiteX7" fmla="*/ 194117 w 194116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116" h="185914">
                  <a:moveTo>
                    <a:pt x="194117" y="185914"/>
                  </a:moveTo>
                  <a:lnTo>
                    <a:pt x="166776" y="185914"/>
                  </a:lnTo>
                  <a:lnTo>
                    <a:pt x="16677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180447" y="0"/>
                  </a:lnTo>
                  <a:cubicBezTo>
                    <a:pt x="188648" y="0"/>
                    <a:pt x="194117" y="5468"/>
                    <a:pt x="194117" y="13670"/>
                  </a:cubicBezTo>
                  <a:lnTo>
                    <a:pt x="194117" y="185914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1" name="Полилиния: фигура 58">
              <a:extLst>
                <a:ext uri="{FF2B5EF4-FFF2-40B4-BE49-F238E27FC236}">
                  <a16:creationId xmlns:a16="http://schemas.microsoft.com/office/drawing/2014/main" id="{0558A449-7B1B-4531-8834-B28A7761DE39}"/>
                </a:ext>
              </a:extLst>
            </p:cNvPr>
            <p:cNvSpPr/>
            <p:nvPr/>
          </p:nvSpPr>
          <p:spPr>
            <a:xfrm>
              <a:off x="3237484" y="2982461"/>
              <a:ext cx="158574" cy="158573"/>
            </a:xfrm>
            <a:custGeom>
              <a:avLst/>
              <a:gdLst>
                <a:gd name="connsiteX0" fmla="*/ 79287 w 158574"/>
                <a:gd name="connsiteY0" fmla="*/ 158574 h 158573"/>
                <a:gd name="connsiteX1" fmla="*/ 0 w 158574"/>
                <a:gd name="connsiteY1" fmla="*/ 79287 h 158573"/>
                <a:gd name="connsiteX2" fmla="*/ 79287 w 158574"/>
                <a:gd name="connsiteY2" fmla="*/ 0 h 158573"/>
                <a:gd name="connsiteX3" fmla="*/ 158574 w 158574"/>
                <a:gd name="connsiteY3" fmla="*/ 79287 h 158573"/>
                <a:gd name="connsiteX4" fmla="*/ 79287 w 158574"/>
                <a:gd name="connsiteY4" fmla="*/ 158574 h 158573"/>
                <a:gd name="connsiteX5" fmla="*/ 79287 w 158574"/>
                <a:gd name="connsiteY5" fmla="*/ 27340 h 158573"/>
                <a:gd name="connsiteX6" fmla="*/ 27340 w 158574"/>
                <a:gd name="connsiteY6" fmla="*/ 79287 h 158573"/>
                <a:gd name="connsiteX7" fmla="*/ 79287 w 158574"/>
                <a:gd name="connsiteY7" fmla="*/ 131234 h 158573"/>
                <a:gd name="connsiteX8" fmla="*/ 131234 w 158574"/>
                <a:gd name="connsiteY8" fmla="*/ 79287 h 158573"/>
                <a:gd name="connsiteX9" fmla="*/ 79287 w 158574"/>
                <a:gd name="connsiteY9" fmla="*/ 27340 h 15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4" h="158573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2"/>
                    <a:pt x="35543" y="0"/>
                    <a:pt x="79287" y="0"/>
                  </a:cubicBezTo>
                  <a:cubicBezTo>
                    <a:pt x="123032" y="0"/>
                    <a:pt x="158574" y="35542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6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9361" y="131234"/>
                    <a:pt x="131234" y="106627"/>
                    <a:pt x="131234" y="79287"/>
                  </a:cubicBezTo>
                  <a:cubicBezTo>
                    <a:pt x="131234" y="51946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2" name="Полилиния: фигура 59">
              <a:extLst>
                <a:ext uri="{FF2B5EF4-FFF2-40B4-BE49-F238E27FC236}">
                  <a16:creationId xmlns:a16="http://schemas.microsoft.com/office/drawing/2014/main" id="{81EDA504-99C9-4DA2-AF4F-DDD8408FC30D}"/>
                </a:ext>
              </a:extLst>
            </p:cNvPr>
            <p:cNvSpPr/>
            <p:nvPr/>
          </p:nvSpPr>
          <p:spPr>
            <a:xfrm>
              <a:off x="3899121" y="2894972"/>
              <a:ext cx="158573" cy="158574"/>
            </a:xfrm>
            <a:custGeom>
              <a:avLst/>
              <a:gdLst>
                <a:gd name="connsiteX0" fmla="*/ 79287 w 158573"/>
                <a:gd name="connsiteY0" fmla="*/ 158574 h 158574"/>
                <a:gd name="connsiteX1" fmla="*/ 0 w 158573"/>
                <a:gd name="connsiteY1" fmla="*/ 79287 h 158574"/>
                <a:gd name="connsiteX2" fmla="*/ 79287 w 158573"/>
                <a:gd name="connsiteY2" fmla="*/ 0 h 158574"/>
                <a:gd name="connsiteX3" fmla="*/ 158574 w 158573"/>
                <a:gd name="connsiteY3" fmla="*/ 79287 h 158574"/>
                <a:gd name="connsiteX4" fmla="*/ 79287 w 158573"/>
                <a:gd name="connsiteY4" fmla="*/ 158574 h 158574"/>
                <a:gd name="connsiteX5" fmla="*/ 79287 w 158573"/>
                <a:gd name="connsiteY5" fmla="*/ 27340 h 158574"/>
                <a:gd name="connsiteX6" fmla="*/ 27340 w 158573"/>
                <a:gd name="connsiteY6" fmla="*/ 79287 h 158574"/>
                <a:gd name="connsiteX7" fmla="*/ 79287 w 158573"/>
                <a:gd name="connsiteY7" fmla="*/ 131234 h 158574"/>
                <a:gd name="connsiteX8" fmla="*/ 131234 w 158573"/>
                <a:gd name="connsiteY8" fmla="*/ 79287 h 158574"/>
                <a:gd name="connsiteX9" fmla="*/ 79287 w 158573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3" h="158574">
                  <a:moveTo>
                    <a:pt x="79287" y="158574"/>
                  </a:moveTo>
                  <a:cubicBezTo>
                    <a:pt x="35542" y="158574"/>
                    <a:pt x="0" y="123032"/>
                    <a:pt x="0" y="79287"/>
                  </a:cubicBezTo>
                  <a:cubicBezTo>
                    <a:pt x="0" y="35543"/>
                    <a:pt x="35542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1234" y="51947"/>
                    <a:pt x="106627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3" name="Полилиния: фигура 60">
              <a:extLst>
                <a:ext uri="{FF2B5EF4-FFF2-40B4-BE49-F238E27FC236}">
                  <a16:creationId xmlns:a16="http://schemas.microsoft.com/office/drawing/2014/main" id="{F8BDE583-DDE2-451A-A3B7-A853D4A04924}"/>
                </a:ext>
              </a:extLst>
            </p:cNvPr>
            <p:cNvSpPr/>
            <p:nvPr/>
          </p:nvSpPr>
          <p:spPr>
            <a:xfrm>
              <a:off x="3226548" y="3159985"/>
              <a:ext cx="382764" cy="254453"/>
            </a:xfrm>
            <a:custGeom>
              <a:avLst/>
              <a:gdLst>
                <a:gd name="connsiteX0" fmla="*/ 325350 w 382764"/>
                <a:gd name="connsiteY0" fmla="*/ 254453 h 254453"/>
                <a:gd name="connsiteX1" fmla="*/ 325350 w 382764"/>
                <a:gd name="connsiteY1" fmla="*/ 254453 h 254453"/>
                <a:gd name="connsiteX2" fmla="*/ 150372 w 382764"/>
                <a:gd name="connsiteY2" fmla="*/ 254453 h 254453"/>
                <a:gd name="connsiteX3" fmla="*/ 139436 w 382764"/>
                <a:gd name="connsiteY3" fmla="*/ 248985 h 254453"/>
                <a:gd name="connsiteX4" fmla="*/ 76553 w 382764"/>
                <a:gd name="connsiteY4" fmla="*/ 161496 h 254453"/>
                <a:gd name="connsiteX5" fmla="*/ 98425 w 382764"/>
                <a:gd name="connsiteY5" fmla="*/ 145092 h 254453"/>
                <a:gd name="connsiteX6" fmla="*/ 158574 w 382764"/>
                <a:gd name="connsiteY6" fmla="*/ 227113 h 254453"/>
                <a:gd name="connsiteX7" fmla="*/ 325350 w 382764"/>
                <a:gd name="connsiteY7" fmla="*/ 227113 h 254453"/>
                <a:gd name="connsiteX8" fmla="*/ 349956 w 382764"/>
                <a:gd name="connsiteY8" fmla="*/ 218911 h 254453"/>
                <a:gd name="connsiteX9" fmla="*/ 355425 w 382764"/>
                <a:gd name="connsiteY9" fmla="*/ 205241 h 254453"/>
                <a:gd name="connsiteX10" fmla="*/ 319882 w 382764"/>
                <a:gd name="connsiteY10" fmla="*/ 180635 h 254453"/>
                <a:gd name="connsiteX11" fmla="*/ 262467 w 382764"/>
                <a:gd name="connsiteY11" fmla="*/ 175166 h 254453"/>
                <a:gd name="connsiteX12" fmla="*/ 202318 w 382764"/>
                <a:gd name="connsiteY12" fmla="*/ 169698 h 254453"/>
                <a:gd name="connsiteX13" fmla="*/ 191382 w 382764"/>
                <a:gd name="connsiteY13" fmla="*/ 161496 h 254453"/>
                <a:gd name="connsiteX14" fmla="*/ 169510 w 382764"/>
                <a:gd name="connsiteY14" fmla="*/ 112284 h 254453"/>
                <a:gd name="connsiteX15" fmla="*/ 147638 w 382764"/>
                <a:gd name="connsiteY15" fmla="*/ 63071 h 254453"/>
                <a:gd name="connsiteX16" fmla="*/ 90223 w 382764"/>
                <a:gd name="connsiteY16" fmla="*/ 24794 h 254453"/>
                <a:gd name="connsiteX17" fmla="*/ 27340 w 382764"/>
                <a:gd name="connsiteY17" fmla="*/ 68539 h 254453"/>
                <a:gd name="connsiteX18" fmla="*/ 27340 w 382764"/>
                <a:gd name="connsiteY18" fmla="*/ 254453 h 254453"/>
                <a:gd name="connsiteX19" fmla="*/ 0 w 382764"/>
                <a:gd name="connsiteY19" fmla="*/ 254453 h 254453"/>
                <a:gd name="connsiteX20" fmla="*/ 0 w 382764"/>
                <a:gd name="connsiteY20" fmla="*/ 68539 h 254453"/>
                <a:gd name="connsiteX21" fmla="*/ 0 w 382764"/>
                <a:gd name="connsiteY21" fmla="*/ 63071 h 254453"/>
                <a:gd name="connsiteX22" fmla="*/ 90223 w 382764"/>
                <a:gd name="connsiteY22" fmla="*/ 188 h 254453"/>
                <a:gd name="connsiteX23" fmla="*/ 169510 w 382764"/>
                <a:gd name="connsiteY23" fmla="*/ 54869 h 254453"/>
                <a:gd name="connsiteX24" fmla="*/ 191382 w 382764"/>
                <a:gd name="connsiteY24" fmla="*/ 104081 h 254453"/>
                <a:gd name="connsiteX25" fmla="*/ 210521 w 382764"/>
                <a:gd name="connsiteY25" fmla="*/ 145092 h 254453"/>
                <a:gd name="connsiteX26" fmla="*/ 262467 w 382764"/>
                <a:gd name="connsiteY26" fmla="*/ 147826 h 254453"/>
                <a:gd name="connsiteX27" fmla="*/ 322616 w 382764"/>
                <a:gd name="connsiteY27" fmla="*/ 153294 h 254453"/>
                <a:gd name="connsiteX28" fmla="*/ 382765 w 382764"/>
                <a:gd name="connsiteY28" fmla="*/ 205241 h 254453"/>
                <a:gd name="connsiteX29" fmla="*/ 369095 w 382764"/>
                <a:gd name="connsiteY29" fmla="*/ 238049 h 254453"/>
                <a:gd name="connsiteX30" fmla="*/ 325350 w 382764"/>
                <a:gd name="connsiteY30" fmla="*/ 254453 h 25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764" h="254453">
                  <a:moveTo>
                    <a:pt x="325350" y="254453"/>
                  </a:moveTo>
                  <a:cubicBezTo>
                    <a:pt x="325350" y="254453"/>
                    <a:pt x="322616" y="254453"/>
                    <a:pt x="325350" y="254453"/>
                  </a:cubicBezTo>
                  <a:lnTo>
                    <a:pt x="150372" y="254453"/>
                  </a:lnTo>
                  <a:cubicBezTo>
                    <a:pt x="144904" y="254453"/>
                    <a:pt x="142170" y="251719"/>
                    <a:pt x="139436" y="248985"/>
                  </a:cubicBezTo>
                  <a:lnTo>
                    <a:pt x="76553" y="161496"/>
                  </a:lnTo>
                  <a:lnTo>
                    <a:pt x="98425" y="145092"/>
                  </a:lnTo>
                  <a:lnTo>
                    <a:pt x="158574" y="227113"/>
                  </a:lnTo>
                  <a:lnTo>
                    <a:pt x="325350" y="227113"/>
                  </a:lnTo>
                  <a:cubicBezTo>
                    <a:pt x="336286" y="227113"/>
                    <a:pt x="344488" y="224379"/>
                    <a:pt x="349956" y="218911"/>
                  </a:cubicBezTo>
                  <a:cubicBezTo>
                    <a:pt x="352690" y="216177"/>
                    <a:pt x="355425" y="210709"/>
                    <a:pt x="355425" y="205241"/>
                  </a:cubicBezTo>
                  <a:cubicBezTo>
                    <a:pt x="355425" y="194305"/>
                    <a:pt x="352690" y="183369"/>
                    <a:pt x="319882" y="180635"/>
                  </a:cubicBezTo>
                  <a:cubicBezTo>
                    <a:pt x="298010" y="177901"/>
                    <a:pt x="281606" y="177901"/>
                    <a:pt x="262467" y="175166"/>
                  </a:cubicBezTo>
                  <a:cubicBezTo>
                    <a:pt x="243329" y="175166"/>
                    <a:pt x="224191" y="172432"/>
                    <a:pt x="202318" y="169698"/>
                  </a:cubicBezTo>
                  <a:cubicBezTo>
                    <a:pt x="196850" y="169698"/>
                    <a:pt x="194116" y="166964"/>
                    <a:pt x="191382" y="161496"/>
                  </a:cubicBezTo>
                  <a:cubicBezTo>
                    <a:pt x="183180" y="145092"/>
                    <a:pt x="177712" y="128688"/>
                    <a:pt x="169510" y="112284"/>
                  </a:cubicBezTo>
                  <a:cubicBezTo>
                    <a:pt x="161308" y="95879"/>
                    <a:pt x="155840" y="79475"/>
                    <a:pt x="147638" y="63071"/>
                  </a:cubicBezTo>
                  <a:cubicBezTo>
                    <a:pt x="136702" y="41199"/>
                    <a:pt x="114829" y="24794"/>
                    <a:pt x="90223" y="24794"/>
                  </a:cubicBezTo>
                  <a:cubicBezTo>
                    <a:pt x="62883" y="24794"/>
                    <a:pt x="38276" y="41199"/>
                    <a:pt x="27340" y="68539"/>
                  </a:cubicBezTo>
                  <a:lnTo>
                    <a:pt x="27340" y="254453"/>
                  </a:lnTo>
                  <a:lnTo>
                    <a:pt x="0" y="254453"/>
                  </a:lnTo>
                  <a:lnTo>
                    <a:pt x="0" y="68539"/>
                  </a:lnTo>
                  <a:cubicBezTo>
                    <a:pt x="0" y="65805"/>
                    <a:pt x="0" y="65805"/>
                    <a:pt x="0" y="63071"/>
                  </a:cubicBezTo>
                  <a:cubicBezTo>
                    <a:pt x="13670" y="24794"/>
                    <a:pt x="51947" y="-2546"/>
                    <a:pt x="90223" y="188"/>
                  </a:cubicBezTo>
                  <a:cubicBezTo>
                    <a:pt x="123032" y="188"/>
                    <a:pt x="155840" y="22060"/>
                    <a:pt x="169510" y="54869"/>
                  </a:cubicBezTo>
                  <a:cubicBezTo>
                    <a:pt x="177712" y="68539"/>
                    <a:pt x="183180" y="87677"/>
                    <a:pt x="191382" y="104081"/>
                  </a:cubicBezTo>
                  <a:cubicBezTo>
                    <a:pt x="196850" y="117752"/>
                    <a:pt x="205053" y="131422"/>
                    <a:pt x="210521" y="145092"/>
                  </a:cubicBezTo>
                  <a:cubicBezTo>
                    <a:pt x="226925" y="147826"/>
                    <a:pt x="243329" y="147826"/>
                    <a:pt x="262467" y="147826"/>
                  </a:cubicBezTo>
                  <a:cubicBezTo>
                    <a:pt x="281606" y="147826"/>
                    <a:pt x="300744" y="150560"/>
                    <a:pt x="322616" y="153294"/>
                  </a:cubicBezTo>
                  <a:cubicBezTo>
                    <a:pt x="349956" y="156028"/>
                    <a:pt x="382765" y="166964"/>
                    <a:pt x="382765" y="205241"/>
                  </a:cubicBezTo>
                  <a:cubicBezTo>
                    <a:pt x="382765" y="216177"/>
                    <a:pt x="377297" y="229847"/>
                    <a:pt x="369095" y="238049"/>
                  </a:cubicBezTo>
                  <a:cubicBezTo>
                    <a:pt x="358159" y="248985"/>
                    <a:pt x="341754" y="254453"/>
                    <a:pt x="325350" y="254453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4" name="Полилиния: фигура 61">
              <a:extLst>
                <a:ext uri="{FF2B5EF4-FFF2-40B4-BE49-F238E27FC236}">
                  <a16:creationId xmlns:a16="http://schemas.microsoft.com/office/drawing/2014/main" id="{C9A077D3-8B58-4CC5-BB16-B55C03201CEC}"/>
                </a:ext>
              </a:extLst>
            </p:cNvPr>
            <p:cNvSpPr/>
            <p:nvPr/>
          </p:nvSpPr>
          <p:spPr>
            <a:xfrm>
              <a:off x="3469877" y="3075418"/>
              <a:ext cx="680774" cy="210520"/>
            </a:xfrm>
            <a:custGeom>
              <a:avLst/>
              <a:gdLst>
                <a:gd name="connsiteX0" fmla="*/ 0 w 680774"/>
                <a:gd name="connsiteY0" fmla="*/ 210521 h 210520"/>
                <a:gd name="connsiteX1" fmla="*/ 16404 w 680774"/>
                <a:gd name="connsiteY1" fmla="*/ 166776 h 210520"/>
                <a:gd name="connsiteX2" fmla="*/ 62883 w 680774"/>
                <a:gd name="connsiteY2" fmla="*/ 150372 h 210520"/>
                <a:gd name="connsiteX3" fmla="*/ 68351 w 680774"/>
                <a:gd name="connsiteY3" fmla="*/ 150372 h 210520"/>
                <a:gd name="connsiteX4" fmla="*/ 369095 w 680774"/>
                <a:gd name="connsiteY4" fmla="*/ 153106 h 210520"/>
                <a:gd name="connsiteX5" fmla="*/ 656169 w 680774"/>
                <a:gd name="connsiteY5" fmla="*/ 155840 h 210520"/>
                <a:gd name="connsiteX6" fmla="*/ 656169 w 680774"/>
                <a:gd name="connsiteY6" fmla="*/ 79287 h 210520"/>
                <a:gd name="connsiteX7" fmla="*/ 645233 w 680774"/>
                <a:gd name="connsiteY7" fmla="*/ 43745 h 210520"/>
                <a:gd name="connsiteX8" fmla="*/ 604222 w 680774"/>
                <a:gd name="connsiteY8" fmla="*/ 30075 h 210520"/>
                <a:gd name="connsiteX9" fmla="*/ 535871 w 680774"/>
                <a:gd name="connsiteY9" fmla="*/ 27340 h 210520"/>
                <a:gd name="connsiteX10" fmla="*/ 535871 w 680774"/>
                <a:gd name="connsiteY10" fmla="*/ 0 h 210520"/>
                <a:gd name="connsiteX11" fmla="*/ 604222 w 680774"/>
                <a:gd name="connsiteY11" fmla="*/ 2734 h 210520"/>
                <a:gd name="connsiteX12" fmla="*/ 664371 w 680774"/>
                <a:gd name="connsiteY12" fmla="*/ 27340 h 210520"/>
                <a:gd name="connsiteX13" fmla="*/ 680775 w 680774"/>
                <a:gd name="connsiteY13" fmla="*/ 82021 h 210520"/>
                <a:gd name="connsiteX14" fmla="*/ 680775 w 680774"/>
                <a:gd name="connsiteY14" fmla="*/ 169510 h 210520"/>
                <a:gd name="connsiteX15" fmla="*/ 667105 w 680774"/>
                <a:gd name="connsiteY15" fmla="*/ 183180 h 210520"/>
                <a:gd name="connsiteX16" fmla="*/ 366361 w 680774"/>
                <a:gd name="connsiteY16" fmla="*/ 180446 h 210520"/>
                <a:gd name="connsiteX17" fmla="*/ 65617 w 680774"/>
                <a:gd name="connsiteY17" fmla="*/ 177712 h 210520"/>
                <a:gd name="connsiteX18" fmla="*/ 60149 w 680774"/>
                <a:gd name="connsiteY18" fmla="*/ 177712 h 210520"/>
                <a:gd name="connsiteX19" fmla="*/ 32809 w 680774"/>
                <a:gd name="connsiteY19" fmla="*/ 185914 h 210520"/>
                <a:gd name="connsiteX20" fmla="*/ 24606 w 680774"/>
                <a:gd name="connsiteY20" fmla="*/ 207787 h 210520"/>
                <a:gd name="connsiteX21" fmla="*/ 0 w 680774"/>
                <a:gd name="connsiteY21" fmla="*/ 210521 h 21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80774" h="210520">
                  <a:moveTo>
                    <a:pt x="0" y="210521"/>
                  </a:moveTo>
                  <a:cubicBezTo>
                    <a:pt x="0" y="205053"/>
                    <a:pt x="0" y="183180"/>
                    <a:pt x="16404" y="166776"/>
                  </a:cubicBezTo>
                  <a:cubicBezTo>
                    <a:pt x="35543" y="150372"/>
                    <a:pt x="51947" y="150372"/>
                    <a:pt x="62883" y="150372"/>
                  </a:cubicBezTo>
                  <a:lnTo>
                    <a:pt x="68351" y="150372"/>
                  </a:lnTo>
                  <a:cubicBezTo>
                    <a:pt x="169510" y="150372"/>
                    <a:pt x="270670" y="150372"/>
                    <a:pt x="369095" y="153106"/>
                  </a:cubicBezTo>
                  <a:cubicBezTo>
                    <a:pt x="462052" y="155840"/>
                    <a:pt x="560477" y="155840"/>
                    <a:pt x="656169" y="155840"/>
                  </a:cubicBezTo>
                  <a:lnTo>
                    <a:pt x="656169" y="79287"/>
                  </a:lnTo>
                  <a:cubicBezTo>
                    <a:pt x="656169" y="68351"/>
                    <a:pt x="656169" y="54681"/>
                    <a:pt x="645233" y="43745"/>
                  </a:cubicBezTo>
                  <a:cubicBezTo>
                    <a:pt x="634296" y="32809"/>
                    <a:pt x="617892" y="30075"/>
                    <a:pt x="604222" y="30075"/>
                  </a:cubicBezTo>
                  <a:cubicBezTo>
                    <a:pt x="579616" y="30075"/>
                    <a:pt x="555009" y="27340"/>
                    <a:pt x="535871" y="27340"/>
                  </a:cubicBezTo>
                  <a:lnTo>
                    <a:pt x="535871" y="0"/>
                  </a:lnTo>
                  <a:cubicBezTo>
                    <a:pt x="555009" y="0"/>
                    <a:pt x="579616" y="0"/>
                    <a:pt x="604222" y="2734"/>
                  </a:cubicBezTo>
                  <a:cubicBezTo>
                    <a:pt x="617892" y="2734"/>
                    <a:pt x="645233" y="5468"/>
                    <a:pt x="664371" y="27340"/>
                  </a:cubicBezTo>
                  <a:cubicBezTo>
                    <a:pt x="675307" y="41011"/>
                    <a:pt x="680775" y="60149"/>
                    <a:pt x="680775" y="82021"/>
                  </a:cubicBezTo>
                  <a:lnTo>
                    <a:pt x="680775" y="169510"/>
                  </a:lnTo>
                  <a:cubicBezTo>
                    <a:pt x="680775" y="177712"/>
                    <a:pt x="675307" y="183180"/>
                    <a:pt x="667105" y="183180"/>
                  </a:cubicBezTo>
                  <a:cubicBezTo>
                    <a:pt x="565945" y="183180"/>
                    <a:pt x="464786" y="183180"/>
                    <a:pt x="366361" y="180446"/>
                  </a:cubicBezTo>
                  <a:cubicBezTo>
                    <a:pt x="267936" y="177712"/>
                    <a:pt x="166776" y="177712"/>
                    <a:pt x="65617" y="177712"/>
                  </a:cubicBezTo>
                  <a:lnTo>
                    <a:pt x="60149" y="177712"/>
                  </a:lnTo>
                  <a:cubicBezTo>
                    <a:pt x="51947" y="177712"/>
                    <a:pt x="43745" y="177712"/>
                    <a:pt x="32809" y="185914"/>
                  </a:cubicBezTo>
                  <a:cubicBezTo>
                    <a:pt x="24606" y="191382"/>
                    <a:pt x="24606" y="205053"/>
                    <a:pt x="24606" y="207787"/>
                  </a:cubicBezTo>
                  <a:lnTo>
                    <a:pt x="0" y="210521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5" name="Полилиния: фигура 62">
              <a:extLst>
                <a:ext uri="{FF2B5EF4-FFF2-40B4-BE49-F238E27FC236}">
                  <a16:creationId xmlns:a16="http://schemas.microsoft.com/office/drawing/2014/main" id="{C3435DCE-8A27-4DD8-9367-DC18CF01F367}"/>
                </a:ext>
              </a:extLst>
            </p:cNvPr>
            <p:cNvSpPr/>
            <p:nvPr/>
          </p:nvSpPr>
          <p:spPr>
            <a:xfrm>
              <a:off x="3811632" y="3075309"/>
              <a:ext cx="147637" cy="125875"/>
            </a:xfrm>
            <a:custGeom>
              <a:avLst/>
              <a:gdLst>
                <a:gd name="connsiteX0" fmla="*/ 27340 w 147637"/>
                <a:gd name="connsiteY0" fmla="*/ 125875 h 125875"/>
                <a:gd name="connsiteX1" fmla="*/ 0 w 147637"/>
                <a:gd name="connsiteY1" fmla="*/ 125875 h 125875"/>
                <a:gd name="connsiteX2" fmla="*/ 0 w 147637"/>
                <a:gd name="connsiteY2" fmla="*/ 71194 h 125875"/>
                <a:gd name="connsiteX3" fmla="*/ 27340 w 147637"/>
                <a:gd name="connsiteY3" fmla="*/ 19248 h 125875"/>
                <a:gd name="connsiteX4" fmla="*/ 112096 w 147637"/>
                <a:gd name="connsiteY4" fmla="*/ 109 h 125875"/>
                <a:gd name="connsiteX5" fmla="*/ 147638 w 147637"/>
                <a:gd name="connsiteY5" fmla="*/ 109 h 125875"/>
                <a:gd name="connsiteX6" fmla="*/ 147638 w 147637"/>
                <a:gd name="connsiteY6" fmla="*/ 27450 h 125875"/>
                <a:gd name="connsiteX7" fmla="*/ 112096 w 147637"/>
                <a:gd name="connsiteY7" fmla="*/ 27450 h 125875"/>
                <a:gd name="connsiteX8" fmla="*/ 109361 w 147637"/>
                <a:gd name="connsiteY8" fmla="*/ 27450 h 125875"/>
                <a:gd name="connsiteX9" fmla="*/ 43745 w 147637"/>
                <a:gd name="connsiteY9" fmla="*/ 38386 h 125875"/>
                <a:gd name="connsiteX10" fmla="*/ 27340 w 147637"/>
                <a:gd name="connsiteY10" fmla="*/ 71194 h 125875"/>
                <a:gd name="connsiteX11" fmla="*/ 27340 w 147637"/>
                <a:gd name="connsiteY11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637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6" y="109"/>
                  </a:cubicBezTo>
                  <a:cubicBezTo>
                    <a:pt x="117564" y="109"/>
                    <a:pt x="131234" y="109"/>
                    <a:pt x="147638" y="109"/>
                  </a:cubicBezTo>
                  <a:lnTo>
                    <a:pt x="147638" y="27450"/>
                  </a:lnTo>
                  <a:cubicBezTo>
                    <a:pt x="131234" y="27450"/>
                    <a:pt x="117564" y="27450"/>
                    <a:pt x="112096" y="27450"/>
                  </a:cubicBezTo>
                  <a:cubicBezTo>
                    <a:pt x="112096" y="27450"/>
                    <a:pt x="109361" y="27450"/>
                    <a:pt x="109361" y="27450"/>
                  </a:cubicBezTo>
                  <a:cubicBezTo>
                    <a:pt x="101159" y="27450"/>
                    <a:pt x="60149" y="27450"/>
                    <a:pt x="43745" y="38386"/>
                  </a:cubicBezTo>
                  <a:cubicBezTo>
                    <a:pt x="30075" y="49322"/>
                    <a:pt x="27340" y="65726"/>
                    <a:pt x="27340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6" name="Полилиния: фигура 66">
              <a:extLst>
                <a:ext uri="{FF2B5EF4-FFF2-40B4-BE49-F238E27FC236}">
                  <a16:creationId xmlns:a16="http://schemas.microsoft.com/office/drawing/2014/main" id="{C59CD6F9-8737-4B0F-8374-289678AE1FE2}"/>
                </a:ext>
              </a:extLst>
            </p:cNvPr>
            <p:cNvSpPr/>
            <p:nvPr/>
          </p:nvSpPr>
          <p:spPr>
            <a:xfrm>
              <a:off x="3221080" y="3327633"/>
              <a:ext cx="935178" cy="524251"/>
            </a:xfrm>
            <a:custGeom>
              <a:avLst/>
              <a:gdLst>
                <a:gd name="connsiteX0" fmla="*/ 853019 w 935178"/>
                <a:gd name="connsiteY0" fmla="*/ 524251 h 524251"/>
                <a:gd name="connsiteX1" fmla="*/ 82021 w 935178"/>
                <a:gd name="connsiteY1" fmla="*/ 524251 h 524251"/>
                <a:gd name="connsiteX2" fmla="*/ 0 w 935178"/>
                <a:gd name="connsiteY2" fmla="*/ 442230 h 524251"/>
                <a:gd name="connsiteX3" fmla="*/ 0 w 935178"/>
                <a:gd name="connsiteY3" fmla="*/ 196167 h 524251"/>
                <a:gd name="connsiteX4" fmla="*/ 82021 w 935178"/>
                <a:gd name="connsiteY4" fmla="*/ 114146 h 524251"/>
                <a:gd name="connsiteX5" fmla="*/ 475722 w 935178"/>
                <a:gd name="connsiteY5" fmla="*/ 114146 h 524251"/>
                <a:gd name="connsiteX6" fmla="*/ 475722 w 935178"/>
                <a:gd name="connsiteY6" fmla="*/ 141486 h 524251"/>
                <a:gd name="connsiteX7" fmla="*/ 82021 w 935178"/>
                <a:gd name="connsiteY7" fmla="*/ 141486 h 524251"/>
                <a:gd name="connsiteX8" fmla="*/ 27340 w 935178"/>
                <a:gd name="connsiteY8" fmla="*/ 196167 h 524251"/>
                <a:gd name="connsiteX9" fmla="*/ 27340 w 935178"/>
                <a:gd name="connsiteY9" fmla="*/ 442230 h 524251"/>
                <a:gd name="connsiteX10" fmla="*/ 82021 w 935178"/>
                <a:gd name="connsiteY10" fmla="*/ 496911 h 524251"/>
                <a:gd name="connsiteX11" fmla="*/ 853019 w 935178"/>
                <a:gd name="connsiteY11" fmla="*/ 496911 h 524251"/>
                <a:gd name="connsiteX12" fmla="*/ 910434 w 935178"/>
                <a:gd name="connsiteY12" fmla="*/ 439496 h 524251"/>
                <a:gd name="connsiteX13" fmla="*/ 910434 w 935178"/>
                <a:gd name="connsiteY13" fmla="*/ 141486 h 524251"/>
                <a:gd name="connsiteX14" fmla="*/ 735456 w 935178"/>
                <a:gd name="connsiteY14" fmla="*/ 141486 h 524251"/>
                <a:gd name="connsiteX15" fmla="*/ 727253 w 935178"/>
                <a:gd name="connsiteY15" fmla="*/ 138752 h 524251"/>
                <a:gd name="connsiteX16" fmla="*/ 590552 w 935178"/>
                <a:gd name="connsiteY16" fmla="*/ 40327 h 524251"/>
                <a:gd name="connsiteX17" fmla="*/ 587818 w 935178"/>
                <a:gd name="connsiteY17" fmla="*/ 114146 h 524251"/>
                <a:gd name="connsiteX18" fmla="*/ 560477 w 935178"/>
                <a:gd name="connsiteY18" fmla="*/ 114146 h 524251"/>
                <a:gd name="connsiteX19" fmla="*/ 563211 w 935178"/>
                <a:gd name="connsiteY19" fmla="*/ 12987 h 524251"/>
                <a:gd name="connsiteX20" fmla="*/ 571413 w 935178"/>
                <a:gd name="connsiteY20" fmla="*/ 2050 h 524251"/>
                <a:gd name="connsiteX21" fmla="*/ 585084 w 935178"/>
                <a:gd name="connsiteY21" fmla="*/ 2050 h 524251"/>
                <a:gd name="connsiteX22" fmla="*/ 738190 w 935178"/>
                <a:gd name="connsiteY22" fmla="*/ 114146 h 524251"/>
                <a:gd name="connsiteX23" fmla="*/ 921370 w 935178"/>
                <a:gd name="connsiteY23" fmla="*/ 114146 h 524251"/>
                <a:gd name="connsiteX24" fmla="*/ 935040 w 935178"/>
                <a:gd name="connsiteY24" fmla="*/ 127816 h 524251"/>
                <a:gd name="connsiteX25" fmla="*/ 935040 w 935178"/>
                <a:gd name="connsiteY25" fmla="*/ 439496 h 524251"/>
                <a:gd name="connsiteX26" fmla="*/ 853019 w 935178"/>
                <a:gd name="connsiteY26" fmla="*/ 524251 h 524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35178" h="524251">
                  <a:moveTo>
                    <a:pt x="853019" y="524251"/>
                  </a:moveTo>
                  <a:lnTo>
                    <a:pt x="82021" y="524251"/>
                  </a:lnTo>
                  <a:cubicBezTo>
                    <a:pt x="38277" y="524251"/>
                    <a:pt x="0" y="488709"/>
                    <a:pt x="0" y="442230"/>
                  </a:cubicBezTo>
                  <a:lnTo>
                    <a:pt x="0" y="196167"/>
                  </a:lnTo>
                  <a:cubicBezTo>
                    <a:pt x="0" y="149688"/>
                    <a:pt x="38277" y="114146"/>
                    <a:pt x="82021" y="114146"/>
                  </a:cubicBezTo>
                  <a:lnTo>
                    <a:pt x="475722" y="114146"/>
                  </a:lnTo>
                  <a:lnTo>
                    <a:pt x="475722" y="141486"/>
                  </a:lnTo>
                  <a:lnTo>
                    <a:pt x="82021" y="141486"/>
                  </a:lnTo>
                  <a:cubicBezTo>
                    <a:pt x="51947" y="141486"/>
                    <a:pt x="27340" y="166093"/>
                    <a:pt x="27340" y="196167"/>
                  </a:cubicBezTo>
                  <a:lnTo>
                    <a:pt x="27340" y="442230"/>
                  </a:lnTo>
                  <a:cubicBezTo>
                    <a:pt x="27340" y="472304"/>
                    <a:pt x="51947" y="496911"/>
                    <a:pt x="82021" y="496911"/>
                  </a:cubicBezTo>
                  <a:lnTo>
                    <a:pt x="853019" y="496911"/>
                  </a:lnTo>
                  <a:cubicBezTo>
                    <a:pt x="883094" y="496911"/>
                    <a:pt x="910434" y="472304"/>
                    <a:pt x="910434" y="439496"/>
                  </a:cubicBezTo>
                  <a:lnTo>
                    <a:pt x="910434" y="141486"/>
                  </a:lnTo>
                  <a:lnTo>
                    <a:pt x="735456" y="141486"/>
                  </a:lnTo>
                  <a:cubicBezTo>
                    <a:pt x="732722" y="141486"/>
                    <a:pt x="729988" y="141486"/>
                    <a:pt x="727253" y="138752"/>
                  </a:cubicBezTo>
                  <a:lnTo>
                    <a:pt x="590552" y="40327"/>
                  </a:lnTo>
                  <a:cubicBezTo>
                    <a:pt x="590552" y="73135"/>
                    <a:pt x="587818" y="111412"/>
                    <a:pt x="587818" y="114146"/>
                  </a:cubicBezTo>
                  <a:lnTo>
                    <a:pt x="560477" y="114146"/>
                  </a:lnTo>
                  <a:cubicBezTo>
                    <a:pt x="560477" y="105944"/>
                    <a:pt x="563211" y="21189"/>
                    <a:pt x="563211" y="12987"/>
                  </a:cubicBezTo>
                  <a:cubicBezTo>
                    <a:pt x="563211" y="7518"/>
                    <a:pt x="565945" y="2050"/>
                    <a:pt x="571413" y="2050"/>
                  </a:cubicBezTo>
                  <a:cubicBezTo>
                    <a:pt x="576881" y="-683"/>
                    <a:pt x="582350" y="-683"/>
                    <a:pt x="585084" y="2050"/>
                  </a:cubicBezTo>
                  <a:lnTo>
                    <a:pt x="738190" y="114146"/>
                  </a:lnTo>
                  <a:lnTo>
                    <a:pt x="921370" y="114146"/>
                  </a:lnTo>
                  <a:cubicBezTo>
                    <a:pt x="929572" y="114146"/>
                    <a:pt x="935040" y="119614"/>
                    <a:pt x="935040" y="127816"/>
                  </a:cubicBezTo>
                  <a:lnTo>
                    <a:pt x="935040" y="439496"/>
                  </a:lnTo>
                  <a:cubicBezTo>
                    <a:pt x="937774" y="485975"/>
                    <a:pt x="899498" y="524251"/>
                    <a:pt x="853019" y="524251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87" name="Рисунок 16">
              <a:extLst>
                <a:ext uri="{FF2B5EF4-FFF2-40B4-BE49-F238E27FC236}">
                  <a16:creationId xmlns:a16="http://schemas.microsoft.com/office/drawing/2014/main" id="{E95BBFFB-24DA-416A-9201-0F26525D6E55}"/>
                </a:ext>
              </a:extLst>
            </p:cNvPr>
            <p:cNvGrpSpPr/>
            <p:nvPr/>
          </p:nvGrpSpPr>
          <p:grpSpPr>
            <a:xfrm>
              <a:off x="3398792" y="3624960"/>
              <a:ext cx="295275" cy="62882"/>
              <a:chOff x="3398792" y="3624960"/>
              <a:chExt cx="295275" cy="62882"/>
            </a:xfrm>
            <a:grpFill/>
          </p:grpSpPr>
          <p:sp>
            <p:nvSpPr>
              <p:cNvPr id="88" name="Полилиния: фигура 68">
                <a:extLst>
                  <a:ext uri="{FF2B5EF4-FFF2-40B4-BE49-F238E27FC236}">
                    <a16:creationId xmlns:a16="http://schemas.microsoft.com/office/drawing/2014/main" id="{7DD23741-3874-4ACF-B0A5-1574B12113C2}"/>
                  </a:ext>
                </a:extLst>
              </p:cNvPr>
              <p:cNvSpPr/>
              <p:nvPr/>
            </p:nvSpPr>
            <p:spPr>
              <a:xfrm>
                <a:off x="351362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89" name="Полилиния: фигура 69">
                <a:extLst>
                  <a:ext uri="{FF2B5EF4-FFF2-40B4-BE49-F238E27FC236}">
                    <a16:creationId xmlns:a16="http://schemas.microsoft.com/office/drawing/2014/main" id="{7C46E1AC-5C6D-4C6B-906E-49E50514A039}"/>
                  </a:ext>
                </a:extLst>
              </p:cNvPr>
              <p:cNvSpPr/>
              <p:nvPr/>
            </p:nvSpPr>
            <p:spPr>
              <a:xfrm>
                <a:off x="3628451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90" name="Полилиния: фигура 70">
                <a:extLst>
                  <a:ext uri="{FF2B5EF4-FFF2-40B4-BE49-F238E27FC236}">
                    <a16:creationId xmlns:a16="http://schemas.microsoft.com/office/drawing/2014/main" id="{138B8955-0FFC-4F5D-8650-FEF1D7F32702}"/>
                  </a:ext>
                </a:extLst>
              </p:cNvPr>
              <p:cNvSpPr/>
              <p:nvPr/>
            </p:nvSpPr>
            <p:spPr>
              <a:xfrm>
                <a:off x="339879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  <p:sp>
          <p:nvSpPr>
            <p:cNvPr id="91" name="Полилиния: фигура 85">
              <a:extLst>
                <a:ext uri="{FF2B5EF4-FFF2-40B4-BE49-F238E27FC236}">
                  <a16:creationId xmlns:a16="http://schemas.microsoft.com/office/drawing/2014/main" id="{0F7DC35F-096E-4945-BEFC-9D13AC4A04E9}"/>
                </a:ext>
              </a:extLst>
            </p:cNvPr>
            <p:cNvSpPr/>
            <p:nvPr/>
          </p:nvSpPr>
          <p:spPr>
            <a:xfrm>
              <a:off x="3590175" y="2894972"/>
              <a:ext cx="158712" cy="158574"/>
            </a:xfrm>
            <a:custGeom>
              <a:avLst/>
              <a:gdLst>
                <a:gd name="connsiteX0" fmla="*/ 79287 w 158712"/>
                <a:gd name="connsiteY0" fmla="*/ 158574 h 158574"/>
                <a:gd name="connsiteX1" fmla="*/ 0 w 158712"/>
                <a:gd name="connsiteY1" fmla="*/ 79287 h 158574"/>
                <a:gd name="connsiteX2" fmla="*/ 79287 w 158712"/>
                <a:gd name="connsiteY2" fmla="*/ 0 h 158574"/>
                <a:gd name="connsiteX3" fmla="*/ 158574 w 158712"/>
                <a:gd name="connsiteY3" fmla="*/ 79287 h 158574"/>
                <a:gd name="connsiteX4" fmla="*/ 79287 w 158712"/>
                <a:gd name="connsiteY4" fmla="*/ 158574 h 158574"/>
                <a:gd name="connsiteX5" fmla="*/ 79287 w 158712"/>
                <a:gd name="connsiteY5" fmla="*/ 27340 h 158574"/>
                <a:gd name="connsiteX6" fmla="*/ 27340 w 158712"/>
                <a:gd name="connsiteY6" fmla="*/ 79287 h 158574"/>
                <a:gd name="connsiteX7" fmla="*/ 79287 w 158712"/>
                <a:gd name="connsiteY7" fmla="*/ 131234 h 158574"/>
                <a:gd name="connsiteX8" fmla="*/ 131234 w 158712"/>
                <a:gd name="connsiteY8" fmla="*/ 79287 h 158574"/>
                <a:gd name="connsiteX9" fmla="*/ 79287 w 158712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712" h="158574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3"/>
                    <a:pt x="35543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61308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9361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3968" y="49213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2" name="Полилиния: фигура 86">
              <a:extLst>
                <a:ext uri="{FF2B5EF4-FFF2-40B4-BE49-F238E27FC236}">
                  <a16:creationId xmlns:a16="http://schemas.microsoft.com/office/drawing/2014/main" id="{56CFE043-C320-4DA5-BF3B-03CFD0AAA16F}"/>
                </a:ext>
              </a:extLst>
            </p:cNvPr>
            <p:cNvSpPr/>
            <p:nvPr/>
          </p:nvSpPr>
          <p:spPr>
            <a:xfrm>
              <a:off x="3694068" y="3075418"/>
              <a:ext cx="142169" cy="128499"/>
            </a:xfrm>
            <a:custGeom>
              <a:avLst/>
              <a:gdLst>
                <a:gd name="connsiteX0" fmla="*/ 142170 w 142169"/>
                <a:gd name="connsiteY0" fmla="*/ 128500 h 128499"/>
                <a:gd name="connsiteX1" fmla="*/ 114829 w 142169"/>
                <a:gd name="connsiteY1" fmla="*/ 128500 h 128499"/>
                <a:gd name="connsiteX2" fmla="*/ 114829 w 142169"/>
                <a:gd name="connsiteY2" fmla="*/ 79287 h 128499"/>
                <a:gd name="connsiteX3" fmla="*/ 103893 w 142169"/>
                <a:gd name="connsiteY3" fmla="*/ 43745 h 128499"/>
                <a:gd name="connsiteX4" fmla="*/ 62883 w 142169"/>
                <a:gd name="connsiteY4" fmla="*/ 30075 h 128499"/>
                <a:gd name="connsiteX5" fmla="*/ 0 w 142169"/>
                <a:gd name="connsiteY5" fmla="*/ 27340 h 128499"/>
                <a:gd name="connsiteX6" fmla="*/ 0 w 142169"/>
                <a:gd name="connsiteY6" fmla="*/ 0 h 128499"/>
                <a:gd name="connsiteX7" fmla="*/ 62883 w 142169"/>
                <a:gd name="connsiteY7" fmla="*/ 2734 h 128499"/>
                <a:gd name="connsiteX8" fmla="*/ 123032 w 142169"/>
                <a:gd name="connsiteY8" fmla="*/ 27340 h 128499"/>
                <a:gd name="connsiteX9" fmla="*/ 139436 w 142169"/>
                <a:gd name="connsiteY9" fmla="*/ 82021 h 128499"/>
                <a:gd name="connsiteX10" fmla="*/ 139436 w 142169"/>
                <a:gd name="connsiteY10" fmla="*/ 128500 h 12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169" h="128499">
                  <a:moveTo>
                    <a:pt x="142170" y="128500"/>
                  </a:moveTo>
                  <a:lnTo>
                    <a:pt x="114829" y="128500"/>
                  </a:lnTo>
                  <a:lnTo>
                    <a:pt x="114829" y="79287"/>
                  </a:lnTo>
                  <a:cubicBezTo>
                    <a:pt x="114829" y="68351"/>
                    <a:pt x="114829" y="54681"/>
                    <a:pt x="103893" y="43745"/>
                  </a:cubicBezTo>
                  <a:cubicBezTo>
                    <a:pt x="92957" y="32809"/>
                    <a:pt x="76553" y="30075"/>
                    <a:pt x="62883" y="30075"/>
                  </a:cubicBezTo>
                  <a:cubicBezTo>
                    <a:pt x="41011" y="30075"/>
                    <a:pt x="19138" y="27340"/>
                    <a:pt x="0" y="27340"/>
                  </a:cubicBezTo>
                  <a:lnTo>
                    <a:pt x="0" y="0"/>
                  </a:lnTo>
                  <a:cubicBezTo>
                    <a:pt x="19138" y="0"/>
                    <a:pt x="38277" y="0"/>
                    <a:pt x="62883" y="2734"/>
                  </a:cubicBezTo>
                  <a:cubicBezTo>
                    <a:pt x="76553" y="2734"/>
                    <a:pt x="103893" y="5468"/>
                    <a:pt x="123032" y="27340"/>
                  </a:cubicBezTo>
                  <a:cubicBezTo>
                    <a:pt x="133968" y="41011"/>
                    <a:pt x="139436" y="60149"/>
                    <a:pt x="139436" y="82021"/>
                  </a:cubicBezTo>
                  <a:lnTo>
                    <a:pt x="139436" y="12850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3" name="Полилиния: фигура 87">
              <a:extLst>
                <a:ext uri="{FF2B5EF4-FFF2-40B4-BE49-F238E27FC236}">
                  <a16:creationId xmlns:a16="http://schemas.microsoft.com/office/drawing/2014/main" id="{16CD4097-F23E-497D-938F-1B776510B810}"/>
                </a:ext>
              </a:extLst>
            </p:cNvPr>
            <p:cNvSpPr/>
            <p:nvPr/>
          </p:nvSpPr>
          <p:spPr>
            <a:xfrm>
              <a:off x="3494483" y="3075309"/>
              <a:ext cx="153105" cy="125875"/>
            </a:xfrm>
            <a:custGeom>
              <a:avLst/>
              <a:gdLst>
                <a:gd name="connsiteX0" fmla="*/ 27340 w 153105"/>
                <a:gd name="connsiteY0" fmla="*/ 125875 h 125875"/>
                <a:gd name="connsiteX1" fmla="*/ 0 w 153105"/>
                <a:gd name="connsiteY1" fmla="*/ 125875 h 125875"/>
                <a:gd name="connsiteX2" fmla="*/ 0 w 153105"/>
                <a:gd name="connsiteY2" fmla="*/ 71194 h 125875"/>
                <a:gd name="connsiteX3" fmla="*/ 27340 w 153105"/>
                <a:gd name="connsiteY3" fmla="*/ 19248 h 125875"/>
                <a:gd name="connsiteX4" fmla="*/ 112095 w 153105"/>
                <a:gd name="connsiteY4" fmla="*/ 109 h 125875"/>
                <a:gd name="connsiteX5" fmla="*/ 153106 w 153105"/>
                <a:gd name="connsiteY5" fmla="*/ 109 h 125875"/>
                <a:gd name="connsiteX6" fmla="*/ 153106 w 153105"/>
                <a:gd name="connsiteY6" fmla="*/ 27450 h 125875"/>
                <a:gd name="connsiteX7" fmla="*/ 112095 w 153105"/>
                <a:gd name="connsiteY7" fmla="*/ 27450 h 125875"/>
                <a:gd name="connsiteX8" fmla="*/ 109361 w 153105"/>
                <a:gd name="connsiteY8" fmla="*/ 27450 h 125875"/>
                <a:gd name="connsiteX9" fmla="*/ 106627 w 153105"/>
                <a:gd name="connsiteY9" fmla="*/ 27450 h 125875"/>
                <a:gd name="connsiteX10" fmla="*/ 41011 w 153105"/>
                <a:gd name="connsiteY10" fmla="*/ 38386 h 125875"/>
                <a:gd name="connsiteX11" fmla="*/ 24606 w 153105"/>
                <a:gd name="connsiteY11" fmla="*/ 71194 h 125875"/>
                <a:gd name="connsiteX12" fmla="*/ 27340 w 153105"/>
                <a:gd name="connsiteY12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3105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5" y="109"/>
                  </a:cubicBezTo>
                  <a:cubicBezTo>
                    <a:pt x="120298" y="109"/>
                    <a:pt x="133968" y="109"/>
                    <a:pt x="153106" y="109"/>
                  </a:cubicBezTo>
                  <a:lnTo>
                    <a:pt x="153106" y="27450"/>
                  </a:lnTo>
                  <a:cubicBezTo>
                    <a:pt x="133968" y="27450"/>
                    <a:pt x="120298" y="27450"/>
                    <a:pt x="112095" y="27450"/>
                  </a:cubicBezTo>
                  <a:lnTo>
                    <a:pt x="109361" y="27450"/>
                  </a:lnTo>
                  <a:lnTo>
                    <a:pt x="106627" y="27450"/>
                  </a:lnTo>
                  <a:cubicBezTo>
                    <a:pt x="98425" y="27450"/>
                    <a:pt x="57415" y="27450"/>
                    <a:pt x="41011" y="38386"/>
                  </a:cubicBezTo>
                  <a:cubicBezTo>
                    <a:pt x="27340" y="49322"/>
                    <a:pt x="24606" y="65726"/>
                    <a:pt x="24606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94" name="Rectangle 12">
            <a:extLst>
              <a:ext uri="{FF2B5EF4-FFF2-40B4-BE49-F238E27FC236}">
                <a16:creationId xmlns:a16="http://schemas.microsoft.com/office/drawing/2014/main" id="{19E91025-9B3C-4253-AF1E-27A49C1B15B2}"/>
              </a:ext>
            </a:extLst>
          </p:cNvPr>
          <p:cNvSpPr/>
          <p:nvPr/>
        </p:nvSpPr>
        <p:spPr bwMode="auto">
          <a:xfrm>
            <a:off x="605367" y="5468535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95" name="TextBox 7">
            <a:extLst>
              <a:ext uri="{FF2B5EF4-FFF2-40B4-BE49-F238E27FC236}">
                <a16:creationId xmlns:a16="http://schemas.microsoft.com/office/drawing/2014/main" id="{4EE4E8CF-7868-4D9A-A89B-D43054C39B9C}"/>
              </a:ext>
            </a:extLst>
          </p:cNvPr>
          <p:cNvSpPr txBox="1"/>
          <p:nvPr/>
        </p:nvSpPr>
        <p:spPr bwMode="auto">
          <a:xfrm>
            <a:off x="1278898" y="5544236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ACC4FE"/>
              </a:buClr>
              <a:buSzPct val="110000"/>
              <a:defRPr/>
            </a:pPr>
            <a: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Отбраковка </a:t>
            </a:r>
            <a:br>
              <a:rPr lang="ru-RU" sz="1000" b="0" spc="3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данных</a:t>
            </a:r>
          </a:p>
        </p:txBody>
      </p:sp>
      <p:grpSp>
        <p:nvGrpSpPr>
          <p:cNvPr id="96" name="Группа 535">
            <a:extLst>
              <a:ext uri="{FF2B5EF4-FFF2-40B4-BE49-F238E27FC236}">
                <a16:creationId xmlns:a16="http://schemas.microsoft.com/office/drawing/2014/main" id="{A9306D82-01C5-4A7F-A4F0-B89D01F5C635}"/>
              </a:ext>
            </a:extLst>
          </p:cNvPr>
          <p:cNvGrpSpPr>
            <a:grpSpLocks noChangeAspect="1"/>
          </p:cNvGrpSpPr>
          <p:nvPr/>
        </p:nvGrpSpPr>
        <p:grpSpPr>
          <a:xfrm>
            <a:off x="3857920" y="3028073"/>
            <a:ext cx="308249" cy="338876"/>
            <a:chOff x="2865554" y="4921611"/>
            <a:chExt cx="984276" cy="1082073"/>
          </a:xfrm>
          <a:solidFill>
            <a:srgbClr val="FFFFFF"/>
          </a:solidFill>
        </p:grpSpPr>
        <p:sp>
          <p:nvSpPr>
            <p:cNvPr id="97" name="Полилиния: фигура 175">
              <a:extLst>
                <a:ext uri="{FF2B5EF4-FFF2-40B4-BE49-F238E27FC236}">
                  <a16:creationId xmlns:a16="http://schemas.microsoft.com/office/drawing/2014/main" id="{66C2C6D3-4DE9-4643-A4DB-5F3AC581B873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164">
              <a:extLst>
                <a:ext uri="{FF2B5EF4-FFF2-40B4-BE49-F238E27FC236}">
                  <a16:creationId xmlns:a16="http://schemas.microsoft.com/office/drawing/2014/main" id="{49B5EC0C-6438-45F9-A3BA-F7EDB9AF5007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165">
              <a:extLst>
                <a:ext uri="{FF2B5EF4-FFF2-40B4-BE49-F238E27FC236}">
                  <a16:creationId xmlns:a16="http://schemas.microsoft.com/office/drawing/2014/main" id="{9C6A8920-4556-4A75-A133-D7E7978F9BB0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166">
              <a:extLst>
                <a:ext uri="{FF2B5EF4-FFF2-40B4-BE49-F238E27FC236}">
                  <a16:creationId xmlns:a16="http://schemas.microsoft.com/office/drawing/2014/main" id="{6134406F-9D15-489E-BFA1-91BF152C710B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167">
              <a:extLst>
                <a:ext uri="{FF2B5EF4-FFF2-40B4-BE49-F238E27FC236}">
                  <a16:creationId xmlns:a16="http://schemas.microsoft.com/office/drawing/2014/main" id="{B03F7367-4673-42B6-AF80-7A35FA1195D0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68">
              <a:extLst>
                <a:ext uri="{FF2B5EF4-FFF2-40B4-BE49-F238E27FC236}">
                  <a16:creationId xmlns:a16="http://schemas.microsoft.com/office/drawing/2014/main" id="{FB6A05CD-D279-400A-A0E8-CD4300F5AF3A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69">
              <a:extLst>
                <a:ext uri="{FF2B5EF4-FFF2-40B4-BE49-F238E27FC236}">
                  <a16:creationId xmlns:a16="http://schemas.microsoft.com/office/drawing/2014/main" id="{B196C3E4-D86F-4ED1-8043-16D9946C72DA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170">
              <a:extLst>
                <a:ext uri="{FF2B5EF4-FFF2-40B4-BE49-F238E27FC236}">
                  <a16:creationId xmlns:a16="http://schemas.microsoft.com/office/drawing/2014/main" id="{946EE0D2-E0DB-4EB1-B837-727E333F3B54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171">
              <a:extLst>
                <a:ext uri="{FF2B5EF4-FFF2-40B4-BE49-F238E27FC236}">
                  <a16:creationId xmlns:a16="http://schemas.microsoft.com/office/drawing/2014/main" id="{ADFEF04E-41D6-4DA1-8669-42BD324D10F8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6" name="Рисунок 2">
              <a:extLst>
                <a:ext uri="{FF2B5EF4-FFF2-40B4-BE49-F238E27FC236}">
                  <a16:creationId xmlns:a16="http://schemas.microsoft.com/office/drawing/2014/main" id="{3A5AA35F-CCF4-42B8-BC5D-DD04A78C34D8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grpFill/>
          </p:grpSpPr>
          <p:sp>
            <p:nvSpPr>
              <p:cNvPr id="107" name="Полилиния: фигура 173">
                <a:extLst>
                  <a:ext uri="{FF2B5EF4-FFF2-40B4-BE49-F238E27FC236}">
                    <a16:creationId xmlns:a16="http://schemas.microsoft.com/office/drawing/2014/main" id="{1F63F727-EDD0-4E8F-B766-680B5089D5F1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8" name="Полилиния: фигура 174">
                <a:extLst>
                  <a:ext uri="{FF2B5EF4-FFF2-40B4-BE49-F238E27FC236}">
                    <a16:creationId xmlns:a16="http://schemas.microsoft.com/office/drawing/2014/main" id="{E1960933-B0AD-41ED-88B9-5327F8A9501D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9" name="Группа 196">
            <a:extLst>
              <a:ext uri="{FF2B5EF4-FFF2-40B4-BE49-F238E27FC236}">
                <a16:creationId xmlns:a16="http://schemas.microsoft.com/office/drawing/2014/main" id="{7B0A1A87-5F81-44E0-8175-FFE3E20C646A}"/>
              </a:ext>
            </a:extLst>
          </p:cNvPr>
          <p:cNvGrpSpPr>
            <a:grpSpLocks noChangeAspect="1"/>
          </p:cNvGrpSpPr>
          <p:nvPr/>
        </p:nvGrpSpPr>
        <p:grpSpPr>
          <a:xfrm>
            <a:off x="3821093" y="3841768"/>
            <a:ext cx="325500" cy="325500"/>
            <a:chOff x="3295605" y="2063519"/>
            <a:chExt cx="779200" cy="779200"/>
          </a:xfrm>
          <a:solidFill>
            <a:srgbClr val="FFFFFF"/>
          </a:solidFill>
        </p:grpSpPr>
        <p:sp>
          <p:nvSpPr>
            <p:cNvPr id="110" name="Полилиния: фигура 130">
              <a:extLst>
                <a:ext uri="{FF2B5EF4-FFF2-40B4-BE49-F238E27FC236}">
                  <a16:creationId xmlns:a16="http://schemas.microsoft.com/office/drawing/2014/main" id="{EF7C048D-CDD8-44C7-81C5-F0502B4D7A02}"/>
                </a:ext>
              </a:extLst>
            </p:cNvPr>
            <p:cNvSpPr/>
            <p:nvPr/>
          </p:nvSpPr>
          <p:spPr>
            <a:xfrm>
              <a:off x="3295605" y="2104530"/>
              <a:ext cx="727253" cy="738189"/>
            </a:xfrm>
            <a:custGeom>
              <a:avLst/>
              <a:gdLst>
                <a:gd name="connsiteX0" fmla="*/ 371829 w 727253"/>
                <a:gd name="connsiteY0" fmla="*/ 738189 h 738189"/>
                <a:gd name="connsiteX1" fmla="*/ 0 w 727253"/>
                <a:gd name="connsiteY1" fmla="*/ 369095 h 738189"/>
                <a:gd name="connsiteX2" fmla="*/ 369095 w 727253"/>
                <a:gd name="connsiteY2" fmla="*/ 0 h 738189"/>
                <a:gd name="connsiteX3" fmla="*/ 388233 w 727253"/>
                <a:gd name="connsiteY3" fmla="*/ 0 h 738189"/>
                <a:gd name="connsiteX4" fmla="*/ 388233 w 727253"/>
                <a:gd name="connsiteY4" fmla="*/ 27340 h 738189"/>
                <a:gd name="connsiteX5" fmla="*/ 371829 w 727253"/>
                <a:gd name="connsiteY5" fmla="*/ 27340 h 738189"/>
                <a:gd name="connsiteX6" fmla="*/ 27340 w 727253"/>
                <a:gd name="connsiteY6" fmla="*/ 369095 h 738189"/>
                <a:gd name="connsiteX7" fmla="*/ 369095 w 727253"/>
                <a:gd name="connsiteY7" fmla="*/ 710849 h 738189"/>
                <a:gd name="connsiteX8" fmla="*/ 699913 w 727253"/>
                <a:gd name="connsiteY8" fmla="*/ 459318 h 738189"/>
                <a:gd name="connsiteX9" fmla="*/ 727253 w 727253"/>
                <a:gd name="connsiteY9" fmla="*/ 467520 h 738189"/>
                <a:gd name="connsiteX10" fmla="*/ 371829 w 727253"/>
                <a:gd name="connsiteY10" fmla="*/ 738189 h 73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7253" h="738189">
                  <a:moveTo>
                    <a:pt x="371829" y="738189"/>
                  </a:moveTo>
                  <a:cubicBezTo>
                    <a:pt x="166776" y="738189"/>
                    <a:pt x="0" y="574147"/>
                    <a:pt x="0" y="369095"/>
                  </a:cubicBezTo>
                  <a:cubicBezTo>
                    <a:pt x="0" y="164042"/>
                    <a:pt x="166776" y="0"/>
                    <a:pt x="369095" y="0"/>
                  </a:cubicBezTo>
                  <a:cubicBezTo>
                    <a:pt x="374563" y="0"/>
                    <a:pt x="382765" y="0"/>
                    <a:pt x="388233" y="0"/>
                  </a:cubicBezTo>
                  <a:lnTo>
                    <a:pt x="388233" y="27340"/>
                  </a:lnTo>
                  <a:cubicBezTo>
                    <a:pt x="382765" y="27340"/>
                    <a:pt x="377297" y="27340"/>
                    <a:pt x="371829" y="27340"/>
                  </a:cubicBezTo>
                  <a:cubicBezTo>
                    <a:pt x="180446" y="27340"/>
                    <a:pt x="27340" y="180446"/>
                    <a:pt x="27340" y="369095"/>
                  </a:cubicBezTo>
                  <a:cubicBezTo>
                    <a:pt x="27340" y="557743"/>
                    <a:pt x="180446" y="710849"/>
                    <a:pt x="369095" y="710849"/>
                  </a:cubicBezTo>
                  <a:cubicBezTo>
                    <a:pt x="522201" y="710849"/>
                    <a:pt x="658902" y="606956"/>
                    <a:pt x="699913" y="459318"/>
                  </a:cubicBezTo>
                  <a:lnTo>
                    <a:pt x="727253" y="467520"/>
                  </a:lnTo>
                  <a:cubicBezTo>
                    <a:pt x="683509" y="626094"/>
                    <a:pt x="535871" y="738189"/>
                    <a:pt x="371829" y="738189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131">
              <a:extLst>
                <a:ext uri="{FF2B5EF4-FFF2-40B4-BE49-F238E27FC236}">
                  <a16:creationId xmlns:a16="http://schemas.microsoft.com/office/drawing/2014/main" id="{B123FE90-C1D1-4763-B662-A94131A4EC91}"/>
                </a:ext>
              </a:extLst>
            </p:cNvPr>
            <p:cNvSpPr/>
            <p:nvPr/>
          </p:nvSpPr>
          <p:spPr>
            <a:xfrm>
              <a:off x="3415903" y="2222093"/>
              <a:ext cx="497594" cy="508530"/>
            </a:xfrm>
            <a:custGeom>
              <a:avLst/>
              <a:gdLst>
                <a:gd name="connsiteX0" fmla="*/ 254265 w 497594"/>
                <a:gd name="connsiteY0" fmla="*/ 508531 h 508530"/>
                <a:gd name="connsiteX1" fmla="*/ 0 w 497594"/>
                <a:gd name="connsiteY1" fmla="*/ 254265 h 508530"/>
                <a:gd name="connsiteX2" fmla="*/ 254265 w 497594"/>
                <a:gd name="connsiteY2" fmla="*/ 0 h 508530"/>
                <a:gd name="connsiteX3" fmla="*/ 265201 w 497594"/>
                <a:gd name="connsiteY3" fmla="*/ 0 h 508530"/>
                <a:gd name="connsiteX4" fmla="*/ 265201 w 497594"/>
                <a:gd name="connsiteY4" fmla="*/ 27340 h 508530"/>
                <a:gd name="connsiteX5" fmla="*/ 254265 w 497594"/>
                <a:gd name="connsiteY5" fmla="*/ 27340 h 508530"/>
                <a:gd name="connsiteX6" fmla="*/ 27340 w 497594"/>
                <a:gd name="connsiteY6" fmla="*/ 254265 h 508530"/>
                <a:gd name="connsiteX7" fmla="*/ 254265 w 497594"/>
                <a:gd name="connsiteY7" fmla="*/ 481190 h 508530"/>
                <a:gd name="connsiteX8" fmla="*/ 470254 w 497594"/>
                <a:gd name="connsiteY8" fmla="*/ 319882 h 508530"/>
                <a:gd name="connsiteX9" fmla="*/ 497594 w 497594"/>
                <a:gd name="connsiteY9" fmla="*/ 328084 h 508530"/>
                <a:gd name="connsiteX10" fmla="*/ 254265 w 497594"/>
                <a:gd name="connsiteY10" fmla="*/ 508531 h 50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7594" h="508530">
                  <a:moveTo>
                    <a:pt x="254265" y="508531"/>
                  </a:moveTo>
                  <a:cubicBezTo>
                    <a:pt x="114829" y="508531"/>
                    <a:pt x="0" y="393701"/>
                    <a:pt x="0" y="254265"/>
                  </a:cubicBezTo>
                  <a:cubicBezTo>
                    <a:pt x="0" y="114829"/>
                    <a:pt x="114829" y="0"/>
                    <a:pt x="254265" y="0"/>
                  </a:cubicBezTo>
                  <a:cubicBezTo>
                    <a:pt x="256999" y="0"/>
                    <a:pt x="262467" y="0"/>
                    <a:pt x="265201" y="0"/>
                  </a:cubicBezTo>
                  <a:lnTo>
                    <a:pt x="265201" y="27340"/>
                  </a:lnTo>
                  <a:cubicBezTo>
                    <a:pt x="262467" y="27340"/>
                    <a:pt x="256999" y="27340"/>
                    <a:pt x="254265" y="27340"/>
                  </a:cubicBezTo>
                  <a:cubicBezTo>
                    <a:pt x="128500" y="27340"/>
                    <a:pt x="27340" y="128500"/>
                    <a:pt x="27340" y="254265"/>
                  </a:cubicBezTo>
                  <a:cubicBezTo>
                    <a:pt x="27340" y="380031"/>
                    <a:pt x="128500" y="481190"/>
                    <a:pt x="254265" y="481190"/>
                  </a:cubicBezTo>
                  <a:cubicBezTo>
                    <a:pt x="352691" y="481190"/>
                    <a:pt x="442914" y="415573"/>
                    <a:pt x="470254" y="319882"/>
                  </a:cubicBezTo>
                  <a:lnTo>
                    <a:pt x="497594" y="328084"/>
                  </a:lnTo>
                  <a:cubicBezTo>
                    <a:pt x="464786" y="434711"/>
                    <a:pt x="363627" y="508531"/>
                    <a:pt x="254265" y="508531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: фигура 132">
              <a:extLst>
                <a:ext uri="{FF2B5EF4-FFF2-40B4-BE49-F238E27FC236}">
                  <a16:creationId xmlns:a16="http://schemas.microsoft.com/office/drawing/2014/main" id="{543280BB-CF49-42FC-B546-8330F5C511A3}"/>
                </a:ext>
              </a:extLst>
            </p:cNvPr>
            <p:cNvSpPr/>
            <p:nvPr/>
          </p:nvSpPr>
          <p:spPr>
            <a:xfrm>
              <a:off x="3530732" y="2345125"/>
              <a:ext cx="270759" cy="273403"/>
            </a:xfrm>
            <a:custGeom>
              <a:avLst/>
              <a:gdLst>
                <a:gd name="connsiteX0" fmla="*/ 136702 w 270759"/>
                <a:gd name="connsiteY0" fmla="*/ 273403 h 273403"/>
                <a:gd name="connsiteX1" fmla="*/ 0 w 270759"/>
                <a:gd name="connsiteY1" fmla="*/ 136702 h 273403"/>
                <a:gd name="connsiteX2" fmla="*/ 136702 w 270759"/>
                <a:gd name="connsiteY2" fmla="*/ 0 h 273403"/>
                <a:gd name="connsiteX3" fmla="*/ 144904 w 270759"/>
                <a:gd name="connsiteY3" fmla="*/ 0 h 273403"/>
                <a:gd name="connsiteX4" fmla="*/ 142170 w 270759"/>
                <a:gd name="connsiteY4" fmla="*/ 27340 h 273403"/>
                <a:gd name="connsiteX5" fmla="*/ 133968 w 270759"/>
                <a:gd name="connsiteY5" fmla="*/ 27340 h 273403"/>
                <a:gd name="connsiteX6" fmla="*/ 24606 w 270759"/>
                <a:gd name="connsiteY6" fmla="*/ 136702 h 273403"/>
                <a:gd name="connsiteX7" fmla="*/ 133968 w 270759"/>
                <a:gd name="connsiteY7" fmla="*/ 246063 h 273403"/>
                <a:gd name="connsiteX8" fmla="*/ 243329 w 270759"/>
                <a:gd name="connsiteY8" fmla="*/ 136702 h 273403"/>
                <a:gd name="connsiteX9" fmla="*/ 243329 w 270759"/>
                <a:gd name="connsiteY9" fmla="*/ 123032 h 273403"/>
                <a:gd name="connsiteX10" fmla="*/ 270669 w 270759"/>
                <a:gd name="connsiteY10" fmla="*/ 120297 h 273403"/>
                <a:gd name="connsiteX11" fmla="*/ 270669 w 270759"/>
                <a:gd name="connsiteY11" fmla="*/ 136702 h 273403"/>
                <a:gd name="connsiteX12" fmla="*/ 136702 w 270759"/>
                <a:gd name="connsiteY12" fmla="*/ 273403 h 27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0759" h="273403">
                  <a:moveTo>
                    <a:pt x="136702" y="273403"/>
                  </a:moveTo>
                  <a:cubicBezTo>
                    <a:pt x="60149" y="273403"/>
                    <a:pt x="0" y="210521"/>
                    <a:pt x="0" y="136702"/>
                  </a:cubicBezTo>
                  <a:cubicBezTo>
                    <a:pt x="0" y="62883"/>
                    <a:pt x="62883" y="0"/>
                    <a:pt x="136702" y="0"/>
                  </a:cubicBezTo>
                  <a:cubicBezTo>
                    <a:pt x="139436" y="0"/>
                    <a:pt x="142170" y="0"/>
                    <a:pt x="144904" y="0"/>
                  </a:cubicBezTo>
                  <a:lnTo>
                    <a:pt x="142170" y="27340"/>
                  </a:lnTo>
                  <a:cubicBezTo>
                    <a:pt x="139436" y="27340"/>
                    <a:pt x="136702" y="27340"/>
                    <a:pt x="133968" y="27340"/>
                  </a:cubicBezTo>
                  <a:cubicBezTo>
                    <a:pt x="73819" y="27340"/>
                    <a:pt x="24606" y="76553"/>
                    <a:pt x="24606" y="136702"/>
                  </a:cubicBezTo>
                  <a:cubicBezTo>
                    <a:pt x="24606" y="196850"/>
                    <a:pt x="73819" y="246063"/>
                    <a:pt x="133968" y="246063"/>
                  </a:cubicBezTo>
                  <a:cubicBezTo>
                    <a:pt x="194116" y="246063"/>
                    <a:pt x="243329" y="196850"/>
                    <a:pt x="243329" y="136702"/>
                  </a:cubicBezTo>
                  <a:cubicBezTo>
                    <a:pt x="243329" y="131234"/>
                    <a:pt x="243329" y="128500"/>
                    <a:pt x="243329" y="123032"/>
                  </a:cubicBezTo>
                  <a:lnTo>
                    <a:pt x="270669" y="120297"/>
                  </a:lnTo>
                  <a:cubicBezTo>
                    <a:pt x="270669" y="125766"/>
                    <a:pt x="270669" y="131234"/>
                    <a:pt x="270669" y="136702"/>
                  </a:cubicBezTo>
                  <a:cubicBezTo>
                    <a:pt x="273403" y="213255"/>
                    <a:pt x="213255" y="273403"/>
                    <a:pt x="136702" y="273403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: фигура 133">
              <a:extLst>
                <a:ext uri="{FF2B5EF4-FFF2-40B4-BE49-F238E27FC236}">
                  <a16:creationId xmlns:a16="http://schemas.microsoft.com/office/drawing/2014/main" id="{89511C74-E2F9-4234-BBFF-0CC22AD0E43C}"/>
                </a:ext>
              </a:extLst>
            </p:cNvPr>
            <p:cNvSpPr/>
            <p:nvPr/>
          </p:nvSpPr>
          <p:spPr>
            <a:xfrm>
              <a:off x="3645562" y="2063519"/>
              <a:ext cx="429243" cy="434711"/>
            </a:xfrm>
            <a:custGeom>
              <a:avLst/>
              <a:gdLst>
                <a:gd name="connsiteX0" fmla="*/ 19138 w 429243"/>
                <a:gd name="connsiteY0" fmla="*/ 434712 h 434711"/>
                <a:gd name="connsiteX1" fmla="*/ 0 w 429243"/>
                <a:gd name="connsiteY1" fmla="*/ 415573 h 434711"/>
                <a:gd name="connsiteX2" fmla="*/ 180446 w 429243"/>
                <a:gd name="connsiteY2" fmla="*/ 232393 h 434711"/>
                <a:gd name="connsiteX3" fmla="*/ 164042 w 429243"/>
                <a:gd name="connsiteY3" fmla="*/ 136702 h 434711"/>
                <a:gd name="connsiteX4" fmla="*/ 298010 w 429243"/>
                <a:gd name="connsiteY4" fmla="*/ 0 h 434711"/>
                <a:gd name="connsiteX5" fmla="*/ 322616 w 429243"/>
                <a:gd name="connsiteY5" fmla="*/ 106627 h 434711"/>
                <a:gd name="connsiteX6" fmla="*/ 429243 w 429243"/>
                <a:gd name="connsiteY6" fmla="*/ 136702 h 434711"/>
                <a:gd name="connsiteX7" fmla="*/ 295276 w 429243"/>
                <a:gd name="connsiteY7" fmla="*/ 273403 h 434711"/>
                <a:gd name="connsiteX8" fmla="*/ 199584 w 429243"/>
                <a:gd name="connsiteY8" fmla="*/ 251531 h 434711"/>
                <a:gd name="connsiteX9" fmla="*/ 19138 w 429243"/>
                <a:gd name="connsiteY9" fmla="*/ 434712 h 434711"/>
                <a:gd name="connsiteX10" fmla="*/ 221457 w 429243"/>
                <a:gd name="connsiteY10" fmla="*/ 229659 h 434711"/>
                <a:gd name="connsiteX11" fmla="*/ 287074 w 429243"/>
                <a:gd name="connsiteY11" fmla="*/ 246063 h 434711"/>
                <a:gd name="connsiteX12" fmla="*/ 380031 w 429243"/>
                <a:gd name="connsiteY12" fmla="*/ 153106 h 434711"/>
                <a:gd name="connsiteX13" fmla="*/ 317148 w 429243"/>
                <a:gd name="connsiteY13" fmla="*/ 133968 h 434711"/>
                <a:gd name="connsiteX14" fmla="*/ 221457 w 429243"/>
                <a:gd name="connsiteY14" fmla="*/ 229659 h 434711"/>
                <a:gd name="connsiteX15" fmla="*/ 194116 w 429243"/>
                <a:gd name="connsiteY15" fmla="*/ 147638 h 434711"/>
                <a:gd name="connsiteX16" fmla="*/ 205053 w 429243"/>
                <a:gd name="connsiteY16" fmla="*/ 207787 h 434711"/>
                <a:gd name="connsiteX17" fmla="*/ 298010 w 429243"/>
                <a:gd name="connsiteY17" fmla="*/ 114829 h 434711"/>
                <a:gd name="connsiteX18" fmla="*/ 284339 w 429243"/>
                <a:gd name="connsiteY18" fmla="*/ 54681 h 434711"/>
                <a:gd name="connsiteX19" fmla="*/ 194116 w 429243"/>
                <a:gd name="connsiteY19" fmla="*/ 147638 h 43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9243" h="434711">
                  <a:moveTo>
                    <a:pt x="19138" y="434712"/>
                  </a:moveTo>
                  <a:lnTo>
                    <a:pt x="0" y="415573"/>
                  </a:lnTo>
                  <a:lnTo>
                    <a:pt x="180446" y="232393"/>
                  </a:lnTo>
                  <a:lnTo>
                    <a:pt x="164042" y="136702"/>
                  </a:lnTo>
                  <a:lnTo>
                    <a:pt x="298010" y="0"/>
                  </a:lnTo>
                  <a:lnTo>
                    <a:pt x="322616" y="106627"/>
                  </a:lnTo>
                  <a:lnTo>
                    <a:pt x="429243" y="136702"/>
                  </a:lnTo>
                  <a:lnTo>
                    <a:pt x="295276" y="273403"/>
                  </a:lnTo>
                  <a:lnTo>
                    <a:pt x="199584" y="251531"/>
                  </a:lnTo>
                  <a:lnTo>
                    <a:pt x="19138" y="434712"/>
                  </a:lnTo>
                  <a:close/>
                  <a:moveTo>
                    <a:pt x="221457" y="229659"/>
                  </a:moveTo>
                  <a:lnTo>
                    <a:pt x="287074" y="246063"/>
                  </a:lnTo>
                  <a:lnTo>
                    <a:pt x="380031" y="153106"/>
                  </a:lnTo>
                  <a:lnTo>
                    <a:pt x="317148" y="133968"/>
                  </a:lnTo>
                  <a:lnTo>
                    <a:pt x="221457" y="229659"/>
                  </a:lnTo>
                  <a:close/>
                  <a:moveTo>
                    <a:pt x="194116" y="147638"/>
                  </a:moveTo>
                  <a:lnTo>
                    <a:pt x="205053" y="207787"/>
                  </a:lnTo>
                  <a:lnTo>
                    <a:pt x="298010" y="114829"/>
                  </a:lnTo>
                  <a:lnTo>
                    <a:pt x="284339" y="54681"/>
                  </a:lnTo>
                  <a:lnTo>
                    <a:pt x="194116" y="14763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34">
              <a:extLst>
                <a:ext uri="{FF2B5EF4-FFF2-40B4-BE49-F238E27FC236}">
                  <a16:creationId xmlns:a16="http://schemas.microsoft.com/office/drawing/2014/main" id="{C62CD640-159E-4040-9193-9364816C2F92}"/>
                </a:ext>
              </a:extLst>
            </p:cNvPr>
            <p:cNvSpPr/>
            <p:nvPr/>
          </p:nvSpPr>
          <p:spPr>
            <a:xfrm>
              <a:off x="3872487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35">
              <a:extLst>
                <a:ext uri="{FF2B5EF4-FFF2-40B4-BE49-F238E27FC236}">
                  <a16:creationId xmlns:a16="http://schemas.microsoft.com/office/drawing/2014/main" id="{7693C955-42E4-4F2E-A38C-9FF40CAD7B4B}"/>
                </a:ext>
              </a:extLst>
            </p:cNvPr>
            <p:cNvSpPr/>
            <p:nvPr/>
          </p:nvSpPr>
          <p:spPr>
            <a:xfrm>
              <a:off x="3984582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6" name="Группа 222">
            <a:extLst>
              <a:ext uri="{FF2B5EF4-FFF2-40B4-BE49-F238E27FC236}">
                <a16:creationId xmlns:a16="http://schemas.microsoft.com/office/drawing/2014/main" id="{004DB713-E0A1-4823-A2CE-2C82BB5579DE}"/>
              </a:ext>
            </a:extLst>
          </p:cNvPr>
          <p:cNvGrpSpPr>
            <a:grpSpLocks noChangeAspect="1"/>
          </p:cNvGrpSpPr>
          <p:nvPr/>
        </p:nvGrpSpPr>
        <p:grpSpPr>
          <a:xfrm>
            <a:off x="3838487" y="4781895"/>
            <a:ext cx="327682" cy="320020"/>
            <a:chOff x="4866353" y="3059905"/>
            <a:chExt cx="912634" cy="891295"/>
          </a:xfrm>
          <a:solidFill>
            <a:srgbClr val="FFFFFF"/>
          </a:solidFill>
        </p:grpSpPr>
        <p:sp>
          <p:nvSpPr>
            <p:cNvPr id="117" name="Полилиния: фигура 87">
              <a:extLst>
                <a:ext uri="{FF2B5EF4-FFF2-40B4-BE49-F238E27FC236}">
                  <a16:creationId xmlns:a16="http://schemas.microsoft.com/office/drawing/2014/main" id="{F4C0890F-4276-4619-A996-6538846C56EF}"/>
                </a:ext>
              </a:extLst>
            </p:cNvPr>
            <p:cNvSpPr/>
            <p:nvPr/>
          </p:nvSpPr>
          <p:spPr>
            <a:xfrm>
              <a:off x="4890959" y="3497678"/>
              <a:ext cx="535792" cy="300415"/>
            </a:xfrm>
            <a:custGeom>
              <a:avLst/>
              <a:gdLst>
                <a:gd name="connsiteX0" fmla="*/ 475722 w 535792"/>
                <a:gd name="connsiteY0" fmla="*/ 300416 h 300415"/>
                <a:gd name="connsiteX1" fmla="*/ 415573 w 535792"/>
                <a:gd name="connsiteY1" fmla="*/ 286746 h 300415"/>
                <a:gd name="connsiteX2" fmla="*/ 172244 w 535792"/>
                <a:gd name="connsiteY2" fmla="*/ 210193 h 300415"/>
                <a:gd name="connsiteX3" fmla="*/ 172244 w 535792"/>
                <a:gd name="connsiteY3" fmla="*/ 182852 h 300415"/>
                <a:gd name="connsiteX4" fmla="*/ 423775 w 535792"/>
                <a:gd name="connsiteY4" fmla="*/ 259405 h 300415"/>
                <a:gd name="connsiteX5" fmla="*/ 489393 w 535792"/>
                <a:gd name="connsiteY5" fmla="*/ 267607 h 300415"/>
                <a:gd name="connsiteX6" fmla="*/ 508531 w 535792"/>
                <a:gd name="connsiteY6" fmla="*/ 240267 h 300415"/>
                <a:gd name="connsiteX7" fmla="*/ 489393 w 535792"/>
                <a:gd name="connsiteY7" fmla="*/ 188320 h 300415"/>
                <a:gd name="connsiteX8" fmla="*/ 374563 w 535792"/>
                <a:gd name="connsiteY8" fmla="*/ 125437 h 300415"/>
                <a:gd name="connsiteX9" fmla="*/ 281606 w 535792"/>
                <a:gd name="connsiteY9" fmla="*/ 78959 h 300415"/>
                <a:gd name="connsiteX10" fmla="*/ 177712 w 535792"/>
                <a:gd name="connsiteY10" fmla="*/ 29746 h 300415"/>
                <a:gd name="connsiteX11" fmla="*/ 13670 w 535792"/>
                <a:gd name="connsiteY11" fmla="*/ 57087 h 300415"/>
                <a:gd name="connsiteX12" fmla="*/ 8202 w 535792"/>
                <a:gd name="connsiteY12" fmla="*/ 59821 h 300415"/>
                <a:gd name="connsiteX13" fmla="*/ 0 w 535792"/>
                <a:gd name="connsiteY13" fmla="*/ 32480 h 300415"/>
                <a:gd name="connsiteX14" fmla="*/ 5468 w 535792"/>
                <a:gd name="connsiteY14" fmla="*/ 29746 h 300415"/>
                <a:gd name="connsiteX15" fmla="*/ 180446 w 535792"/>
                <a:gd name="connsiteY15" fmla="*/ 2406 h 300415"/>
                <a:gd name="connsiteX16" fmla="*/ 292542 w 535792"/>
                <a:gd name="connsiteY16" fmla="*/ 54353 h 300415"/>
                <a:gd name="connsiteX17" fmla="*/ 382765 w 535792"/>
                <a:gd name="connsiteY17" fmla="*/ 100831 h 300415"/>
                <a:gd name="connsiteX18" fmla="*/ 505797 w 535792"/>
                <a:gd name="connsiteY18" fmla="*/ 169182 h 300415"/>
                <a:gd name="connsiteX19" fmla="*/ 533137 w 535792"/>
                <a:gd name="connsiteY19" fmla="*/ 248469 h 300415"/>
                <a:gd name="connsiteX20" fmla="*/ 500329 w 535792"/>
                <a:gd name="connsiteY20" fmla="*/ 289480 h 300415"/>
                <a:gd name="connsiteX21" fmla="*/ 475722 w 535792"/>
                <a:gd name="connsiteY21" fmla="*/ 300416 h 300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35792" h="300415">
                  <a:moveTo>
                    <a:pt x="475722" y="300416"/>
                  </a:moveTo>
                  <a:cubicBezTo>
                    <a:pt x="459318" y="300416"/>
                    <a:pt x="440180" y="294948"/>
                    <a:pt x="415573" y="286746"/>
                  </a:cubicBezTo>
                  <a:cubicBezTo>
                    <a:pt x="349957" y="259405"/>
                    <a:pt x="185914" y="212927"/>
                    <a:pt x="172244" y="210193"/>
                  </a:cubicBezTo>
                  <a:lnTo>
                    <a:pt x="172244" y="182852"/>
                  </a:lnTo>
                  <a:cubicBezTo>
                    <a:pt x="185914" y="182852"/>
                    <a:pt x="360893" y="234799"/>
                    <a:pt x="423775" y="259405"/>
                  </a:cubicBezTo>
                  <a:cubicBezTo>
                    <a:pt x="453850" y="270341"/>
                    <a:pt x="475722" y="273075"/>
                    <a:pt x="489393" y="267607"/>
                  </a:cubicBezTo>
                  <a:cubicBezTo>
                    <a:pt x="500329" y="262139"/>
                    <a:pt x="503063" y="253937"/>
                    <a:pt x="508531" y="240267"/>
                  </a:cubicBezTo>
                  <a:cubicBezTo>
                    <a:pt x="508531" y="237533"/>
                    <a:pt x="516733" y="215661"/>
                    <a:pt x="489393" y="188320"/>
                  </a:cubicBezTo>
                  <a:cubicBezTo>
                    <a:pt x="472988" y="171916"/>
                    <a:pt x="421042" y="147310"/>
                    <a:pt x="374563" y="125437"/>
                  </a:cubicBezTo>
                  <a:cubicBezTo>
                    <a:pt x="341754" y="109033"/>
                    <a:pt x="308946" y="92629"/>
                    <a:pt x="281606" y="78959"/>
                  </a:cubicBezTo>
                  <a:cubicBezTo>
                    <a:pt x="232393" y="48885"/>
                    <a:pt x="207787" y="35214"/>
                    <a:pt x="177712" y="29746"/>
                  </a:cubicBezTo>
                  <a:cubicBezTo>
                    <a:pt x="136702" y="21544"/>
                    <a:pt x="90223" y="35214"/>
                    <a:pt x="13670" y="57087"/>
                  </a:cubicBezTo>
                  <a:lnTo>
                    <a:pt x="8202" y="59821"/>
                  </a:lnTo>
                  <a:lnTo>
                    <a:pt x="0" y="32480"/>
                  </a:lnTo>
                  <a:lnTo>
                    <a:pt x="5468" y="29746"/>
                  </a:lnTo>
                  <a:cubicBezTo>
                    <a:pt x="82021" y="7874"/>
                    <a:pt x="133968" y="-5796"/>
                    <a:pt x="180446" y="2406"/>
                  </a:cubicBezTo>
                  <a:cubicBezTo>
                    <a:pt x="213255" y="7874"/>
                    <a:pt x="240595" y="24278"/>
                    <a:pt x="292542" y="54353"/>
                  </a:cubicBezTo>
                  <a:cubicBezTo>
                    <a:pt x="317148" y="68023"/>
                    <a:pt x="349957" y="84427"/>
                    <a:pt x="382765" y="100831"/>
                  </a:cubicBezTo>
                  <a:cubicBezTo>
                    <a:pt x="434712" y="125437"/>
                    <a:pt x="483924" y="150044"/>
                    <a:pt x="505797" y="169182"/>
                  </a:cubicBezTo>
                  <a:cubicBezTo>
                    <a:pt x="544073" y="207459"/>
                    <a:pt x="535871" y="243001"/>
                    <a:pt x="533137" y="248469"/>
                  </a:cubicBezTo>
                  <a:cubicBezTo>
                    <a:pt x="530403" y="259405"/>
                    <a:pt x="522201" y="281278"/>
                    <a:pt x="500329" y="289480"/>
                  </a:cubicBezTo>
                  <a:cubicBezTo>
                    <a:pt x="494861" y="297682"/>
                    <a:pt x="486658" y="300416"/>
                    <a:pt x="475722" y="30041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88">
              <a:extLst>
                <a:ext uri="{FF2B5EF4-FFF2-40B4-BE49-F238E27FC236}">
                  <a16:creationId xmlns:a16="http://schemas.microsoft.com/office/drawing/2014/main" id="{6B7D8D7F-AD8B-45BE-AD0E-92D52335131B}"/>
                </a:ext>
              </a:extLst>
            </p:cNvPr>
            <p:cNvSpPr/>
            <p:nvPr/>
          </p:nvSpPr>
          <p:spPr>
            <a:xfrm>
              <a:off x="4866353" y="3597482"/>
              <a:ext cx="912634" cy="353718"/>
            </a:xfrm>
            <a:custGeom>
              <a:avLst/>
              <a:gdLst>
                <a:gd name="connsiteX0" fmla="*/ 374563 w 912634"/>
                <a:gd name="connsiteY0" fmla="*/ 353718 h 353718"/>
                <a:gd name="connsiteX1" fmla="*/ 311680 w 912634"/>
                <a:gd name="connsiteY1" fmla="*/ 348250 h 353718"/>
                <a:gd name="connsiteX2" fmla="*/ 0 w 912634"/>
                <a:gd name="connsiteY2" fmla="*/ 241623 h 353718"/>
                <a:gd name="connsiteX3" fmla="*/ 10936 w 912634"/>
                <a:gd name="connsiteY3" fmla="*/ 217016 h 353718"/>
                <a:gd name="connsiteX4" fmla="*/ 317148 w 912634"/>
                <a:gd name="connsiteY4" fmla="*/ 320910 h 353718"/>
                <a:gd name="connsiteX5" fmla="*/ 415573 w 912634"/>
                <a:gd name="connsiteY5" fmla="*/ 323644 h 353718"/>
                <a:gd name="connsiteX6" fmla="*/ 590551 w 912634"/>
                <a:gd name="connsiteY6" fmla="*/ 252559 h 353718"/>
                <a:gd name="connsiteX7" fmla="*/ 743658 w 912634"/>
                <a:gd name="connsiteY7" fmla="*/ 170538 h 353718"/>
                <a:gd name="connsiteX8" fmla="*/ 754593 w 912634"/>
                <a:gd name="connsiteY8" fmla="*/ 165070 h 353718"/>
                <a:gd name="connsiteX9" fmla="*/ 773732 w 912634"/>
                <a:gd name="connsiteY9" fmla="*/ 154134 h 353718"/>
                <a:gd name="connsiteX10" fmla="*/ 880359 w 912634"/>
                <a:gd name="connsiteY10" fmla="*/ 66644 h 353718"/>
                <a:gd name="connsiteX11" fmla="*/ 874891 w 912634"/>
                <a:gd name="connsiteY11" fmla="*/ 42038 h 353718"/>
                <a:gd name="connsiteX12" fmla="*/ 770998 w 912634"/>
                <a:gd name="connsiteY12" fmla="*/ 50240 h 353718"/>
                <a:gd name="connsiteX13" fmla="*/ 686243 w 912634"/>
                <a:gd name="connsiteY13" fmla="*/ 88517 h 353718"/>
                <a:gd name="connsiteX14" fmla="*/ 623360 w 912634"/>
                <a:gd name="connsiteY14" fmla="*/ 115857 h 353718"/>
                <a:gd name="connsiteX15" fmla="*/ 612424 w 912634"/>
                <a:gd name="connsiteY15" fmla="*/ 91251 h 353718"/>
                <a:gd name="connsiteX16" fmla="*/ 678041 w 912634"/>
                <a:gd name="connsiteY16" fmla="*/ 63910 h 353718"/>
                <a:gd name="connsiteX17" fmla="*/ 762796 w 912634"/>
                <a:gd name="connsiteY17" fmla="*/ 25634 h 353718"/>
                <a:gd name="connsiteX18" fmla="*/ 902232 w 912634"/>
                <a:gd name="connsiteY18" fmla="*/ 28368 h 353718"/>
                <a:gd name="connsiteX19" fmla="*/ 910434 w 912634"/>
                <a:gd name="connsiteY19" fmla="*/ 74847 h 353718"/>
                <a:gd name="connsiteX20" fmla="*/ 790136 w 912634"/>
                <a:gd name="connsiteY20" fmla="*/ 178740 h 353718"/>
                <a:gd name="connsiteX21" fmla="*/ 770998 w 912634"/>
                <a:gd name="connsiteY21" fmla="*/ 189676 h 353718"/>
                <a:gd name="connsiteX22" fmla="*/ 757328 w 912634"/>
                <a:gd name="connsiteY22" fmla="*/ 195144 h 353718"/>
                <a:gd name="connsiteX23" fmla="*/ 604222 w 912634"/>
                <a:gd name="connsiteY23" fmla="*/ 274431 h 353718"/>
                <a:gd name="connsiteX24" fmla="*/ 418307 w 912634"/>
                <a:gd name="connsiteY24" fmla="*/ 348250 h 353718"/>
                <a:gd name="connsiteX25" fmla="*/ 374563 w 912634"/>
                <a:gd name="connsiteY25" fmla="*/ 353718 h 35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12634" h="353718">
                  <a:moveTo>
                    <a:pt x="374563" y="353718"/>
                  </a:moveTo>
                  <a:cubicBezTo>
                    <a:pt x="344488" y="353718"/>
                    <a:pt x="322616" y="350984"/>
                    <a:pt x="311680" y="348250"/>
                  </a:cubicBezTo>
                  <a:cubicBezTo>
                    <a:pt x="287074" y="342782"/>
                    <a:pt x="62883" y="266229"/>
                    <a:pt x="0" y="241623"/>
                  </a:cubicBezTo>
                  <a:lnTo>
                    <a:pt x="10936" y="217016"/>
                  </a:lnTo>
                  <a:cubicBezTo>
                    <a:pt x="71085" y="238889"/>
                    <a:pt x="292542" y="315442"/>
                    <a:pt x="317148" y="320910"/>
                  </a:cubicBezTo>
                  <a:cubicBezTo>
                    <a:pt x="330818" y="323644"/>
                    <a:pt x="369095" y="329112"/>
                    <a:pt x="415573" y="323644"/>
                  </a:cubicBezTo>
                  <a:cubicBezTo>
                    <a:pt x="464786" y="315442"/>
                    <a:pt x="513999" y="293569"/>
                    <a:pt x="590551" y="252559"/>
                  </a:cubicBezTo>
                  <a:cubicBezTo>
                    <a:pt x="664371" y="211548"/>
                    <a:pt x="721785" y="184208"/>
                    <a:pt x="743658" y="170538"/>
                  </a:cubicBezTo>
                  <a:cubicBezTo>
                    <a:pt x="749125" y="167804"/>
                    <a:pt x="754593" y="165070"/>
                    <a:pt x="754593" y="165070"/>
                  </a:cubicBezTo>
                  <a:cubicBezTo>
                    <a:pt x="760062" y="162336"/>
                    <a:pt x="768264" y="156868"/>
                    <a:pt x="773732" y="154134"/>
                  </a:cubicBezTo>
                  <a:cubicBezTo>
                    <a:pt x="812008" y="132261"/>
                    <a:pt x="872157" y="99453"/>
                    <a:pt x="880359" y="66644"/>
                  </a:cubicBezTo>
                  <a:cubicBezTo>
                    <a:pt x="883093" y="58442"/>
                    <a:pt x="880359" y="50240"/>
                    <a:pt x="874891" y="42038"/>
                  </a:cubicBezTo>
                  <a:cubicBezTo>
                    <a:pt x="863955" y="25634"/>
                    <a:pt x="844817" y="14698"/>
                    <a:pt x="770998" y="50240"/>
                  </a:cubicBezTo>
                  <a:cubicBezTo>
                    <a:pt x="746392" y="61176"/>
                    <a:pt x="727253" y="69378"/>
                    <a:pt x="686243" y="88517"/>
                  </a:cubicBezTo>
                  <a:lnTo>
                    <a:pt x="623360" y="115857"/>
                  </a:lnTo>
                  <a:lnTo>
                    <a:pt x="612424" y="91251"/>
                  </a:lnTo>
                  <a:lnTo>
                    <a:pt x="678041" y="63910"/>
                  </a:lnTo>
                  <a:cubicBezTo>
                    <a:pt x="719051" y="47506"/>
                    <a:pt x="738190" y="39304"/>
                    <a:pt x="762796" y="25634"/>
                  </a:cubicBezTo>
                  <a:cubicBezTo>
                    <a:pt x="814743" y="1028"/>
                    <a:pt x="872157" y="-18111"/>
                    <a:pt x="902232" y="28368"/>
                  </a:cubicBezTo>
                  <a:cubicBezTo>
                    <a:pt x="910434" y="42038"/>
                    <a:pt x="915902" y="58442"/>
                    <a:pt x="910434" y="74847"/>
                  </a:cubicBezTo>
                  <a:cubicBezTo>
                    <a:pt x="899497" y="118591"/>
                    <a:pt x="839349" y="151400"/>
                    <a:pt x="790136" y="178740"/>
                  </a:cubicBezTo>
                  <a:cubicBezTo>
                    <a:pt x="781934" y="181474"/>
                    <a:pt x="776466" y="186942"/>
                    <a:pt x="770998" y="189676"/>
                  </a:cubicBezTo>
                  <a:cubicBezTo>
                    <a:pt x="770998" y="189676"/>
                    <a:pt x="765530" y="192410"/>
                    <a:pt x="757328" y="195144"/>
                  </a:cubicBezTo>
                  <a:cubicBezTo>
                    <a:pt x="735455" y="206080"/>
                    <a:pt x="680775" y="236155"/>
                    <a:pt x="604222" y="274431"/>
                  </a:cubicBezTo>
                  <a:cubicBezTo>
                    <a:pt x="524935" y="318176"/>
                    <a:pt x="472988" y="340048"/>
                    <a:pt x="418307" y="348250"/>
                  </a:cubicBezTo>
                  <a:cubicBezTo>
                    <a:pt x="401903" y="353718"/>
                    <a:pt x="388233" y="353718"/>
                    <a:pt x="374563" y="353718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89">
              <a:extLst>
                <a:ext uri="{FF2B5EF4-FFF2-40B4-BE49-F238E27FC236}">
                  <a16:creationId xmlns:a16="http://schemas.microsoft.com/office/drawing/2014/main" id="{B8D001F9-43E8-4270-B2E6-8704E117DC0F}"/>
                </a:ext>
              </a:extLst>
            </p:cNvPr>
            <p:cNvSpPr/>
            <p:nvPr/>
          </p:nvSpPr>
          <p:spPr>
            <a:xfrm rot="18931600">
              <a:off x="5372738" y="3394946"/>
              <a:ext cx="199591" cy="194122"/>
            </a:xfrm>
            <a:custGeom>
              <a:avLst/>
              <a:gdLst>
                <a:gd name="connsiteX0" fmla="*/ 0 w 199591"/>
                <a:gd name="connsiteY0" fmla="*/ 0 h 194122"/>
                <a:gd name="connsiteX1" fmla="*/ 199591 w 199591"/>
                <a:gd name="connsiteY1" fmla="*/ 0 h 194122"/>
                <a:gd name="connsiteX2" fmla="*/ 199591 w 199591"/>
                <a:gd name="connsiteY2" fmla="*/ 194123 h 194122"/>
                <a:gd name="connsiteX3" fmla="*/ 0 w 199591"/>
                <a:gd name="connsiteY3" fmla="*/ 194123 h 19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591" h="194122">
                  <a:moveTo>
                    <a:pt x="0" y="0"/>
                  </a:moveTo>
                  <a:lnTo>
                    <a:pt x="199591" y="0"/>
                  </a:lnTo>
                  <a:lnTo>
                    <a:pt x="199591" y="194123"/>
                  </a:lnTo>
                  <a:lnTo>
                    <a:pt x="0" y="194123"/>
                  </a:lnTo>
                  <a:close/>
                </a:path>
              </a:pathLst>
            </a:custGeom>
            <a:grpFill/>
            <a:ln w="27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: фигура 90">
              <a:extLst>
                <a:ext uri="{FF2B5EF4-FFF2-40B4-BE49-F238E27FC236}">
                  <a16:creationId xmlns:a16="http://schemas.microsoft.com/office/drawing/2014/main" id="{59123B76-2956-46D9-AF7A-06BFD832EADC}"/>
                </a:ext>
              </a:extLst>
            </p:cNvPr>
            <p:cNvSpPr/>
            <p:nvPr/>
          </p:nvSpPr>
          <p:spPr>
            <a:xfrm>
              <a:off x="5415894" y="3059905"/>
              <a:ext cx="292542" cy="292541"/>
            </a:xfrm>
            <a:custGeom>
              <a:avLst/>
              <a:gdLst>
                <a:gd name="connsiteX0" fmla="*/ 142170 w 292542"/>
                <a:gd name="connsiteY0" fmla="*/ 292542 h 292541"/>
                <a:gd name="connsiteX1" fmla="*/ 0 w 292542"/>
                <a:gd name="connsiteY1" fmla="*/ 147638 h 292541"/>
                <a:gd name="connsiteX2" fmla="*/ 150372 w 292542"/>
                <a:gd name="connsiteY2" fmla="*/ 0 h 292541"/>
                <a:gd name="connsiteX3" fmla="*/ 292542 w 292542"/>
                <a:gd name="connsiteY3" fmla="*/ 144904 h 292541"/>
                <a:gd name="connsiteX4" fmla="*/ 142170 w 292542"/>
                <a:gd name="connsiteY4" fmla="*/ 292542 h 292541"/>
                <a:gd name="connsiteX5" fmla="*/ 35543 w 292542"/>
                <a:gd name="connsiteY5" fmla="*/ 144904 h 292541"/>
                <a:gd name="connsiteX6" fmla="*/ 139436 w 292542"/>
                <a:gd name="connsiteY6" fmla="*/ 251531 h 292541"/>
                <a:gd name="connsiteX7" fmla="*/ 248797 w 292542"/>
                <a:gd name="connsiteY7" fmla="*/ 142170 h 292541"/>
                <a:gd name="connsiteX8" fmla="*/ 144904 w 292542"/>
                <a:gd name="connsiteY8" fmla="*/ 35543 h 292541"/>
                <a:gd name="connsiteX9" fmla="*/ 35543 w 292542"/>
                <a:gd name="connsiteY9" fmla="*/ 144904 h 29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542" h="292541">
                  <a:moveTo>
                    <a:pt x="142170" y="292542"/>
                  </a:moveTo>
                  <a:lnTo>
                    <a:pt x="0" y="147638"/>
                  </a:lnTo>
                  <a:lnTo>
                    <a:pt x="150372" y="0"/>
                  </a:lnTo>
                  <a:lnTo>
                    <a:pt x="292542" y="144904"/>
                  </a:lnTo>
                  <a:lnTo>
                    <a:pt x="142170" y="292542"/>
                  </a:lnTo>
                  <a:close/>
                  <a:moveTo>
                    <a:pt x="35543" y="144904"/>
                  </a:moveTo>
                  <a:lnTo>
                    <a:pt x="139436" y="251531"/>
                  </a:lnTo>
                  <a:lnTo>
                    <a:pt x="248797" y="142170"/>
                  </a:lnTo>
                  <a:lnTo>
                    <a:pt x="144904" y="35543"/>
                  </a:lnTo>
                  <a:lnTo>
                    <a:pt x="35543" y="14490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: фигура 91">
              <a:extLst>
                <a:ext uri="{FF2B5EF4-FFF2-40B4-BE49-F238E27FC236}">
                  <a16:creationId xmlns:a16="http://schemas.microsoft.com/office/drawing/2014/main" id="{613A1644-B52C-46EC-81BA-0CCCB4698371}"/>
                </a:ext>
              </a:extLst>
            </p:cNvPr>
            <p:cNvSpPr/>
            <p:nvPr/>
          </p:nvSpPr>
          <p:spPr>
            <a:xfrm>
              <a:off x="5128820" y="3163798"/>
              <a:ext cx="292542" cy="292541"/>
            </a:xfrm>
            <a:custGeom>
              <a:avLst/>
              <a:gdLst>
                <a:gd name="connsiteX0" fmla="*/ 142170 w 292542"/>
                <a:gd name="connsiteY0" fmla="*/ 292542 h 292541"/>
                <a:gd name="connsiteX1" fmla="*/ 0 w 292542"/>
                <a:gd name="connsiteY1" fmla="*/ 147638 h 292541"/>
                <a:gd name="connsiteX2" fmla="*/ 150372 w 292542"/>
                <a:gd name="connsiteY2" fmla="*/ 0 h 292541"/>
                <a:gd name="connsiteX3" fmla="*/ 292542 w 292542"/>
                <a:gd name="connsiteY3" fmla="*/ 144904 h 292541"/>
                <a:gd name="connsiteX4" fmla="*/ 142170 w 292542"/>
                <a:gd name="connsiteY4" fmla="*/ 292542 h 292541"/>
                <a:gd name="connsiteX5" fmla="*/ 38277 w 292542"/>
                <a:gd name="connsiteY5" fmla="*/ 144904 h 292541"/>
                <a:gd name="connsiteX6" fmla="*/ 142170 w 292542"/>
                <a:gd name="connsiteY6" fmla="*/ 251531 h 292541"/>
                <a:gd name="connsiteX7" fmla="*/ 251532 w 292542"/>
                <a:gd name="connsiteY7" fmla="*/ 142170 h 292541"/>
                <a:gd name="connsiteX8" fmla="*/ 147638 w 292542"/>
                <a:gd name="connsiteY8" fmla="*/ 35542 h 292541"/>
                <a:gd name="connsiteX9" fmla="*/ 38277 w 292542"/>
                <a:gd name="connsiteY9" fmla="*/ 144904 h 29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542" h="292541">
                  <a:moveTo>
                    <a:pt x="142170" y="292542"/>
                  </a:moveTo>
                  <a:lnTo>
                    <a:pt x="0" y="147638"/>
                  </a:lnTo>
                  <a:lnTo>
                    <a:pt x="150372" y="0"/>
                  </a:lnTo>
                  <a:lnTo>
                    <a:pt x="292542" y="144904"/>
                  </a:lnTo>
                  <a:lnTo>
                    <a:pt x="142170" y="292542"/>
                  </a:lnTo>
                  <a:close/>
                  <a:moveTo>
                    <a:pt x="38277" y="144904"/>
                  </a:moveTo>
                  <a:lnTo>
                    <a:pt x="142170" y="251531"/>
                  </a:lnTo>
                  <a:lnTo>
                    <a:pt x="251532" y="142170"/>
                  </a:lnTo>
                  <a:lnTo>
                    <a:pt x="147638" y="35542"/>
                  </a:lnTo>
                  <a:lnTo>
                    <a:pt x="38277" y="14490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22" name="Группа 289">
            <a:extLst>
              <a:ext uri="{FF2B5EF4-FFF2-40B4-BE49-F238E27FC236}">
                <a16:creationId xmlns:a16="http://schemas.microsoft.com/office/drawing/2014/main" id="{199E247B-0376-4F3F-89F8-831749689146}"/>
              </a:ext>
            </a:extLst>
          </p:cNvPr>
          <p:cNvGrpSpPr>
            <a:grpSpLocks noChangeAspect="1"/>
          </p:cNvGrpSpPr>
          <p:nvPr/>
        </p:nvGrpSpPr>
        <p:grpSpPr>
          <a:xfrm>
            <a:off x="3818864" y="5607377"/>
            <a:ext cx="332087" cy="328477"/>
            <a:chOff x="1075086" y="2781158"/>
            <a:chExt cx="754449" cy="746248"/>
          </a:xfrm>
          <a:solidFill>
            <a:srgbClr val="FFFFFF"/>
          </a:solidFill>
        </p:grpSpPr>
        <p:sp>
          <p:nvSpPr>
            <p:cNvPr id="123" name="Полилиния: фигура 52">
              <a:extLst>
                <a:ext uri="{FF2B5EF4-FFF2-40B4-BE49-F238E27FC236}">
                  <a16:creationId xmlns:a16="http://schemas.microsoft.com/office/drawing/2014/main" id="{834EA2EC-3D91-4421-88A8-86E050A83F20}"/>
                </a:ext>
              </a:extLst>
            </p:cNvPr>
            <p:cNvSpPr/>
            <p:nvPr/>
          </p:nvSpPr>
          <p:spPr>
            <a:xfrm>
              <a:off x="1378506" y="3379797"/>
              <a:ext cx="150343" cy="147609"/>
            </a:xfrm>
            <a:custGeom>
              <a:avLst/>
              <a:gdLst>
                <a:gd name="connsiteX0" fmla="*/ 0 w 150343"/>
                <a:gd name="connsiteY0" fmla="*/ 0 h 147609"/>
                <a:gd name="connsiteX1" fmla="*/ 150343 w 150343"/>
                <a:gd name="connsiteY1" fmla="*/ 0 h 147609"/>
                <a:gd name="connsiteX2" fmla="*/ 150343 w 150343"/>
                <a:gd name="connsiteY2" fmla="*/ 147610 h 147609"/>
                <a:gd name="connsiteX3" fmla="*/ 0 w 150343"/>
                <a:gd name="connsiteY3" fmla="*/ 147610 h 147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43" h="147609">
                  <a:moveTo>
                    <a:pt x="0" y="0"/>
                  </a:moveTo>
                  <a:lnTo>
                    <a:pt x="150343" y="0"/>
                  </a:lnTo>
                  <a:lnTo>
                    <a:pt x="150343" y="147610"/>
                  </a:lnTo>
                  <a:lnTo>
                    <a:pt x="0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53">
              <a:extLst>
                <a:ext uri="{FF2B5EF4-FFF2-40B4-BE49-F238E27FC236}">
                  <a16:creationId xmlns:a16="http://schemas.microsoft.com/office/drawing/2014/main" id="{B9BD84B1-4EDA-4B0D-8F66-0A637673B1D4}"/>
                </a:ext>
              </a:extLst>
            </p:cNvPr>
            <p:cNvSpPr/>
            <p:nvPr/>
          </p:nvSpPr>
          <p:spPr>
            <a:xfrm>
              <a:off x="1378506" y="2781158"/>
              <a:ext cx="150343" cy="147609"/>
            </a:xfrm>
            <a:custGeom>
              <a:avLst/>
              <a:gdLst>
                <a:gd name="connsiteX0" fmla="*/ 0 w 150343"/>
                <a:gd name="connsiteY0" fmla="*/ 0 h 147609"/>
                <a:gd name="connsiteX1" fmla="*/ 150343 w 150343"/>
                <a:gd name="connsiteY1" fmla="*/ 0 h 147609"/>
                <a:gd name="connsiteX2" fmla="*/ 150343 w 150343"/>
                <a:gd name="connsiteY2" fmla="*/ 147610 h 147609"/>
                <a:gd name="connsiteX3" fmla="*/ 0 w 150343"/>
                <a:gd name="connsiteY3" fmla="*/ 147610 h 147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43" h="147609">
                  <a:moveTo>
                    <a:pt x="0" y="0"/>
                  </a:moveTo>
                  <a:lnTo>
                    <a:pt x="150343" y="0"/>
                  </a:lnTo>
                  <a:lnTo>
                    <a:pt x="150343" y="147610"/>
                  </a:lnTo>
                  <a:lnTo>
                    <a:pt x="0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54">
              <a:extLst>
                <a:ext uri="{FF2B5EF4-FFF2-40B4-BE49-F238E27FC236}">
                  <a16:creationId xmlns:a16="http://schemas.microsoft.com/office/drawing/2014/main" id="{AEF68556-C0D3-4F2C-B079-7D1C66B9071C}"/>
                </a:ext>
              </a:extLst>
            </p:cNvPr>
            <p:cNvSpPr/>
            <p:nvPr/>
          </p:nvSpPr>
          <p:spPr>
            <a:xfrm>
              <a:off x="1651857" y="3068177"/>
              <a:ext cx="177678" cy="174944"/>
            </a:xfrm>
            <a:custGeom>
              <a:avLst/>
              <a:gdLst>
                <a:gd name="connsiteX0" fmla="*/ 177678 w 177678"/>
                <a:gd name="connsiteY0" fmla="*/ 174945 h 174944"/>
                <a:gd name="connsiteX1" fmla="*/ 0 w 177678"/>
                <a:gd name="connsiteY1" fmla="*/ 174945 h 174944"/>
                <a:gd name="connsiteX2" fmla="*/ 0 w 177678"/>
                <a:gd name="connsiteY2" fmla="*/ 0 h 174944"/>
                <a:gd name="connsiteX3" fmla="*/ 177678 w 177678"/>
                <a:gd name="connsiteY3" fmla="*/ 0 h 174944"/>
                <a:gd name="connsiteX4" fmla="*/ 177678 w 177678"/>
                <a:gd name="connsiteY4" fmla="*/ 174945 h 174944"/>
                <a:gd name="connsiteX5" fmla="*/ 27335 w 177678"/>
                <a:gd name="connsiteY5" fmla="*/ 147610 h 174944"/>
                <a:gd name="connsiteX6" fmla="*/ 150343 w 177678"/>
                <a:gd name="connsiteY6" fmla="*/ 147610 h 174944"/>
                <a:gd name="connsiteX7" fmla="*/ 150343 w 177678"/>
                <a:gd name="connsiteY7" fmla="*/ 27335 h 174944"/>
                <a:gd name="connsiteX8" fmla="*/ 27335 w 177678"/>
                <a:gd name="connsiteY8" fmla="*/ 27335 h 174944"/>
                <a:gd name="connsiteX9" fmla="*/ 27335 w 177678"/>
                <a:gd name="connsiteY9" fmla="*/ 147610 h 17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7678" h="174944">
                  <a:moveTo>
                    <a:pt x="177678" y="174945"/>
                  </a:moveTo>
                  <a:lnTo>
                    <a:pt x="0" y="174945"/>
                  </a:lnTo>
                  <a:lnTo>
                    <a:pt x="0" y="0"/>
                  </a:lnTo>
                  <a:lnTo>
                    <a:pt x="177678" y="0"/>
                  </a:lnTo>
                  <a:lnTo>
                    <a:pt x="177678" y="174945"/>
                  </a:lnTo>
                  <a:close/>
                  <a:moveTo>
                    <a:pt x="27335" y="147610"/>
                  </a:moveTo>
                  <a:lnTo>
                    <a:pt x="150343" y="147610"/>
                  </a:lnTo>
                  <a:lnTo>
                    <a:pt x="150343" y="27335"/>
                  </a:lnTo>
                  <a:lnTo>
                    <a:pt x="27335" y="27335"/>
                  </a:lnTo>
                  <a:lnTo>
                    <a:pt x="27335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55">
              <a:extLst>
                <a:ext uri="{FF2B5EF4-FFF2-40B4-BE49-F238E27FC236}">
                  <a16:creationId xmlns:a16="http://schemas.microsoft.com/office/drawing/2014/main" id="{CD3073F1-EE9C-4431-8AEA-FB04E33513FC}"/>
                </a:ext>
              </a:extLst>
            </p:cNvPr>
            <p:cNvSpPr/>
            <p:nvPr/>
          </p:nvSpPr>
          <p:spPr>
            <a:xfrm>
              <a:off x="1558918" y="2874097"/>
              <a:ext cx="180411" cy="183145"/>
            </a:xfrm>
            <a:custGeom>
              <a:avLst/>
              <a:gdLst>
                <a:gd name="connsiteX0" fmla="*/ 153077 w 180411"/>
                <a:gd name="connsiteY0" fmla="*/ 183145 h 183145"/>
                <a:gd name="connsiteX1" fmla="*/ 0 w 180411"/>
                <a:gd name="connsiteY1" fmla="*/ 24602 h 183145"/>
                <a:gd name="connsiteX2" fmla="*/ 10934 w 180411"/>
                <a:gd name="connsiteY2" fmla="*/ 0 h 183145"/>
                <a:gd name="connsiteX3" fmla="*/ 180412 w 180411"/>
                <a:gd name="connsiteY3" fmla="*/ 174945 h 183145"/>
                <a:gd name="connsiteX4" fmla="*/ 153077 w 180411"/>
                <a:gd name="connsiteY4" fmla="*/ 183145 h 183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411" h="183145">
                  <a:moveTo>
                    <a:pt x="153077" y="183145"/>
                  </a:moveTo>
                  <a:cubicBezTo>
                    <a:pt x="125742" y="112074"/>
                    <a:pt x="71071" y="51937"/>
                    <a:pt x="0" y="24602"/>
                  </a:cubicBezTo>
                  <a:lnTo>
                    <a:pt x="10934" y="0"/>
                  </a:lnTo>
                  <a:cubicBezTo>
                    <a:pt x="90206" y="32802"/>
                    <a:pt x="150343" y="95673"/>
                    <a:pt x="180412" y="174945"/>
                  </a:cubicBezTo>
                  <a:lnTo>
                    <a:pt x="153077" y="183145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56">
              <a:extLst>
                <a:ext uri="{FF2B5EF4-FFF2-40B4-BE49-F238E27FC236}">
                  <a16:creationId xmlns:a16="http://schemas.microsoft.com/office/drawing/2014/main" id="{0C56CCC8-CDE1-4929-A621-4B5BBAA6062B}"/>
                </a:ext>
              </a:extLst>
            </p:cNvPr>
            <p:cNvSpPr/>
            <p:nvPr/>
          </p:nvSpPr>
          <p:spPr>
            <a:xfrm>
              <a:off x="1556184" y="3270457"/>
              <a:ext cx="172211" cy="164010"/>
            </a:xfrm>
            <a:custGeom>
              <a:avLst/>
              <a:gdLst>
                <a:gd name="connsiteX0" fmla="*/ 10934 w 172211"/>
                <a:gd name="connsiteY0" fmla="*/ 164011 h 164010"/>
                <a:gd name="connsiteX1" fmla="*/ 0 w 172211"/>
                <a:gd name="connsiteY1" fmla="*/ 139409 h 164010"/>
                <a:gd name="connsiteX2" fmla="*/ 144876 w 172211"/>
                <a:gd name="connsiteY2" fmla="*/ 0 h 164010"/>
                <a:gd name="connsiteX3" fmla="*/ 172211 w 172211"/>
                <a:gd name="connsiteY3" fmla="*/ 8201 h 164010"/>
                <a:gd name="connsiteX4" fmla="*/ 10934 w 172211"/>
                <a:gd name="connsiteY4" fmla="*/ 164011 h 16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211" h="164010">
                  <a:moveTo>
                    <a:pt x="10934" y="164011"/>
                  </a:moveTo>
                  <a:lnTo>
                    <a:pt x="0" y="139409"/>
                  </a:lnTo>
                  <a:cubicBezTo>
                    <a:pt x="65604" y="112074"/>
                    <a:pt x="117541" y="62871"/>
                    <a:pt x="144876" y="0"/>
                  </a:cubicBezTo>
                  <a:lnTo>
                    <a:pt x="172211" y="8201"/>
                  </a:lnTo>
                  <a:cubicBezTo>
                    <a:pt x="139409" y="79272"/>
                    <a:pt x="82005" y="133942"/>
                    <a:pt x="10934" y="164011"/>
                  </a:cubicBez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57">
              <a:extLst>
                <a:ext uri="{FF2B5EF4-FFF2-40B4-BE49-F238E27FC236}">
                  <a16:creationId xmlns:a16="http://schemas.microsoft.com/office/drawing/2014/main" id="{B8C1CDEE-F505-4EF8-B9AC-D8C931959F51}"/>
                </a:ext>
              </a:extLst>
            </p:cNvPr>
            <p:cNvSpPr/>
            <p:nvPr/>
          </p:nvSpPr>
          <p:spPr>
            <a:xfrm>
              <a:off x="1170759" y="3254056"/>
              <a:ext cx="185878" cy="183145"/>
            </a:xfrm>
            <a:custGeom>
              <a:avLst/>
              <a:gdLst>
                <a:gd name="connsiteX0" fmla="*/ 177678 w 185878"/>
                <a:gd name="connsiteY0" fmla="*/ 183145 h 183145"/>
                <a:gd name="connsiteX1" fmla="*/ 0 w 185878"/>
                <a:gd name="connsiteY1" fmla="*/ 10934 h 183145"/>
                <a:gd name="connsiteX2" fmla="*/ 24602 w 185878"/>
                <a:gd name="connsiteY2" fmla="*/ 0 h 183145"/>
                <a:gd name="connsiteX3" fmla="*/ 185879 w 185878"/>
                <a:gd name="connsiteY3" fmla="*/ 155810 h 183145"/>
                <a:gd name="connsiteX4" fmla="*/ 177678 w 185878"/>
                <a:gd name="connsiteY4" fmla="*/ 183145 h 183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78" h="183145">
                  <a:moveTo>
                    <a:pt x="177678" y="183145"/>
                  </a:moveTo>
                  <a:cubicBezTo>
                    <a:pt x="95673" y="153077"/>
                    <a:pt x="32802" y="90206"/>
                    <a:pt x="0" y="10934"/>
                  </a:cubicBezTo>
                  <a:lnTo>
                    <a:pt x="24602" y="0"/>
                  </a:lnTo>
                  <a:cubicBezTo>
                    <a:pt x="54670" y="73805"/>
                    <a:pt x="112074" y="128475"/>
                    <a:pt x="185879" y="155810"/>
                  </a:cubicBezTo>
                  <a:lnTo>
                    <a:pt x="177678" y="183145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58">
              <a:extLst>
                <a:ext uri="{FF2B5EF4-FFF2-40B4-BE49-F238E27FC236}">
                  <a16:creationId xmlns:a16="http://schemas.microsoft.com/office/drawing/2014/main" id="{CFC54645-CB47-4F64-8764-E9E47EDFAA41}"/>
                </a:ext>
              </a:extLst>
            </p:cNvPr>
            <p:cNvSpPr/>
            <p:nvPr/>
          </p:nvSpPr>
          <p:spPr>
            <a:xfrm>
              <a:off x="1173492" y="2868630"/>
              <a:ext cx="183145" cy="177678"/>
            </a:xfrm>
            <a:custGeom>
              <a:avLst/>
              <a:gdLst>
                <a:gd name="connsiteX0" fmla="*/ 24602 w 183145"/>
                <a:gd name="connsiteY0" fmla="*/ 177678 h 177678"/>
                <a:gd name="connsiteX1" fmla="*/ 0 w 183145"/>
                <a:gd name="connsiteY1" fmla="*/ 166744 h 177678"/>
                <a:gd name="connsiteX2" fmla="*/ 174945 w 183145"/>
                <a:gd name="connsiteY2" fmla="*/ 0 h 177678"/>
                <a:gd name="connsiteX3" fmla="*/ 183145 w 183145"/>
                <a:gd name="connsiteY3" fmla="*/ 24602 h 177678"/>
                <a:gd name="connsiteX4" fmla="*/ 24602 w 183145"/>
                <a:gd name="connsiteY4" fmla="*/ 177678 h 177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145" h="177678">
                  <a:moveTo>
                    <a:pt x="24602" y="177678"/>
                  </a:moveTo>
                  <a:lnTo>
                    <a:pt x="0" y="166744"/>
                  </a:lnTo>
                  <a:cubicBezTo>
                    <a:pt x="32802" y="90206"/>
                    <a:pt x="95673" y="30069"/>
                    <a:pt x="174945" y="0"/>
                  </a:cubicBezTo>
                  <a:lnTo>
                    <a:pt x="183145" y="24602"/>
                  </a:lnTo>
                  <a:cubicBezTo>
                    <a:pt x="112074" y="51937"/>
                    <a:pt x="51937" y="109340"/>
                    <a:pt x="24602" y="177678"/>
                  </a:cubicBez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59">
              <a:extLst>
                <a:ext uri="{FF2B5EF4-FFF2-40B4-BE49-F238E27FC236}">
                  <a16:creationId xmlns:a16="http://schemas.microsoft.com/office/drawing/2014/main" id="{7E24AA79-3CCB-409A-B82A-063F6DC474A8}"/>
                </a:ext>
              </a:extLst>
            </p:cNvPr>
            <p:cNvSpPr/>
            <p:nvPr/>
          </p:nvSpPr>
          <p:spPr>
            <a:xfrm>
              <a:off x="1075086" y="3059976"/>
              <a:ext cx="177678" cy="174944"/>
            </a:xfrm>
            <a:custGeom>
              <a:avLst/>
              <a:gdLst>
                <a:gd name="connsiteX0" fmla="*/ 177678 w 177678"/>
                <a:gd name="connsiteY0" fmla="*/ 174945 h 174944"/>
                <a:gd name="connsiteX1" fmla="*/ 0 w 177678"/>
                <a:gd name="connsiteY1" fmla="*/ 174945 h 174944"/>
                <a:gd name="connsiteX2" fmla="*/ 0 w 177678"/>
                <a:gd name="connsiteY2" fmla="*/ 0 h 174944"/>
                <a:gd name="connsiteX3" fmla="*/ 177678 w 177678"/>
                <a:gd name="connsiteY3" fmla="*/ 0 h 174944"/>
                <a:gd name="connsiteX4" fmla="*/ 177678 w 177678"/>
                <a:gd name="connsiteY4" fmla="*/ 174945 h 174944"/>
                <a:gd name="connsiteX5" fmla="*/ 27335 w 177678"/>
                <a:gd name="connsiteY5" fmla="*/ 147610 h 174944"/>
                <a:gd name="connsiteX6" fmla="*/ 150343 w 177678"/>
                <a:gd name="connsiteY6" fmla="*/ 147610 h 174944"/>
                <a:gd name="connsiteX7" fmla="*/ 150343 w 177678"/>
                <a:gd name="connsiteY7" fmla="*/ 27335 h 174944"/>
                <a:gd name="connsiteX8" fmla="*/ 27335 w 177678"/>
                <a:gd name="connsiteY8" fmla="*/ 27335 h 174944"/>
                <a:gd name="connsiteX9" fmla="*/ 27335 w 177678"/>
                <a:gd name="connsiteY9" fmla="*/ 147610 h 17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7678" h="174944">
                  <a:moveTo>
                    <a:pt x="177678" y="174945"/>
                  </a:moveTo>
                  <a:lnTo>
                    <a:pt x="0" y="174945"/>
                  </a:lnTo>
                  <a:lnTo>
                    <a:pt x="0" y="0"/>
                  </a:lnTo>
                  <a:lnTo>
                    <a:pt x="177678" y="0"/>
                  </a:lnTo>
                  <a:lnTo>
                    <a:pt x="177678" y="174945"/>
                  </a:lnTo>
                  <a:close/>
                  <a:moveTo>
                    <a:pt x="27335" y="147610"/>
                  </a:moveTo>
                  <a:lnTo>
                    <a:pt x="150343" y="147610"/>
                  </a:lnTo>
                  <a:lnTo>
                    <a:pt x="150343" y="27335"/>
                  </a:lnTo>
                  <a:lnTo>
                    <a:pt x="27335" y="27335"/>
                  </a:lnTo>
                  <a:lnTo>
                    <a:pt x="27335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1" name="Группа 232">
            <a:extLst>
              <a:ext uri="{FF2B5EF4-FFF2-40B4-BE49-F238E27FC236}">
                <a16:creationId xmlns:a16="http://schemas.microsoft.com/office/drawing/2014/main" id="{40FDDEA6-EA7B-4553-AA87-08AE02E967B4}"/>
              </a:ext>
            </a:extLst>
          </p:cNvPr>
          <p:cNvGrpSpPr>
            <a:grpSpLocks noChangeAspect="1"/>
          </p:cNvGrpSpPr>
          <p:nvPr/>
        </p:nvGrpSpPr>
        <p:grpSpPr>
          <a:xfrm>
            <a:off x="838956" y="3202348"/>
            <a:ext cx="284650" cy="321963"/>
            <a:chOff x="10092416" y="3627794"/>
            <a:chExt cx="722378" cy="817070"/>
          </a:xfrm>
          <a:solidFill>
            <a:srgbClr val="FFFFFF"/>
          </a:solidFill>
        </p:grpSpPr>
        <p:sp>
          <p:nvSpPr>
            <p:cNvPr id="132" name="Полилиния: фигура 15">
              <a:extLst>
                <a:ext uri="{FF2B5EF4-FFF2-40B4-BE49-F238E27FC236}">
                  <a16:creationId xmlns:a16="http://schemas.microsoft.com/office/drawing/2014/main" id="{FEC5B753-E8CA-488C-AC49-605F1160472C}"/>
                </a:ext>
              </a:extLst>
            </p:cNvPr>
            <p:cNvSpPr/>
            <p:nvPr/>
          </p:nvSpPr>
          <p:spPr>
            <a:xfrm>
              <a:off x="10297469" y="3873450"/>
              <a:ext cx="98425" cy="95691"/>
            </a:xfrm>
            <a:custGeom>
              <a:avLst/>
              <a:gdLst>
                <a:gd name="connsiteX0" fmla="*/ 0 w 98425"/>
                <a:gd name="connsiteY0" fmla="*/ 0 h 95691"/>
                <a:gd name="connsiteX1" fmla="*/ 98426 w 98425"/>
                <a:gd name="connsiteY1" fmla="*/ 0 h 95691"/>
                <a:gd name="connsiteX2" fmla="*/ 98426 w 98425"/>
                <a:gd name="connsiteY2" fmla="*/ 95691 h 95691"/>
                <a:gd name="connsiteX3" fmla="*/ 0 w 98425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25" h="95691">
                  <a:moveTo>
                    <a:pt x="0" y="0"/>
                  </a:moveTo>
                  <a:lnTo>
                    <a:pt x="98426" y="0"/>
                  </a:lnTo>
                  <a:lnTo>
                    <a:pt x="98426" y="95691"/>
                  </a:lnTo>
                  <a:lnTo>
                    <a:pt x="0" y="9569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16">
              <a:extLst>
                <a:ext uri="{FF2B5EF4-FFF2-40B4-BE49-F238E27FC236}">
                  <a16:creationId xmlns:a16="http://schemas.microsoft.com/office/drawing/2014/main" id="{BF113555-96D9-4247-9AA7-B358F223F17C}"/>
                </a:ext>
              </a:extLst>
            </p:cNvPr>
            <p:cNvSpPr/>
            <p:nvPr/>
          </p:nvSpPr>
          <p:spPr>
            <a:xfrm>
              <a:off x="10450574" y="3783227"/>
              <a:ext cx="98425" cy="95691"/>
            </a:xfrm>
            <a:custGeom>
              <a:avLst/>
              <a:gdLst>
                <a:gd name="connsiteX0" fmla="*/ 0 w 98425"/>
                <a:gd name="connsiteY0" fmla="*/ 0 h 95691"/>
                <a:gd name="connsiteX1" fmla="*/ 98426 w 98425"/>
                <a:gd name="connsiteY1" fmla="*/ 0 h 95691"/>
                <a:gd name="connsiteX2" fmla="*/ 98426 w 98425"/>
                <a:gd name="connsiteY2" fmla="*/ 95691 h 95691"/>
                <a:gd name="connsiteX3" fmla="*/ 0 w 98425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25" h="95691">
                  <a:moveTo>
                    <a:pt x="0" y="0"/>
                  </a:moveTo>
                  <a:lnTo>
                    <a:pt x="98426" y="0"/>
                  </a:lnTo>
                  <a:lnTo>
                    <a:pt x="98426" y="95691"/>
                  </a:lnTo>
                  <a:lnTo>
                    <a:pt x="0" y="9569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17">
              <a:extLst>
                <a:ext uri="{FF2B5EF4-FFF2-40B4-BE49-F238E27FC236}">
                  <a16:creationId xmlns:a16="http://schemas.microsoft.com/office/drawing/2014/main" id="{4EDFAD93-73B9-4E33-BDD2-2111526C9DE0}"/>
                </a:ext>
              </a:extLst>
            </p:cNvPr>
            <p:cNvSpPr/>
            <p:nvPr/>
          </p:nvSpPr>
          <p:spPr>
            <a:xfrm>
              <a:off x="10587276" y="3884386"/>
              <a:ext cx="98425" cy="95691"/>
            </a:xfrm>
            <a:custGeom>
              <a:avLst/>
              <a:gdLst>
                <a:gd name="connsiteX0" fmla="*/ 0 w 98425"/>
                <a:gd name="connsiteY0" fmla="*/ 0 h 95691"/>
                <a:gd name="connsiteX1" fmla="*/ 98426 w 98425"/>
                <a:gd name="connsiteY1" fmla="*/ 0 h 95691"/>
                <a:gd name="connsiteX2" fmla="*/ 98426 w 98425"/>
                <a:gd name="connsiteY2" fmla="*/ 95691 h 95691"/>
                <a:gd name="connsiteX3" fmla="*/ 0 w 98425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25" h="95691">
                  <a:moveTo>
                    <a:pt x="0" y="0"/>
                  </a:moveTo>
                  <a:lnTo>
                    <a:pt x="98426" y="0"/>
                  </a:lnTo>
                  <a:lnTo>
                    <a:pt x="98426" y="95691"/>
                  </a:lnTo>
                  <a:lnTo>
                    <a:pt x="0" y="9569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118">
              <a:extLst>
                <a:ext uri="{FF2B5EF4-FFF2-40B4-BE49-F238E27FC236}">
                  <a16:creationId xmlns:a16="http://schemas.microsoft.com/office/drawing/2014/main" id="{EB165015-BDA4-424F-85AF-A3802AEC2375}"/>
                </a:ext>
              </a:extLst>
            </p:cNvPr>
            <p:cNvSpPr/>
            <p:nvPr/>
          </p:nvSpPr>
          <p:spPr>
            <a:xfrm>
              <a:off x="10092416" y="3627794"/>
              <a:ext cx="722378" cy="817070"/>
            </a:xfrm>
            <a:custGeom>
              <a:avLst/>
              <a:gdLst>
                <a:gd name="connsiteX0" fmla="*/ 609689 w 722378"/>
                <a:gd name="connsiteY0" fmla="*/ 811602 h 817070"/>
                <a:gd name="connsiteX1" fmla="*/ 410105 w 722378"/>
                <a:gd name="connsiteY1" fmla="*/ 811602 h 817070"/>
                <a:gd name="connsiteX2" fmla="*/ 396435 w 722378"/>
                <a:gd name="connsiteY2" fmla="*/ 797932 h 817070"/>
                <a:gd name="connsiteX3" fmla="*/ 410105 w 722378"/>
                <a:gd name="connsiteY3" fmla="*/ 784262 h 817070"/>
                <a:gd name="connsiteX4" fmla="*/ 453850 w 722378"/>
                <a:gd name="connsiteY4" fmla="*/ 784262 h 817070"/>
                <a:gd name="connsiteX5" fmla="*/ 453850 w 722378"/>
                <a:gd name="connsiteY5" fmla="*/ 491720 h 817070"/>
                <a:gd name="connsiteX6" fmla="*/ 401903 w 722378"/>
                <a:gd name="connsiteY6" fmla="*/ 415167 h 817070"/>
                <a:gd name="connsiteX7" fmla="*/ 399169 w 722378"/>
                <a:gd name="connsiteY7" fmla="*/ 406965 h 817070"/>
                <a:gd name="connsiteX8" fmla="*/ 399169 w 722378"/>
                <a:gd name="connsiteY8" fmla="*/ 251125 h 817070"/>
                <a:gd name="connsiteX9" fmla="*/ 412839 w 722378"/>
                <a:gd name="connsiteY9" fmla="*/ 237455 h 817070"/>
                <a:gd name="connsiteX10" fmla="*/ 426510 w 722378"/>
                <a:gd name="connsiteY10" fmla="*/ 251125 h 817070"/>
                <a:gd name="connsiteX11" fmla="*/ 426510 w 722378"/>
                <a:gd name="connsiteY11" fmla="*/ 404231 h 817070"/>
                <a:gd name="connsiteX12" fmla="*/ 478456 w 722378"/>
                <a:gd name="connsiteY12" fmla="*/ 480784 h 817070"/>
                <a:gd name="connsiteX13" fmla="*/ 481190 w 722378"/>
                <a:gd name="connsiteY13" fmla="*/ 488986 h 817070"/>
                <a:gd name="connsiteX14" fmla="*/ 481190 w 722378"/>
                <a:gd name="connsiteY14" fmla="*/ 784262 h 817070"/>
                <a:gd name="connsiteX15" fmla="*/ 533137 w 722378"/>
                <a:gd name="connsiteY15" fmla="*/ 784262 h 817070"/>
                <a:gd name="connsiteX16" fmla="*/ 533137 w 722378"/>
                <a:gd name="connsiteY16" fmla="*/ 357752 h 817070"/>
                <a:gd name="connsiteX17" fmla="*/ 546807 w 722378"/>
                <a:gd name="connsiteY17" fmla="*/ 344082 h 817070"/>
                <a:gd name="connsiteX18" fmla="*/ 560477 w 722378"/>
                <a:gd name="connsiteY18" fmla="*/ 357752 h 817070"/>
                <a:gd name="connsiteX19" fmla="*/ 560477 w 722378"/>
                <a:gd name="connsiteY19" fmla="*/ 784262 h 817070"/>
                <a:gd name="connsiteX20" fmla="*/ 593285 w 722378"/>
                <a:gd name="connsiteY20" fmla="*/ 784262 h 817070"/>
                <a:gd name="connsiteX21" fmla="*/ 626094 w 722378"/>
                <a:gd name="connsiteY21" fmla="*/ 540933 h 817070"/>
                <a:gd name="connsiteX22" fmla="*/ 672573 w 722378"/>
                <a:gd name="connsiteY22" fmla="*/ 445241 h 817070"/>
                <a:gd name="connsiteX23" fmla="*/ 688976 w 722378"/>
                <a:gd name="connsiteY23" fmla="*/ 437039 h 817070"/>
                <a:gd name="connsiteX24" fmla="*/ 697179 w 722378"/>
                <a:gd name="connsiteY24" fmla="*/ 453444 h 817070"/>
                <a:gd name="connsiteX25" fmla="*/ 645232 w 722378"/>
                <a:gd name="connsiteY25" fmla="*/ 557337 h 817070"/>
                <a:gd name="connsiteX26" fmla="*/ 620625 w 722378"/>
                <a:gd name="connsiteY26" fmla="*/ 795198 h 817070"/>
                <a:gd name="connsiteX27" fmla="*/ 617892 w 722378"/>
                <a:gd name="connsiteY27" fmla="*/ 806134 h 817070"/>
                <a:gd name="connsiteX28" fmla="*/ 609689 w 722378"/>
                <a:gd name="connsiteY28" fmla="*/ 811602 h 817070"/>
                <a:gd name="connsiteX29" fmla="*/ 278871 w 722378"/>
                <a:gd name="connsiteY29" fmla="*/ 811602 h 817070"/>
                <a:gd name="connsiteX30" fmla="*/ 265201 w 722378"/>
                <a:gd name="connsiteY30" fmla="*/ 800666 h 817070"/>
                <a:gd name="connsiteX31" fmla="*/ 246063 w 722378"/>
                <a:gd name="connsiteY31" fmla="*/ 735049 h 817070"/>
                <a:gd name="connsiteX32" fmla="*/ 202318 w 722378"/>
                <a:gd name="connsiteY32" fmla="*/ 754187 h 817070"/>
                <a:gd name="connsiteX33" fmla="*/ 166776 w 722378"/>
                <a:gd name="connsiteY33" fmla="*/ 762390 h 817070"/>
                <a:gd name="connsiteX34" fmla="*/ 79287 w 722378"/>
                <a:gd name="connsiteY34" fmla="*/ 674900 h 817070"/>
                <a:gd name="connsiteX35" fmla="*/ 76553 w 722378"/>
                <a:gd name="connsiteY35" fmla="*/ 666698 h 817070"/>
                <a:gd name="connsiteX36" fmla="*/ 65617 w 722378"/>
                <a:gd name="connsiteY36" fmla="*/ 647560 h 817070"/>
                <a:gd name="connsiteX37" fmla="*/ 49212 w 722378"/>
                <a:gd name="connsiteY37" fmla="*/ 579209 h 817070"/>
                <a:gd name="connsiteX38" fmla="*/ 49212 w 722378"/>
                <a:gd name="connsiteY38" fmla="*/ 551869 h 817070"/>
                <a:gd name="connsiteX39" fmla="*/ 38276 w 722378"/>
                <a:gd name="connsiteY39" fmla="*/ 554603 h 817070"/>
                <a:gd name="connsiteX40" fmla="*/ 27340 w 722378"/>
                <a:gd name="connsiteY40" fmla="*/ 554603 h 817070"/>
                <a:gd name="connsiteX41" fmla="*/ 5468 w 722378"/>
                <a:gd name="connsiteY41" fmla="*/ 540933 h 817070"/>
                <a:gd name="connsiteX42" fmla="*/ 0 w 722378"/>
                <a:gd name="connsiteY42" fmla="*/ 516326 h 817070"/>
                <a:gd name="connsiteX43" fmla="*/ 46478 w 722378"/>
                <a:gd name="connsiteY43" fmla="*/ 363220 h 817070"/>
                <a:gd name="connsiteX44" fmla="*/ 120297 w 722378"/>
                <a:gd name="connsiteY44" fmla="*/ 89817 h 817070"/>
                <a:gd name="connsiteX45" fmla="*/ 426510 w 722378"/>
                <a:gd name="connsiteY45" fmla="*/ 2328 h 817070"/>
                <a:gd name="connsiteX46" fmla="*/ 721785 w 722378"/>
                <a:gd name="connsiteY46" fmla="*/ 322210 h 817070"/>
                <a:gd name="connsiteX47" fmla="*/ 708115 w 722378"/>
                <a:gd name="connsiteY47" fmla="*/ 335880 h 817070"/>
                <a:gd name="connsiteX48" fmla="*/ 694445 w 722378"/>
                <a:gd name="connsiteY48" fmla="*/ 322210 h 817070"/>
                <a:gd name="connsiteX49" fmla="*/ 426510 w 722378"/>
                <a:gd name="connsiteY49" fmla="*/ 32402 h 817070"/>
                <a:gd name="connsiteX50" fmla="*/ 142169 w 722378"/>
                <a:gd name="connsiteY50" fmla="*/ 111689 h 817070"/>
                <a:gd name="connsiteX51" fmla="*/ 73818 w 722378"/>
                <a:gd name="connsiteY51" fmla="*/ 365954 h 817070"/>
                <a:gd name="connsiteX52" fmla="*/ 73818 w 722378"/>
                <a:gd name="connsiteY52" fmla="*/ 371422 h 817070"/>
                <a:gd name="connsiteX53" fmla="*/ 27340 w 722378"/>
                <a:gd name="connsiteY53" fmla="*/ 527262 h 817070"/>
                <a:gd name="connsiteX54" fmla="*/ 32808 w 722378"/>
                <a:gd name="connsiteY54" fmla="*/ 532730 h 817070"/>
                <a:gd name="connsiteX55" fmla="*/ 57415 w 722378"/>
                <a:gd name="connsiteY55" fmla="*/ 529997 h 817070"/>
                <a:gd name="connsiteX56" fmla="*/ 68351 w 722378"/>
                <a:gd name="connsiteY56" fmla="*/ 532730 h 817070"/>
                <a:gd name="connsiteX57" fmla="*/ 73818 w 722378"/>
                <a:gd name="connsiteY57" fmla="*/ 543667 h 817070"/>
                <a:gd name="connsiteX58" fmla="*/ 73818 w 722378"/>
                <a:gd name="connsiteY58" fmla="*/ 587411 h 817070"/>
                <a:gd name="connsiteX59" fmla="*/ 87489 w 722378"/>
                <a:gd name="connsiteY59" fmla="*/ 642092 h 817070"/>
                <a:gd name="connsiteX60" fmla="*/ 98425 w 722378"/>
                <a:gd name="connsiteY60" fmla="*/ 661230 h 817070"/>
                <a:gd name="connsiteX61" fmla="*/ 103893 w 722378"/>
                <a:gd name="connsiteY61" fmla="*/ 680369 h 817070"/>
                <a:gd name="connsiteX62" fmla="*/ 164042 w 722378"/>
                <a:gd name="connsiteY62" fmla="*/ 740517 h 817070"/>
                <a:gd name="connsiteX63" fmla="*/ 188648 w 722378"/>
                <a:gd name="connsiteY63" fmla="*/ 735049 h 817070"/>
                <a:gd name="connsiteX64" fmla="*/ 371829 w 722378"/>
                <a:gd name="connsiteY64" fmla="*/ 658496 h 817070"/>
                <a:gd name="connsiteX65" fmla="*/ 371829 w 722378"/>
                <a:gd name="connsiteY65" fmla="*/ 535465 h 817070"/>
                <a:gd name="connsiteX66" fmla="*/ 262468 w 722378"/>
                <a:gd name="connsiteY66" fmla="*/ 365954 h 817070"/>
                <a:gd name="connsiteX67" fmla="*/ 265201 w 722378"/>
                <a:gd name="connsiteY67" fmla="*/ 346816 h 817070"/>
                <a:gd name="connsiteX68" fmla="*/ 284339 w 722378"/>
                <a:gd name="connsiteY68" fmla="*/ 349550 h 817070"/>
                <a:gd name="connsiteX69" fmla="*/ 396435 w 722378"/>
                <a:gd name="connsiteY69" fmla="*/ 521794 h 817070"/>
                <a:gd name="connsiteX70" fmla="*/ 399169 w 722378"/>
                <a:gd name="connsiteY70" fmla="*/ 529997 h 817070"/>
                <a:gd name="connsiteX71" fmla="*/ 399169 w 722378"/>
                <a:gd name="connsiteY71" fmla="*/ 666698 h 817070"/>
                <a:gd name="connsiteX72" fmla="*/ 390967 w 722378"/>
                <a:gd name="connsiteY72" fmla="*/ 680369 h 817070"/>
                <a:gd name="connsiteX73" fmla="*/ 385499 w 722378"/>
                <a:gd name="connsiteY73" fmla="*/ 683102 h 817070"/>
                <a:gd name="connsiteX74" fmla="*/ 270669 w 722378"/>
                <a:gd name="connsiteY74" fmla="*/ 732315 h 817070"/>
                <a:gd name="connsiteX75" fmla="*/ 289808 w 722378"/>
                <a:gd name="connsiteY75" fmla="*/ 800666 h 817070"/>
                <a:gd name="connsiteX76" fmla="*/ 281605 w 722378"/>
                <a:gd name="connsiteY76" fmla="*/ 817070 h 817070"/>
                <a:gd name="connsiteX77" fmla="*/ 278871 w 722378"/>
                <a:gd name="connsiteY77" fmla="*/ 811602 h 8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722378" h="817070">
                  <a:moveTo>
                    <a:pt x="609689" y="811602"/>
                  </a:moveTo>
                  <a:lnTo>
                    <a:pt x="410105" y="811602"/>
                  </a:lnTo>
                  <a:cubicBezTo>
                    <a:pt x="401903" y="811602"/>
                    <a:pt x="396435" y="806134"/>
                    <a:pt x="396435" y="797932"/>
                  </a:cubicBezTo>
                  <a:cubicBezTo>
                    <a:pt x="396435" y="789730"/>
                    <a:pt x="401903" y="784262"/>
                    <a:pt x="410105" y="784262"/>
                  </a:cubicBezTo>
                  <a:lnTo>
                    <a:pt x="453850" y="784262"/>
                  </a:lnTo>
                  <a:lnTo>
                    <a:pt x="453850" y="491720"/>
                  </a:lnTo>
                  <a:lnTo>
                    <a:pt x="401903" y="415167"/>
                  </a:lnTo>
                  <a:cubicBezTo>
                    <a:pt x="399169" y="412433"/>
                    <a:pt x="399169" y="409699"/>
                    <a:pt x="399169" y="406965"/>
                  </a:cubicBezTo>
                  <a:lnTo>
                    <a:pt x="399169" y="251125"/>
                  </a:lnTo>
                  <a:cubicBezTo>
                    <a:pt x="399169" y="242923"/>
                    <a:pt x="404637" y="237455"/>
                    <a:pt x="412839" y="237455"/>
                  </a:cubicBezTo>
                  <a:cubicBezTo>
                    <a:pt x="421041" y="237455"/>
                    <a:pt x="426510" y="242923"/>
                    <a:pt x="426510" y="251125"/>
                  </a:cubicBezTo>
                  <a:lnTo>
                    <a:pt x="426510" y="404231"/>
                  </a:lnTo>
                  <a:lnTo>
                    <a:pt x="478456" y="480784"/>
                  </a:lnTo>
                  <a:cubicBezTo>
                    <a:pt x="481190" y="483518"/>
                    <a:pt x="481190" y="486252"/>
                    <a:pt x="481190" y="488986"/>
                  </a:cubicBezTo>
                  <a:lnTo>
                    <a:pt x="481190" y="784262"/>
                  </a:lnTo>
                  <a:lnTo>
                    <a:pt x="533137" y="784262"/>
                  </a:lnTo>
                  <a:lnTo>
                    <a:pt x="533137" y="357752"/>
                  </a:lnTo>
                  <a:cubicBezTo>
                    <a:pt x="533137" y="349550"/>
                    <a:pt x="538604" y="344082"/>
                    <a:pt x="546807" y="344082"/>
                  </a:cubicBezTo>
                  <a:cubicBezTo>
                    <a:pt x="555009" y="344082"/>
                    <a:pt x="560477" y="349550"/>
                    <a:pt x="560477" y="357752"/>
                  </a:cubicBezTo>
                  <a:lnTo>
                    <a:pt x="560477" y="784262"/>
                  </a:lnTo>
                  <a:lnTo>
                    <a:pt x="593285" y="784262"/>
                  </a:lnTo>
                  <a:cubicBezTo>
                    <a:pt x="587818" y="737783"/>
                    <a:pt x="576882" y="595613"/>
                    <a:pt x="626094" y="540933"/>
                  </a:cubicBezTo>
                  <a:cubicBezTo>
                    <a:pt x="637030" y="527262"/>
                    <a:pt x="656168" y="491720"/>
                    <a:pt x="672573" y="445241"/>
                  </a:cubicBezTo>
                  <a:cubicBezTo>
                    <a:pt x="675306" y="437039"/>
                    <a:pt x="683509" y="434305"/>
                    <a:pt x="688976" y="437039"/>
                  </a:cubicBezTo>
                  <a:cubicBezTo>
                    <a:pt x="697179" y="439773"/>
                    <a:pt x="699913" y="447975"/>
                    <a:pt x="697179" y="453444"/>
                  </a:cubicBezTo>
                  <a:cubicBezTo>
                    <a:pt x="680775" y="499922"/>
                    <a:pt x="661636" y="540933"/>
                    <a:pt x="645232" y="557337"/>
                  </a:cubicBezTo>
                  <a:cubicBezTo>
                    <a:pt x="604222" y="603815"/>
                    <a:pt x="612424" y="745985"/>
                    <a:pt x="620625" y="795198"/>
                  </a:cubicBezTo>
                  <a:cubicBezTo>
                    <a:pt x="620625" y="797932"/>
                    <a:pt x="620625" y="803400"/>
                    <a:pt x="617892" y="806134"/>
                  </a:cubicBezTo>
                  <a:cubicBezTo>
                    <a:pt x="615158" y="811602"/>
                    <a:pt x="612424" y="811602"/>
                    <a:pt x="609689" y="811602"/>
                  </a:cubicBezTo>
                  <a:close/>
                  <a:moveTo>
                    <a:pt x="278871" y="811602"/>
                  </a:moveTo>
                  <a:cubicBezTo>
                    <a:pt x="273403" y="811602"/>
                    <a:pt x="267935" y="808868"/>
                    <a:pt x="265201" y="800666"/>
                  </a:cubicBezTo>
                  <a:lnTo>
                    <a:pt x="246063" y="735049"/>
                  </a:lnTo>
                  <a:lnTo>
                    <a:pt x="202318" y="754187"/>
                  </a:lnTo>
                  <a:cubicBezTo>
                    <a:pt x="191382" y="759655"/>
                    <a:pt x="180446" y="762390"/>
                    <a:pt x="166776" y="762390"/>
                  </a:cubicBezTo>
                  <a:cubicBezTo>
                    <a:pt x="117563" y="762390"/>
                    <a:pt x="79287" y="724113"/>
                    <a:pt x="79287" y="674900"/>
                  </a:cubicBezTo>
                  <a:cubicBezTo>
                    <a:pt x="79287" y="672166"/>
                    <a:pt x="79287" y="669432"/>
                    <a:pt x="76553" y="666698"/>
                  </a:cubicBezTo>
                  <a:lnTo>
                    <a:pt x="65617" y="647560"/>
                  </a:lnTo>
                  <a:cubicBezTo>
                    <a:pt x="54681" y="625688"/>
                    <a:pt x="49212" y="603815"/>
                    <a:pt x="49212" y="579209"/>
                  </a:cubicBezTo>
                  <a:lnTo>
                    <a:pt x="49212" y="551869"/>
                  </a:lnTo>
                  <a:lnTo>
                    <a:pt x="38276" y="554603"/>
                  </a:lnTo>
                  <a:cubicBezTo>
                    <a:pt x="35542" y="554603"/>
                    <a:pt x="30075" y="554603"/>
                    <a:pt x="27340" y="554603"/>
                  </a:cubicBezTo>
                  <a:cubicBezTo>
                    <a:pt x="19138" y="551869"/>
                    <a:pt x="10936" y="549135"/>
                    <a:pt x="5468" y="540933"/>
                  </a:cubicBezTo>
                  <a:cubicBezTo>
                    <a:pt x="0" y="532730"/>
                    <a:pt x="0" y="524528"/>
                    <a:pt x="0" y="516326"/>
                  </a:cubicBezTo>
                  <a:lnTo>
                    <a:pt x="46478" y="363220"/>
                  </a:lnTo>
                  <a:cubicBezTo>
                    <a:pt x="43745" y="338614"/>
                    <a:pt x="27340" y="190976"/>
                    <a:pt x="120297" y="89817"/>
                  </a:cubicBezTo>
                  <a:cubicBezTo>
                    <a:pt x="185914" y="18732"/>
                    <a:pt x="289808" y="-8608"/>
                    <a:pt x="426510" y="2328"/>
                  </a:cubicBezTo>
                  <a:cubicBezTo>
                    <a:pt x="699913" y="26934"/>
                    <a:pt x="727253" y="212848"/>
                    <a:pt x="721785" y="322210"/>
                  </a:cubicBezTo>
                  <a:cubicBezTo>
                    <a:pt x="721785" y="330412"/>
                    <a:pt x="713583" y="335880"/>
                    <a:pt x="708115" y="335880"/>
                  </a:cubicBezTo>
                  <a:cubicBezTo>
                    <a:pt x="699913" y="335880"/>
                    <a:pt x="694445" y="327678"/>
                    <a:pt x="694445" y="322210"/>
                  </a:cubicBezTo>
                  <a:cubicBezTo>
                    <a:pt x="702646" y="201912"/>
                    <a:pt x="664370" y="51540"/>
                    <a:pt x="426510" y="32402"/>
                  </a:cubicBezTo>
                  <a:cubicBezTo>
                    <a:pt x="298010" y="21466"/>
                    <a:pt x="202318" y="46072"/>
                    <a:pt x="142169" y="111689"/>
                  </a:cubicBezTo>
                  <a:cubicBezTo>
                    <a:pt x="51946" y="210114"/>
                    <a:pt x="73818" y="363220"/>
                    <a:pt x="73818" y="365954"/>
                  </a:cubicBezTo>
                  <a:cubicBezTo>
                    <a:pt x="73818" y="368688"/>
                    <a:pt x="73818" y="368688"/>
                    <a:pt x="73818" y="371422"/>
                  </a:cubicBezTo>
                  <a:lnTo>
                    <a:pt x="27340" y="527262"/>
                  </a:lnTo>
                  <a:cubicBezTo>
                    <a:pt x="27340" y="527262"/>
                    <a:pt x="30075" y="532730"/>
                    <a:pt x="32808" y="532730"/>
                  </a:cubicBezTo>
                  <a:lnTo>
                    <a:pt x="57415" y="529997"/>
                  </a:lnTo>
                  <a:cubicBezTo>
                    <a:pt x="60148" y="529997"/>
                    <a:pt x="65617" y="529997"/>
                    <a:pt x="68351" y="532730"/>
                  </a:cubicBezTo>
                  <a:cubicBezTo>
                    <a:pt x="71085" y="535465"/>
                    <a:pt x="73818" y="538198"/>
                    <a:pt x="73818" y="543667"/>
                  </a:cubicBezTo>
                  <a:lnTo>
                    <a:pt x="73818" y="587411"/>
                  </a:lnTo>
                  <a:cubicBezTo>
                    <a:pt x="73818" y="606549"/>
                    <a:pt x="79287" y="625688"/>
                    <a:pt x="87489" y="642092"/>
                  </a:cubicBezTo>
                  <a:lnTo>
                    <a:pt x="98425" y="661230"/>
                  </a:lnTo>
                  <a:cubicBezTo>
                    <a:pt x="101159" y="666698"/>
                    <a:pt x="103893" y="674900"/>
                    <a:pt x="103893" y="680369"/>
                  </a:cubicBezTo>
                  <a:cubicBezTo>
                    <a:pt x="103893" y="713177"/>
                    <a:pt x="131233" y="740517"/>
                    <a:pt x="164042" y="740517"/>
                  </a:cubicBezTo>
                  <a:cubicBezTo>
                    <a:pt x="172244" y="740517"/>
                    <a:pt x="180446" y="737783"/>
                    <a:pt x="188648" y="735049"/>
                  </a:cubicBezTo>
                  <a:lnTo>
                    <a:pt x="371829" y="658496"/>
                  </a:lnTo>
                  <a:lnTo>
                    <a:pt x="371829" y="535465"/>
                  </a:lnTo>
                  <a:lnTo>
                    <a:pt x="262468" y="365954"/>
                  </a:lnTo>
                  <a:cubicBezTo>
                    <a:pt x="259733" y="360486"/>
                    <a:pt x="259733" y="352284"/>
                    <a:pt x="265201" y="346816"/>
                  </a:cubicBezTo>
                  <a:cubicBezTo>
                    <a:pt x="270669" y="344082"/>
                    <a:pt x="278871" y="344082"/>
                    <a:pt x="284339" y="349550"/>
                  </a:cubicBezTo>
                  <a:lnTo>
                    <a:pt x="396435" y="521794"/>
                  </a:lnTo>
                  <a:cubicBezTo>
                    <a:pt x="399169" y="524528"/>
                    <a:pt x="399169" y="527262"/>
                    <a:pt x="399169" y="529997"/>
                  </a:cubicBezTo>
                  <a:lnTo>
                    <a:pt x="399169" y="666698"/>
                  </a:lnTo>
                  <a:cubicBezTo>
                    <a:pt x="399169" y="672166"/>
                    <a:pt x="396435" y="677634"/>
                    <a:pt x="390967" y="680369"/>
                  </a:cubicBezTo>
                  <a:lnTo>
                    <a:pt x="385499" y="683102"/>
                  </a:lnTo>
                  <a:lnTo>
                    <a:pt x="270669" y="732315"/>
                  </a:lnTo>
                  <a:lnTo>
                    <a:pt x="289808" y="800666"/>
                  </a:lnTo>
                  <a:cubicBezTo>
                    <a:pt x="292541" y="808868"/>
                    <a:pt x="287074" y="814336"/>
                    <a:pt x="281605" y="817070"/>
                  </a:cubicBezTo>
                  <a:cubicBezTo>
                    <a:pt x="281605" y="811602"/>
                    <a:pt x="281605" y="811602"/>
                    <a:pt x="278871" y="811602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6" name="Группа 301">
            <a:extLst>
              <a:ext uri="{FF2B5EF4-FFF2-40B4-BE49-F238E27FC236}">
                <a16:creationId xmlns:a16="http://schemas.microsoft.com/office/drawing/2014/main" id="{C618DBAF-9860-4507-ACA8-FE7F69D7E940}"/>
              </a:ext>
            </a:extLst>
          </p:cNvPr>
          <p:cNvGrpSpPr>
            <a:grpSpLocks noChangeAspect="1"/>
          </p:cNvGrpSpPr>
          <p:nvPr/>
        </p:nvGrpSpPr>
        <p:grpSpPr>
          <a:xfrm>
            <a:off x="827873" y="5651329"/>
            <a:ext cx="306817" cy="302791"/>
            <a:chOff x="5299525" y="662070"/>
            <a:chExt cx="1054991" cy="1041148"/>
          </a:xfrm>
          <a:solidFill>
            <a:srgbClr val="FFFFFF"/>
          </a:solidFill>
        </p:grpSpPr>
        <p:sp>
          <p:nvSpPr>
            <p:cNvPr id="137" name="Полилиния: фигура 254">
              <a:extLst>
                <a:ext uri="{FF2B5EF4-FFF2-40B4-BE49-F238E27FC236}">
                  <a16:creationId xmlns:a16="http://schemas.microsoft.com/office/drawing/2014/main" id="{E627BC4D-5371-4132-A445-B890965BB948}"/>
                </a:ext>
              </a:extLst>
            </p:cNvPr>
            <p:cNvSpPr/>
            <p:nvPr/>
          </p:nvSpPr>
          <p:spPr>
            <a:xfrm>
              <a:off x="5299525" y="662070"/>
              <a:ext cx="1054991" cy="183796"/>
            </a:xfrm>
            <a:custGeom>
              <a:avLst/>
              <a:gdLst>
                <a:gd name="connsiteX0" fmla="*/ 56418 w 1054991"/>
                <a:gd name="connsiteY0" fmla="*/ 183796 h 183796"/>
                <a:gd name="connsiteX1" fmla="*/ 30907 w 1054991"/>
                <a:gd name="connsiteY1" fmla="*/ 164663 h 183796"/>
                <a:gd name="connsiteX2" fmla="*/ 537 w 1054991"/>
                <a:gd name="connsiteY2" fmla="*/ 27997 h 183796"/>
                <a:gd name="connsiteX3" fmla="*/ 18431 w 1054991"/>
                <a:gd name="connsiteY3" fmla="*/ 184 h 183796"/>
                <a:gd name="connsiteX4" fmla="*/ 19063 w 1054991"/>
                <a:gd name="connsiteY4" fmla="*/ 56 h 183796"/>
                <a:gd name="connsiteX5" fmla="*/ 1030695 w 1054991"/>
                <a:gd name="connsiteY5" fmla="*/ 56 h 183796"/>
                <a:gd name="connsiteX6" fmla="*/ 1054992 w 1054991"/>
                <a:gd name="connsiteY6" fmla="*/ 21012 h 183796"/>
                <a:gd name="connsiteX7" fmla="*/ 1054992 w 1054991"/>
                <a:gd name="connsiteY7" fmla="*/ 23441 h 183796"/>
                <a:gd name="connsiteX8" fmla="*/ 1054992 w 1054991"/>
                <a:gd name="connsiteY8" fmla="*/ 28301 h 183796"/>
                <a:gd name="connsiteX9" fmla="*/ 1024621 w 1054991"/>
                <a:gd name="connsiteY9" fmla="*/ 163448 h 183796"/>
                <a:gd name="connsiteX10" fmla="*/ 996681 w 1054991"/>
                <a:gd name="connsiteY10" fmla="*/ 183796 h 183796"/>
                <a:gd name="connsiteX11" fmla="*/ 551453 w 1054991"/>
                <a:gd name="connsiteY11" fmla="*/ 183796 h 183796"/>
                <a:gd name="connsiteX12" fmla="*/ 551453 w 1054991"/>
                <a:gd name="connsiteY12" fmla="*/ 153426 h 183796"/>
                <a:gd name="connsiteX13" fmla="*/ 995466 w 1054991"/>
                <a:gd name="connsiteY13" fmla="*/ 153426 h 183796"/>
                <a:gd name="connsiteX14" fmla="*/ 1023103 w 1054991"/>
                <a:gd name="connsiteY14" fmla="*/ 30123 h 183796"/>
                <a:gd name="connsiteX15" fmla="*/ 32729 w 1054991"/>
                <a:gd name="connsiteY15" fmla="*/ 30123 h 183796"/>
                <a:gd name="connsiteX16" fmla="*/ 59455 w 1054991"/>
                <a:gd name="connsiteY16" fmla="*/ 153426 h 183796"/>
                <a:gd name="connsiteX17" fmla="*/ 296343 w 1054991"/>
                <a:gd name="connsiteY17" fmla="*/ 153426 h 183796"/>
                <a:gd name="connsiteX18" fmla="*/ 296343 w 1054991"/>
                <a:gd name="connsiteY18" fmla="*/ 183796 h 183796"/>
                <a:gd name="connsiteX19" fmla="*/ 56418 w 1054991"/>
                <a:gd name="connsiteY19" fmla="*/ 183796 h 183796"/>
                <a:gd name="connsiteX20" fmla="*/ 56418 w 1054991"/>
                <a:gd name="connsiteY20" fmla="*/ 153426 h 183796"/>
                <a:gd name="connsiteX21" fmla="*/ 56418 w 1054991"/>
                <a:gd name="connsiteY21" fmla="*/ 153426 h 183796"/>
                <a:gd name="connsiteX22" fmla="*/ 1030999 w 1054991"/>
                <a:gd name="connsiteY22" fmla="*/ 30123 h 183796"/>
                <a:gd name="connsiteX23" fmla="*/ 1030999 w 1054991"/>
                <a:gd name="connsiteY23" fmla="*/ 30123 h 18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991" h="183796">
                  <a:moveTo>
                    <a:pt x="56418" y="183796"/>
                  </a:moveTo>
                  <a:cubicBezTo>
                    <a:pt x="44690" y="183553"/>
                    <a:pt x="34424" y="175854"/>
                    <a:pt x="30907" y="164663"/>
                  </a:cubicBezTo>
                  <a:lnTo>
                    <a:pt x="537" y="27997"/>
                  </a:lnTo>
                  <a:cubicBezTo>
                    <a:pt x="-2202" y="15375"/>
                    <a:pt x="5809" y="2923"/>
                    <a:pt x="18431" y="184"/>
                  </a:cubicBezTo>
                  <a:cubicBezTo>
                    <a:pt x="18641" y="139"/>
                    <a:pt x="18851" y="96"/>
                    <a:pt x="19063" y="56"/>
                  </a:cubicBezTo>
                  <a:lnTo>
                    <a:pt x="1030695" y="56"/>
                  </a:lnTo>
                  <a:cubicBezTo>
                    <a:pt x="1043175" y="-815"/>
                    <a:pt x="1054023" y="8540"/>
                    <a:pt x="1054992" y="21012"/>
                  </a:cubicBezTo>
                  <a:lnTo>
                    <a:pt x="1054992" y="23441"/>
                  </a:lnTo>
                  <a:lnTo>
                    <a:pt x="1054992" y="28301"/>
                  </a:lnTo>
                  <a:lnTo>
                    <a:pt x="1024621" y="163448"/>
                  </a:lnTo>
                  <a:cubicBezTo>
                    <a:pt x="1020452" y="175387"/>
                    <a:pt x="1009321" y="183493"/>
                    <a:pt x="996681" y="183796"/>
                  </a:cubicBezTo>
                  <a:lnTo>
                    <a:pt x="551453" y="183796"/>
                  </a:lnTo>
                  <a:lnTo>
                    <a:pt x="551453" y="153426"/>
                  </a:lnTo>
                  <a:lnTo>
                    <a:pt x="995466" y="153426"/>
                  </a:lnTo>
                  <a:lnTo>
                    <a:pt x="1023103" y="30123"/>
                  </a:lnTo>
                  <a:lnTo>
                    <a:pt x="32729" y="30123"/>
                  </a:lnTo>
                  <a:lnTo>
                    <a:pt x="59455" y="153426"/>
                  </a:lnTo>
                  <a:lnTo>
                    <a:pt x="296343" y="153426"/>
                  </a:lnTo>
                  <a:lnTo>
                    <a:pt x="296343" y="183796"/>
                  </a:lnTo>
                  <a:lnTo>
                    <a:pt x="56418" y="183796"/>
                  </a:lnTo>
                  <a:close/>
                  <a:moveTo>
                    <a:pt x="56418" y="153426"/>
                  </a:moveTo>
                  <a:lnTo>
                    <a:pt x="56418" y="153426"/>
                  </a:lnTo>
                  <a:close/>
                  <a:moveTo>
                    <a:pt x="1030999" y="30123"/>
                  </a:moveTo>
                  <a:lnTo>
                    <a:pt x="1030999" y="30123"/>
                  </a:ln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55">
              <a:extLst>
                <a:ext uri="{FF2B5EF4-FFF2-40B4-BE49-F238E27FC236}">
                  <a16:creationId xmlns:a16="http://schemas.microsoft.com/office/drawing/2014/main" id="{B9BC858B-077E-4FF5-AFE4-19F81F1F1C99}"/>
                </a:ext>
              </a:extLst>
            </p:cNvPr>
            <p:cNvSpPr/>
            <p:nvPr/>
          </p:nvSpPr>
          <p:spPr>
            <a:xfrm>
              <a:off x="5343188" y="815496"/>
              <a:ext cx="969114" cy="887722"/>
            </a:xfrm>
            <a:custGeom>
              <a:avLst/>
              <a:gdLst>
                <a:gd name="connsiteX0" fmla="*/ 396028 w 969114"/>
                <a:gd name="connsiteY0" fmla="*/ 887722 h 887722"/>
                <a:gd name="connsiteX1" fmla="*/ 380843 w 969114"/>
                <a:gd name="connsiteY1" fmla="*/ 887722 h 887722"/>
                <a:gd name="connsiteX2" fmla="*/ 380843 w 969114"/>
                <a:gd name="connsiteY2" fmla="*/ 468005 h 887722"/>
                <a:gd name="connsiteX3" fmla="*/ 357154 w 969114"/>
                <a:gd name="connsiteY3" fmla="*/ 405139 h 887722"/>
                <a:gd name="connsiteX4" fmla="*/ 0 w 969114"/>
                <a:gd name="connsiteY4" fmla="*/ 0 h 887722"/>
                <a:gd name="connsiteX5" fmla="*/ 252984 w 969114"/>
                <a:gd name="connsiteY5" fmla="*/ 0 h 887722"/>
                <a:gd name="connsiteX6" fmla="*/ 252984 w 969114"/>
                <a:gd name="connsiteY6" fmla="*/ 30370 h 887722"/>
                <a:gd name="connsiteX7" fmla="*/ 67118 w 969114"/>
                <a:gd name="connsiteY7" fmla="*/ 30370 h 887722"/>
                <a:gd name="connsiteX8" fmla="*/ 379021 w 969114"/>
                <a:gd name="connsiteY8" fmla="*/ 385095 h 887722"/>
                <a:gd name="connsiteX9" fmla="*/ 409391 w 969114"/>
                <a:gd name="connsiteY9" fmla="*/ 468005 h 887722"/>
                <a:gd name="connsiteX10" fmla="*/ 409391 w 969114"/>
                <a:gd name="connsiteY10" fmla="*/ 841256 h 887722"/>
                <a:gd name="connsiteX11" fmla="*/ 556383 w 969114"/>
                <a:gd name="connsiteY11" fmla="*/ 723419 h 887722"/>
                <a:gd name="connsiteX12" fmla="*/ 556383 w 969114"/>
                <a:gd name="connsiteY12" fmla="*/ 468005 h 887722"/>
                <a:gd name="connsiteX13" fmla="*/ 586753 w 969114"/>
                <a:gd name="connsiteY13" fmla="*/ 385095 h 887722"/>
                <a:gd name="connsiteX14" fmla="*/ 901389 w 969114"/>
                <a:gd name="connsiteY14" fmla="*/ 30370 h 887722"/>
                <a:gd name="connsiteX15" fmla="*/ 522672 w 969114"/>
                <a:gd name="connsiteY15" fmla="*/ 30370 h 887722"/>
                <a:gd name="connsiteX16" fmla="*/ 522672 w 969114"/>
                <a:gd name="connsiteY16" fmla="*/ 0 h 887722"/>
                <a:gd name="connsiteX17" fmla="*/ 969114 w 969114"/>
                <a:gd name="connsiteY17" fmla="*/ 0 h 887722"/>
                <a:gd name="connsiteX18" fmla="*/ 612264 w 969114"/>
                <a:gd name="connsiteY18" fmla="*/ 405139 h 887722"/>
                <a:gd name="connsiteX19" fmla="*/ 588575 w 969114"/>
                <a:gd name="connsiteY19" fmla="*/ 468005 h 887722"/>
                <a:gd name="connsiteX20" fmla="*/ 588575 w 969114"/>
                <a:gd name="connsiteY20" fmla="*/ 738301 h 887722"/>
                <a:gd name="connsiteX21" fmla="*/ 582805 w 969114"/>
                <a:gd name="connsiteY21" fmla="*/ 742856 h 887722"/>
                <a:gd name="connsiteX22" fmla="*/ 396028 w 969114"/>
                <a:gd name="connsiteY22" fmla="*/ 887722 h 887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9114" h="887722">
                  <a:moveTo>
                    <a:pt x="396028" y="887722"/>
                  </a:moveTo>
                  <a:lnTo>
                    <a:pt x="380843" y="887722"/>
                  </a:lnTo>
                  <a:lnTo>
                    <a:pt x="380843" y="468005"/>
                  </a:lnTo>
                  <a:cubicBezTo>
                    <a:pt x="380861" y="444866"/>
                    <a:pt x="372439" y="422514"/>
                    <a:pt x="357154" y="405139"/>
                  </a:cubicBezTo>
                  <a:lnTo>
                    <a:pt x="0" y="0"/>
                  </a:lnTo>
                  <a:lnTo>
                    <a:pt x="252984" y="0"/>
                  </a:lnTo>
                  <a:lnTo>
                    <a:pt x="252984" y="30370"/>
                  </a:lnTo>
                  <a:lnTo>
                    <a:pt x="67118" y="30370"/>
                  </a:lnTo>
                  <a:lnTo>
                    <a:pt x="379021" y="385095"/>
                  </a:lnTo>
                  <a:cubicBezTo>
                    <a:pt x="398858" y="408137"/>
                    <a:pt x="409652" y="437602"/>
                    <a:pt x="409391" y="468005"/>
                  </a:cubicBezTo>
                  <a:lnTo>
                    <a:pt x="409391" y="841256"/>
                  </a:lnTo>
                  <a:lnTo>
                    <a:pt x="556383" y="723419"/>
                  </a:lnTo>
                  <a:lnTo>
                    <a:pt x="556383" y="468005"/>
                  </a:lnTo>
                  <a:cubicBezTo>
                    <a:pt x="556094" y="437596"/>
                    <a:pt x="566891" y="408121"/>
                    <a:pt x="586753" y="385095"/>
                  </a:cubicBezTo>
                  <a:lnTo>
                    <a:pt x="901389" y="30370"/>
                  </a:lnTo>
                  <a:lnTo>
                    <a:pt x="522672" y="30370"/>
                  </a:lnTo>
                  <a:lnTo>
                    <a:pt x="522672" y="0"/>
                  </a:lnTo>
                  <a:lnTo>
                    <a:pt x="969114" y="0"/>
                  </a:lnTo>
                  <a:lnTo>
                    <a:pt x="612264" y="405139"/>
                  </a:lnTo>
                  <a:cubicBezTo>
                    <a:pt x="596954" y="422499"/>
                    <a:pt x="588530" y="444860"/>
                    <a:pt x="588575" y="468005"/>
                  </a:cubicBezTo>
                  <a:lnTo>
                    <a:pt x="588575" y="738301"/>
                  </a:lnTo>
                  <a:lnTo>
                    <a:pt x="582805" y="742856"/>
                  </a:lnTo>
                  <a:cubicBezTo>
                    <a:pt x="402102" y="887722"/>
                    <a:pt x="402102" y="887722"/>
                    <a:pt x="396028" y="887722"/>
                  </a:cubicBez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56">
              <a:extLst>
                <a:ext uri="{FF2B5EF4-FFF2-40B4-BE49-F238E27FC236}">
                  <a16:creationId xmlns:a16="http://schemas.microsoft.com/office/drawing/2014/main" id="{AC3BA4C0-B81F-4F33-AB77-0892BAA1E24A}"/>
                </a:ext>
              </a:extLst>
            </p:cNvPr>
            <p:cNvSpPr/>
            <p:nvPr/>
          </p:nvSpPr>
          <p:spPr>
            <a:xfrm>
              <a:off x="5769890" y="1034465"/>
              <a:ext cx="126340" cy="122695"/>
            </a:xfrm>
            <a:custGeom>
              <a:avLst/>
              <a:gdLst>
                <a:gd name="connsiteX0" fmla="*/ 0 w 126340"/>
                <a:gd name="connsiteY0" fmla="*/ 0 h 122695"/>
                <a:gd name="connsiteX1" fmla="*/ 126340 w 126340"/>
                <a:gd name="connsiteY1" fmla="*/ 0 h 122695"/>
                <a:gd name="connsiteX2" fmla="*/ 126340 w 126340"/>
                <a:gd name="connsiteY2" fmla="*/ 122696 h 122695"/>
                <a:gd name="connsiteX3" fmla="*/ 0 w 126340"/>
                <a:gd name="connsiteY3" fmla="*/ 122696 h 12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40" h="122695">
                  <a:moveTo>
                    <a:pt x="0" y="0"/>
                  </a:moveTo>
                  <a:lnTo>
                    <a:pt x="126340" y="0"/>
                  </a:lnTo>
                  <a:lnTo>
                    <a:pt x="126340" y="122696"/>
                  </a:lnTo>
                  <a:lnTo>
                    <a:pt x="0" y="122696"/>
                  </a:ln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257">
              <a:extLst>
                <a:ext uri="{FF2B5EF4-FFF2-40B4-BE49-F238E27FC236}">
                  <a16:creationId xmlns:a16="http://schemas.microsoft.com/office/drawing/2014/main" id="{64AEE236-A21B-43D1-B93F-6D6A33EE8BA5}"/>
                </a:ext>
              </a:extLst>
            </p:cNvPr>
            <p:cNvSpPr/>
            <p:nvPr/>
          </p:nvSpPr>
          <p:spPr>
            <a:xfrm>
              <a:off x="5661468" y="854977"/>
              <a:ext cx="126340" cy="122695"/>
            </a:xfrm>
            <a:custGeom>
              <a:avLst/>
              <a:gdLst>
                <a:gd name="connsiteX0" fmla="*/ 0 w 126340"/>
                <a:gd name="connsiteY0" fmla="*/ 0 h 122695"/>
                <a:gd name="connsiteX1" fmla="*/ 126340 w 126340"/>
                <a:gd name="connsiteY1" fmla="*/ 0 h 122695"/>
                <a:gd name="connsiteX2" fmla="*/ 126340 w 126340"/>
                <a:gd name="connsiteY2" fmla="*/ 122696 h 122695"/>
                <a:gd name="connsiteX3" fmla="*/ 0 w 126340"/>
                <a:gd name="connsiteY3" fmla="*/ 122696 h 12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40" h="122695">
                  <a:moveTo>
                    <a:pt x="0" y="0"/>
                  </a:moveTo>
                  <a:lnTo>
                    <a:pt x="126340" y="0"/>
                  </a:lnTo>
                  <a:lnTo>
                    <a:pt x="126340" y="122696"/>
                  </a:lnTo>
                  <a:lnTo>
                    <a:pt x="0" y="122696"/>
                  </a:ln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1" name="Group 391">
            <a:extLst>
              <a:ext uri="{FF2B5EF4-FFF2-40B4-BE49-F238E27FC236}">
                <a16:creationId xmlns:a16="http://schemas.microsoft.com/office/drawing/2014/main" id="{122D66C3-89EC-4BB0-BD77-5F4F7B6F1686}"/>
              </a:ext>
            </a:extLst>
          </p:cNvPr>
          <p:cNvGrpSpPr/>
          <p:nvPr/>
        </p:nvGrpSpPr>
        <p:grpSpPr>
          <a:xfrm>
            <a:off x="913547" y="1386696"/>
            <a:ext cx="2158914" cy="910570"/>
            <a:chOff x="855823" y="1331617"/>
            <a:chExt cx="2061254" cy="910570"/>
          </a:xfrm>
        </p:grpSpPr>
        <p:sp>
          <p:nvSpPr>
            <p:cNvPr id="142" name="Rectangle 392">
              <a:extLst>
                <a:ext uri="{FF2B5EF4-FFF2-40B4-BE49-F238E27FC236}">
                  <a16:creationId xmlns:a16="http://schemas.microsoft.com/office/drawing/2014/main" id="{6BC4D096-B2A5-4493-BB43-FDEBFC937516}"/>
                </a:ext>
              </a:extLst>
            </p:cNvPr>
            <p:cNvSpPr/>
            <p:nvPr/>
          </p:nvSpPr>
          <p:spPr>
            <a:xfrm>
              <a:off x="1007814" y="1331617"/>
              <a:ext cx="1909263" cy="9105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D70EF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Обеспечить высокую степень точности данных для принятия обоснованных бизнес-решений</a:t>
              </a:r>
            </a:p>
          </p:txBody>
        </p:sp>
        <p:grpSp>
          <p:nvGrpSpPr>
            <p:cNvPr id="143" name="Группа 101">
              <a:extLst>
                <a:ext uri="{FF2B5EF4-FFF2-40B4-BE49-F238E27FC236}">
                  <a16:creationId xmlns:a16="http://schemas.microsoft.com/office/drawing/2014/main" id="{0B92BF62-9EE4-4D43-82DC-A1EF411852B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144" name="Полилиния: фигура 499">
                <a:extLst>
                  <a:ext uri="{FF2B5EF4-FFF2-40B4-BE49-F238E27FC236}">
                    <a16:creationId xmlns:a16="http://schemas.microsoft.com/office/drawing/2014/main" id="{A9D5FE7B-9BFB-4769-9EC7-567064B60D53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grpSp>
            <p:nvGrpSpPr>
              <p:cNvPr id="145" name="Рисунок 476">
                <a:extLst>
                  <a:ext uri="{FF2B5EF4-FFF2-40B4-BE49-F238E27FC236}">
                    <a16:creationId xmlns:a16="http://schemas.microsoft.com/office/drawing/2014/main" id="{6B197269-9D36-42DB-A6A7-D363B6710E4D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FFFFFF"/>
              </a:solidFill>
            </p:grpSpPr>
            <p:sp>
              <p:nvSpPr>
                <p:cNvPr id="146" name="Полилиния: фигура 501">
                  <a:extLst>
                    <a:ext uri="{FF2B5EF4-FFF2-40B4-BE49-F238E27FC236}">
                      <a16:creationId xmlns:a16="http://schemas.microsoft.com/office/drawing/2014/main" id="{A01CDFC0-BB0C-4C47-804F-6DA7D11FA2F3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Полилиния: фигура 502">
                  <a:extLst>
                    <a:ext uri="{FF2B5EF4-FFF2-40B4-BE49-F238E27FC236}">
                      <a16:creationId xmlns:a16="http://schemas.microsoft.com/office/drawing/2014/main" id="{121648DA-089E-4C41-BE2F-9BE40C5C57AF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48" name="Rectangle 398">
            <a:extLst>
              <a:ext uri="{FF2B5EF4-FFF2-40B4-BE49-F238E27FC236}">
                <a16:creationId xmlns:a16="http://schemas.microsoft.com/office/drawing/2014/main" id="{963BB94B-31AC-409E-89F2-3B8F4D2BAACD}"/>
              </a:ext>
            </a:extLst>
          </p:cNvPr>
          <p:cNvSpPr/>
          <p:nvPr/>
        </p:nvSpPr>
        <p:spPr>
          <a:xfrm>
            <a:off x="3334103" y="1386696"/>
            <a:ext cx="1308634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Минимизировать дублирование записей и информации</a:t>
            </a:r>
          </a:p>
        </p:txBody>
      </p:sp>
      <p:grpSp>
        <p:nvGrpSpPr>
          <p:cNvPr id="149" name="Группа 102">
            <a:extLst>
              <a:ext uri="{FF2B5EF4-FFF2-40B4-BE49-F238E27FC236}">
                <a16:creationId xmlns:a16="http://schemas.microsoft.com/office/drawing/2014/main" id="{708F81C9-860E-42E9-A508-47785F34BF84}"/>
              </a:ext>
            </a:extLst>
          </p:cNvPr>
          <p:cNvGrpSpPr>
            <a:grpSpLocks noChangeAspect="1"/>
          </p:cNvGrpSpPr>
          <p:nvPr/>
        </p:nvGrpSpPr>
        <p:grpSpPr>
          <a:xfrm>
            <a:off x="3139602" y="1467801"/>
            <a:ext cx="139209" cy="162814"/>
            <a:chOff x="1571161" y="904822"/>
            <a:chExt cx="749659" cy="876775"/>
          </a:xfrm>
        </p:grpSpPr>
        <p:sp>
          <p:nvSpPr>
            <p:cNvPr id="150" name="Полилиния: фигура 504">
              <a:extLst>
                <a:ext uri="{FF2B5EF4-FFF2-40B4-BE49-F238E27FC236}">
                  <a16:creationId xmlns:a16="http://schemas.microsoft.com/office/drawing/2014/main" id="{CC499A46-E95F-49FF-941E-3A023608C79E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151" name="Рисунок 481">
              <a:extLst>
                <a:ext uri="{FF2B5EF4-FFF2-40B4-BE49-F238E27FC236}">
                  <a16:creationId xmlns:a16="http://schemas.microsoft.com/office/drawing/2014/main" id="{86649109-1C36-4F8E-8323-F81854C7F0CF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FFFFFF"/>
            </a:solidFill>
          </p:grpSpPr>
          <p:sp>
            <p:nvSpPr>
              <p:cNvPr id="152" name="Полилиния: фигура 506">
                <a:extLst>
                  <a:ext uri="{FF2B5EF4-FFF2-40B4-BE49-F238E27FC236}">
                    <a16:creationId xmlns:a16="http://schemas.microsoft.com/office/drawing/2014/main" id="{DE7AFCE8-56D3-41A6-85C9-ABC5E6E050C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53" name="Полилиния: фигура 507">
                <a:extLst>
                  <a:ext uri="{FF2B5EF4-FFF2-40B4-BE49-F238E27FC236}">
                    <a16:creationId xmlns:a16="http://schemas.microsoft.com/office/drawing/2014/main" id="{164849CE-303D-4D9D-AAC6-CDFD022FBCFC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4" name="Group 404">
            <a:extLst>
              <a:ext uri="{FF2B5EF4-FFF2-40B4-BE49-F238E27FC236}">
                <a16:creationId xmlns:a16="http://schemas.microsoft.com/office/drawing/2014/main" id="{E6317A4D-C423-4236-BC6C-29560CB66E5F}"/>
              </a:ext>
            </a:extLst>
          </p:cNvPr>
          <p:cNvGrpSpPr/>
          <p:nvPr/>
        </p:nvGrpSpPr>
        <p:grpSpPr>
          <a:xfrm>
            <a:off x="4841539" y="1386696"/>
            <a:ext cx="1825902" cy="577146"/>
            <a:chOff x="4876168" y="1331617"/>
            <a:chExt cx="1825902" cy="577146"/>
          </a:xfrm>
        </p:grpSpPr>
        <p:sp>
          <p:nvSpPr>
            <p:cNvPr id="155" name="Rectangle 407">
              <a:extLst>
                <a:ext uri="{FF2B5EF4-FFF2-40B4-BE49-F238E27FC236}">
                  <a16:creationId xmlns:a16="http://schemas.microsoft.com/office/drawing/2014/main" id="{65AD03CD-BAAB-4EAD-BB02-4807E4EEEB9A}"/>
                </a:ext>
              </a:extLst>
            </p:cNvPr>
            <p:cNvSpPr/>
            <p:nvPr/>
          </p:nvSpPr>
          <p:spPr>
            <a:xfrm>
              <a:off x="5054549" y="1331617"/>
              <a:ext cx="1647521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274"/>
                </a:lnSpc>
                <a:spcBef>
                  <a:spcPts val="980"/>
                </a:spcBef>
                <a:buClr>
                  <a:srgbClr val="7D70EF"/>
                </a:buClr>
              </a:pPr>
              <a:r>
                <a:rPr lang="ru-RU" sz="95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Обеспечить легкий доступ к актуальным и качественным данным</a:t>
              </a:r>
            </a:p>
          </p:txBody>
        </p:sp>
        <p:grpSp>
          <p:nvGrpSpPr>
            <p:cNvPr id="156" name="Группа 103">
              <a:extLst>
                <a:ext uri="{FF2B5EF4-FFF2-40B4-BE49-F238E27FC236}">
                  <a16:creationId xmlns:a16="http://schemas.microsoft.com/office/drawing/2014/main" id="{B0370F4E-770A-4F6B-839D-6FDBD1D0CC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157" name="Полилиния: фигура 509">
                <a:extLst>
                  <a:ext uri="{FF2B5EF4-FFF2-40B4-BE49-F238E27FC236}">
                    <a16:creationId xmlns:a16="http://schemas.microsoft.com/office/drawing/2014/main" id="{B75E6108-16EB-4649-9DCA-3DBB0D951B3B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58" name="Полилиния: фигура 510">
                <a:extLst>
                  <a:ext uri="{FF2B5EF4-FFF2-40B4-BE49-F238E27FC236}">
                    <a16:creationId xmlns:a16="http://schemas.microsoft.com/office/drawing/2014/main" id="{0739D489-9EFC-4ED4-B5E3-314684CF6DCA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FFFFFF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9" name="Rectangle 411">
            <a:extLst>
              <a:ext uri="{FF2B5EF4-FFF2-40B4-BE49-F238E27FC236}">
                <a16:creationId xmlns:a16="http://schemas.microsoft.com/office/drawing/2014/main" id="{E0250D5E-9ACF-4DD3-ABB1-BB66867C2133}"/>
              </a:ext>
            </a:extLst>
          </p:cNvPr>
          <p:cNvSpPr/>
          <p:nvPr/>
        </p:nvSpPr>
        <p:spPr>
          <a:xfrm>
            <a:off x="7051140" y="1386696"/>
            <a:ext cx="2101044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248"/>
              </a:lnSpc>
              <a:spcBef>
                <a:spcPts val="960"/>
              </a:spcBef>
              <a:buClr>
                <a:srgbClr val="7D70EF"/>
              </a:buClr>
            </a:pP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Гарантировать соответствие правовым и отраслевым стандартам и минимизировать риски нарушения законодательства</a:t>
            </a:r>
          </a:p>
        </p:txBody>
      </p:sp>
      <p:grpSp>
        <p:nvGrpSpPr>
          <p:cNvPr id="160" name="Группа 104">
            <a:extLst>
              <a:ext uri="{FF2B5EF4-FFF2-40B4-BE49-F238E27FC236}">
                <a16:creationId xmlns:a16="http://schemas.microsoft.com/office/drawing/2014/main" id="{6EE71A86-F7A0-4705-8444-89AFA651DFCF}"/>
              </a:ext>
            </a:extLst>
          </p:cNvPr>
          <p:cNvGrpSpPr>
            <a:grpSpLocks noChangeAspect="1"/>
          </p:cNvGrpSpPr>
          <p:nvPr/>
        </p:nvGrpSpPr>
        <p:grpSpPr>
          <a:xfrm>
            <a:off x="6866243" y="1471566"/>
            <a:ext cx="154417" cy="165132"/>
            <a:chOff x="3862546" y="921118"/>
            <a:chExt cx="798550" cy="853959"/>
          </a:xfrm>
        </p:grpSpPr>
        <p:sp>
          <p:nvSpPr>
            <p:cNvPr id="161" name="Полилиния: фигура 76">
              <a:extLst>
                <a:ext uri="{FF2B5EF4-FFF2-40B4-BE49-F238E27FC236}">
                  <a16:creationId xmlns:a16="http://schemas.microsoft.com/office/drawing/2014/main" id="{C7998E89-0DF3-4E0B-BFD8-A68BFF77AC5A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162" name="Рисунок 485">
              <a:extLst>
                <a:ext uri="{FF2B5EF4-FFF2-40B4-BE49-F238E27FC236}">
                  <a16:creationId xmlns:a16="http://schemas.microsoft.com/office/drawing/2014/main" id="{A39F08DB-B804-4C2D-BB55-FE6FAAA510F9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FFFFFF"/>
            </a:solidFill>
          </p:grpSpPr>
          <p:sp>
            <p:nvSpPr>
              <p:cNvPr id="163" name="Полилиния: фигура 78">
                <a:extLst>
                  <a:ext uri="{FF2B5EF4-FFF2-40B4-BE49-F238E27FC236}">
                    <a16:creationId xmlns:a16="http://schemas.microsoft.com/office/drawing/2014/main" id="{AE4E3593-4B7C-4A9B-ADCC-FDE13C375BE5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64" name="Полилиния: фигура 79">
                <a:extLst>
                  <a:ext uri="{FF2B5EF4-FFF2-40B4-BE49-F238E27FC236}">
                    <a16:creationId xmlns:a16="http://schemas.microsoft.com/office/drawing/2014/main" id="{A273A433-C50E-4AAE-A018-A2F1E077ABB7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5" name="Group 417">
            <a:extLst>
              <a:ext uri="{FF2B5EF4-FFF2-40B4-BE49-F238E27FC236}">
                <a16:creationId xmlns:a16="http://schemas.microsoft.com/office/drawing/2014/main" id="{A5F55652-2288-4DC1-A5CE-F389EE4CDFA8}"/>
              </a:ext>
            </a:extLst>
          </p:cNvPr>
          <p:cNvGrpSpPr/>
          <p:nvPr/>
        </p:nvGrpSpPr>
        <p:grpSpPr>
          <a:xfrm>
            <a:off x="9318130" y="1386696"/>
            <a:ext cx="2115358" cy="577146"/>
            <a:chOff x="9448288" y="1331617"/>
            <a:chExt cx="2115358" cy="577146"/>
          </a:xfrm>
        </p:grpSpPr>
        <p:sp>
          <p:nvSpPr>
            <p:cNvPr id="166" name="Rectangle 418">
              <a:extLst>
                <a:ext uri="{FF2B5EF4-FFF2-40B4-BE49-F238E27FC236}">
                  <a16:creationId xmlns:a16="http://schemas.microsoft.com/office/drawing/2014/main" id="{B5D2EC0C-ACD6-4463-B001-96820A610389}"/>
                </a:ext>
              </a:extLst>
            </p:cNvPr>
            <p:cNvSpPr/>
            <p:nvPr/>
          </p:nvSpPr>
          <p:spPr>
            <a:xfrm>
              <a:off x="9635561" y="1331617"/>
              <a:ext cx="192808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274"/>
                </a:lnSpc>
                <a:spcBef>
                  <a:spcPts val="980"/>
                </a:spcBef>
                <a:buClr>
                  <a:srgbClr val="7D70EF"/>
                </a:buClr>
              </a:pPr>
              <a:r>
                <a:rPr lang="ru-RU" sz="95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Повысить эффективность бизнес-процессов за счет качественных данных</a:t>
              </a:r>
            </a:p>
          </p:txBody>
        </p:sp>
        <p:grpSp>
          <p:nvGrpSpPr>
            <p:cNvPr id="167" name="Группа 105">
              <a:extLst>
                <a:ext uri="{FF2B5EF4-FFF2-40B4-BE49-F238E27FC236}">
                  <a16:creationId xmlns:a16="http://schemas.microsoft.com/office/drawing/2014/main" id="{1025E26B-12E0-4D1C-9C94-2D8C5C11B2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48288" y="1420974"/>
              <a:ext cx="134248" cy="170805"/>
              <a:chOff x="5133962" y="904822"/>
              <a:chExt cx="694248" cy="883294"/>
            </a:xfrm>
          </p:grpSpPr>
          <p:sp>
            <p:nvSpPr>
              <p:cNvPr id="168" name="Полилиния: фигура 81">
                <a:extLst>
                  <a:ext uri="{FF2B5EF4-FFF2-40B4-BE49-F238E27FC236}">
                    <a16:creationId xmlns:a16="http://schemas.microsoft.com/office/drawing/2014/main" id="{ED527BF3-5C93-4196-AA62-1A2E998CD125}"/>
                  </a:ext>
                </a:extLst>
              </p:cNvPr>
              <p:cNvSpPr/>
              <p:nvPr/>
            </p:nvSpPr>
            <p:spPr>
              <a:xfrm>
                <a:off x="5133962" y="904822"/>
                <a:ext cx="550836" cy="860478"/>
              </a:xfrm>
              <a:custGeom>
                <a:avLst/>
                <a:gdLst>
                  <a:gd name="connsiteX0" fmla="*/ 237935 w 550836"/>
                  <a:gd name="connsiteY0" fmla="*/ 860479 h 860478"/>
                  <a:gd name="connsiteX1" fmla="*/ 208601 w 550836"/>
                  <a:gd name="connsiteY1" fmla="*/ 853960 h 860478"/>
                  <a:gd name="connsiteX2" fmla="*/ 97782 w 550836"/>
                  <a:gd name="connsiteY2" fmla="*/ 811588 h 860478"/>
                  <a:gd name="connsiteX3" fmla="*/ 9778 w 550836"/>
                  <a:gd name="connsiteY3" fmla="*/ 756178 h 860478"/>
                  <a:gd name="connsiteX4" fmla="*/ 0 w 550836"/>
                  <a:gd name="connsiteY4" fmla="*/ 749659 h 860478"/>
                  <a:gd name="connsiteX5" fmla="*/ 91263 w 550836"/>
                  <a:gd name="connsiteY5" fmla="*/ 554096 h 860478"/>
                  <a:gd name="connsiteX6" fmla="*/ 107560 w 550836"/>
                  <a:gd name="connsiteY6" fmla="*/ 567134 h 860478"/>
                  <a:gd name="connsiteX7" fmla="*/ 176007 w 550836"/>
                  <a:gd name="connsiteY7" fmla="*/ 612765 h 860478"/>
                  <a:gd name="connsiteX8" fmla="*/ 244454 w 550836"/>
                  <a:gd name="connsiteY8" fmla="*/ 642100 h 860478"/>
                  <a:gd name="connsiteX9" fmla="*/ 306382 w 550836"/>
                  <a:gd name="connsiteY9" fmla="*/ 651878 h 860478"/>
                  <a:gd name="connsiteX10" fmla="*/ 387867 w 550836"/>
                  <a:gd name="connsiteY10" fmla="*/ 638840 h 860478"/>
                  <a:gd name="connsiteX11" fmla="*/ 433498 w 550836"/>
                  <a:gd name="connsiteY11" fmla="*/ 606246 h 860478"/>
                  <a:gd name="connsiteX12" fmla="*/ 449795 w 550836"/>
                  <a:gd name="connsiteY12" fmla="*/ 550837 h 860478"/>
                  <a:gd name="connsiteX13" fmla="*/ 430239 w 550836"/>
                  <a:gd name="connsiteY13" fmla="*/ 495427 h 860478"/>
                  <a:gd name="connsiteX14" fmla="*/ 378089 w 550836"/>
                  <a:gd name="connsiteY14" fmla="*/ 462833 h 860478"/>
                  <a:gd name="connsiteX15" fmla="*/ 237935 w 550836"/>
                  <a:gd name="connsiteY15" fmla="*/ 456314 h 860478"/>
                  <a:gd name="connsiteX16" fmla="*/ 162969 w 550836"/>
                  <a:gd name="connsiteY16" fmla="*/ 472611 h 860478"/>
                  <a:gd name="connsiteX17" fmla="*/ 84744 w 550836"/>
                  <a:gd name="connsiteY17" fmla="*/ 505205 h 860478"/>
                  <a:gd name="connsiteX18" fmla="*/ 52150 w 550836"/>
                  <a:gd name="connsiteY18" fmla="*/ 521502 h 860478"/>
                  <a:gd name="connsiteX19" fmla="*/ 176007 w 550836"/>
                  <a:gd name="connsiteY19" fmla="*/ 0 h 860478"/>
                  <a:gd name="connsiteX20" fmla="*/ 550836 w 550836"/>
                  <a:gd name="connsiteY20" fmla="*/ 0 h 860478"/>
                  <a:gd name="connsiteX21" fmla="*/ 550836 w 550836"/>
                  <a:gd name="connsiteY21" fmla="*/ 32594 h 860478"/>
                  <a:gd name="connsiteX22" fmla="*/ 202082 w 550836"/>
                  <a:gd name="connsiteY22" fmla="*/ 32594 h 860478"/>
                  <a:gd name="connsiteX23" fmla="*/ 97782 w 550836"/>
                  <a:gd name="connsiteY23" fmla="*/ 462833 h 860478"/>
                  <a:gd name="connsiteX24" fmla="*/ 153191 w 550836"/>
                  <a:gd name="connsiteY24" fmla="*/ 443277 h 860478"/>
                  <a:gd name="connsiteX25" fmla="*/ 234676 w 550836"/>
                  <a:gd name="connsiteY25" fmla="*/ 426980 h 860478"/>
                  <a:gd name="connsiteX26" fmla="*/ 387867 w 550836"/>
                  <a:gd name="connsiteY26" fmla="*/ 436758 h 860478"/>
                  <a:gd name="connsiteX27" fmla="*/ 453055 w 550836"/>
                  <a:gd name="connsiteY27" fmla="*/ 479130 h 860478"/>
                  <a:gd name="connsiteX28" fmla="*/ 479130 w 550836"/>
                  <a:gd name="connsiteY28" fmla="*/ 557356 h 860478"/>
                  <a:gd name="connsiteX29" fmla="*/ 456314 w 550836"/>
                  <a:gd name="connsiteY29" fmla="*/ 632321 h 860478"/>
                  <a:gd name="connsiteX30" fmla="*/ 394386 w 550836"/>
                  <a:gd name="connsiteY30" fmla="*/ 677953 h 860478"/>
                  <a:gd name="connsiteX31" fmla="*/ 303123 w 550836"/>
                  <a:gd name="connsiteY31" fmla="*/ 690991 h 860478"/>
                  <a:gd name="connsiteX32" fmla="*/ 231416 w 550836"/>
                  <a:gd name="connsiteY32" fmla="*/ 677953 h 860478"/>
                  <a:gd name="connsiteX33" fmla="*/ 156451 w 550836"/>
                  <a:gd name="connsiteY33" fmla="*/ 645359 h 860478"/>
                  <a:gd name="connsiteX34" fmla="*/ 101041 w 550836"/>
                  <a:gd name="connsiteY34" fmla="*/ 609506 h 860478"/>
                  <a:gd name="connsiteX35" fmla="*/ 39113 w 550836"/>
                  <a:gd name="connsiteY35" fmla="*/ 743141 h 860478"/>
                  <a:gd name="connsiteX36" fmla="*/ 110819 w 550836"/>
                  <a:gd name="connsiteY36" fmla="*/ 785513 h 860478"/>
                  <a:gd name="connsiteX37" fmla="*/ 215119 w 550836"/>
                  <a:gd name="connsiteY37" fmla="*/ 824625 h 860478"/>
                  <a:gd name="connsiteX38" fmla="*/ 241195 w 550836"/>
                  <a:gd name="connsiteY38" fmla="*/ 831144 h 860478"/>
                  <a:gd name="connsiteX39" fmla="*/ 237935 w 550836"/>
                  <a:gd name="connsiteY39" fmla="*/ 860479 h 86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50836" h="860478">
                    <a:moveTo>
                      <a:pt x="237935" y="860479"/>
                    </a:moveTo>
                    <a:cubicBezTo>
                      <a:pt x="228157" y="857219"/>
                      <a:pt x="218379" y="857219"/>
                      <a:pt x="208601" y="853960"/>
                    </a:cubicBezTo>
                    <a:cubicBezTo>
                      <a:pt x="169488" y="844182"/>
                      <a:pt x="130375" y="831144"/>
                      <a:pt x="97782" y="811588"/>
                    </a:cubicBezTo>
                    <a:cubicBezTo>
                      <a:pt x="65188" y="795291"/>
                      <a:pt x="35853" y="775735"/>
                      <a:pt x="9778" y="756178"/>
                    </a:cubicBezTo>
                    <a:lnTo>
                      <a:pt x="0" y="749659"/>
                    </a:lnTo>
                    <a:lnTo>
                      <a:pt x="91263" y="554096"/>
                    </a:lnTo>
                    <a:lnTo>
                      <a:pt x="107560" y="567134"/>
                    </a:lnTo>
                    <a:cubicBezTo>
                      <a:pt x="130375" y="586690"/>
                      <a:pt x="153191" y="599728"/>
                      <a:pt x="176007" y="612765"/>
                    </a:cubicBezTo>
                    <a:cubicBezTo>
                      <a:pt x="198823" y="625803"/>
                      <a:pt x="221638" y="635581"/>
                      <a:pt x="244454" y="642100"/>
                    </a:cubicBezTo>
                    <a:cubicBezTo>
                      <a:pt x="267270" y="648618"/>
                      <a:pt x="286826" y="651878"/>
                      <a:pt x="306382" y="651878"/>
                    </a:cubicBezTo>
                    <a:cubicBezTo>
                      <a:pt x="338976" y="651878"/>
                      <a:pt x="365051" y="648618"/>
                      <a:pt x="387867" y="638840"/>
                    </a:cubicBezTo>
                    <a:cubicBezTo>
                      <a:pt x="407423" y="632321"/>
                      <a:pt x="423720" y="619284"/>
                      <a:pt x="433498" y="606246"/>
                    </a:cubicBezTo>
                    <a:cubicBezTo>
                      <a:pt x="443276" y="589949"/>
                      <a:pt x="449795" y="573652"/>
                      <a:pt x="449795" y="550837"/>
                    </a:cubicBezTo>
                    <a:cubicBezTo>
                      <a:pt x="449795" y="528021"/>
                      <a:pt x="443276" y="508465"/>
                      <a:pt x="430239" y="495427"/>
                    </a:cubicBezTo>
                    <a:cubicBezTo>
                      <a:pt x="417201" y="482390"/>
                      <a:pt x="400904" y="469352"/>
                      <a:pt x="378089" y="462833"/>
                    </a:cubicBezTo>
                    <a:cubicBezTo>
                      <a:pt x="338976" y="449796"/>
                      <a:pt x="293345" y="449796"/>
                      <a:pt x="237935" y="456314"/>
                    </a:cubicBezTo>
                    <a:cubicBezTo>
                      <a:pt x="215119" y="459574"/>
                      <a:pt x="189044" y="462833"/>
                      <a:pt x="162969" y="472611"/>
                    </a:cubicBezTo>
                    <a:cubicBezTo>
                      <a:pt x="136894" y="479130"/>
                      <a:pt x="110819" y="488908"/>
                      <a:pt x="84744" y="505205"/>
                    </a:cubicBezTo>
                    <a:lnTo>
                      <a:pt x="52150" y="521502"/>
                    </a:lnTo>
                    <a:lnTo>
                      <a:pt x="176007" y="0"/>
                    </a:lnTo>
                    <a:lnTo>
                      <a:pt x="550836" y="0"/>
                    </a:lnTo>
                    <a:lnTo>
                      <a:pt x="550836" y="32594"/>
                    </a:lnTo>
                    <a:lnTo>
                      <a:pt x="202082" y="32594"/>
                    </a:lnTo>
                    <a:lnTo>
                      <a:pt x="97782" y="462833"/>
                    </a:lnTo>
                    <a:cubicBezTo>
                      <a:pt x="117338" y="456314"/>
                      <a:pt x="133635" y="449796"/>
                      <a:pt x="153191" y="443277"/>
                    </a:cubicBezTo>
                    <a:cubicBezTo>
                      <a:pt x="179266" y="436758"/>
                      <a:pt x="208601" y="430239"/>
                      <a:pt x="234676" y="426980"/>
                    </a:cubicBezTo>
                    <a:cubicBezTo>
                      <a:pt x="296604" y="420461"/>
                      <a:pt x="342236" y="420461"/>
                      <a:pt x="387867" y="436758"/>
                    </a:cubicBezTo>
                    <a:cubicBezTo>
                      <a:pt x="413942" y="446536"/>
                      <a:pt x="436758" y="459574"/>
                      <a:pt x="453055" y="479130"/>
                    </a:cubicBezTo>
                    <a:cubicBezTo>
                      <a:pt x="472611" y="498687"/>
                      <a:pt x="479130" y="524762"/>
                      <a:pt x="479130" y="557356"/>
                    </a:cubicBezTo>
                    <a:cubicBezTo>
                      <a:pt x="479130" y="586690"/>
                      <a:pt x="472611" y="612765"/>
                      <a:pt x="456314" y="632321"/>
                    </a:cubicBezTo>
                    <a:cubicBezTo>
                      <a:pt x="443276" y="651878"/>
                      <a:pt x="420461" y="668175"/>
                      <a:pt x="394386" y="677953"/>
                    </a:cubicBezTo>
                    <a:cubicBezTo>
                      <a:pt x="368311" y="687731"/>
                      <a:pt x="338976" y="690991"/>
                      <a:pt x="303123" y="690991"/>
                    </a:cubicBezTo>
                    <a:cubicBezTo>
                      <a:pt x="283567" y="690991"/>
                      <a:pt x="257491" y="687731"/>
                      <a:pt x="231416" y="677953"/>
                    </a:cubicBezTo>
                    <a:cubicBezTo>
                      <a:pt x="205341" y="671434"/>
                      <a:pt x="182526" y="658397"/>
                      <a:pt x="156451" y="645359"/>
                    </a:cubicBezTo>
                    <a:cubicBezTo>
                      <a:pt x="136894" y="635581"/>
                      <a:pt x="117338" y="622543"/>
                      <a:pt x="101041" y="609506"/>
                    </a:cubicBezTo>
                    <a:lnTo>
                      <a:pt x="39113" y="743141"/>
                    </a:lnTo>
                    <a:cubicBezTo>
                      <a:pt x="61928" y="759438"/>
                      <a:pt x="84744" y="772475"/>
                      <a:pt x="110819" y="785513"/>
                    </a:cubicBezTo>
                    <a:cubicBezTo>
                      <a:pt x="140154" y="801810"/>
                      <a:pt x="176007" y="814847"/>
                      <a:pt x="215119" y="824625"/>
                    </a:cubicBezTo>
                    <a:cubicBezTo>
                      <a:pt x="224898" y="827885"/>
                      <a:pt x="231416" y="827885"/>
                      <a:pt x="241195" y="831144"/>
                    </a:cubicBezTo>
                    <a:lnTo>
                      <a:pt x="237935" y="860479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69" name="Полилиния: фигура 82">
                <a:extLst>
                  <a:ext uri="{FF2B5EF4-FFF2-40B4-BE49-F238E27FC236}">
                    <a16:creationId xmlns:a16="http://schemas.microsoft.com/office/drawing/2014/main" id="{EE9D0933-5A41-4EB0-801C-EEF833446F6B}"/>
                  </a:ext>
                </a:extLst>
              </p:cNvPr>
              <p:cNvSpPr/>
              <p:nvPr/>
            </p:nvSpPr>
            <p:spPr>
              <a:xfrm>
                <a:off x="5397972" y="904822"/>
                <a:ext cx="430238" cy="853959"/>
              </a:xfrm>
              <a:custGeom>
                <a:avLst/>
                <a:gdLst>
                  <a:gd name="connsiteX0" fmla="*/ 202082 w 430238"/>
                  <a:gd name="connsiteY0" fmla="*/ 853960 h 853959"/>
                  <a:gd name="connsiteX1" fmla="*/ 195563 w 430238"/>
                  <a:gd name="connsiteY1" fmla="*/ 821366 h 853959"/>
                  <a:gd name="connsiteX2" fmla="*/ 202082 w 430238"/>
                  <a:gd name="connsiteY2" fmla="*/ 821366 h 853959"/>
                  <a:gd name="connsiteX3" fmla="*/ 303123 w 430238"/>
                  <a:gd name="connsiteY3" fmla="*/ 772475 h 853959"/>
                  <a:gd name="connsiteX4" fmla="*/ 374829 w 430238"/>
                  <a:gd name="connsiteY4" fmla="*/ 690991 h 853959"/>
                  <a:gd name="connsiteX5" fmla="*/ 400904 w 430238"/>
                  <a:gd name="connsiteY5" fmla="*/ 573652 h 853959"/>
                  <a:gd name="connsiteX6" fmla="*/ 368311 w 430238"/>
                  <a:gd name="connsiteY6" fmla="*/ 436758 h 853959"/>
                  <a:gd name="connsiteX7" fmla="*/ 283567 w 430238"/>
                  <a:gd name="connsiteY7" fmla="*/ 352014 h 853959"/>
                  <a:gd name="connsiteX8" fmla="*/ 169488 w 430238"/>
                  <a:gd name="connsiteY8" fmla="*/ 322680 h 853959"/>
                  <a:gd name="connsiteX9" fmla="*/ 97782 w 430238"/>
                  <a:gd name="connsiteY9" fmla="*/ 329198 h 853959"/>
                  <a:gd name="connsiteX10" fmla="*/ 32594 w 430238"/>
                  <a:gd name="connsiteY10" fmla="*/ 348755 h 853959"/>
                  <a:gd name="connsiteX11" fmla="*/ 0 w 430238"/>
                  <a:gd name="connsiteY11" fmla="*/ 365052 h 853959"/>
                  <a:gd name="connsiteX12" fmla="*/ 61928 w 430238"/>
                  <a:gd name="connsiteY12" fmla="*/ 172748 h 853959"/>
                  <a:gd name="connsiteX13" fmla="*/ 384608 w 430238"/>
                  <a:gd name="connsiteY13" fmla="*/ 172748 h 853959"/>
                  <a:gd name="connsiteX14" fmla="*/ 384608 w 430238"/>
                  <a:gd name="connsiteY14" fmla="*/ 32594 h 853959"/>
                  <a:gd name="connsiteX15" fmla="*/ 283567 w 430238"/>
                  <a:gd name="connsiteY15" fmla="*/ 32594 h 853959"/>
                  <a:gd name="connsiteX16" fmla="*/ 283567 w 430238"/>
                  <a:gd name="connsiteY16" fmla="*/ 0 h 853959"/>
                  <a:gd name="connsiteX17" fmla="*/ 417201 w 430238"/>
                  <a:gd name="connsiteY17" fmla="*/ 0 h 853959"/>
                  <a:gd name="connsiteX18" fmla="*/ 417201 w 430238"/>
                  <a:gd name="connsiteY18" fmla="*/ 205342 h 853959"/>
                  <a:gd name="connsiteX19" fmla="*/ 81485 w 430238"/>
                  <a:gd name="connsiteY19" fmla="*/ 205342 h 853959"/>
                  <a:gd name="connsiteX20" fmla="*/ 48891 w 430238"/>
                  <a:gd name="connsiteY20" fmla="*/ 306383 h 853959"/>
                  <a:gd name="connsiteX21" fmla="*/ 88003 w 430238"/>
                  <a:gd name="connsiteY21" fmla="*/ 296604 h 853959"/>
                  <a:gd name="connsiteX22" fmla="*/ 166229 w 430238"/>
                  <a:gd name="connsiteY22" fmla="*/ 290086 h 853959"/>
                  <a:gd name="connsiteX23" fmla="*/ 296604 w 430238"/>
                  <a:gd name="connsiteY23" fmla="*/ 322680 h 853959"/>
                  <a:gd name="connsiteX24" fmla="*/ 394386 w 430238"/>
                  <a:gd name="connsiteY24" fmla="*/ 420461 h 853959"/>
                  <a:gd name="connsiteX25" fmla="*/ 430239 w 430238"/>
                  <a:gd name="connsiteY25" fmla="*/ 573652 h 853959"/>
                  <a:gd name="connsiteX26" fmla="*/ 400904 w 430238"/>
                  <a:gd name="connsiteY26" fmla="*/ 707287 h 853959"/>
                  <a:gd name="connsiteX27" fmla="*/ 319420 w 430238"/>
                  <a:gd name="connsiteY27" fmla="*/ 798550 h 853959"/>
                  <a:gd name="connsiteX28" fmla="*/ 208601 w 430238"/>
                  <a:gd name="connsiteY28" fmla="*/ 850701 h 853959"/>
                  <a:gd name="connsiteX29" fmla="*/ 202082 w 430238"/>
                  <a:gd name="connsiteY29" fmla="*/ 853960 h 85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0238" h="853959">
                    <a:moveTo>
                      <a:pt x="202082" y="853960"/>
                    </a:moveTo>
                    <a:lnTo>
                      <a:pt x="195563" y="821366"/>
                    </a:lnTo>
                    <a:lnTo>
                      <a:pt x="202082" y="821366"/>
                    </a:lnTo>
                    <a:cubicBezTo>
                      <a:pt x="237935" y="811588"/>
                      <a:pt x="273788" y="795291"/>
                      <a:pt x="303123" y="772475"/>
                    </a:cubicBezTo>
                    <a:cubicBezTo>
                      <a:pt x="332457" y="752919"/>
                      <a:pt x="358532" y="723584"/>
                      <a:pt x="374829" y="690991"/>
                    </a:cubicBezTo>
                    <a:cubicBezTo>
                      <a:pt x="391126" y="658397"/>
                      <a:pt x="400904" y="619284"/>
                      <a:pt x="400904" y="573652"/>
                    </a:cubicBezTo>
                    <a:cubicBezTo>
                      <a:pt x="400904" y="518243"/>
                      <a:pt x="391126" y="472611"/>
                      <a:pt x="368311" y="436758"/>
                    </a:cubicBezTo>
                    <a:cubicBezTo>
                      <a:pt x="345495" y="400905"/>
                      <a:pt x="316160" y="371570"/>
                      <a:pt x="283567" y="352014"/>
                    </a:cubicBezTo>
                    <a:cubicBezTo>
                      <a:pt x="247713" y="332458"/>
                      <a:pt x="208601" y="322680"/>
                      <a:pt x="169488" y="322680"/>
                    </a:cubicBezTo>
                    <a:cubicBezTo>
                      <a:pt x="143413" y="322680"/>
                      <a:pt x="120597" y="325939"/>
                      <a:pt x="97782" y="329198"/>
                    </a:cubicBezTo>
                    <a:cubicBezTo>
                      <a:pt x="74966" y="332458"/>
                      <a:pt x="52150" y="338976"/>
                      <a:pt x="32594" y="348755"/>
                    </a:cubicBezTo>
                    <a:lnTo>
                      <a:pt x="0" y="365052"/>
                    </a:lnTo>
                    <a:lnTo>
                      <a:pt x="61928" y="172748"/>
                    </a:lnTo>
                    <a:lnTo>
                      <a:pt x="384608" y="172748"/>
                    </a:lnTo>
                    <a:lnTo>
                      <a:pt x="384608" y="32594"/>
                    </a:lnTo>
                    <a:lnTo>
                      <a:pt x="283567" y="32594"/>
                    </a:lnTo>
                    <a:lnTo>
                      <a:pt x="283567" y="0"/>
                    </a:lnTo>
                    <a:lnTo>
                      <a:pt x="417201" y="0"/>
                    </a:lnTo>
                    <a:lnTo>
                      <a:pt x="417201" y="205342"/>
                    </a:lnTo>
                    <a:lnTo>
                      <a:pt x="81485" y="205342"/>
                    </a:lnTo>
                    <a:lnTo>
                      <a:pt x="48891" y="306383"/>
                    </a:lnTo>
                    <a:cubicBezTo>
                      <a:pt x="61928" y="303123"/>
                      <a:pt x="74966" y="299864"/>
                      <a:pt x="88003" y="296604"/>
                    </a:cubicBezTo>
                    <a:cubicBezTo>
                      <a:pt x="114079" y="293345"/>
                      <a:pt x="140154" y="290086"/>
                      <a:pt x="166229" y="290086"/>
                    </a:cubicBezTo>
                    <a:cubicBezTo>
                      <a:pt x="211860" y="290086"/>
                      <a:pt x="257491" y="299864"/>
                      <a:pt x="296604" y="322680"/>
                    </a:cubicBezTo>
                    <a:cubicBezTo>
                      <a:pt x="335717" y="345495"/>
                      <a:pt x="368311" y="378089"/>
                      <a:pt x="394386" y="420461"/>
                    </a:cubicBezTo>
                    <a:cubicBezTo>
                      <a:pt x="420461" y="462833"/>
                      <a:pt x="430239" y="514983"/>
                      <a:pt x="430239" y="573652"/>
                    </a:cubicBezTo>
                    <a:cubicBezTo>
                      <a:pt x="430239" y="625803"/>
                      <a:pt x="420461" y="668175"/>
                      <a:pt x="400904" y="707287"/>
                    </a:cubicBezTo>
                    <a:cubicBezTo>
                      <a:pt x="381348" y="743141"/>
                      <a:pt x="352014" y="775735"/>
                      <a:pt x="319420" y="798550"/>
                    </a:cubicBezTo>
                    <a:cubicBezTo>
                      <a:pt x="286826" y="821366"/>
                      <a:pt x="247713" y="840922"/>
                      <a:pt x="208601" y="850701"/>
                    </a:cubicBezTo>
                    <a:lnTo>
                      <a:pt x="202082" y="853960"/>
                    </a:lnTo>
                    <a:close/>
                  </a:path>
                </a:pathLst>
              </a:custGeom>
              <a:solidFill>
                <a:srgbClr val="FFFFFF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70" name="Полилиния: фигура 83">
                <a:extLst>
                  <a:ext uri="{FF2B5EF4-FFF2-40B4-BE49-F238E27FC236}">
                    <a16:creationId xmlns:a16="http://schemas.microsoft.com/office/drawing/2014/main" id="{FD8903AE-6483-497A-9034-714FFE1C99D8}"/>
                  </a:ext>
                </a:extLst>
              </p:cNvPr>
              <p:cNvSpPr/>
              <p:nvPr/>
            </p:nvSpPr>
            <p:spPr>
              <a:xfrm>
                <a:off x="5453381" y="170989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Группа 216">
            <a:extLst>
              <a:ext uri="{FF2B5EF4-FFF2-40B4-BE49-F238E27FC236}">
                <a16:creationId xmlns:a16="http://schemas.microsoft.com/office/drawing/2014/main" id="{B9D94ED9-A654-4FE2-86DB-1F8CA719F027}"/>
              </a:ext>
            </a:extLst>
          </p:cNvPr>
          <p:cNvGrpSpPr>
            <a:grpSpLocks noChangeAspect="1"/>
          </p:cNvGrpSpPr>
          <p:nvPr/>
        </p:nvGrpSpPr>
        <p:grpSpPr>
          <a:xfrm>
            <a:off x="7638349" y="3215395"/>
            <a:ext cx="455517" cy="348952"/>
            <a:chOff x="6419284" y="2899233"/>
            <a:chExt cx="1192037" cy="913167"/>
          </a:xfrm>
        </p:grpSpPr>
        <p:sp>
          <p:nvSpPr>
            <p:cNvPr id="172" name="Полилиния: фигура 105">
              <a:extLst>
                <a:ext uri="{FF2B5EF4-FFF2-40B4-BE49-F238E27FC236}">
                  <a16:creationId xmlns:a16="http://schemas.microsoft.com/office/drawing/2014/main" id="{4102AFD0-E930-4F84-AAE8-8761EEBCEEE6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07">
              <a:extLst>
                <a:ext uri="{FF2B5EF4-FFF2-40B4-BE49-F238E27FC236}">
                  <a16:creationId xmlns:a16="http://schemas.microsoft.com/office/drawing/2014/main" id="{0BA94AB2-EFDF-4A1D-93C1-B0FD45BD905F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08">
              <a:extLst>
                <a:ext uri="{FF2B5EF4-FFF2-40B4-BE49-F238E27FC236}">
                  <a16:creationId xmlns:a16="http://schemas.microsoft.com/office/drawing/2014/main" id="{0B60A482-3B4A-4703-B75C-E5531327AE57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09">
              <a:extLst>
                <a:ext uri="{FF2B5EF4-FFF2-40B4-BE49-F238E27FC236}">
                  <a16:creationId xmlns:a16="http://schemas.microsoft.com/office/drawing/2014/main" id="{1A2CC9BB-0C3F-42B3-A700-25A21DD7CA0C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10">
              <a:extLst>
                <a:ext uri="{FF2B5EF4-FFF2-40B4-BE49-F238E27FC236}">
                  <a16:creationId xmlns:a16="http://schemas.microsoft.com/office/drawing/2014/main" id="{D238C325-BDCE-4A12-91F1-C1B087405D60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solidFill>
              <a:srgbClr val="8F0D6B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11">
              <a:extLst>
                <a:ext uri="{FF2B5EF4-FFF2-40B4-BE49-F238E27FC236}">
                  <a16:creationId xmlns:a16="http://schemas.microsoft.com/office/drawing/2014/main" id="{9195DB26-F0D3-4485-8F94-2397472F3752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12">
              <a:extLst>
                <a:ext uri="{FF2B5EF4-FFF2-40B4-BE49-F238E27FC236}">
                  <a16:creationId xmlns:a16="http://schemas.microsoft.com/office/drawing/2014/main" id="{E7C7E097-F062-4FCD-AF0C-8546FF4975BB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13">
              <a:extLst>
                <a:ext uri="{FF2B5EF4-FFF2-40B4-BE49-F238E27FC236}">
                  <a16:creationId xmlns:a16="http://schemas.microsoft.com/office/drawing/2014/main" id="{4165D101-05FB-4845-967E-A531FF5EC97A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114">
              <a:extLst>
                <a:ext uri="{FF2B5EF4-FFF2-40B4-BE49-F238E27FC236}">
                  <a16:creationId xmlns:a16="http://schemas.microsoft.com/office/drawing/2014/main" id="{BE20A637-E9EC-4069-930A-E86BA20C1C9C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solidFill>
              <a:srgbClr val="FFFFFF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166">
              <a:extLst>
                <a:ext uri="{FF2B5EF4-FFF2-40B4-BE49-F238E27FC236}">
                  <a16:creationId xmlns:a16="http://schemas.microsoft.com/office/drawing/2014/main" id="{54DDE194-CCDB-4AFB-A4FC-DD9375745B58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rgbClr val="FFFFFF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167">
              <a:extLst>
                <a:ext uri="{FF2B5EF4-FFF2-40B4-BE49-F238E27FC236}">
                  <a16:creationId xmlns:a16="http://schemas.microsoft.com/office/drawing/2014/main" id="{8764144C-1D1B-4CD7-B4C0-8D4E2E64D8DE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rgbClr val="FFFFFF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183" name="Группа 478">
            <a:extLst>
              <a:ext uri="{FF2B5EF4-FFF2-40B4-BE49-F238E27FC236}">
                <a16:creationId xmlns:a16="http://schemas.microsoft.com/office/drawing/2014/main" id="{599D1D19-F482-43AF-9666-F8E782B18D42}"/>
              </a:ext>
            </a:extLst>
          </p:cNvPr>
          <p:cNvGrpSpPr>
            <a:grpSpLocks noChangeAspect="1"/>
          </p:cNvGrpSpPr>
          <p:nvPr/>
        </p:nvGrpSpPr>
        <p:grpSpPr>
          <a:xfrm>
            <a:off x="7701449" y="4789442"/>
            <a:ext cx="329316" cy="322124"/>
            <a:chOff x="6945895" y="918161"/>
            <a:chExt cx="887700" cy="868314"/>
          </a:xfrm>
        </p:grpSpPr>
        <p:sp>
          <p:nvSpPr>
            <p:cNvPr id="184" name="Полилиния: фигура 28">
              <a:extLst>
                <a:ext uri="{FF2B5EF4-FFF2-40B4-BE49-F238E27FC236}">
                  <a16:creationId xmlns:a16="http://schemas.microsoft.com/office/drawing/2014/main" id="{1AB089D4-62C6-49A5-91D4-CCDC0C2D3653}"/>
                </a:ext>
              </a:extLst>
            </p:cNvPr>
            <p:cNvSpPr/>
            <p:nvPr/>
          </p:nvSpPr>
          <p:spPr>
            <a:xfrm>
              <a:off x="7357236" y="1008236"/>
              <a:ext cx="235410" cy="551137"/>
            </a:xfrm>
            <a:custGeom>
              <a:avLst/>
              <a:gdLst>
                <a:gd name="connsiteX0" fmla="*/ 196637 w 235410"/>
                <a:gd name="connsiteY0" fmla="*/ 551137 h 551137"/>
                <a:gd name="connsiteX1" fmla="*/ 8309 w 235410"/>
                <a:gd name="connsiteY1" fmla="*/ 382196 h 551137"/>
                <a:gd name="connsiteX2" fmla="*/ 0 w 235410"/>
                <a:gd name="connsiteY2" fmla="*/ 362809 h 551137"/>
                <a:gd name="connsiteX3" fmla="*/ 0 w 235410"/>
                <a:gd name="connsiteY3" fmla="*/ 0 h 551137"/>
                <a:gd name="connsiteX4" fmla="*/ 55391 w 235410"/>
                <a:gd name="connsiteY4" fmla="*/ 0 h 551137"/>
                <a:gd name="connsiteX5" fmla="*/ 55391 w 235410"/>
                <a:gd name="connsiteY5" fmla="*/ 348961 h 551137"/>
                <a:gd name="connsiteX6" fmla="*/ 235410 w 235410"/>
                <a:gd name="connsiteY6" fmla="*/ 509594 h 551137"/>
                <a:gd name="connsiteX7" fmla="*/ 196637 w 235410"/>
                <a:gd name="connsiteY7" fmla="*/ 551137 h 55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410" h="551137">
                  <a:moveTo>
                    <a:pt x="196637" y="551137"/>
                  </a:moveTo>
                  <a:lnTo>
                    <a:pt x="8309" y="382196"/>
                  </a:lnTo>
                  <a:cubicBezTo>
                    <a:pt x="2770" y="376657"/>
                    <a:pt x="0" y="368348"/>
                    <a:pt x="0" y="362809"/>
                  </a:cubicBezTo>
                  <a:lnTo>
                    <a:pt x="0" y="0"/>
                  </a:lnTo>
                  <a:lnTo>
                    <a:pt x="55391" y="0"/>
                  </a:lnTo>
                  <a:lnTo>
                    <a:pt x="55391" y="348961"/>
                  </a:lnTo>
                  <a:lnTo>
                    <a:pt x="235410" y="509594"/>
                  </a:lnTo>
                  <a:lnTo>
                    <a:pt x="196637" y="551137"/>
                  </a:ln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9">
              <a:extLst>
                <a:ext uri="{FF2B5EF4-FFF2-40B4-BE49-F238E27FC236}">
                  <a16:creationId xmlns:a16="http://schemas.microsoft.com/office/drawing/2014/main" id="{434F25E9-DE5A-4F32-A53A-9B38B1975310}"/>
                </a:ext>
              </a:extLst>
            </p:cNvPr>
            <p:cNvSpPr/>
            <p:nvPr/>
          </p:nvSpPr>
          <p:spPr>
            <a:xfrm>
              <a:off x="7650807" y="1080244"/>
              <a:ext cx="160632" cy="160632"/>
            </a:xfrm>
            <a:custGeom>
              <a:avLst/>
              <a:gdLst>
                <a:gd name="connsiteX0" fmla="*/ 132938 w 160632"/>
                <a:gd name="connsiteY0" fmla="*/ 160633 h 160632"/>
                <a:gd name="connsiteX1" fmla="*/ 124629 w 160632"/>
                <a:gd name="connsiteY1" fmla="*/ 157863 h 160632"/>
                <a:gd name="connsiteX2" fmla="*/ 0 w 160632"/>
                <a:gd name="connsiteY2" fmla="*/ 85856 h 160632"/>
                <a:gd name="connsiteX3" fmla="*/ 13848 w 160632"/>
                <a:gd name="connsiteY3" fmla="*/ 60930 h 160632"/>
                <a:gd name="connsiteX4" fmla="*/ 121859 w 160632"/>
                <a:gd name="connsiteY4" fmla="*/ 124629 h 160632"/>
                <a:gd name="connsiteX5" fmla="*/ 132938 w 160632"/>
                <a:gd name="connsiteY5" fmla="*/ 0 h 160632"/>
                <a:gd name="connsiteX6" fmla="*/ 160633 w 160632"/>
                <a:gd name="connsiteY6" fmla="*/ 2770 h 160632"/>
                <a:gd name="connsiteX7" fmla="*/ 146785 w 160632"/>
                <a:gd name="connsiteY7" fmla="*/ 149555 h 160632"/>
                <a:gd name="connsiteX8" fmla="*/ 138477 w 160632"/>
                <a:gd name="connsiteY8" fmla="*/ 160633 h 160632"/>
                <a:gd name="connsiteX9" fmla="*/ 132938 w 160632"/>
                <a:gd name="connsiteY9" fmla="*/ 160633 h 1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632" h="160632">
                  <a:moveTo>
                    <a:pt x="132938" y="160633"/>
                  </a:moveTo>
                  <a:cubicBezTo>
                    <a:pt x="130168" y="160633"/>
                    <a:pt x="127398" y="160633"/>
                    <a:pt x="124629" y="157863"/>
                  </a:cubicBezTo>
                  <a:lnTo>
                    <a:pt x="0" y="85856"/>
                  </a:lnTo>
                  <a:lnTo>
                    <a:pt x="13848" y="60930"/>
                  </a:lnTo>
                  <a:lnTo>
                    <a:pt x="121859" y="124629"/>
                  </a:lnTo>
                  <a:lnTo>
                    <a:pt x="132938" y="0"/>
                  </a:lnTo>
                  <a:lnTo>
                    <a:pt x="160633" y="2770"/>
                  </a:lnTo>
                  <a:lnTo>
                    <a:pt x="146785" y="149555"/>
                  </a:lnTo>
                  <a:cubicBezTo>
                    <a:pt x="146785" y="155094"/>
                    <a:pt x="144016" y="157863"/>
                    <a:pt x="138477" y="160633"/>
                  </a:cubicBezTo>
                  <a:cubicBezTo>
                    <a:pt x="135707" y="160633"/>
                    <a:pt x="135707" y="160633"/>
                    <a:pt x="132938" y="160633"/>
                  </a:cubicBez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37">
              <a:extLst>
                <a:ext uri="{FF2B5EF4-FFF2-40B4-BE49-F238E27FC236}">
                  <a16:creationId xmlns:a16="http://schemas.microsoft.com/office/drawing/2014/main" id="{928FAC9F-85FA-4EB2-81F7-9429F57E919B}"/>
                </a:ext>
              </a:extLst>
            </p:cNvPr>
            <p:cNvSpPr/>
            <p:nvPr/>
          </p:nvSpPr>
          <p:spPr>
            <a:xfrm>
              <a:off x="6945895" y="918161"/>
              <a:ext cx="843387" cy="868314"/>
            </a:xfrm>
            <a:custGeom>
              <a:avLst/>
              <a:gdLst>
                <a:gd name="connsiteX0" fmla="*/ 433497 w 843387"/>
                <a:gd name="connsiteY0" fmla="*/ 868314 h 868314"/>
                <a:gd name="connsiteX1" fmla="*/ 397493 w 843387"/>
                <a:gd name="connsiteY1" fmla="*/ 865545 h 868314"/>
                <a:gd name="connsiteX2" fmla="*/ 1450 w 843387"/>
                <a:gd name="connsiteY2" fmla="*/ 397494 h 868314"/>
                <a:gd name="connsiteX3" fmla="*/ 469501 w 843387"/>
                <a:gd name="connsiteY3" fmla="*/ 1450 h 868314"/>
                <a:gd name="connsiteX4" fmla="*/ 837849 w 843387"/>
                <a:gd name="connsiteY4" fmla="*/ 272865 h 868314"/>
                <a:gd name="connsiteX5" fmla="*/ 812923 w 843387"/>
                <a:gd name="connsiteY5" fmla="*/ 283943 h 868314"/>
                <a:gd name="connsiteX6" fmla="*/ 469501 w 843387"/>
                <a:gd name="connsiteY6" fmla="*/ 29146 h 868314"/>
                <a:gd name="connsiteX7" fmla="*/ 173161 w 843387"/>
                <a:gd name="connsiteY7" fmla="*/ 126079 h 868314"/>
                <a:gd name="connsiteX8" fmla="*/ 31915 w 843387"/>
                <a:gd name="connsiteY8" fmla="*/ 403033 h 868314"/>
                <a:gd name="connsiteX9" fmla="*/ 403032 w 843387"/>
                <a:gd name="connsiteY9" fmla="*/ 840619 h 868314"/>
                <a:gd name="connsiteX10" fmla="*/ 818462 w 843387"/>
                <a:gd name="connsiteY10" fmla="*/ 577513 h 868314"/>
                <a:gd name="connsiteX11" fmla="*/ 843388 w 843387"/>
                <a:gd name="connsiteY11" fmla="*/ 585822 h 868314"/>
                <a:gd name="connsiteX12" fmla="*/ 433497 w 843387"/>
                <a:gd name="connsiteY12" fmla="*/ 868314 h 86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3387" h="868314">
                  <a:moveTo>
                    <a:pt x="433497" y="868314"/>
                  </a:moveTo>
                  <a:cubicBezTo>
                    <a:pt x="422419" y="868314"/>
                    <a:pt x="408571" y="868314"/>
                    <a:pt x="397493" y="865545"/>
                  </a:cubicBezTo>
                  <a:cubicBezTo>
                    <a:pt x="159314" y="846158"/>
                    <a:pt x="-17937" y="635674"/>
                    <a:pt x="1450" y="397494"/>
                  </a:cubicBezTo>
                  <a:cubicBezTo>
                    <a:pt x="20837" y="159314"/>
                    <a:pt x="231321" y="-17937"/>
                    <a:pt x="469501" y="1450"/>
                  </a:cubicBezTo>
                  <a:cubicBezTo>
                    <a:pt x="635673" y="15298"/>
                    <a:pt x="774150" y="120540"/>
                    <a:pt x="837849" y="272865"/>
                  </a:cubicBezTo>
                  <a:lnTo>
                    <a:pt x="812923" y="283943"/>
                  </a:lnTo>
                  <a:cubicBezTo>
                    <a:pt x="754763" y="139927"/>
                    <a:pt x="624595" y="42993"/>
                    <a:pt x="469501" y="29146"/>
                  </a:cubicBezTo>
                  <a:cubicBezTo>
                    <a:pt x="361489" y="23606"/>
                    <a:pt x="256247" y="56841"/>
                    <a:pt x="173161" y="126079"/>
                  </a:cubicBezTo>
                  <a:cubicBezTo>
                    <a:pt x="90075" y="195318"/>
                    <a:pt x="40224" y="295021"/>
                    <a:pt x="31915" y="403033"/>
                  </a:cubicBezTo>
                  <a:cubicBezTo>
                    <a:pt x="12528" y="624595"/>
                    <a:pt x="178700" y="821232"/>
                    <a:pt x="403032" y="840619"/>
                  </a:cubicBezTo>
                  <a:cubicBezTo>
                    <a:pt x="585821" y="854467"/>
                    <a:pt x="754763" y="746455"/>
                    <a:pt x="818462" y="577513"/>
                  </a:cubicBezTo>
                  <a:lnTo>
                    <a:pt x="843388" y="585822"/>
                  </a:lnTo>
                  <a:cubicBezTo>
                    <a:pt x="779689" y="757533"/>
                    <a:pt x="613517" y="868314"/>
                    <a:pt x="433497" y="868314"/>
                  </a:cubicBezTo>
                  <a:close/>
                </a:path>
              </a:pathLst>
            </a:custGeom>
            <a:solidFill>
              <a:srgbClr val="FFFFFF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38">
              <a:extLst>
                <a:ext uri="{FF2B5EF4-FFF2-40B4-BE49-F238E27FC236}">
                  <a16:creationId xmlns:a16="http://schemas.microsoft.com/office/drawing/2014/main" id="{24CC208D-7A4A-4210-8CE7-5201BF36C151}"/>
                </a:ext>
              </a:extLst>
            </p:cNvPr>
            <p:cNvSpPr/>
            <p:nvPr/>
          </p:nvSpPr>
          <p:spPr>
            <a:xfrm>
              <a:off x="7728353" y="1301807"/>
              <a:ext cx="105242" cy="102472"/>
            </a:xfrm>
            <a:custGeom>
              <a:avLst/>
              <a:gdLst>
                <a:gd name="connsiteX0" fmla="*/ 0 w 105242"/>
                <a:gd name="connsiteY0" fmla="*/ 0 h 102472"/>
                <a:gd name="connsiteX1" fmla="*/ 105242 w 105242"/>
                <a:gd name="connsiteY1" fmla="*/ 0 h 102472"/>
                <a:gd name="connsiteX2" fmla="*/ 105242 w 105242"/>
                <a:gd name="connsiteY2" fmla="*/ 102473 h 102472"/>
                <a:gd name="connsiteX3" fmla="*/ 0 w 105242"/>
                <a:gd name="connsiteY3" fmla="*/ 102473 h 10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42" h="102472">
                  <a:moveTo>
                    <a:pt x="0" y="0"/>
                  </a:moveTo>
                  <a:lnTo>
                    <a:pt x="105242" y="0"/>
                  </a:lnTo>
                  <a:lnTo>
                    <a:pt x="105242" y="102473"/>
                  </a:lnTo>
                  <a:lnTo>
                    <a:pt x="0" y="102473"/>
                  </a:lnTo>
                  <a:close/>
                </a:path>
              </a:pathLst>
            </a:custGeom>
            <a:solidFill>
              <a:srgbClr val="8F0D6B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471">
              <a:extLst>
                <a:ext uri="{FF2B5EF4-FFF2-40B4-BE49-F238E27FC236}">
                  <a16:creationId xmlns:a16="http://schemas.microsoft.com/office/drawing/2014/main" id="{3B6D6041-D1C9-4420-9C90-F451DF3F5AE6}"/>
                </a:ext>
              </a:extLst>
            </p:cNvPr>
            <p:cNvSpPr/>
            <p:nvPr/>
          </p:nvSpPr>
          <p:spPr>
            <a:xfrm>
              <a:off x="7002736" y="1359967"/>
              <a:ext cx="80316" cy="27695"/>
            </a:xfrm>
            <a:custGeom>
              <a:avLst/>
              <a:gdLst>
                <a:gd name="connsiteX0" fmla="*/ 0 w 80316"/>
                <a:gd name="connsiteY0" fmla="*/ 0 h 27695"/>
                <a:gd name="connsiteX1" fmla="*/ 80316 w 80316"/>
                <a:gd name="connsiteY1" fmla="*/ 0 h 27695"/>
                <a:gd name="connsiteX2" fmla="*/ 80316 w 80316"/>
                <a:gd name="connsiteY2" fmla="*/ 27695 h 27695"/>
                <a:gd name="connsiteX3" fmla="*/ 0 w 80316"/>
                <a:gd name="connsiteY3" fmla="*/ 27695 h 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16" h="27695">
                  <a:moveTo>
                    <a:pt x="0" y="0"/>
                  </a:moveTo>
                  <a:lnTo>
                    <a:pt x="80316" y="0"/>
                  </a:lnTo>
                  <a:lnTo>
                    <a:pt x="80316" y="27695"/>
                  </a:lnTo>
                  <a:lnTo>
                    <a:pt x="0" y="27695"/>
                  </a:lnTo>
                  <a:close/>
                </a:path>
              </a:pathLst>
            </a:custGeom>
            <a:solidFill>
              <a:srgbClr val="8F0D6B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472">
              <a:extLst>
                <a:ext uri="{FF2B5EF4-FFF2-40B4-BE49-F238E27FC236}">
                  <a16:creationId xmlns:a16="http://schemas.microsoft.com/office/drawing/2014/main" id="{BF3B3206-C8DA-4537-BD22-BA580EC58739}"/>
                </a:ext>
              </a:extLst>
            </p:cNvPr>
            <p:cNvSpPr/>
            <p:nvPr/>
          </p:nvSpPr>
          <p:spPr>
            <a:xfrm>
              <a:off x="7354467" y="1664616"/>
              <a:ext cx="27695" cy="69238"/>
            </a:xfrm>
            <a:custGeom>
              <a:avLst/>
              <a:gdLst>
                <a:gd name="connsiteX0" fmla="*/ 0 w 27695"/>
                <a:gd name="connsiteY0" fmla="*/ 0 h 69238"/>
                <a:gd name="connsiteX1" fmla="*/ 27695 w 27695"/>
                <a:gd name="connsiteY1" fmla="*/ 0 h 69238"/>
                <a:gd name="connsiteX2" fmla="*/ 27695 w 27695"/>
                <a:gd name="connsiteY2" fmla="*/ 69238 h 69238"/>
                <a:gd name="connsiteX3" fmla="*/ 0 w 27695"/>
                <a:gd name="connsiteY3" fmla="*/ 69238 h 6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95" h="69238">
                  <a:moveTo>
                    <a:pt x="0" y="0"/>
                  </a:moveTo>
                  <a:lnTo>
                    <a:pt x="27695" y="0"/>
                  </a:lnTo>
                  <a:lnTo>
                    <a:pt x="27695" y="69238"/>
                  </a:lnTo>
                  <a:lnTo>
                    <a:pt x="0" y="69238"/>
                  </a:lnTo>
                  <a:close/>
                </a:path>
              </a:pathLst>
            </a:custGeom>
            <a:solidFill>
              <a:srgbClr val="8F0D6B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0" name="Группа 301">
            <a:extLst>
              <a:ext uri="{FF2B5EF4-FFF2-40B4-BE49-F238E27FC236}">
                <a16:creationId xmlns:a16="http://schemas.microsoft.com/office/drawing/2014/main" id="{69627560-8686-4B86-9EC4-58B5EA98FA9B}"/>
              </a:ext>
            </a:extLst>
          </p:cNvPr>
          <p:cNvGrpSpPr>
            <a:grpSpLocks noChangeAspect="1"/>
          </p:cNvGrpSpPr>
          <p:nvPr/>
        </p:nvGrpSpPr>
        <p:grpSpPr>
          <a:xfrm>
            <a:off x="7710129" y="5474010"/>
            <a:ext cx="311957" cy="310785"/>
            <a:chOff x="2008667" y="1037660"/>
            <a:chExt cx="855993" cy="852776"/>
          </a:xfrm>
        </p:grpSpPr>
        <p:sp>
          <p:nvSpPr>
            <p:cNvPr id="191" name="Полилиния: фигура 7">
              <a:extLst>
                <a:ext uri="{FF2B5EF4-FFF2-40B4-BE49-F238E27FC236}">
                  <a16:creationId xmlns:a16="http://schemas.microsoft.com/office/drawing/2014/main" id="{23C692E5-E242-4FDE-991B-5770733525C8}"/>
                </a:ext>
              </a:extLst>
            </p:cNvPr>
            <p:cNvSpPr/>
            <p:nvPr/>
          </p:nvSpPr>
          <p:spPr>
            <a:xfrm>
              <a:off x="2008667" y="1037660"/>
              <a:ext cx="460247" cy="582551"/>
            </a:xfrm>
            <a:custGeom>
              <a:avLst/>
              <a:gdLst>
                <a:gd name="connsiteX0" fmla="*/ 238170 w 460247"/>
                <a:gd name="connsiteY0" fmla="*/ 582552 h 582551"/>
                <a:gd name="connsiteX1" fmla="*/ 183455 w 460247"/>
                <a:gd name="connsiteY1" fmla="*/ 563241 h 582551"/>
                <a:gd name="connsiteX2" fmla="*/ 160926 w 460247"/>
                <a:gd name="connsiteY2" fmla="*/ 460248 h 582551"/>
                <a:gd name="connsiteX3" fmla="*/ 148052 w 460247"/>
                <a:gd name="connsiteY3" fmla="*/ 457030 h 582551"/>
                <a:gd name="connsiteX4" fmla="*/ 57933 w 460247"/>
                <a:gd name="connsiteY4" fmla="*/ 457030 h 582551"/>
                <a:gd name="connsiteX5" fmla="*/ 0 w 460247"/>
                <a:gd name="connsiteY5" fmla="*/ 457030 h 582551"/>
                <a:gd name="connsiteX6" fmla="*/ 0 w 460247"/>
                <a:gd name="connsiteY6" fmla="*/ 0 h 582551"/>
                <a:gd name="connsiteX7" fmla="*/ 457029 w 460247"/>
                <a:gd name="connsiteY7" fmla="*/ 0 h 582551"/>
                <a:gd name="connsiteX8" fmla="*/ 457029 w 460247"/>
                <a:gd name="connsiteY8" fmla="*/ 57933 h 582551"/>
                <a:gd name="connsiteX9" fmla="*/ 424844 w 460247"/>
                <a:gd name="connsiteY9" fmla="*/ 57933 h 582551"/>
                <a:gd name="connsiteX10" fmla="*/ 424844 w 460247"/>
                <a:gd name="connsiteY10" fmla="*/ 32185 h 582551"/>
                <a:gd name="connsiteX11" fmla="*/ 32185 w 460247"/>
                <a:gd name="connsiteY11" fmla="*/ 32185 h 582551"/>
                <a:gd name="connsiteX12" fmla="*/ 32185 w 460247"/>
                <a:gd name="connsiteY12" fmla="*/ 424844 h 582551"/>
                <a:gd name="connsiteX13" fmla="*/ 57933 w 460247"/>
                <a:gd name="connsiteY13" fmla="*/ 424844 h 582551"/>
                <a:gd name="connsiteX14" fmla="*/ 151270 w 460247"/>
                <a:gd name="connsiteY14" fmla="*/ 424844 h 582551"/>
                <a:gd name="connsiteX15" fmla="*/ 177018 w 460247"/>
                <a:gd name="connsiteY15" fmla="*/ 431282 h 582551"/>
                <a:gd name="connsiteX16" fmla="*/ 196330 w 460247"/>
                <a:gd name="connsiteY16" fmla="*/ 450593 h 582551"/>
                <a:gd name="connsiteX17" fmla="*/ 193111 w 460247"/>
                <a:gd name="connsiteY17" fmla="*/ 479559 h 582551"/>
                <a:gd name="connsiteX18" fmla="*/ 209204 w 460247"/>
                <a:gd name="connsiteY18" fmla="*/ 543930 h 582551"/>
                <a:gd name="connsiteX19" fmla="*/ 276792 w 460247"/>
                <a:gd name="connsiteY19" fmla="*/ 547148 h 582551"/>
                <a:gd name="connsiteX20" fmla="*/ 292885 w 460247"/>
                <a:gd name="connsiteY20" fmla="*/ 485996 h 582551"/>
                <a:gd name="connsiteX21" fmla="*/ 292885 w 460247"/>
                <a:gd name="connsiteY21" fmla="*/ 447374 h 582551"/>
                <a:gd name="connsiteX22" fmla="*/ 328289 w 460247"/>
                <a:gd name="connsiteY22" fmla="*/ 431282 h 582551"/>
                <a:gd name="connsiteX23" fmla="*/ 402315 w 460247"/>
                <a:gd name="connsiteY23" fmla="*/ 431282 h 582551"/>
                <a:gd name="connsiteX24" fmla="*/ 428063 w 460247"/>
                <a:gd name="connsiteY24" fmla="*/ 431282 h 582551"/>
                <a:gd name="connsiteX25" fmla="*/ 428063 w 460247"/>
                <a:gd name="connsiteY25" fmla="*/ 366911 h 582551"/>
                <a:gd name="connsiteX26" fmla="*/ 460248 w 460247"/>
                <a:gd name="connsiteY26" fmla="*/ 366911 h 582551"/>
                <a:gd name="connsiteX27" fmla="*/ 460248 w 460247"/>
                <a:gd name="connsiteY27" fmla="*/ 463467 h 582551"/>
                <a:gd name="connsiteX28" fmla="*/ 402315 w 460247"/>
                <a:gd name="connsiteY28" fmla="*/ 463467 h 582551"/>
                <a:gd name="connsiteX29" fmla="*/ 328289 w 460247"/>
                <a:gd name="connsiteY29" fmla="*/ 463467 h 582551"/>
                <a:gd name="connsiteX30" fmla="*/ 318633 w 460247"/>
                <a:gd name="connsiteY30" fmla="*/ 466685 h 582551"/>
                <a:gd name="connsiteX31" fmla="*/ 318633 w 460247"/>
                <a:gd name="connsiteY31" fmla="*/ 476341 h 582551"/>
                <a:gd name="connsiteX32" fmla="*/ 292885 w 460247"/>
                <a:gd name="connsiteY32" fmla="*/ 579333 h 582551"/>
                <a:gd name="connsiteX33" fmla="*/ 238170 w 460247"/>
                <a:gd name="connsiteY33" fmla="*/ 582552 h 582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60247" h="582551">
                  <a:moveTo>
                    <a:pt x="238170" y="582552"/>
                  </a:moveTo>
                  <a:cubicBezTo>
                    <a:pt x="218859" y="582552"/>
                    <a:pt x="199548" y="576115"/>
                    <a:pt x="183455" y="563241"/>
                  </a:cubicBezTo>
                  <a:cubicBezTo>
                    <a:pt x="151270" y="537493"/>
                    <a:pt x="141615" y="492433"/>
                    <a:pt x="160926" y="460248"/>
                  </a:cubicBezTo>
                  <a:cubicBezTo>
                    <a:pt x="157707" y="457030"/>
                    <a:pt x="154489" y="457030"/>
                    <a:pt x="148052" y="457030"/>
                  </a:cubicBezTo>
                  <a:cubicBezTo>
                    <a:pt x="119085" y="457030"/>
                    <a:pt x="86900" y="457030"/>
                    <a:pt x="57933" y="457030"/>
                  </a:cubicBezTo>
                  <a:lnTo>
                    <a:pt x="0" y="457030"/>
                  </a:lnTo>
                  <a:lnTo>
                    <a:pt x="0" y="0"/>
                  </a:lnTo>
                  <a:lnTo>
                    <a:pt x="457029" y="0"/>
                  </a:lnTo>
                  <a:lnTo>
                    <a:pt x="457029" y="57933"/>
                  </a:lnTo>
                  <a:lnTo>
                    <a:pt x="424844" y="57933"/>
                  </a:lnTo>
                  <a:lnTo>
                    <a:pt x="424844" y="32185"/>
                  </a:lnTo>
                  <a:lnTo>
                    <a:pt x="32185" y="32185"/>
                  </a:lnTo>
                  <a:lnTo>
                    <a:pt x="32185" y="424844"/>
                  </a:lnTo>
                  <a:lnTo>
                    <a:pt x="57933" y="424844"/>
                  </a:lnTo>
                  <a:cubicBezTo>
                    <a:pt x="90118" y="424844"/>
                    <a:pt x="119085" y="424844"/>
                    <a:pt x="151270" y="424844"/>
                  </a:cubicBezTo>
                  <a:cubicBezTo>
                    <a:pt x="157707" y="424844"/>
                    <a:pt x="167363" y="424844"/>
                    <a:pt x="177018" y="431282"/>
                  </a:cubicBezTo>
                  <a:cubicBezTo>
                    <a:pt x="186674" y="434500"/>
                    <a:pt x="193111" y="440937"/>
                    <a:pt x="196330" y="450593"/>
                  </a:cubicBezTo>
                  <a:cubicBezTo>
                    <a:pt x="199548" y="460248"/>
                    <a:pt x="199548" y="469904"/>
                    <a:pt x="193111" y="479559"/>
                  </a:cubicBezTo>
                  <a:cubicBezTo>
                    <a:pt x="183455" y="502089"/>
                    <a:pt x="189893" y="527837"/>
                    <a:pt x="209204" y="543930"/>
                  </a:cubicBezTo>
                  <a:cubicBezTo>
                    <a:pt x="228515" y="560022"/>
                    <a:pt x="257481" y="560022"/>
                    <a:pt x="276792" y="547148"/>
                  </a:cubicBezTo>
                  <a:cubicBezTo>
                    <a:pt x="296104" y="531056"/>
                    <a:pt x="302541" y="505307"/>
                    <a:pt x="292885" y="485996"/>
                  </a:cubicBezTo>
                  <a:cubicBezTo>
                    <a:pt x="286448" y="473122"/>
                    <a:pt x="286448" y="457030"/>
                    <a:pt x="292885" y="447374"/>
                  </a:cubicBezTo>
                  <a:cubicBezTo>
                    <a:pt x="296104" y="440937"/>
                    <a:pt x="305759" y="431282"/>
                    <a:pt x="328289" y="431282"/>
                  </a:cubicBezTo>
                  <a:cubicBezTo>
                    <a:pt x="354037" y="431282"/>
                    <a:pt x="376566" y="431282"/>
                    <a:pt x="402315" y="431282"/>
                  </a:cubicBezTo>
                  <a:lnTo>
                    <a:pt x="428063" y="431282"/>
                  </a:lnTo>
                  <a:lnTo>
                    <a:pt x="428063" y="366911"/>
                  </a:lnTo>
                  <a:lnTo>
                    <a:pt x="460248" y="366911"/>
                  </a:lnTo>
                  <a:lnTo>
                    <a:pt x="460248" y="463467"/>
                  </a:lnTo>
                  <a:lnTo>
                    <a:pt x="402315" y="463467"/>
                  </a:lnTo>
                  <a:cubicBezTo>
                    <a:pt x="376566" y="463467"/>
                    <a:pt x="354037" y="463467"/>
                    <a:pt x="328289" y="463467"/>
                  </a:cubicBezTo>
                  <a:cubicBezTo>
                    <a:pt x="321852" y="463467"/>
                    <a:pt x="318633" y="466685"/>
                    <a:pt x="318633" y="466685"/>
                  </a:cubicBezTo>
                  <a:cubicBezTo>
                    <a:pt x="318633" y="466685"/>
                    <a:pt x="318633" y="469904"/>
                    <a:pt x="318633" y="476341"/>
                  </a:cubicBezTo>
                  <a:cubicBezTo>
                    <a:pt x="334726" y="511745"/>
                    <a:pt x="325070" y="553585"/>
                    <a:pt x="292885" y="579333"/>
                  </a:cubicBezTo>
                  <a:cubicBezTo>
                    <a:pt x="276792" y="579333"/>
                    <a:pt x="257481" y="582552"/>
                    <a:pt x="238170" y="582552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Полилиния: фигура 9">
              <a:extLst>
                <a:ext uri="{FF2B5EF4-FFF2-40B4-BE49-F238E27FC236}">
                  <a16:creationId xmlns:a16="http://schemas.microsoft.com/office/drawing/2014/main" id="{47DDD2CF-E242-4D88-8E17-F077834ABEF4}"/>
                </a:ext>
              </a:extLst>
            </p:cNvPr>
            <p:cNvSpPr/>
            <p:nvPr/>
          </p:nvSpPr>
          <p:spPr>
            <a:xfrm>
              <a:off x="2311076" y="1037660"/>
              <a:ext cx="553584" cy="457029"/>
            </a:xfrm>
            <a:custGeom>
              <a:avLst/>
              <a:gdLst>
                <a:gd name="connsiteX0" fmla="*/ 428063 w 553584"/>
                <a:gd name="connsiteY0" fmla="*/ 453811 h 457029"/>
                <a:gd name="connsiteX1" fmla="*/ 389441 w 553584"/>
                <a:gd name="connsiteY1" fmla="*/ 431282 h 457029"/>
                <a:gd name="connsiteX2" fmla="*/ 386222 w 553584"/>
                <a:gd name="connsiteY2" fmla="*/ 376567 h 457029"/>
                <a:gd name="connsiteX3" fmla="*/ 366911 w 553584"/>
                <a:gd name="connsiteY3" fmla="*/ 312196 h 457029"/>
                <a:gd name="connsiteX4" fmla="*/ 302541 w 553584"/>
                <a:gd name="connsiteY4" fmla="*/ 312196 h 457029"/>
                <a:gd name="connsiteX5" fmla="*/ 286448 w 553584"/>
                <a:gd name="connsiteY5" fmla="*/ 376567 h 457029"/>
                <a:gd name="connsiteX6" fmla="*/ 289667 w 553584"/>
                <a:gd name="connsiteY6" fmla="*/ 405533 h 457029"/>
                <a:gd name="connsiteX7" fmla="*/ 241389 w 553584"/>
                <a:gd name="connsiteY7" fmla="*/ 453811 h 457029"/>
                <a:gd name="connsiteX8" fmla="*/ 128741 w 553584"/>
                <a:gd name="connsiteY8" fmla="*/ 453811 h 457029"/>
                <a:gd name="connsiteX9" fmla="*/ 128741 w 553584"/>
                <a:gd name="connsiteY9" fmla="*/ 399096 h 457029"/>
                <a:gd name="connsiteX10" fmla="*/ 128741 w 553584"/>
                <a:gd name="connsiteY10" fmla="*/ 305759 h 457029"/>
                <a:gd name="connsiteX11" fmla="*/ 128741 w 553584"/>
                <a:gd name="connsiteY11" fmla="*/ 292885 h 457029"/>
                <a:gd name="connsiteX12" fmla="*/ 125522 w 553584"/>
                <a:gd name="connsiteY12" fmla="*/ 289667 h 457029"/>
                <a:gd name="connsiteX13" fmla="*/ 122304 w 553584"/>
                <a:gd name="connsiteY13" fmla="*/ 289667 h 457029"/>
                <a:gd name="connsiteX14" fmla="*/ 19311 w 553584"/>
                <a:gd name="connsiteY14" fmla="*/ 267137 h 457029"/>
                <a:gd name="connsiteX15" fmla="*/ 19311 w 553584"/>
                <a:gd name="connsiteY15" fmla="*/ 157707 h 457029"/>
                <a:gd name="connsiteX16" fmla="*/ 122304 w 553584"/>
                <a:gd name="connsiteY16" fmla="*/ 135178 h 457029"/>
                <a:gd name="connsiteX17" fmla="*/ 141615 w 553584"/>
                <a:gd name="connsiteY17" fmla="*/ 141615 h 457029"/>
                <a:gd name="connsiteX18" fmla="*/ 125522 w 553584"/>
                <a:gd name="connsiteY18" fmla="*/ 135178 h 457029"/>
                <a:gd name="connsiteX19" fmla="*/ 128741 w 553584"/>
                <a:gd name="connsiteY19" fmla="*/ 122304 h 457029"/>
                <a:gd name="connsiteX20" fmla="*/ 128741 w 553584"/>
                <a:gd name="connsiteY20" fmla="*/ 41841 h 457029"/>
                <a:gd name="connsiteX21" fmla="*/ 128741 w 553584"/>
                <a:gd name="connsiteY21" fmla="*/ 0 h 457029"/>
                <a:gd name="connsiteX22" fmla="*/ 553585 w 553584"/>
                <a:gd name="connsiteY22" fmla="*/ 0 h 457029"/>
                <a:gd name="connsiteX23" fmla="*/ 553585 w 553584"/>
                <a:gd name="connsiteY23" fmla="*/ 457030 h 457029"/>
                <a:gd name="connsiteX24" fmla="*/ 505307 w 553584"/>
                <a:gd name="connsiteY24" fmla="*/ 457030 h 457029"/>
                <a:gd name="connsiteX25" fmla="*/ 428063 w 553584"/>
                <a:gd name="connsiteY25" fmla="*/ 453811 h 457029"/>
                <a:gd name="connsiteX26" fmla="*/ 428063 w 553584"/>
                <a:gd name="connsiteY26" fmla="*/ 453811 h 457029"/>
                <a:gd name="connsiteX27" fmla="*/ 334726 w 553584"/>
                <a:gd name="connsiteY27" fmla="*/ 270356 h 457029"/>
                <a:gd name="connsiteX28" fmla="*/ 386222 w 553584"/>
                <a:gd name="connsiteY28" fmla="*/ 286448 h 457029"/>
                <a:gd name="connsiteX29" fmla="*/ 415189 w 553584"/>
                <a:gd name="connsiteY29" fmla="*/ 389441 h 457029"/>
                <a:gd name="connsiteX30" fmla="*/ 415189 w 553584"/>
                <a:gd name="connsiteY30" fmla="*/ 415189 h 457029"/>
                <a:gd name="connsiteX31" fmla="*/ 428063 w 553584"/>
                <a:gd name="connsiteY31" fmla="*/ 421626 h 457029"/>
                <a:gd name="connsiteX32" fmla="*/ 505307 w 553584"/>
                <a:gd name="connsiteY32" fmla="*/ 421626 h 457029"/>
                <a:gd name="connsiteX33" fmla="*/ 521400 w 553584"/>
                <a:gd name="connsiteY33" fmla="*/ 421626 h 457029"/>
                <a:gd name="connsiteX34" fmla="*/ 521400 w 553584"/>
                <a:gd name="connsiteY34" fmla="*/ 32185 h 457029"/>
                <a:gd name="connsiteX35" fmla="*/ 157707 w 553584"/>
                <a:gd name="connsiteY35" fmla="*/ 32185 h 457029"/>
                <a:gd name="connsiteX36" fmla="*/ 157707 w 553584"/>
                <a:gd name="connsiteY36" fmla="*/ 41841 h 457029"/>
                <a:gd name="connsiteX37" fmla="*/ 157707 w 553584"/>
                <a:gd name="connsiteY37" fmla="*/ 122304 h 457029"/>
                <a:gd name="connsiteX38" fmla="*/ 154489 w 553584"/>
                <a:gd name="connsiteY38" fmla="*/ 144833 h 457029"/>
                <a:gd name="connsiteX39" fmla="*/ 135178 w 553584"/>
                <a:gd name="connsiteY39" fmla="*/ 164144 h 457029"/>
                <a:gd name="connsiteX40" fmla="*/ 106211 w 553584"/>
                <a:gd name="connsiteY40" fmla="*/ 160926 h 457029"/>
                <a:gd name="connsiteX41" fmla="*/ 41841 w 553584"/>
                <a:gd name="connsiteY41" fmla="*/ 177019 h 457029"/>
                <a:gd name="connsiteX42" fmla="*/ 41841 w 553584"/>
                <a:gd name="connsiteY42" fmla="*/ 244607 h 457029"/>
                <a:gd name="connsiteX43" fmla="*/ 106211 w 553584"/>
                <a:gd name="connsiteY43" fmla="*/ 260700 h 457029"/>
                <a:gd name="connsiteX44" fmla="*/ 138396 w 553584"/>
                <a:gd name="connsiteY44" fmla="*/ 260700 h 457029"/>
                <a:gd name="connsiteX45" fmla="*/ 157707 w 553584"/>
                <a:gd name="connsiteY45" fmla="*/ 283230 h 457029"/>
                <a:gd name="connsiteX46" fmla="*/ 160926 w 553584"/>
                <a:gd name="connsiteY46" fmla="*/ 302541 h 457029"/>
                <a:gd name="connsiteX47" fmla="*/ 160926 w 553584"/>
                <a:gd name="connsiteY47" fmla="*/ 395878 h 457029"/>
                <a:gd name="connsiteX48" fmla="*/ 160926 w 553584"/>
                <a:gd name="connsiteY48" fmla="*/ 418407 h 457029"/>
                <a:gd name="connsiteX49" fmla="*/ 241389 w 553584"/>
                <a:gd name="connsiteY49" fmla="*/ 418407 h 457029"/>
                <a:gd name="connsiteX50" fmla="*/ 257481 w 553584"/>
                <a:gd name="connsiteY50" fmla="*/ 402315 h 457029"/>
                <a:gd name="connsiteX51" fmla="*/ 254263 w 553584"/>
                <a:gd name="connsiteY51" fmla="*/ 386222 h 457029"/>
                <a:gd name="connsiteX52" fmla="*/ 283229 w 553584"/>
                <a:gd name="connsiteY52" fmla="*/ 283230 h 457029"/>
                <a:gd name="connsiteX53" fmla="*/ 334726 w 553584"/>
                <a:gd name="connsiteY53" fmla="*/ 270356 h 457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53584" h="457029">
                  <a:moveTo>
                    <a:pt x="428063" y="453811"/>
                  </a:moveTo>
                  <a:cubicBezTo>
                    <a:pt x="411970" y="453811"/>
                    <a:pt x="399096" y="447374"/>
                    <a:pt x="389441" y="431282"/>
                  </a:cubicBezTo>
                  <a:cubicBezTo>
                    <a:pt x="376566" y="411970"/>
                    <a:pt x="379785" y="392659"/>
                    <a:pt x="386222" y="376567"/>
                  </a:cubicBezTo>
                  <a:cubicBezTo>
                    <a:pt x="395878" y="350819"/>
                    <a:pt x="386222" y="325070"/>
                    <a:pt x="366911" y="312196"/>
                  </a:cubicBezTo>
                  <a:cubicBezTo>
                    <a:pt x="347600" y="296104"/>
                    <a:pt x="321852" y="299322"/>
                    <a:pt x="302541" y="312196"/>
                  </a:cubicBezTo>
                  <a:cubicBezTo>
                    <a:pt x="283229" y="328289"/>
                    <a:pt x="276792" y="350819"/>
                    <a:pt x="286448" y="376567"/>
                  </a:cubicBezTo>
                  <a:cubicBezTo>
                    <a:pt x="289667" y="386222"/>
                    <a:pt x="292885" y="395878"/>
                    <a:pt x="289667" y="405533"/>
                  </a:cubicBezTo>
                  <a:cubicBezTo>
                    <a:pt x="289667" y="434500"/>
                    <a:pt x="270355" y="453811"/>
                    <a:pt x="241389" y="453811"/>
                  </a:cubicBezTo>
                  <a:lnTo>
                    <a:pt x="128741" y="453811"/>
                  </a:lnTo>
                  <a:lnTo>
                    <a:pt x="128741" y="399096"/>
                  </a:lnTo>
                  <a:cubicBezTo>
                    <a:pt x="128741" y="366911"/>
                    <a:pt x="128741" y="334726"/>
                    <a:pt x="128741" y="305759"/>
                  </a:cubicBezTo>
                  <a:cubicBezTo>
                    <a:pt x="128741" y="302541"/>
                    <a:pt x="128741" y="299322"/>
                    <a:pt x="128741" y="292885"/>
                  </a:cubicBezTo>
                  <a:cubicBezTo>
                    <a:pt x="128741" y="289667"/>
                    <a:pt x="125522" y="289667"/>
                    <a:pt x="125522" y="289667"/>
                  </a:cubicBezTo>
                  <a:cubicBezTo>
                    <a:pt x="125522" y="289667"/>
                    <a:pt x="122304" y="289667"/>
                    <a:pt x="122304" y="289667"/>
                  </a:cubicBezTo>
                  <a:cubicBezTo>
                    <a:pt x="86900" y="305759"/>
                    <a:pt x="45059" y="296104"/>
                    <a:pt x="19311" y="267137"/>
                  </a:cubicBezTo>
                  <a:cubicBezTo>
                    <a:pt x="-6437" y="234952"/>
                    <a:pt x="-6437" y="189893"/>
                    <a:pt x="19311" y="157707"/>
                  </a:cubicBezTo>
                  <a:cubicBezTo>
                    <a:pt x="45059" y="125522"/>
                    <a:pt x="86900" y="115867"/>
                    <a:pt x="122304" y="135178"/>
                  </a:cubicBezTo>
                  <a:lnTo>
                    <a:pt x="141615" y="141615"/>
                  </a:lnTo>
                  <a:lnTo>
                    <a:pt x="125522" y="135178"/>
                  </a:lnTo>
                  <a:cubicBezTo>
                    <a:pt x="125522" y="131959"/>
                    <a:pt x="128741" y="128741"/>
                    <a:pt x="128741" y="122304"/>
                  </a:cubicBezTo>
                  <a:cubicBezTo>
                    <a:pt x="128741" y="96556"/>
                    <a:pt x="128741" y="67589"/>
                    <a:pt x="128741" y="41841"/>
                  </a:cubicBezTo>
                  <a:lnTo>
                    <a:pt x="128741" y="0"/>
                  </a:lnTo>
                  <a:lnTo>
                    <a:pt x="553585" y="0"/>
                  </a:lnTo>
                  <a:lnTo>
                    <a:pt x="553585" y="457030"/>
                  </a:lnTo>
                  <a:lnTo>
                    <a:pt x="505307" y="457030"/>
                  </a:lnTo>
                  <a:cubicBezTo>
                    <a:pt x="479559" y="453811"/>
                    <a:pt x="453811" y="453811"/>
                    <a:pt x="428063" y="453811"/>
                  </a:cubicBezTo>
                  <a:cubicBezTo>
                    <a:pt x="428063" y="453811"/>
                    <a:pt x="428063" y="453811"/>
                    <a:pt x="428063" y="453811"/>
                  </a:cubicBezTo>
                  <a:close/>
                  <a:moveTo>
                    <a:pt x="334726" y="270356"/>
                  </a:moveTo>
                  <a:cubicBezTo>
                    <a:pt x="354037" y="270356"/>
                    <a:pt x="370129" y="276793"/>
                    <a:pt x="386222" y="286448"/>
                  </a:cubicBezTo>
                  <a:cubicBezTo>
                    <a:pt x="418407" y="308978"/>
                    <a:pt x="431281" y="350819"/>
                    <a:pt x="415189" y="389441"/>
                  </a:cubicBezTo>
                  <a:cubicBezTo>
                    <a:pt x="408752" y="402315"/>
                    <a:pt x="408752" y="408752"/>
                    <a:pt x="415189" y="415189"/>
                  </a:cubicBezTo>
                  <a:cubicBezTo>
                    <a:pt x="418407" y="421626"/>
                    <a:pt x="421626" y="421626"/>
                    <a:pt x="428063" y="421626"/>
                  </a:cubicBezTo>
                  <a:cubicBezTo>
                    <a:pt x="453811" y="421626"/>
                    <a:pt x="479559" y="421626"/>
                    <a:pt x="505307" y="421626"/>
                  </a:cubicBezTo>
                  <a:lnTo>
                    <a:pt x="521400" y="421626"/>
                  </a:lnTo>
                  <a:lnTo>
                    <a:pt x="521400" y="32185"/>
                  </a:lnTo>
                  <a:lnTo>
                    <a:pt x="157707" y="32185"/>
                  </a:lnTo>
                  <a:lnTo>
                    <a:pt x="157707" y="41841"/>
                  </a:lnTo>
                  <a:cubicBezTo>
                    <a:pt x="157707" y="67589"/>
                    <a:pt x="157707" y="96556"/>
                    <a:pt x="157707" y="122304"/>
                  </a:cubicBezTo>
                  <a:cubicBezTo>
                    <a:pt x="157707" y="131959"/>
                    <a:pt x="157707" y="138396"/>
                    <a:pt x="154489" y="144833"/>
                  </a:cubicBezTo>
                  <a:cubicBezTo>
                    <a:pt x="151270" y="154489"/>
                    <a:pt x="144833" y="160926"/>
                    <a:pt x="135178" y="164144"/>
                  </a:cubicBezTo>
                  <a:cubicBezTo>
                    <a:pt x="125522" y="167363"/>
                    <a:pt x="115867" y="167363"/>
                    <a:pt x="106211" y="160926"/>
                  </a:cubicBezTo>
                  <a:cubicBezTo>
                    <a:pt x="83681" y="151270"/>
                    <a:pt x="57933" y="157707"/>
                    <a:pt x="41841" y="177019"/>
                  </a:cubicBezTo>
                  <a:cubicBezTo>
                    <a:pt x="25748" y="196330"/>
                    <a:pt x="25748" y="225296"/>
                    <a:pt x="41841" y="244607"/>
                  </a:cubicBezTo>
                  <a:cubicBezTo>
                    <a:pt x="57933" y="263919"/>
                    <a:pt x="83681" y="270356"/>
                    <a:pt x="106211" y="260700"/>
                  </a:cubicBezTo>
                  <a:cubicBezTo>
                    <a:pt x="115867" y="254263"/>
                    <a:pt x="128741" y="254263"/>
                    <a:pt x="138396" y="260700"/>
                  </a:cubicBezTo>
                  <a:cubicBezTo>
                    <a:pt x="148052" y="263919"/>
                    <a:pt x="154489" y="273574"/>
                    <a:pt x="157707" y="283230"/>
                  </a:cubicBezTo>
                  <a:cubicBezTo>
                    <a:pt x="160926" y="289667"/>
                    <a:pt x="160926" y="299322"/>
                    <a:pt x="160926" y="302541"/>
                  </a:cubicBezTo>
                  <a:cubicBezTo>
                    <a:pt x="160926" y="334726"/>
                    <a:pt x="160926" y="366911"/>
                    <a:pt x="160926" y="395878"/>
                  </a:cubicBezTo>
                  <a:lnTo>
                    <a:pt x="160926" y="418407"/>
                  </a:lnTo>
                  <a:lnTo>
                    <a:pt x="241389" y="418407"/>
                  </a:lnTo>
                  <a:cubicBezTo>
                    <a:pt x="251044" y="418407"/>
                    <a:pt x="257481" y="411970"/>
                    <a:pt x="257481" y="402315"/>
                  </a:cubicBezTo>
                  <a:cubicBezTo>
                    <a:pt x="257481" y="395878"/>
                    <a:pt x="257481" y="389441"/>
                    <a:pt x="254263" y="386222"/>
                  </a:cubicBezTo>
                  <a:cubicBezTo>
                    <a:pt x="241389" y="347600"/>
                    <a:pt x="251044" y="308978"/>
                    <a:pt x="283229" y="283230"/>
                  </a:cubicBezTo>
                  <a:cubicBezTo>
                    <a:pt x="299322" y="273574"/>
                    <a:pt x="315415" y="270356"/>
                    <a:pt x="334726" y="270356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3" name="Полилиния: фигура 10">
              <a:extLst>
                <a:ext uri="{FF2B5EF4-FFF2-40B4-BE49-F238E27FC236}">
                  <a16:creationId xmlns:a16="http://schemas.microsoft.com/office/drawing/2014/main" id="{95C3DF85-82D7-4445-A624-5ACA4DAEBA38}"/>
                </a:ext>
              </a:extLst>
            </p:cNvPr>
            <p:cNvSpPr/>
            <p:nvPr/>
          </p:nvSpPr>
          <p:spPr>
            <a:xfrm>
              <a:off x="2008667" y="1465592"/>
              <a:ext cx="609104" cy="424844"/>
            </a:xfrm>
            <a:custGeom>
              <a:avLst/>
              <a:gdLst>
                <a:gd name="connsiteX0" fmla="*/ 457029 w 609104"/>
                <a:gd name="connsiteY0" fmla="*/ 424844 h 424844"/>
                <a:gd name="connsiteX1" fmla="*/ 0 w 609104"/>
                <a:gd name="connsiteY1" fmla="*/ 424844 h 424844"/>
                <a:gd name="connsiteX2" fmla="*/ 0 w 609104"/>
                <a:gd name="connsiteY2" fmla="*/ 0 h 424844"/>
                <a:gd name="connsiteX3" fmla="*/ 122304 w 609104"/>
                <a:gd name="connsiteY3" fmla="*/ 0 h 424844"/>
                <a:gd name="connsiteX4" fmla="*/ 122304 w 609104"/>
                <a:gd name="connsiteY4" fmla="*/ 32185 h 424844"/>
                <a:gd name="connsiteX5" fmla="*/ 32185 w 609104"/>
                <a:gd name="connsiteY5" fmla="*/ 32185 h 424844"/>
                <a:gd name="connsiteX6" fmla="*/ 32185 w 609104"/>
                <a:gd name="connsiteY6" fmla="*/ 392659 h 424844"/>
                <a:gd name="connsiteX7" fmla="*/ 424844 w 609104"/>
                <a:gd name="connsiteY7" fmla="*/ 392659 h 424844"/>
                <a:gd name="connsiteX8" fmla="*/ 424844 w 609104"/>
                <a:gd name="connsiteY8" fmla="*/ 276793 h 424844"/>
                <a:gd name="connsiteX9" fmla="*/ 440937 w 609104"/>
                <a:gd name="connsiteY9" fmla="*/ 241389 h 424844"/>
                <a:gd name="connsiteX10" fmla="*/ 479559 w 609104"/>
                <a:gd name="connsiteY10" fmla="*/ 228515 h 424844"/>
                <a:gd name="connsiteX11" fmla="*/ 502089 w 609104"/>
                <a:gd name="connsiteY11" fmla="*/ 234952 h 424844"/>
                <a:gd name="connsiteX12" fmla="*/ 566459 w 609104"/>
                <a:gd name="connsiteY12" fmla="*/ 218859 h 424844"/>
                <a:gd name="connsiteX13" fmla="*/ 566459 w 609104"/>
                <a:gd name="connsiteY13" fmla="*/ 154489 h 424844"/>
                <a:gd name="connsiteX14" fmla="*/ 502089 w 609104"/>
                <a:gd name="connsiteY14" fmla="*/ 135178 h 424844"/>
                <a:gd name="connsiteX15" fmla="*/ 444155 w 609104"/>
                <a:gd name="connsiteY15" fmla="*/ 131959 h 424844"/>
                <a:gd name="connsiteX16" fmla="*/ 424844 w 609104"/>
                <a:gd name="connsiteY16" fmla="*/ 93337 h 424844"/>
                <a:gd name="connsiteX17" fmla="*/ 424844 w 609104"/>
                <a:gd name="connsiteY17" fmla="*/ 38622 h 424844"/>
                <a:gd name="connsiteX18" fmla="*/ 424844 w 609104"/>
                <a:gd name="connsiteY18" fmla="*/ 32185 h 424844"/>
                <a:gd name="connsiteX19" fmla="*/ 337944 w 609104"/>
                <a:gd name="connsiteY19" fmla="*/ 32185 h 424844"/>
                <a:gd name="connsiteX20" fmla="*/ 337944 w 609104"/>
                <a:gd name="connsiteY20" fmla="*/ 0 h 424844"/>
                <a:gd name="connsiteX21" fmla="*/ 457029 w 609104"/>
                <a:gd name="connsiteY21" fmla="*/ 0 h 424844"/>
                <a:gd name="connsiteX22" fmla="*/ 457029 w 609104"/>
                <a:gd name="connsiteY22" fmla="*/ 38622 h 424844"/>
                <a:gd name="connsiteX23" fmla="*/ 457029 w 609104"/>
                <a:gd name="connsiteY23" fmla="*/ 93337 h 424844"/>
                <a:gd name="connsiteX24" fmla="*/ 463466 w 609104"/>
                <a:gd name="connsiteY24" fmla="*/ 102993 h 424844"/>
                <a:gd name="connsiteX25" fmla="*/ 489215 w 609104"/>
                <a:gd name="connsiteY25" fmla="*/ 102993 h 424844"/>
                <a:gd name="connsiteX26" fmla="*/ 592207 w 609104"/>
                <a:gd name="connsiteY26" fmla="*/ 131959 h 424844"/>
                <a:gd name="connsiteX27" fmla="*/ 592207 w 609104"/>
                <a:gd name="connsiteY27" fmla="*/ 234952 h 424844"/>
                <a:gd name="connsiteX28" fmla="*/ 492433 w 609104"/>
                <a:gd name="connsiteY28" fmla="*/ 263919 h 424844"/>
                <a:gd name="connsiteX29" fmla="*/ 476341 w 609104"/>
                <a:gd name="connsiteY29" fmla="*/ 260700 h 424844"/>
                <a:gd name="connsiteX30" fmla="*/ 463466 w 609104"/>
                <a:gd name="connsiteY30" fmla="*/ 263919 h 424844"/>
                <a:gd name="connsiteX31" fmla="*/ 457029 w 609104"/>
                <a:gd name="connsiteY31" fmla="*/ 276793 h 424844"/>
                <a:gd name="connsiteX32" fmla="*/ 457029 w 609104"/>
                <a:gd name="connsiteY32" fmla="*/ 424844 h 424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9104" h="424844">
                  <a:moveTo>
                    <a:pt x="457029" y="424844"/>
                  </a:moveTo>
                  <a:lnTo>
                    <a:pt x="0" y="424844"/>
                  </a:lnTo>
                  <a:lnTo>
                    <a:pt x="0" y="0"/>
                  </a:lnTo>
                  <a:lnTo>
                    <a:pt x="122304" y="0"/>
                  </a:lnTo>
                  <a:lnTo>
                    <a:pt x="122304" y="32185"/>
                  </a:lnTo>
                  <a:lnTo>
                    <a:pt x="32185" y="32185"/>
                  </a:lnTo>
                  <a:lnTo>
                    <a:pt x="32185" y="392659"/>
                  </a:lnTo>
                  <a:lnTo>
                    <a:pt x="424844" y="392659"/>
                  </a:lnTo>
                  <a:lnTo>
                    <a:pt x="424844" y="276793"/>
                  </a:lnTo>
                  <a:cubicBezTo>
                    <a:pt x="424844" y="263919"/>
                    <a:pt x="431281" y="251044"/>
                    <a:pt x="440937" y="241389"/>
                  </a:cubicBezTo>
                  <a:cubicBezTo>
                    <a:pt x="450592" y="231733"/>
                    <a:pt x="463466" y="228515"/>
                    <a:pt x="479559" y="228515"/>
                  </a:cubicBezTo>
                  <a:cubicBezTo>
                    <a:pt x="485996" y="228515"/>
                    <a:pt x="495652" y="231733"/>
                    <a:pt x="502089" y="234952"/>
                  </a:cubicBezTo>
                  <a:cubicBezTo>
                    <a:pt x="527837" y="244607"/>
                    <a:pt x="550366" y="238170"/>
                    <a:pt x="566459" y="218859"/>
                  </a:cubicBezTo>
                  <a:cubicBezTo>
                    <a:pt x="582552" y="199548"/>
                    <a:pt x="582552" y="173800"/>
                    <a:pt x="566459" y="154489"/>
                  </a:cubicBezTo>
                  <a:cubicBezTo>
                    <a:pt x="550366" y="135178"/>
                    <a:pt x="524618" y="128741"/>
                    <a:pt x="502089" y="135178"/>
                  </a:cubicBezTo>
                  <a:cubicBezTo>
                    <a:pt x="489215" y="141615"/>
                    <a:pt x="466685" y="144833"/>
                    <a:pt x="444155" y="131959"/>
                  </a:cubicBezTo>
                  <a:cubicBezTo>
                    <a:pt x="431281" y="122304"/>
                    <a:pt x="424844" y="109430"/>
                    <a:pt x="424844" y="93337"/>
                  </a:cubicBezTo>
                  <a:cubicBezTo>
                    <a:pt x="424844" y="74026"/>
                    <a:pt x="424844" y="57933"/>
                    <a:pt x="424844" y="38622"/>
                  </a:cubicBezTo>
                  <a:lnTo>
                    <a:pt x="424844" y="32185"/>
                  </a:lnTo>
                  <a:lnTo>
                    <a:pt x="337944" y="32185"/>
                  </a:lnTo>
                  <a:lnTo>
                    <a:pt x="337944" y="0"/>
                  </a:lnTo>
                  <a:lnTo>
                    <a:pt x="457029" y="0"/>
                  </a:lnTo>
                  <a:lnTo>
                    <a:pt x="457029" y="38622"/>
                  </a:lnTo>
                  <a:cubicBezTo>
                    <a:pt x="457029" y="57933"/>
                    <a:pt x="457029" y="74026"/>
                    <a:pt x="457029" y="93337"/>
                  </a:cubicBezTo>
                  <a:cubicBezTo>
                    <a:pt x="457029" y="96556"/>
                    <a:pt x="457029" y="99774"/>
                    <a:pt x="463466" y="102993"/>
                  </a:cubicBezTo>
                  <a:cubicBezTo>
                    <a:pt x="469903" y="106211"/>
                    <a:pt x="476341" y="109430"/>
                    <a:pt x="489215" y="102993"/>
                  </a:cubicBezTo>
                  <a:cubicBezTo>
                    <a:pt x="527837" y="90119"/>
                    <a:pt x="566459" y="99774"/>
                    <a:pt x="592207" y="131959"/>
                  </a:cubicBezTo>
                  <a:cubicBezTo>
                    <a:pt x="614737" y="164144"/>
                    <a:pt x="614737" y="205985"/>
                    <a:pt x="592207" y="234952"/>
                  </a:cubicBezTo>
                  <a:cubicBezTo>
                    <a:pt x="569678" y="267137"/>
                    <a:pt x="531055" y="276793"/>
                    <a:pt x="492433" y="263919"/>
                  </a:cubicBezTo>
                  <a:cubicBezTo>
                    <a:pt x="485996" y="260700"/>
                    <a:pt x="482778" y="260700"/>
                    <a:pt x="476341" y="260700"/>
                  </a:cubicBezTo>
                  <a:cubicBezTo>
                    <a:pt x="473122" y="260700"/>
                    <a:pt x="466685" y="260700"/>
                    <a:pt x="463466" y="263919"/>
                  </a:cubicBezTo>
                  <a:cubicBezTo>
                    <a:pt x="460248" y="267137"/>
                    <a:pt x="457029" y="270356"/>
                    <a:pt x="457029" y="276793"/>
                  </a:cubicBezTo>
                  <a:lnTo>
                    <a:pt x="457029" y="424844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129">
              <a:extLst>
                <a:ext uri="{FF2B5EF4-FFF2-40B4-BE49-F238E27FC236}">
                  <a16:creationId xmlns:a16="http://schemas.microsoft.com/office/drawing/2014/main" id="{68C07E5D-0D06-41D2-A505-01A74940A873}"/>
                </a:ext>
              </a:extLst>
            </p:cNvPr>
            <p:cNvSpPr/>
            <p:nvPr/>
          </p:nvSpPr>
          <p:spPr>
            <a:xfrm>
              <a:off x="2755362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130">
              <a:extLst>
                <a:ext uri="{FF2B5EF4-FFF2-40B4-BE49-F238E27FC236}">
                  <a16:creationId xmlns:a16="http://schemas.microsoft.com/office/drawing/2014/main" id="{2F20B135-B9E8-4C3F-979A-BE012D18EBDC}"/>
                </a:ext>
              </a:extLst>
            </p:cNvPr>
            <p:cNvSpPr/>
            <p:nvPr/>
          </p:nvSpPr>
          <p:spPr>
            <a:xfrm>
              <a:off x="2600874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ED2C281-5D73-4336-9312-C2232E81B3D8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467093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Качество данных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85D3245-09CC-40DA-9DB5-D620FAE5738A}"/>
              </a:ext>
            </a:extLst>
          </p:cNvPr>
          <p:cNvSpPr>
            <a:spLocks noGrp="1"/>
          </p:cNvSpPr>
          <p:nvPr/>
        </p:nvSpPr>
        <p:spPr>
          <a:xfrm>
            <a:off x="515936" y="873176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Наши сервисы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35C3E8E-5258-4D43-9803-EC0E16CC66E2}"/>
              </a:ext>
            </a:extLst>
          </p:cNvPr>
          <p:cNvSpPr>
            <a:spLocks noGrp="1"/>
          </p:cNvSpPr>
          <p:nvPr/>
        </p:nvSpPr>
        <p:spPr>
          <a:xfrm>
            <a:off x="515936" y="1269071"/>
            <a:ext cx="5446714" cy="535014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Автоматизация процессов контроля качества данных, встраивание в систему управления данными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Внедрение и отслеживание изменений различных метрик качества данных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Отбраковка данных (дублированных, противоречивых, неформатных, неполных, устаревших, повреждённых, и т.п.)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Очистка данных (дедупликация, стандартизация форматов, сортировка, упорядочивание, формализация связей, связывание различных источников, дополнение и «лечение» повреждённых данных и т.п.)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Профилирование данных, автоматизированный контроль соответствия профилю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Анализ информативности данных на каждом этапе их преобразования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Автоматизированный контроль миграции данных в новые системы хранения и обработки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Консультирование в области качества данных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86221ACF-BC30-B742-54D2-1F4856D5C266}"/>
              </a:ext>
            </a:extLst>
          </p:cNvPr>
          <p:cNvSpPr>
            <a:spLocks noGrp="1"/>
          </p:cNvSpPr>
          <p:nvPr/>
        </p:nvSpPr>
        <p:spPr>
          <a:xfrm>
            <a:off x="6686654" y="814180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Инструменты</a:t>
            </a:r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528A3E70-6CEF-D063-6A88-EB638FF55699}"/>
              </a:ext>
            </a:extLst>
          </p:cNvPr>
          <p:cNvSpPr/>
          <p:nvPr/>
        </p:nvSpPr>
        <p:spPr>
          <a:xfrm>
            <a:off x="6805080" y="1890687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1556A1F2-A3D8-9477-433E-0AF394FB422D}"/>
              </a:ext>
            </a:extLst>
          </p:cNvPr>
          <p:cNvSpPr/>
          <p:nvPr/>
        </p:nvSpPr>
        <p:spPr>
          <a:xfrm>
            <a:off x="8497831" y="1890689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42">
            <a:extLst>
              <a:ext uri="{FF2B5EF4-FFF2-40B4-BE49-F238E27FC236}">
                <a16:creationId xmlns:a16="http://schemas.microsoft.com/office/drawing/2014/main" id="{99084AEA-DB23-C855-BD10-6F862719FB56}"/>
              </a:ext>
            </a:extLst>
          </p:cNvPr>
          <p:cNvSpPr/>
          <p:nvPr/>
        </p:nvSpPr>
        <p:spPr>
          <a:xfrm>
            <a:off x="6805080" y="2911648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43">
            <a:extLst>
              <a:ext uri="{FF2B5EF4-FFF2-40B4-BE49-F238E27FC236}">
                <a16:creationId xmlns:a16="http://schemas.microsoft.com/office/drawing/2014/main" id="{34488F1E-9C07-9323-A979-4F6BFF214812}"/>
              </a:ext>
            </a:extLst>
          </p:cNvPr>
          <p:cNvSpPr/>
          <p:nvPr/>
        </p:nvSpPr>
        <p:spPr>
          <a:xfrm>
            <a:off x="8497831" y="2911650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16" descr="Logo, icon&#10;&#10;Description automatically generated">
            <a:extLst>
              <a:ext uri="{FF2B5EF4-FFF2-40B4-BE49-F238E27FC236}">
                <a16:creationId xmlns:a16="http://schemas.microsoft.com/office/drawing/2014/main" id="{B3B7EB2E-AB6A-3E22-6F28-AB2B1B62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592" y="1990081"/>
            <a:ext cx="966919" cy="608126"/>
          </a:xfrm>
          <a:prstGeom prst="rect">
            <a:avLst/>
          </a:prstGeom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3ED077C4-83EF-94D4-DD31-95CAAB333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05133" y="3046759"/>
            <a:ext cx="667107" cy="66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40">
            <a:extLst>
              <a:ext uri="{FF2B5EF4-FFF2-40B4-BE49-F238E27FC236}">
                <a16:creationId xmlns:a16="http://schemas.microsoft.com/office/drawing/2014/main" id="{04FBE1C4-3E3C-1D3D-5D35-47E3BF620F93}"/>
              </a:ext>
            </a:extLst>
          </p:cNvPr>
          <p:cNvSpPr/>
          <p:nvPr/>
        </p:nvSpPr>
        <p:spPr>
          <a:xfrm>
            <a:off x="10184919" y="1890687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40">
            <a:extLst>
              <a:ext uri="{FF2B5EF4-FFF2-40B4-BE49-F238E27FC236}">
                <a16:creationId xmlns:a16="http://schemas.microsoft.com/office/drawing/2014/main" id="{D2827B1B-8CD5-84AC-E063-81062246A71E}"/>
              </a:ext>
            </a:extLst>
          </p:cNvPr>
          <p:cNvSpPr/>
          <p:nvPr/>
        </p:nvSpPr>
        <p:spPr>
          <a:xfrm>
            <a:off x="10184919" y="2911649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8" descr="pandas - NumFOCUS">
            <a:extLst>
              <a:ext uri="{FF2B5EF4-FFF2-40B4-BE49-F238E27FC236}">
                <a16:creationId xmlns:a16="http://schemas.microsoft.com/office/drawing/2014/main" id="{9EC9E4FC-BD36-D926-9CFF-F864964A2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09574" y="3073895"/>
            <a:ext cx="831747" cy="57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0" descr="Pyspark">
            <a:extLst>
              <a:ext uri="{FF2B5EF4-FFF2-40B4-BE49-F238E27FC236}">
                <a16:creationId xmlns:a16="http://schemas.microsoft.com/office/drawing/2014/main" id="{E247850D-1370-A60F-D8FE-821797B77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694197" y="3020857"/>
            <a:ext cx="1140697" cy="68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EBD562FE-62B5-3A85-D1C5-04874AF22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145" y="2091200"/>
            <a:ext cx="999351" cy="46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Python Logo, symbol, meaning, history, PNG, brand">
            <a:extLst>
              <a:ext uri="{FF2B5EF4-FFF2-40B4-BE49-F238E27FC236}">
                <a16:creationId xmlns:a16="http://schemas.microsoft.com/office/drawing/2014/main" id="{1511D97A-0F5A-6513-E266-F46ECFCD2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09881" y="1990081"/>
            <a:ext cx="662166" cy="694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42">
            <a:extLst>
              <a:ext uri="{FF2B5EF4-FFF2-40B4-BE49-F238E27FC236}">
                <a16:creationId xmlns:a16="http://schemas.microsoft.com/office/drawing/2014/main" id="{821A075E-3E6E-EDE3-E978-778E44117975}"/>
              </a:ext>
            </a:extLst>
          </p:cNvPr>
          <p:cNvSpPr/>
          <p:nvPr/>
        </p:nvSpPr>
        <p:spPr>
          <a:xfrm>
            <a:off x="6805080" y="3926261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43">
            <a:extLst>
              <a:ext uri="{FF2B5EF4-FFF2-40B4-BE49-F238E27FC236}">
                <a16:creationId xmlns:a16="http://schemas.microsoft.com/office/drawing/2014/main" id="{25334E45-F25F-1B7B-F8A2-F32FEADD7F27}"/>
              </a:ext>
            </a:extLst>
          </p:cNvPr>
          <p:cNvSpPr/>
          <p:nvPr/>
        </p:nvSpPr>
        <p:spPr>
          <a:xfrm>
            <a:off x="8497831" y="3926263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40">
            <a:extLst>
              <a:ext uri="{FF2B5EF4-FFF2-40B4-BE49-F238E27FC236}">
                <a16:creationId xmlns:a16="http://schemas.microsoft.com/office/drawing/2014/main" id="{6155C8C8-9BAE-B001-C2E9-943D47E55E11}"/>
              </a:ext>
            </a:extLst>
          </p:cNvPr>
          <p:cNvSpPr/>
          <p:nvPr/>
        </p:nvSpPr>
        <p:spPr>
          <a:xfrm>
            <a:off x="10184919" y="3926262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6" descr="Power BI Logo, symbol, meaning, history, PNG, brand">
            <a:extLst>
              <a:ext uri="{FF2B5EF4-FFF2-40B4-BE49-F238E27FC236}">
                <a16:creationId xmlns:a16="http://schemas.microsoft.com/office/drawing/2014/main" id="{63F41129-FDEA-1594-2904-F876D9EBA1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51683" y="4047880"/>
            <a:ext cx="578517" cy="66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Рисунок 1023">
            <a:extLst>
              <a:ext uri="{FF2B5EF4-FFF2-40B4-BE49-F238E27FC236}">
                <a16:creationId xmlns:a16="http://schemas.microsoft.com/office/drawing/2014/main" id="{C7384EF5-1E6B-1CCD-49B4-BA5724BF886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842" r="5010"/>
          <a:stretch/>
        </p:blipFill>
        <p:spPr>
          <a:xfrm>
            <a:off x="8870746" y="3995235"/>
            <a:ext cx="725215" cy="750759"/>
          </a:xfrm>
          <a:prstGeom prst="rect">
            <a:avLst/>
          </a:prstGeom>
        </p:spPr>
      </p:pic>
      <p:pic>
        <p:nvPicPr>
          <p:cNvPr id="42" name="Picture 13">
            <a:extLst>
              <a:ext uri="{FF2B5EF4-FFF2-40B4-BE49-F238E27FC236}">
                <a16:creationId xmlns:a16="http://schemas.microsoft.com/office/drawing/2014/main" id="{A9AD5B5A-4F32-4CB8-AB2F-D6131F2FE2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0522" y="3995235"/>
            <a:ext cx="830799" cy="713357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72880EA-DCE0-43CD-ADAA-198515722349}"/>
              </a:ext>
            </a:extLst>
          </p:cNvPr>
          <p:cNvSpPr/>
          <p:nvPr/>
        </p:nvSpPr>
        <p:spPr>
          <a:xfrm>
            <a:off x="8497831" y="4940876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Picture 12">
            <a:extLst>
              <a:ext uri="{FF2B5EF4-FFF2-40B4-BE49-F238E27FC236}">
                <a16:creationId xmlns:a16="http://schemas.microsoft.com/office/drawing/2014/main" id="{49C2C2BA-B8B3-465B-BD16-BDBDFD3A21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2" y="5153424"/>
            <a:ext cx="1152525" cy="428625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8">
            <a:extLst>
              <a:ext uri="{FF2B5EF4-FFF2-40B4-BE49-F238E27FC236}">
                <a16:creationId xmlns:a16="http://schemas.microsoft.com/office/drawing/2014/main" id="{539C176A-D00B-4651-BB79-A3B3D9749658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6675320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Не вся информация одинаково полезна</a:t>
            </a:r>
          </a:p>
        </p:txBody>
      </p:sp>
      <p:pic>
        <p:nvPicPr>
          <p:cNvPr id="21" name="Picture 2" descr="Chart, waterfall chart&#10;&#10;Description automatically generated">
            <a:extLst>
              <a:ext uri="{FF2B5EF4-FFF2-40B4-BE49-F238E27FC236}">
                <a16:creationId xmlns:a16="http://schemas.microsoft.com/office/drawing/2014/main" id="{BE9B23ED-B724-415B-9B66-D7ECA0B7D34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88565" y="1907874"/>
            <a:ext cx="3703453" cy="2154198"/>
          </a:xfrm>
          <a:prstGeom prst="rect">
            <a:avLst/>
          </a:prstGeom>
          <a:ln w="0">
            <a:noFill/>
          </a:ln>
        </p:spPr>
      </p:pic>
      <p:sp>
        <p:nvSpPr>
          <p:cNvPr id="22" name="Текст 62">
            <a:extLst>
              <a:ext uri="{FF2B5EF4-FFF2-40B4-BE49-F238E27FC236}">
                <a16:creationId xmlns:a16="http://schemas.microsoft.com/office/drawing/2014/main" id="{F0F393FB-171E-4EC8-A064-59D66B28F931}"/>
              </a:ext>
            </a:extLst>
          </p:cNvPr>
          <p:cNvSpPr txBox="1">
            <a:spLocks/>
          </p:cNvSpPr>
          <p:nvPr/>
        </p:nvSpPr>
        <p:spPr>
          <a:xfrm>
            <a:off x="4416358" y="2696934"/>
            <a:ext cx="7349853" cy="16634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Получив </a:t>
            </a:r>
            <a:r>
              <a:rPr lang="ru-RU" sz="1000" b="0" u="sng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хорошие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данные, бизнес извлечет из них нужную информацию, которая, в свою очередь, принесет пользу компании, т.е. в конечном итоге –  прибыль.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Из плохих данных будет извлечена ошибочная информация, которая причинит вред компании (убытки) – напрямую, или уменьшив конкурентоспособность. Как правило вред от ложной информации кратно больше, например, из-за репутационных потерь.</a:t>
            </a:r>
          </a:p>
        </p:txBody>
      </p:sp>
      <p:sp>
        <p:nvSpPr>
          <p:cNvPr id="23" name="Текст 62">
            <a:extLst>
              <a:ext uri="{FF2B5EF4-FFF2-40B4-BE49-F238E27FC236}">
                <a16:creationId xmlns:a16="http://schemas.microsoft.com/office/drawing/2014/main" id="{C010E63A-10B9-42F8-A507-81A3ED9E8F90}"/>
              </a:ext>
            </a:extLst>
          </p:cNvPr>
          <p:cNvSpPr txBox="1">
            <a:spLocks/>
          </p:cNvSpPr>
          <p:nvPr/>
        </p:nvSpPr>
        <p:spPr>
          <a:xfrm>
            <a:off x="4416358" y="1976901"/>
            <a:ext cx="7574549" cy="6190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Stapel" panose="020B0604020202020204" pitchFamily="34" charset="0"/>
              <a:buNone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Качество данных — характеристика, показывающая степень пригодности данных к использованию, и их полезности (или прибыльности).</a:t>
            </a:r>
          </a:p>
        </p:txBody>
      </p:sp>
      <p:pic>
        <p:nvPicPr>
          <p:cNvPr id="24" name="Рисунок 67">
            <a:extLst>
              <a:ext uri="{FF2B5EF4-FFF2-40B4-BE49-F238E27FC236}">
                <a16:creationId xmlns:a16="http://schemas.microsoft.com/office/drawing/2014/main" id="{3175F5A0-9BF9-4E2E-9029-5EFE957C933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60181" y="4541324"/>
            <a:ext cx="2095200" cy="736920"/>
          </a:xfrm>
          <a:prstGeom prst="rect">
            <a:avLst/>
          </a:prstGeom>
          <a:ln w="0">
            <a:noFill/>
          </a:ln>
        </p:spPr>
      </p:pic>
      <p:sp>
        <p:nvSpPr>
          <p:cNvPr id="25" name="Текст 62">
            <a:extLst>
              <a:ext uri="{FF2B5EF4-FFF2-40B4-BE49-F238E27FC236}">
                <a16:creationId xmlns:a16="http://schemas.microsoft.com/office/drawing/2014/main" id="{BC08E417-D93F-4305-986D-17893A4FB4E2}"/>
              </a:ext>
            </a:extLst>
          </p:cNvPr>
          <p:cNvSpPr txBox="1">
            <a:spLocks/>
          </p:cNvSpPr>
          <p:nvPr/>
        </p:nvSpPr>
        <p:spPr>
          <a:xfrm>
            <a:off x="2632899" y="4792870"/>
            <a:ext cx="9358008" cy="104393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Stapel" panose="020B0604020202020204" pitchFamily="34" charset="0"/>
              <a:buNone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Отсутствие информации в данных не принесёт никакой прибыли, но и не приведёт к убыткам (только к издержкам, например, на хранение).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Таким образом, главный приоритет выявления – это </a:t>
            </a:r>
            <a:r>
              <a:rPr lang="ru-RU" sz="1000" b="0" u="sng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ложные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данные, и тогда (даже без удаления «</a:t>
            </a:r>
            <a:r>
              <a:rPr lang="ru-RU" sz="1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пустых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» данных) в сумме, в среднем, бизнес будет конкурентным.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Stapel" panose="020B0604020202020204" pitchFamily="34" charset="0"/>
              <a:buNone/>
            </a:pPr>
            <a:endParaRPr lang="ru-RU" sz="1000" dirty="0">
              <a:solidFill>
                <a:srgbClr val="000000"/>
              </a:solidFill>
            </a:endParaRPr>
          </a:p>
        </p:txBody>
      </p:sp>
      <p:sp>
        <p:nvSpPr>
          <p:cNvPr id="26" name="Текст 62">
            <a:extLst>
              <a:ext uri="{FF2B5EF4-FFF2-40B4-BE49-F238E27FC236}">
                <a16:creationId xmlns:a16="http://schemas.microsoft.com/office/drawing/2014/main" id="{432A883E-821F-4A6E-9D54-859FB2CA93E1}"/>
              </a:ext>
            </a:extLst>
          </p:cNvPr>
          <p:cNvSpPr txBox="1">
            <a:spLocks/>
          </p:cNvSpPr>
          <p:nvPr/>
        </p:nvSpPr>
        <p:spPr>
          <a:xfrm>
            <a:off x="2445463" y="4518385"/>
            <a:ext cx="9046145" cy="3212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Stapel" panose="020B0604020202020204" pitchFamily="34" charset="0"/>
              <a:buNone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— это белый шум, в нём может быть очень много данных, но в нём совершенно отсутствует информация.</a:t>
            </a:r>
          </a:p>
        </p:txBody>
      </p:sp>
      <p:pic>
        <p:nvPicPr>
          <p:cNvPr id="27" name="Picture 4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9A9CCB70-31AA-4CC2-A13C-E3995CB5070A}"/>
              </a:ext>
            </a:extLst>
          </p:cNvPr>
          <p:cNvPicPr/>
          <p:nvPr/>
        </p:nvPicPr>
        <p:blipFill rotWithShape="1">
          <a:blip r:embed="rId4"/>
          <a:srcRect l="5133"/>
          <a:stretch/>
        </p:blipFill>
        <p:spPr>
          <a:xfrm>
            <a:off x="7314015" y="204330"/>
            <a:ext cx="4376450" cy="1594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0" name="Группа 14">
            <a:extLst>
              <a:ext uri="{FF2B5EF4-FFF2-40B4-BE49-F238E27FC236}">
                <a16:creationId xmlns:a16="http://schemas.microsoft.com/office/drawing/2014/main" id="{03F853D9-38E1-4DB8-A340-F69D95B375FD}"/>
              </a:ext>
            </a:extLst>
          </p:cNvPr>
          <p:cNvGrpSpPr/>
          <p:nvPr/>
        </p:nvGrpSpPr>
        <p:grpSpPr>
          <a:xfrm>
            <a:off x="8681731" y="393228"/>
            <a:ext cx="2881533" cy="3799086"/>
            <a:chOff x="7835968" y="-370086"/>
            <a:chExt cx="2881533" cy="3799086"/>
          </a:xfrm>
        </p:grpSpPr>
        <p:sp>
          <p:nvSpPr>
            <p:cNvPr id="21" name="Диагональная полоса 15">
              <a:extLst>
                <a:ext uri="{FF2B5EF4-FFF2-40B4-BE49-F238E27FC236}">
                  <a16:creationId xmlns:a16="http://schemas.microsoft.com/office/drawing/2014/main" id="{C026A067-416D-4442-BC13-B41CBC779C19}"/>
                </a:ext>
              </a:extLst>
            </p:cNvPr>
            <p:cNvSpPr/>
            <p:nvPr/>
          </p:nvSpPr>
          <p:spPr>
            <a:xfrm rot="13418002">
              <a:off x="7835968" y="-370086"/>
              <a:ext cx="2881533" cy="2789572"/>
            </a:xfrm>
            <a:prstGeom prst="diagStripe">
              <a:avLst>
                <a:gd name="adj" fmla="val 24584"/>
              </a:avLst>
            </a:prstGeom>
          </p:spPr>
          <p:style>
            <a:lnRef idx="2">
              <a:srgbClr val="8F0D6B">
                <a:shade val="15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FFFF"/>
                </a:solidFill>
              </a:endParaRPr>
            </a:p>
          </p:txBody>
        </p:sp>
        <p:sp>
          <p:nvSpPr>
            <p:cNvPr id="22" name="Прямоугольник 16">
              <a:extLst>
                <a:ext uri="{FF2B5EF4-FFF2-40B4-BE49-F238E27FC236}">
                  <a16:creationId xmlns:a16="http://schemas.microsoft.com/office/drawing/2014/main" id="{FE67758B-AE2D-44F7-8ED7-42D01B08C670}"/>
                </a:ext>
              </a:extLst>
            </p:cNvPr>
            <p:cNvSpPr/>
            <p:nvPr/>
          </p:nvSpPr>
          <p:spPr>
            <a:xfrm>
              <a:off x="8839200" y="2514600"/>
              <a:ext cx="1002890" cy="914400"/>
            </a:xfrm>
            <a:prstGeom prst="rect">
              <a:avLst/>
            </a:prstGeom>
          </p:spPr>
          <p:style>
            <a:lnRef idx="2">
              <a:srgbClr val="8F0D6B">
                <a:shade val="15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0154ABCD-AA6E-421E-A005-352F143BA8FF}"/>
              </a:ext>
            </a:extLst>
          </p:cNvPr>
          <p:cNvSpPr>
            <a:spLocks noGrp="1"/>
          </p:cNvSpPr>
          <p:nvPr/>
        </p:nvSpPr>
        <p:spPr>
          <a:xfrm>
            <a:off x="481214" y="1010653"/>
            <a:ext cx="6088199" cy="5226636"/>
          </a:xfrm>
        </p:spPr>
        <p:txBody>
          <a:bodyPr/>
          <a:lstStyle/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Входные данные для интеллектуальных систем (в их современном состоянии) требуют высокой чистоты данных, поступающих им на вход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Для органических пользователей требования к чистоте данных ниже;</a:t>
            </a:r>
            <a:endParaRPr lang="en-US" dirty="0"/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Органические агенты могут работать в большом диапазоне чистоты данных, в том числе и с противоречивыми и неполными;</a:t>
            </a:r>
            <a:endParaRPr lang="en-US" dirty="0"/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ИИ-агенты и инструменты категорически не поддерживают мусорные данные на входе</a:t>
            </a:r>
            <a:endParaRPr lang="en-US" dirty="0"/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При недостаточном качестве данных на входе ИИ-инструментов, последние на выходе могут дать ошибочные решения органических аналитиков, что в свою очередь приведёт к значительным убыткам компании, как репутационным так и финансовым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endParaRPr lang="ru-RU" dirty="0"/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3E2B0FF2-EEDA-4B87-A154-80F0080EDE26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Почему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DQ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особенно важно при использовании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AI</a:t>
            </a:r>
            <a:endParaRPr lang="ru-RU" dirty="0"/>
          </a:p>
        </p:txBody>
      </p:sp>
      <p:sp>
        <p:nvSpPr>
          <p:cNvPr id="25" name="Блок-схема: узел 18">
            <a:extLst>
              <a:ext uri="{FF2B5EF4-FFF2-40B4-BE49-F238E27FC236}">
                <a16:creationId xmlns:a16="http://schemas.microsoft.com/office/drawing/2014/main" id="{B4832B6A-758D-48AD-94DF-E87EE8997157}"/>
              </a:ext>
            </a:extLst>
          </p:cNvPr>
          <p:cNvSpPr/>
          <p:nvPr/>
        </p:nvSpPr>
        <p:spPr>
          <a:xfrm>
            <a:off x="8038155" y="1164991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Блок-схема: узел 19">
            <a:extLst>
              <a:ext uri="{FF2B5EF4-FFF2-40B4-BE49-F238E27FC236}">
                <a16:creationId xmlns:a16="http://schemas.microsoft.com/office/drawing/2014/main" id="{17758E3D-B193-4730-9B88-11342F682CB9}"/>
              </a:ext>
            </a:extLst>
          </p:cNvPr>
          <p:cNvSpPr/>
          <p:nvPr/>
        </p:nvSpPr>
        <p:spPr>
          <a:xfrm>
            <a:off x="7889360" y="991371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Блок-схема: узел 20">
            <a:extLst>
              <a:ext uri="{FF2B5EF4-FFF2-40B4-BE49-F238E27FC236}">
                <a16:creationId xmlns:a16="http://schemas.microsoft.com/office/drawing/2014/main" id="{DF6F659A-6F17-4A5E-B5F8-86F8E6C75F4D}"/>
              </a:ext>
            </a:extLst>
          </p:cNvPr>
          <p:cNvSpPr/>
          <p:nvPr/>
        </p:nvSpPr>
        <p:spPr>
          <a:xfrm>
            <a:off x="8645611" y="1439159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Блок-схема: узел 25">
            <a:extLst>
              <a:ext uri="{FF2B5EF4-FFF2-40B4-BE49-F238E27FC236}">
                <a16:creationId xmlns:a16="http://schemas.microsoft.com/office/drawing/2014/main" id="{83E482A2-1AD4-4464-8123-3B8E9290BD31}"/>
              </a:ext>
            </a:extLst>
          </p:cNvPr>
          <p:cNvSpPr/>
          <p:nvPr/>
        </p:nvSpPr>
        <p:spPr>
          <a:xfrm>
            <a:off x="8257599" y="1229020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Блок-схема: узел 26">
            <a:extLst>
              <a:ext uri="{FF2B5EF4-FFF2-40B4-BE49-F238E27FC236}">
                <a16:creationId xmlns:a16="http://schemas.microsoft.com/office/drawing/2014/main" id="{389B71FD-EA01-46A4-9879-CDE9B255C640}"/>
              </a:ext>
            </a:extLst>
          </p:cNvPr>
          <p:cNvSpPr/>
          <p:nvPr/>
        </p:nvSpPr>
        <p:spPr>
          <a:xfrm>
            <a:off x="8337261" y="986077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Блок-схема: узел 27">
            <a:extLst>
              <a:ext uri="{FF2B5EF4-FFF2-40B4-BE49-F238E27FC236}">
                <a16:creationId xmlns:a16="http://schemas.microsoft.com/office/drawing/2014/main" id="{82B9B0B7-14D4-48FB-9A7F-5F00F09F56A4}"/>
              </a:ext>
            </a:extLst>
          </p:cNvPr>
          <p:cNvSpPr/>
          <p:nvPr/>
        </p:nvSpPr>
        <p:spPr>
          <a:xfrm>
            <a:off x="8489835" y="1156772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28" descr="Бульдозер контур">
            <a:extLst>
              <a:ext uri="{FF2B5EF4-FFF2-40B4-BE49-F238E27FC236}">
                <a16:creationId xmlns:a16="http://schemas.microsoft.com/office/drawing/2014/main" id="{1B775571-C8B2-43AD-9079-59EE4C652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4660" y="777980"/>
            <a:ext cx="914400" cy="914400"/>
          </a:xfrm>
          <a:prstGeom prst="rect">
            <a:avLst/>
          </a:prstGeom>
        </p:spPr>
      </p:pic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3D7FBDD9-352D-4024-9503-5BEEC80EDFDC}"/>
              </a:ext>
            </a:extLst>
          </p:cNvPr>
          <p:cNvSpPr txBox="1">
            <a:spLocks/>
          </p:cNvSpPr>
          <p:nvPr/>
        </p:nvSpPr>
        <p:spPr>
          <a:xfrm>
            <a:off x="9171872" y="1416198"/>
            <a:ext cx="2180162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4FE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ACC4F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ACC4FE"/>
                </a:solidFill>
                <a:latin typeface="Stapel Medium"/>
                <a:ea typeface="Stapel Medium"/>
                <a:cs typeface="Stapel Medium"/>
              </a:rPr>
              <a:t>«Сырые» данные</a:t>
            </a:r>
          </a:p>
          <a:p>
            <a:endParaRPr lang="en-US" dirty="0" sz="1500"/>
          </a:p>
        </p:txBody>
      </p:sp>
      <p:cxnSp>
        <p:nvCxnSpPr>
          <p:cNvPr id="33" name="Прямая соединительная линия 30">
            <a:extLst>
              <a:ext uri="{FF2B5EF4-FFF2-40B4-BE49-F238E27FC236}">
                <a16:creationId xmlns:a16="http://schemas.microsoft.com/office/drawing/2014/main" id="{4569C05A-D99A-4928-AEB1-57043DC627E6}"/>
              </a:ext>
            </a:extLst>
          </p:cNvPr>
          <p:cNvCxnSpPr>
            <a:cxnSpLocks/>
          </p:cNvCxnSpPr>
          <p:nvPr/>
        </p:nvCxnSpPr>
        <p:spPr>
          <a:xfrm>
            <a:off x="8329219" y="2254749"/>
            <a:ext cx="361827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3">
            <a:srgbClr val="000000"/>
          </a:lnRef>
          <a:fillRef idx="0">
            <a:srgbClr val="000000"/>
          </a:fillRef>
          <a:effectRef idx="2">
            <a:srgbClr val="000000"/>
          </a:effectRef>
          <a:fontRef idx="minor">
            <a:srgbClr val="000000"/>
          </a:fontRef>
        </p:style>
      </p:cxn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97E8152A-7654-4E91-AA54-0270EB918200}"/>
              </a:ext>
            </a:extLst>
          </p:cNvPr>
          <p:cNvSpPr txBox="1">
            <a:spLocks/>
          </p:cNvSpPr>
          <p:nvPr/>
        </p:nvSpPr>
        <p:spPr>
          <a:xfrm>
            <a:off x="8491578" y="1793279"/>
            <a:ext cx="3455912" cy="37911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692"/>
              </a:lnSpc>
              <a:spcBef>
                <a:spcPts val="940"/>
              </a:spcBef>
              <a:buClr>
                <a:srgbClr val="ACC4FE"/>
              </a:buClr>
              <a:buFont typeface="Stapel" panose="020B0604020202020204" pitchFamily="34" charset="0"/>
              <a:buNone/>
              <a:defRPr sz="13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3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1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1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9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Обработанные данные: идентифицированные, нормализованные, стандартизированные, связные</a:t>
            </a:r>
            <a:endParaRPr lang="en-US" sz="900" dirty="0">
              <a:solidFill>
                <a:srgbClr val="FFFFFF">
                  <a:lumMod val="85000"/>
                </a:srgbClr>
              </a:solidFill>
            </a:endParaRP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D5B3D5D8-C516-4D2C-9767-81D9FB51DE3E}"/>
              </a:ext>
            </a:extLst>
          </p:cNvPr>
          <p:cNvSpPr txBox="1">
            <a:spLocks/>
          </p:cNvSpPr>
          <p:nvPr/>
        </p:nvSpPr>
        <p:spPr>
          <a:xfrm>
            <a:off x="8766853" y="2263500"/>
            <a:ext cx="2789762" cy="24883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ACC4FE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Сервисы, платформы, визуализации, </a:t>
            </a:r>
            <a:r>
              <a:rPr lang="en-US" sz="10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API</a:t>
            </a:r>
          </a:p>
        </p:txBody>
      </p:sp>
      <p:cxnSp>
        <p:nvCxnSpPr>
          <p:cNvPr id="36" name="Прямая соединительная линия 33">
            <a:extLst>
              <a:ext uri="{FF2B5EF4-FFF2-40B4-BE49-F238E27FC236}">
                <a16:creationId xmlns:a16="http://schemas.microsoft.com/office/drawing/2014/main" id="{035741C2-F844-4F3B-9B33-A3DEA64F6405}"/>
              </a:ext>
            </a:extLst>
          </p:cNvPr>
          <p:cNvCxnSpPr>
            <a:cxnSpLocks/>
          </p:cNvCxnSpPr>
          <p:nvPr/>
        </p:nvCxnSpPr>
        <p:spPr>
          <a:xfrm>
            <a:off x="8651289" y="2621035"/>
            <a:ext cx="2905326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3">
            <a:srgbClr val="000000"/>
          </a:lnRef>
          <a:fillRef idx="0">
            <a:srgbClr val="000000"/>
          </a:fillRef>
          <a:effectRef idx="2">
            <a:srgbClr val="000000"/>
          </a:effectRef>
          <a:fontRef idx="minor">
            <a:srgbClr val="000000"/>
          </a:fontRef>
        </p:style>
      </p:cxnSp>
      <p:cxnSp>
        <p:nvCxnSpPr>
          <p:cNvPr id="37" name="Прямая соединительная линия 34">
            <a:extLst>
              <a:ext uri="{FF2B5EF4-FFF2-40B4-BE49-F238E27FC236}">
                <a16:creationId xmlns:a16="http://schemas.microsoft.com/office/drawing/2014/main" id="{1DDEAA0E-41DA-40E4-AFD7-C8F03351A65D}"/>
              </a:ext>
            </a:extLst>
          </p:cNvPr>
          <p:cNvCxnSpPr>
            <a:cxnSpLocks/>
          </p:cNvCxnSpPr>
          <p:nvPr/>
        </p:nvCxnSpPr>
        <p:spPr>
          <a:xfrm>
            <a:off x="9482115" y="3268321"/>
            <a:ext cx="1433733" cy="666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3">
            <a:srgbClr val="000000"/>
          </a:lnRef>
          <a:fillRef idx="0">
            <a:srgbClr val="000000"/>
          </a:fillRef>
          <a:effectRef idx="2">
            <a:srgbClr val="000000"/>
          </a:effectRef>
          <a:fontRef idx="minor">
            <a:srgbClr val="000000"/>
          </a:fontRef>
        </p:style>
      </p:cxn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A4DD39E0-E01E-4565-B004-3A0D3AB9C575}"/>
              </a:ext>
            </a:extLst>
          </p:cNvPr>
          <p:cNvSpPr txBox="1">
            <a:spLocks/>
          </p:cNvSpPr>
          <p:nvPr/>
        </p:nvSpPr>
        <p:spPr>
          <a:xfrm>
            <a:off x="9192063" y="2621035"/>
            <a:ext cx="2054942" cy="55103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ACC4FE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Аналитика коренных причин,</a:t>
            </a:r>
            <a:br>
              <a:rPr lang="ru-RU" sz="1000" dirty="0">
                <a:solidFill>
                  <a:srgbClr val="FFFFFF">
                    <a:lumMod val="85000"/>
                  </a:srgbClr>
                </a:solidFill>
              </a:rPr>
            </a:br>
            <a:r>
              <a:rPr lang="ru-RU" sz="10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прогнозирование,</a:t>
            </a:r>
            <a:br>
              <a:rPr lang="ru-RU" sz="1000" dirty="0">
                <a:solidFill>
                  <a:srgbClr val="FFFFFF">
                    <a:lumMod val="85000"/>
                  </a:srgbClr>
                </a:solidFill>
              </a:rPr>
            </a:br>
            <a:r>
              <a:rPr lang="ru-RU" sz="10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скоринги, рейтинги с помощью </a:t>
            </a:r>
            <a:r>
              <a:rPr lang="en-US" sz="10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IA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08AA82EA-C7B2-4564-A73C-8D1C9E64E2A5}"/>
              </a:ext>
            </a:extLst>
          </p:cNvPr>
          <p:cNvSpPr txBox="1">
            <a:spLocks/>
          </p:cNvSpPr>
          <p:nvPr/>
        </p:nvSpPr>
        <p:spPr>
          <a:xfrm>
            <a:off x="9597957" y="3433756"/>
            <a:ext cx="1168993" cy="65048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ACC4FE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8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Аналитика</a:t>
            </a:r>
            <a:br>
              <a:rPr lang="ru-RU" sz="800" dirty="0">
                <a:solidFill>
                  <a:srgbClr val="FFFFFF">
                    <a:lumMod val="85000"/>
                  </a:srgbClr>
                </a:solidFill>
              </a:rPr>
            </a:br>
            <a:r>
              <a:rPr lang="ru-RU" sz="8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предписывающая –полностью </a:t>
            </a:r>
            <a:r>
              <a:rPr lang="en-US" sz="800" dirty="0" b="0">
                <a:solidFill>
                  <a:srgbClr val="FFFFFF">
                    <a:lumMod val="85000"/>
                  </a:srgbClr>
                </a:solidFill>
                <a:latin typeface="Stapel"/>
              </a:rPr>
              <a:t>AI</a:t>
            </a:r>
          </a:p>
        </p:txBody>
      </p:sp>
      <p:sp>
        <p:nvSpPr>
          <p:cNvPr id="40" name="Стрелка: вниз 37">
            <a:extLst>
              <a:ext uri="{FF2B5EF4-FFF2-40B4-BE49-F238E27FC236}">
                <a16:creationId xmlns:a16="http://schemas.microsoft.com/office/drawing/2014/main" id="{7F7451C4-5F87-43F9-82B4-0E3E029410E1}"/>
              </a:ext>
            </a:extLst>
          </p:cNvPr>
          <p:cNvSpPr/>
          <p:nvPr/>
        </p:nvSpPr>
        <p:spPr>
          <a:xfrm rot="20653048">
            <a:off x="8122881" y="1566820"/>
            <a:ext cx="304800" cy="4176100"/>
          </a:xfrm>
          <a:prstGeom prst="downArrow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1D9BAFBD-3B78-4844-A97C-BDF1667BD093}"/>
              </a:ext>
            </a:extLst>
          </p:cNvPr>
          <p:cNvSpPr txBox="1">
            <a:spLocks/>
          </p:cNvSpPr>
          <p:nvPr/>
        </p:nvSpPr>
        <p:spPr>
          <a:xfrm rot="4423140">
            <a:off x="6821476" y="3215792"/>
            <a:ext cx="2169739" cy="361312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1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900" dirty="0" b="0">
                <a:solidFill>
                  <a:srgbClr val="7D70EF">
                    <a:lumMod val="75000"/>
                  </a:srgbClr>
                </a:solidFill>
                <a:latin typeface="Stapel Medium"/>
                <a:ea typeface="Stapel Medium"/>
                <a:cs typeface="Stapel Medium"/>
              </a:rPr>
              <a:t>Возрастание качества</a:t>
            </a:r>
            <a:br>
              <a:rPr lang="ru-RU" sz="1000" dirty="0">
                <a:solidFill>
                  <a:srgbClr val="7D70EF">
                    <a:lumMod val="75000"/>
                  </a:srgbClr>
                </a:solidFill>
              </a:rPr>
            </a:br>
            <a:r>
              <a:rPr lang="ru-RU" sz="900" dirty="0" b="0">
                <a:solidFill>
                  <a:srgbClr val="7D70EF">
                    <a:lumMod val="75000"/>
                  </a:srgbClr>
                </a:solidFill>
                <a:latin typeface="Stapel Medium"/>
                <a:ea typeface="Stapel Medium"/>
                <a:cs typeface="Stapel Medium"/>
              </a:rPr>
              <a:t>(информативности) данных</a:t>
            </a:r>
            <a:endParaRPr lang="en-US" sz="900" dirty="0">
              <a:solidFill>
                <a:srgbClr val="7D70EF">
                  <a:lumMod val="75000"/>
                </a:srgbClr>
              </a:solidFill>
            </a:endParaRPr>
          </a:p>
        </p:txBody>
      </p:sp>
      <p:sp>
        <p:nvSpPr>
          <p:cNvPr id="42" name="Блок-схема: узел 46">
            <a:extLst>
              <a:ext uri="{FF2B5EF4-FFF2-40B4-BE49-F238E27FC236}">
                <a16:creationId xmlns:a16="http://schemas.microsoft.com/office/drawing/2014/main" id="{DD6F0383-B482-475D-91A2-3A0C67C53DC5}"/>
              </a:ext>
            </a:extLst>
          </p:cNvPr>
          <p:cNvSpPr/>
          <p:nvPr/>
        </p:nvSpPr>
        <p:spPr>
          <a:xfrm>
            <a:off x="8449495" y="1394493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Блок-схема: узел 47">
            <a:extLst>
              <a:ext uri="{FF2B5EF4-FFF2-40B4-BE49-F238E27FC236}">
                <a16:creationId xmlns:a16="http://schemas.microsoft.com/office/drawing/2014/main" id="{D3E7D8D7-FDED-4C1E-80E7-2A0D41256410}"/>
              </a:ext>
            </a:extLst>
          </p:cNvPr>
          <p:cNvSpPr/>
          <p:nvPr/>
        </p:nvSpPr>
        <p:spPr>
          <a:xfrm>
            <a:off x="8094982" y="909679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Блок-схема: узел 48">
            <a:extLst>
              <a:ext uri="{FF2B5EF4-FFF2-40B4-BE49-F238E27FC236}">
                <a16:creationId xmlns:a16="http://schemas.microsoft.com/office/drawing/2014/main" id="{20F970FF-5731-4D69-9058-A6E4CCC28660}"/>
              </a:ext>
            </a:extLst>
          </p:cNvPr>
          <p:cNvSpPr/>
          <p:nvPr/>
        </p:nvSpPr>
        <p:spPr>
          <a:xfrm>
            <a:off x="8670736" y="1624040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157E7BEF-60F0-4B84-ABF8-07D34AD75847}"/>
              </a:ext>
            </a:extLst>
          </p:cNvPr>
          <p:cNvSpPr txBox="1">
            <a:spLocks/>
          </p:cNvSpPr>
          <p:nvPr/>
        </p:nvSpPr>
        <p:spPr>
          <a:xfrm>
            <a:off x="8168724" y="5626424"/>
            <a:ext cx="2876922" cy="391714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z="1600" b="0">
                <a:solidFill>
                  <a:srgbClr val="7D70EF">
                    <a:lumMod val="50000"/>
                  </a:srgbClr>
                </a:solidFill>
                <a:latin typeface="Stapel Medium"/>
                <a:ea typeface="Stapel Medium"/>
                <a:cs typeface="Stapel Medium"/>
              </a:rPr>
              <a:t>Информация = польза</a:t>
            </a:r>
            <a:endParaRPr lang="en-US" dirty="0">
              <a:solidFill>
                <a:srgbClr val="7D70EF">
                  <a:lumMod val="50000"/>
                </a:srgbClr>
              </a:solidFill>
            </a:endParaRPr>
          </a:p>
        </p:txBody>
      </p:sp>
      <p:sp>
        <p:nvSpPr>
          <p:cNvPr id="46" name="Стрелка: вниз 51">
            <a:extLst>
              <a:ext uri="{FF2B5EF4-FFF2-40B4-BE49-F238E27FC236}">
                <a16:creationId xmlns:a16="http://schemas.microsoft.com/office/drawing/2014/main" id="{02C54F7D-8BB0-4EF5-A3C5-30108905C462}"/>
              </a:ext>
            </a:extLst>
          </p:cNvPr>
          <p:cNvSpPr/>
          <p:nvPr/>
        </p:nvSpPr>
        <p:spPr>
          <a:xfrm>
            <a:off x="10084950" y="4427285"/>
            <a:ext cx="304800" cy="1190410"/>
          </a:xfrm>
          <a:prstGeom prst="downArrow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Rectangle 30">
            <a:extLst>
              <a:ext uri="{FF2B5EF4-FFF2-40B4-BE49-F238E27FC236}">
                <a16:creationId xmlns:a16="http://schemas.microsoft.com/office/drawing/2014/main" id="{C28DBFA9-4731-420F-B846-C8C3486FFC50}"/>
              </a:ext>
            </a:extLst>
          </p:cNvPr>
          <p:cNvSpPr/>
          <p:nvPr/>
        </p:nvSpPr>
        <p:spPr>
          <a:xfrm>
            <a:off x="382091" y="5174120"/>
            <a:ext cx="79471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50" dirty="0">
                <a:solidFill>
                  <a:srgbClr val="000000"/>
                </a:solidFill>
                <a:latin typeface="+mn-lt"/>
              </a:rPr>
              <a:t>Для обеспечения гибкости у команды есть акселераторы систем оценки и сравнения качества данных для сред, совместимых с </a:t>
            </a:r>
            <a:r>
              <a:rPr lang="ru-RU" sz="1350" dirty="0" err="1">
                <a:solidFill>
                  <a:srgbClr val="000000"/>
                </a:solidFill>
                <a:latin typeface="+mn-lt"/>
              </a:rPr>
              <a:t>Python</a:t>
            </a:r>
            <a:r>
              <a:rPr lang="ru-RU" sz="1350" dirty="0">
                <a:solidFill>
                  <a:srgbClr val="000000"/>
                </a:solidFill>
                <a:latin typeface="+mn-lt"/>
              </a:rPr>
              <a:t> и </a:t>
            </a:r>
            <a:r>
              <a:rPr lang="ru-RU" sz="1350" dirty="0" err="1">
                <a:solidFill>
                  <a:srgbClr val="000000"/>
                </a:solidFill>
                <a:latin typeface="+mn-lt"/>
              </a:rPr>
              <a:t>Java</a:t>
            </a:r>
            <a:r>
              <a:rPr lang="ru-RU" sz="1350" dirty="0">
                <a:solidFill>
                  <a:srgbClr val="000000"/>
                </a:solidFill>
                <a:latin typeface="+mn-lt"/>
              </a:rPr>
              <a:t>. Это позволяет встроиться в привычный </a:t>
            </a:r>
            <a:r>
              <a:rPr lang="ru-RU" sz="1350" dirty="0" err="1">
                <a:solidFill>
                  <a:srgbClr val="000000"/>
                </a:solidFill>
                <a:latin typeface="+mn-lt"/>
              </a:rPr>
              <a:t>техстек</a:t>
            </a:r>
            <a:r>
              <a:rPr lang="ru-RU" sz="1350" dirty="0">
                <a:solidFill>
                  <a:srgbClr val="000000"/>
                </a:solidFill>
                <a:latin typeface="+mn-lt"/>
              </a:rPr>
              <a:t> и не начинать работу с нуля, а сразу приступать к проверке доступности и </a:t>
            </a:r>
            <a:r>
              <a:rPr lang="ru-RU" sz="1350" dirty="0" err="1">
                <a:solidFill>
                  <a:srgbClr val="000000"/>
                </a:solidFill>
                <a:latin typeface="+mn-lt"/>
              </a:rPr>
              <a:t>верхнеуровневым</a:t>
            </a:r>
            <a:r>
              <a:rPr lang="ru-RU" sz="1350" dirty="0">
                <a:solidFill>
                  <a:srgbClr val="000000"/>
                </a:solidFill>
                <a:latin typeface="+mn-lt"/>
              </a:rPr>
              <a:t> оценкам данных.</a:t>
            </a:r>
            <a:endParaRPr lang="ru-RU" sz="1350" dirty="0">
              <a:effectLst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49">
            <a:extLst>
              <a:ext uri="{FF2B5EF4-FFF2-40B4-BE49-F238E27FC236}">
                <a16:creationId xmlns:a16="http://schemas.microsoft.com/office/drawing/2014/main" id="{D5EB6206-C676-47E0-99BE-758A6BDB2029}"/>
              </a:ext>
            </a:extLst>
          </p:cNvPr>
          <p:cNvSpPr/>
          <p:nvPr userDrawn="1"/>
        </p:nvSpPr>
        <p:spPr>
          <a:xfrm>
            <a:off x="507205" y="1112272"/>
            <a:ext cx="3497384" cy="522839"/>
          </a:xfrm>
          <a:prstGeom prst="rect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" name="Прямоугольник 47">
            <a:extLst>
              <a:ext uri="{FF2B5EF4-FFF2-40B4-BE49-F238E27FC236}">
                <a16:creationId xmlns:a16="http://schemas.microsoft.com/office/drawing/2014/main" id="{BA690AA4-7EC7-4311-945C-681C71CD0EE2}"/>
              </a:ext>
            </a:extLst>
          </p:cNvPr>
          <p:cNvSpPr/>
          <p:nvPr userDrawn="1"/>
        </p:nvSpPr>
        <p:spPr>
          <a:xfrm>
            <a:off x="515938" y="1635492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50">
            <a:extLst>
              <a:ext uri="{FF2B5EF4-FFF2-40B4-BE49-F238E27FC236}">
                <a16:creationId xmlns:a16="http://schemas.microsoft.com/office/drawing/2014/main" id="{8E2CB697-2882-42B7-8785-77F0F1C82CBB}"/>
              </a:ext>
            </a:extLst>
          </p:cNvPr>
          <p:cNvSpPr/>
          <p:nvPr userDrawn="1"/>
        </p:nvSpPr>
        <p:spPr>
          <a:xfrm>
            <a:off x="8178678" y="1112272"/>
            <a:ext cx="3497384" cy="522839"/>
          </a:xfrm>
          <a:prstGeom prst="rect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52">
            <a:extLst>
              <a:ext uri="{FF2B5EF4-FFF2-40B4-BE49-F238E27FC236}">
                <a16:creationId xmlns:a16="http://schemas.microsoft.com/office/drawing/2014/main" id="{6C0EF9AE-7897-4849-BA8C-3536F78289E5}"/>
              </a:ext>
            </a:extLst>
          </p:cNvPr>
          <p:cNvSpPr/>
          <p:nvPr userDrawn="1"/>
        </p:nvSpPr>
        <p:spPr>
          <a:xfrm>
            <a:off x="8187411" y="1635492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54">
            <a:extLst>
              <a:ext uri="{FF2B5EF4-FFF2-40B4-BE49-F238E27FC236}">
                <a16:creationId xmlns:a16="http://schemas.microsoft.com/office/drawing/2014/main" id="{FF1DE409-1855-4561-93E2-F349D2865C80}"/>
              </a:ext>
            </a:extLst>
          </p:cNvPr>
          <p:cNvSpPr/>
          <p:nvPr userDrawn="1"/>
        </p:nvSpPr>
        <p:spPr>
          <a:xfrm>
            <a:off x="4347308" y="1112272"/>
            <a:ext cx="3497384" cy="522839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FFFFFF"/>
              </a:solidFill>
            </a:endParaRPr>
          </a:p>
        </p:txBody>
      </p:sp>
      <p:sp>
        <p:nvSpPr>
          <p:cNvPr id="25" name="Прямоугольник 56">
            <a:extLst>
              <a:ext uri="{FF2B5EF4-FFF2-40B4-BE49-F238E27FC236}">
                <a16:creationId xmlns:a16="http://schemas.microsoft.com/office/drawing/2014/main" id="{047205F5-029F-45AA-AA5E-87B81D160F5C}"/>
              </a:ext>
            </a:extLst>
          </p:cNvPr>
          <p:cNvSpPr/>
          <p:nvPr userDrawn="1"/>
        </p:nvSpPr>
        <p:spPr>
          <a:xfrm>
            <a:off x="4356041" y="1635492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58">
            <a:extLst>
              <a:ext uri="{FF2B5EF4-FFF2-40B4-BE49-F238E27FC236}">
                <a16:creationId xmlns:a16="http://schemas.microsoft.com/office/drawing/2014/main" id="{BC50E35F-B117-4052-9674-72E9095BA4ED}"/>
              </a:ext>
            </a:extLst>
          </p:cNvPr>
          <p:cNvSpPr/>
          <p:nvPr userDrawn="1"/>
        </p:nvSpPr>
        <p:spPr>
          <a:xfrm>
            <a:off x="515938" y="3851297"/>
            <a:ext cx="3497384" cy="522839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FFFFFF"/>
              </a:solidFill>
            </a:endParaRPr>
          </a:p>
        </p:txBody>
      </p:sp>
      <p:sp>
        <p:nvSpPr>
          <p:cNvPr id="27" name="Прямоугольник 60">
            <a:extLst>
              <a:ext uri="{FF2B5EF4-FFF2-40B4-BE49-F238E27FC236}">
                <a16:creationId xmlns:a16="http://schemas.microsoft.com/office/drawing/2014/main" id="{929DE9C4-159E-4065-A168-ABD1057117C4}"/>
              </a:ext>
            </a:extLst>
          </p:cNvPr>
          <p:cNvSpPr/>
          <p:nvPr userDrawn="1"/>
        </p:nvSpPr>
        <p:spPr>
          <a:xfrm>
            <a:off x="524671" y="4374517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62">
            <a:extLst>
              <a:ext uri="{FF2B5EF4-FFF2-40B4-BE49-F238E27FC236}">
                <a16:creationId xmlns:a16="http://schemas.microsoft.com/office/drawing/2014/main" id="{88B8F010-0BCF-428C-B15F-E94B33C0C2D7}"/>
              </a:ext>
            </a:extLst>
          </p:cNvPr>
          <p:cNvSpPr/>
          <p:nvPr userDrawn="1"/>
        </p:nvSpPr>
        <p:spPr>
          <a:xfrm>
            <a:off x="8187411" y="3851297"/>
            <a:ext cx="3497384" cy="522839"/>
          </a:xfrm>
          <a:prstGeom prst="rect">
            <a:avLst/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64">
            <a:extLst>
              <a:ext uri="{FF2B5EF4-FFF2-40B4-BE49-F238E27FC236}">
                <a16:creationId xmlns:a16="http://schemas.microsoft.com/office/drawing/2014/main" id="{E83B32B1-5491-47AC-9EEA-1F29D473240C}"/>
              </a:ext>
            </a:extLst>
          </p:cNvPr>
          <p:cNvSpPr/>
          <p:nvPr userDrawn="1"/>
        </p:nvSpPr>
        <p:spPr>
          <a:xfrm>
            <a:off x="8196144" y="4374517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66">
            <a:extLst>
              <a:ext uri="{FF2B5EF4-FFF2-40B4-BE49-F238E27FC236}">
                <a16:creationId xmlns:a16="http://schemas.microsoft.com/office/drawing/2014/main" id="{B1CA6679-0CB1-44FD-B6D4-CB49BA12D2BA}"/>
              </a:ext>
            </a:extLst>
          </p:cNvPr>
          <p:cNvSpPr/>
          <p:nvPr userDrawn="1"/>
        </p:nvSpPr>
        <p:spPr>
          <a:xfrm>
            <a:off x="4356041" y="3851297"/>
            <a:ext cx="3497384" cy="522839"/>
          </a:xfrm>
          <a:prstGeom prst="rect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31" name="Прямоугольник 68">
            <a:extLst>
              <a:ext uri="{FF2B5EF4-FFF2-40B4-BE49-F238E27FC236}">
                <a16:creationId xmlns:a16="http://schemas.microsoft.com/office/drawing/2014/main" id="{5CBA8329-81BD-4AFA-AB4F-787218C4F91F}"/>
              </a:ext>
            </a:extLst>
          </p:cNvPr>
          <p:cNvSpPr/>
          <p:nvPr userDrawn="1"/>
        </p:nvSpPr>
        <p:spPr>
          <a:xfrm>
            <a:off x="4364774" y="4374517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56440E1-B89B-4248-A917-E43403CD7ED6}"/>
              </a:ext>
            </a:extLst>
          </p:cNvPr>
          <p:cNvSpPr>
            <a:spLocks noGrp="1"/>
          </p:cNvSpPr>
          <p:nvPr/>
        </p:nvSpPr>
        <p:spPr>
          <a:xfrm>
            <a:off x="510054" y="1112272"/>
            <a:ext cx="3477351" cy="523220"/>
          </a:xfrm>
        </p:spPr>
        <p:txBody>
          <a:bodyPr/>
          <a:lstStyle/>
          <a:p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Аудит и Профилирование (</a:t>
            </a:r>
            <a:r>
              <a:rPr lang="ru-RU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Data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Profiling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37" name="Title 6">
            <a:extLst>
              <a:ext uri="{FF2B5EF4-FFF2-40B4-BE49-F238E27FC236}">
                <a16:creationId xmlns:a16="http://schemas.microsoft.com/office/drawing/2014/main" id="{F01167C6-6D45-4578-865E-C7AC1EBC3C1D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>
            <a:normAutofit/>
          </a:bodyPr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DQaaS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(Data Quality as a Service)</a:t>
            </a:r>
            <a:endParaRPr lang="ru-RU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0E0808BA-CD47-4D1A-BA82-AFDB388D3CE9}"/>
              </a:ext>
            </a:extLst>
          </p:cNvPr>
          <p:cNvSpPr>
            <a:spLocks noGrp="1"/>
          </p:cNvSpPr>
          <p:nvPr/>
        </p:nvSpPr>
        <p:spPr>
          <a:xfrm>
            <a:off x="604590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Автоматизированный сбор статистики и оценка «здоровья» данных до начала любых работ.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Понимание реального масштаба проблем, оценка трудозатрат и формирование обоснованного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Roadmap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без «гадания на кофейной гуще».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964FA690-0696-48A5-BF12-8AAC0A24839E}"/>
              </a:ext>
            </a:extLst>
          </p:cNvPr>
          <p:cNvSpPr>
            <a:spLocks noGrp="1"/>
          </p:cNvSpPr>
          <p:nvPr/>
        </p:nvSpPr>
        <p:spPr>
          <a:xfrm>
            <a:off x="8181527" y="1112272"/>
            <a:ext cx="3477351" cy="523220"/>
          </a:xfrm>
        </p:spPr>
        <p:txBody>
          <a:bodyPr/>
          <a:lstStyle/>
          <a:p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Обработка и Обогащение (</a:t>
            </a:r>
            <a:r>
              <a:rPr lang="ru-RU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Data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Processing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8A1F519-CF30-430D-B202-A312B886706E}"/>
              </a:ext>
            </a:extLst>
          </p:cNvPr>
          <p:cNvSpPr>
            <a:spLocks noGrp="1"/>
          </p:cNvSpPr>
          <p:nvPr/>
        </p:nvSpPr>
        <p:spPr>
          <a:xfrm>
            <a:off x="8276063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Трансформация, конвертация форматов,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дедупликация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и глубокая очистка исторических массивов.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Подготовка «чистого» фундамента для миграции, аналитики или обучения ML-моделей.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17959CE-93BC-4899-A0E6-009143F23928}"/>
              </a:ext>
            </a:extLst>
          </p:cNvPr>
          <p:cNvSpPr>
            <a:spLocks noGrp="1"/>
          </p:cNvSpPr>
          <p:nvPr/>
        </p:nvSpPr>
        <p:spPr>
          <a:xfrm>
            <a:off x="4350157" y="1112272"/>
            <a:ext cx="3477351" cy="523220"/>
          </a:xfrm>
        </p:spPr>
        <p:txBody>
          <a:bodyPr/>
          <a:lstStyle/>
          <a:p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Безопасность и Комплаенс (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Security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&amp; 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Compliance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BD1A7167-6CBC-42C2-840D-6D12759E357A}"/>
              </a:ext>
            </a:extLst>
          </p:cNvPr>
          <p:cNvSpPr>
            <a:spLocks noGrp="1"/>
          </p:cNvSpPr>
          <p:nvPr/>
        </p:nvSpPr>
        <p:spPr>
          <a:xfrm>
            <a:off x="4444693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dirty="0" sz="1000" b="0">
                <a:solidFill>
                  <a:srgbClr val="000000"/>
                </a:solidFill>
                <a:latin typeface="Stapel"/>
              </a:rPr>
              <a:t>Маскирование и анонимизация чувствительных данных (PII), проверка на соответствие 152-ФЗ, GDPR, отраслевым стандартам.</a:t>
            </a:r>
          </a:p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Для банков, телекома и ритейла это не опция, а обязательное условие допуска подрядчика. DQ без безопасности = риск штрафов.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36104557-A4B2-4AA5-A2E4-58ECDF179DFB}"/>
              </a:ext>
            </a:extLst>
          </p:cNvPr>
          <p:cNvSpPr>
            <a:spLocks noGrp="1"/>
          </p:cNvSpPr>
          <p:nvPr/>
        </p:nvSpPr>
        <p:spPr>
          <a:xfrm>
            <a:off x="518787" y="3851297"/>
            <a:ext cx="3477351" cy="523220"/>
          </a:xfrm>
        </p:spPr>
        <p:txBody>
          <a:bodyPr/>
          <a:lstStyle/>
          <a:p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Миграция и Консолидация (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Data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Migration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D4CCEE97-1C3E-4E0B-9316-8F44BE05D575}"/>
              </a:ext>
            </a:extLst>
          </p:cNvPr>
          <p:cNvSpPr>
            <a:spLocks noGrp="1"/>
          </p:cNvSpPr>
          <p:nvPr/>
        </p:nvSpPr>
        <p:spPr>
          <a:xfrm>
            <a:off x="613323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Безопасный перенос данных между системами с контролем целостности на каждом этапе.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Нулевая потеря данных и бизнес-непрерывность при смене вендоров или обновлении ландшафта.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7517354B-A604-4D88-927C-FCD9145E82D2}"/>
              </a:ext>
            </a:extLst>
          </p:cNvPr>
          <p:cNvSpPr>
            <a:spLocks noGrp="1"/>
          </p:cNvSpPr>
          <p:nvPr/>
        </p:nvSpPr>
        <p:spPr>
          <a:xfrm>
            <a:off x="8190260" y="3851297"/>
            <a:ext cx="3477351" cy="523220"/>
          </a:xfrm>
        </p:spPr>
        <p:txBody>
          <a:bodyPr/>
          <a:lstStyle/>
          <a:p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Proof of Concept (</a:t>
            </a:r>
            <a:r>
              <a:rPr lang="en-US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PoC</a:t>
            </a:r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) </a:t>
            </a:r>
            <a:r>
              <a:rPr lang="en-US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как</a:t>
            </a:r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en-US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продукт</a:t>
            </a:r>
            <a:endParaRPr lang="en-US" dirty="0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FA0C4EB9-3724-4DF0-AD77-62EE8B0D9270}"/>
              </a:ext>
            </a:extLst>
          </p:cNvPr>
          <p:cNvSpPr>
            <a:spLocks noGrp="1"/>
          </p:cNvSpPr>
          <p:nvPr/>
        </p:nvSpPr>
        <p:spPr>
          <a:xfrm>
            <a:off x="8284796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Разработка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PoC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системы управления данными с целью опробовать и выяснить подводные камни и увидеть пример результатов. Делается на примере одного источника данных или части системы и увидеть усреднённый результат аудита.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Заказчик получает возможность более точно прогнозировать результат проекта, перепроектировать требования до старта.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2AA0C47B-5CED-4F43-AB85-015EF632CE7C}"/>
              </a:ext>
            </a:extLst>
          </p:cNvPr>
          <p:cNvSpPr>
            <a:spLocks noGrp="1"/>
          </p:cNvSpPr>
          <p:nvPr/>
        </p:nvSpPr>
        <p:spPr>
          <a:xfrm>
            <a:off x="4358890" y="3851297"/>
            <a:ext cx="3477351" cy="523220"/>
          </a:xfrm>
        </p:spPr>
        <p:txBody>
          <a:bodyPr/>
          <a:lstStyle/>
          <a:p>
            <a:r>
              <a:rPr lang="en-US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Консалтинг</a:t>
            </a:r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и Transfer of Knowledge (</a:t>
            </a:r>
            <a:r>
              <a:rPr lang="en-US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ToK</a:t>
            </a:r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EB79A1F9-CBA4-433C-AC32-587F7A8968D4}"/>
              </a:ext>
            </a:extLst>
          </p:cNvPr>
          <p:cNvSpPr>
            <a:spLocks noGrp="1"/>
          </p:cNvSpPr>
          <p:nvPr/>
        </p:nvSpPr>
        <p:spPr>
          <a:xfrm>
            <a:off x="4453426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Разработка метрик и KPI качества данных (полнота, уникальность, точность, своевременность, согласованность). Проведение воркшопов, написание регламентов,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менторинг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аналитиков заказчика.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Заказчик получает не только результат, но и компетенции, чтобы самостоятельно поддерживать качество в будущем.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8">
            <a:extLst>
              <a:ext uri="{FF2B5EF4-FFF2-40B4-BE49-F238E27FC236}">
                <a16:creationId xmlns:a16="http://schemas.microsoft.com/office/drawing/2014/main" id="{9EBF2087-47AA-492B-BE7C-640887007B21}"/>
              </a:ext>
            </a:extLst>
          </p:cNvPr>
          <p:cNvSpPr/>
          <p:nvPr userDrawn="1"/>
        </p:nvSpPr>
        <p:spPr>
          <a:xfrm>
            <a:off x="507205" y="1112272"/>
            <a:ext cx="3497384" cy="522839"/>
          </a:xfrm>
          <a:prstGeom prst="rect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0000"/>
              </a:solidFill>
            </a:endParaRPr>
          </a:p>
        </p:txBody>
      </p:sp>
      <p:sp>
        <p:nvSpPr>
          <p:cNvPr id="21" name="Прямоугольник 45">
            <a:extLst>
              <a:ext uri="{FF2B5EF4-FFF2-40B4-BE49-F238E27FC236}">
                <a16:creationId xmlns:a16="http://schemas.microsoft.com/office/drawing/2014/main" id="{72D12702-6EE0-4451-AF17-8D77A6200C14}"/>
              </a:ext>
            </a:extLst>
          </p:cNvPr>
          <p:cNvSpPr/>
          <p:nvPr userDrawn="1"/>
        </p:nvSpPr>
        <p:spPr>
          <a:xfrm>
            <a:off x="515938" y="1635492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47">
            <a:extLst>
              <a:ext uri="{FF2B5EF4-FFF2-40B4-BE49-F238E27FC236}">
                <a16:creationId xmlns:a16="http://schemas.microsoft.com/office/drawing/2014/main" id="{3FA97897-AF63-42CC-8BE2-9E136DFD3D42}"/>
              </a:ext>
            </a:extLst>
          </p:cNvPr>
          <p:cNvSpPr/>
          <p:nvPr userDrawn="1"/>
        </p:nvSpPr>
        <p:spPr>
          <a:xfrm>
            <a:off x="8178678" y="1112272"/>
            <a:ext cx="3497384" cy="522839"/>
          </a:xfrm>
          <a:prstGeom prst="rect">
            <a:avLst/>
          </a:prstGeom>
          <a:solidFill>
            <a:srgbClr val="DDB6D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23" name="Прямоугольник 49">
            <a:extLst>
              <a:ext uri="{FF2B5EF4-FFF2-40B4-BE49-F238E27FC236}">
                <a16:creationId xmlns:a16="http://schemas.microsoft.com/office/drawing/2014/main" id="{75EC64A8-2F57-4207-8F65-955631DE0641}"/>
              </a:ext>
            </a:extLst>
          </p:cNvPr>
          <p:cNvSpPr/>
          <p:nvPr userDrawn="1"/>
        </p:nvSpPr>
        <p:spPr>
          <a:xfrm>
            <a:off x="8187411" y="1635492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51">
            <a:extLst>
              <a:ext uri="{FF2B5EF4-FFF2-40B4-BE49-F238E27FC236}">
                <a16:creationId xmlns:a16="http://schemas.microsoft.com/office/drawing/2014/main" id="{AB1E105A-4238-46BD-B637-A455204DE0CB}"/>
              </a:ext>
            </a:extLst>
          </p:cNvPr>
          <p:cNvSpPr/>
          <p:nvPr userDrawn="1"/>
        </p:nvSpPr>
        <p:spPr>
          <a:xfrm>
            <a:off x="4347308" y="1112272"/>
            <a:ext cx="3497384" cy="522839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FFF"/>
              </a:solidFill>
            </a:endParaRPr>
          </a:p>
        </p:txBody>
      </p:sp>
      <p:sp>
        <p:nvSpPr>
          <p:cNvPr id="25" name="Прямоугольник 53">
            <a:extLst>
              <a:ext uri="{FF2B5EF4-FFF2-40B4-BE49-F238E27FC236}">
                <a16:creationId xmlns:a16="http://schemas.microsoft.com/office/drawing/2014/main" id="{12F15949-89B8-4F79-A47C-72DF038361DA}"/>
              </a:ext>
            </a:extLst>
          </p:cNvPr>
          <p:cNvSpPr/>
          <p:nvPr userDrawn="1"/>
        </p:nvSpPr>
        <p:spPr>
          <a:xfrm>
            <a:off x="4356041" y="1635492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55">
            <a:extLst>
              <a:ext uri="{FF2B5EF4-FFF2-40B4-BE49-F238E27FC236}">
                <a16:creationId xmlns:a16="http://schemas.microsoft.com/office/drawing/2014/main" id="{FBF09CDF-8986-4767-AA20-31E0C85D52EB}"/>
              </a:ext>
            </a:extLst>
          </p:cNvPr>
          <p:cNvSpPr/>
          <p:nvPr userDrawn="1"/>
        </p:nvSpPr>
        <p:spPr>
          <a:xfrm>
            <a:off x="2410917" y="3851297"/>
            <a:ext cx="3497384" cy="522839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FFFFFF"/>
              </a:solidFill>
            </a:endParaRPr>
          </a:p>
        </p:txBody>
      </p:sp>
      <p:sp>
        <p:nvSpPr>
          <p:cNvPr id="27" name="Прямоугольник 57">
            <a:extLst>
              <a:ext uri="{FF2B5EF4-FFF2-40B4-BE49-F238E27FC236}">
                <a16:creationId xmlns:a16="http://schemas.microsoft.com/office/drawing/2014/main" id="{FFE40EFF-68AF-4750-A25F-1455B8707748}"/>
              </a:ext>
            </a:extLst>
          </p:cNvPr>
          <p:cNvSpPr/>
          <p:nvPr userDrawn="1"/>
        </p:nvSpPr>
        <p:spPr>
          <a:xfrm>
            <a:off x="2419650" y="4374517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59">
            <a:extLst>
              <a:ext uri="{FF2B5EF4-FFF2-40B4-BE49-F238E27FC236}">
                <a16:creationId xmlns:a16="http://schemas.microsoft.com/office/drawing/2014/main" id="{4F5452B0-A48D-453A-AF91-5FE5B20EF43A}"/>
              </a:ext>
            </a:extLst>
          </p:cNvPr>
          <p:cNvSpPr/>
          <p:nvPr userDrawn="1"/>
        </p:nvSpPr>
        <p:spPr>
          <a:xfrm>
            <a:off x="6280404" y="3851297"/>
            <a:ext cx="3497384" cy="522839"/>
          </a:xfrm>
          <a:prstGeom prst="rect">
            <a:avLst/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61">
            <a:extLst>
              <a:ext uri="{FF2B5EF4-FFF2-40B4-BE49-F238E27FC236}">
                <a16:creationId xmlns:a16="http://schemas.microsoft.com/office/drawing/2014/main" id="{2D590855-0562-4D21-A404-D51E457F14FD}"/>
              </a:ext>
            </a:extLst>
          </p:cNvPr>
          <p:cNvSpPr/>
          <p:nvPr userDrawn="1"/>
        </p:nvSpPr>
        <p:spPr>
          <a:xfrm>
            <a:off x="6289137" y="4374517"/>
            <a:ext cx="3477351" cy="18764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itle 16">
            <a:extLst>
              <a:ext uri="{FF2B5EF4-FFF2-40B4-BE49-F238E27FC236}">
                <a16:creationId xmlns:a16="http://schemas.microsoft.com/office/drawing/2014/main" id="{304B395E-7A4F-4D75-9543-8087DEA61171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DQ 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Lab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(Лаборатория качества данных)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E67AAD27-B13C-4B8D-8046-8F5D64B4A1E3}"/>
              </a:ext>
            </a:extLst>
          </p:cNvPr>
          <p:cNvSpPr>
            <a:spLocks noGrp="1"/>
          </p:cNvSpPr>
          <p:nvPr/>
        </p:nvSpPr>
        <p:spPr>
          <a:xfrm>
            <a:off x="510054" y="1112272"/>
            <a:ext cx="3477351" cy="523220"/>
          </a:xfrm>
        </p:spPr>
        <p:txBody>
          <a:bodyPr/>
          <a:lstStyle/>
          <a:p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Quality Gates (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Контрольные точки)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CC7E86A5-5E63-4B85-ACD0-EC9B741E3082}"/>
              </a:ext>
            </a:extLst>
          </p:cNvPr>
          <p:cNvSpPr>
            <a:spLocks noGrp="1"/>
          </p:cNvSpPr>
          <p:nvPr/>
        </p:nvSpPr>
        <p:spPr>
          <a:xfrm>
            <a:off x="604590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Встраивание автоматических проверок в процессы разработки и доставки данных.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«Грязные» данные не попадают в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прод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-среду или витрины отчетов.</a:t>
            </a:r>
          </a:p>
          <a:p>
            <a:endParaRPr lang="ru-RU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FEDDA6AF-6960-40ED-B975-B45D79456707}"/>
              </a:ext>
            </a:extLst>
          </p:cNvPr>
          <p:cNvSpPr>
            <a:spLocks noGrp="1"/>
          </p:cNvSpPr>
          <p:nvPr/>
        </p:nvSpPr>
        <p:spPr>
          <a:xfrm>
            <a:off x="8181527" y="1112272"/>
            <a:ext cx="3477351" cy="523220"/>
          </a:xfrm>
        </p:spPr>
        <p:txBody>
          <a:bodyPr/>
          <a:lstStyle/>
          <a:p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Data Observability (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Наблюдаемость данных)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00A227F9-87D2-4BA4-AE94-98CD117EA31B}"/>
              </a:ext>
            </a:extLst>
          </p:cNvPr>
          <p:cNvSpPr>
            <a:spLocks noGrp="1"/>
          </p:cNvSpPr>
          <p:nvPr/>
        </p:nvSpPr>
        <p:spPr>
          <a:xfrm>
            <a:off x="8276063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Внедрение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дашбордов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алертинга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и мониторинга «здоровья» данных в реальном времени (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Freshness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Volume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Schema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Distribution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).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Бизнес узнает о проблеме с данными раньше, чем конечный пользователь или регулятор.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5F704A5E-1739-4D5C-A800-71FB2B8348A5}"/>
              </a:ext>
            </a:extLst>
          </p:cNvPr>
          <p:cNvSpPr>
            <a:spLocks noGrp="1"/>
          </p:cNvSpPr>
          <p:nvPr/>
        </p:nvSpPr>
        <p:spPr>
          <a:xfrm>
            <a:off x="4350157" y="1112272"/>
            <a:ext cx="3477351" cy="523220"/>
          </a:xfrm>
        </p:spPr>
        <p:txBody>
          <a:bodyPr/>
          <a:lstStyle/>
          <a:p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Пайплайны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проверок и авто-исправления</a:t>
            </a:r>
          </a:p>
        </p:txBody>
      </p:sp>
      <p:sp>
        <p:nvSpPr>
          <p:cNvPr id="40" name="Text Placeholder 22">
            <a:extLst>
              <a:ext uri="{FF2B5EF4-FFF2-40B4-BE49-F238E27FC236}">
                <a16:creationId xmlns:a16="http://schemas.microsoft.com/office/drawing/2014/main" id="{7CDA8C23-C95E-41FF-85D2-FBF2F0B5DD6C}"/>
              </a:ext>
            </a:extLst>
          </p:cNvPr>
          <p:cNvSpPr>
            <a:spLocks noGrp="1"/>
          </p:cNvSpPr>
          <p:nvPr/>
        </p:nvSpPr>
        <p:spPr>
          <a:xfrm>
            <a:off x="4444693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Разработка и поддержка непрерывных сценариев валидации и автоматической коррекции аномалий.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Снижение операционной нагрузки на дата-инженеров и аналитиков.</a:t>
            </a:r>
          </a:p>
          <a:p>
            <a:endParaRPr lang="ru-RU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76FA4263-45BF-4CB7-9880-F0ECFF3DA4B2}"/>
              </a:ext>
            </a:extLst>
          </p:cNvPr>
          <p:cNvSpPr>
            <a:spLocks noGrp="1"/>
          </p:cNvSpPr>
          <p:nvPr/>
        </p:nvSpPr>
        <p:spPr>
          <a:xfrm>
            <a:off x="2413766" y="3851297"/>
            <a:ext cx="3477351" cy="523220"/>
          </a:xfrm>
        </p:spPr>
        <p:txBody>
          <a:bodyPr/>
          <a:lstStyle/>
          <a:p>
            <a:r>
              <a:rPr lang="en-US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Data Lineage (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Сквозная прослеживаемость)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CDE9F71A-431C-46C0-86EB-9B9FF29F3680}"/>
              </a:ext>
            </a:extLst>
          </p:cNvPr>
          <p:cNvSpPr>
            <a:spLocks noGrp="1"/>
          </p:cNvSpPr>
          <p:nvPr/>
        </p:nvSpPr>
        <p:spPr>
          <a:xfrm>
            <a:off x="2508302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Визуализация потоков данных от источника до конечной витрины или ML-модели.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Мгновенный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root-cause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анализ: понимание того, как ошибка в одной системе влияет на итоговые отчеты, и оценка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impact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при изменениях.</a:t>
            </a:r>
          </a:p>
          <a:p>
            <a:endParaRPr lang="ru-RU" dirty="0"/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CE293ADD-C718-402F-B91F-38AE2A67D56D}"/>
              </a:ext>
            </a:extLst>
          </p:cNvPr>
          <p:cNvSpPr>
            <a:spLocks noGrp="1"/>
          </p:cNvSpPr>
          <p:nvPr/>
        </p:nvSpPr>
        <p:spPr>
          <a:xfrm>
            <a:off x="6283253" y="3851297"/>
            <a:ext cx="3477351" cy="523220"/>
          </a:xfrm>
        </p:spPr>
        <p:txBody>
          <a:bodyPr/>
          <a:lstStyle/>
          <a:p>
            <a:r>
              <a:rPr lang="ru-RU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Data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Governance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и Ролевая модель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905E5F40-E7D5-4D08-A2FF-A42F9279D4AE}"/>
              </a:ext>
            </a:extLst>
          </p:cNvPr>
          <p:cNvSpPr>
            <a:spLocks noGrp="1"/>
          </p:cNvSpPr>
          <p:nvPr/>
        </p:nvSpPr>
        <p:spPr>
          <a:xfrm>
            <a:off x="6377789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Внедрение процессов эскалации и закрепление ответственности (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Data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Owner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Data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Steward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).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Пайплайн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находит ошибку, но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Governance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гарантирует, что у этой ошибки есть владелец, который ее исправит в установленный срок.</a:t>
            </a:r>
          </a:p>
          <a:p>
            <a:endParaRPr lang="ru-RU" dirty="0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2">
            <a:extLst>
              <a:ext uri="{FF2B5EF4-FFF2-40B4-BE49-F238E27FC236}">
                <a16:creationId xmlns:a16="http://schemas.microsoft.com/office/drawing/2014/main" id="{B7F72774-E204-439A-B812-979487655B39}"/>
              </a:ext>
            </a:extLst>
          </p:cNvPr>
          <p:cNvSpPr/>
          <p:nvPr userDrawn="1"/>
        </p:nvSpPr>
        <p:spPr>
          <a:xfrm>
            <a:off x="515937" y="1054491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39">
            <a:extLst>
              <a:ext uri="{FF2B5EF4-FFF2-40B4-BE49-F238E27FC236}">
                <a16:creationId xmlns:a16="http://schemas.microsoft.com/office/drawing/2014/main" id="{C0865772-8270-45C4-86DF-30E93DE58167}"/>
              </a:ext>
            </a:extLst>
          </p:cNvPr>
          <p:cNvSpPr/>
          <p:nvPr userDrawn="1"/>
        </p:nvSpPr>
        <p:spPr>
          <a:xfrm>
            <a:off x="4372835" y="1064084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itle 6">
            <a:extLst>
              <a:ext uri="{FF2B5EF4-FFF2-40B4-BE49-F238E27FC236}">
                <a16:creationId xmlns:a16="http://schemas.microsoft.com/office/drawing/2014/main" id="{1960394E-D3A0-4439-8BE3-1309C907C699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Развитие процессов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DQ</a:t>
            </a:r>
            <a:endParaRPr lang="ru-RU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8D7B881-83A3-49BF-ABF8-2DF98FFC85CE}"/>
              </a:ext>
            </a:extLst>
          </p:cNvPr>
          <p:cNvSpPr>
            <a:spLocks noGrp="1"/>
          </p:cNvSpPr>
          <p:nvPr/>
        </p:nvSpPr>
        <p:spPr>
          <a:xfrm>
            <a:off x="515937" y="1060507"/>
            <a:ext cx="3460518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Сервис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2AA5A38-5061-40A8-ABE5-64A77E26CD84}"/>
              </a:ext>
            </a:extLst>
          </p:cNvPr>
          <p:cNvSpPr>
            <a:spLocks noGrp="1"/>
          </p:cNvSpPr>
          <p:nvPr/>
        </p:nvSpPr>
        <p:spPr>
          <a:xfrm>
            <a:off x="515937" y="1741908"/>
            <a:ext cx="3460523" cy="3538341"/>
          </a:xfrm>
        </p:spPr>
        <p:txBody>
          <a:bodyPr/>
          <a:lstStyle/>
          <a:p>
            <a:r>
              <a:rPr lang="ru-RU" dirty="0" sz="1200" b="0">
                <a:solidFill>
                  <a:srgbClr val="000000"/>
                </a:solidFill>
                <a:latin typeface="Stapel"/>
              </a:rPr>
              <a:t>Шаги: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Аудит 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Очистка критичных данных 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Обучение команды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Консалтинг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Перенос (миграция)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Переработка (трансформация, конверсия форматов)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endParaRPr lang="ru-RU" dirty="0"/>
          </a:p>
          <a:p>
            <a:r>
              <a:rPr lang="ru-RU" i="0" dirty="0" sz="1200" b="0">
                <a:solidFill>
                  <a:srgbClr val="000000"/>
                </a:solidFill>
                <a:latin typeface="Stapel"/>
              </a:rPr>
              <a:t>Результат: </a:t>
            </a:r>
          </a:p>
          <a:p>
            <a:r>
              <a:rPr lang="ru-RU" i="0" dirty="0" sz="1200" b="0">
                <a:solidFill>
                  <a:srgbClr val="000000"/>
                </a:solidFill>
                <a:latin typeface="Stapel"/>
              </a:rPr>
              <a:t>понимание проблемы и первые быстрые победы</a:t>
            </a:r>
            <a:endParaRPr lang="ru-RU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C54EBC7-757A-4DA0-A826-053A881F3419}"/>
              </a:ext>
            </a:extLst>
          </p:cNvPr>
          <p:cNvSpPr>
            <a:spLocks noGrp="1"/>
          </p:cNvSpPr>
          <p:nvPr/>
        </p:nvSpPr>
        <p:spPr>
          <a:xfrm>
            <a:off x="4372830" y="1741908"/>
            <a:ext cx="3460523" cy="1614737"/>
          </a:xfrm>
        </p:spPr>
        <p:txBody>
          <a:bodyPr/>
          <a:lstStyle/>
          <a:p>
            <a:r>
              <a:rPr lang="ru-RU" dirty="0" sz="1200" b="0">
                <a:solidFill>
                  <a:srgbClr val="000000"/>
                </a:solidFill>
                <a:latin typeface="Stapel"/>
              </a:rPr>
              <a:t>Шаги: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Разработка DQ-метрик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Пилотный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Quality</a:t>
            </a:r>
            <a:r>
              <a:rPr lang="ru-RU" dirty="0" sz="120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Gate</a:t>
            </a:r>
            <a:r>
              <a:rPr lang="ru-RU" dirty="0" sz="1200" b="0">
                <a:solidFill>
                  <a:srgbClr val="000000"/>
                </a:solidFill>
                <a:latin typeface="Stapel"/>
              </a:rPr>
              <a:t> на одном критичном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пайплайне</a:t>
            </a:r>
            <a:endParaRPr lang="ru-RU" dirty="0"/>
          </a:p>
          <a:p>
            <a:r>
              <a:rPr lang="ru-RU" i="0" dirty="0" sz="1200" b="0">
                <a:solidFill>
                  <a:srgbClr val="000000"/>
                </a:solidFill>
                <a:latin typeface="Stapel"/>
              </a:rPr>
              <a:t>Результат: команда привыкает работать по новым правилам</a:t>
            </a:r>
            <a:endParaRPr lang="ru-RU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41D147A8-9E67-441A-B743-6D35A668B2F9}"/>
              </a:ext>
            </a:extLst>
          </p:cNvPr>
          <p:cNvSpPr>
            <a:spLocks noGrp="1"/>
          </p:cNvSpPr>
          <p:nvPr/>
        </p:nvSpPr>
        <p:spPr>
          <a:xfrm>
            <a:off x="8229724" y="1741908"/>
            <a:ext cx="3446340" cy="2576539"/>
          </a:xfrm>
        </p:spPr>
        <p:txBody>
          <a:bodyPr/>
          <a:lstStyle/>
          <a:p>
            <a:r>
              <a:rPr lang="ru-RU" dirty="0" sz="1200" b="0">
                <a:solidFill>
                  <a:srgbClr val="000000"/>
                </a:solidFill>
                <a:latin typeface="Stapel"/>
              </a:rPr>
              <a:t>Шаги: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Масштабирование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Observability</a:t>
            </a:r>
            <a:endParaRPr lang="ru-RU" dirty="0"/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автоматический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алертинг</a:t>
            </a:r>
            <a:r>
              <a:rPr lang="ru-RU" dirty="0" sz="1200" b="0">
                <a:solidFill>
                  <a:srgbClr val="000000"/>
                </a:solidFill>
                <a:latin typeface="Stapel"/>
              </a:rPr>
              <a:t> 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полная интеграция DQ в процессы разработки (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DataOps</a:t>
            </a:r>
            <a:r>
              <a:rPr lang="ru-RU" dirty="0" sz="1200" b="0">
                <a:solidFill>
                  <a:srgbClr val="000000"/>
                </a:solidFill>
                <a:latin typeface="Stapel"/>
              </a:rPr>
              <a:t>)</a:t>
            </a:r>
          </a:p>
          <a:p>
            <a:endParaRPr lang="ru-RU" dirty="0"/>
          </a:p>
          <a:p>
            <a:r>
              <a:rPr lang="ru-RU" i="0" dirty="0" sz="1200" b="0">
                <a:solidFill>
                  <a:srgbClr val="000000"/>
                </a:solidFill>
                <a:latin typeface="Stapel"/>
              </a:rPr>
              <a:t>Результат: системное качество и доверие к данным</a:t>
            </a:r>
          </a:p>
          <a:p>
            <a:endParaRPr lang="ru-RU" dirty="0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B28E7AF8-ADDC-4AD9-9DE5-28D0BFAD96FE}"/>
              </a:ext>
            </a:extLst>
          </p:cNvPr>
          <p:cNvSpPr>
            <a:spLocks noGrp="1"/>
          </p:cNvSpPr>
          <p:nvPr/>
        </p:nvSpPr>
        <p:spPr>
          <a:xfrm>
            <a:off x="4372835" y="1070100"/>
            <a:ext cx="3460517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Сервис -&gt; Лаборатория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50461D5C-E2FB-478C-A5A6-0B1AC3B2BC6A}"/>
              </a:ext>
            </a:extLst>
          </p:cNvPr>
          <p:cNvSpPr>
            <a:spLocks noGrp="1"/>
          </p:cNvSpPr>
          <p:nvPr/>
        </p:nvSpPr>
        <p:spPr>
          <a:xfrm>
            <a:off x="8229729" y="1070100"/>
            <a:ext cx="3460516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Лаборатория</a:t>
            </a: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A7553F0C-B8B1-4E2C-82EC-5D873523BA74}"/>
              </a:ext>
            </a:extLst>
          </p:cNvPr>
          <p:cNvSpPr/>
          <p:nvPr/>
        </p:nvSpPr>
        <p:spPr>
          <a:xfrm>
            <a:off x="501535" y="5418568"/>
            <a:ext cx="116153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50" dirty="0">
                <a:solidFill>
                  <a:srgbClr val="000000"/>
                </a:solidFill>
                <a:latin typeface="+mn-lt"/>
              </a:rPr>
              <a:t>Для обеспечения гибкости у команды есть акселераторы систем оценки и сравнения качества данных для сред, совместимых с </a:t>
            </a:r>
            <a:r>
              <a:rPr lang="ru-RU" sz="1350" dirty="0" err="1">
                <a:solidFill>
                  <a:srgbClr val="000000"/>
                </a:solidFill>
                <a:latin typeface="+mn-lt"/>
              </a:rPr>
              <a:t>Python</a:t>
            </a:r>
            <a:r>
              <a:rPr lang="ru-RU" sz="1350" dirty="0">
                <a:solidFill>
                  <a:srgbClr val="000000"/>
                </a:solidFill>
                <a:latin typeface="+mn-lt"/>
              </a:rPr>
              <a:t> и </a:t>
            </a:r>
            <a:r>
              <a:rPr lang="ru-RU" sz="1350" dirty="0" err="1">
                <a:solidFill>
                  <a:srgbClr val="000000"/>
                </a:solidFill>
                <a:latin typeface="+mn-lt"/>
              </a:rPr>
              <a:t>Java</a:t>
            </a:r>
            <a:r>
              <a:rPr lang="ru-RU" sz="1350" dirty="0">
                <a:solidFill>
                  <a:srgbClr val="000000"/>
                </a:solidFill>
                <a:latin typeface="+mn-lt"/>
              </a:rPr>
              <a:t>. Это позволяет встроиться в привычный </a:t>
            </a:r>
            <a:r>
              <a:rPr lang="ru-RU" sz="1350" dirty="0" err="1">
                <a:solidFill>
                  <a:srgbClr val="000000"/>
                </a:solidFill>
                <a:latin typeface="+mn-lt"/>
              </a:rPr>
              <a:t>техстек</a:t>
            </a:r>
            <a:r>
              <a:rPr lang="ru-RU" sz="1350" dirty="0">
                <a:solidFill>
                  <a:srgbClr val="000000"/>
                </a:solidFill>
                <a:latin typeface="+mn-lt"/>
              </a:rPr>
              <a:t> и не начинать работу с нуля, а сразу приступать к проверке доступности и </a:t>
            </a:r>
            <a:r>
              <a:rPr lang="ru-RU" sz="1350" dirty="0" err="1">
                <a:solidFill>
                  <a:srgbClr val="000000"/>
                </a:solidFill>
                <a:latin typeface="+mn-lt"/>
              </a:rPr>
              <a:t>верхнеуровневым</a:t>
            </a:r>
            <a:r>
              <a:rPr lang="ru-RU" sz="1350" dirty="0">
                <a:solidFill>
                  <a:srgbClr val="000000"/>
                </a:solidFill>
                <a:latin typeface="+mn-lt"/>
              </a:rPr>
              <a:t> оценкам данных.</a:t>
            </a:r>
            <a:endParaRPr lang="ru-RU" sz="1350" dirty="0">
              <a:effectLst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10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Тестирование мобильных приложений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9D08BE81-5D3D-43F4-AC08-448774E079F6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мобильных приложений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28C050A2-308A-4824-A751-062B60981523}"/>
              </a:ext>
            </a:extLst>
          </p:cNvPr>
          <p:cNvSpPr/>
          <p:nvPr/>
        </p:nvSpPr>
        <p:spPr bwMode="auto">
          <a:xfrm>
            <a:off x="575108" y="3816350"/>
            <a:ext cx="3089479" cy="1081984"/>
          </a:xfrm>
          <a:prstGeom prst="roundRect">
            <a:avLst>
              <a:gd name="adj" fmla="val 6651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B06B1A22-56E1-41EF-B4C8-1EFE0DDDD55A}"/>
              </a:ext>
            </a:extLst>
          </p:cNvPr>
          <p:cNvSpPr txBox="1"/>
          <p:nvPr/>
        </p:nvSpPr>
        <p:spPr bwMode="auto">
          <a:xfrm>
            <a:off x="913547" y="4003606"/>
            <a:ext cx="2576153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Разработка и поддержка автоматизированных тестов (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Appium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Espresso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XCUITest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), интеграция с CI/CD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1C194B1-EB0B-4A68-8E0F-D5A744D1F46F}"/>
              </a:ext>
            </a:extLst>
          </p:cNvPr>
          <p:cNvSpPr/>
          <p:nvPr/>
        </p:nvSpPr>
        <p:spPr bwMode="auto">
          <a:xfrm>
            <a:off x="3789511" y="2701755"/>
            <a:ext cx="2957639" cy="1006729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60928D75-13EC-4797-B617-14A32B72BCBD}"/>
              </a:ext>
            </a:extLst>
          </p:cNvPr>
          <p:cNvSpPr/>
          <p:nvPr/>
        </p:nvSpPr>
        <p:spPr bwMode="auto">
          <a:xfrm>
            <a:off x="3790493" y="3797889"/>
            <a:ext cx="2957639" cy="1107637"/>
          </a:xfrm>
          <a:prstGeom prst="roundRect">
            <a:avLst>
              <a:gd name="adj" fmla="val 7649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8AAA0E5A-0AE8-4648-9B02-A057E6B216DC}"/>
              </a:ext>
            </a:extLst>
          </p:cNvPr>
          <p:cNvSpPr txBox="1"/>
          <p:nvPr/>
        </p:nvSpPr>
        <p:spPr bwMode="auto">
          <a:xfrm>
            <a:off x="4213858" y="2867198"/>
            <a:ext cx="2390214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Поддержка различных устройств, операционных систем, версий браузеров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93574383-85AF-4778-9CA8-4C7503297227}"/>
              </a:ext>
            </a:extLst>
          </p:cNvPr>
          <p:cNvSpPr txBox="1"/>
          <p:nvPr/>
        </p:nvSpPr>
        <p:spPr bwMode="auto">
          <a:xfrm>
            <a:off x="4213856" y="4021410"/>
            <a:ext cx="2390215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Выявление уязвимостей и защита приложения от атак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CDE7E550-C44D-4131-825B-141E5974FAE5}"/>
              </a:ext>
            </a:extLst>
          </p:cNvPr>
          <p:cNvSpPr/>
          <p:nvPr/>
        </p:nvSpPr>
        <p:spPr bwMode="auto">
          <a:xfrm>
            <a:off x="538376" y="5006200"/>
            <a:ext cx="3126211" cy="979639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808F8F26-B686-48FD-907F-81F18BFF57C8}"/>
              </a:ext>
            </a:extLst>
          </p:cNvPr>
          <p:cNvSpPr txBox="1"/>
          <p:nvPr/>
        </p:nvSpPr>
        <p:spPr bwMode="auto">
          <a:xfrm>
            <a:off x="1063538" y="5229910"/>
            <a:ext cx="2351393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Проверка соответствия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гайдлайнам</a:t>
            </a:r>
            <a:r>
              <a:rPr lang="ru-RU" dirty="0" sz="180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платформ, A/B тестирование</a:t>
            </a:r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609AAB71-5331-4B43-9F71-71122C919C9E}"/>
              </a:ext>
            </a:extLst>
          </p:cNvPr>
          <p:cNvSpPr/>
          <p:nvPr/>
        </p:nvSpPr>
        <p:spPr bwMode="auto">
          <a:xfrm>
            <a:off x="575109" y="2697186"/>
            <a:ext cx="3076344" cy="1011298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0A132529-2816-4D95-A0FD-869D03FF5AE9}"/>
              </a:ext>
            </a:extLst>
          </p:cNvPr>
          <p:cNvSpPr txBox="1"/>
          <p:nvPr/>
        </p:nvSpPr>
        <p:spPr bwMode="auto">
          <a:xfrm>
            <a:off x="913547" y="2858381"/>
            <a:ext cx="2579970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344"/>
              </a:lnSpc>
              <a:spcBef>
                <a:spcPts val="1728"/>
              </a:spcBef>
              <a:buClr>
                <a:srgbClr val="7D70EF"/>
              </a:buClr>
              <a:buSzPct val="110000"/>
              <a:defRPr/>
            </a:pP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Ручное тестирование: функциональное, исследовательское, тестирование удобства использования, регрессионное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AD844CCC-E744-4F8D-AB5E-DFC3DDE41286}"/>
              </a:ext>
            </a:extLst>
          </p:cNvPr>
          <p:cNvSpPr txBox="1"/>
          <p:nvPr/>
        </p:nvSpPr>
        <p:spPr>
          <a:xfrm>
            <a:off x="7625168" y="2322640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4C42FDAE-0EC4-418D-B213-67D225CF15B1}"/>
              </a:ext>
            </a:extLst>
          </p:cNvPr>
          <p:cNvSpPr txBox="1">
            <a:spLocks/>
          </p:cNvSpPr>
          <p:nvPr/>
        </p:nvSpPr>
        <p:spPr>
          <a:xfrm>
            <a:off x="8308265" y="2701755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D70EF"/>
              </a:buClr>
            </a:pPr>
            <a:r>
              <a:rPr lang="ru-RU" sz="12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Сокращение затрат</a:t>
            </a:r>
            <a:endParaRPr lang="en-US" sz="1200" b="1" dirty="0">
              <a:solidFill>
                <a:srgbClr val="7D70EF"/>
              </a:solidFill>
            </a:endParaRPr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58A46C40-FED6-41CE-B808-2D78CD527695}"/>
              </a:ext>
            </a:extLst>
          </p:cNvPr>
          <p:cNvSpPr/>
          <p:nvPr/>
        </p:nvSpPr>
        <p:spPr>
          <a:xfrm>
            <a:off x="8308264" y="530589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Улучшение пользовательского опыта</a:t>
            </a:r>
            <a:endParaRPr lang="ru-RU" sz="1000" spc="30" dirty="0">
              <a:solidFill>
                <a:srgbClr val="7D70E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F484CA37-2C54-4B1D-8898-121878AA4B33}"/>
              </a:ext>
            </a:extLst>
          </p:cNvPr>
          <p:cNvSpPr/>
          <p:nvPr/>
        </p:nvSpPr>
        <p:spPr>
          <a:xfrm>
            <a:off x="8308265" y="3604478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Высокое качество приложения</a:t>
            </a: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102CECBB-220F-41E1-8B8C-608D47DEBB27}"/>
              </a:ext>
            </a:extLst>
          </p:cNvPr>
          <p:cNvSpPr/>
          <p:nvPr/>
        </p:nvSpPr>
        <p:spPr>
          <a:xfrm>
            <a:off x="8308265" y="4376475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D70EF"/>
              </a:buClr>
            </a:pPr>
            <a:r>
              <a:rPr lang="ru-RU" sz="120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Гибкость и масштабируемость</a:t>
            </a:r>
          </a:p>
        </p:txBody>
      </p:sp>
      <p:sp>
        <p:nvSpPr>
          <p:cNvPr id="36" name="Rectangle 62">
            <a:extLst>
              <a:ext uri="{FF2B5EF4-FFF2-40B4-BE49-F238E27FC236}">
                <a16:creationId xmlns:a16="http://schemas.microsoft.com/office/drawing/2014/main" id="{B3308EF5-515E-428C-94BE-945EE5C89312}"/>
              </a:ext>
            </a:extLst>
          </p:cNvPr>
          <p:cNvSpPr/>
          <p:nvPr/>
        </p:nvSpPr>
        <p:spPr>
          <a:xfrm>
            <a:off x="8318628" y="2896405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Своевременное выявление и устранение дефектов. Ускорение процесса разработки и тестирования</a:t>
            </a:r>
          </a:p>
        </p:txBody>
      </p:sp>
      <p:sp>
        <p:nvSpPr>
          <p:cNvPr id="37" name="Rectangle 63">
            <a:extLst>
              <a:ext uri="{FF2B5EF4-FFF2-40B4-BE49-F238E27FC236}">
                <a16:creationId xmlns:a16="http://schemas.microsoft.com/office/drawing/2014/main" id="{3FA70BD6-162D-4DC2-BD7D-B730FC497124}"/>
              </a:ext>
            </a:extLst>
          </p:cNvPr>
          <p:cNvSpPr/>
          <p:nvPr/>
        </p:nvSpPr>
        <p:spPr>
          <a:xfrm>
            <a:off x="8308265" y="3796357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Уверенность в стабильной работе приложения</a:t>
            </a:r>
          </a:p>
        </p:txBody>
      </p:sp>
      <p:sp>
        <p:nvSpPr>
          <p:cNvPr id="38" name="Rectangle 64">
            <a:extLst>
              <a:ext uri="{FF2B5EF4-FFF2-40B4-BE49-F238E27FC236}">
                <a16:creationId xmlns:a16="http://schemas.microsoft.com/office/drawing/2014/main" id="{E5867C6E-FC2B-44B5-9AED-D345613CB0FD}"/>
              </a:ext>
            </a:extLst>
          </p:cNvPr>
          <p:cNvSpPr/>
          <p:nvPr/>
        </p:nvSpPr>
        <p:spPr>
          <a:xfrm>
            <a:off x="8308265" y="5525236"/>
            <a:ext cx="33821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Удовлетворенность пользователей и положительные отзывы</a:t>
            </a:r>
          </a:p>
        </p:txBody>
      </p:sp>
      <p:sp>
        <p:nvSpPr>
          <p:cNvPr id="39" name="Rectangle 65">
            <a:extLst>
              <a:ext uri="{FF2B5EF4-FFF2-40B4-BE49-F238E27FC236}">
                <a16:creationId xmlns:a16="http://schemas.microsoft.com/office/drawing/2014/main" id="{BCD18E91-E739-460E-84A8-916739FC8966}"/>
              </a:ext>
            </a:extLst>
          </p:cNvPr>
          <p:cNvSpPr/>
          <p:nvPr/>
        </p:nvSpPr>
        <p:spPr>
          <a:xfrm>
            <a:off x="8308265" y="4586897"/>
            <a:ext cx="325538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7D70EF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Адаптация к различным требованиям проекта</a:t>
            </a:r>
          </a:p>
        </p:txBody>
      </p:sp>
      <p:sp>
        <p:nvSpPr>
          <p:cNvPr id="40" name="Rectangle: Rounded Corners 155">
            <a:extLst>
              <a:ext uri="{FF2B5EF4-FFF2-40B4-BE49-F238E27FC236}">
                <a16:creationId xmlns:a16="http://schemas.microsoft.com/office/drawing/2014/main" id="{D5709E7A-F99F-42F4-B061-9BA1D07E4F42}"/>
              </a:ext>
            </a:extLst>
          </p:cNvPr>
          <p:cNvSpPr/>
          <p:nvPr/>
        </p:nvSpPr>
        <p:spPr>
          <a:xfrm>
            <a:off x="544273" y="1168249"/>
            <a:ext cx="11103453" cy="946401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1" name="TextBox 156">
            <a:extLst>
              <a:ext uri="{FF2B5EF4-FFF2-40B4-BE49-F238E27FC236}">
                <a16:creationId xmlns:a16="http://schemas.microsoft.com/office/drawing/2014/main" id="{8A4DB1CA-A0E3-4BDD-8D4F-32FC71D0533D}"/>
              </a:ext>
            </a:extLst>
          </p:cNvPr>
          <p:cNvSpPr txBox="1"/>
          <p:nvPr/>
        </p:nvSpPr>
        <p:spPr>
          <a:xfrm>
            <a:off x="526330" y="860841"/>
            <a:ext cx="2682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42" name="Group 256">
            <a:extLst>
              <a:ext uri="{FF2B5EF4-FFF2-40B4-BE49-F238E27FC236}">
                <a16:creationId xmlns:a16="http://schemas.microsoft.com/office/drawing/2014/main" id="{497AA017-B709-4D02-9BAE-278D5089BC61}"/>
              </a:ext>
            </a:extLst>
          </p:cNvPr>
          <p:cNvGrpSpPr/>
          <p:nvPr/>
        </p:nvGrpSpPr>
        <p:grpSpPr>
          <a:xfrm>
            <a:off x="913547" y="1262167"/>
            <a:ext cx="1731121" cy="577146"/>
            <a:chOff x="855823" y="1331617"/>
            <a:chExt cx="1819546" cy="577146"/>
          </a:xfrm>
        </p:grpSpPr>
        <p:sp>
          <p:nvSpPr>
            <p:cNvPr id="43" name="Rectangle 158">
              <a:extLst>
                <a:ext uri="{FF2B5EF4-FFF2-40B4-BE49-F238E27FC236}">
                  <a16:creationId xmlns:a16="http://schemas.microsoft.com/office/drawing/2014/main" id="{E882F4AF-0003-4526-A9BC-405E9019764B}"/>
                </a:ext>
              </a:extLst>
            </p:cNvPr>
            <p:cNvSpPr/>
            <p:nvPr/>
          </p:nvSpPr>
          <p:spPr>
            <a:xfrm>
              <a:off x="1007814" y="1331617"/>
              <a:ext cx="166755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274"/>
                </a:lnSpc>
                <a:spcBef>
                  <a:spcPts val="980"/>
                </a:spcBef>
                <a:buClr>
                  <a:srgbClr val="7D70EF"/>
                </a:buClr>
              </a:pPr>
              <a:r>
                <a:rPr lang="ru-RU" sz="95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Обеспечить высокое качество мобильного приложения</a:t>
              </a:r>
            </a:p>
          </p:txBody>
        </p:sp>
        <p:grpSp>
          <p:nvGrpSpPr>
            <p:cNvPr id="44" name="Группа 101">
              <a:extLst>
                <a:ext uri="{FF2B5EF4-FFF2-40B4-BE49-F238E27FC236}">
                  <a16:creationId xmlns:a16="http://schemas.microsoft.com/office/drawing/2014/main" id="{A2A89726-ACF1-4DA1-AEF7-71CB0DC8A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45" name="Полилиния: фигура 499">
                <a:extLst>
                  <a:ext uri="{FF2B5EF4-FFF2-40B4-BE49-F238E27FC236}">
                    <a16:creationId xmlns:a16="http://schemas.microsoft.com/office/drawing/2014/main" id="{72785610-E400-4C66-A3FE-3E698A291AE0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grpSp>
            <p:nvGrpSpPr>
              <p:cNvPr id="46" name="Рисунок 476">
                <a:extLst>
                  <a:ext uri="{FF2B5EF4-FFF2-40B4-BE49-F238E27FC236}">
                    <a16:creationId xmlns:a16="http://schemas.microsoft.com/office/drawing/2014/main" id="{44E660BD-33D3-4563-AFF7-CAD6297320B6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FFFFFF"/>
              </a:solidFill>
            </p:grpSpPr>
            <p:sp>
              <p:nvSpPr>
                <p:cNvPr id="47" name="Полилиния: фигура 501">
                  <a:extLst>
                    <a:ext uri="{FF2B5EF4-FFF2-40B4-BE49-F238E27FC236}">
                      <a16:creationId xmlns:a16="http://schemas.microsoft.com/office/drawing/2014/main" id="{2096509E-4CE5-4A83-AB2C-92F053D8C08E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Полилиния: фигура 502">
                  <a:extLst>
                    <a:ext uri="{FF2B5EF4-FFF2-40B4-BE49-F238E27FC236}">
                      <a16:creationId xmlns:a16="http://schemas.microsoft.com/office/drawing/2014/main" id="{E112F103-13F7-4239-81E0-09DCEE241749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49" name="Rectangle 157">
            <a:extLst>
              <a:ext uri="{FF2B5EF4-FFF2-40B4-BE49-F238E27FC236}">
                <a16:creationId xmlns:a16="http://schemas.microsoft.com/office/drawing/2014/main" id="{D4C58E8A-FF41-4DBF-8447-B891AEF1883A}"/>
              </a:ext>
            </a:extLst>
          </p:cNvPr>
          <p:cNvSpPr/>
          <p:nvPr/>
        </p:nvSpPr>
        <p:spPr>
          <a:xfrm>
            <a:off x="2940099" y="1262167"/>
            <a:ext cx="1816837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196"/>
              </a:lnSpc>
              <a:spcBef>
                <a:spcPts val="920"/>
              </a:spcBef>
              <a:buClr>
                <a:srgbClr val="7D70EF"/>
              </a:buClr>
            </a:pPr>
            <a:r>
              <a:rPr lang="ru-RU" sz="9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стабильность при различных сценариях использования</a:t>
            </a:r>
          </a:p>
        </p:txBody>
      </p:sp>
      <p:grpSp>
        <p:nvGrpSpPr>
          <p:cNvPr id="50" name="Группа 102">
            <a:extLst>
              <a:ext uri="{FF2B5EF4-FFF2-40B4-BE49-F238E27FC236}">
                <a16:creationId xmlns:a16="http://schemas.microsoft.com/office/drawing/2014/main" id="{525525A0-B739-408C-8917-9556503F0D9F}"/>
              </a:ext>
            </a:extLst>
          </p:cNvPr>
          <p:cNvGrpSpPr>
            <a:grpSpLocks noChangeAspect="1"/>
          </p:cNvGrpSpPr>
          <p:nvPr/>
        </p:nvGrpSpPr>
        <p:grpSpPr>
          <a:xfrm>
            <a:off x="2736701" y="1334228"/>
            <a:ext cx="139209" cy="162814"/>
            <a:chOff x="1571161" y="904822"/>
            <a:chExt cx="749659" cy="876775"/>
          </a:xfrm>
        </p:grpSpPr>
        <p:sp>
          <p:nvSpPr>
            <p:cNvPr id="51" name="Полилиния: фигура 504">
              <a:extLst>
                <a:ext uri="{FF2B5EF4-FFF2-40B4-BE49-F238E27FC236}">
                  <a16:creationId xmlns:a16="http://schemas.microsoft.com/office/drawing/2014/main" id="{E659738E-AAB8-444C-ABB0-EAAE83512D9D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52" name="Рисунок 481">
              <a:extLst>
                <a:ext uri="{FF2B5EF4-FFF2-40B4-BE49-F238E27FC236}">
                  <a16:creationId xmlns:a16="http://schemas.microsoft.com/office/drawing/2014/main" id="{65711006-168A-4AB3-8263-3D6DB8874BDE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FFFFFF"/>
            </a:solidFill>
          </p:grpSpPr>
          <p:sp>
            <p:nvSpPr>
              <p:cNvPr id="53" name="Полилиния: фигура 506">
                <a:extLst>
                  <a:ext uri="{FF2B5EF4-FFF2-40B4-BE49-F238E27FC236}">
                    <a16:creationId xmlns:a16="http://schemas.microsoft.com/office/drawing/2014/main" id="{BB8EE9FD-66DF-4B00-9541-15A804B347C8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07">
                <a:extLst>
                  <a:ext uri="{FF2B5EF4-FFF2-40B4-BE49-F238E27FC236}">
                    <a16:creationId xmlns:a16="http://schemas.microsoft.com/office/drawing/2014/main" id="{CC9ED035-B9D9-46EF-AB0C-E5C248FE3C49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" name="Group 258">
            <a:extLst>
              <a:ext uri="{FF2B5EF4-FFF2-40B4-BE49-F238E27FC236}">
                <a16:creationId xmlns:a16="http://schemas.microsoft.com/office/drawing/2014/main" id="{2D68D591-6976-4FC2-9471-CC3F2CF61C23}"/>
              </a:ext>
            </a:extLst>
          </p:cNvPr>
          <p:cNvGrpSpPr/>
          <p:nvPr/>
        </p:nvGrpSpPr>
        <p:grpSpPr>
          <a:xfrm>
            <a:off x="4778170" y="1262167"/>
            <a:ext cx="1825902" cy="410433"/>
            <a:chOff x="4876168" y="1331617"/>
            <a:chExt cx="1825902" cy="410433"/>
          </a:xfrm>
        </p:grpSpPr>
        <p:sp>
          <p:nvSpPr>
            <p:cNvPr id="56" name="Rectangle 159">
              <a:extLst>
                <a:ext uri="{FF2B5EF4-FFF2-40B4-BE49-F238E27FC236}">
                  <a16:creationId xmlns:a16="http://schemas.microsoft.com/office/drawing/2014/main" id="{EFA9535D-FF3E-45BD-8AE0-E5EEEC3C7CD2}"/>
                </a:ext>
              </a:extLst>
            </p:cNvPr>
            <p:cNvSpPr/>
            <p:nvPr/>
          </p:nvSpPr>
          <p:spPr>
            <a:xfrm>
              <a:off x="5054549" y="1331617"/>
              <a:ext cx="1647521" cy="410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196"/>
                </a:lnSpc>
                <a:spcBef>
                  <a:spcPts val="920"/>
                </a:spcBef>
                <a:buClr>
                  <a:srgbClr val="7D70EF"/>
                </a:buClr>
              </a:pPr>
              <a:r>
                <a:rPr lang="ru-RU" sz="9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Оптимизировать пользовательский опыт</a:t>
              </a:r>
            </a:p>
          </p:txBody>
        </p:sp>
        <p:grpSp>
          <p:nvGrpSpPr>
            <p:cNvPr id="57" name="Группа 103">
              <a:extLst>
                <a:ext uri="{FF2B5EF4-FFF2-40B4-BE49-F238E27FC236}">
                  <a16:creationId xmlns:a16="http://schemas.microsoft.com/office/drawing/2014/main" id="{5D344CF7-C155-4F81-9E09-540E8F3DA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58" name="Полилиния: фигура 509">
                <a:extLst>
                  <a:ext uri="{FF2B5EF4-FFF2-40B4-BE49-F238E27FC236}">
                    <a16:creationId xmlns:a16="http://schemas.microsoft.com/office/drawing/2014/main" id="{D0A9A533-FAD1-4552-B0F3-1109E12FD454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10">
                <a:extLst>
                  <a:ext uri="{FF2B5EF4-FFF2-40B4-BE49-F238E27FC236}">
                    <a16:creationId xmlns:a16="http://schemas.microsoft.com/office/drawing/2014/main" id="{BC4BE9BC-E3A7-44A3-BDA7-A4DD6032D64D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FFFFFF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0" name="Rectangle 160">
            <a:extLst>
              <a:ext uri="{FF2B5EF4-FFF2-40B4-BE49-F238E27FC236}">
                <a16:creationId xmlns:a16="http://schemas.microsoft.com/office/drawing/2014/main" id="{9871FEE8-222C-49C8-8038-04196E21F2FC}"/>
              </a:ext>
            </a:extLst>
          </p:cNvPr>
          <p:cNvSpPr/>
          <p:nvPr/>
        </p:nvSpPr>
        <p:spPr>
          <a:xfrm>
            <a:off x="7051139" y="1262167"/>
            <a:ext cx="2245757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48"/>
              </a:lnSpc>
              <a:spcBef>
                <a:spcPts val="960"/>
              </a:spcBef>
              <a:buClr>
                <a:srgbClr val="7D70EF"/>
              </a:buClr>
            </a:pPr>
            <a:r>
              <a:rPr lang="ru-RU" sz="9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Сократить количество дефектов и улучшить удовлетворенность пользователей</a:t>
            </a:r>
          </a:p>
        </p:txBody>
      </p:sp>
      <p:grpSp>
        <p:nvGrpSpPr>
          <p:cNvPr id="61" name="Группа 104">
            <a:extLst>
              <a:ext uri="{FF2B5EF4-FFF2-40B4-BE49-F238E27FC236}">
                <a16:creationId xmlns:a16="http://schemas.microsoft.com/office/drawing/2014/main" id="{96492C9C-E026-4AF2-85BE-61B867365E59}"/>
              </a:ext>
            </a:extLst>
          </p:cNvPr>
          <p:cNvGrpSpPr>
            <a:grpSpLocks noChangeAspect="1"/>
          </p:cNvGrpSpPr>
          <p:nvPr/>
        </p:nvGrpSpPr>
        <p:grpSpPr>
          <a:xfrm>
            <a:off x="6866243" y="1347037"/>
            <a:ext cx="154417" cy="165132"/>
            <a:chOff x="3862546" y="921118"/>
            <a:chExt cx="798550" cy="853959"/>
          </a:xfrm>
        </p:grpSpPr>
        <p:sp>
          <p:nvSpPr>
            <p:cNvPr id="62" name="Полилиния: фигура 76">
              <a:extLst>
                <a:ext uri="{FF2B5EF4-FFF2-40B4-BE49-F238E27FC236}">
                  <a16:creationId xmlns:a16="http://schemas.microsoft.com/office/drawing/2014/main" id="{CF044DD0-8CDF-4F8B-9F09-0245063DED91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63" name="Рисунок 485">
              <a:extLst>
                <a:ext uri="{FF2B5EF4-FFF2-40B4-BE49-F238E27FC236}">
                  <a16:creationId xmlns:a16="http://schemas.microsoft.com/office/drawing/2014/main" id="{3DD27A12-9D1A-4F41-8F46-3894288BBEC1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FFFFFF"/>
            </a:solidFill>
          </p:grpSpPr>
          <p:sp>
            <p:nvSpPr>
              <p:cNvPr id="64" name="Полилиния: фигура 78">
                <a:extLst>
                  <a:ext uri="{FF2B5EF4-FFF2-40B4-BE49-F238E27FC236}">
                    <a16:creationId xmlns:a16="http://schemas.microsoft.com/office/drawing/2014/main" id="{143640E5-974F-49CC-8E20-58ECC4AB6B86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79">
                <a:extLst>
                  <a:ext uri="{FF2B5EF4-FFF2-40B4-BE49-F238E27FC236}">
                    <a16:creationId xmlns:a16="http://schemas.microsoft.com/office/drawing/2014/main" id="{B27C7C42-3DAE-4F2C-B5D9-517262524513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6" name="TextBox 188">
            <a:extLst>
              <a:ext uri="{FF2B5EF4-FFF2-40B4-BE49-F238E27FC236}">
                <a16:creationId xmlns:a16="http://schemas.microsoft.com/office/drawing/2014/main" id="{DD2FF680-8864-42DE-B667-47257CB63AC4}"/>
              </a:ext>
            </a:extLst>
          </p:cNvPr>
          <p:cNvSpPr txBox="1"/>
          <p:nvPr/>
        </p:nvSpPr>
        <p:spPr>
          <a:xfrm>
            <a:off x="538376" y="2292160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grpSp>
        <p:nvGrpSpPr>
          <p:cNvPr id="67" name="Рисунок 18">
            <a:extLst>
              <a:ext uri="{FF2B5EF4-FFF2-40B4-BE49-F238E27FC236}">
                <a16:creationId xmlns:a16="http://schemas.microsoft.com/office/drawing/2014/main" id="{37CC3288-80C1-46A3-8A56-2441A28C104D}"/>
              </a:ext>
            </a:extLst>
          </p:cNvPr>
          <p:cNvGrpSpPr>
            <a:grpSpLocks noChangeAspect="1"/>
          </p:cNvGrpSpPr>
          <p:nvPr/>
        </p:nvGrpSpPr>
        <p:grpSpPr>
          <a:xfrm>
            <a:off x="7720982" y="3719687"/>
            <a:ext cx="396735" cy="400110"/>
            <a:chOff x="3146645" y="4774145"/>
            <a:chExt cx="929571" cy="833880"/>
          </a:xfrm>
          <a:solidFill>
            <a:srgbClr val="000000"/>
          </a:solidFill>
        </p:grpSpPr>
        <p:sp>
          <p:nvSpPr>
            <p:cNvPr id="68" name="Полилиния: фигура 99">
              <a:extLst>
                <a:ext uri="{FF2B5EF4-FFF2-40B4-BE49-F238E27FC236}">
                  <a16:creationId xmlns:a16="http://schemas.microsoft.com/office/drawing/2014/main" id="{63BD9B49-DEF2-4FBE-B2E2-4984660ACAF1}"/>
                </a:ext>
              </a:extLst>
            </p:cNvPr>
            <p:cNvSpPr/>
            <p:nvPr/>
          </p:nvSpPr>
          <p:spPr>
            <a:xfrm>
              <a:off x="3548548" y="5402973"/>
              <a:ext cx="205052" cy="205052"/>
            </a:xfrm>
            <a:custGeom>
              <a:avLst/>
              <a:gdLst>
                <a:gd name="connsiteX0" fmla="*/ 0 w 205052"/>
                <a:gd name="connsiteY0" fmla="*/ 0 h 205052"/>
                <a:gd name="connsiteX1" fmla="*/ 205053 w 205052"/>
                <a:gd name="connsiteY1" fmla="*/ 0 h 205052"/>
                <a:gd name="connsiteX2" fmla="*/ 205053 w 205052"/>
                <a:gd name="connsiteY2" fmla="*/ 205053 h 205052"/>
                <a:gd name="connsiteX3" fmla="*/ 0 w 205052"/>
                <a:gd name="connsiteY3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052" h="205052">
                  <a:moveTo>
                    <a:pt x="0" y="0"/>
                  </a:moveTo>
                  <a:lnTo>
                    <a:pt x="205053" y="0"/>
                  </a:lnTo>
                  <a:lnTo>
                    <a:pt x="205053" y="205053"/>
                  </a:lnTo>
                  <a:lnTo>
                    <a:pt x="0" y="20505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: фигура 100">
              <a:extLst>
                <a:ext uri="{FF2B5EF4-FFF2-40B4-BE49-F238E27FC236}">
                  <a16:creationId xmlns:a16="http://schemas.microsoft.com/office/drawing/2014/main" id="{7672935D-62F7-4272-9CBA-72FE98AF8EF7}"/>
                </a:ext>
              </a:extLst>
            </p:cNvPr>
            <p:cNvSpPr/>
            <p:nvPr/>
          </p:nvSpPr>
          <p:spPr>
            <a:xfrm>
              <a:off x="3392708" y="5577951"/>
              <a:ext cx="516732" cy="27340"/>
            </a:xfrm>
            <a:custGeom>
              <a:avLst/>
              <a:gdLst>
                <a:gd name="connsiteX0" fmla="*/ 0 w 516732"/>
                <a:gd name="connsiteY0" fmla="*/ 0 h 27340"/>
                <a:gd name="connsiteX1" fmla="*/ 516733 w 516732"/>
                <a:gd name="connsiteY1" fmla="*/ 0 h 27340"/>
                <a:gd name="connsiteX2" fmla="*/ 516733 w 516732"/>
                <a:gd name="connsiteY2" fmla="*/ 27341 h 27340"/>
                <a:gd name="connsiteX3" fmla="*/ 0 w 516732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732" h="27340">
                  <a:moveTo>
                    <a:pt x="0" y="0"/>
                  </a:moveTo>
                  <a:lnTo>
                    <a:pt x="516733" y="0"/>
                  </a:lnTo>
                  <a:lnTo>
                    <a:pt x="516733" y="27341"/>
                  </a:lnTo>
                  <a:lnTo>
                    <a:pt x="0" y="2734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: фигура 101">
              <a:extLst>
                <a:ext uri="{FF2B5EF4-FFF2-40B4-BE49-F238E27FC236}">
                  <a16:creationId xmlns:a16="http://schemas.microsoft.com/office/drawing/2014/main" id="{8722B39D-E31C-46F7-91CD-5D7C33930956}"/>
                </a:ext>
              </a:extLst>
            </p:cNvPr>
            <p:cNvSpPr/>
            <p:nvPr/>
          </p:nvSpPr>
          <p:spPr>
            <a:xfrm>
              <a:off x="3389974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: фигура 102">
              <a:extLst>
                <a:ext uri="{FF2B5EF4-FFF2-40B4-BE49-F238E27FC236}">
                  <a16:creationId xmlns:a16="http://schemas.microsoft.com/office/drawing/2014/main" id="{E99A16AA-2E61-418D-B1EE-B0D2B4203410}"/>
                </a:ext>
              </a:extLst>
            </p:cNvPr>
            <p:cNvSpPr/>
            <p:nvPr/>
          </p:nvSpPr>
          <p:spPr>
            <a:xfrm>
              <a:off x="3515740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: фигура 103">
              <a:extLst>
                <a:ext uri="{FF2B5EF4-FFF2-40B4-BE49-F238E27FC236}">
                  <a16:creationId xmlns:a16="http://schemas.microsoft.com/office/drawing/2014/main" id="{23B14BED-A305-48B5-8753-786E4C809101}"/>
                </a:ext>
              </a:extLst>
            </p:cNvPr>
            <p:cNvSpPr/>
            <p:nvPr/>
          </p:nvSpPr>
          <p:spPr>
            <a:xfrm>
              <a:off x="3652441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: фигура 104">
              <a:extLst>
                <a:ext uri="{FF2B5EF4-FFF2-40B4-BE49-F238E27FC236}">
                  <a16:creationId xmlns:a16="http://schemas.microsoft.com/office/drawing/2014/main" id="{B383A90F-25F8-4C42-8487-AD39554A18A8}"/>
                </a:ext>
              </a:extLst>
            </p:cNvPr>
            <p:cNvSpPr/>
            <p:nvPr/>
          </p:nvSpPr>
          <p:spPr>
            <a:xfrm>
              <a:off x="3204060" y="4834293"/>
              <a:ext cx="199584" cy="191382"/>
            </a:xfrm>
            <a:custGeom>
              <a:avLst/>
              <a:gdLst>
                <a:gd name="connsiteX0" fmla="*/ 27340 w 199584"/>
                <a:gd name="connsiteY0" fmla="*/ 191382 h 191382"/>
                <a:gd name="connsiteX1" fmla="*/ 0 w 199584"/>
                <a:gd name="connsiteY1" fmla="*/ 191382 h 191382"/>
                <a:gd name="connsiteX2" fmla="*/ 0 w 199584"/>
                <a:gd name="connsiteY2" fmla="*/ 13670 h 191382"/>
                <a:gd name="connsiteX3" fmla="*/ 13670 w 199584"/>
                <a:gd name="connsiteY3" fmla="*/ 0 h 191382"/>
                <a:gd name="connsiteX4" fmla="*/ 199585 w 199584"/>
                <a:gd name="connsiteY4" fmla="*/ 0 h 191382"/>
                <a:gd name="connsiteX5" fmla="*/ 199585 w 199584"/>
                <a:gd name="connsiteY5" fmla="*/ 27340 h 191382"/>
                <a:gd name="connsiteX6" fmla="*/ 27340 w 199584"/>
                <a:gd name="connsiteY6" fmla="*/ 27340 h 191382"/>
                <a:gd name="connsiteX7" fmla="*/ 27340 w 199584"/>
                <a:gd name="connsiteY7" fmla="*/ 191382 h 191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584" h="191382">
                  <a:moveTo>
                    <a:pt x="27340" y="191382"/>
                  </a:moveTo>
                  <a:lnTo>
                    <a:pt x="0" y="191382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99585" y="0"/>
                  </a:lnTo>
                  <a:lnTo>
                    <a:pt x="199585" y="27340"/>
                  </a:lnTo>
                  <a:lnTo>
                    <a:pt x="27340" y="27340"/>
                  </a:lnTo>
                  <a:lnTo>
                    <a:pt x="27340" y="19138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74" name="Рисунок 18">
              <a:extLst>
                <a:ext uri="{FF2B5EF4-FFF2-40B4-BE49-F238E27FC236}">
                  <a16:creationId xmlns:a16="http://schemas.microsoft.com/office/drawing/2014/main" id="{18DCD016-FB7A-4E94-AA93-660E243A0EAB}"/>
                </a:ext>
              </a:extLst>
            </p:cNvPr>
            <p:cNvGrpSpPr/>
            <p:nvPr/>
          </p:nvGrpSpPr>
          <p:grpSpPr>
            <a:xfrm>
              <a:off x="3786409" y="4853432"/>
              <a:ext cx="276137" cy="470253"/>
              <a:chOff x="3786409" y="4853432"/>
              <a:chExt cx="276137" cy="470253"/>
            </a:xfrm>
            <a:grpFill/>
          </p:grpSpPr>
          <p:sp>
            <p:nvSpPr>
              <p:cNvPr id="75" name="Полилиния: фигура 106">
                <a:extLst>
                  <a:ext uri="{FF2B5EF4-FFF2-40B4-BE49-F238E27FC236}">
                    <a16:creationId xmlns:a16="http://schemas.microsoft.com/office/drawing/2014/main" id="{FA22E781-CCC3-48C3-8A9A-746C1E2E635B}"/>
                  </a:ext>
                </a:extLst>
              </p:cNvPr>
              <p:cNvSpPr/>
              <p:nvPr/>
            </p:nvSpPr>
            <p:spPr>
              <a:xfrm>
                <a:off x="3786409" y="4853432"/>
                <a:ext cx="276137" cy="470253"/>
              </a:xfrm>
              <a:custGeom>
                <a:avLst/>
                <a:gdLst>
                  <a:gd name="connsiteX0" fmla="*/ 276138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5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5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5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8 w 276137"/>
                  <a:gd name="connsiteY27" fmla="*/ 0 h 470253"/>
                  <a:gd name="connsiteX28" fmla="*/ 276138 w 276137"/>
                  <a:gd name="connsiteY28" fmla="*/ 27340 h 470253"/>
                  <a:gd name="connsiteX29" fmla="*/ 207787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8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5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5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5" y="169510"/>
                    </a:lnTo>
                    <a:cubicBezTo>
                      <a:pt x="60149" y="164042"/>
                      <a:pt x="62883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5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8" y="0"/>
                    </a:lnTo>
                    <a:lnTo>
                      <a:pt x="276138" y="27340"/>
                    </a:lnTo>
                    <a:lnTo>
                      <a:pt x="207787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2170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6" name="Полилиния: фигура 107">
                <a:extLst>
                  <a:ext uri="{FF2B5EF4-FFF2-40B4-BE49-F238E27FC236}">
                    <a16:creationId xmlns:a16="http://schemas.microsoft.com/office/drawing/2014/main" id="{0D9366AB-7200-48BE-9940-ECD0D4C9FD60}"/>
                  </a:ext>
                </a:extLst>
              </p:cNvPr>
              <p:cNvSpPr/>
              <p:nvPr/>
            </p:nvSpPr>
            <p:spPr>
              <a:xfrm>
                <a:off x="3931313" y="4987399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7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91382"/>
                      <a:pt x="103893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77" name="Полилиния: фигура 108">
              <a:extLst>
                <a:ext uri="{FF2B5EF4-FFF2-40B4-BE49-F238E27FC236}">
                  <a16:creationId xmlns:a16="http://schemas.microsoft.com/office/drawing/2014/main" id="{B5B0EB6C-F25C-4FCD-A6E9-20E016A22270}"/>
                </a:ext>
              </a:extLst>
            </p:cNvPr>
            <p:cNvSpPr/>
            <p:nvPr/>
          </p:nvSpPr>
          <p:spPr>
            <a:xfrm>
              <a:off x="3146645" y="4774145"/>
              <a:ext cx="929571" cy="642498"/>
            </a:xfrm>
            <a:custGeom>
              <a:avLst/>
              <a:gdLst>
                <a:gd name="connsiteX0" fmla="*/ 915902 w 929571"/>
                <a:gd name="connsiteY0" fmla="*/ 642498 h 642498"/>
                <a:gd name="connsiteX1" fmla="*/ 13670 w 929571"/>
                <a:gd name="connsiteY1" fmla="*/ 642498 h 642498"/>
                <a:gd name="connsiteX2" fmla="*/ 0 w 929571"/>
                <a:gd name="connsiteY2" fmla="*/ 628828 h 642498"/>
                <a:gd name="connsiteX3" fmla="*/ 0 w 929571"/>
                <a:gd name="connsiteY3" fmla="*/ 13670 h 642498"/>
                <a:gd name="connsiteX4" fmla="*/ 13670 w 929571"/>
                <a:gd name="connsiteY4" fmla="*/ 0 h 642498"/>
                <a:gd name="connsiteX5" fmla="*/ 757328 w 929571"/>
                <a:gd name="connsiteY5" fmla="*/ 0 h 642498"/>
                <a:gd name="connsiteX6" fmla="*/ 929572 w 929571"/>
                <a:gd name="connsiteY6" fmla="*/ 13670 h 642498"/>
                <a:gd name="connsiteX7" fmla="*/ 929572 w 929571"/>
                <a:gd name="connsiteY7" fmla="*/ 144904 h 642498"/>
                <a:gd name="connsiteX8" fmla="*/ 902232 w 929571"/>
                <a:gd name="connsiteY8" fmla="*/ 144904 h 642498"/>
                <a:gd name="connsiteX9" fmla="*/ 902232 w 929571"/>
                <a:gd name="connsiteY9" fmla="*/ 27340 h 642498"/>
                <a:gd name="connsiteX10" fmla="*/ 598754 w 929571"/>
                <a:gd name="connsiteY10" fmla="*/ 27340 h 642498"/>
                <a:gd name="connsiteX11" fmla="*/ 27340 w 929571"/>
                <a:gd name="connsiteY11" fmla="*/ 27340 h 642498"/>
                <a:gd name="connsiteX12" fmla="*/ 27340 w 929571"/>
                <a:gd name="connsiteY12" fmla="*/ 615158 h 642498"/>
                <a:gd name="connsiteX13" fmla="*/ 902232 w 929571"/>
                <a:gd name="connsiteY13" fmla="*/ 615158 h 642498"/>
                <a:gd name="connsiteX14" fmla="*/ 902232 w 929571"/>
                <a:gd name="connsiteY14" fmla="*/ 492126 h 642498"/>
                <a:gd name="connsiteX15" fmla="*/ 929572 w 929571"/>
                <a:gd name="connsiteY15" fmla="*/ 492126 h 642498"/>
                <a:gd name="connsiteX16" fmla="*/ 929572 w 929571"/>
                <a:gd name="connsiteY16" fmla="*/ 628828 h 642498"/>
                <a:gd name="connsiteX17" fmla="*/ 915902 w 929571"/>
                <a:gd name="connsiteY17" fmla="*/ 642498 h 64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9571" h="642498">
                  <a:moveTo>
                    <a:pt x="915902" y="642498"/>
                  </a:moveTo>
                  <a:lnTo>
                    <a:pt x="13670" y="642498"/>
                  </a:lnTo>
                  <a:cubicBezTo>
                    <a:pt x="5468" y="642498"/>
                    <a:pt x="0" y="637030"/>
                    <a:pt x="0" y="628828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757328" y="0"/>
                  </a:lnTo>
                  <a:cubicBezTo>
                    <a:pt x="929572" y="0"/>
                    <a:pt x="929572" y="0"/>
                    <a:pt x="929572" y="13670"/>
                  </a:cubicBezTo>
                  <a:lnTo>
                    <a:pt x="929572" y="144904"/>
                  </a:lnTo>
                  <a:lnTo>
                    <a:pt x="902232" y="144904"/>
                  </a:lnTo>
                  <a:lnTo>
                    <a:pt x="902232" y="27340"/>
                  </a:lnTo>
                  <a:cubicBezTo>
                    <a:pt x="842083" y="27340"/>
                    <a:pt x="598754" y="27340"/>
                    <a:pt x="598754" y="27340"/>
                  </a:cubicBezTo>
                  <a:lnTo>
                    <a:pt x="27340" y="27340"/>
                  </a:lnTo>
                  <a:lnTo>
                    <a:pt x="27340" y="615158"/>
                  </a:lnTo>
                  <a:lnTo>
                    <a:pt x="902232" y="615158"/>
                  </a:lnTo>
                  <a:lnTo>
                    <a:pt x="902232" y="492126"/>
                  </a:lnTo>
                  <a:lnTo>
                    <a:pt x="929572" y="492126"/>
                  </a:lnTo>
                  <a:lnTo>
                    <a:pt x="929572" y="628828"/>
                  </a:lnTo>
                  <a:cubicBezTo>
                    <a:pt x="929572" y="634296"/>
                    <a:pt x="921370" y="642498"/>
                    <a:pt x="915902" y="642498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8" name="Группа 572">
            <a:extLst>
              <a:ext uri="{FF2B5EF4-FFF2-40B4-BE49-F238E27FC236}">
                <a16:creationId xmlns:a16="http://schemas.microsoft.com/office/drawing/2014/main" id="{5457DFC9-3429-4EBF-89A6-0CCB459F2F5D}"/>
              </a:ext>
            </a:extLst>
          </p:cNvPr>
          <p:cNvGrpSpPr>
            <a:grpSpLocks noChangeAspect="1"/>
          </p:cNvGrpSpPr>
          <p:nvPr/>
        </p:nvGrpSpPr>
        <p:grpSpPr>
          <a:xfrm>
            <a:off x="7717985" y="5415427"/>
            <a:ext cx="530665" cy="438296"/>
            <a:chOff x="656429" y="620079"/>
            <a:chExt cx="1062759" cy="922364"/>
          </a:xfrm>
          <a:solidFill>
            <a:srgbClr val="000000"/>
          </a:solidFill>
        </p:grpSpPr>
        <p:sp>
          <p:nvSpPr>
            <p:cNvPr id="79" name="Полилиния: фигура 554">
              <a:extLst>
                <a:ext uri="{FF2B5EF4-FFF2-40B4-BE49-F238E27FC236}">
                  <a16:creationId xmlns:a16="http://schemas.microsoft.com/office/drawing/2014/main" id="{1A673498-572D-4C28-9E20-9A0C80DC6DAA}"/>
                </a:ext>
              </a:extLst>
            </p:cNvPr>
            <p:cNvSpPr/>
            <p:nvPr/>
          </p:nvSpPr>
          <p:spPr>
            <a:xfrm>
              <a:off x="1210423" y="718647"/>
              <a:ext cx="330999" cy="301848"/>
            </a:xfrm>
            <a:custGeom>
              <a:avLst/>
              <a:gdLst>
                <a:gd name="connsiteX0" fmla="*/ 166041 w 330999"/>
                <a:gd name="connsiteY0" fmla="*/ 301849 h 301848"/>
                <a:gd name="connsiteX1" fmla="*/ 153464 w 330999"/>
                <a:gd name="connsiteY1" fmla="*/ 298705 h 301848"/>
                <a:gd name="connsiteX2" fmla="*/ 65425 w 330999"/>
                <a:gd name="connsiteY2" fmla="*/ 213810 h 301848"/>
                <a:gd name="connsiteX3" fmla="*/ 87435 w 330999"/>
                <a:gd name="connsiteY3" fmla="*/ 191800 h 301848"/>
                <a:gd name="connsiteX4" fmla="*/ 162897 w 330999"/>
                <a:gd name="connsiteY4" fmla="*/ 267262 h 301848"/>
                <a:gd name="connsiteX5" fmla="*/ 263513 w 330999"/>
                <a:gd name="connsiteY5" fmla="*/ 169790 h 301848"/>
                <a:gd name="connsiteX6" fmla="*/ 298100 w 330999"/>
                <a:gd name="connsiteY6" fmla="*/ 116338 h 301848"/>
                <a:gd name="connsiteX7" fmla="*/ 285523 w 330999"/>
                <a:gd name="connsiteY7" fmla="*/ 66029 h 301848"/>
                <a:gd name="connsiteX8" fmla="*/ 247792 w 330999"/>
                <a:gd name="connsiteY8" fmla="*/ 34587 h 301848"/>
                <a:gd name="connsiteX9" fmla="*/ 210061 w 330999"/>
                <a:gd name="connsiteY9" fmla="*/ 34587 h 301848"/>
                <a:gd name="connsiteX10" fmla="*/ 172330 w 330999"/>
                <a:gd name="connsiteY10" fmla="*/ 59741 h 301848"/>
                <a:gd name="connsiteX11" fmla="*/ 159753 w 330999"/>
                <a:gd name="connsiteY11" fmla="*/ 66029 h 301848"/>
                <a:gd name="connsiteX12" fmla="*/ 147175 w 330999"/>
                <a:gd name="connsiteY12" fmla="*/ 59741 h 301848"/>
                <a:gd name="connsiteX13" fmla="*/ 131454 w 330999"/>
                <a:gd name="connsiteY13" fmla="*/ 44020 h 301848"/>
                <a:gd name="connsiteX14" fmla="*/ 96867 w 330999"/>
                <a:gd name="connsiteY14" fmla="*/ 31443 h 301848"/>
                <a:gd name="connsiteX15" fmla="*/ 62280 w 330999"/>
                <a:gd name="connsiteY15" fmla="*/ 40875 h 301848"/>
                <a:gd name="connsiteX16" fmla="*/ 37126 w 330999"/>
                <a:gd name="connsiteY16" fmla="*/ 69174 h 301848"/>
                <a:gd name="connsiteX17" fmla="*/ 33982 w 330999"/>
                <a:gd name="connsiteY17" fmla="*/ 128915 h 301848"/>
                <a:gd name="connsiteX18" fmla="*/ 40271 w 330999"/>
                <a:gd name="connsiteY18" fmla="*/ 141492 h 301848"/>
                <a:gd name="connsiteX19" fmla="*/ 11972 w 330999"/>
                <a:gd name="connsiteY19" fmla="*/ 154069 h 301848"/>
                <a:gd name="connsiteX20" fmla="*/ 5684 w 330999"/>
                <a:gd name="connsiteY20" fmla="*/ 138347 h 301848"/>
                <a:gd name="connsiteX21" fmla="*/ 8828 w 330999"/>
                <a:gd name="connsiteY21" fmla="*/ 53452 h 301848"/>
                <a:gd name="connsiteX22" fmla="*/ 46559 w 330999"/>
                <a:gd name="connsiteY22" fmla="*/ 12577 h 301848"/>
                <a:gd name="connsiteX23" fmla="*/ 100012 w 330999"/>
                <a:gd name="connsiteY23" fmla="*/ 0 h 301848"/>
                <a:gd name="connsiteX24" fmla="*/ 150320 w 330999"/>
                <a:gd name="connsiteY24" fmla="*/ 18866 h 301848"/>
                <a:gd name="connsiteX25" fmla="*/ 159753 w 330999"/>
                <a:gd name="connsiteY25" fmla="*/ 28298 h 301848"/>
                <a:gd name="connsiteX26" fmla="*/ 200628 w 330999"/>
                <a:gd name="connsiteY26" fmla="*/ 6289 h 301848"/>
                <a:gd name="connsiteX27" fmla="*/ 257225 w 330999"/>
                <a:gd name="connsiteY27" fmla="*/ 6289 h 301848"/>
                <a:gd name="connsiteX28" fmla="*/ 313821 w 330999"/>
                <a:gd name="connsiteY28" fmla="*/ 44020 h 301848"/>
                <a:gd name="connsiteX29" fmla="*/ 329543 w 330999"/>
                <a:gd name="connsiteY29" fmla="*/ 116338 h 301848"/>
                <a:gd name="connsiteX30" fmla="*/ 285523 w 330999"/>
                <a:gd name="connsiteY30" fmla="*/ 188656 h 301848"/>
                <a:gd name="connsiteX31" fmla="*/ 175474 w 330999"/>
                <a:gd name="connsiteY31" fmla="*/ 298705 h 301848"/>
                <a:gd name="connsiteX32" fmla="*/ 166041 w 330999"/>
                <a:gd name="connsiteY32" fmla="*/ 301849 h 3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0999" h="301848">
                  <a:moveTo>
                    <a:pt x="166041" y="301849"/>
                  </a:moveTo>
                  <a:cubicBezTo>
                    <a:pt x="162897" y="301849"/>
                    <a:pt x="156608" y="301849"/>
                    <a:pt x="153464" y="298705"/>
                  </a:cubicBezTo>
                  <a:lnTo>
                    <a:pt x="65425" y="213810"/>
                  </a:lnTo>
                  <a:lnTo>
                    <a:pt x="87435" y="191800"/>
                  </a:lnTo>
                  <a:lnTo>
                    <a:pt x="162897" y="267262"/>
                  </a:lnTo>
                  <a:cubicBezTo>
                    <a:pt x="200628" y="226387"/>
                    <a:pt x="232071" y="198088"/>
                    <a:pt x="263513" y="169790"/>
                  </a:cubicBezTo>
                  <a:cubicBezTo>
                    <a:pt x="279234" y="154069"/>
                    <a:pt x="294956" y="138347"/>
                    <a:pt x="298100" y="116338"/>
                  </a:cubicBezTo>
                  <a:cubicBezTo>
                    <a:pt x="301244" y="91184"/>
                    <a:pt x="288667" y="69174"/>
                    <a:pt x="285523" y="66029"/>
                  </a:cubicBezTo>
                  <a:cubicBezTo>
                    <a:pt x="276090" y="47164"/>
                    <a:pt x="263513" y="37731"/>
                    <a:pt x="247792" y="34587"/>
                  </a:cubicBezTo>
                  <a:cubicBezTo>
                    <a:pt x="232071" y="28298"/>
                    <a:pt x="216349" y="31443"/>
                    <a:pt x="210061" y="34587"/>
                  </a:cubicBezTo>
                  <a:cubicBezTo>
                    <a:pt x="191195" y="40875"/>
                    <a:pt x="178618" y="53452"/>
                    <a:pt x="172330" y="59741"/>
                  </a:cubicBezTo>
                  <a:cubicBezTo>
                    <a:pt x="169185" y="62885"/>
                    <a:pt x="166041" y="66029"/>
                    <a:pt x="159753" y="66029"/>
                  </a:cubicBezTo>
                  <a:cubicBezTo>
                    <a:pt x="153464" y="66029"/>
                    <a:pt x="150320" y="62885"/>
                    <a:pt x="147175" y="59741"/>
                  </a:cubicBezTo>
                  <a:cubicBezTo>
                    <a:pt x="144031" y="53452"/>
                    <a:pt x="137743" y="47164"/>
                    <a:pt x="131454" y="44020"/>
                  </a:cubicBezTo>
                  <a:cubicBezTo>
                    <a:pt x="118877" y="34587"/>
                    <a:pt x="106300" y="31443"/>
                    <a:pt x="96867" y="31443"/>
                  </a:cubicBezTo>
                  <a:cubicBezTo>
                    <a:pt x="90579" y="31443"/>
                    <a:pt x="74858" y="31443"/>
                    <a:pt x="62280" y="40875"/>
                  </a:cubicBezTo>
                  <a:cubicBezTo>
                    <a:pt x="46559" y="50308"/>
                    <a:pt x="40271" y="66029"/>
                    <a:pt x="37126" y="69174"/>
                  </a:cubicBezTo>
                  <a:cubicBezTo>
                    <a:pt x="24549" y="94328"/>
                    <a:pt x="30838" y="122626"/>
                    <a:pt x="33982" y="128915"/>
                  </a:cubicBezTo>
                  <a:cubicBezTo>
                    <a:pt x="33982" y="132059"/>
                    <a:pt x="37126" y="138347"/>
                    <a:pt x="40271" y="141492"/>
                  </a:cubicBezTo>
                  <a:lnTo>
                    <a:pt x="11972" y="154069"/>
                  </a:lnTo>
                  <a:cubicBezTo>
                    <a:pt x="8828" y="147780"/>
                    <a:pt x="5684" y="144636"/>
                    <a:pt x="5684" y="138347"/>
                  </a:cubicBezTo>
                  <a:cubicBezTo>
                    <a:pt x="2540" y="125770"/>
                    <a:pt x="-6893" y="91184"/>
                    <a:pt x="8828" y="53452"/>
                  </a:cubicBezTo>
                  <a:cubicBezTo>
                    <a:pt x="11972" y="47164"/>
                    <a:pt x="21405" y="25154"/>
                    <a:pt x="46559" y="12577"/>
                  </a:cubicBezTo>
                  <a:cubicBezTo>
                    <a:pt x="68569" y="0"/>
                    <a:pt x="90579" y="0"/>
                    <a:pt x="100012" y="0"/>
                  </a:cubicBezTo>
                  <a:cubicBezTo>
                    <a:pt x="112589" y="0"/>
                    <a:pt x="131454" y="3144"/>
                    <a:pt x="150320" y="18866"/>
                  </a:cubicBezTo>
                  <a:cubicBezTo>
                    <a:pt x="153464" y="22010"/>
                    <a:pt x="156608" y="25154"/>
                    <a:pt x="159753" y="28298"/>
                  </a:cubicBezTo>
                  <a:cubicBezTo>
                    <a:pt x="169185" y="18866"/>
                    <a:pt x="181762" y="9433"/>
                    <a:pt x="200628" y="6289"/>
                  </a:cubicBezTo>
                  <a:cubicBezTo>
                    <a:pt x="210061" y="3144"/>
                    <a:pt x="232071" y="0"/>
                    <a:pt x="257225" y="6289"/>
                  </a:cubicBezTo>
                  <a:cubicBezTo>
                    <a:pt x="272946" y="6289"/>
                    <a:pt x="294956" y="18866"/>
                    <a:pt x="313821" y="44020"/>
                  </a:cubicBezTo>
                  <a:cubicBezTo>
                    <a:pt x="320110" y="53452"/>
                    <a:pt x="335831" y="81751"/>
                    <a:pt x="329543" y="116338"/>
                  </a:cubicBezTo>
                  <a:cubicBezTo>
                    <a:pt x="323254" y="150925"/>
                    <a:pt x="304389" y="169790"/>
                    <a:pt x="285523" y="188656"/>
                  </a:cubicBezTo>
                  <a:cubicBezTo>
                    <a:pt x="254080" y="220098"/>
                    <a:pt x="219494" y="254685"/>
                    <a:pt x="175474" y="298705"/>
                  </a:cubicBezTo>
                  <a:cubicBezTo>
                    <a:pt x="172330" y="301849"/>
                    <a:pt x="169185" y="301849"/>
                    <a:pt x="166041" y="301849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: фигура 556">
              <a:extLst>
                <a:ext uri="{FF2B5EF4-FFF2-40B4-BE49-F238E27FC236}">
                  <a16:creationId xmlns:a16="http://schemas.microsoft.com/office/drawing/2014/main" id="{6D920E9B-E405-4204-8705-5CA1B7BE10FB}"/>
                </a:ext>
              </a:extLst>
            </p:cNvPr>
            <p:cNvSpPr/>
            <p:nvPr/>
          </p:nvSpPr>
          <p:spPr>
            <a:xfrm>
              <a:off x="1049461" y="620079"/>
              <a:ext cx="669727" cy="601649"/>
            </a:xfrm>
            <a:custGeom>
              <a:avLst/>
              <a:gdLst>
                <a:gd name="connsiteX0" fmla="*/ 264118 w 669727"/>
                <a:gd name="connsiteY0" fmla="*/ 598505 h 601649"/>
                <a:gd name="connsiteX1" fmla="*/ 254685 w 669727"/>
                <a:gd name="connsiteY1" fmla="*/ 595361 h 601649"/>
                <a:gd name="connsiteX2" fmla="*/ 248397 w 669727"/>
                <a:gd name="connsiteY2" fmla="*/ 579640 h 601649"/>
                <a:gd name="connsiteX3" fmla="*/ 267262 w 669727"/>
                <a:gd name="connsiteY3" fmla="*/ 485312 h 601649"/>
                <a:gd name="connsiteX4" fmla="*/ 169790 w 669727"/>
                <a:gd name="connsiteY4" fmla="*/ 485312 h 601649"/>
                <a:gd name="connsiteX5" fmla="*/ 169790 w 669727"/>
                <a:gd name="connsiteY5" fmla="*/ 453869 h 601649"/>
                <a:gd name="connsiteX6" fmla="*/ 286128 w 669727"/>
                <a:gd name="connsiteY6" fmla="*/ 453869 h 601649"/>
                <a:gd name="connsiteX7" fmla="*/ 298705 w 669727"/>
                <a:gd name="connsiteY7" fmla="*/ 460158 h 601649"/>
                <a:gd name="connsiteX8" fmla="*/ 301849 w 669727"/>
                <a:gd name="connsiteY8" fmla="*/ 472735 h 601649"/>
                <a:gd name="connsiteX9" fmla="*/ 286128 w 669727"/>
                <a:gd name="connsiteY9" fmla="*/ 554486 h 601649"/>
                <a:gd name="connsiteX10" fmla="*/ 477928 w 669727"/>
                <a:gd name="connsiteY10" fmla="*/ 453869 h 601649"/>
                <a:gd name="connsiteX11" fmla="*/ 484216 w 669727"/>
                <a:gd name="connsiteY11" fmla="*/ 450725 h 601649"/>
                <a:gd name="connsiteX12" fmla="*/ 591121 w 669727"/>
                <a:gd name="connsiteY12" fmla="*/ 450725 h 601649"/>
                <a:gd name="connsiteX13" fmla="*/ 625708 w 669727"/>
                <a:gd name="connsiteY13" fmla="*/ 431859 h 601649"/>
                <a:gd name="connsiteX14" fmla="*/ 635141 w 669727"/>
                <a:gd name="connsiteY14" fmla="*/ 409850 h 601649"/>
                <a:gd name="connsiteX15" fmla="*/ 631996 w 669727"/>
                <a:gd name="connsiteY15" fmla="*/ 70269 h 601649"/>
                <a:gd name="connsiteX16" fmla="*/ 619419 w 669727"/>
                <a:gd name="connsiteY16" fmla="*/ 45115 h 601649"/>
                <a:gd name="connsiteX17" fmla="*/ 581688 w 669727"/>
                <a:gd name="connsiteY17" fmla="*/ 29394 h 601649"/>
                <a:gd name="connsiteX18" fmla="*/ 339580 w 669727"/>
                <a:gd name="connsiteY18" fmla="*/ 29394 h 601649"/>
                <a:gd name="connsiteX19" fmla="*/ 97472 w 669727"/>
                <a:gd name="connsiteY19" fmla="*/ 29394 h 601649"/>
                <a:gd name="connsiteX20" fmla="*/ 53452 w 669727"/>
                <a:gd name="connsiteY20" fmla="*/ 41971 h 601649"/>
                <a:gd name="connsiteX21" fmla="*/ 31443 w 669727"/>
                <a:gd name="connsiteY21" fmla="*/ 70269 h 601649"/>
                <a:gd name="connsiteX22" fmla="*/ 31443 w 669727"/>
                <a:gd name="connsiteY22" fmla="*/ 164597 h 601649"/>
                <a:gd name="connsiteX23" fmla="*/ 0 w 669727"/>
                <a:gd name="connsiteY23" fmla="*/ 164597 h 601649"/>
                <a:gd name="connsiteX24" fmla="*/ 0 w 669727"/>
                <a:gd name="connsiteY24" fmla="*/ 70269 h 601649"/>
                <a:gd name="connsiteX25" fmla="*/ 0 w 669727"/>
                <a:gd name="connsiteY25" fmla="*/ 67125 h 601649"/>
                <a:gd name="connsiteX26" fmla="*/ 37731 w 669727"/>
                <a:gd name="connsiteY26" fmla="*/ 16817 h 601649"/>
                <a:gd name="connsiteX27" fmla="*/ 100616 w 669727"/>
                <a:gd name="connsiteY27" fmla="*/ 1096 h 601649"/>
                <a:gd name="connsiteX28" fmla="*/ 342724 w 669727"/>
                <a:gd name="connsiteY28" fmla="*/ 1096 h 601649"/>
                <a:gd name="connsiteX29" fmla="*/ 584833 w 669727"/>
                <a:gd name="connsiteY29" fmla="*/ 1096 h 601649"/>
                <a:gd name="connsiteX30" fmla="*/ 644573 w 669727"/>
                <a:gd name="connsiteY30" fmla="*/ 26250 h 601649"/>
                <a:gd name="connsiteX31" fmla="*/ 666583 w 669727"/>
                <a:gd name="connsiteY31" fmla="*/ 76558 h 601649"/>
                <a:gd name="connsiteX32" fmla="*/ 669728 w 669727"/>
                <a:gd name="connsiteY32" fmla="*/ 419282 h 601649"/>
                <a:gd name="connsiteX33" fmla="*/ 654006 w 669727"/>
                <a:gd name="connsiteY33" fmla="*/ 457013 h 601649"/>
                <a:gd name="connsiteX34" fmla="*/ 600554 w 669727"/>
                <a:gd name="connsiteY34" fmla="*/ 488456 h 601649"/>
                <a:gd name="connsiteX35" fmla="*/ 597410 w 669727"/>
                <a:gd name="connsiteY35" fmla="*/ 488456 h 601649"/>
                <a:gd name="connsiteX36" fmla="*/ 487360 w 669727"/>
                <a:gd name="connsiteY36" fmla="*/ 488456 h 601649"/>
                <a:gd name="connsiteX37" fmla="*/ 270406 w 669727"/>
                <a:gd name="connsiteY37" fmla="*/ 601649 h 601649"/>
                <a:gd name="connsiteX38" fmla="*/ 264118 w 669727"/>
                <a:gd name="connsiteY38" fmla="*/ 598505 h 60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9727" h="601649">
                  <a:moveTo>
                    <a:pt x="264118" y="598505"/>
                  </a:moveTo>
                  <a:cubicBezTo>
                    <a:pt x="260974" y="598505"/>
                    <a:pt x="257829" y="598505"/>
                    <a:pt x="254685" y="595361"/>
                  </a:cubicBezTo>
                  <a:cubicBezTo>
                    <a:pt x="248397" y="592217"/>
                    <a:pt x="248397" y="585928"/>
                    <a:pt x="248397" y="579640"/>
                  </a:cubicBezTo>
                  <a:lnTo>
                    <a:pt x="267262" y="485312"/>
                  </a:lnTo>
                  <a:lnTo>
                    <a:pt x="169790" y="485312"/>
                  </a:lnTo>
                  <a:lnTo>
                    <a:pt x="169790" y="453869"/>
                  </a:lnTo>
                  <a:lnTo>
                    <a:pt x="286128" y="453869"/>
                  </a:lnTo>
                  <a:cubicBezTo>
                    <a:pt x="292416" y="453869"/>
                    <a:pt x="295561" y="457013"/>
                    <a:pt x="298705" y="460158"/>
                  </a:cubicBezTo>
                  <a:cubicBezTo>
                    <a:pt x="301849" y="463302"/>
                    <a:pt x="301849" y="469591"/>
                    <a:pt x="301849" y="472735"/>
                  </a:cubicBezTo>
                  <a:lnTo>
                    <a:pt x="286128" y="554486"/>
                  </a:lnTo>
                  <a:lnTo>
                    <a:pt x="477928" y="453869"/>
                  </a:lnTo>
                  <a:cubicBezTo>
                    <a:pt x="481072" y="453869"/>
                    <a:pt x="484216" y="450725"/>
                    <a:pt x="484216" y="450725"/>
                  </a:cubicBezTo>
                  <a:lnTo>
                    <a:pt x="591121" y="450725"/>
                  </a:lnTo>
                  <a:cubicBezTo>
                    <a:pt x="600554" y="447581"/>
                    <a:pt x="616275" y="444436"/>
                    <a:pt x="625708" y="431859"/>
                  </a:cubicBezTo>
                  <a:cubicBezTo>
                    <a:pt x="631996" y="425571"/>
                    <a:pt x="635141" y="419282"/>
                    <a:pt x="635141" y="409850"/>
                  </a:cubicBezTo>
                  <a:lnTo>
                    <a:pt x="631996" y="70269"/>
                  </a:lnTo>
                  <a:cubicBezTo>
                    <a:pt x="631996" y="63981"/>
                    <a:pt x="631996" y="54548"/>
                    <a:pt x="619419" y="45115"/>
                  </a:cubicBezTo>
                  <a:cubicBezTo>
                    <a:pt x="606842" y="32538"/>
                    <a:pt x="584833" y="29394"/>
                    <a:pt x="581688" y="29394"/>
                  </a:cubicBezTo>
                  <a:cubicBezTo>
                    <a:pt x="459062" y="29394"/>
                    <a:pt x="399321" y="29394"/>
                    <a:pt x="339580" y="29394"/>
                  </a:cubicBezTo>
                  <a:cubicBezTo>
                    <a:pt x="279839" y="29394"/>
                    <a:pt x="220098" y="29394"/>
                    <a:pt x="97472" y="29394"/>
                  </a:cubicBezTo>
                  <a:cubicBezTo>
                    <a:pt x="88039" y="29394"/>
                    <a:pt x="69174" y="29394"/>
                    <a:pt x="53452" y="41971"/>
                  </a:cubicBezTo>
                  <a:cubicBezTo>
                    <a:pt x="37731" y="51404"/>
                    <a:pt x="31443" y="63981"/>
                    <a:pt x="31443" y="70269"/>
                  </a:cubicBezTo>
                  <a:lnTo>
                    <a:pt x="31443" y="164597"/>
                  </a:lnTo>
                  <a:lnTo>
                    <a:pt x="0" y="164597"/>
                  </a:lnTo>
                  <a:lnTo>
                    <a:pt x="0" y="70269"/>
                  </a:lnTo>
                  <a:cubicBezTo>
                    <a:pt x="0" y="70269"/>
                    <a:pt x="0" y="67125"/>
                    <a:pt x="0" y="67125"/>
                  </a:cubicBezTo>
                  <a:cubicBezTo>
                    <a:pt x="3144" y="54548"/>
                    <a:pt x="12577" y="32538"/>
                    <a:pt x="37731" y="16817"/>
                  </a:cubicBezTo>
                  <a:cubicBezTo>
                    <a:pt x="62885" y="1096"/>
                    <a:pt x="88039" y="-2049"/>
                    <a:pt x="100616" y="1096"/>
                  </a:cubicBezTo>
                  <a:cubicBezTo>
                    <a:pt x="226387" y="1096"/>
                    <a:pt x="282983" y="1096"/>
                    <a:pt x="342724" y="1096"/>
                  </a:cubicBezTo>
                  <a:cubicBezTo>
                    <a:pt x="402465" y="1096"/>
                    <a:pt x="462206" y="1096"/>
                    <a:pt x="584833" y="1096"/>
                  </a:cubicBezTo>
                  <a:cubicBezTo>
                    <a:pt x="594265" y="1096"/>
                    <a:pt x="622564" y="4240"/>
                    <a:pt x="644573" y="26250"/>
                  </a:cubicBezTo>
                  <a:cubicBezTo>
                    <a:pt x="663439" y="45115"/>
                    <a:pt x="666583" y="67125"/>
                    <a:pt x="666583" y="76558"/>
                  </a:cubicBezTo>
                  <a:lnTo>
                    <a:pt x="669728" y="419282"/>
                  </a:lnTo>
                  <a:cubicBezTo>
                    <a:pt x="669728" y="435004"/>
                    <a:pt x="663439" y="447581"/>
                    <a:pt x="654006" y="457013"/>
                  </a:cubicBezTo>
                  <a:cubicBezTo>
                    <a:pt x="638285" y="479023"/>
                    <a:pt x="613131" y="485312"/>
                    <a:pt x="600554" y="488456"/>
                  </a:cubicBezTo>
                  <a:cubicBezTo>
                    <a:pt x="600554" y="488456"/>
                    <a:pt x="597410" y="488456"/>
                    <a:pt x="597410" y="488456"/>
                  </a:cubicBezTo>
                  <a:lnTo>
                    <a:pt x="487360" y="488456"/>
                  </a:lnTo>
                  <a:lnTo>
                    <a:pt x="270406" y="601649"/>
                  </a:lnTo>
                  <a:cubicBezTo>
                    <a:pt x="267262" y="598505"/>
                    <a:pt x="264118" y="598505"/>
                    <a:pt x="264118" y="598505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81" name="Рисунок 452">
              <a:extLst>
                <a:ext uri="{FF2B5EF4-FFF2-40B4-BE49-F238E27FC236}">
                  <a16:creationId xmlns:a16="http://schemas.microsoft.com/office/drawing/2014/main" id="{A494EA60-8D9C-432A-95D9-3E644EC02B31}"/>
                </a:ext>
              </a:extLst>
            </p:cNvPr>
            <p:cNvGrpSpPr/>
            <p:nvPr/>
          </p:nvGrpSpPr>
          <p:grpSpPr>
            <a:xfrm>
              <a:off x="656429" y="882149"/>
              <a:ext cx="660294" cy="660294"/>
              <a:chOff x="656429" y="882149"/>
              <a:chExt cx="660294" cy="660294"/>
            </a:xfrm>
            <a:grpFill/>
          </p:grpSpPr>
          <p:sp>
            <p:nvSpPr>
              <p:cNvPr id="82" name="Полилиния: фигура 558">
                <a:extLst>
                  <a:ext uri="{FF2B5EF4-FFF2-40B4-BE49-F238E27FC236}">
                    <a16:creationId xmlns:a16="http://schemas.microsoft.com/office/drawing/2014/main" id="{10BD8BA4-3E91-42FF-925D-2836F88DAA96}"/>
                  </a:ext>
                </a:extLst>
              </p:cNvPr>
              <p:cNvSpPr/>
              <p:nvPr/>
            </p:nvSpPr>
            <p:spPr>
              <a:xfrm>
                <a:off x="936268" y="1246883"/>
                <a:ext cx="97472" cy="295560"/>
              </a:xfrm>
              <a:custGeom>
                <a:avLst/>
                <a:gdLst>
                  <a:gd name="connsiteX0" fmla="*/ 97472 w 97472"/>
                  <a:gd name="connsiteY0" fmla="*/ 295560 h 295560"/>
                  <a:gd name="connsiteX1" fmla="*/ 0 w 97472"/>
                  <a:gd name="connsiteY1" fmla="*/ 295560 h 295560"/>
                  <a:gd name="connsiteX2" fmla="*/ 22010 w 97472"/>
                  <a:gd name="connsiteY2" fmla="*/ 0 h 295560"/>
                  <a:gd name="connsiteX3" fmla="*/ 75462 w 97472"/>
                  <a:gd name="connsiteY3" fmla="*/ 0 h 295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472" h="295560">
                    <a:moveTo>
                      <a:pt x="97472" y="295560"/>
                    </a:moveTo>
                    <a:lnTo>
                      <a:pt x="0" y="295560"/>
                    </a:lnTo>
                    <a:lnTo>
                      <a:pt x="22010" y="0"/>
                    </a:lnTo>
                    <a:lnTo>
                      <a:pt x="75462" y="0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3" name="Полилиния: фигура 559">
                <a:extLst>
                  <a:ext uri="{FF2B5EF4-FFF2-40B4-BE49-F238E27FC236}">
                    <a16:creationId xmlns:a16="http://schemas.microsoft.com/office/drawing/2014/main" id="{24DEB428-FC10-496A-B534-A4CDF20A71E5}"/>
                  </a:ext>
                </a:extLst>
              </p:cNvPr>
              <p:cNvSpPr/>
              <p:nvPr/>
            </p:nvSpPr>
            <p:spPr>
              <a:xfrm>
                <a:off x="1068327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4" name="Полилиния: фигура 560">
                <a:extLst>
                  <a:ext uri="{FF2B5EF4-FFF2-40B4-BE49-F238E27FC236}">
                    <a16:creationId xmlns:a16="http://schemas.microsoft.com/office/drawing/2014/main" id="{D2138EDE-8879-4419-AFF1-5F025D8AFAFF}"/>
                  </a:ext>
                </a:extLst>
              </p:cNvPr>
              <p:cNvSpPr/>
              <p:nvPr/>
            </p:nvSpPr>
            <p:spPr>
              <a:xfrm>
                <a:off x="1178376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5" name="Полилиния: фигура 561">
                <a:extLst>
                  <a:ext uri="{FF2B5EF4-FFF2-40B4-BE49-F238E27FC236}">
                    <a16:creationId xmlns:a16="http://schemas.microsoft.com/office/drawing/2014/main" id="{EEFCB174-9AAE-4F6E-BD24-644520A5718E}"/>
                  </a:ext>
                </a:extLst>
              </p:cNvPr>
              <p:cNvSpPr/>
              <p:nvPr/>
            </p:nvSpPr>
            <p:spPr>
              <a:xfrm>
                <a:off x="832507" y="882149"/>
                <a:ext cx="301849" cy="301849"/>
              </a:xfrm>
              <a:custGeom>
                <a:avLst/>
                <a:gdLst>
                  <a:gd name="connsiteX0" fmla="*/ 150925 w 301849"/>
                  <a:gd name="connsiteY0" fmla="*/ 301849 h 301849"/>
                  <a:gd name="connsiteX1" fmla="*/ 0 w 301849"/>
                  <a:gd name="connsiteY1" fmla="*/ 150925 h 301849"/>
                  <a:gd name="connsiteX2" fmla="*/ 150925 w 301849"/>
                  <a:gd name="connsiteY2" fmla="*/ 0 h 301849"/>
                  <a:gd name="connsiteX3" fmla="*/ 301849 w 301849"/>
                  <a:gd name="connsiteY3" fmla="*/ 150925 h 301849"/>
                  <a:gd name="connsiteX4" fmla="*/ 150925 w 301849"/>
                  <a:gd name="connsiteY4" fmla="*/ 301849 h 301849"/>
                  <a:gd name="connsiteX5" fmla="*/ 150925 w 301849"/>
                  <a:gd name="connsiteY5" fmla="*/ 31443 h 301849"/>
                  <a:gd name="connsiteX6" fmla="*/ 31443 w 301849"/>
                  <a:gd name="connsiteY6" fmla="*/ 150925 h 301849"/>
                  <a:gd name="connsiteX7" fmla="*/ 150925 w 301849"/>
                  <a:gd name="connsiteY7" fmla="*/ 270406 h 301849"/>
                  <a:gd name="connsiteX8" fmla="*/ 270406 w 301849"/>
                  <a:gd name="connsiteY8" fmla="*/ 150925 h 301849"/>
                  <a:gd name="connsiteX9" fmla="*/ 150925 w 301849"/>
                  <a:gd name="connsiteY9" fmla="*/ 31443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1849" h="301849">
                    <a:moveTo>
                      <a:pt x="150925" y="301849"/>
                    </a:moveTo>
                    <a:cubicBezTo>
                      <a:pt x="69174" y="301849"/>
                      <a:pt x="0" y="235820"/>
                      <a:pt x="0" y="150925"/>
                    </a:cubicBezTo>
                    <a:cubicBezTo>
                      <a:pt x="0" y="69174"/>
                      <a:pt x="66029" y="0"/>
                      <a:pt x="150925" y="0"/>
                    </a:cubicBezTo>
                    <a:cubicBezTo>
                      <a:pt x="235820" y="0"/>
                      <a:pt x="301849" y="66029"/>
                      <a:pt x="301849" y="150925"/>
                    </a:cubicBezTo>
                    <a:cubicBezTo>
                      <a:pt x="301849" y="235820"/>
                      <a:pt x="235820" y="301849"/>
                      <a:pt x="150925" y="301849"/>
                    </a:cubicBezTo>
                    <a:close/>
                    <a:moveTo>
                      <a:pt x="150925" y="31443"/>
                    </a:moveTo>
                    <a:cubicBezTo>
                      <a:pt x="84895" y="31443"/>
                      <a:pt x="31443" y="84895"/>
                      <a:pt x="31443" y="150925"/>
                    </a:cubicBezTo>
                    <a:cubicBezTo>
                      <a:pt x="31443" y="216954"/>
                      <a:pt x="84895" y="270406"/>
                      <a:pt x="150925" y="270406"/>
                    </a:cubicBezTo>
                    <a:cubicBezTo>
                      <a:pt x="216954" y="270406"/>
                      <a:pt x="270406" y="216954"/>
                      <a:pt x="270406" y="150925"/>
                    </a:cubicBezTo>
                    <a:cubicBezTo>
                      <a:pt x="270406" y="84895"/>
                      <a:pt x="216954" y="31443"/>
                      <a:pt x="150925" y="31443"/>
                    </a:cubicBez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6" name="Полилиния: фигура 562">
                <a:extLst>
                  <a:ext uri="{FF2B5EF4-FFF2-40B4-BE49-F238E27FC236}">
                    <a16:creationId xmlns:a16="http://schemas.microsoft.com/office/drawing/2014/main" id="{9467E193-085F-4BAD-A612-2E37B5E45ED3}"/>
                  </a:ext>
                </a:extLst>
              </p:cNvPr>
              <p:cNvSpPr/>
              <p:nvPr/>
            </p:nvSpPr>
            <p:spPr>
              <a:xfrm>
                <a:off x="1065182" y="1237450"/>
                <a:ext cx="251540" cy="301849"/>
              </a:xfrm>
              <a:custGeom>
                <a:avLst/>
                <a:gdLst>
                  <a:gd name="connsiteX0" fmla="*/ 251541 w 251540"/>
                  <a:gd name="connsiteY0" fmla="*/ 301849 h 301849"/>
                  <a:gd name="connsiteX1" fmla="*/ 220098 w 251540"/>
                  <a:gd name="connsiteY1" fmla="*/ 301849 h 301849"/>
                  <a:gd name="connsiteX2" fmla="*/ 220098 w 251540"/>
                  <a:gd name="connsiteY2" fmla="*/ 257829 h 301849"/>
                  <a:gd name="connsiteX3" fmla="*/ 220098 w 251540"/>
                  <a:gd name="connsiteY3" fmla="*/ 172934 h 301849"/>
                  <a:gd name="connsiteX4" fmla="*/ 182367 w 251540"/>
                  <a:gd name="connsiteY4" fmla="*/ 69174 h 301849"/>
                  <a:gd name="connsiteX5" fmla="*/ 50308 w 251540"/>
                  <a:gd name="connsiteY5" fmla="*/ 31443 h 301849"/>
                  <a:gd name="connsiteX6" fmla="*/ 0 w 251540"/>
                  <a:gd name="connsiteY6" fmla="*/ 31443 h 301849"/>
                  <a:gd name="connsiteX7" fmla="*/ 0 w 251540"/>
                  <a:gd name="connsiteY7" fmla="*/ 0 h 301849"/>
                  <a:gd name="connsiteX8" fmla="*/ 50308 w 251540"/>
                  <a:gd name="connsiteY8" fmla="*/ 0 h 301849"/>
                  <a:gd name="connsiteX9" fmla="*/ 204377 w 251540"/>
                  <a:gd name="connsiteY9" fmla="*/ 47164 h 301849"/>
                  <a:gd name="connsiteX10" fmla="*/ 251541 w 251540"/>
                  <a:gd name="connsiteY10" fmla="*/ 172934 h 301849"/>
                  <a:gd name="connsiteX11" fmla="*/ 251541 w 251540"/>
                  <a:gd name="connsiteY11" fmla="*/ 257829 h 301849"/>
                  <a:gd name="connsiteX12" fmla="*/ 251541 w 251540"/>
                  <a:gd name="connsiteY12" fmla="*/ 301849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1540" h="301849">
                    <a:moveTo>
                      <a:pt x="251541" y="301849"/>
                    </a:moveTo>
                    <a:lnTo>
                      <a:pt x="220098" y="301849"/>
                    </a:lnTo>
                    <a:lnTo>
                      <a:pt x="220098" y="257829"/>
                    </a:lnTo>
                    <a:cubicBezTo>
                      <a:pt x="220098" y="232675"/>
                      <a:pt x="220098" y="207521"/>
                      <a:pt x="220098" y="172934"/>
                    </a:cubicBezTo>
                    <a:cubicBezTo>
                      <a:pt x="220098" y="141492"/>
                      <a:pt x="210665" y="97472"/>
                      <a:pt x="182367" y="69174"/>
                    </a:cubicBezTo>
                    <a:cubicBezTo>
                      <a:pt x="163502" y="50308"/>
                      <a:pt x="125770" y="31443"/>
                      <a:pt x="50308" y="31443"/>
                    </a:cubicBezTo>
                    <a:cubicBezTo>
                      <a:pt x="31443" y="31443"/>
                      <a:pt x="15721" y="31443"/>
                      <a:pt x="0" y="31443"/>
                    </a:cubicBezTo>
                    <a:lnTo>
                      <a:pt x="0" y="0"/>
                    </a:lnTo>
                    <a:cubicBezTo>
                      <a:pt x="15721" y="0"/>
                      <a:pt x="31443" y="0"/>
                      <a:pt x="50308" y="0"/>
                    </a:cubicBezTo>
                    <a:cubicBezTo>
                      <a:pt x="119482" y="0"/>
                      <a:pt x="172934" y="15721"/>
                      <a:pt x="204377" y="47164"/>
                    </a:cubicBezTo>
                    <a:cubicBezTo>
                      <a:pt x="248397" y="91184"/>
                      <a:pt x="251541" y="160357"/>
                      <a:pt x="251541" y="172934"/>
                    </a:cubicBezTo>
                    <a:cubicBezTo>
                      <a:pt x="251541" y="207521"/>
                      <a:pt x="251541" y="232675"/>
                      <a:pt x="251541" y="257829"/>
                    </a:cubicBezTo>
                    <a:lnTo>
                      <a:pt x="251541" y="30184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7" name="Полилиния: фигура 563">
                <a:extLst>
                  <a:ext uri="{FF2B5EF4-FFF2-40B4-BE49-F238E27FC236}">
                    <a16:creationId xmlns:a16="http://schemas.microsoft.com/office/drawing/2014/main" id="{A0DC2D0B-58F7-4B5F-96D9-6D8F803AEC1C}"/>
                  </a:ext>
                </a:extLst>
              </p:cNvPr>
              <p:cNvSpPr/>
              <p:nvPr/>
            </p:nvSpPr>
            <p:spPr>
              <a:xfrm>
                <a:off x="656429" y="1236528"/>
                <a:ext cx="257829" cy="299626"/>
              </a:xfrm>
              <a:custGeom>
                <a:avLst/>
                <a:gdLst>
                  <a:gd name="connsiteX0" fmla="*/ 31443 w 257829"/>
                  <a:gd name="connsiteY0" fmla="*/ 299626 h 299626"/>
                  <a:gd name="connsiteX1" fmla="*/ 0 w 257829"/>
                  <a:gd name="connsiteY1" fmla="*/ 299626 h 299626"/>
                  <a:gd name="connsiteX2" fmla="*/ 3144 w 257829"/>
                  <a:gd name="connsiteY2" fmla="*/ 151846 h 299626"/>
                  <a:gd name="connsiteX3" fmla="*/ 59741 w 257829"/>
                  <a:gd name="connsiteY3" fmla="*/ 38653 h 299626"/>
                  <a:gd name="connsiteX4" fmla="*/ 257829 w 257829"/>
                  <a:gd name="connsiteY4" fmla="*/ 922 h 299626"/>
                  <a:gd name="connsiteX5" fmla="*/ 257829 w 257829"/>
                  <a:gd name="connsiteY5" fmla="*/ 32364 h 299626"/>
                  <a:gd name="connsiteX6" fmla="*/ 78607 w 257829"/>
                  <a:gd name="connsiteY6" fmla="*/ 63807 h 299626"/>
                  <a:gd name="connsiteX7" fmla="*/ 31443 w 257829"/>
                  <a:gd name="connsiteY7" fmla="*/ 154991 h 299626"/>
                  <a:gd name="connsiteX8" fmla="*/ 31443 w 257829"/>
                  <a:gd name="connsiteY8" fmla="*/ 299626 h 29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7829" h="299626">
                    <a:moveTo>
                      <a:pt x="31443" y="299626"/>
                    </a:moveTo>
                    <a:lnTo>
                      <a:pt x="0" y="299626"/>
                    </a:lnTo>
                    <a:lnTo>
                      <a:pt x="3144" y="151846"/>
                    </a:lnTo>
                    <a:cubicBezTo>
                      <a:pt x="6289" y="129836"/>
                      <a:pt x="15721" y="76384"/>
                      <a:pt x="59741" y="38653"/>
                    </a:cubicBezTo>
                    <a:cubicBezTo>
                      <a:pt x="103761" y="922"/>
                      <a:pt x="169790" y="-2223"/>
                      <a:pt x="257829" y="922"/>
                    </a:cubicBezTo>
                    <a:lnTo>
                      <a:pt x="257829" y="32364"/>
                    </a:lnTo>
                    <a:cubicBezTo>
                      <a:pt x="163502" y="32364"/>
                      <a:pt x="110049" y="35509"/>
                      <a:pt x="78607" y="63807"/>
                    </a:cubicBezTo>
                    <a:cubicBezTo>
                      <a:pt x="40875" y="95250"/>
                      <a:pt x="34587" y="139269"/>
                      <a:pt x="31443" y="154991"/>
                    </a:cubicBezTo>
                    <a:lnTo>
                      <a:pt x="31443" y="299626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88" name="Группа 400">
            <a:extLst>
              <a:ext uri="{FF2B5EF4-FFF2-40B4-BE49-F238E27FC236}">
                <a16:creationId xmlns:a16="http://schemas.microsoft.com/office/drawing/2014/main" id="{DEDF7EC1-DF67-4529-892F-B305A0F6513B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095199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89" name="Freeform 41">
              <a:extLst>
                <a:ext uri="{FF2B5EF4-FFF2-40B4-BE49-F238E27FC236}">
                  <a16:creationId xmlns:a16="http://schemas.microsoft.com/office/drawing/2014/main" id="{A8E8FB7C-C76B-440C-9F31-2239DDFD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0" name="Rectangle 42">
              <a:extLst>
                <a:ext uri="{FF2B5EF4-FFF2-40B4-BE49-F238E27FC236}">
                  <a16:creationId xmlns:a16="http://schemas.microsoft.com/office/drawing/2014/main" id="{EAD79F30-F674-4C37-AA69-18EFC2E9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1" name="Rectangle 43">
              <a:extLst>
                <a:ext uri="{FF2B5EF4-FFF2-40B4-BE49-F238E27FC236}">
                  <a16:creationId xmlns:a16="http://schemas.microsoft.com/office/drawing/2014/main" id="{3D00C755-E15B-4FFE-826A-B975E4A6C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92" name="Группа 400">
            <a:extLst>
              <a:ext uri="{FF2B5EF4-FFF2-40B4-BE49-F238E27FC236}">
                <a16:creationId xmlns:a16="http://schemas.microsoft.com/office/drawing/2014/main" id="{1D5782FB-645C-494A-A3F6-01B237B2CCA7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885791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93" name="Freeform 41">
              <a:extLst>
                <a:ext uri="{FF2B5EF4-FFF2-40B4-BE49-F238E27FC236}">
                  <a16:creationId xmlns:a16="http://schemas.microsoft.com/office/drawing/2014/main" id="{D38CD580-CCCC-40EF-973B-F61506BD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4" name="Rectangle 42">
              <a:extLst>
                <a:ext uri="{FF2B5EF4-FFF2-40B4-BE49-F238E27FC236}">
                  <a16:creationId xmlns:a16="http://schemas.microsoft.com/office/drawing/2014/main" id="{45424202-6D32-4087-87CD-C5ECB9D8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5" name="Rectangle 43">
              <a:extLst>
                <a:ext uri="{FF2B5EF4-FFF2-40B4-BE49-F238E27FC236}">
                  <a16:creationId xmlns:a16="http://schemas.microsoft.com/office/drawing/2014/main" id="{F9721D5C-575D-4AE0-9E62-19A61E31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96" name="Группа 400">
            <a:extLst>
              <a:ext uri="{FF2B5EF4-FFF2-40B4-BE49-F238E27FC236}">
                <a16:creationId xmlns:a16="http://schemas.microsoft.com/office/drawing/2014/main" id="{26161A4F-A28B-4B2D-8DA7-BD954BFEB303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4676383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97" name="Freeform 41">
              <a:extLst>
                <a:ext uri="{FF2B5EF4-FFF2-40B4-BE49-F238E27FC236}">
                  <a16:creationId xmlns:a16="http://schemas.microsoft.com/office/drawing/2014/main" id="{EFD73131-61CF-4E5A-AFD8-7AB3F3F6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8" name="Rectangle 42">
              <a:extLst>
                <a:ext uri="{FF2B5EF4-FFF2-40B4-BE49-F238E27FC236}">
                  <a16:creationId xmlns:a16="http://schemas.microsoft.com/office/drawing/2014/main" id="{8A86F624-4D03-42F5-8F4D-ABC48281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5D9D81CB-5D98-4836-96FE-7CC62773E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00" name="Группа 400">
            <a:extLst>
              <a:ext uri="{FF2B5EF4-FFF2-40B4-BE49-F238E27FC236}">
                <a16:creationId xmlns:a16="http://schemas.microsoft.com/office/drawing/2014/main" id="{70A61F8C-0110-48FE-888E-E313D86F5D0A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5473571"/>
            <a:ext cx="300473" cy="135942"/>
            <a:chOff x="10329863" y="3142398"/>
            <a:chExt cx="817563" cy="369887"/>
          </a:xfrm>
          <a:solidFill>
            <a:srgbClr val="000000"/>
          </a:solidFill>
        </p:grpSpPr>
        <p:sp>
          <p:nvSpPr>
            <p:cNvPr id="101" name="Freeform 41">
              <a:extLst>
                <a:ext uri="{FF2B5EF4-FFF2-40B4-BE49-F238E27FC236}">
                  <a16:creationId xmlns:a16="http://schemas.microsoft.com/office/drawing/2014/main" id="{865E91A8-1F1B-4857-BF65-F6E80A3D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02" name="Rectangle 42">
              <a:extLst>
                <a:ext uri="{FF2B5EF4-FFF2-40B4-BE49-F238E27FC236}">
                  <a16:creationId xmlns:a16="http://schemas.microsoft.com/office/drawing/2014/main" id="{9D3E0D91-6209-4105-8F2C-AC159401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03" name="Rectangle 43">
              <a:extLst>
                <a:ext uri="{FF2B5EF4-FFF2-40B4-BE49-F238E27FC236}">
                  <a16:creationId xmlns:a16="http://schemas.microsoft.com/office/drawing/2014/main" id="{142299F7-9827-47B9-A690-95EB68C3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DDB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04" name="Group 260">
            <a:extLst>
              <a:ext uri="{FF2B5EF4-FFF2-40B4-BE49-F238E27FC236}">
                <a16:creationId xmlns:a16="http://schemas.microsoft.com/office/drawing/2014/main" id="{DE1C0D65-D816-40E0-BD6D-FEC442EF407F}"/>
              </a:ext>
            </a:extLst>
          </p:cNvPr>
          <p:cNvGrpSpPr/>
          <p:nvPr/>
        </p:nvGrpSpPr>
        <p:grpSpPr>
          <a:xfrm>
            <a:off x="9318130" y="1262167"/>
            <a:ext cx="2115358" cy="577146"/>
            <a:chOff x="9448288" y="1331617"/>
            <a:chExt cx="2115358" cy="577146"/>
          </a:xfrm>
        </p:grpSpPr>
        <p:sp>
          <p:nvSpPr>
            <p:cNvPr id="105" name="Rectangle 251">
              <a:extLst>
                <a:ext uri="{FF2B5EF4-FFF2-40B4-BE49-F238E27FC236}">
                  <a16:creationId xmlns:a16="http://schemas.microsoft.com/office/drawing/2014/main" id="{6D8CC7B4-1BA0-44EE-BBEF-7AB69A32E45A}"/>
                </a:ext>
              </a:extLst>
            </p:cNvPr>
            <p:cNvSpPr/>
            <p:nvPr/>
          </p:nvSpPr>
          <p:spPr>
            <a:xfrm>
              <a:off x="9635561" y="1331617"/>
              <a:ext cx="192808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D70EF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Подготовить приложение к успешному запуску на рынок</a:t>
              </a:r>
            </a:p>
          </p:txBody>
        </p:sp>
        <p:grpSp>
          <p:nvGrpSpPr>
            <p:cNvPr id="106" name="Группа 105">
              <a:extLst>
                <a:ext uri="{FF2B5EF4-FFF2-40B4-BE49-F238E27FC236}">
                  <a16:creationId xmlns:a16="http://schemas.microsoft.com/office/drawing/2014/main" id="{49820919-E354-4C02-9300-98BD5B0AEC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48288" y="1420974"/>
              <a:ext cx="134248" cy="170805"/>
              <a:chOff x="5133962" y="904822"/>
              <a:chExt cx="694248" cy="883294"/>
            </a:xfrm>
          </p:grpSpPr>
          <p:sp>
            <p:nvSpPr>
              <p:cNvPr id="107" name="Полилиния: фигура 81">
                <a:extLst>
                  <a:ext uri="{FF2B5EF4-FFF2-40B4-BE49-F238E27FC236}">
                    <a16:creationId xmlns:a16="http://schemas.microsoft.com/office/drawing/2014/main" id="{A978C1C5-B719-40BD-AF77-8613681932FC}"/>
                  </a:ext>
                </a:extLst>
              </p:cNvPr>
              <p:cNvSpPr/>
              <p:nvPr/>
            </p:nvSpPr>
            <p:spPr>
              <a:xfrm>
                <a:off x="5133962" y="904822"/>
                <a:ext cx="550836" cy="860478"/>
              </a:xfrm>
              <a:custGeom>
                <a:avLst/>
                <a:gdLst>
                  <a:gd name="connsiteX0" fmla="*/ 237935 w 550836"/>
                  <a:gd name="connsiteY0" fmla="*/ 860479 h 860478"/>
                  <a:gd name="connsiteX1" fmla="*/ 208601 w 550836"/>
                  <a:gd name="connsiteY1" fmla="*/ 853960 h 860478"/>
                  <a:gd name="connsiteX2" fmla="*/ 97782 w 550836"/>
                  <a:gd name="connsiteY2" fmla="*/ 811588 h 860478"/>
                  <a:gd name="connsiteX3" fmla="*/ 9778 w 550836"/>
                  <a:gd name="connsiteY3" fmla="*/ 756178 h 860478"/>
                  <a:gd name="connsiteX4" fmla="*/ 0 w 550836"/>
                  <a:gd name="connsiteY4" fmla="*/ 749659 h 860478"/>
                  <a:gd name="connsiteX5" fmla="*/ 91263 w 550836"/>
                  <a:gd name="connsiteY5" fmla="*/ 554096 h 860478"/>
                  <a:gd name="connsiteX6" fmla="*/ 107560 w 550836"/>
                  <a:gd name="connsiteY6" fmla="*/ 567134 h 860478"/>
                  <a:gd name="connsiteX7" fmla="*/ 176007 w 550836"/>
                  <a:gd name="connsiteY7" fmla="*/ 612765 h 860478"/>
                  <a:gd name="connsiteX8" fmla="*/ 244454 w 550836"/>
                  <a:gd name="connsiteY8" fmla="*/ 642100 h 860478"/>
                  <a:gd name="connsiteX9" fmla="*/ 306382 w 550836"/>
                  <a:gd name="connsiteY9" fmla="*/ 651878 h 860478"/>
                  <a:gd name="connsiteX10" fmla="*/ 387867 w 550836"/>
                  <a:gd name="connsiteY10" fmla="*/ 638840 h 860478"/>
                  <a:gd name="connsiteX11" fmla="*/ 433498 w 550836"/>
                  <a:gd name="connsiteY11" fmla="*/ 606246 h 860478"/>
                  <a:gd name="connsiteX12" fmla="*/ 449795 w 550836"/>
                  <a:gd name="connsiteY12" fmla="*/ 550837 h 860478"/>
                  <a:gd name="connsiteX13" fmla="*/ 430239 w 550836"/>
                  <a:gd name="connsiteY13" fmla="*/ 495427 h 860478"/>
                  <a:gd name="connsiteX14" fmla="*/ 378089 w 550836"/>
                  <a:gd name="connsiteY14" fmla="*/ 462833 h 860478"/>
                  <a:gd name="connsiteX15" fmla="*/ 237935 w 550836"/>
                  <a:gd name="connsiteY15" fmla="*/ 456314 h 860478"/>
                  <a:gd name="connsiteX16" fmla="*/ 162969 w 550836"/>
                  <a:gd name="connsiteY16" fmla="*/ 472611 h 860478"/>
                  <a:gd name="connsiteX17" fmla="*/ 84744 w 550836"/>
                  <a:gd name="connsiteY17" fmla="*/ 505205 h 860478"/>
                  <a:gd name="connsiteX18" fmla="*/ 52150 w 550836"/>
                  <a:gd name="connsiteY18" fmla="*/ 521502 h 860478"/>
                  <a:gd name="connsiteX19" fmla="*/ 176007 w 550836"/>
                  <a:gd name="connsiteY19" fmla="*/ 0 h 860478"/>
                  <a:gd name="connsiteX20" fmla="*/ 550836 w 550836"/>
                  <a:gd name="connsiteY20" fmla="*/ 0 h 860478"/>
                  <a:gd name="connsiteX21" fmla="*/ 550836 w 550836"/>
                  <a:gd name="connsiteY21" fmla="*/ 32594 h 860478"/>
                  <a:gd name="connsiteX22" fmla="*/ 202082 w 550836"/>
                  <a:gd name="connsiteY22" fmla="*/ 32594 h 860478"/>
                  <a:gd name="connsiteX23" fmla="*/ 97782 w 550836"/>
                  <a:gd name="connsiteY23" fmla="*/ 462833 h 860478"/>
                  <a:gd name="connsiteX24" fmla="*/ 153191 w 550836"/>
                  <a:gd name="connsiteY24" fmla="*/ 443277 h 860478"/>
                  <a:gd name="connsiteX25" fmla="*/ 234676 w 550836"/>
                  <a:gd name="connsiteY25" fmla="*/ 426980 h 860478"/>
                  <a:gd name="connsiteX26" fmla="*/ 387867 w 550836"/>
                  <a:gd name="connsiteY26" fmla="*/ 436758 h 860478"/>
                  <a:gd name="connsiteX27" fmla="*/ 453055 w 550836"/>
                  <a:gd name="connsiteY27" fmla="*/ 479130 h 860478"/>
                  <a:gd name="connsiteX28" fmla="*/ 479130 w 550836"/>
                  <a:gd name="connsiteY28" fmla="*/ 557356 h 860478"/>
                  <a:gd name="connsiteX29" fmla="*/ 456314 w 550836"/>
                  <a:gd name="connsiteY29" fmla="*/ 632321 h 860478"/>
                  <a:gd name="connsiteX30" fmla="*/ 394386 w 550836"/>
                  <a:gd name="connsiteY30" fmla="*/ 677953 h 860478"/>
                  <a:gd name="connsiteX31" fmla="*/ 303123 w 550836"/>
                  <a:gd name="connsiteY31" fmla="*/ 690991 h 860478"/>
                  <a:gd name="connsiteX32" fmla="*/ 231416 w 550836"/>
                  <a:gd name="connsiteY32" fmla="*/ 677953 h 860478"/>
                  <a:gd name="connsiteX33" fmla="*/ 156451 w 550836"/>
                  <a:gd name="connsiteY33" fmla="*/ 645359 h 860478"/>
                  <a:gd name="connsiteX34" fmla="*/ 101041 w 550836"/>
                  <a:gd name="connsiteY34" fmla="*/ 609506 h 860478"/>
                  <a:gd name="connsiteX35" fmla="*/ 39113 w 550836"/>
                  <a:gd name="connsiteY35" fmla="*/ 743141 h 860478"/>
                  <a:gd name="connsiteX36" fmla="*/ 110819 w 550836"/>
                  <a:gd name="connsiteY36" fmla="*/ 785513 h 860478"/>
                  <a:gd name="connsiteX37" fmla="*/ 215119 w 550836"/>
                  <a:gd name="connsiteY37" fmla="*/ 824625 h 860478"/>
                  <a:gd name="connsiteX38" fmla="*/ 241195 w 550836"/>
                  <a:gd name="connsiteY38" fmla="*/ 831144 h 860478"/>
                  <a:gd name="connsiteX39" fmla="*/ 237935 w 550836"/>
                  <a:gd name="connsiteY39" fmla="*/ 860479 h 86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50836" h="860478">
                    <a:moveTo>
                      <a:pt x="237935" y="860479"/>
                    </a:moveTo>
                    <a:cubicBezTo>
                      <a:pt x="228157" y="857219"/>
                      <a:pt x="218379" y="857219"/>
                      <a:pt x="208601" y="853960"/>
                    </a:cubicBezTo>
                    <a:cubicBezTo>
                      <a:pt x="169488" y="844182"/>
                      <a:pt x="130375" y="831144"/>
                      <a:pt x="97782" y="811588"/>
                    </a:cubicBezTo>
                    <a:cubicBezTo>
                      <a:pt x="65188" y="795291"/>
                      <a:pt x="35853" y="775735"/>
                      <a:pt x="9778" y="756178"/>
                    </a:cubicBezTo>
                    <a:lnTo>
                      <a:pt x="0" y="749659"/>
                    </a:lnTo>
                    <a:lnTo>
                      <a:pt x="91263" y="554096"/>
                    </a:lnTo>
                    <a:lnTo>
                      <a:pt x="107560" y="567134"/>
                    </a:lnTo>
                    <a:cubicBezTo>
                      <a:pt x="130375" y="586690"/>
                      <a:pt x="153191" y="599728"/>
                      <a:pt x="176007" y="612765"/>
                    </a:cubicBezTo>
                    <a:cubicBezTo>
                      <a:pt x="198823" y="625803"/>
                      <a:pt x="221638" y="635581"/>
                      <a:pt x="244454" y="642100"/>
                    </a:cubicBezTo>
                    <a:cubicBezTo>
                      <a:pt x="267270" y="648618"/>
                      <a:pt x="286826" y="651878"/>
                      <a:pt x="306382" y="651878"/>
                    </a:cubicBezTo>
                    <a:cubicBezTo>
                      <a:pt x="338976" y="651878"/>
                      <a:pt x="365051" y="648618"/>
                      <a:pt x="387867" y="638840"/>
                    </a:cubicBezTo>
                    <a:cubicBezTo>
                      <a:pt x="407423" y="632321"/>
                      <a:pt x="423720" y="619284"/>
                      <a:pt x="433498" y="606246"/>
                    </a:cubicBezTo>
                    <a:cubicBezTo>
                      <a:pt x="443276" y="589949"/>
                      <a:pt x="449795" y="573652"/>
                      <a:pt x="449795" y="550837"/>
                    </a:cubicBezTo>
                    <a:cubicBezTo>
                      <a:pt x="449795" y="528021"/>
                      <a:pt x="443276" y="508465"/>
                      <a:pt x="430239" y="495427"/>
                    </a:cubicBezTo>
                    <a:cubicBezTo>
                      <a:pt x="417201" y="482390"/>
                      <a:pt x="400904" y="469352"/>
                      <a:pt x="378089" y="462833"/>
                    </a:cubicBezTo>
                    <a:cubicBezTo>
                      <a:pt x="338976" y="449796"/>
                      <a:pt x="293345" y="449796"/>
                      <a:pt x="237935" y="456314"/>
                    </a:cubicBezTo>
                    <a:cubicBezTo>
                      <a:pt x="215119" y="459574"/>
                      <a:pt x="189044" y="462833"/>
                      <a:pt x="162969" y="472611"/>
                    </a:cubicBezTo>
                    <a:cubicBezTo>
                      <a:pt x="136894" y="479130"/>
                      <a:pt x="110819" y="488908"/>
                      <a:pt x="84744" y="505205"/>
                    </a:cubicBezTo>
                    <a:lnTo>
                      <a:pt x="52150" y="521502"/>
                    </a:lnTo>
                    <a:lnTo>
                      <a:pt x="176007" y="0"/>
                    </a:lnTo>
                    <a:lnTo>
                      <a:pt x="550836" y="0"/>
                    </a:lnTo>
                    <a:lnTo>
                      <a:pt x="550836" y="32594"/>
                    </a:lnTo>
                    <a:lnTo>
                      <a:pt x="202082" y="32594"/>
                    </a:lnTo>
                    <a:lnTo>
                      <a:pt x="97782" y="462833"/>
                    </a:lnTo>
                    <a:cubicBezTo>
                      <a:pt x="117338" y="456314"/>
                      <a:pt x="133635" y="449796"/>
                      <a:pt x="153191" y="443277"/>
                    </a:cubicBezTo>
                    <a:cubicBezTo>
                      <a:pt x="179266" y="436758"/>
                      <a:pt x="208601" y="430239"/>
                      <a:pt x="234676" y="426980"/>
                    </a:cubicBezTo>
                    <a:cubicBezTo>
                      <a:pt x="296604" y="420461"/>
                      <a:pt x="342236" y="420461"/>
                      <a:pt x="387867" y="436758"/>
                    </a:cubicBezTo>
                    <a:cubicBezTo>
                      <a:pt x="413942" y="446536"/>
                      <a:pt x="436758" y="459574"/>
                      <a:pt x="453055" y="479130"/>
                    </a:cubicBezTo>
                    <a:cubicBezTo>
                      <a:pt x="472611" y="498687"/>
                      <a:pt x="479130" y="524762"/>
                      <a:pt x="479130" y="557356"/>
                    </a:cubicBezTo>
                    <a:cubicBezTo>
                      <a:pt x="479130" y="586690"/>
                      <a:pt x="472611" y="612765"/>
                      <a:pt x="456314" y="632321"/>
                    </a:cubicBezTo>
                    <a:cubicBezTo>
                      <a:pt x="443276" y="651878"/>
                      <a:pt x="420461" y="668175"/>
                      <a:pt x="394386" y="677953"/>
                    </a:cubicBezTo>
                    <a:cubicBezTo>
                      <a:pt x="368311" y="687731"/>
                      <a:pt x="338976" y="690991"/>
                      <a:pt x="303123" y="690991"/>
                    </a:cubicBezTo>
                    <a:cubicBezTo>
                      <a:pt x="283567" y="690991"/>
                      <a:pt x="257491" y="687731"/>
                      <a:pt x="231416" y="677953"/>
                    </a:cubicBezTo>
                    <a:cubicBezTo>
                      <a:pt x="205341" y="671434"/>
                      <a:pt x="182526" y="658397"/>
                      <a:pt x="156451" y="645359"/>
                    </a:cubicBezTo>
                    <a:cubicBezTo>
                      <a:pt x="136894" y="635581"/>
                      <a:pt x="117338" y="622543"/>
                      <a:pt x="101041" y="609506"/>
                    </a:cubicBezTo>
                    <a:lnTo>
                      <a:pt x="39113" y="743141"/>
                    </a:lnTo>
                    <a:cubicBezTo>
                      <a:pt x="61928" y="759438"/>
                      <a:pt x="84744" y="772475"/>
                      <a:pt x="110819" y="785513"/>
                    </a:cubicBezTo>
                    <a:cubicBezTo>
                      <a:pt x="140154" y="801810"/>
                      <a:pt x="176007" y="814847"/>
                      <a:pt x="215119" y="824625"/>
                    </a:cubicBezTo>
                    <a:cubicBezTo>
                      <a:pt x="224898" y="827885"/>
                      <a:pt x="231416" y="827885"/>
                      <a:pt x="241195" y="831144"/>
                    </a:cubicBezTo>
                    <a:lnTo>
                      <a:pt x="237935" y="860479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08" name="Полилиния: фигура 82">
                <a:extLst>
                  <a:ext uri="{FF2B5EF4-FFF2-40B4-BE49-F238E27FC236}">
                    <a16:creationId xmlns:a16="http://schemas.microsoft.com/office/drawing/2014/main" id="{BDEFF326-42CD-4B95-86E1-9DE8D792182E}"/>
                  </a:ext>
                </a:extLst>
              </p:cNvPr>
              <p:cNvSpPr/>
              <p:nvPr/>
            </p:nvSpPr>
            <p:spPr>
              <a:xfrm>
                <a:off x="5397972" y="904822"/>
                <a:ext cx="430238" cy="853959"/>
              </a:xfrm>
              <a:custGeom>
                <a:avLst/>
                <a:gdLst>
                  <a:gd name="connsiteX0" fmla="*/ 202082 w 430238"/>
                  <a:gd name="connsiteY0" fmla="*/ 853960 h 853959"/>
                  <a:gd name="connsiteX1" fmla="*/ 195563 w 430238"/>
                  <a:gd name="connsiteY1" fmla="*/ 821366 h 853959"/>
                  <a:gd name="connsiteX2" fmla="*/ 202082 w 430238"/>
                  <a:gd name="connsiteY2" fmla="*/ 821366 h 853959"/>
                  <a:gd name="connsiteX3" fmla="*/ 303123 w 430238"/>
                  <a:gd name="connsiteY3" fmla="*/ 772475 h 853959"/>
                  <a:gd name="connsiteX4" fmla="*/ 374829 w 430238"/>
                  <a:gd name="connsiteY4" fmla="*/ 690991 h 853959"/>
                  <a:gd name="connsiteX5" fmla="*/ 400904 w 430238"/>
                  <a:gd name="connsiteY5" fmla="*/ 573652 h 853959"/>
                  <a:gd name="connsiteX6" fmla="*/ 368311 w 430238"/>
                  <a:gd name="connsiteY6" fmla="*/ 436758 h 853959"/>
                  <a:gd name="connsiteX7" fmla="*/ 283567 w 430238"/>
                  <a:gd name="connsiteY7" fmla="*/ 352014 h 853959"/>
                  <a:gd name="connsiteX8" fmla="*/ 169488 w 430238"/>
                  <a:gd name="connsiteY8" fmla="*/ 322680 h 853959"/>
                  <a:gd name="connsiteX9" fmla="*/ 97782 w 430238"/>
                  <a:gd name="connsiteY9" fmla="*/ 329198 h 853959"/>
                  <a:gd name="connsiteX10" fmla="*/ 32594 w 430238"/>
                  <a:gd name="connsiteY10" fmla="*/ 348755 h 853959"/>
                  <a:gd name="connsiteX11" fmla="*/ 0 w 430238"/>
                  <a:gd name="connsiteY11" fmla="*/ 365052 h 853959"/>
                  <a:gd name="connsiteX12" fmla="*/ 61928 w 430238"/>
                  <a:gd name="connsiteY12" fmla="*/ 172748 h 853959"/>
                  <a:gd name="connsiteX13" fmla="*/ 384608 w 430238"/>
                  <a:gd name="connsiteY13" fmla="*/ 172748 h 853959"/>
                  <a:gd name="connsiteX14" fmla="*/ 384608 w 430238"/>
                  <a:gd name="connsiteY14" fmla="*/ 32594 h 853959"/>
                  <a:gd name="connsiteX15" fmla="*/ 283567 w 430238"/>
                  <a:gd name="connsiteY15" fmla="*/ 32594 h 853959"/>
                  <a:gd name="connsiteX16" fmla="*/ 283567 w 430238"/>
                  <a:gd name="connsiteY16" fmla="*/ 0 h 853959"/>
                  <a:gd name="connsiteX17" fmla="*/ 417201 w 430238"/>
                  <a:gd name="connsiteY17" fmla="*/ 0 h 853959"/>
                  <a:gd name="connsiteX18" fmla="*/ 417201 w 430238"/>
                  <a:gd name="connsiteY18" fmla="*/ 205342 h 853959"/>
                  <a:gd name="connsiteX19" fmla="*/ 81485 w 430238"/>
                  <a:gd name="connsiteY19" fmla="*/ 205342 h 853959"/>
                  <a:gd name="connsiteX20" fmla="*/ 48891 w 430238"/>
                  <a:gd name="connsiteY20" fmla="*/ 306383 h 853959"/>
                  <a:gd name="connsiteX21" fmla="*/ 88003 w 430238"/>
                  <a:gd name="connsiteY21" fmla="*/ 296604 h 853959"/>
                  <a:gd name="connsiteX22" fmla="*/ 166229 w 430238"/>
                  <a:gd name="connsiteY22" fmla="*/ 290086 h 853959"/>
                  <a:gd name="connsiteX23" fmla="*/ 296604 w 430238"/>
                  <a:gd name="connsiteY23" fmla="*/ 322680 h 853959"/>
                  <a:gd name="connsiteX24" fmla="*/ 394386 w 430238"/>
                  <a:gd name="connsiteY24" fmla="*/ 420461 h 853959"/>
                  <a:gd name="connsiteX25" fmla="*/ 430239 w 430238"/>
                  <a:gd name="connsiteY25" fmla="*/ 573652 h 853959"/>
                  <a:gd name="connsiteX26" fmla="*/ 400904 w 430238"/>
                  <a:gd name="connsiteY26" fmla="*/ 707287 h 853959"/>
                  <a:gd name="connsiteX27" fmla="*/ 319420 w 430238"/>
                  <a:gd name="connsiteY27" fmla="*/ 798550 h 853959"/>
                  <a:gd name="connsiteX28" fmla="*/ 208601 w 430238"/>
                  <a:gd name="connsiteY28" fmla="*/ 850701 h 853959"/>
                  <a:gd name="connsiteX29" fmla="*/ 202082 w 430238"/>
                  <a:gd name="connsiteY29" fmla="*/ 853960 h 85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0238" h="853959">
                    <a:moveTo>
                      <a:pt x="202082" y="853960"/>
                    </a:moveTo>
                    <a:lnTo>
                      <a:pt x="195563" y="821366"/>
                    </a:lnTo>
                    <a:lnTo>
                      <a:pt x="202082" y="821366"/>
                    </a:lnTo>
                    <a:cubicBezTo>
                      <a:pt x="237935" y="811588"/>
                      <a:pt x="273788" y="795291"/>
                      <a:pt x="303123" y="772475"/>
                    </a:cubicBezTo>
                    <a:cubicBezTo>
                      <a:pt x="332457" y="752919"/>
                      <a:pt x="358532" y="723584"/>
                      <a:pt x="374829" y="690991"/>
                    </a:cubicBezTo>
                    <a:cubicBezTo>
                      <a:pt x="391126" y="658397"/>
                      <a:pt x="400904" y="619284"/>
                      <a:pt x="400904" y="573652"/>
                    </a:cubicBezTo>
                    <a:cubicBezTo>
                      <a:pt x="400904" y="518243"/>
                      <a:pt x="391126" y="472611"/>
                      <a:pt x="368311" y="436758"/>
                    </a:cubicBezTo>
                    <a:cubicBezTo>
                      <a:pt x="345495" y="400905"/>
                      <a:pt x="316160" y="371570"/>
                      <a:pt x="283567" y="352014"/>
                    </a:cubicBezTo>
                    <a:cubicBezTo>
                      <a:pt x="247713" y="332458"/>
                      <a:pt x="208601" y="322680"/>
                      <a:pt x="169488" y="322680"/>
                    </a:cubicBezTo>
                    <a:cubicBezTo>
                      <a:pt x="143413" y="322680"/>
                      <a:pt x="120597" y="325939"/>
                      <a:pt x="97782" y="329198"/>
                    </a:cubicBezTo>
                    <a:cubicBezTo>
                      <a:pt x="74966" y="332458"/>
                      <a:pt x="52150" y="338976"/>
                      <a:pt x="32594" y="348755"/>
                    </a:cubicBezTo>
                    <a:lnTo>
                      <a:pt x="0" y="365052"/>
                    </a:lnTo>
                    <a:lnTo>
                      <a:pt x="61928" y="172748"/>
                    </a:lnTo>
                    <a:lnTo>
                      <a:pt x="384608" y="172748"/>
                    </a:lnTo>
                    <a:lnTo>
                      <a:pt x="384608" y="32594"/>
                    </a:lnTo>
                    <a:lnTo>
                      <a:pt x="283567" y="32594"/>
                    </a:lnTo>
                    <a:lnTo>
                      <a:pt x="283567" y="0"/>
                    </a:lnTo>
                    <a:lnTo>
                      <a:pt x="417201" y="0"/>
                    </a:lnTo>
                    <a:lnTo>
                      <a:pt x="417201" y="205342"/>
                    </a:lnTo>
                    <a:lnTo>
                      <a:pt x="81485" y="205342"/>
                    </a:lnTo>
                    <a:lnTo>
                      <a:pt x="48891" y="306383"/>
                    </a:lnTo>
                    <a:cubicBezTo>
                      <a:pt x="61928" y="303123"/>
                      <a:pt x="74966" y="299864"/>
                      <a:pt x="88003" y="296604"/>
                    </a:cubicBezTo>
                    <a:cubicBezTo>
                      <a:pt x="114079" y="293345"/>
                      <a:pt x="140154" y="290086"/>
                      <a:pt x="166229" y="290086"/>
                    </a:cubicBezTo>
                    <a:cubicBezTo>
                      <a:pt x="211860" y="290086"/>
                      <a:pt x="257491" y="299864"/>
                      <a:pt x="296604" y="322680"/>
                    </a:cubicBezTo>
                    <a:cubicBezTo>
                      <a:pt x="335717" y="345495"/>
                      <a:pt x="368311" y="378089"/>
                      <a:pt x="394386" y="420461"/>
                    </a:cubicBezTo>
                    <a:cubicBezTo>
                      <a:pt x="420461" y="462833"/>
                      <a:pt x="430239" y="514983"/>
                      <a:pt x="430239" y="573652"/>
                    </a:cubicBezTo>
                    <a:cubicBezTo>
                      <a:pt x="430239" y="625803"/>
                      <a:pt x="420461" y="668175"/>
                      <a:pt x="400904" y="707287"/>
                    </a:cubicBezTo>
                    <a:cubicBezTo>
                      <a:pt x="381348" y="743141"/>
                      <a:pt x="352014" y="775735"/>
                      <a:pt x="319420" y="798550"/>
                    </a:cubicBezTo>
                    <a:cubicBezTo>
                      <a:pt x="286826" y="821366"/>
                      <a:pt x="247713" y="840922"/>
                      <a:pt x="208601" y="850701"/>
                    </a:cubicBezTo>
                    <a:lnTo>
                      <a:pt x="202082" y="853960"/>
                    </a:lnTo>
                    <a:close/>
                  </a:path>
                </a:pathLst>
              </a:custGeom>
              <a:solidFill>
                <a:srgbClr val="FFFFFF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09" name="Полилиния: фигура 83">
                <a:extLst>
                  <a:ext uri="{FF2B5EF4-FFF2-40B4-BE49-F238E27FC236}">
                    <a16:creationId xmlns:a16="http://schemas.microsoft.com/office/drawing/2014/main" id="{2D4821B6-1BDA-4394-96BE-1060D77EEBA2}"/>
                  </a:ext>
                </a:extLst>
              </p:cNvPr>
              <p:cNvSpPr/>
              <p:nvPr/>
            </p:nvSpPr>
            <p:spPr>
              <a:xfrm>
                <a:off x="5453381" y="170989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0" name="Группа 116">
            <a:extLst>
              <a:ext uri="{FF2B5EF4-FFF2-40B4-BE49-F238E27FC236}">
                <a16:creationId xmlns:a16="http://schemas.microsoft.com/office/drawing/2014/main" id="{EF794FCB-31B5-4955-AACB-E51A11AB16A6}"/>
              </a:ext>
            </a:extLst>
          </p:cNvPr>
          <p:cNvGrpSpPr>
            <a:grpSpLocks noChangeAspect="1"/>
          </p:cNvGrpSpPr>
          <p:nvPr/>
        </p:nvGrpSpPr>
        <p:grpSpPr>
          <a:xfrm>
            <a:off x="7696262" y="2830830"/>
            <a:ext cx="446411" cy="528362"/>
            <a:chOff x="10272713" y="839121"/>
            <a:chExt cx="787400" cy="903288"/>
          </a:xfrm>
        </p:grpSpPr>
        <p:sp>
          <p:nvSpPr>
            <p:cNvPr id="111" name="Freeform 5">
              <a:extLst>
                <a:ext uri="{FF2B5EF4-FFF2-40B4-BE49-F238E27FC236}">
                  <a16:creationId xmlns:a16="http://schemas.microsoft.com/office/drawing/2014/main" id="{D8CB238B-4CCF-4E5A-8DFC-5EA3B0ECF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1813" y="1499521"/>
              <a:ext cx="166688" cy="87313"/>
            </a:xfrm>
            <a:custGeom>
              <a:avLst/>
              <a:gdLst>
                <a:gd name="T0" fmla="*/ 12 w 23"/>
                <a:gd name="T1" fmla="*/ 0 h 12"/>
                <a:gd name="T2" fmla="*/ 20 w 23"/>
                <a:gd name="T3" fmla="*/ 2 h 12"/>
                <a:gd name="T4" fmla="*/ 22 w 23"/>
                <a:gd name="T5" fmla="*/ 3 h 12"/>
                <a:gd name="T6" fmla="*/ 22 w 23"/>
                <a:gd name="T7" fmla="*/ 8 h 12"/>
                <a:gd name="T8" fmla="*/ 19 w 23"/>
                <a:gd name="T9" fmla="*/ 11 h 12"/>
                <a:gd name="T10" fmla="*/ 10 w 23"/>
                <a:gd name="T11" fmla="*/ 12 h 12"/>
                <a:gd name="T12" fmla="*/ 4 w 23"/>
                <a:gd name="T13" fmla="*/ 10 h 12"/>
                <a:gd name="T14" fmla="*/ 2 w 23"/>
                <a:gd name="T15" fmla="*/ 8 h 12"/>
                <a:gd name="T16" fmla="*/ 2 w 23"/>
                <a:gd name="T17" fmla="*/ 3 h 12"/>
                <a:gd name="T18" fmla="*/ 6 w 23"/>
                <a:gd name="T19" fmla="*/ 1 h 12"/>
                <a:gd name="T20" fmla="*/ 12 w 2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2">
                  <a:moveTo>
                    <a:pt x="12" y="0"/>
                  </a:moveTo>
                  <a:cubicBezTo>
                    <a:pt x="15" y="0"/>
                    <a:pt x="17" y="0"/>
                    <a:pt x="20" y="2"/>
                  </a:cubicBezTo>
                  <a:cubicBezTo>
                    <a:pt x="21" y="2"/>
                    <a:pt x="22" y="3"/>
                    <a:pt x="22" y="3"/>
                  </a:cubicBezTo>
                  <a:cubicBezTo>
                    <a:pt x="23" y="5"/>
                    <a:pt x="23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6" y="12"/>
                    <a:pt x="13" y="12"/>
                    <a:pt x="10" y="12"/>
                  </a:cubicBezTo>
                  <a:cubicBezTo>
                    <a:pt x="8" y="12"/>
                    <a:pt x="6" y="11"/>
                    <a:pt x="4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7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2" name="Freeform 6">
              <a:extLst>
                <a:ext uri="{FF2B5EF4-FFF2-40B4-BE49-F238E27FC236}">
                  <a16:creationId xmlns:a16="http://schemas.microsoft.com/office/drawing/2014/main" id="{0FEF0B9D-FA84-4995-AEE0-0ED220F23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580484"/>
              <a:ext cx="174625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4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7" y="0"/>
                    <a:pt x="10" y="0"/>
                    <a:pt x="1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3" name="Freeform 7">
              <a:extLst>
                <a:ext uri="{FF2B5EF4-FFF2-40B4-BE49-F238E27FC236}">
                  <a16:creationId xmlns:a16="http://schemas.microsoft.com/office/drawing/2014/main" id="{A649D00A-3DB7-4E61-9CBF-EA2DD185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1426496"/>
              <a:ext cx="173038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5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4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4" name="Freeform 8">
              <a:extLst>
                <a:ext uri="{FF2B5EF4-FFF2-40B4-BE49-F238E27FC236}">
                  <a16:creationId xmlns:a16="http://schemas.microsoft.com/office/drawing/2014/main" id="{2BD5F957-BB6A-427A-8BCA-84487D8C2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07459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6 w 22"/>
                <a:gd name="T3" fmla="*/ 5 h 12"/>
                <a:gd name="T4" fmla="*/ 17 w 22"/>
                <a:gd name="T5" fmla="*/ 4 h 12"/>
                <a:gd name="T6" fmla="*/ 21 w 22"/>
                <a:gd name="T7" fmla="*/ 2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4 h 12"/>
                <a:gd name="T14" fmla="*/ 20 w 22"/>
                <a:gd name="T15" fmla="*/ 9 h 12"/>
                <a:gd name="T16" fmla="*/ 15 w 22"/>
                <a:gd name="T17" fmla="*/ 11 h 12"/>
                <a:gd name="T18" fmla="*/ 5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  <a:gd name="T26" fmla="*/ 0 w 22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3" y="4"/>
                    <a:pt x="6" y="5"/>
                  </a:cubicBezTo>
                  <a:cubicBezTo>
                    <a:pt x="10" y="6"/>
                    <a:pt x="14" y="6"/>
                    <a:pt x="17" y="4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8"/>
                    <a:pt x="20" y="9"/>
                  </a:cubicBezTo>
                  <a:cubicBezTo>
                    <a:pt x="19" y="10"/>
                    <a:pt x="17" y="10"/>
                    <a:pt x="15" y="11"/>
                  </a:cubicBezTo>
                  <a:cubicBezTo>
                    <a:pt x="12" y="12"/>
                    <a:pt x="8" y="11"/>
                    <a:pt x="5" y="10"/>
                  </a:cubicBezTo>
                  <a:cubicBezTo>
                    <a:pt x="4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5" name="Freeform 9">
              <a:extLst>
                <a:ext uri="{FF2B5EF4-FFF2-40B4-BE49-F238E27FC236}">
                  <a16:creationId xmlns:a16="http://schemas.microsoft.com/office/drawing/2014/main" id="{D0719E8D-F194-446A-9F05-3FD6CAFC6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661446"/>
              <a:ext cx="158750" cy="80963"/>
            </a:xfrm>
            <a:custGeom>
              <a:avLst/>
              <a:gdLst>
                <a:gd name="T0" fmla="*/ 22 w 22"/>
                <a:gd name="T1" fmla="*/ 0 h 11"/>
                <a:gd name="T2" fmla="*/ 22 w 22"/>
                <a:gd name="T3" fmla="*/ 0 h 11"/>
                <a:gd name="T4" fmla="*/ 22 w 22"/>
                <a:gd name="T5" fmla="*/ 5 h 11"/>
                <a:gd name="T6" fmla="*/ 21 w 22"/>
                <a:gd name="T7" fmla="*/ 8 h 11"/>
                <a:gd name="T8" fmla="*/ 15 w 22"/>
                <a:gd name="T9" fmla="*/ 11 h 11"/>
                <a:gd name="T10" fmla="*/ 4 w 22"/>
                <a:gd name="T11" fmla="*/ 10 h 11"/>
                <a:gd name="T12" fmla="*/ 1 w 22"/>
                <a:gd name="T13" fmla="*/ 8 h 11"/>
                <a:gd name="T14" fmla="*/ 0 w 22"/>
                <a:gd name="T15" fmla="*/ 4 h 11"/>
                <a:gd name="T16" fmla="*/ 0 w 22"/>
                <a:gd name="T17" fmla="*/ 0 h 11"/>
                <a:gd name="T18" fmla="*/ 1 w 22"/>
                <a:gd name="T19" fmla="*/ 1 h 11"/>
                <a:gd name="T20" fmla="*/ 3 w 22"/>
                <a:gd name="T21" fmla="*/ 3 h 11"/>
                <a:gd name="T22" fmla="*/ 9 w 22"/>
                <a:gd name="T23" fmla="*/ 5 h 11"/>
                <a:gd name="T24" fmla="*/ 18 w 22"/>
                <a:gd name="T25" fmla="*/ 4 h 11"/>
                <a:gd name="T26" fmla="*/ 20 w 22"/>
                <a:gd name="T27" fmla="*/ 3 h 11"/>
                <a:gd name="T28" fmla="*/ 22 w 22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7" y="10"/>
                    <a:pt x="15" y="11"/>
                  </a:cubicBezTo>
                  <a:cubicBezTo>
                    <a:pt x="12" y="11"/>
                    <a:pt x="8" y="11"/>
                    <a:pt x="4" y="10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0" y="7"/>
                    <a:pt x="0" y="6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7" y="5"/>
                    <a:pt x="9" y="5"/>
                  </a:cubicBezTo>
                  <a:cubicBezTo>
                    <a:pt x="12" y="5"/>
                    <a:pt x="15" y="5"/>
                    <a:pt x="18" y="4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1" y="2"/>
                    <a:pt x="22" y="1"/>
                    <a:pt x="2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6" name="Freeform 10">
              <a:extLst>
                <a:ext uri="{FF2B5EF4-FFF2-40B4-BE49-F238E27FC236}">
                  <a16:creationId xmlns:a16="http://schemas.microsoft.com/office/drawing/2014/main" id="{ED6C401E-80D8-4F3B-9F6D-489F17908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2 w 22"/>
                <a:gd name="T5" fmla="*/ 6 h 12"/>
                <a:gd name="T6" fmla="*/ 19 w 22"/>
                <a:gd name="T7" fmla="*/ 4 h 12"/>
                <a:gd name="T8" fmla="*/ 21 w 22"/>
                <a:gd name="T9" fmla="*/ 2 h 12"/>
                <a:gd name="T10" fmla="*/ 22 w 22"/>
                <a:gd name="T11" fmla="*/ 0 h 12"/>
                <a:gd name="T12" fmla="*/ 22 w 22"/>
                <a:gd name="T13" fmla="*/ 1 h 12"/>
                <a:gd name="T14" fmla="*/ 22 w 22"/>
                <a:gd name="T15" fmla="*/ 5 h 12"/>
                <a:gd name="T16" fmla="*/ 21 w 22"/>
                <a:gd name="T17" fmla="*/ 8 h 12"/>
                <a:gd name="T18" fmla="*/ 17 w 22"/>
                <a:gd name="T19" fmla="*/ 11 h 12"/>
                <a:gd name="T20" fmla="*/ 4 w 22"/>
                <a:gd name="T21" fmla="*/ 10 h 12"/>
                <a:gd name="T22" fmla="*/ 1 w 22"/>
                <a:gd name="T23" fmla="*/ 9 h 12"/>
                <a:gd name="T24" fmla="*/ 0 w 22"/>
                <a:gd name="T25" fmla="*/ 5 h 12"/>
                <a:gd name="T26" fmla="*/ 0 w 22"/>
                <a:gd name="T27" fmla="*/ 1 h 12"/>
                <a:gd name="T28" fmla="*/ 0 w 22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3"/>
                    <a:pt x="2" y="4"/>
                    <a:pt x="4" y="4"/>
                  </a:cubicBezTo>
                  <a:cubicBezTo>
                    <a:pt x="7" y="5"/>
                    <a:pt x="9" y="6"/>
                    <a:pt x="12" y="6"/>
                  </a:cubicBezTo>
                  <a:cubicBezTo>
                    <a:pt x="14" y="5"/>
                    <a:pt x="17" y="5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8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8"/>
                    <a:pt x="0" y="7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7" name="Freeform 11">
              <a:extLst>
                <a:ext uri="{FF2B5EF4-FFF2-40B4-BE49-F238E27FC236}">
                  <a16:creationId xmlns:a16="http://schemas.microsoft.com/office/drawing/2014/main" id="{23D40968-1CDA-49BE-BA1C-BB18710E3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661446"/>
              <a:ext cx="158750" cy="80963"/>
            </a:xfrm>
            <a:custGeom>
              <a:avLst/>
              <a:gdLst>
                <a:gd name="T0" fmla="*/ 0 w 22"/>
                <a:gd name="T1" fmla="*/ 0 h 11"/>
                <a:gd name="T2" fmla="*/ 4 w 22"/>
                <a:gd name="T3" fmla="*/ 4 h 11"/>
                <a:gd name="T4" fmla="*/ 18 w 22"/>
                <a:gd name="T5" fmla="*/ 4 h 11"/>
                <a:gd name="T6" fmla="*/ 21 w 22"/>
                <a:gd name="T7" fmla="*/ 2 h 11"/>
                <a:gd name="T8" fmla="*/ 22 w 22"/>
                <a:gd name="T9" fmla="*/ 0 h 11"/>
                <a:gd name="T10" fmla="*/ 22 w 22"/>
                <a:gd name="T11" fmla="*/ 0 h 11"/>
                <a:gd name="T12" fmla="*/ 22 w 22"/>
                <a:gd name="T13" fmla="*/ 4 h 11"/>
                <a:gd name="T14" fmla="*/ 21 w 22"/>
                <a:gd name="T15" fmla="*/ 8 h 11"/>
                <a:gd name="T16" fmla="*/ 16 w 22"/>
                <a:gd name="T17" fmla="*/ 10 h 11"/>
                <a:gd name="T18" fmla="*/ 3 w 22"/>
                <a:gd name="T19" fmla="*/ 9 h 11"/>
                <a:gd name="T20" fmla="*/ 0 w 22"/>
                <a:gd name="T21" fmla="*/ 7 h 11"/>
                <a:gd name="T22" fmla="*/ 0 w 22"/>
                <a:gd name="T23" fmla="*/ 5 h 11"/>
                <a:gd name="T24" fmla="*/ 0 w 22"/>
                <a:gd name="T25" fmla="*/ 0 h 11"/>
                <a:gd name="T26" fmla="*/ 0 w 2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1">
                  <a:moveTo>
                    <a:pt x="0" y="0"/>
                  </a:moveTo>
                  <a:cubicBezTo>
                    <a:pt x="0" y="2"/>
                    <a:pt x="2" y="3"/>
                    <a:pt x="4" y="4"/>
                  </a:cubicBezTo>
                  <a:cubicBezTo>
                    <a:pt x="9" y="6"/>
                    <a:pt x="14" y="5"/>
                    <a:pt x="18" y="4"/>
                  </a:cubicBezTo>
                  <a:cubicBezTo>
                    <a:pt x="19" y="3"/>
                    <a:pt x="20" y="3"/>
                    <a:pt x="21" y="2"/>
                  </a:cubicBezTo>
                  <a:cubicBezTo>
                    <a:pt x="21" y="1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8" y="10"/>
                    <a:pt x="16" y="10"/>
                  </a:cubicBezTo>
                  <a:cubicBezTo>
                    <a:pt x="12" y="11"/>
                    <a:pt x="7" y="11"/>
                    <a:pt x="3" y="9"/>
                  </a:cubicBezTo>
                  <a:cubicBezTo>
                    <a:pt x="2" y="9"/>
                    <a:pt x="1" y="8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8" name="Freeform 12">
              <a:extLst>
                <a:ext uri="{FF2B5EF4-FFF2-40B4-BE49-F238E27FC236}">
                  <a16:creationId xmlns:a16="http://schemas.microsoft.com/office/drawing/2014/main" id="{8051C0C4-7E5E-4A84-BFF3-54F94F176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8 w 22"/>
                <a:gd name="T5" fmla="*/ 4 h 12"/>
                <a:gd name="T6" fmla="*/ 21 w 22"/>
                <a:gd name="T7" fmla="*/ 3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5 h 12"/>
                <a:gd name="T14" fmla="*/ 21 w 22"/>
                <a:gd name="T15" fmla="*/ 8 h 12"/>
                <a:gd name="T16" fmla="*/ 17 w 22"/>
                <a:gd name="T17" fmla="*/ 11 h 12"/>
                <a:gd name="T18" fmla="*/ 4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2" y="4"/>
                    <a:pt x="4" y="4"/>
                  </a:cubicBezTo>
                  <a:cubicBezTo>
                    <a:pt x="9" y="6"/>
                    <a:pt x="13" y="6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9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2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9" name="Freeform 13">
              <a:extLst>
                <a:ext uri="{FF2B5EF4-FFF2-40B4-BE49-F238E27FC236}">
                  <a16:creationId xmlns:a16="http://schemas.microsoft.com/office/drawing/2014/main" id="{7000B669-A78B-44FB-A72C-7D263CBCC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661446"/>
              <a:ext cx="166688" cy="80963"/>
            </a:xfrm>
            <a:custGeom>
              <a:avLst/>
              <a:gdLst>
                <a:gd name="T0" fmla="*/ 0 w 23"/>
                <a:gd name="T1" fmla="*/ 0 h 11"/>
                <a:gd name="T2" fmla="*/ 5 w 23"/>
                <a:gd name="T3" fmla="*/ 4 h 11"/>
                <a:gd name="T4" fmla="*/ 14 w 23"/>
                <a:gd name="T5" fmla="*/ 5 h 11"/>
                <a:gd name="T6" fmla="*/ 20 w 23"/>
                <a:gd name="T7" fmla="*/ 3 h 11"/>
                <a:gd name="T8" fmla="*/ 22 w 23"/>
                <a:gd name="T9" fmla="*/ 1 h 11"/>
                <a:gd name="T10" fmla="*/ 23 w 23"/>
                <a:gd name="T11" fmla="*/ 0 h 11"/>
                <a:gd name="T12" fmla="*/ 23 w 23"/>
                <a:gd name="T13" fmla="*/ 0 h 11"/>
                <a:gd name="T14" fmla="*/ 23 w 23"/>
                <a:gd name="T15" fmla="*/ 5 h 11"/>
                <a:gd name="T16" fmla="*/ 22 w 23"/>
                <a:gd name="T17" fmla="*/ 8 h 11"/>
                <a:gd name="T18" fmla="*/ 18 w 23"/>
                <a:gd name="T19" fmla="*/ 10 h 11"/>
                <a:gd name="T20" fmla="*/ 4 w 23"/>
                <a:gd name="T21" fmla="*/ 9 h 11"/>
                <a:gd name="T22" fmla="*/ 1 w 23"/>
                <a:gd name="T23" fmla="*/ 7 h 11"/>
                <a:gd name="T24" fmla="*/ 0 w 23"/>
                <a:gd name="T25" fmla="*/ 5 h 11"/>
                <a:gd name="T26" fmla="*/ 0 w 23"/>
                <a:gd name="T27" fmla="*/ 0 h 11"/>
                <a:gd name="T28" fmla="*/ 0 w 23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1" y="2"/>
                    <a:pt x="3" y="3"/>
                    <a:pt x="5" y="4"/>
                  </a:cubicBezTo>
                  <a:cubicBezTo>
                    <a:pt x="7" y="5"/>
                    <a:pt x="10" y="5"/>
                    <a:pt x="14" y="5"/>
                  </a:cubicBezTo>
                  <a:cubicBezTo>
                    <a:pt x="16" y="5"/>
                    <a:pt x="18" y="4"/>
                    <a:pt x="20" y="3"/>
                  </a:cubicBezTo>
                  <a:cubicBezTo>
                    <a:pt x="21" y="3"/>
                    <a:pt x="22" y="2"/>
                    <a:pt x="22" y="1"/>
                  </a:cubicBezTo>
                  <a:cubicBezTo>
                    <a:pt x="23" y="1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2"/>
                    <a:pt x="23" y="3"/>
                    <a:pt x="23" y="5"/>
                  </a:cubicBezTo>
                  <a:cubicBezTo>
                    <a:pt x="23" y="6"/>
                    <a:pt x="23" y="7"/>
                    <a:pt x="22" y="8"/>
                  </a:cubicBezTo>
                  <a:cubicBezTo>
                    <a:pt x="21" y="9"/>
                    <a:pt x="20" y="9"/>
                    <a:pt x="18" y="10"/>
                  </a:cubicBezTo>
                  <a:cubicBezTo>
                    <a:pt x="14" y="11"/>
                    <a:pt x="9" y="11"/>
                    <a:pt x="4" y="9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0" name="Freeform 14">
              <a:extLst>
                <a:ext uri="{FF2B5EF4-FFF2-40B4-BE49-F238E27FC236}">
                  <a16:creationId xmlns:a16="http://schemas.microsoft.com/office/drawing/2014/main" id="{D769585A-6D7F-478A-8C8F-98EA0EE3EA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0838" y="1037559"/>
              <a:ext cx="274638" cy="293688"/>
            </a:xfrm>
            <a:custGeom>
              <a:avLst/>
              <a:gdLst>
                <a:gd name="T0" fmla="*/ 12 w 38"/>
                <a:gd name="T1" fmla="*/ 40 h 40"/>
                <a:gd name="T2" fmla="*/ 8 w 38"/>
                <a:gd name="T3" fmla="*/ 40 h 40"/>
                <a:gd name="T4" fmla="*/ 8 w 38"/>
                <a:gd name="T5" fmla="*/ 24 h 40"/>
                <a:gd name="T6" fmla="*/ 0 w 38"/>
                <a:gd name="T7" fmla="*/ 24 h 40"/>
                <a:gd name="T8" fmla="*/ 0 w 38"/>
                <a:gd name="T9" fmla="*/ 20 h 40"/>
                <a:gd name="T10" fmla="*/ 8 w 38"/>
                <a:gd name="T11" fmla="*/ 20 h 40"/>
                <a:gd name="T12" fmla="*/ 8 w 38"/>
                <a:gd name="T13" fmla="*/ 2 h 40"/>
                <a:gd name="T14" fmla="*/ 9 w 38"/>
                <a:gd name="T15" fmla="*/ 0 h 40"/>
                <a:gd name="T16" fmla="*/ 10 w 38"/>
                <a:gd name="T17" fmla="*/ 0 h 40"/>
                <a:gd name="T18" fmla="*/ 26 w 38"/>
                <a:gd name="T19" fmla="*/ 0 h 40"/>
                <a:gd name="T20" fmla="*/ 27 w 38"/>
                <a:gd name="T21" fmla="*/ 0 h 40"/>
                <a:gd name="T22" fmla="*/ 36 w 38"/>
                <a:gd name="T23" fmla="*/ 7 h 40"/>
                <a:gd name="T24" fmla="*/ 33 w 38"/>
                <a:gd name="T25" fmla="*/ 21 h 40"/>
                <a:gd name="T26" fmla="*/ 27 w 38"/>
                <a:gd name="T27" fmla="*/ 24 h 40"/>
                <a:gd name="T28" fmla="*/ 12 w 38"/>
                <a:gd name="T29" fmla="*/ 24 h 40"/>
                <a:gd name="T30" fmla="*/ 12 w 38"/>
                <a:gd name="T31" fmla="*/ 40 h 40"/>
                <a:gd name="T32" fmla="*/ 12 w 38"/>
                <a:gd name="T33" fmla="*/ 20 h 40"/>
                <a:gd name="T34" fmla="*/ 27 w 38"/>
                <a:gd name="T35" fmla="*/ 20 h 40"/>
                <a:gd name="T36" fmla="*/ 31 w 38"/>
                <a:gd name="T37" fmla="*/ 18 h 40"/>
                <a:gd name="T38" fmla="*/ 32 w 38"/>
                <a:gd name="T39" fmla="*/ 9 h 40"/>
                <a:gd name="T40" fmla="*/ 26 w 38"/>
                <a:gd name="T41" fmla="*/ 4 h 40"/>
                <a:gd name="T42" fmla="*/ 12 w 38"/>
                <a:gd name="T43" fmla="*/ 4 h 40"/>
                <a:gd name="T44" fmla="*/ 12 w 38"/>
                <a:gd name="T45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40">
                  <a:moveTo>
                    <a:pt x="12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8" y="0"/>
                    <a:pt x="33" y="2"/>
                    <a:pt x="36" y="7"/>
                  </a:cubicBezTo>
                  <a:cubicBezTo>
                    <a:pt x="38" y="11"/>
                    <a:pt x="37" y="17"/>
                    <a:pt x="33" y="21"/>
                  </a:cubicBezTo>
                  <a:cubicBezTo>
                    <a:pt x="31" y="23"/>
                    <a:pt x="29" y="24"/>
                    <a:pt x="27" y="24"/>
                  </a:cubicBezTo>
                  <a:cubicBezTo>
                    <a:pt x="12" y="24"/>
                    <a:pt x="12" y="24"/>
                    <a:pt x="12" y="24"/>
                  </a:cubicBezTo>
                  <a:lnTo>
                    <a:pt x="12" y="40"/>
                  </a:lnTo>
                  <a:close/>
                  <a:moveTo>
                    <a:pt x="12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9" y="20"/>
                    <a:pt x="31" y="18"/>
                  </a:cubicBezTo>
                  <a:cubicBezTo>
                    <a:pt x="33" y="16"/>
                    <a:pt x="33" y="11"/>
                    <a:pt x="32" y="9"/>
                  </a:cubicBezTo>
                  <a:cubicBezTo>
                    <a:pt x="30" y="5"/>
                    <a:pt x="27" y="4"/>
                    <a:pt x="26" y="4"/>
                  </a:cubicBezTo>
                  <a:cubicBezTo>
                    <a:pt x="12" y="4"/>
                    <a:pt x="12" y="4"/>
                    <a:pt x="12" y="4"/>
                  </a:cubicBezTo>
                  <a:lnTo>
                    <a:pt x="12" y="20"/>
                  </a:ln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1" name="Rectangle 15">
              <a:extLst>
                <a:ext uri="{FF2B5EF4-FFF2-40B4-BE49-F238E27FC236}">
                  <a16:creationId xmlns:a16="http://schemas.microsoft.com/office/drawing/2014/main" id="{7F6B72AF-1F1F-4BAA-AB76-D3C2545D3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8" y="1250284"/>
              <a:ext cx="144463" cy="28575"/>
            </a:xfrm>
            <a:prstGeom prst="rect">
              <a:avLst/>
            </a:pr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E1AEE885-9F05-4926-8D62-3E6DC5463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2713" y="839121"/>
              <a:ext cx="685800" cy="696913"/>
            </a:xfrm>
            <a:custGeom>
              <a:avLst/>
              <a:gdLst>
                <a:gd name="T0" fmla="*/ 48 w 95"/>
                <a:gd name="T1" fmla="*/ 95 h 95"/>
                <a:gd name="T2" fmla="*/ 46 w 95"/>
                <a:gd name="T3" fmla="*/ 94 h 95"/>
                <a:gd name="T4" fmla="*/ 1 w 95"/>
                <a:gd name="T5" fmla="*/ 49 h 95"/>
                <a:gd name="T6" fmla="*/ 1 w 95"/>
                <a:gd name="T7" fmla="*/ 46 h 95"/>
                <a:gd name="T8" fmla="*/ 46 w 95"/>
                <a:gd name="T9" fmla="*/ 0 h 95"/>
                <a:gd name="T10" fmla="*/ 49 w 95"/>
                <a:gd name="T11" fmla="*/ 0 h 95"/>
                <a:gd name="T12" fmla="*/ 94 w 95"/>
                <a:gd name="T13" fmla="*/ 46 h 95"/>
                <a:gd name="T14" fmla="*/ 94 w 95"/>
                <a:gd name="T15" fmla="*/ 49 h 95"/>
                <a:gd name="T16" fmla="*/ 79 w 95"/>
                <a:gd name="T17" fmla="*/ 64 h 95"/>
                <a:gd name="T18" fmla="*/ 76 w 95"/>
                <a:gd name="T19" fmla="*/ 61 h 95"/>
                <a:gd name="T20" fmla="*/ 90 w 95"/>
                <a:gd name="T21" fmla="*/ 47 h 95"/>
                <a:gd name="T22" fmla="*/ 48 w 95"/>
                <a:gd name="T23" fmla="*/ 5 h 95"/>
                <a:gd name="T24" fmla="*/ 5 w 95"/>
                <a:gd name="T25" fmla="*/ 47 h 95"/>
                <a:gd name="T26" fmla="*/ 48 w 95"/>
                <a:gd name="T27" fmla="*/ 90 h 95"/>
                <a:gd name="T28" fmla="*/ 61 w 95"/>
                <a:gd name="T29" fmla="*/ 77 h 95"/>
                <a:gd name="T30" fmla="*/ 64 w 95"/>
                <a:gd name="T31" fmla="*/ 79 h 95"/>
                <a:gd name="T32" fmla="*/ 49 w 95"/>
                <a:gd name="T33" fmla="*/ 94 h 95"/>
                <a:gd name="T34" fmla="*/ 48 w 95"/>
                <a:gd name="T3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cubicBezTo>
                    <a:pt x="47" y="95"/>
                    <a:pt x="47" y="94"/>
                    <a:pt x="46" y="9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7" y="0"/>
                    <a:pt x="48" y="0"/>
                    <a:pt x="49" y="0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7"/>
                    <a:pt x="95" y="48"/>
                    <a:pt x="94" y="49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94"/>
                    <a:pt x="48" y="95"/>
                    <a:pt x="48" y="95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23" name="Группа 272">
            <a:extLst>
              <a:ext uri="{FF2B5EF4-FFF2-40B4-BE49-F238E27FC236}">
                <a16:creationId xmlns:a16="http://schemas.microsoft.com/office/drawing/2014/main" id="{474FAADE-2F0E-4439-8645-CCB0AFF21F76}"/>
              </a:ext>
            </a:extLst>
          </p:cNvPr>
          <p:cNvGrpSpPr/>
          <p:nvPr/>
        </p:nvGrpSpPr>
        <p:grpSpPr>
          <a:xfrm>
            <a:off x="688396" y="2934840"/>
            <a:ext cx="174185" cy="288493"/>
            <a:chOff x="5731348" y="5855133"/>
            <a:chExt cx="243840" cy="403859"/>
          </a:xfrm>
        </p:grpSpPr>
        <p:sp>
          <p:nvSpPr>
            <p:cNvPr id="124" name="Полилиния: фигура 273">
              <a:extLst>
                <a:ext uri="{FF2B5EF4-FFF2-40B4-BE49-F238E27FC236}">
                  <a16:creationId xmlns:a16="http://schemas.microsoft.com/office/drawing/2014/main" id="{0EA1BAE9-60F0-40DF-9937-534533E507F7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5" name="Полилиния: фигура 274">
              <a:extLst>
                <a:ext uri="{FF2B5EF4-FFF2-40B4-BE49-F238E27FC236}">
                  <a16:creationId xmlns:a16="http://schemas.microsoft.com/office/drawing/2014/main" id="{CD2EE77B-7529-497A-9470-6BC0CD08B598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6" name="Полилиния: фигура 275">
              <a:extLst>
                <a:ext uri="{FF2B5EF4-FFF2-40B4-BE49-F238E27FC236}">
                  <a16:creationId xmlns:a16="http://schemas.microsoft.com/office/drawing/2014/main" id="{2CEFBD99-714F-4965-A94A-9B628A88A286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7" name="Полилиния: фигура 276">
              <a:extLst>
                <a:ext uri="{FF2B5EF4-FFF2-40B4-BE49-F238E27FC236}">
                  <a16:creationId xmlns:a16="http://schemas.microsoft.com/office/drawing/2014/main" id="{DBD795D9-96BA-4584-B7A8-5CC294E6B721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8" name="Полилиния: фигура 338">
              <a:extLst>
                <a:ext uri="{FF2B5EF4-FFF2-40B4-BE49-F238E27FC236}">
                  <a16:creationId xmlns:a16="http://schemas.microsoft.com/office/drawing/2014/main" id="{202F2D90-7A64-4CB1-9F69-EB60E2478C31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29" name="Группа 219">
            <a:extLst>
              <a:ext uri="{FF2B5EF4-FFF2-40B4-BE49-F238E27FC236}">
                <a16:creationId xmlns:a16="http://schemas.microsoft.com/office/drawing/2014/main" id="{A2559A8C-67DA-49D8-A6A2-C50F5942BF2E}"/>
              </a:ext>
            </a:extLst>
          </p:cNvPr>
          <p:cNvGrpSpPr>
            <a:grpSpLocks noChangeAspect="1"/>
          </p:cNvGrpSpPr>
          <p:nvPr/>
        </p:nvGrpSpPr>
        <p:grpSpPr>
          <a:xfrm>
            <a:off x="680857" y="4111926"/>
            <a:ext cx="189261" cy="349912"/>
            <a:chOff x="1615585" y="4703060"/>
            <a:chExt cx="470254" cy="869423"/>
          </a:xfrm>
          <a:solidFill>
            <a:srgbClr val="000000"/>
          </a:solidFill>
        </p:grpSpPr>
        <p:sp>
          <p:nvSpPr>
            <p:cNvPr id="130" name="Полилиния: фигура 92">
              <a:extLst>
                <a:ext uri="{FF2B5EF4-FFF2-40B4-BE49-F238E27FC236}">
                  <a16:creationId xmlns:a16="http://schemas.microsoft.com/office/drawing/2014/main" id="{BAA8AD68-7137-4E04-99ED-DC7B5EADDB32}"/>
                </a:ext>
              </a:extLst>
            </p:cNvPr>
            <p:cNvSpPr/>
            <p:nvPr/>
          </p:nvSpPr>
          <p:spPr>
            <a:xfrm>
              <a:off x="1615585" y="4703060"/>
              <a:ext cx="470254" cy="869423"/>
            </a:xfrm>
            <a:custGeom>
              <a:avLst/>
              <a:gdLst>
                <a:gd name="connsiteX0" fmla="*/ 456584 w 470254"/>
                <a:gd name="connsiteY0" fmla="*/ 869423 h 869423"/>
                <a:gd name="connsiteX1" fmla="*/ 13670 w 470254"/>
                <a:gd name="connsiteY1" fmla="*/ 869423 h 869423"/>
                <a:gd name="connsiteX2" fmla="*/ 0 w 470254"/>
                <a:gd name="connsiteY2" fmla="*/ 855753 h 869423"/>
                <a:gd name="connsiteX3" fmla="*/ 0 w 470254"/>
                <a:gd name="connsiteY3" fmla="*/ 13670 h 869423"/>
                <a:gd name="connsiteX4" fmla="*/ 13670 w 470254"/>
                <a:gd name="connsiteY4" fmla="*/ 0 h 869423"/>
                <a:gd name="connsiteX5" fmla="*/ 456584 w 470254"/>
                <a:gd name="connsiteY5" fmla="*/ 0 h 869423"/>
                <a:gd name="connsiteX6" fmla="*/ 470254 w 470254"/>
                <a:gd name="connsiteY6" fmla="*/ 13670 h 869423"/>
                <a:gd name="connsiteX7" fmla="*/ 470254 w 470254"/>
                <a:gd name="connsiteY7" fmla="*/ 194116 h 869423"/>
                <a:gd name="connsiteX8" fmla="*/ 442914 w 470254"/>
                <a:gd name="connsiteY8" fmla="*/ 194116 h 869423"/>
                <a:gd name="connsiteX9" fmla="*/ 442914 w 470254"/>
                <a:gd name="connsiteY9" fmla="*/ 27340 h 869423"/>
                <a:gd name="connsiteX10" fmla="*/ 27340 w 470254"/>
                <a:gd name="connsiteY10" fmla="*/ 27340 h 869423"/>
                <a:gd name="connsiteX11" fmla="*/ 27340 w 470254"/>
                <a:gd name="connsiteY11" fmla="*/ 842083 h 869423"/>
                <a:gd name="connsiteX12" fmla="*/ 442914 w 470254"/>
                <a:gd name="connsiteY12" fmla="*/ 842083 h 869423"/>
                <a:gd name="connsiteX13" fmla="*/ 442914 w 470254"/>
                <a:gd name="connsiteY13" fmla="*/ 617892 h 869423"/>
                <a:gd name="connsiteX14" fmla="*/ 470254 w 470254"/>
                <a:gd name="connsiteY14" fmla="*/ 617892 h 869423"/>
                <a:gd name="connsiteX15" fmla="*/ 470254 w 470254"/>
                <a:gd name="connsiteY15" fmla="*/ 855753 h 869423"/>
                <a:gd name="connsiteX16" fmla="*/ 456584 w 470254"/>
                <a:gd name="connsiteY16" fmla="*/ 869423 h 86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254" h="869423">
                  <a:moveTo>
                    <a:pt x="456584" y="869423"/>
                  </a:moveTo>
                  <a:lnTo>
                    <a:pt x="13670" y="869423"/>
                  </a:lnTo>
                  <a:cubicBezTo>
                    <a:pt x="5468" y="869423"/>
                    <a:pt x="0" y="863955"/>
                    <a:pt x="0" y="8557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456584" y="0"/>
                  </a:lnTo>
                  <a:cubicBezTo>
                    <a:pt x="464786" y="0"/>
                    <a:pt x="470254" y="5468"/>
                    <a:pt x="470254" y="13670"/>
                  </a:cubicBezTo>
                  <a:lnTo>
                    <a:pt x="470254" y="194116"/>
                  </a:lnTo>
                  <a:lnTo>
                    <a:pt x="442914" y="194116"/>
                  </a:lnTo>
                  <a:lnTo>
                    <a:pt x="442914" y="27340"/>
                  </a:lnTo>
                  <a:lnTo>
                    <a:pt x="27340" y="27340"/>
                  </a:lnTo>
                  <a:lnTo>
                    <a:pt x="27340" y="842083"/>
                  </a:lnTo>
                  <a:lnTo>
                    <a:pt x="442914" y="842083"/>
                  </a:lnTo>
                  <a:lnTo>
                    <a:pt x="442914" y="617892"/>
                  </a:lnTo>
                  <a:lnTo>
                    <a:pt x="470254" y="617892"/>
                  </a:lnTo>
                  <a:lnTo>
                    <a:pt x="470254" y="855753"/>
                  </a:lnTo>
                  <a:cubicBezTo>
                    <a:pt x="470254" y="861221"/>
                    <a:pt x="464786" y="869423"/>
                    <a:pt x="456584" y="86942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93">
              <a:extLst>
                <a:ext uri="{FF2B5EF4-FFF2-40B4-BE49-F238E27FC236}">
                  <a16:creationId xmlns:a16="http://schemas.microsoft.com/office/drawing/2014/main" id="{3B1CC0DE-A5EF-4676-887C-F8B06A774B37}"/>
                </a:ext>
              </a:extLst>
            </p:cNvPr>
            <p:cNvSpPr/>
            <p:nvPr/>
          </p:nvSpPr>
          <p:spPr>
            <a:xfrm>
              <a:off x="1815170" y="5416643"/>
              <a:ext cx="84755" cy="82021"/>
            </a:xfrm>
            <a:custGeom>
              <a:avLst/>
              <a:gdLst>
                <a:gd name="connsiteX0" fmla="*/ 0 w 84755"/>
                <a:gd name="connsiteY0" fmla="*/ 0 h 82021"/>
                <a:gd name="connsiteX1" fmla="*/ 84755 w 84755"/>
                <a:gd name="connsiteY1" fmla="*/ 0 h 82021"/>
                <a:gd name="connsiteX2" fmla="*/ 84755 w 84755"/>
                <a:gd name="connsiteY2" fmla="*/ 82021 h 82021"/>
                <a:gd name="connsiteX3" fmla="*/ 0 w 84755"/>
                <a:gd name="connsiteY3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5" h="82021">
                  <a:moveTo>
                    <a:pt x="0" y="0"/>
                  </a:moveTo>
                  <a:lnTo>
                    <a:pt x="84755" y="0"/>
                  </a:lnTo>
                  <a:lnTo>
                    <a:pt x="84755" y="82021"/>
                  </a:lnTo>
                  <a:lnTo>
                    <a:pt x="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32" name="Рисунок 18">
              <a:extLst>
                <a:ext uri="{FF2B5EF4-FFF2-40B4-BE49-F238E27FC236}">
                  <a16:creationId xmlns:a16="http://schemas.microsoft.com/office/drawing/2014/main" id="{3D803C3F-173E-4F2C-A800-9DD1EBE57AC6}"/>
                </a:ext>
              </a:extLst>
            </p:cNvPr>
            <p:cNvGrpSpPr/>
            <p:nvPr/>
          </p:nvGrpSpPr>
          <p:grpSpPr>
            <a:xfrm>
              <a:off x="1741351" y="4815155"/>
              <a:ext cx="341754" cy="582349"/>
              <a:chOff x="1741351" y="4815155"/>
              <a:chExt cx="341754" cy="582349"/>
            </a:xfrm>
            <a:grpFill/>
          </p:grpSpPr>
          <p:sp>
            <p:nvSpPr>
              <p:cNvPr id="133" name="Полилиния: фигура 95">
                <a:extLst>
                  <a:ext uri="{FF2B5EF4-FFF2-40B4-BE49-F238E27FC236}">
                    <a16:creationId xmlns:a16="http://schemas.microsoft.com/office/drawing/2014/main" id="{3D33A628-28CE-4F25-8C41-DC6DF8E9B587}"/>
                  </a:ext>
                </a:extLst>
              </p:cNvPr>
              <p:cNvSpPr/>
              <p:nvPr/>
            </p:nvSpPr>
            <p:spPr>
              <a:xfrm>
                <a:off x="1741351" y="4815155"/>
                <a:ext cx="341754" cy="582349"/>
              </a:xfrm>
              <a:custGeom>
                <a:avLst/>
                <a:gdLst>
                  <a:gd name="connsiteX0" fmla="*/ 339020 w 341754"/>
                  <a:gd name="connsiteY0" fmla="*/ 582350 h 582349"/>
                  <a:gd name="connsiteX1" fmla="*/ 240595 w 341754"/>
                  <a:gd name="connsiteY1" fmla="*/ 582350 h 582349"/>
                  <a:gd name="connsiteX2" fmla="*/ 226925 w 341754"/>
                  <a:gd name="connsiteY2" fmla="*/ 571414 h 582349"/>
                  <a:gd name="connsiteX3" fmla="*/ 218723 w 341754"/>
                  <a:gd name="connsiteY3" fmla="*/ 516733 h 582349"/>
                  <a:gd name="connsiteX4" fmla="*/ 210521 w 341754"/>
                  <a:gd name="connsiteY4" fmla="*/ 513999 h 582349"/>
                  <a:gd name="connsiteX5" fmla="*/ 185914 w 341754"/>
                  <a:gd name="connsiteY5" fmla="*/ 503063 h 582349"/>
                  <a:gd name="connsiteX6" fmla="*/ 142170 w 341754"/>
                  <a:gd name="connsiteY6" fmla="*/ 533137 h 582349"/>
                  <a:gd name="connsiteX7" fmla="*/ 125766 w 341754"/>
                  <a:gd name="connsiteY7" fmla="*/ 530403 h 582349"/>
                  <a:gd name="connsiteX8" fmla="*/ 54681 w 341754"/>
                  <a:gd name="connsiteY8" fmla="*/ 459318 h 582349"/>
                  <a:gd name="connsiteX9" fmla="*/ 51947 w 341754"/>
                  <a:gd name="connsiteY9" fmla="*/ 442914 h 582349"/>
                  <a:gd name="connsiteX10" fmla="*/ 82021 w 341754"/>
                  <a:gd name="connsiteY10" fmla="*/ 399169 h 582349"/>
                  <a:gd name="connsiteX11" fmla="*/ 65617 w 341754"/>
                  <a:gd name="connsiteY11" fmla="*/ 363627 h 582349"/>
                  <a:gd name="connsiteX12" fmla="*/ 10936 w 341754"/>
                  <a:gd name="connsiteY12" fmla="*/ 355425 h 582349"/>
                  <a:gd name="connsiteX13" fmla="*/ 0 w 341754"/>
                  <a:gd name="connsiteY13" fmla="*/ 341754 h 582349"/>
                  <a:gd name="connsiteX14" fmla="*/ 0 w 341754"/>
                  <a:gd name="connsiteY14" fmla="*/ 240595 h 582349"/>
                  <a:gd name="connsiteX15" fmla="*/ 10936 w 341754"/>
                  <a:gd name="connsiteY15" fmla="*/ 226925 h 582349"/>
                  <a:gd name="connsiteX16" fmla="*/ 65617 w 341754"/>
                  <a:gd name="connsiteY16" fmla="*/ 218723 h 582349"/>
                  <a:gd name="connsiteX17" fmla="*/ 68351 w 341754"/>
                  <a:gd name="connsiteY17" fmla="*/ 210521 h 582349"/>
                  <a:gd name="connsiteX18" fmla="*/ 79287 w 341754"/>
                  <a:gd name="connsiteY18" fmla="*/ 185914 h 582349"/>
                  <a:gd name="connsiteX19" fmla="*/ 49213 w 341754"/>
                  <a:gd name="connsiteY19" fmla="*/ 142170 h 582349"/>
                  <a:gd name="connsiteX20" fmla="*/ 51947 w 341754"/>
                  <a:gd name="connsiteY20" fmla="*/ 125766 h 582349"/>
                  <a:gd name="connsiteX21" fmla="*/ 123032 w 341754"/>
                  <a:gd name="connsiteY21" fmla="*/ 54681 h 582349"/>
                  <a:gd name="connsiteX22" fmla="*/ 139436 w 341754"/>
                  <a:gd name="connsiteY22" fmla="*/ 51947 h 582349"/>
                  <a:gd name="connsiteX23" fmla="*/ 183180 w 341754"/>
                  <a:gd name="connsiteY23" fmla="*/ 82021 h 582349"/>
                  <a:gd name="connsiteX24" fmla="*/ 218723 w 341754"/>
                  <a:gd name="connsiteY24" fmla="*/ 65617 h 582349"/>
                  <a:gd name="connsiteX25" fmla="*/ 226925 w 341754"/>
                  <a:gd name="connsiteY25" fmla="*/ 10936 h 582349"/>
                  <a:gd name="connsiteX26" fmla="*/ 240595 w 341754"/>
                  <a:gd name="connsiteY26" fmla="*/ 0 h 582349"/>
                  <a:gd name="connsiteX27" fmla="*/ 341754 w 341754"/>
                  <a:gd name="connsiteY27" fmla="*/ 0 h 582349"/>
                  <a:gd name="connsiteX28" fmla="*/ 341754 w 341754"/>
                  <a:gd name="connsiteY28" fmla="*/ 27340 h 582349"/>
                  <a:gd name="connsiteX29" fmla="*/ 254265 w 341754"/>
                  <a:gd name="connsiteY29" fmla="*/ 27340 h 582349"/>
                  <a:gd name="connsiteX30" fmla="*/ 246063 w 341754"/>
                  <a:gd name="connsiteY30" fmla="*/ 76553 h 582349"/>
                  <a:gd name="connsiteX31" fmla="*/ 235127 w 341754"/>
                  <a:gd name="connsiteY31" fmla="*/ 87489 h 582349"/>
                  <a:gd name="connsiteX32" fmla="*/ 191382 w 341754"/>
                  <a:gd name="connsiteY32" fmla="*/ 106628 h 582349"/>
                  <a:gd name="connsiteX33" fmla="*/ 174978 w 341754"/>
                  <a:gd name="connsiteY33" fmla="*/ 106628 h 582349"/>
                  <a:gd name="connsiteX34" fmla="*/ 133968 w 341754"/>
                  <a:gd name="connsiteY34" fmla="*/ 76553 h 582349"/>
                  <a:gd name="connsiteX35" fmla="*/ 79287 w 341754"/>
                  <a:gd name="connsiteY35" fmla="*/ 131234 h 582349"/>
                  <a:gd name="connsiteX36" fmla="*/ 109361 w 341754"/>
                  <a:gd name="connsiteY36" fmla="*/ 172244 h 582349"/>
                  <a:gd name="connsiteX37" fmla="*/ 109361 w 341754"/>
                  <a:gd name="connsiteY37" fmla="*/ 185914 h 582349"/>
                  <a:gd name="connsiteX38" fmla="*/ 95691 w 341754"/>
                  <a:gd name="connsiteY38" fmla="*/ 215989 h 582349"/>
                  <a:gd name="connsiteX39" fmla="*/ 87489 w 341754"/>
                  <a:gd name="connsiteY39" fmla="*/ 232393 h 582349"/>
                  <a:gd name="connsiteX40" fmla="*/ 76553 w 341754"/>
                  <a:gd name="connsiteY40" fmla="*/ 240595 h 582349"/>
                  <a:gd name="connsiteX41" fmla="*/ 24606 w 341754"/>
                  <a:gd name="connsiteY41" fmla="*/ 248797 h 582349"/>
                  <a:gd name="connsiteX42" fmla="*/ 24606 w 341754"/>
                  <a:gd name="connsiteY42" fmla="*/ 325350 h 582349"/>
                  <a:gd name="connsiteX43" fmla="*/ 76553 w 341754"/>
                  <a:gd name="connsiteY43" fmla="*/ 333552 h 582349"/>
                  <a:gd name="connsiteX44" fmla="*/ 87489 w 341754"/>
                  <a:gd name="connsiteY44" fmla="*/ 344489 h 582349"/>
                  <a:gd name="connsiteX45" fmla="*/ 106627 w 341754"/>
                  <a:gd name="connsiteY45" fmla="*/ 388233 h 582349"/>
                  <a:gd name="connsiteX46" fmla="*/ 106627 w 341754"/>
                  <a:gd name="connsiteY46" fmla="*/ 404637 h 582349"/>
                  <a:gd name="connsiteX47" fmla="*/ 76553 w 341754"/>
                  <a:gd name="connsiteY47" fmla="*/ 445648 h 582349"/>
                  <a:gd name="connsiteX48" fmla="*/ 131234 w 341754"/>
                  <a:gd name="connsiteY48" fmla="*/ 500329 h 582349"/>
                  <a:gd name="connsiteX49" fmla="*/ 172244 w 341754"/>
                  <a:gd name="connsiteY49" fmla="*/ 470254 h 582349"/>
                  <a:gd name="connsiteX50" fmla="*/ 185914 w 341754"/>
                  <a:gd name="connsiteY50" fmla="*/ 470254 h 582349"/>
                  <a:gd name="connsiteX51" fmla="*/ 215989 w 341754"/>
                  <a:gd name="connsiteY51" fmla="*/ 483924 h 582349"/>
                  <a:gd name="connsiteX52" fmla="*/ 232393 w 341754"/>
                  <a:gd name="connsiteY52" fmla="*/ 492126 h 582349"/>
                  <a:gd name="connsiteX53" fmla="*/ 240595 w 341754"/>
                  <a:gd name="connsiteY53" fmla="*/ 503063 h 582349"/>
                  <a:gd name="connsiteX54" fmla="*/ 248797 w 341754"/>
                  <a:gd name="connsiteY54" fmla="*/ 552275 h 582349"/>
                  <a:gd name="connsiteX55" fmla="*/ 336286 w 341754"/>
                  <a:gd name="connsiteY55" fmla="*/ 552275 h 582349"/>
                  <a:gd name="connsiteX56" fmla="*/ 336286 w 341754"/>
                  <a:gd name="connsiteY56" fmla="*/ 582350 h 58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341754" h="582349">
                    <a:moveTo>
                      <a:pt x="339020" y="582350"/>
                    </a:moveTo>
                    <a:lnTo>
                      <a:pt x="240595" y="582350"/>
                    </a:lnTo>
                    <a:cubicBezTo>
                      <a:pt x="235127" y="582350"/>
                      <a:pt x="226925" y="576882"/>
                      <a:pt x="226925" y="571414"/>
                    </a:cubicBezTo>
                    <a:lnTo>
                      <a:pt x="218723" y="516733"/>
                    </a:lnTo>
                    <a:lnTo>
                      <a:pt x="210521" y="513999"/>
                    </a:lnTo>
                    <a:cubicBezTo>
                      <a:pt x="202319" y="511264"/>
                      <a:pt x="194117" y="505796"/>
                      <a:pt x="185914" y="503063"/>
                    </a:cubicBezTo>
                    <a:lnTo>
                      <a:pt x="142170" y="533137"/>
                    </a:lnTo>
                    <a:cubicBezTo>
                      <a:pt x="136702" y="535871"/>
                      <a:pt x="128500" y="535871"/>
                      <a:pt x="125766" y="530403"/>
                    </a:cubicBezTo>
                    <a:lnTo>
                      <a:pt x="54681" y="459318"/>
                    </a:lnTo>
                    <a:cubicBezTo>
                      <a:pt x="49213" y="453850"/>
                      <a:pt x="49213" y="448382"/>
                      <a:pt x="51947" y="442914"/>
                    </a:cubicBezTo>
                    <a:lnTo>
                      <a:pt x="82021" y="399169"/>
                    </a:lnTo>
                    <a:cubicBezTo>
                      <a:pt x="76553" y="388233"/>
                      <a:pt x="71085" y="377297"/>
                      <a:pt x="65617" y="363627"/>
                    </a:cubicBezTo>
                    <a:lnTo>
                      <a:pt x="10936" y="355425"/>
                    </a:lnTo>
                    <a:cubicBezTo>
                      <a:pt x="5468" y="355425"/>
                      <a:pt x="0" y="349957"/>
                      <a:pt x="0" y="341754"/>
                    </a:cubicBezTo>
                    <a:lnTo>
                      <a:pt x="0" y="240595"/>
                    </a:lnTo>
                    <a:cubicBezTo>
                      <a:pt x="0" y="235127"/>
                      <a:pt x="5468" y="226925"/>
                      <a:pt x="10936" y="226925"/>
                    </a:cubicBezTo>
                    <a:lnTo>
                      <a:pt x="65617" y="218723"/>
                    </a:lnTo>
                    <a:lnTo>
                      <a:pt x="68351" y="210521"/>
                    </a:lnTo>
                    <a:cubicBezTo>
                      <a:pt x="71085" y="202319"/>
                      <a:pt x="76553" y="194117"/>
                      <a:pt x="79287" y="185914"/>
                    </a:cubicBezTo>
                    <a:lnTo>
                      <a:pt x="49213" y="142170"/>
                    </a:lnTo>
                    <a:cubicBezTo>
                      <a:pt x="46479" y="136702"/>
                      <a:pt x="46479" y="128500"/>
                      <a:pt x="51947" y="125766"/>
                    </a:cubicBezTo>
                    <a:lnTo>
                      <a:pt x="123032" y="54681"/>
                    </a:lnTo>
                    <a:cubicBezTo>
                      <a:pt x="128500" y="49213"/>
                      <a:pt x="133968" y="49213"/>
                      <a:pt x="139436" y="51947"/>
                    </a:cubicBezTo>
                    <a:lnTo>
                      <a:pt x="183180" y="82021"/>
                    </a:lnTo>
                    <a:cubicBezTo>
                      <a:pt x="194117" y="76553"/>
                      <a:pt x="205053" y="71085"/>
                      <a:pt x="218723" y="65617"/>
                    </a:cubicBezTo>
                    <a:lnTo>
                      <a:pt x="226925" y="10936"/>
                    </a:lnTo>
                    <a:cubicBezTo>
                      <a:pt x="226925" y="5468"/>
                      <a:pt x="232393" y="0"/>
                      <a:pt x="240595" y="0"/>
                    </a:cubicBezTo>
                    <a:lnTo>
                      <a:pt x="341754" y="0"/>
                    </a:lnTo>
                    <a:lnTo>
                      <a:pt x="341754" y="27340"/>
                    </a:lnTo>
                    <a:lnTo>
                      <a:pt x="254265" y="27340"/>
                    </a:lnTo>
                    <a:lnTo>
                      <a:pt x="246063" y="76553"/>
                    </a:lnTo>
                    <a:cubicBezTo>
                      <a:pt x="246063" y="82021"/>
                      <a:pt x="240595" y="87489"/>
                      <a:pt x="235127" y="87489"/>
                    </a:cubicBezTo>
                    <a:cubicBezTo>
                      <a:pt x="218723" y="92957"/>
                      <a:pt x="205053" y="98425"/>
                      <a:pt x="191382" y="106628"/>
                    </a:cubicBezTo>
                    <a:cubicBezTo>
                      <a:pt x="185914" y="109361"/>
                      <a:pt x="180446" y="109361"/>
                      <a:pt x="174978" y="106628"/>
                    </a:cubicBezTo>
                    <a:lnTo>
                      <a:pt x="133968" y="76553"/>
                    </a:lnTo>
                    <a:lnTo>
                      <a:pt x="79287" y="131234"/>
                    </a:lnTo>
                    <a:lnTo>
                      <a:pt x="109361" y="172244"/>
                    </a:lnTo>
                    <a:cubicBezTo>
                      <a:pt x="112095" y="177712"/>
                      <a:pt x="112095" y="180446"/>
                      <a:pt x="109361" y="185914"/>
                    </a:cubicBezTo>
                    <a:cubicBezTo>
                      <a:pt x="103893" y="194117"/>
                      <a:pt x="101159" y="205053"/>
                      <a:pt x="95691" y="215989"/>
                    </a:cubicBezTo>
                    <a:lnTo>
                      <a:pt x="87489" y="232393"/>
                    </a:lnTo>
                    <a:cubicBezTo>
                      <a:pt x="84755" y="237861"/>
                      <a:pt x="82021" y="240595"/>
                      <a:pt x="76553" y="240595"/>
                    </a:cubicBezTo>
                    <a:lnTo>
                      <a:pt x="24606" y="248797"/>
                    </a:lnTo>
                    <a:lnTo>
                      <a:pt x="24606" y="325350"/>
                    </a:lnTo>
                    <a:lnTo>
                      <a:pt x="76553" y="333552"/>
                    </a:lnTo>
                    <a:cubicBezTo>
                      <a:pt x="82021" y="333552"/>
                      <a:pt x="87489" y="339021"/>
                      <a:pt x="87489" y="344489"/>
                    </a:cubicBezTo>
                    <a:cubicBezTo>
                      <a:pt x="92957" y="360893"/>
                      <a:pt x="98425" y="374563"/>
                      <a:pt x="106627" y="388233"/>
                    </a:cubicBezTo>
                    <a:cubicBezTo>
                      <a:pt x="109361" y="393701"/>
                      <a:pt x="109361" y="399169"/>
                      <a:pt x="106627" y="404637"/>
                    </a:cubicBezTo>
                    <a:lnTo>
                      <a:pt x="76553" y="445648"/>
                    </a:lnTo>
                    <a:lnTo>
                      <a:pt x="131234" y="500329"/>
                    </a:lnTo>
                    <a:lnTo>
                      <a:pt x="172244" y="470254"/>
                    </a:lnTo>
                    <a:cubicBezTo>
                      <a:pt x="177712" y="467520"/>
                      <a:pt x="180446" y="467520"/>
                      <a:pt x="185914" y="470254"/>
                    </a:cubicBezTo>
                    <a:cubicBezTo>
                      <a:pt x="194117" y="475722"/>
                      <a:pt x="205053" y="478456"/>
                      <a:pt x="215989" y="483924"/>
                    </a:cubicBezTo>
                    <a:lnTo>
                      <a:pt x="232393" y="492126"/>
                    </a:lnTo>
                    <a:cubicBezTo>
                      <a:pt x="237861" y="494861"/>
                      <a:pt x="240595" y="497594"/>
                      <a:pt x="240595" y="503063"/>
                    </a:cubicBezTo>
                    <a:lnTo>
                      <a:pt x="248797" y="552275"/>
                    </a:lnTo>
                    <a:lnTo>
                      <a:pt x="336286" y="552275"/>
                    </a:lnTo>
                    <a:lnTo>
                      <a:pt x="336286" y="582350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4" name="Полилиния: фигура 96">
                <a:extLst>
                  <a:ext uri="{FF2B5EF4-FFF2-40B4-BE49-F238E27FC236}">
                    <a16:creationId xmlns:a16="http://schemas.microsoft.com/office/drawing/2014/main" id="{350C0EC9-F547-4593-8BDB-A013364AF7F9}"/>
                  </a:ext>
                </a:extLst>
              </p:cNvPr>
              <p:cNvSpPr/>
              <p:nvPr/>
            </p:nvSpPr>
            <p:spPr>
              <a:xfrm>
                <a:off x="1921797" y="4987399"/>
                <a:ext cx="158574" cy="229658"/>
              </a:xfrm>
              <a:custGeom>
                <a:avLst/>
                <a:gdLst>
                  <a:gd name="connsiteX0" fmla="*/ 114829 w 158574"/>
                  <a:gd name="connsiteY0" fmla="*/ 229659 h 229658"/>
                  <a:gd name="connsiteX1" fmla="*/ 0 w 158574"/>
                  <a:gd name="connsiteY1" fmla="*/ 114829 h 229658"/>
                  <a:gd name="connsiteX2" fmla="*/ 114829 w 158574"/>
                  <a:gd name="connsiteY2" fmla="*/ 0 h 229658"/>
                  <a:gd name="connsiteX3" fmla="*/ 158574 w 158574"/>
                  <a:gd name="connsiteY3" fmla="*/ 5468 h 229658"/>
                  <a:gd name="connsiteX4" fmla="*/ 150372 w 158574"/>
                  <a:gd name="connsiteY4" fmla="*/ 30075 h 229658"/>
                  <a:gd name="connsiteX5" fmla="*/ 117563 w 158574"/>
                  <a:gd name="connsiteY5" fmla="*/ 24606 h 229658"/>
                  <a:gd name="connsiteX6" fmla="*/ 30074 w 158574"/>
                  <a:gd name="connsiteY6" fmla="*/ 112096 h 229658"/>
                  <a:gd name="connsiteX7" fmla="*/ 117563 w 158574"/>
                  <a:gd name="connsiteY7" fmla="*/ 199585 h 229658"/>
                  <a:gd name="connsiteX8" fmla="*/ 150372 w 158574"/>
                  <a:gd name="connsiteY8" fmla="*/ 194117 h 229658"/>
                  <a:gd name="connsiteX9" fmla="*/ 158574 w 158574"/>
                  <a:gd name="connsiteY9" fmla="*/ 218723 h 229658"/>
                  <a:gd name="connsiteX10" fmla="*/ 114829 w 158574"/>
                  <a:gd name="connsiteY10" fmla="*/ 229659 h 22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574" h="229658">
                    <a:moveTo>
                      <a:pt x="114829" y="229659"/>
                    </a:moveTo>
                    <a:cubicBezTo>
                      <a:pt x="51947" y="229659"/>
                      <a:pt x="0" y="177712"/>
                      <a:pt x="0" y="114829"/>
                    </a:cubicBezTo>
                    <a:cubicBezTo>
                      <a:pt x="0" y="51947"/>
                      <a:pt x="51947" y="0"/>
                      <a:pt x="114829" y="0"/>
                    </a:cubicBezTo>
                    <a:cubicBezTo>
                      <a:pt x="125766" y="0"/>
                      <a:pt x="144904" y="2734"/>
                      <a:pt x="158574" y="5468"/>
                    </a:cubicBezTo>
                    <a:lnTo>
                      <a:pt x="150372" y="30075"/>
                    </a:lnTo>
                    <a:cubicBezTo>
                      <a:pt x="142170" y="27340"/>
                      <a:pt x="128500" y="24606"/>
                      <a:pt x="117563" y="24606"/>
                    </a:cubicBezTo>
                    <a:cubicBezTo>
                      <a:pt x="68351" y="24606"/>
                      <a:pt x="30074" y="62883"/>
                      <a:pt x="30074" y="112096"/>
                    </a:cubicBezTo>
                    <a:cubicBezTo>
                      <a:pt x="30074" y="161308"/>
                      <a:pt x="68351" y="199585"/>
                      <a:pt x="117563" y="199585"/>
                    </a:cubicBezTo>
                    <a:cubicBezTo>
                      <a:pt x="128500" y="199585"/>
                      <a:pt x="142170" y="196850"/>
                      <a:pt x="150372" y="194117"/>
                    </a:cubicBezTo>
                    <a:lnTo>
                      <a:pt x="158574" y="218723"/>
                    </a:lnTo>
                    <a:cubicBezTo>
                      <a:pt x="144904" y="226925"/>
                      <a:pt x="125766" y="229659"/>
                      <a:pt x="114829" y="229659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35" name="Полилиния: фигура 97">
              <a:extLst>
                <a:ext uri="{FF2B5EF4-FFF2-40B4-BE49-F238E27FC236}">
                  <a16:creationId xmlns:a16="http://schemas.microsoft.com/office/drawing/2014/main" id="{8002E0CE-51EA-4CC7-A962-78EB8CE0F9BB}"/>
                </a:ext>
              </a:extLst>
            </p:cNvPr>
            <p:cNvSpPr/>
            <p:nvPr/>
          </p:nvSpPr>
          <p:spPr>
            <a:xfrm>
              <a:off x="1686670" y="4774145"/>
              <a:ext cx="202318" cy="185914"/>
            </a:xfrm>
            <a:custGeom>
              <a:avLst/>
              <a:gdLst>
                <a:gd name="connsiteX0" fmla="*/ 27340 w 202318"/>
                <a:gd name="connsiteY0" fmla="*/ 185914 h 185914"/>
                <a:gd name="connsiteX1" fmla="*/ 0 w 202318"/>
                <a:gd name="connsiteY1" fmla="*/ 185914 h 185914"/>
                <a:gd name="connsiteX2" fmla="*/ 0 w 202318"/>
                <a:gd name="connsiteY2" fmla="*/ 13670 h 185914"/>
                <a:gd name="connsiteX3" fmla="*/ 13670 w 202318"/>
                <a:gd name="connsiteY3" fmla="*/ 0 h 185914"/>
                <a:gd name="connsiteX4" fmla="*/ 202319 w 202318"/>
                <a:gd name="connsiteY4" fmla="*/ 0 h 185914"/>
                <a:gd name="connsiteX5" fmla="*/ 202319 w 202318"/>
                <a:gd name="connsiteY5" fmla="*/ 27340 h 185914"/>
                <a:gd name="connsiteX6" fmla="*/ 27340 w 202318"/>
                <a:gd name="connsiteY6" fmla="*/ 27340 h 185914"/>
                <a:gd name="connsiteX7" fmla="*/ 27340 w 202318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318" h="185914">
                  <a:moveTo>
                    <a:pt x="27340" y="185914"/>
                  </a:moveTo>
                  <a:lnTo>
                    <a:pt x="0" y="185914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02319" y="0"/>
                  </a:lnTo>
                  <a:lnTo>
                    <a:pt x="202319" y="27340"/>
                  </a:lnTo>
                  <a:lnTo>
                    <a:pt x="27340" y="27340"/>
                  </a:lnTo>
                  <a:lnTo>
                    <a:pt x="27340" y="18591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6" name="Группа 535">
            <a:extLst>
              <a:ext uri="{FF2B5EF4-FFF2-40B4-BE49-F238E27FC236}">
                <a16:creationId xmlns:a16="http://schemas.microsoft.com/office/drawing/2014/main" id="{A8DA05BF-0F67-4E57-ADC6-30AAAAA280E6}"/>
              </a:ext>
            </a:extLst>
          </p:cNvPr>
          <p:cNvGrpSpPr>
            <a:grpSpLocks noChangeAspect="1"/>
          </p:cNvGrpSpPr>
          <p:nvPr/>
        </p:nvGrpSpPr>
        <p:grpSpPr>
          <a:xfrm>
            <a:off x="7717985" y="4509179"/>
            <a:ext cx="482493" cy="445042"/>
            <a:chOff x="2865554" y="4921611"/>
            <a:chExt cx="984276" cy="1082073"/>
          </a:xfrm>
        </p:grpSpPr>
        <p:sp>
          <p:nvSpPr>
            <p:cNvPr id="137" name="Полилиния: фигура 175">
              <a:extLst>
                <a:ext uri="{FF2B5EF4-FFF2-40B4-BE49-F238E27FC236}">
                  <a16:creationId xmlns:a16="http://schemas.microsoft.com/office/drawing/2014/main" id="{4FA07659-131A-477E-880C-AD3855F33E29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164">
              <a:extLst>
                <a:ext uri="{FF2B5EF4-FFF2-40B4-BE49-F238E27FC236}">
                  <a16:creationId xmlns:a16="http://schemas.microsoft.com/office/drawing/2014/main" id="{E9D2ACF0-663E-4134-863E-5EBD6127B59D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165">
              <a:extLst>
                <a:ext uri="{FF2B5EF4-FFF2-40B4-BE49-F238E27FC236}">
                  <a16:creationId xmlns:a16="http://schemas.microsoft.com/office/drawing/2014/main" id="{C0E9A1E8-40AF-4993-9772-85FEBC6AF8C2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166">
              <a:extLst>
                <a:ext uri="{FF2B5EF4-FFF2-40B4-BE49-F238E27FC236}">
                  <a16:creationId xmlns:a16="http://schemas.microsoft.com/office/drawing/2014/main" id="{F60010FA-994F-4648-B3C3-C109D0A21356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167">
              <a:extLst>
                <a:ext uri="{FF2B5EF4-FFF2-40B4-BE49-F238E27FC236}">
                  <a16:creationId xmlns:a16="http://schemas.microsoft.com/office/drawing/2014/main" id="{21BEDF2C-C3E4-4380-856C-FBF7CFAAEA66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68">
              <a:extLst>
                <a:ext uri="{FF2B5EF4-FFF2-40B4-BE49-F238E27FC236}">
                  <a16:creationId xmlns:a16="http://schemas.microsoft.com/office/drawing/2014/main" id="{BB870D41-2E9D-4353-A297-F02C3BEA4B8B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69">
              <a:extLst>
                <a:ext uri="{FF2B5EF4-FFF2-40B4-BE49-F238E27FC236}">
                  <a16:creationId xmlns:a16="http://schemas.microsoft.com/office/drawing/2014/main" id="{A6A6D518-EC90-4161-8999-005B5D41C17F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170">
              <a:extLst>
                <a:ext uri="{FF2B5EF4-FFF2-40B4-BE49-F238E27FC236}">
                  <a16:creationId xmlns:a16="http://schemas.microsoft.com/office/drawing/2014/main" id="{056B7CC7-E694-40CE-B36E-B7554062F78D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171">
              <a:extLst>
                <a:ext uri="{FF2B5EF4-FFF2-40B4-BE49-F238E27FC236}">
                  <a16:creationId xmlns:a16="http://schemas.microsoft.com/office/drawing/2014/main" id="{7C925388-FC09-4DF4-8E22-FC47FCA95ED7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46" name="Рисунок 2">
              <a:extLst>
                <a:ext uri="{FF2B5EF4-FFF2-40B4-BE49-F238E27FC236}">
                  <a16:creationId xmlns:a16="http://schemas.microsoft.com/office/drawing/2014/main" id="{84A7B280-0C33-4F3B-8C5C-786A10B27F4C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147" name="Полилиния: фигура 173">
                <a:extLst>
                  <a:ext uri="{FF2B5EF4-FFF2-40B4-BE49-F238E27FC236}">
                    <a16:creationId xmlns:a16="http://schemas.microsoft.com/office/drawing/2014/main" id="{0F4A3E66-E13F-45BE-8391-25CA578809F6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ln w="3175"/>
            </p:spPr>
            <p:style>
              <a:lnRef idx="3">
                <a:srgbClr val="FFFFFF"/>
              </a:lnRef>
              <a:fillRef idx="1">
                <a:srgbClr val="000000"/>
              </a:fillRef>
              <a:effectRef idx="1">
                <a:srgbClr val="000000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8" name="Полилиния: фигура 174">
                <a:extLst>
                  <a:ext uri="{FF2B5EF4-FFF2-40B4-BE49-F238E27FC236}">
                    <a16:creationId xmlns:a16="http://schemas.microsoft.com/office/drawing/2014/main" id="{B96967FC-E8E5-4EAE-BF07-C51381BF5D7F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ln w="3175"/>
            </p:spPr>
            <p:style>
              <a:lnRef idx="3">
                <a:srgbClr val="FFFFFF"/>
              </a:lnRef>
              <a:fillRef idx="1">
                <a:srgbClr val="000000"/>
              </a:fillRef>
              <a:effectRef idx="1">
                <a:srgbClr val="000000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49" name="Группа 535">
            <a:extLst>
              <a:ext uri="{FF2B5EF4-FFF2-40B4-BE49-F238E27FC236}">
                <a16:creationId xmlns:a16="http://schemas.microsoft.com/office/drawing/2014/main" id="{DC63B2CA-E57D-498C-A210-F66A62A6F7E7}"/>
              </a:ext>
            </a:extLst>
          </p:cNvPr>
          <p:cNvGrpSpPr>
            <a:grpSpLocks noChangeAspect="1"/>
          </p:cNvGrpSpPr>
          <p:nvPr/>
        </p:nvGrpSpPr>
        <p:grpSpPr>
          <a:xfrm>
            <a:off x="680175" y="5258865"/>
            <a:ext cx="322421" cy="383480"/>
            <a:chOff x="2865554" y="4921611"/>
            <a:chExt cx="984276" cy="1082073"/>
          </a:xfrm>
        </p:grpSpPr>
        <p:sp>
          <p:nvSpPr>
            <p:cNvPr id="150" name="Полилиния: фигура 175">
              <a:extLst>
                <a:ext uri="{FF2B5EF4-FFF2-40B4-BE49-F238E27FC236}">
                  <a16:creationId xmlns:a16="http://schemas.microsoft.com/office/drawing/2014/main" id="{5E3B2E99-2A46-4557-A2A7-F23046A4908C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rgbClr val="8F0D6B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4">
              <a:extLst>
                <a:ext uri="{FF2B5EF4-FFF2-40B4-BE49-F238E27FC236}">
                  <a16:creationId xmlns:a16="http://schemas.microsoft.com/office/drawing/2014/main" id="{6A6C4D26-A732-495E-A38C-F530D6A314FA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65">
              <a:extLst>
                <a:ext uri="{FF2B5EF4-FFF2-40B4-BE49-F238E27FC236}">
                  <a16:creationId xmlns:a16="http://schemas.microsoft.com/office/drawing/2014/main" id="{B7146AF8-61C6-4EB3-BC28-EE9EA559CB25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66">
              <a:extLst>
                <a:ext uri="{FF2B5EF4-FFF2-40B4-BE49-F238E27FC236}">
                  <a16:creationId xmlns:a16="http://schemas.microsoft.com/office/drawing/2014/main" id="{49208EAE-E55F-4F27-B33E-796410543C64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67">
              <a:extLst>
                <a:ext uri="{FF2B5EF4-FFF2-40B4-BE49-F238E27FC236}">
                  <a16:creationId xmlns:a16="http://schemas.microsoft.com/office/drawing/2014/main" id="{90499C97-8AED-41C9-9CF4-E4FFA5E15C81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168">
              <a:extLst>
                <a:ext uri="{FF2B5EF4-FFF2-40B4-BE49-F238E27FC236}">
                  <a16:creationId xmlns:a16="http://schemas.microsoft.com/office/drawing/2014/main" id="{8C46BF87-2B6E-4051-8D00-3687D72F2180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169">
              <a:extLst>
                <a:ext uri="{FF2B5EF4-FFF2-40B4-BE49-F238E27FC236}">
                  <a16:creationId xmlns:a16="http://schemas.microsoft.com/office/drawing/2014/main" id="{6A5B2553-D380-49CB-8AD2-2495302D2F72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170">
              <a:extLst>
                <a:ext uri="{FF2B5EF4-FFF2-40B4-BE49-F238E27FC236}">
                  <a16:creationId xmlns:a16="http://schemas.microsoft.com/office/drawing/2014/main" id="{142BBD67-ADC3-415A-8A05-826AFC981EF3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71">
              <a:extLst>
                <a:ext uri="{FF2B5EF4-FFF2-40B4-BE49-F238E27FC236}">
                  <a16:creationId xmlns:a16="http://schemas.microsoft.com/office/drawing/2014/main" id="{773B4164-FE25-4C23-82E7-AA0D8C862F17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9" name="Рисунок 2">
              <a:extLst>
                <a:ext uri="{FF2B5EF4-FFF2-40B4-BE49-F238E27FC236}">
                  <a16:creationId xmlns:a16="http://schemas.microsoft.com/office/drawing/2014/main" id="{84752D00-362D-468B-BD14-D7809FAC4332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160" name="Полилиния: фигура 173">
                <a:extLst>
                  <a:ext uri="{FF2B5EF4-FFF2-40B4-BE49-F238E27FC236}">
                    <a16:creationId xmlns:a16="http://schemas.microsoft.com/office/drawing/2014/main" id="{EA909836-D9C9-4AFC-8437-472FE90A65A5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1" name="Полилиния: фигура 174">
                <a:extLst>
                  <a:ext uri="{FF2B5EF4-FFF2-40B4-BE49-F238E27FC236}">
                    <a16:creationId xmlns:a16="http://schemas.microsoft.com/office/drawing/2014/main" id="{358A35B9-8557-40C1-88AD-E5984C2B943E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pic>
        <p:nvPicPr>
          <p:cNvPr id="162" name="Рисунок 6">
            <a:extLst>
              <a:ext uri="{FF2B5EF4-FFF2-40B4-BE49-F238E27FC236}">
                <a16:creationId xmlns:a16="http://schemas.microsoft.com/office/drawing/2014/main" id="{CD7844D3-6F61-42F3-86E7-F5276B429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291" y="2797007"/>
            <a:ext cx="333566" cy="650931"/>
          </a:xfrm>
          <a:prstGeom prst="rect">
            <a:avLst/>
          </a:prstGeom>
          <a:ln>
            <a:noFill/>
          </a:ln>
        </p:spPr>
      </p:pic>
      <p:pic>
        <p:nvPicPr>
          <p:cNvPr id="163" name="Рисунок 13">
            <a:extLst>
              <a:ext uri="{FF2B5EF4-FFF2-40B4-BE49-F238E27FC236}">
                <a16:creationId xmlns:a16="http://schemas.microsoft.com/office/drawing/2014/main" id="{6AF3DE9E-AD84-4584-9715-912BCD270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092" y="3955418"/>
            <a:ext cx="329630" cy="476711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extrusionClr>
              <a:srgbClr val="FFFFFF"/>
            </a:extrusionClr>
            <a:contourClr>
              <a:srgbClr val="FFFFFF"/>
            </a:contourClr>
          </a:sp3d>
        </p:spPr>
      </p:pic>
      <p:sp>
        <p:nvSpPr>
          <p:cNvPr id="164" name="Rectangle 12">
            <a:extLst>
              <a:ext uri="{FF2B5EF4-FFF2-40B4-BE49-F238E27FC236}">
                <a16:creationId xmlns:a16="http://schemas.microsoft.com/office/drawing/2014/main" id="{F910302E-80D0-429D-8475-A07EFF5C951C}"/>
              </a:ext>
            </a:extLst>
          </p:cNvPr>
          <p:cNvSpPr/>
          <p:nvPr/>
        </p:nvSpPr>
        <p:spPr bwMode="auto">
          <a:xfrm>
            <a:off x="3778650" y="4990374"/>
            <a:ext cx="3005343" cy="979639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65" name="TextBox 148">
            <a:extLst>
              <a:ext uri="{FF2B5EF4-FFF2-40B4-BE49-F238E27FC236}">
                <a16:creationId xmlns:a16="http://schemas.microsoft.com/office/drawing/2014/main" id="{E617D2BD-6AE8-4D92-9B68-F849EB5F35FD}"/>
              </a:ext>
            </a:extLst>
          </p:cNvPr>
          <p:cNvSpPr txBox="1"/>
          <p:nvPr/>
        </p:nvSpPr>
        <p:spPr bwMode="auto">
          <a:xfrm>
            <a:off x="4276417" y="5098771"/>
            <a:ext cx="2351393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7D70EF"/>
              </a:buClr>
              <a:buSzPct val="110000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Использование 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AI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инструментария для создания тестовой стратегии подбора конфигурация для тестирования </a:t>
            </a:r>
          </a:p>
        </p:txBody>
      </p:sp>
      <p:grpSp>
        <p:nvGrpSpPr>
          <p:cNvPr id="166" name="Группа 535">
            <a:extLst>
              <a:ext uri="{FF2B5EF4-FFF2-40B4-BE49-F238E27FC236}">
                <a16:creationId xmlns:a16="http://schemas.microsoft.com/office/drawing/2014/main" id="{1E0C8E41-0A05-419F-934A-994B114A06D2}"/>
              </a:ext>
            </a:extLst>
          </p:cNvPr>
          <p:cNvGrpSpPr>
            <a:grpSpLocks noChangeAspect="1"/>
          </p:cNvGrpSpPr>
          <p:nvPr/>
        </p:nvGrpSpPr>
        <p:grpSpPr>
          <a:xfrm>
            <a:off x="3887362" y="5202943"/>
            <a:ext cx="322421" cy="383480"/>
            <a:chOff x="2865554" y="4921611"/>
            <a:chExt cx="984276" cy="1082073"/>
          </a:xfrm>
        </p:grpSpPr>
        <p:sp>
          <p:nvSpPr>
            <p:cNvPr id="167" name="Полилиния: фигура 175">
              <a:extLst>
                <a:ext uri="{FF2B5EF4-FFF2-40B4-BE49-F238E27FC236}">
                  <a16:creationId xmlns:a16="http://schemas.microsoft.com/office/drawing/2014/main" id="{7ACC2AE0-67BA-433A-AAF9-E1C8A5950236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rgbClr val="8F0D6B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: фигура 164">
              <a:extLst>
                <a:ext uri="{FF2B5EF4-FFF2-40B4-BE49-F238E27FC236}">
                  <a16:creationId xmlns:a16="http://schemas.microsoft.com/office/drawing/2014/main" id="{CFCA9D67-F0AA-4A8C-BA2F-D3451CFFC7AA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165">
              <a:extLst>
                <a:ext uri="{FF2B5EF4-FFF2-40B4-BE49-F238E27FC236}">
                  <a16:creationId xmlns:a16="http://schemas.microsoft.com/office/drawing/2014/main" id="{75DCDBC3-AA64-477B-807E-C76F4113BE26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166">
              <a:extLst>
                <a:ext uri="{FF2B5EF4-FFF2-40B4-BE49-F238E27FC236}">
                  <a16:creationId xmlns:a16="http://schemas.microsoft.com/office/drawing/2014/main" id="{A47E2FE3-75EC-42B9-86FC-3DDDF9609E56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167">
              <a:extLst>
                <a:ext uri="{FF2B5EF4-FFF2-40B4-BE49-F238E27FC236}">
                  <a16:creationId xmlns:a16="http://schemas.microsoft.com/office/drawing/2014/main" id="{51364833-9084-4BB0-A98A-7F07D5E66110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168">
              <a:extLst>
                <a:ext uri="{FF2B5EF4-FFF2-40B4-BE49-F238E27FC236}">
                  <a16:creationId xmlns:a16="http://schemas.microsoft.com/office/drawing/2014/main" id="{837D3A90-C00E-4F25-9A9A-32B69CC58BAE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69">
              <a:extLst>
                <a:ext uri="{FF2B5EF4-FFF2-40B4-BE49-F238E27FC236}">
                  <a16:creationId xmlns:a16="http://schemas.microsoft.com/office/drawing/2014/main" id="{80703585-BCA1-4A3D-9642-5D734FABDE5E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70">
              <a:extLst>
                <a:ext uri="{FF2B5EF4-FFF2-40B4-BE49-F238E27FC236}">
                  <a16:creationId xmlns:a16="http://schemas.microsoft.com/office/drawing/2014/main" id="{CC2FBF34-BB48-4B13-9B4A-69374CE504DD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71">
              <a:extLst>
                <a:ext uri="{FF2B5EF4-FFF2-40B4-BE49-F238E27FC236}">
                  <a16:creationId xmlns:a16="http://schemas.microsoft.com/office/drawing/2014/main" id="{07FA11D6-77CF-4022-9FF2-8EBA6827FFAF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76" name="Рисунок 2">
              <a:extLst>
                <a:ext uri="{FF2B5EF4-FFF2-40B4-BE49-F238E27FC236}">
                  <a16:creationId xmlns:a16="http://schemas.microsoft.com/office/drawing/2014/main" id="{1D668865-0F91-418D-A563-E8D2B8358D44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177" name="Полилиния: фигура 173">
                <a:extLst>
                  <a:ext uri="{FF2B5EF4-FFF2-40B4-BE49-F238E27FC236}">
                    <a16:creationId xmlns:a16="http://schemas.microsoft.com/office/drawing/2014/main" id="{7B79C8FA-E609-4BEC-A7DC-C9FE397EBB3D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8" name="Полилиния: фигура 174">
                <a:extLst>
                  <a:ext uri="{FF2B5EF4-FFF2-40B4-BE49-F238E27FC236}">
                    <a16:creationId xmlns:a16="http://schemas.microsoft.com/office/drawing/2014/main" id="{3A6CF51A-7E5F-49E8-9800-1AB2CA4FB462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Title 1"/>
          <p:cNvSpPr txBox="1">
            <a:spLocks noGrp="1"/>
          </p:cNvSpPr>
          <p:nvPr/>
        </p:nvSpPr>
        <p:spPr>
          <a:xfrm>
            <a:off x="515937" y="343546"/>
            <a:ext cx="4984532" cy="613058"/>
          </a:xfrm>
          <a:prstGeom prst="rect">
            <a:avLst/>
          </a:prstGeom>
        </p:spPr>
        <p:txBody>
          <a:bodyPr/>
          <a:lstStyle/>
          <a:p>
            <a:r>
              <a:rPr lang="ru-RU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Мобильное тестирование</a:t>
            </a:r>
          </a:p>
        </p:txBody>
      </p:sp>
      <p:sp>
        <p:nvSpPr>
          <p:cNvPr id="22" name="Text Placeholder 4"/>
          <p:cNvSpPr txBox="1">
            <a:spLocks noGrp="1"/>
          </p:cNvSpPr>
          <p:nvPr/>
        </p:nvSpPr>
        <p:spPr>
          <a:xfrm>
            <a:off x="510476" y="1024701"/>
            <a:ext cx="4984533" cy="3030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pc="0"/>
            </a:lvl1pPr>
          </a:lstStyle>
          <a:p>
            <a:r>
              <a:rPr lang="ru-RU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Наши сервисы</a:t>
            </a:r>
          </a:p>
        </p:txBody>
      </p:sp>
      <p:sp>
        <p:nvSpPr>
          <p:cNvPr id="23" name="Text Placeholder 5"/>
          <p:cNvSpPr>
            <a:spLocks noGrp="1"/>
          </p:cNvSpPr>
          <p:nvPr/>
        </p:nvSpPr>
        <p:spPr>
          <a:xfrm>
            <a:off x="510476" y="1701362"/>
            <a:ext cx="5102543" cy="29867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pPr marL="285750" indent="-285750">
              <a:spcBef>
                <a:spcPts val="1665"/>
              </a:spcBef>
              <a:buClr>
                <a:srgbClr val="7D70EF"/>
              </a:buClr>
              <a:buSzPct val="100000"/>
              <a:buFont typeface="Stapel"/>
              <a:buChar char="•"/>
            </a:pPr>
            <a:r>
              <a:rPr dirty="0" err="1" sz="1250" b="0">
                <a:solidFill>
                  <a:srgbClr val="000000"/>
                </a:solidFill>
                <a:latin typeface="Stapel"/>
              </a:rPr>
              <a:t>Автоматизация</a:t>
            </a:r>
            <a:r>
              <a:rPr dirty="0" sz="125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250" b="0">
                <a:solidFill>
                  <a:srgbClr val="000000"/>
                </a:solidFill>
                <a:latin typeface="Stapel"/>
              </a:rPr>
              <a:t>мобильного</a:t>
            </a:r>
            <a:r>
              <a:rPr dirty="0" sz="1250" b="0">
                <a:solidFill>
                  <a:srgbClr val="000000"/>
                </a:solidFill>
                <a:latin typeface="Stapel"/>
              </a:rPr>
              <a:t> тестирования</a:t>
            </a:r>
            <a:endParaRPr spc="30" dirty="0" sz="1650"/>
          </a:p>
          <a:p>
            <a:pPr marL="285750" indent="-285750">
              <a:spcBef>
                <a:spcPts val="1665"/>
              </a:spcBef>
              <a:buClr>
                <a:srgbClr val="7D70EF"/>
              </a:buClr>
              <a:buSzPct val="100000"/>
              <a:buFont typeface="Stapel"/>
              <a:buChar char="•"/>
            </a:pPr>
            <a:r>
              <a:rPr dirty="0" err="1" sz="1250" b="0">
                <a:solidFill>
                  <a:srgbClr val="000000"/>
                </a:solidFill>
                <a:latin typeface="Stapel"/>
              </a:rPr>
              <a:t>Тестирование</a:t>
            </a:r>
            <a:r>
              <a:rPr dirty="0" sz="1250" b="0">
                <a:solidFill>
                  <a:srgbClr val="000000"/>
                </a:solidFill>
                <a:latin typeface="Stapel"/>
              </a:rPr>
              <a:t> UX/ UI </a:t>
            </a:r>
            <a:endParaRPr spc="30" dirty="0" sz="1650"/>
          </a:p>
          <a:p>
            <a:pPr marL="285750" indent="-285750">
              <a:spcBef>
                <a:spcPts val="1665"/>
              </a:spcBef>
              <a:buClr>
                <a:srgbClr val="7D70EF"/>
              </a:buClr>
              <a:buSzPct val="100000"/>
              <a:buFont typeface="Stapel"/>
              <a:buChar char="•"/>
            </a:pPr>
            <a:r>
              <a:rPr dirty="0" err="1" sz="1250" b="0">
                <a:solidFill>
                  <a:srgbClr val="000000"/>
                </a:solidFill>
                <a:latin typeface="Stapel"/>
              </a:rPr>
              <a:t>Тестирование</a:t>
            </a:r>
            <a:r>
              <a:rPr dirty="0" sz="125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250" b="0">
                <a:solidFill>
                  <a:srgbClr val="000000"/>
                </a:solidFill>
                <a:latin typeface="Stapel"/>
              </a:rPr>
              <a:t>адаптивности</a:t>
            </a:r>
            <a:r>
              <a:rPr dirty="0" sz="125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250" b="0">
                <a:solidFill>
                  <a:srgbClr val="000000"/>
                </a:solidFill>
                <a:latin typeface="Stapel"/>
              </a:rPr>
              <a:t>дизайна</a:t>
            </a:r>
            <a:endParaRPr spc="30" dirty="0" sz="1650"/>
          </a:p>
          <a:p>
            <a:pPr marL="285750" indent="-285750">
              <a:spcBef>
                <a:spcPts val="1665"/>
              </a:spcBef>
              <a:buClr>
                <a:srgbClr val="7D70EF"/>
              </a:buClr>
              <a:buSzPct val="100000"/>
              <a:buFont typeface="Stapel"/>
              <a:buChar char="•"/>
            </a:pPr>
            <a:r>
              <a:rPr dirty="0" err="1" sz="1250" b="0">
                <a:solidFill>
                  <a:srgbClr val="000000"/>
                </a:solidFill>
                <a:latin typeface="Stapel"/>
              </a:rPr>
              <a:t>Тестирование</a:t>
            </a:r>
            <a:r>
              <a:rPr dirty="0" sz="125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250" b="0">
                <a:solidFill>
                  <a:srgbClr val="000000"/>
                </a:solidFill>
                <a:latin typeface="Stapel"/>
              </a:rPr>
              <a:t>совместимости</a:t>
            </a:r>
            <a:r>
              <a:rPr dirty="0" sz="1250" b="0">
                <a:solidFill>
                  <a:srgbClr val="000000"/>
                </a:solidFill>
                <a:latin typeface="Stapel"/>
              </a:rPr>
              <a:t> и </a:t>
            </a:r>
            <a:br>
              <a:rPr dirty="0"/>
            </a:br>
            <a:r>
              <a:rPr dirty="0" err="1" sz="1250" b="0">
                <a:solidFill>
                  <a:srgbClr val="000000"/>
                </a:solidFill>
                <a:latin typeface="Stapel"/>
              </a:rPr>
              <a:t>кросс-платформенное</a:t>
            </a:r>
            <a:r>
              <a:rPr dirty="0" sz="125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250" b="0">
                <a:solidFill>
                  <a:srgbClr val="000000"/>
                </a:solidFill>
                <a:latin typeface="Stapel"/>
              </a:rPr>
              <a:t>тестирование</a:t>
            </a:r>
            <a:endParaRPr spc="30" dirty="0" sz="1650"/>
          </a:p>
          <a:p>
            <a:pPr marL="285750" indent="-285750">
              <a:spcBef>
                <a:spcPts val="1665"/>
              </a:spcBef>
              <a:buClr>
                <a:srgbClr val="7D70EF"/>
              </a:buClr>
              <a:buSzPct val="100000"/>
              <a:buFont typeface="Stapel"/>
              <a:buChar char="•"/>
            </a:pPr>
            <a:r>
              <a:rPr dirty="0" err="1" sz="1250" b="0">
                <a:solidFill>
                  <a:srgbClr val="000000"/>
                </a:solidFill>
                <a:latin typeface="Stapel"/>
              </a:rPr>
              <a:t>Сертификационное</a:t>
            </a:r>
            <a:r>
              <a:rPr dirty="0" sz="125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250" b="0">
                <a:solidFill>
                  <a:srgbClr val="000000"/>
                </a:solidFill>
                <a:latin typeface="Stapel"/>
              </a:rPr>
              <a:t>тестирование</a:t>
            </a:r>
            <a:endParaRPr lang="ru-RU" dirty="0" sz="1650"/>
          </a:p>
          <a:p>
            <a:pPr marL="285750" indent="-285750">
              <a:spcBef>
                <a:spcPts val="1665"/>
              </a:spcBef>
              <a:buClr>
                <a:srgbClr val="7D70EF"/>
              </a:buClr>
              <a:buSzPct val="100000"/>
              <a:buFont typeface="Stapel"/>
              <a:buChar char="•"/>
            </a:pPr>
            <a:r>
              <a:rPr lang="ru-RU" dirty="0" sz="1250" b="0">
                <a:solidFill>
                  <a:srgbClr val="000000"/>
                </a:solidFill>
                <a:latin typeface="Stapel"/>
              </a:rPr>
              <a:t>Работа с облачными фермами и эмуляторами</a:t>
            </a:r>
            <a:r>
              <a:rPr lang="en-US" dirty="0" sz="1250" b="0">
                <a:solidFill>
                  <a:srgbClr val="000000"/>
                </a:solidFill>
                <a:latin typeface="Stapel"/>
              </a:rPr>
              <a:t>/</a:t>
            </a:r>
            <a:r>
              <a:rPr lang="ru-RU" dirty="0" sz="1250" b="0">
                <a:solidFill>
                  <a:srgbClr val="000000"/>
                </a:solidFill>
                <a:latin typeface="Stapel"/>
              </a:rPr>
              <a:t>симуляторами</a:t>
            </a:r>
            <a:endParaRPr dirty="0" sz="1650"/>
          </a:p>
        </p:txBody>
      </p:sp>
      <p:sp>
        <p:nvSpPr>
          <p:cNvPr id="24" name="Text Placeholder 6"/>
          <p:cNvSpPr>
            <a:spLocks noGrp="1"/>
          </p:cNvSpPr>
          <p:nvPr/>
        </p:nvSpPr>
        <p:spPr>
          <a:xfrm>
            <a:off x="6696991" y="1024701"/>
            <a:ext cx="4984533" cy="303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r>
              <a:rPr dirty="0" err="1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Инструменты</a:t>
            </a:r>
            <a:endParaRPr dirty="0"/>
          </a:p>
        </p:txBody>
      </p:sp>
      <p:sp>
        <p:nvSpPr>
          <p:cNvPr id="25" name="Rectangle 18"/>
          <p:cNvSpPr/>
          <p:nvPr/>
        </p:nvSpPr>
        <p:spPr>
          <a:xfrm>
            <a:off x="6804293" y="1700759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6" name="Rectangle 40"/>
          <p:cNvSpPr/>
          <p:nvPr/>
        </p:nvSpPr>
        <p:spPr>
          <a:xfrm>
            <a:off x="8497044" y="1700762"/>
            <a:ext cx="1486267" cy="853723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7" name="Rectangle 41"/>
          <p:cNvSpPr/>
          <p:nvPr/>
        </p:nvSpPr>
        <p:spPr>
          <a:xfrm>
            <a:off x="10189795" y="1700760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8" name="Rectangle 42"/>
          <p:cNvSpPr/>
          <p:nvPr/>
        </p:nvSpPr>
        <p:spPr>
          <a:xfrm>
            <a:off x="6804293" y="2721721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9" name="Rectangle 43"/>
          <p:cNvSpPr/>
          <p:nvPr/>
        </p:nvSpPr>
        <p:spPr>
          <a:xfrm>
            <a:off x="8497044" y="2721723"/>
            <a:ext cx="1486267" cy="853723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0" name="Rectangle 44"/>
          <p:cNvSpPr/>
          <p:nvPr/>
        </p:nvSpPr>
        <p:spPr>
          <a:xfrm>
            <a:off x="10189795" y="2721722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" name="Rectangle 45"/>
          <p:cNvSpPr/>
          <p:nvPr/>
        </p:nvSpPr>
        <p:spPr>
          <a:xfrm>
            <a:off x="6804293" y="3712200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2" name="Rectangle 46"/>
          <p:cNvSpPr/>
          <p:nvPr/>
        </p:nvSpPr>
        <p:spPr>
          <a:xfrm>
            <a:off x="8497044" y="3712202"/>
            <a:ext cx="1486267" cy="853723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" name="Rectangle 47"/>
          <p:cNvSpPr/>
          <p:nvPr/>
        </p:nvSpPr>
        <p:spPr>
          <a:xfrm>
            <a:off x="10189795" y="3712202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4" name="Rectangle 50"/>
          <p:cNvSpPr/>
          <p:nvPr/>
        </p:nvSpPr>
        <p:spPr>
          <a:xfrm>
            <a:off x="10189795" y="4695459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35" name="Picture 56" descr="Picture 56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7D70E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537012" y="2975114"/>
            <a:ext cx="1304490" cy="272837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328" y="2947095"/>
            <a:ext cx="1251852" cy="4009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вставленный-фильм.png" descr="вставленный-фильм.png">
            <a:extLst>
              <a:ext uri="{FF2B5EF4-FFF2-40B4-BE49-F238E27FC236}">
                <a16:creationId xmlns:a16="http://schemas.microsoft.com/office/drawing/2014/main" id="{F58E6E7A-C5A9-48A6-BC26-1D8E82C54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181" y="1838754"/>
            <a:ext cx="1304490" cy="52033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8" name="Группа 6">
            <a:extLst>
              <a:ext uri="{FF2B5EF4-FFF2-40B4-BE49-F238E27FC236}">
                <a16:creationId xmlns:a16="http://schemas.microsoft.com/office/drawing/2014/main" id="{F704F43E-3969-491F-BC33-D74971673B99}"/>
              </a:ext>
            </a:extLst>
          </p:cNvPr>
          <p:cNvGrpSpPr/>
          <p:nvPr/>
        </p:nvGrpSpPr>
        <p:grpSpPr>
          <a:xfrm>
            <a:off x="6895181" y="3800819"/>
            <a:ext cx="1384272" cy="507208"/>
            <a:chOff x="6895181" y="3800819"/>
            <a:chExt cx="1384272" cy="507208"/>
          </a:xfrm>
        </p:grpSpPr>
        <p:pic>
          <p:nvPicPr>
            <p:cNvPr id="39" name="Рисунок 2">
              <a:extLst>
                <a:ext uri="{FF2B5EF4-FFF2-40B4-BE49-F238E27FC236}">
                  <a16:creationId xmlns:a16="http://schemas.microsoft.com/office/drawing/2014/main" id="{273FBF38-523B-48C3-BFEF-CCE367CE9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5181" y="3800819"/>
              <a:ext cx="477079" cy="507208"/>
            </a:xfrm>
            <a:prstGeom prst="rect">
              <a:avLst/>
            </a:prstGeom>
          </p:spPr>
        </p:pic>
        <p:sp>
          <p:nvSpPr>
            <p:cNvPr id="40" name="TextBox 5">
              <a:extLst>
                <a:ext uri="{FF2B5EF4-FFF2-40B4-BE49-F238E27FC236}">
                  <a16:creationId xmlns:a16="http://schemas.microsoft.com/office/drawing/2014/main" id="{8777F595-F41D-46D6-A456-0B5BD27F3D5D}"/>
                </a:ext>
              </a:extLst>
            </p:cNvPr>
            <p:cNvSpPr txBox="1"/>
            <p:nvPr/>
          </p:nvSpPr>
          <p:spPr>
            <a:xfrm>
              <a:off x="7427558" y="3896139"/>
              <a:ext cx="8518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spc="30" dirty="0"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Fiddler</a:t>
              </a:r>
              <a:endParaRPr lang="ru-RU" sz="1200" spc="30" dirty="0"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endParaRPr>
            </a:p>
          </p:txBody>
        </p:sp>
      </p:grpSp>
      <p:pic>
        <p:nvPicPr>
          <p:cNvPr id="41" name="Picture 101">
            <a:extLst>
              <a:ext uri="{FF2B5EF4-FFF2-40B4-BE49-F238E27FC236}">
                <a16:creationId xmlns:a16="http://schemas.microsoft.com/office/drawing/2014/main" id="{7FEA6CD7-D266-41A1-92F8-3D07CCAF6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1424" y="3896139"/>
            <a:ext cx="943885" cy="306125"/>
          </a:xfrm>
          <a:prstGeom prst="rect">
            <a:avLst/>
          </a:prstGeom>
        </p:spPr>
      </p:pic>
      <p:pic>
        <p:nvPicPr>
          <p:cNvPr id="42" name="Picture 46" descr="Espresso Framework | Espresso Mobile Testing With Perfecto">
            <a:extLst>
              <a:ext uri="{FF2B5EF4-FFF2-40B4-BE49-F238E27FC236}">
                <a16:creationId xmlns:a16="http://schemas.microsoft.com/office/drawing/2014/main" id="{1AE36550-922A-4662-86CE-CAB561526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64749" y="1967261"/>
            <a:ext cx="1005616" cy="29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36" descr="WebDriver | Selenium">
            <a:extLst>
              <a:ext uri="{FF2B5EF4-FFF2-40B4-BE49-F238E27FC236}">
                <a16:creationId xmlns:a16="http://schemas.microsoft.com/office/drawing/2014/main" id="{C1BF1514-46FC-4FCB-943D-08E8179F4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7065"/>
          <a:stretch/>
        </p:blipFill>
        <p:spPr bwMode="auto">
          <a:xfrm>
            <a:off x="10268674" y="2999489"/>
            <a:ext cx="1197782" cy="34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95">
            <a:extLst>
              <a:ext uri="{FF2B5EF4-FFF2-40B4-BE49-F238E27FC236}">
                <a16:creationId xmlns:a16="http://schemas.microsoft.com/office/drawing/2014/main" id="{8DE5DC16-024E-4C0F-BEE5-B9C4611A228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86872" y="1961759"/>
            <a:ext cx="992988" cy="274320"/>
          </a:xfrm>
          <a:prstGeom prst="rect">
            <a:avLst/>
          </a:prstGeom>
        </p:spPr>
      </p:pic>
      <p:pic>
        <p:nvPicPr>
          <p:cNvPr id="45" name="Picture 6" descr="https://codework.com/wp-content/uploads/2020/04/test-complete-Codework-Inc.png">
            <a:extLst>
              <a:ext uri="{FF2B5EF4-FFF2-40B4-BE49-F238E27FC236}">
                <a16:creationId xmlns:a16="http://schemas.microsoft.com/office/drawing/2014/main" id="{8FB40FF1-1209-49CF-A3DA-376B8CD33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944" y="4912055"/>
            <a:ext cx="1301399" cy="38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8" descr="https://coderlessons.com/wp-content/uploads/images/gur/ee6aa92c0e94663b323e2361442a15ec.png">
            <a:extLst>
              <a:ext uri="{FF2B5EF4-FFF2-40B4-BE49-F238E27FC236}">
                <a16:creationId xmlns:a16="http://schemas.microsoft.com/office/drawing/2014/main" id="{06AE8FA5-4F19-46B2-907D-DE7F67B7F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261" y="3957397"/>
            <a:ext cx="1268764" cy="39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11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Акселераторы тестирования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CF0A59E-571C-4CC4-A35B-CC1368066AB5}"/>
              </a:ext>
            </a:extLst>
          </p:cNvPr>
          <p:cNvSpPr>
            <a:spLocks noGrp="1"/>
          </p:cNvSpPr>
          <p:nvPr/>
        </p:nvSpPr>
        <p:spPr>
          <a:xfrm>
            <a:off x="3345889" y="4040411"/>
            <a:ext cx="2515928" cy="578043"/>
          </a:xfrm>
        </p:spPr>
        <p:txBody>
          <a:bodyPr/>
          <a:lstStyle/>
          <a:p>
            <a:r>
              <a:rPr lang="en-US" dirty="0" err="1" sz="14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PlayGriffin</a:t>
            </a:r>
            <a:r>
              <a:rPr lang="en-US" dirty="0" sz="14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 TAF</a:t>
            </a:r>
            <a:endParaRPr lang="ru-RU" dirty="0"/>
          </a:p>
          <a:p>
            <a:br>
              <a:rPr lang="ru-RU" dirty="0"/>
            </a:br>
            <a:endParaRPr lang="ru-RU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874C905-80D7-43A3-8242-3FB1DE743846}"/>
              </a:ext>
            </a:extLst>
          </p:cNvPr>
          <p:cNvSpPr>
            <a:spLocks noGrp="1"/>
          </p:cNvSpPr>
          <p:nvPr/>
        </p:nvSpPr>
        <p:spPr>
          <a:xfrm>
            <a:off x="3345888" y="4718802"/>
            <a:ext cx="2517989" cy="900246"/>
          </a:xfrm>
        </p:spPr>
        <p:txBody>
          <a:bodyPr/>
          <a:lstStyle/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Фреймворк для автоматизированного тестирования на основе </a:t>
            </a:r>
            <a:r>
              <a:rPr lang="ru-RU" dirty="0" err="1" sz="1050" b="0">
                <a:solidFill>
                  <a:srgbClr val="000000"/>
                </a:solidFill>
                <a:latin typeface="Stapel"/>
              </a:rPr>
              <a:t>Playwright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Java</a:t>
            </a:r>
            <a:endParaRPr lang="ru-RU" dirty="0"/>
          </a:p>
          <a:p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587F91E-C7CF-4C2B-AEFD-AA05348E9828}"/>
              </a:ext>
            </a:extLst>
          </p:cNvPr>
          <p:cNvSpPr>
            <a:spLocks noGrp="1"/>
          </p:cNvSpPr>
          <p:nvPr/>
        </p:nvSpPr>
        <p:spPr>
          <a:xfrm>
            <a:off x="514351" y="4040411"/>
            <a:ext cx="2515928" cy="321563"/>
          </a:xfrm>
        </p:spPr>
        <p:txBody>
          <a:bodyPr/>
          <a:lstStyle/>
          <a:p>
            <a:pPr algn="ctr"/>
            <a:r>
              <a:rPr lang="en-US" dirty="0" sz="14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Sirin TAF</a:t>
            </a:r>
            <a:endParaRPr lang="ru-RU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3477E37-933A-44D7-89A8-66B78530F80B}"/>
              </a:ext>
            </a:extLst>
          </p:cNvPr>
          <p:cNvSpPr>
            <a:spLocks noGrp="1"/>
          </p:cNvSpPr>
          <p:nvPr/>
        </p:nvSpPr>
        <p:spPr>
          <a:xfrm>
            <a:off x="514350" y="4718802"/>
            <a:ext cx="2517989" cy="738664"/>
          </a:xfrm>
        </p:spPr>
        <p:txBody>
          <a:bodyPr/>
          <a:lstStyle/>
          <a:p>
            <a:r>
              <a:rPr lang="ru-RU" dirty="0" sz="1000" b="0">
                <a:solidFill>
                  <a:srgbClr val="000000"/>
                </a:solidFill>
                <a:latin typeface="Stapel"/>
              </a:rPr>
              <a:t>Фреймворк для автоматизированного тестирования на основе </a:t>
            </a:r>
            <a:r>
              <a:rPr lang="ru-RU" dirty="0" err="1" sz="1000" b="0">
                <a:solidFill>
                  <a:srgbClr val="000000"/>
                </a:solidFill>
                <a:latin typeface="Stapel"/>
              </a:rPr>
              <a:t>Selenide</a:t>
            </a:r>
            <a:r>
              <a:rPr lang="ru-RU" dirty="0" sz="1000" b="0">
                <a:solidFill>
                  <a:srgbClr val="000000"/>
                </a:solidFill>
                <a:latin typeface="Stapel"/>
              </a:rPr>
              <a:t> и </a:t>
            </a:r>
            <a:r>
              <a:rPr lang="ru-RU" dirty="0" err="1" sz="1000" b="0">
                <a:solidFill>
                  <a:srgbClr val="000000"/>
                </a:solidFill>
                <a:latin typeface="Stapel"/>
              </a:rPr>
              <a:t>Java</a:t>
            </a:r>
            <a:endParaRPr lang="ru-RU" dirty="0" sz="175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8F8F33F-4470-426C-9334-6E9CF9FF30DC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Наши акселераторы тестирования</a:t>
            </a:r>
          </a:p>
        </p:txBody>
      </p:sp>
      <p:pic>
        <p:nvPicPr>
          <p:cNvPr id="25" name="Picture Placeholder 17">
            <a:extLst>
              <a:ext uri="{FF2B5EF4-FFF2-40B4-BE49-F238E27FC236}">
                <a16:creationId xmlns:a16="http://schemas.microsoft.com/office/drawing/2014/main" id="{BF4FAA63-90F1-44D1-8D4B-89AE81802F59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30" y="1863946"/>
            <a:ext cx="1721126" cy="1707104"/>
          </a:xfrm>
        </p:spPr>
      </p:pic>
      <p:pic>
        <p:nvPicPr>
          <p:cNvPr id="26" name="Picture Placeholder 15">
            <a:extLst>
              <a:ext uri="{FF2B5EF4-FFF2-40B4-BE49-F238E27FC236}">
                <a16:creationId xmlns:a16="http://schemas.microsoft.com/office/drawing/2014/main" id="{3B47CE14-7D88-40DE-80B8-476192DFC900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62421" y="1839498"/>
            <a:ext cx="1721126" cy="1721126"/>
          </a:xfrm>
        </p:spPr>
      </p:pic>
      <p:pic>
        <p:nvPicPr>
          <p:cNvPr id="27" name="Picture Placeholder 21">
            <a:extLst>
              <a:ext uri="{FF2B5EF4-FFF2-40B4-BE49-F238E27FC236}">
                <a16:creationId xmlns:a16="http://schemas.microsoft.com/office/drawing/2014/main" id="{1602CE23-E57B-49C3-B88C-FCA757B5EAAA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7068" y="1839498"/>
            <a:ext cx="1721126" cy="1721126"/>
          </a:xfrm>
        </p:spPr>
      </p:pic>
      <p:pic>
        <p:nvPicPr>
          <p:cNvPr id="28" name="Picture Placeholder 14">
            <a:extLst>
              <a:ext uri="{FF2B5EF4-FFF2-40B4-BE49-F238E27FC236}">
                <a16:creationId xmlns:a16="http://schemas.microsoft.com/office/drawing/2014/main" id="{3531BBDD-30AF-4F14-BE7B-EA504A1EFA38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577" y="1863946"/>
            <a:ext cx="1721126" cy="1721127"/>
          </a:xfrm>
        </p:spPr>
      </p:pic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0282062F-F85F-489A-9A14-A6800F6875A9}"/>
              </a:ext>
            </a:extLst>
          </p:cNvPr>
          <p:cNvSpPr>
            <a:spLocks noGrp="1"/>
          </p:cNvSpPr>
          <p:nvPr/>
        </p:nvSpPr>
        <p:spPr>
          <a:xfrm>
            <a:off x="9008965" y="4040411"/>
            <a:ext cx="2515928" cy="578043"/>
          </a:xfrm>
        </p:spPr>
        <p:txBody>
          <a:bodyPr/>
          <a:lstStyle/>
          <a:p>
            <a:r>
              <a:rPr lang="en-US" dirty="0" err="1" sz="14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PlayGriffin.Perf</a:t>
            </a:r>
            <a:endParaRPr lang="ru-RU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DFDAEE-53E1-41D5-92BD-D82FD910EDAF}"/>
              </a:ext>
            </a:extLst>
          </p:cNvPr>
          <p:cNvSpPr>
            <a:spLocks noGrp="1"/>
          </p:cNvSpPr>
          <p:nvPr/>
        </p:nvSpPr>
        <p:spPr>
          <a:xfrm>
            <a:off x="9008964" y="4718802"/>
            <a:ext cx="2517989" cy="253916"/>
          </a:xfrm>
        </p:spPr>
        <p:txBody>
          <a:bodyPr/>
          <a:lstStyle/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Акселератор проекта нагрузочного тестирования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на основе 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Gatling Java</a:t>
            </a:r>
            <a:endParaRPr lang="ru-RU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FCD6E9B9-8B3C-4A3E-8E16-4F4D4AF3622C}"/>
              </a:ext>
            </a:extLst>
          </p:cNvPr>
          <p:cNvSpPr>
            <a:spLocks noGrp="1"/>
          </p:cNvSpPr>
          <p:nvPr/>
        </p:nvSpPr>
        <p:spPr>
          <a:xfrm>
            <a:off x="6177427" y="4040411"/>
            <a:ext cx="2515928" cy="321563"/>
          </a:xfrm>
        </p:spPr>
        <p:txBody>
          <a:bodyPr/>
          <a:lstStyle/>
          <a:p>
            <a:r>
              <a:rPr lang="en-US" dirty="0" err="1" sz="14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Unicorn.TAF</a:t>
            </a:r>
            <a:endParaRPr lang="ru-RU" dirty="0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1A18C082-2BB5-4C1B-A10B-ED3B6DC01A1D}"/>
              </a:ext>
            </a:extLst>
          </p:cNvPr>
          <p:cNvSpPr>
            <a:spLocks noGrp="1"/>
          </p:cNvSpPr>
          <p:nvPr/>
        </p:nvSpPr>
        <p:spPr>
          <a:xfrm>
            <a:off x="6177426" y="4718802"/>
            <a:ext cx="2517989" cy="577081"/>
          </a:xfrm>
        </p:spPr>
        <p:txBody>
          <a:bodyPr/>
          <a:lstStyle/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Фреймворк автоматизированного тестирования 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Web UI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 и API на платформе 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.NET</a:t>
            </a:r>
            <a:endParaRPr lang="ru-RU" dirty="0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72000" tIns="36000" rIns="72000" bIns="36000" rtlCol="0" anchor="ctr"/>
          <a:lstStyle/>
          <a:p>
            <a:pPr algn="ctr"/>
            <a:endParaRPr lang="ru-RU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/>
        </p:nvSpPr>
        <p:spPr>
          <a:xfrm>
            <a:off x="515937" y="1390416"/>
            <a:ext cx="7342167" cy="613057"/>
          </a:xfrm>
        </p:spPr>
        <p:txBody>
          <a:bodyPr anchor="ctr">
            <a:normAutofit/>
          </a:bodyPr>
          <a:lstStyle/>
          <a:p>
            <a:r>
              <a:rPr lang="ru-RU" sz="14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Это официальный фреймворк </a:t>
            </a:r>
            <a:r>
              <a:rPr lang="ru-RU" sz="140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Рексофт</a:t>
            </a:r>
            <a:r>
              <a:rPr lang="ru-RU" sz="14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для автоматизированного тестирования, построенный как обёртка над </a:t>
            </a:r>
            <a:r>
              <a:rPr lang="ru-RU" sz="140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Selenide</a:t>
            </a:r>
            <a:r>
              <a:rPr lang="ru-RU" sz="14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и Java.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7122820" cy="613057"/>
          </a:xfrm>
        </p:spPr>
        <p:txBody>
          <a:bodyPr>
            <a:normAutofit/>
          </a:bodyPr>
          <a:lstStyle/>
          <a:p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Sirin TAF</a:t>
            </a:r>
            <a:endParaRPr lang="ru-RU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/>
        </p:nvSpPr>
        <p:spPr>
          <a:xfrm>
            <a:off x="515937" y="899607"/>
            <a:ext cx="7122820" cy="547805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Фреймворк для автоматизированного тестирования</a:t>
            </a:r>
          </a:p>
          <a:p>
            <a:endParaRPr lang="ru-RU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F283BD94-C3BF-4C68-BCC1-2B6FC06BAAE2}"/>
              </a:ext>
            </a:extLst>
          </p:cNvPr>
          <p:cNvSpPr txBox="1">
            <a:spLocks/>
          </p:cNvSpPr>
          <p:nvPr/>
        </p:nvSpPr>
        <p:spPr>
          <a:xfrm>
            <a:off x="515937" y="2207895"/>
            <a:ext cx="4065028" cy="34667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950"/>
              </a:lnSpc>
              <a:spcBef>
                <a:spcPts val="528"/>
              </a:spcBef>
              <a:buClr>
                <a:srgbClr val="7D70EF"/>
              </a:buClr>
              <a:buFont typeface="Stapel" panose="020B0604020202020204" pitchFamily="34" charset="0"/>
              <a:buNone/>
              <a:defRPr sz="7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264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7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264"/>
              </a:spcBef>
              <a:buFont typeface="Stapel" panose="020B0604020202020204" pitchFamily="34" charset="0"/>
              <a:buChar char="•"/>
              <a:defRPr sz="6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264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6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264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6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64"/>
              </a:spcBef>
              <a:buFont typeface="Stapel" panose="020B0604020202020204" pitchFamily="34" charset="0"/>
              <a:buChar char="•"/>
              <a:defRPr sz="9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64"/>
              </a:spcBef>
              <a:buFont typeface="Stapel" panose="020B0604020202020204" pitchFamily="34" charset="0"/>
              <a:buChar char="•"/>
              <a:defRPr sz="9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64"/>
              </a:spcBef>
              <a:buFont typeface="Stapel" panose="020B0604020202020204" pitchFamily="34" charset="0"/>
              <a:buChar char="•"/>
              <a:defRPr sz="9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64"/>
              </a:spcBef>
              <a:buFont typeface="Stapel" panose="020B0604020202020204" pitchFamily="34" charset="0"/>
              <a:buChar char="•"/>
              <a:defRPr sz="9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150" dirty="0" b="0">
                <a:solidFill>
                  <a:srgbClr val="000000"/>
                </a:solidFill>
                <a:latin typeface="Stapel"/>
              </a:rPr>
              <a:t>Ключевые преимущества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en-US" sz="1150" dirty="0" b="0">
                <a:solidFill>
                  <a:srgbClr val="000000"/>
                </a:solidFill>
                <a:latin typeface="Stapel"/>
              </a:rPr>
              <a:t>UI-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тестирование: построен на </a:t>
            </a:r>
            <a:r>
              <a:rPr lang="ru-RU" sz="1150" dirty="0" err="1" b="0">
                <a:solidFill>
                  <a:srgbClr val="000000"/>
                </a:solidFill>
                <a:latin typeface="Stapel"/>
              </a:rPr>
              <a:t>Selenide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, стабильная работа с элементами и коллекциями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50" dirty="0" b="0">
                <a:solidFill>
                  <a:srgbClr val="000000"/>
                </a:solidFill>
                <a:latin typeface="Stapel"/>
              </a:rPr>
              <a:t>Кросс-</a:t>
            </a:r>
            <a:r>
              <a:rPr lang="ru-RU" sz="1150" dirty="0" err="1" b="0">
                <a:solidFill>
                  <a:srgbClr val="000000"/>
                </a:solidFill>
                <a:latin typeface="Stapel"/>
              </a:rPr>
              <a:t>браузерность</a:t>
            </a:r>
            <a:r>
              <a:rPr lang="en-US" sz="1150" dirty="0" b="0">
                <a:solidFill>
                  <a:srgbClr val="000000"/>
                </a:solidFill>
                <a:latin typeface="Stapel"/>
              </a:rPr>
              <a:t>: 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en-US" sz="1150" dirty="0" b="0">
                <a:solidFill>
                  <a:srgbClr val="000000"/>
                </a:solidFill>
                <a:latin typeface="Stapel"/>
              </a:rPr>
              <a:t>Chrome, Firefox, Edge, 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удаленный запуск через </a:t>
            </a:r>
            <a:r>
              <a:rPr lang="en-US" sz="1150" dirty="0" err="1" b="0">
                <a:solidFill>
                  <a:srgbClr val="000000"/>
                </a:solidFill>
                <a:latin typeface="Stapel"/>
              </a:rPr>
              <a:t>Selenoid</a:t>
            </a:r>
            <a:r>
              <a:rPr lang="en-US" sz="1150" dirty="0" b="0">
                <a:solidFill>
                  <a:srgbClr val="000000"/>
                </a:solidFill>
                <a:latin typeface="Stapel"/>
              </a:rPr>
              <a:t>/Grid</a:t>
            </a:r>
            <a:endParaRPr lang="ru-RU" sz="115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50" dirty="0" b="0">
                <a:solidFill>
                  <a:srgbClr val="000000"/>
                </a:solidFill>
                <a:latin typeface="Stapel"/>
              </a:rPr>
              <a:t>Расширенная отчетность(в работе): интеграция с </a:t>
            </a:r>
            <a:r>
              <a:rPr lang="ru-RU" sz="1150" dirty="0" err="1" b="0">
                <a:solidFill>
                  <a:srgbClr val="000000"/>
                </a:solidFill>
                <a:latin typeface="Stapel"/>
              </a:rPr>
              <a:t>Jira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150" dirty="0" err="1" b="0">
                <a:solidFill>
                  <a:srgbClr val="000000"/>
                </a:solidFill>
                <a:latin typeface="Stapel"/>
              </a:rPr>
              <a:t>ReportPortal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150" dirty="0" err="1" b="0">
                <a:solidFill>
                  <a:srgbClr val="000000"/>
                </a:solidFill>
                <a:latin typeface="Stapel"/>
              </a:rPr>
              <a:t>Allure</a:t>
            </a:r>
            <a:endParaRPr lang="en-US" sz="115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50" dirty="0" b="0">
                <a:solidFill>
                  <a:srgbClr val="000000"/>
                </a:solidFill>
                <a:latin typeface="Stapel"/>
              </a:rPr>
              <a:t>Модульная архитектура, возможность расширения функционала</a:t>
            </a:r>
            <a:endParaRPr lang="en-US" sz="115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50" dirty="0" b="0">
                <a:solidFill>
                  <a:srgbClr val="000000"/>
                </a:solidFill>
                <a:latin typeface="Stapel"/>
              </a:rPr>
              <a:t>Гибкая настройка, удобная конфигурация под каждый стенд и браузер</a:t>
            </a:r>
            <a:endParaRPr lang="en-US" sz="115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50" dirty="0" b="0">
                <a:solidFill>
                  <a:srgbClr val="000000"/>
                </a:solidFill>
                <a:latin typeface="Stapel"/>
              </a:rPr>
              <a:t>Готовые клиенты для </a:t>
            </a:r>
            <a:r>
              <a:rPr lang="ru-RU" sz="1150" dirty="0" err="1" b="0">
                <a:solidFill>
                  <a:srgbClr val="000000"/>
                </a:solidFill>
                <a:latin typeface="Stapel"/>
              </a:rPr>
              <a:t>Kafka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, БД, </a:t>
            </a:r>
            <a:r>
              <a:rPr lang="ru-RU" sz="1150" dirty="0" err="1" b="0">
                <a:solidFill>
                  <a:srgbClr val="000000"/>
                </a:solidFill>
                <a:latin typeface="Stapel"/>
              </a:rPr>
              <a:t>OpenSearch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150" dirty="0" err="1" b="0">
                <a:solidFill>
                  <a:srgbClr val="000000"/>
                </a:solidFill>
                <a:latin typeface="Stapel"/>
              </a:rPr>
              <a:t>GreenMail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150" dirty="0" err="1" b="0">
                <a:solidFill>
                  <a:srgbClr val="000000"/>
                </a:solidFill>
                <a:latin typeface="Stapel"/>
              </a:rPr>
              <a:t>MinIO</a:t>
            </a:r>
            <a:r>
              <a:rPr lang="ru-RU" sz="1150" dirty="0" b="0">
                <a:solidFill>
                  <a:srgbClr val="000000"/>
                </a:solidFill>
                <a:latin typeface="Stapel"/>
              </a:rPr>
              <a:t> и других.</a:t>
            </a:r>
            <a:endParaRPr lang="en-US" sz="1150" dirty="0"/>
          </a:p>
        </p:txBody>
      </p:sp>
      <p:sp>
        <p:nvSpPr>
          <p:cNvPr id="25" name="TextBox 31">
            <a:extLst>
              <a:ext uri="{FF2B5EF4-FFF2-40B4-BE49-F238E27FC236}">
                <a16:creationId xmlns:a16="http://schemas.microsoft.com/office/drawing/2014/main" id="{11A7D446-CD79-4E03-842A-B77C22C69898}"/>
              </a:ext>
            </a:extLst>
          </p:cNvPr>
          <p:cNvSpPr txBox="1"/>
          <p:nvPr/>
        </p:nvSpPr>
        <p:spPr>
          <a:xfrm>
            <a:off x="8677763" y="1485321"/>
            <a:ext cx="29982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50" dirty="0">
                <a:solidFill>
                  <a:srgbClr val="FFFFFF"/>
                </a:solidFill>
                <a:latin typeface="+mn-lt"/>
              </a:rPr>
              <a:t>Для проектов:</a:t>
            </a:r>
          </a:p>
          <a:p>
            <a:endParaRPr lang="ru-RU" sz="115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50" dirty="0">
                <a:solidFill>
                  <a:srgbClr val="FFFFFF"/>
                </a:solidFill>
                <a:latin typeface="+mn-lt"/>
              </a:rPr>
              <a:t>Корпоративных</a:t>
            </a: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50" dirty="0">
                <a:solidFill>
                  <a:srgbClr val="FFFFFF"/>
                </a:solidFill>
                <a:latin typeface="+mn-lt"/>
              </a:rPr>
              <a:t>Команды, использующие </a:t>
            </a:r>
            <a:r>
              <a:rPr lang="en-US" sz="1150" dirty="0">
                <a:solidFill>
                  <a:srgbClr val="FFFFFF"/>
                </a:solidFill>
                <a:latin typeface="+mn-lt"/>
              </a:rPr>
              <a:t>Selenide</a:t>
            </a:r>
            <a:endParaRPr lang="ru-RU" sz="115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50" dirty="0">
                <a:solidFill>
                  <a:srgbClr val="FFFFFF"/>
                </a:solidFill>
                <a:latin typeface="+mn-lt"/>
              </a:rPr>
              <a:t>Проекты с богатым </a:t>
            </a:r>
            <a:r>
              <a:rPr lang="en-US" sz="1150" dirty="0">
                <a:solidFill>
                  <a:srgbClr val="FFFFFF"/>
                </a:solidFill>
                <a:latin typeface="+mn-lt"/>
              </a:rPr>
              <a:t>UI</a:t>
            </a:r>
            <a:endParaRPr lang="ru-RU" sz="115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50" dirty="0">
                <a:solidFill>
                  <a:srgbClr val="FFFFFF"/>
                </a:solidFill>
                <a:latin typeface="+mn-lt"/>
              </a:rPr>
              <a:t>Команды, которые хотят быстро начать автоматизацию</a:t>
            </a:r>
          </a:p>
        </p:txBody>
      </p:sp>
      <p:pic>
        <p:nvPicPr>
          <p:cNvPr id="26" name="Picture 37">
            <a:extLst>
              <a:ext uri="{FF2B5EF4-FFF2-40B4-BE49-F238E27FC236}">
                <a16:creationId xmlns:a16="http://schemas.microsoft.com/office/drawing/2014/main" id="{C271E9F8-3D00-4B45-81C6-68636E16B7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7763" y="3171004"/>
            <a:ext cx="2998298" cy="2965320"/>
          </a:xfrm>
          <a:prstGeom prst="rect">
            <a:avLst/>
          </a:prstGeom>
        </p:spPr>
      </p:pic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BD4075D-AC55-41ED-9A8E-60BD90DBDA47}"/>
              </a:ext>
            </a:extLst>
          </p:cNvPr>
          <p:cNvSpPr txBox="1">
            <a:spLocks/>
          </p:cNvSpPr>
          <p:nvPr/>
        </p:nvSpPr>
        <p:spPr>
          <a:xfrm>
            <a:off x="4580965" y="2207895"/>
            <a:ext cx="3171029" cy="224242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Результаты внедрения: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Снижены затраты на лицензии и ускорен старт автоматизации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Внедрен единый инструмент для UI и интеграционного тестирования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Обеспечена легальность использования для работы в гос. проектах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Предоставлен богатый набор предустановленных интеграций с популярными сервисами</a:t>
            </a:r>
          </a:p>
        </p:txBody>
      </p:sp>
      <p:sp>
        <p:nvSpPr>
          <p:cNvPr id="28" name="TextBox 42">
            <a:extLst>
              <a:ext uri="{FF2B5EF4-FFF2-40B4-BE49-F238E27FC236}">
                <a16:creationId xmlns:a16="http://schemas.microsoft.com/office/drawing/2014/main" id="{E90BD307-934C-41D9-BCF0-37C2E8AFD803}"/>
              </a:ext>
            </a:extLst>
          </p:cNvPr>
          <p:cNvSpPr txBox="1"/>
          <p:nvPr/>
        </p:nvSpPr>
        <p:spPr>
          <a:xfrm>
            <a:off x="515937" y="5674659"/>
            <a:ext cx="7655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TAF </a:t>
            </a:r>
            <a:r>
              <a:rPr lang="ru-RU" sz="1200" b="0" dirty="0" err="1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Sirin</a:t>
            </a:r>
            <a:r>
              <a:rPr lang="ru-RU" sz="12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 — это профессиональное, расширяемое решение для автоматизации тестирования на базе </a:t>
            </a:r>
            <a:r>
              <a:rPr lang="ru-RU" sz="1200" b="0" dirty="0" err="1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Selenide</a:t>
            </a:r>
            <a:r>
              <a:rPr lang="ru-RU" sz="1200" b="0" dirty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 и Java, которое предоставляет готовую инфраструктуру для UI-, API- и интеграционного тестирования.</a:t>
            </a:r>
            <a:endParaRPr lang="ru-RU" sz="1200" dirty="0">
              <a:solidFill>
                <a:srgbClr val="7D70EF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15FFE975-6ED3-457C-BBE0-98489FBB3EA6}"/>
              </a:ext>
            </a:extLst>
          </p:cNvPr>
          <p:cNvSpPr/>
          <p:nvPr/>
        </p:nvSpPr>
        <p:spPr>
          <a:xfrm>
            <a:off x="8749553" y="658368"/>
            <a:ext cx="2761129" cy="547805"/>
          </a:xfrm>
          <a:prstGeom prst="rect">
            <a:avLst/>
          </a:prstGeom>
          <a:solidFill>
            <a:srgbClr val="7D70EF"/>
          </a:solidFill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lang="ru-RU" dirty="0" sz="1650">
                <a:solidFill>
                  <a:srgbClr val="FFFFFF"/>
                </a:solidFill>
                <a:latin typeface="+mn-lt"/>
              </a:rPr>
              <a:t>Находится в разработке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72000" tIns="36000" rIns="72000" bIns="36000" rtlCol="0" anchor="ctr"/>
          <a:lstStyle/>
          <a:p>
            <a:pPr algn="ctr"/>
            <a:endParaRPr lang="ru-RU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/>
        </p:nvSpPr>
        <p:spPr>
          <a:xfrm>
            <a:off x="515937" y="1390416"/>
            <a:ext cx="7342167" cy="613057"/>
          </a:xfrm>
        </p:spPr>
        <p:txBody>
          <a:bodyPr anchor="ctr">
            <a:normAutofit/>
          </a:bodyPr>
          <a:lstStyle/>
          <a:p>
            <a:r>
              <a:rPr lang="ru-RU" sz="11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Это официальный фреймворк </a:t>
            </a:r>
            <a:r>
              <a:rPr lang="ru-RU" sz="110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Рексофт</a:t>
            </a:r>
            <a:r>
              <a:rPr lang="ru-RU" sz="11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для автоматизированного тестирования на базе </a:t>
            </a:r>
            <a:r>
              <a:rPr lang="ru-RU" sz="110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Playwright</a:t>
            </a:r>
            <a:r>
              <a:rPr lang="ru-RU" sz="11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и Java, разработанный как независимый инструмент для UI и API тестирования, а также имеющий множество интеграций с популярными сервисами.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7122820" cy="613057"/>
          </a:xfrm>
        </p:spPr>
        <p:txBody>
          <a:bodyPr>
            <a:normAutofit/>
          </a:bodyPr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PlayGriffin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TAF</a:t>
            </a:r>
            <a:endParaRPr lang="ru-RU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/>
        </p:nvSpPr>
        <p:spPr>
          <a:xfrm>
            <a:off x="515937" y="899607"/>
            <a:ext cx="7122820" cy="547805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Фреймворк для автоматизированного тестирования</a:t>
            </a:r>
          </a:p>
          <a:p>
            <a:endParaRPr lang="ru-RU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F283BD94-C3BF-4C68-BCC1-2B6FC06BAAE2}"/>
              </a:ext>
            </a:extLst>
          </p:cNvPr>
          <p:cNvSpPr txBox="1">
            <a:spLocks/>
          </p:cNvSpPr>
          <p:nvPr/>
        </p:nvSpPr>
        <p:spPr>
          <a:xfrm>
            <a:off x="515937" y="2207895"/>
            <a:ext cx="4065028" cy="34667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855"/>
              </a:lnSpc>
              <a:spcBef>
                <a:spcPts val="475"/>
              </a:spcBef>
              <a:buClr>
                <a:srgbClr val="7D70EF"/>
              </a:buClr>
              <a:buFont typeface="Stapel" panose="020B0604020202020204" pitchFamily="34" charset="0"/>
              <a:buNone/>
              <a:defRPr sz="6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238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6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238"/>
              </a:spcBef>
              <a:buFont typeface="Stapel" panose="020B0604020202020204" pitchFamily="34" charset="0"/>
              <a:buChar char="•"/>
              <a:defRPr sz="6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238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6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238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6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38"/>
              </a:spcBef>
              <a:buFont typeface="Stapel" panose="020B0604020202020204" pitchFamily="34" charset="0"/>
              <a:buChar char="•"/>
              <a:defRPr sz="8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38"/>
              </a:spcBef>
              <a:buFont typeface="Stapel" panose="020B0604020202020204" pitchFamily="34" charset="0"/>
              <a:buChar char="•"/>
              <a:defRPr sz="8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38"/>
              </a:spcBef>
              <a:buFont typeface="Stapel" panose="020B0604020202020204" pitchFamily="34" charset="0"/>
              <a:buChar char="•"/>
              <a:defRPr sz="8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38"/>
              </a:spcBef>
              <a:buFont typeface="Stapel" panose="020B0604020202020204" pitchFamily="34" charset="0"/>
              <a:buChar char="•"/>
              <a:defRPr sz="8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Ключевые преимущества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Кросс-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браузерность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: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Chromium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Firefox и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WebKit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.</a:t>
            </a:r>
            <a:endParaRPr lang="en-US" sz="10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Расширенная отчетность: интеграция с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Jira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ReportPortal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Allure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Модульная архитектура, возможность расширения функционала</a:t>
            </a:r>
            <a:endParaRPr lang="en-US" sz="10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Гибкая настройка, удобная конфигурация под каждый стенд и браузер</a:t>
            </a:r>
            <a:endParaRPr lang="en-US" sz="10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Работа на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TestNG </a:t>
            </a:r>
            <a:r>
              <a:rPr lang="ru-RU" sz="1000" b="0">
                <a:solidFill>
                  <a:srgbClr val="000000"/>
                </a:solidFill>
                <a:latin typeface="Stapel"/>
              </a:rPr>
              <a:t>или </a:t>
            </a:r>
            <a:r>
              <a:rPr lang="en-US" sz="1000" b="0">
                <a:solidFill>
                  <a:srgbClr val="000000"/>
                </a:solidFill>
                <a:latin typeface="Stapel"/>
              </a:rPr>
              <a:t>Junit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Готовые клиенты для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Kafka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БД,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OpenSearch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GreenMail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MinIO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и других.</a:t>
            </a:r>
            <a:endParaRPr lang="en-US" sz="10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Безопасность: встроенное шифрование секретных данных(AES + PKCS5Padding)</a:t>
            </a:r>
            <a:endParaRPr lang="en-US" sz="1000" dirty="0"/>
          </a:p>
          <a:p>
            <a:pPr>
              <a:lnSpc>
                <a:spcPts val="522"/>
              </a:lnSpc>
            </a:pPr>
            <a:endParaRPr lang="ru-RU" dirty="0" sz="650"/>
          </a:p>
        </p:txBody>
      </p:sp>
      <p:sp>
        <p:nvSpPr>
          <p:cNvPr id="25" name="TextBox 31">
            <a:extLst>
              <a:ext uri="{FF2B5EF4-FFF2-40B4-BE49-F238E27FC236}">
                <a16:creationId xmlns:a16="http://schemas.microsoft.com/office/drawing/2014/main" id="{11A7D446-CD79-4E03-842A-B77C22C69898}"/>
              </a:ext>
            </a:extLst>
          </p:cNvPr>
          <p:cNvSpPr txBox="1"/>
          <p:nvPr/>
        </p:nvSpPr>
        <p:spPr>
          <a:xfrm>
            <a:off x="8677763" y="1485321"/>
            <a:ext cx="29982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+mn-lt"/>
              </a:rPr>
              <a:t>Для проектов:</a:t>
            </a:r>
          </a:p>
          <a:p>
            <a:endParaRPr lang="ru-RU" sz="110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00" dirty="0">
                <a:solidFill>
                  <a:srgbClr val="FFFFFF"/>
                </a:solidFill>
                <a:latin typeface="+mn-lt"/>
              </a:rPr>
              <a:t>Корпоративных</a:t>
            </a: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00" dirty="0">
                <a:solidFill>
                  <a:srgbClr val="FFFFFF"/>
                </a:solidFill>
                <a:latin typeface="+mn-lt"/>
              </a:rPr>
              <a:t>Государственных</a:t>
            </a: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00" dirty="0">
                <a:solidFill>
                  <a:srgbClr val="FFFFFF"/>
                </a:solidFill>
                <a:latin typeface="+mn-lt"/>
              </a:rPr>
              <a:t>Сложные распределенные системы</a:t>
            </a: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00" dirty="0">
                <a:solidFill>
                  <a:srgbClr val="FFFFFF"/>
                </a:solidFill>
                <a:latin typeface="+mn-lt"/>
              </a:rPr>
              <a:t>Веб-приложения</a:t>
            </a: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00" dirty="0">
                <a:solidFill>
                  <a:srgbClr val="FFFFFF"/>
                </a:solidFill>
                <a:latin typeface="+mn-lt"/>
              </a:rPr>
              <a:t>Команды, которые хотят быстро начать автоматизацию</a:t>
            </a:r>
          </a:p>
        </p:txBody>
      </p:sp>
      <p:pic>
        <p:nvPicPr>
          <p:cNvPr id="26" name="Picture 37">
            <a:extLst>
              <a:ext uri="{FF2B5EF4-FFF2-40B4-BE49-F238E27FC236}">
                <a16:creationId xmlns:a16="http://schemas.microsoft.com/office/drawing/2014/main" id="{C271E9F8-3D00-4B45-81C6-68636E16B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763" y="3171004"/>
            <a:ext cx="2998297" cy="2998297"/>
          </a:xfrm>
          <a:prstGeom prst="rect">
            <a:avLst/>
          </a:prstGeom>
        </p:spPr>
      </p:pic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BD4075D-AC55-41ED-9A8E-60BD90DBDA47}"/>
              </a:ext>
            </a:extLst>
          </p:cNvPr>
          <p:cNvSpPr txBox="1">
            <a:spLocks/>
          </p:cNvSpPr>
          <p:nvPr/>
        </p:nvSpPr>
        <p:spPr>
          <a:xfrm>
            <a:off x="4580965" y="2207895"/>
            <a:ext cx="3171029" cy="224242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Результаты внедрения: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Снижены затраты на лицензии и ускорен старт автоматизации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Внедрен единый инструмент для UI, API и интеграционного тестирования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Обеспечена легальность использования для работы в гос. проектах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Предоставлен богатый набор предустановленных интеграций с популярными сервисами</a:t>
            </a:r>
          </a:p>
        </p:txBody>
      </p:sp>
      <p:sp>
        <p:nvSpPr>
          <p:cNvPr id="28" name="TextBox 42">
            <a:extLst>
              <a:ext uri="{FF2B5EF4-FFF2-40B4-BE49-F238E27FC236}">
                <a16:creationId xmlns:a16="http://schemas.microsoft.com/office/drawing/2014/main" id="{E90BD307-934C-41D9-BCF0-37C2E8AFD803}"/>
              </a:ext>
            </a:extLst>
          </p:cNvPr>
          <p:cNvSpPr txBox="1"/>
          <p:nvPr/>
        </p:nvSpPr>
        <p:spPr>
          <a:xfrm>
            <a:off x="515937" y="5674659"/>
            <a:ext cx="7655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dirty="0" err="1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PlayGriffin</a:t>
            </a:r>
            <a:r>
              <a:rPr lang="ru-RU" sz="1200" dirty="0">
                <a:solidFill>
                  <a:srgbClr val="7D70EF"/>
                </a:solidFill>
                <a:latin typeface="+mn-lt"/>
              </a:rPr>
              <a:t> — это готовое, комплексное решение для автоматизации тестирования, которое устраняет необходимость самостоятельной сборки и поддержки фреймворка.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72000" tIns="36000" rIns="72000" bIns="36000" rtlCol="0" anchor="ctr"/>
          <a:lstStyle/>
          <a:p>
            <a:pPr algn="ctr"/>
            <a:endParaRPr lang="ru-RU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/>
        </p:nvSpPr>
        <p:spPr>
          <a:xfrm>
            <a:off x="515937" y="1390416"/>
            <a:ext cx="7342167" cy="733158"/>
          </a:xfrm>
        </p:spPr>
        <p:txBody>
          <a:bodyPr anchor="ctr">
            <a:normAutofit/>
          </a:bodyPr>
          <a:lstStyle/>
          <a:p>
            <a:r>
              <a:rPr lang="ru-RU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Это </a:t>
            </a:r>
            <a:r>
              <a:rPr lang="en-US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Open</a:t>
            </a:r>
            <a:r>
              <a:rPr lang="ru-RU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-</a:t>
            </a:r>
            <a:r>
              <a:rPr lang="en-US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source </a:t>
            </a:r>
            <a:r>
              <a:rPr lang="ru-RU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фреймворк автоматизированного тестирования на платформе </a:t>
            </a:r>
            <a:r>
              <a:rPr lang="en-US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.NET</a:t>
            </a:r>
            <a:r>
              <a:rPr lang="ru-RU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, разработанный экспертами </a:t>
            </a:r>
            <a:r>
              <a:rPr lang="ru-RU" sz="115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Рексофт</a:t>
            </a:r>
            <a:r>
              <a:rPr lang="ru-RU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. Это независимый инструмент для </a:t>
            </a:r>
            <a:r>
              <a:rPr lang="en-US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Desktop </a:t>
            </a:r>
            <a:r>
              <a:rPr lang="ru-RU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UI</a:t>
            </a:r>
            <a:r>
              <a:rPr lang="en-US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, Web UI</a:t>
            </a:r>
            <a:r>
              <a:rPr lang="ru-RU" sz="11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и API тестирования, а также имеющий множество интеграций с популярными системами отчётности.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7122820" cy="613057"/>
          </a:xfrm>
        </p:spPr>
        <p:txBody>
          <a:bodyPr>
            <a:normAutofit/>
          </a:bodyPr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Unicorn.TAF</a:t>
            </a:r>
            <a:endParaRPr lang="ru-RU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/>
        </p:nvSpPr>
        <p:spPr>
          <a:xfrm>
            <a:off x="515937" y="899607"/>
            <a:ext cx="7122820" cy="547805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Фреймворк для автоматизированного тестирования</a:t>
            </a:r>
          </a:p>
          <a:p>
            <a:endParaRPr lang="ru-RU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F283BD94-C3BF-4C68-BCC1-2B6FC06BAAE2}"/>
              </a:ext>
            </a:extLst>
          </p:cNvPr>
          <p:cNvSpPr txBox="1">
            <a:spLocks/>
          </p:cNvSpPr>
          <p:nvPr/>
        </p:nvSpPr>
        <p:spPr>
          <a:xfrm>
            <a:off x="515936" y="2207895"/>
            <a:ext cx="7342167" cy="34667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Ключевые преимущества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Унифицированный механизм UI компонентов с расширенной реализацией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PageObject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Кросс-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браузерность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: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Chromium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, Firefox и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WebKit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Selenium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Playwright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с возможностью практически бесшовного переключения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тестирования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Windows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приложений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Расширенная отчетность: интеграция с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ReportPortal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Allure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(включая </a:t>
            </a:r>
            <a:r>
              <a:rPr lang="en-US" sz="1100" dirty="0" err="1" b="0">
                <a:solidFill>
                  <a:srgbClr val="000000"/>
                </a:solidFill>
                <a:latin typeface="Stapel"/>
              </a:rPr>
              <a:t>TestOps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)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, Test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IT, QA Frontier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Модульная архитектура, возможность расширения функционала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Встроенная система проверок (включая проверки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UI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API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)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Гибкая настройка, удобная конфигурация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en-US" sz="1100" dirty="0" err="1" b="0">
                <a:solidFill>
                  <a:srgbClr val="000000"/>
                </a:solidFill>
                <a:latin typeface="Stapel"/>
              </a:rPr>
              <a:t>.Net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 Templating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для быстрой сборки пользовательской конфигурации фреймворка</a:t>
            </a:r>
            <a:endParaRPr lang="en-US" sz="1100" dirty="0"/>
          </a:p>
        </p:txBody>
      </p:sp>
      <p:sp>
        <p:nvSpPr>
          <p:cNvPr id="25" name="TextBox 31">
            <a:extLst>
              <a:ext uri="{FF2B5EF4-FFF2-40B4-BE49-F238E27FC236}">
                <a16:creationId xmlns:a16="http://schemas.microsoft.com/office/drawing/2014/main" id="{11A7D446-CD79-4E03-842A-B77C22C69898}"/>
              </a:ext>
            </a:extLst>
          </p:cNvPr>
          <p:cNvSpPr txBox="1"/>
          <p:nvPr/>
        </p:nvSpPr>
        <p:spPr>
          <a:xfrm>
            <a:off x="8677766" y="1173509"/>
            <a:ext cx="2998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+mn-lt"/>
              </a:rPr>
              <a:t>Для проектов:</a:t>
            </a:r>
          </a:p>
          <a:p>
            <a:endParaRPr lang="ru-RU" sz="110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00" dirty="0">
                <a:solidFill>
                  <a:srgbClr val="FFFFFF"/>
                </a:solidFill>
                <a:latin typeface="+mn-lt"/>
              </a:rPr>
              <a:t>Сложные распределенные системы</a:t>
            </a: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00" dirty="0">
                <a:solidFill>
                  <a:srgbClr val="FFFFFF"/>
                </a:solidFill>
                <a:latin typeface="+mn-lt"/>
              </a:rPr>
              <a:t>Веб и </a:t>
            </a:r>
            <a:r>
              <a:rPr lang="en-US" sz="1100" dirty="0">
                <a:solidFill>
                  <a:srgbClr val="FFFFFF"/>
                </a:solidFill>
                <a:latin typeface="+mn-lt"/>
              </a:rPr>
              <a:t>Desktop </a:t>
            </a:r>
            <a:r>
              <a:rPr lang="ru-RU" sz="1100" dirty="0">
                <a:solidFill>
                  <a:srgbClr val="FFFFFF"/>
                </a:solidFill>
                <a:latin typeface="+mn-lt"/>
              </a:rPr>
              <a:t>приложения</a:t>
            </a:r>
          </a:p>
          <a:p>
            <a:pPr marL="285750" indent="-285750"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100" dirty="0">
                <a:solidFill>
                  <a:srgbClr val="FFFFFF"/>
                </a:solidFill>
                <a:latin typeface="+mn-lt"/>
              </a:rPr>
              <a:t>Команды, которые хотят быстро начать автоматизацию</a:t>
            </a:r>
          </a:p>
        </p:txBody>
      </p:sp>
      <p:sp>
        <p:nvSpPr>
          <p:cNvPr id="26" name="TextBox 42">
            <a:extLst>
              <a:ext uri="{FF2B5EF4-FFF2-40B4-BE49-F238E27FC236}">
                <a16:creationId xmlns:a16="http://schemas.microsoft.com/office/drawing/2014/main" id="{E90BD307-934C-41D9-BCF0-37C2E8AFD803}"/>
              </a:ext>
            </a:extLst>
          </p:cNvPr>
          <p:cNvSpPr txBox="1"/>
          <p:nvPr/>
        </p:nvSpPr>
        <p:spPr>
          <a:xfrm>
            <a:off x="515937" y="5674659"/>
            <a:ext cx="7655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 err="1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Unicorn.TAF</a:t>
            </a:r>
            <a:r>
              <a:rPr lang="ru-RU" sz="1200" dirty="0">
                <a:solidFill>
                  <a:srgbClr val="7D70EF"/>
                </a:solidFill>
                <a:latin typeface="+mn-lt"/>
              </a:rPr>
              <a:t> — это готовое, комплексное решение для автоматизации тестирования, которое устраняет необходимость самостоятельной сборки и поддержки фреймворка, а также ускоряет разработку </a:t>
            </a:r>
            <a:r>
              <a:rPr lang="ru-RU" sz="1200" dirty="0" err="1">
                <a:solidFill>
                  <a:srgbClr val="7D70EF"/>
                </a:solidFill>
                <a:latin typeface="+mn-lt"/>
              </a:rPr>
              <a:t>автотестов</a:t>
            </a:r>
            <a:r>
              <a:rPr lang="ru-RU" sz="1200" dirty="0">
                <a:solidFill>
                  <a:srgbClr val="7D70EF"/>
                </a:solidFill>
                <a:latin typeface="+mn-lt"/>
              </a:rPr>
              <a:t>.</a:t>
            </a:r>
          </a:p>
        </p:txBody>
      </p:sp>
      <p:pic>
        <p:nvPicPr>
          <p:cNvPr id="27" name="Picture 8">
            <a:extLst>
              <a:ext uri="{FF2B5EF4-FFF2-40B4-BE49-F238E27FC236}">
                <a16:creationId xmlns:a16="http://schemas.microsoft.com/office/drawing/2014/main" id="{7E3BB2FB-2BDE-4DA4-A449-4255BAAB9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645" y="2879367"/>
            <a:ext cx="2496915" cy="2352175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20">
            <a:extLst>
              <a:ext uri="{FF2B5EF4-FFF2-40B4-BE49-F238E27FC236}">
                <a16:creationId xmlns:a16="http://schemas.microsoft.com/office/drawing/2014/main" id="{15813F21-F5A9-D24E-8439-DD6C51436EE7}"/>
              </a:ext>
            </a:extLst>
          </p:cNvPr>
          <p:cNvSpPr/>
          <p:nvPr userDrawn="1"/>
        </p:nvSpPr>
        <p:spPr>
          <a:xfrm rot="16200000">
            <a:off x="6571415" y="1170505"/>
            <a:ext cx="6858000" cy="4516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1" name="Рисунок 11" descr="Изображение выглядит как текст, монитор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3BDF3846-36BF-984D-8770-E0C1345CBE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616" y="1198397"/>
            <a:ext cx="6954641" cy="5791571"/>
          </a:xfrm>
          <a:prstGeom prst="rect">
            <a:avLst/>
          </a:prstGeom>
          <a:effectLst>
            <a:outerShdw blurRad="415622" dist="868098" dir="5400000" sx="45000" sy="45000" algn="ctr" rotWithShape="0">
              <a:srgbClr val="000000">
                <a:alpha val="81187"/>
              </a:srgbClr>
            </a:outerShdw>
          </a:effectLst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PlayGriffin.Perf</a:t>
            </a:r>
            <a:endParaRPr lang="ru-RU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Акселератор проекта нагрузочного тестирования</a:t>
            </a:r>
            <a:r>
              <a:rPr lang="en-US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на основе </a:t>
            </a:r>
            <a:r>
              <a:rPr lang="en-US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Gatling Java SDK</a:t>
            </a:r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.</a:t>
            </a:r>
          </a:p>
          <a:p>
            <a:endParaRPr lang="ru-RU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/>
        </p:nvSpPr>
        <p:spPr>
          <a:xfrm>
            <a:off x="515937" y="1324052"/>
            <a:ext cx="5330519" cy="4509247"/>
          </a:xfrm>
        </p:spPr>
        <p:txBody>
          <a:bodyPr anchor="ctr">
            <a:normAutofit/>
          </a:bodyPr>
          <a:lstStyle/>
          <a:p>
            <a:r>
              <a:rPr lang="ru-RU" sz="1600" dirty="0" b="0">
                <a:solidFill>
                  <a:srgbClr val="000000"/>
                </a:solidFill>
                <a:latin typeface="Stapel"/>
              </a:rPr>
              <a:t>Входит в экосистему </a:t>
            </a:r>
            <a:r>
              <a:rPr lang="en-US" sz="1600" dirty="0" err="1" b="0">
                <a:solidFill>
                  <a:srgbClr val="000000"/>
                </a:solidFill>
                <a:latin typeface="Stapel"/>
              </a:rPr>
              <a:t>PlayGriffin</a:t>
            </a:r>
            <a:r>
              <a:rPr lang="en-US" sz="1600" dirty="0" b="0">
                <a:solidFill>
                  <a:srgbClr val="000000"/>
                </a:solidFill>
                <a:latin typeface="Stapel"/>
              </a:rPr>
              <a:t> TAF</a:t>
            </a:r>
            <a:r>
              <a:rPr lang="ru-RU" sz="1600" dirty="0" b="0">
                <a:solidFill>
                  <a:srgbClr val="000000"/>
                </a:solidFill>
                <a:latin typeface="Stapel"/>
              </a:rPr>
              <a:t>.</a:t>
            </a:r>
          </a:p>
          <a:p>
            <a:r>
              <a:rPr lang="ru-RU" sz="1600" dirty="0" b="0">
                <a:solidFill>
                  <a:srgbClr val="000000"/>
                </a:solidFill>
                <a:latin typeface="Stapel"/>
              </a:rPr>
              <a:t>Ключевые преимущества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b="0" dirty="0" sz="14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Быстрый старт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: ускоряет запуск нагрузочного тестирования за счет готовых шаблонов и типовых решений.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b="0" dirty="0" sz="14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Удобные файлы конфигурации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: позволяет менять нагрузку и параметры без правки кода, используя YAML-конфиги.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b="0" dirty="0" sz="14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Легкая интеграция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: легко встраивается в 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Maven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/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Gradle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и CI/CD-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пайплайны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.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b="0" dirty="0" sz="14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Гибкие сценарии нагрузки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: поддерживает разные модели и профили нагрузочного тестирования.</a:t>
            </a:r>
          </a:p>
        </p:txBody>
      </p:sp>
      <p:pic>
        <p:nvPicPr>
          <p:cNvPr id="25" name="Picture Placeholder 13">
            <a:extLst>
              <a:ext uri="{FF2B5EF4-FFF2-40B4-BE49-F238E27FC236}">
                <a16:creationId xmlns:a16="http://schemas.microsoft.com/office/drawing/2014/main" id="{8E0588BC-A80E-4030-90B3-464A17C7E9B2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918" t="-879" r="-39870" b="-171"/>
          <a:stretch/>
        </p:blipFill>
        <p:spPr>
          <a:xfrm>
            <a:off x="6388255" y="1580548"/>
            <a:ext cx="6189796" cy="3518609"/>
          </a:xfr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 1"/>
          <p:cNvSpPr/>
          <p:nvPr/>
        </p:nvSpPr>
        <p:spPr bwMode="auto">
          <a:xfrm>
            <a:off x="1431912" y="379435"/>
            <a:ext cx="11107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F0522"/>
                </a:solidFill>
                <a:latin typeface="+mn-lt"/>
              </a:rPr>
              <a:t>QA Frontier</a:t>
            </a:r>
            <a:endParaRPr lang="en-US" sz="1200" dirty="0"/>
          </a:p>
        </p:txBody>
      </p:sp>
      <p:sp>
        <p:nvSpPr>
          <p:cNvPr id="21" name="Text 2"/>
          <p:cNvSpPr/>
          <p:nvPr/>
        </p:nvSpPr>
        <p:spPr bwMode="auto">
          <a:xfrm>
            <a:off x="667966" y="969963"/>
            <a:ext cx="89740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2000" b="0" dirty="0" err="1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Проблемы</a:t>
            </a:r>
            <a:r>
              <a:rPr lang="en-US" sz="2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→ </a:t>
            </a:r>
            <a:r>
              <a:rPr lang="en-US" sz="2000" b="0" dirty="0" err="1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Решение</a:t>
            </a:r>
            <a:endParaRPr lang="en-US" sz="2000" dirty="0"/>
          </a:p>
        </p:txBody>
      </p:sp>
      <p:sp>
        <p:nvSpPr>
          <p:cNvPr id="22" name="Text 3"/>
          <p:cNvSpPr/>
          <p:nvPr/>
        </p:nvSpPr>
        <p:spPr bwMode="auto">
          <a:xfrm>
            <a:off x="73152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+mn-lt"/>
              </a:rPr>
              <a:t>ПРОБЛЕМЫ</a:t>
            </a:r>
            <a:endParaRPr lang="en-US" sz="1200"/>
          </a:p>
        </p:txBody>
      </p:sp>
      <p:sp>
        <p:nvSpPr>
          <p:cNvPr id="23" name="Text 4"/>
          <p:cNvSpPr/>
          <p:nvPr/>
        </p:nvSpPr>
        <p:spPr bwMode="auto">
          <a:xfrm>
            <a:off x="731520" y="18288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en-US" sz="135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• Риски проекта из-за неэффективных TMS</a:t>
            </a:r>
            <a:endParaRPr sz="1350">
              <a:latin typeface="Stapel"/>
              <a:cs typeface="Stapel"/>
            </a:endParaRPr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35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• Потеря дефектов без единой платформы</a:t>
            </a:r>
            <a:endParaRPr sz="1350">
              <a:latin typeface="Stapel"/>
              <a:cs typeface="Stapel"/>
            </a:endParaRPr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35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• Непрозрачность для участников SDLC</a:t>
            </a:r>
            <a:endParaRPr sz="1350">
              <a:latin typeface="Stapel"/>
              <a:cs typeface="Stapel"/>
            </a:endParaRPr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35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• Высокая стоимость сторонних решений</a:t>
            </a:r>
            <a:endParaRPr sz="1350">
              <a:latin typeface="Stapel"/>
              <a:cs typeface="Stapel"/>
            </a:endParaRPr>
          </a:p>
        </p:txBody>
      </p:sp>
      <p:sp>
        <p:nvSpPr>
          <p:cNvPr id="24" name="Shape 5"/>
          <p:cNvSpPr/>
          <p:nvPr/>
        </p:nvSpPr>
        <p:spPr bwMode="auto">
          <a:xfrm>
            <a:off x="6400800" y="1463040"/>
            <a:ext cx="18288" cy="457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5F4F4"/>
            </a:solidFill>
            <a:prstDash val="solid"/>
          </a:ln>
        </p:spPr>
      </p:sp>
      <p:sp>
        <p:nvSpPr>
          <p:cNvPr id="25" name="Text 6"/>
          <p:cNvSpPr/>
          <p:nvPr/>
        </p:nvSpPr>
        <p:spPr bwMode="auto">
          <a:xfrm>
            <a:off x="6858000" y="112629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+mn-lt"/>
              </a:rPr>
              <a:t>ИНТЕГРАЦИИ</a:t>
            </a:r>
            <a:endParaRPr lang="en-US" sz="1200"/>
          </a:p>
        </p:txBody>
      </p:sp>
      <p:sp>
        <p:nvSpPr>
          <p:cNvPr id="26" name="Text 7"/>
          <p:cNvSpPr/>
          <p:nvPr/>
        </p:nvSpPr>
        <p:spPr bwMode="auto">
          <a:xfrm>
            <a:off x="6858000" y="1525378"/>
            <a:ext cx="4572000" cy="2497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 </a:t>
            </a:r>
            <a:r>
              <a:rPr lang="en-US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Jira</a:t>
            </a:r>
            <a:endParaRPr sz="1100">
              <a:solidFill>
                <a:srgbClr val="000000"/>
              </a:solidFill>
              <a:latin typeface="Stapel"/>
              <a:cs typeface="Stapel"/>
            </a:endParaRPr>
          </a:p>
          <a:p>
            <a:pPr>
              <a:defRPr/>
            </a:pP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стороне </a:t>
            </a:r>
            <a:r>
              <a:rPr lang="en-US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Jira</a:t>
            </a: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реализован плагин</a:t>
            </a:r>
            <a:endParaRPr sz="1100" b="0" i="0" u="none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 marL="217793" indent="-217793">
              <a:buFont typeface="Stapel"/>
              <a:buChar char="•"/>
              <a:defRPr/>
            </a:pP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отображается список тест-кейсов с параметрами</a:t>
            </a:r>
            <a:endParaRPr sz="1100" b="0" i="0" u="none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 marL="217793" indent="-217793">
              <a:buFont typeface="Stapel"/>
              <a:buChar char="•"/>
              <a:defRPr/>
            </a:pP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отображается список тестовых прогонов с результатами</a:t>
            </a:r>
            <a:endParaRPr sz="1100" b="0" i="0" u="none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>
              <a:defRPr/>
            </a:pPr>
            <a:endParaRPr sz="1100">
              <a:solidFill>
                <a:srgbClr val="000000"/>
              </a:solidFill>
              <a:latin typeface="Stapel"/>
              <a:cs typeface="Stapel"/>
            </a:endParaRPr>
          </a:p>
          <a:p>
            <a:pPr>
              <a:defRPr/>
            </a:pP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стороне QA Frontier </a:t>
            </a:r>
            <a:endParaRPr lang="ru-RU" sz="1100" b="0" i="0" u="none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 marL="217793" indent="-217793" algn="l" defTabSz="457107" rtl="0">
              <a:lnSpc>
                <a:spcPts val="938"/>
              </a:lnSpc>
              <a:spcBef>
                <a:spcPts val="468"/>
              </a:spcBef>
              <a:spcAft>
                <a:spcPts val="0"/>
              </a:spcAft>
              <a:buFont typeface="Stapel"/>
              <a:buChar char="•"/>
              <a:defRPr/>
            </a:pP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ссылки на задачи и дефекты</a:t>
            </a:r>
            <a:endParaRPr sz="1100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 marL="217793" indent="-217793" algn="l" defTabSz="457107" rtl="0">
              <a:lnSpc>
                <a:spcPts val="938"/>
              </a:lnSpc>
              <a:spcBef>
                <a:spcPts val="468"/>
              </a:spcBef>
              <a:spcAft>
                <a:spcPts val="0"/>
              </a:spcAft>
              <a:buFont typeface="Stapel"/>
              <a:buChar char="•"/>
              <a:defRPr/>
            </a:pP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отображение приоритета, статуса и заголовка дефекта</a:t>
            </a:r>
            <a:endParaRPr sz="1100">
              <a:latin typeface="Stapel"/>
              <a:cs typeface="Stapel"/>
            </a:endParaRPr>
          </a:p>
          <a:p>
            <a:pPr marL="184749" indent="-184749">
              <a:buClr>
                <a:srgbClr val="000000"/>
              </a:buClr>
              <a:buSzTx/>
              <a:buFont typeface="Stapel"/>
              <a:buChar char="•"/>
              <a:defRPr/>
            </a:pPr>
            <a:endParaRPr sz="1100">
              <a:latin typeface="Stapel"/>
              <a:cs typeface="Stapel"/>
            </a:endParaRPr>
          </a:p>
          <a:p>
            <a:pPr marL="217793" indent="-217793">
              <a:buFont typeface="Stapel"/>
              <a:buChar char="•"/>
              <a:defRPr/>
            </a:pPr>
            <a:endParaRPr sz="1100">
              <a:latin typeface="Stapel"/>
              <a:cs typeface="Stapel"/>
            </a:endParaRPr>
          </a:p>
          <a:p>
            <a:pPr>
              <a:defRPr/>
            </a:pP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 </a:t>
            </a:r>
            <a:r>
              <a:rPr lang="en-US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ReksoftAiHub (OpenAI</a:t>
            </a: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-совместимые модели)</a:t>
            </a:r>
            <a:endParaRPr sz="1100">
              <a:latin typeface="Stapel"/>
              <a:cs typeface="Stapel"/>
            </a:endParaRPr>
          </a:p>
          <a:p>
            <a:pPr marL="217793" indent="-217793" algn="l" defTabSz="457107" rtl="0">
              <a:lnSpc>
                <a:spcPts val="938"/>
              </a:lnSpc>
              <a:spcBef>
                <a:spcPts val="468"/>
              </a:spcBef>
              <a:spcAft>
                <a:spcPts val="0"/>
              </a:spcAft>
              <a:buFont typeface="Stapel"/>
              <a:buChar char="•"/>
              <a:defRPr/>
            </a:pP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ревью тест-кейсов</a:t>
            </a:r>
            <a:endParaRPr sz="1100" strike="noStrike" cap="none" spc="0">
              <a:latin typeface="Stapel"/>
              <a:cs typeface="Stapel"/>
            </a:endParaRPr>
          </a:p>
          <a:p>
            <a:pPr marL="217793" indent="-217793">
              <a:lnSpc>
                <a:spcPct val="160000"/>
              </a:lnSpc>
              <a:buFont typeface="Stapel"/>
              <a:buChar char="•"/>
              <a:defRPr/>
            </a:pPr>
            <a:r>
              <a:rPr lang="en-US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c</a:t>
            </a:r>
            <a:r>
              <a:rPr lang="ru-RU" sz="11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аммаризация результатов прогона</a:t>
            </a:r>
            <a:endParaRPr sz="1100"/>
          </a:p>
        </p:txBody>
      </p:sp>
      <p:sp>
        <p:nvSpPr>
          <p:cNvPr id="27" name="Text 8"/>
          <p:cNvSpPr/>
          <p:nvPr/>
        </p:nvSpPr>
        <p:spPr bwMode="auto">
          <a:xfrm>
            <a:off x="6858000" y="435017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+mn-lt"/>
              </a:rPr>
              <a:t>РЕЗУЛЬТАТЫ</a:t>
            </a:r>
            <a:endParaRPr lang="en-US" sz="1200"/>
          </a:p>
        </p:txBody>
      </p:sp>
      <p:sp>
        <p:nvSpPr>
          <p:cNvPr id="28" name="Shape 9"/>
          <p:cNvSpPr/>
          <p:nvPr/>
        </p:nvSpPr>
        <p:spPr bwMode="auto">
          <a:xfrm>
            <a:off x="6858000" y="4715933"/>
            <a:ext cx="4572000" cy="1463040"/>
          </a:xfrm>
          <a:prstGeom prst="roundRect">
            <a:avLst>
              <a:gd name="adj" fmla="val 250000"/>
            </a:avLst>
          </a:prstGeom>
          <a:solidFill>
            <a:srgbClr val="F5F4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10"/>
          <p:cNvSpPr/>
          <p:nvPr/>
        </p:nvSpPr>
        <p:spPr bwMode="auto">
          <a:xfrm>
            <a:off x="6858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0">
                <a:solidFill>
                  <a:srgbClr val="CF0522"/>
                </a:solidFill>
                <a:latin typeface="Stapel Medium"/>
                <a:ea typeface="Stapel Medium"/>
                <a:cs typeface="Stapel Medium"/>
              </a:rPr>
              <a:t>4</a:t>
            </a:r>
            <a:endParaRPr lang="en-US" sz="2800"/>
          </a:p>
        </p:txBody>
      </p:sp>
      <p:sp>
        <p:nvSpPr>
          <p:cNvPr id="30" name="Text 11"/>
          <p:cNvSpPr/>
          <p:nvPr/>
        </p:nvSpPr>
        <p:spPr bwMode="auto">
          <a:xfrm>
            <a:off x="6858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внешних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проекта</a:t>
            </a:r>
            <a:endParaRPr lang="en-US" sz="1000"/>
          </a:p>
        </p:txBody>
      </p:sp>
      <p:sp>
        <p:nvSpPr>
          <p:cNvPr id="31" name="Text 12"/>
          <p:cNvSpPr/>
          <p:nvPr/>
        </p:nvSpPr>
        <p:spPr bwMode="auto">
          <a:xfrm>
            <a:off x="8001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0">
                <a:solidFill>
                  <a:srgbClr val="CF0522"/>
                </a:solidFill>
                <a:latin typeface="Stapel Medium"/>
                <a:ea typeface="Stapel Medium"/>
                <a:cs typeface="Stapel Medium"/>
              </a:rPr>
              <a:t>11</a:t>
            </a:r>
            <a:endParaRPr lang="en-US" sz="2800"/>
          </a:p>
        </p:txBody>
      </p:sp>
      <p:sp>
        <p:nvSpPr>
          <p:cNvPr id="32" name="Text 13"/>
          <p:cNvSpPr/>
          <p:nvPr/>
        </p:nvSpPr>
        <p:spPr bwMode="auto">
          <a:xfrm>
            <a:off x="8001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внутренних</a:t>
            </a:r>
            <a:endParaRPr lang="en-US" sz="1000"/>
          </a:p>
        </p:txBody>
      </p:sp>
      <p:sp>
        <p:nvSpPr>
          <p:cNvPr id="33" name="Text 14"/>
          <p:cNvSpPr/>
          <p:nvPr/>
        </p:nvSpPr>
        <p:spPr bwMode="auto">
          <a:xfrm>
            <a:off x="9144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0">
                <a:solidFill>
                  <a:srgbClr val="CF0522"/>
                </a:solidFill>
                <a:latin typeface="Stapel Medium"/>
                <a:ea typeface="Stapel Medium"/>
                <a:cs typeface="Stapel Medium"/>
              </a:rPr>
              <a:t>34</a:t>
            </a:r>
            <a:endParaRPr lang="en-US" sz="2800"/>
          </a:p>
        </p:txBody>
      </p:sp>
      <p:sp>
        <p:nvSpPr>
          <p:cNvPr id="34" name="Text 15"/>
          <p:cNvSpPr/>
          <p:nvPr/>
        </p:nvSpPr>
        <p:spPr bwMode="auto">
          <a:xfrm>
            <a:off x="9144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пользователя</a:t>
            </a:r>
            <a:endParaRPr lang="en-US" sz="1000"/>
          </a:p>
        </p:txBody>
      </p:sp>
      <p:sp>
        <p:nvSpPr>
          <p:cNvPr id="35" name="Text 16"/>
          <p:cNvSpPr/>
          <p:nvPr/>
        </p:nvSpPr>
        <p:spPr bwMode="auto">
          <a:xfrm>
            <a:off x="10287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0">
                <a:solidFill>
                  <a:srgbClr val="CF0522"/>
                </a:solidFill>
                <a:latin typeface="Stapel Medium"/>
                <a:ea typeface="Stapel Medium"/>
                <a:cs typeface="Stapel Medium"/>
              </a:rPr>
              <a:t>800</a:t>
            </a:r>
            <a:endParaRPr lang="en-US" sz="2800"/>
          </a:p>
        </p:txBody>
      </p:sp>
      <p:sp>
        <p:nvSpPr>
          <p:cNvPr id="36" name="Text 17"/>
          <p:cNvSpPr/>
          <p:nvPr/>
        </p:nvSpPr>
        <p:spPr bwMode="auto">
          <a:xfrm>
            <a:off x="10287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тест-кейсов</a:t>
            </a:r>
            <a:endParaRPr lang="en-US" sz="1000"/>
          </a:p>
        </p:txBody>
      </p:sp>
      <p:sp>
        <p:nvSpPr>
          <p:cNvPr id="37" name="Text 18"/>
          <p:cNvSpPr/>
          <p:nvPr/>
        </p:nvSpPr>
        <p:spPr bwMode="auto">
          <a:xfrm>
            <a:off x="73152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+mn-lt"/>
              </a:rPr>
              <a:t>РЕШЕНИЕ</a:t>
            </a:r>
            <a:endParaRPr lang="en-US" sz="1200"/>
          </a:p>
        </p:txBody>
      </p:sp>
      <p:sp>
        <p:nvSpPr>
          <p:cNvPr id="38" name="Shape 19"/>
          <p:cNvSpPr/>
          <p:nvPr/>
        </p:nvSpPr>
        <p:spPr bwMode="auto">
          <a:xfrm>
            <a:off x="731520" y="3931920"/>
            <a:ext cx="5029200" cy="2011680"/>
          </a:xfrm>
          <a:prstGeom prst="roundRect">
            <a:avLst>
              <a:gd name="adj" fmla="val 181818"/>
            </a:avLst>
          </a:prstGeom>
          <a:solidFill>
            <a:srgbClr val="F5F4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20"/>
          <p:cNvSpPr/>
          <p:nvPr/>
        </p:nvSpPr>
        <p:spPr bwMode="auto">
          <a:xfrm>
            <a:off x="1097280" y="4023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00000"/>
                </a:solidFill>
                <a:latin typeface="+mn-lt"/>
              </a:rPr>
              <a:t>Создали собственную TMS с ИИ-функциями:</a:t>
            </a:r>
            <a:endParaRPr lang="en-US" sz="1200"/>
          </a:p>
        </p:txBody>
      </p:sp>
      <p:sp>
        <p:nvSpPr>
          <p:cNvPr id="40" name="Text 21"/>
          <p:cNvSpPr/>
          <p:nvPr/>
        </p:nvSpPr>
        <p:spPr bwMode="auto">
          <a:xfrm>
            <a:off x="1097280" y="438912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+mn-lt"/>
              </a:rPr>
              <a:t>• ИИ ревью тест-кейсов</a:t>
            </a:r>
            <a:endParaRPr lang="en-US" sz="14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+mn-lt"/>
              </a:rPr>
              <a:t>• MCP сервер для работы с LLM</a:t>
            </a:r>
            <a:endParaRPr lang="en-US" sz="14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+mn-lt"/>
              </a:rPr>
              <a:t>• Генерация отчётов ИИ</a:t>
            </a:r>
            <a:endParaRPr lang="en-US" sz="1400"/>
          </a:p>
        </p:txBody>
      </p:sp>
      <p:sp>
        <p:nvSpPr>
          <p:cNvPr id="41" name="Text 22"/>
          <p:cNvSpPr/>
          <p:nvPr/>
        </p:nvSpPr>
        <p:spPr bwMode="auto">
          <a:xfrm>
            <a:off x="73152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666666"/>
                </a:solidFill>
                <a:latin typeface="+mn-lt"/>
              </a:rPr>
              <a:t>QA Frontier</a:t>
            </a:r>
            <a:endParaRPr lang="en-US" sz="1100"/>
          </a:p>
        </p:txBody>
      </p:sp>
      <p:pic>
        <p:nvPicPr>
          <p:cNvPr id="42" name="Picture Placeholder 17">
            <a:extLst>
              <a:ext uri="{FF2B5EF4-FFF2-40B4-BE49-F238E27FC236}">
                <a16:creationId xmlns:a16="http://schemas.microsoft.com/office/drawing/2014/main" id="{9FED06EC-6DEA-49A5-9290-4481EE123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167" y="-38077"/>
            <a:ext cx="1110706" cy="1110706"/>
          </a:xfrm>
          <a:prstGeom prst="ellipse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12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Некоторые проекты*</a:t>
            </a:r>
          </a:p>
          <a:p>
            <a:r>
              <a:rPr lang="ru-RU" sz="1400"/>
              <a:t>*При отправке слайдов клиентам названия заказчиков ОБЯЗАТЕЛЬНО должны быть анонимизированы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Модернизация интеграционного ландшафта 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Bank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Dhofar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Bank</a:t>
            </a:r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Dhofar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1434859"/>
            <a:ext cx="4984531" cy="4243076"/>
          </a:xfrm>
        </p:spPr>
        <p:txBody>
          <a:bodyPr>
            <a:spAutoFit/>
          </a:bodyPr>
          <a:lstStyle/>
          <a:p>
            <a:pPr>
              <a:lnSpc>
                <a:spcPts val="1764"/>
              </a:lnSpc>
              <a:spcBef>
                <a:spcPts val="1764"/>
              </a:spcBef>
            </a:pPr>
            <a:r>
              <a:rPr lang="ru-RU" dirty="0" sz="155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Микросервисная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cloud-ready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архитектура с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Envoy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и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Apache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Camel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для связности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legacy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и целевого ландшафта; декомпозиция монолитных интеграций.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Единые требования ко всем сервисам: логирование входящих/исходящих запросов (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timestamp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stan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payload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, статус, коды ошибок), маскирование чувствительных данных (PCI DSS); JWT/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Basic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для входящих API; аудит и запись в БД для финансовых сценариев; обработка ошибок и оповещения для критичных API.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Оценка трудоёмкости миграции с учётом смены протоколов (SOAP↔REST), нормализации схем, шифрования, работы с БД.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Принцип миграции без изменения бизнес-логики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legacy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— переписывание существующего поведения.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Обязательное E2E-тестирование для всех API в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scope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; комбинация ручного функционального тестирования интеграций и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(очереди, REST).</a:t>
            </a:r>
          </a:p>
          <a:p>
            <a:pPr lvl="0">
              <a:spcBef>
                <a:spcPts val="588"/>
              </a:spcBef>
              <a:buClr>
                <a:srgbClr val="8F0D6B"/>
              </a:buClr>
            </a:pPr>
            <a:r>
              <a:rPr lang="ru-RU" dirty="0" sz="155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Монолит заменён на новый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микросервисный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API и выведен в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прод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в соответствии с планом.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Выстроена стратегия тестирования и подбор инструментов под условия проекта; организована работа автоматизации интеграционных сценариев в условиях нестабильных стендов.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64"/>
              </a:lnSpc>
              <a:spcBef>
                <a:spcPts val="1764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5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  <a:endParaRPr kumimoji="0" lang="en-US" sz="155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Цель проекта - модернизация интеграционного ландшафта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Bank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Dhofar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(второй по величине банк в Омане): переход от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legacy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IBM IIB/MQ на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Solaris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 масштабируемой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cloud-native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архитектуре на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микросервисах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открытом ПО </a:t>
            </a:r>
          </a:p>
          <a:p>
            <a:pPr marL="28575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Миграция API из разных приложений с унификацией протоколов, введением строгих требований к безопасности и аудиту, а также полным E2E-тестированием </a:t>
            </a:r>
          </a:p>
          <a:p>
            <a:pPr>
              <a:spcBef>
                <a:spcPts val="588"/>
              </a:spcBef>
              <a:buClr>
                <a:srgbClr val="7D70EF"/>
              </a:buClr>
              <a:buSzPct val="110000"/>
              <a:defRPr/>
            </a:pPr>
            <a:r>
              <a:rPr lang="ru-RU" sz="15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Fixed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price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сжатые сроки при объёме, не позволяющем выстроить классический полноценный цикл разработки.</a:t>
            </a:r>
          </a:p>
          <a:p>
            <a:pPr marL="285750" lvl="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Работа без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DevOps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стороне исполнителя при недостаточной доступности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DevOps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заказчика.</a:t>
            </a:r>
          </a:p>
          <a:p>
            <a:pPr marL="285750" lvl="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Нестабильная инфраструктура и окружения.</a:t>
            </a:r>
          </a:p>
          <a:p>
            <a:pPr marL="285750" lvl="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контрактов/схем, частые изменения требований, частые изменения исходного кода со стороны заказчика. Интеграции с внешними и государственными системами при ограниченной или отсутствующей связности и документации у заказчика. </a:t>
            </a:r>
          </a:p>
          <a:p>
            <a:pPr lvl="0">
              <a:spcBef>
                <a:spcPts val="588"/>
              </a:spcBef>
              <a:buClr>
                <a:srgbClr val="7D70EF"/>
              </a:buClr>
              <a:buSzPct val="110000"/>
              <a:defRPr/>
            </a:pPr>
            <a:r>
              <a:rPr lang="ru-RU" sz="15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  <a:endParaRPr lang="en-US" sz="1550" b="1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7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Back-end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 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Java 21, Spring Boot, Apache Camel, Kafka, Docker, Kubernetes, Envoy Gateway,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OpenTelemetry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Keycloak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PostgreSQL,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ArgoCD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Harbor/GitLab, External Secrets Operator, Helm, GitLab (CI/CD)</a:t>
            </a:r>
            <a:endParaRPr lang="ru-RU" sz="7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7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Legacy </a:t>
            </a:r>
            <a:r>
              <a:rPr lang="ru-RU" sz="7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интеграции (анализ/тестирование): 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IBM Integration Toolkit, Apache Active MQ </a:t>
            </a:r>
            <a:endParaRPr lang="ru-RU" sz="7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7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 (</a:t>
            </a:r>
            <a:r>
              <a:rPr lang="ru-RU" sz="7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ручное): 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Postman, Swagger, Soap UI,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pgAdmin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VS Code, IntelliJ IDEA, Docker UI,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Open Search, Argo CD, Java 21,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RestAssured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TestNG, Jackson,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artemis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-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jms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-client,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; </a:t>
            </a:r>
            <a:r>
              <a:rPr lang="ru-RU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репортинг</a:t>
            </a:r>
            <a:r>
              <a:rPr lang="ru-RU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— 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slf4j</a:t>
            </a:r>
            <a:r>
              <a:rPr lang="en-US" sz="7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endParaRPr lang="ru-RU" sz="750" spc="30" dirty="0">
              <a:solidFill>
                <a:srgbClr val="7D70E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7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TMS / BTS: 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Jira Test Management, Jira</a:t>
            </a:r>
            <a:endParaRPr lang="ru-RU" sz="7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588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7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ИИ (в проекте): 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Cursor, Gemini CLI, Chat-GPT,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DeepSeek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7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SourseCraft</a:t>
            </a:r>
            <a:r>
              <a:rPr lang="en-US" sz="7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Qwen2.5-Coder-3B</a:t>
            </a:r>
            <a:endParaRPr lang="ru-RU" sz="7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новой </a:t>
            </a:r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Ecom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омниканальной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платформы 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Заказчик: Глория Джинс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1434859"/>
            <a:ext cx="4984531" cy="4073798"/>
          </a:xfrm>
        </p:spPr>
        <p:txBody>
          <a:bodyPr>
            <a:spAutoFit/>
          </a:bodyPr>
          <a:lstStyle/>
          <a:p>
            <a:pPr>
              <a:lnSpc>
                <a:spcPts val="1764"/>
              </a:lnSpc>
              <a:spcBef>
                <a:spcPts val="1764"/>
              </a:spcBef>
            </a:pPr>
            <a:r>
              <a:rPr lang="ru-RU" dirty="0" sz="155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Проведены итерации интеграционного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регрессионного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нагрузочного тестирования с внутренними и внешними сервисами (ФИАС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,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DaData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,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СДЭК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Почта России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ЮКасса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Атол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) 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Проведено тестирование веб витрины платформы на разных видах устройств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в соответствии с наиболее используемыми моделями среди пользователей 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GJ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Проведено тестирование безопасности системы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Запущен процесс синхронизации работы команд тестирования сайта и МП, введены общие регламенты, например, для работы с дефектами</a:t>
            </a:r>
          </a:p>
          <a:p>
            <a:pPr>
              <a:lnSpc>
                <a:spcPts val="1764"/>
              </a:lnSpc>
              <a:spcBef>
                <a:spcPts val="1764"/>
              </a:spcBef>
            </a:pPr>
            <a:r>
              <a:rPr lang="ru-RU" dirty="0" sz="155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Продукт запущен в срок</a:t>
            </a:r>
            <a:endParaRPr lang="en-US" sz="950" b="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Внедрены процессы тестирования в соответствии с созданной стратегией 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Проведены работы по улучшению производительности работы системы 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Введена практика нагрузочного тестирования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подготовлена стратегия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автотестирования</a:t>
            </a:r>
            <a:endParaRPr lang="ru-RU" sz="950" b="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Процессы тестирования в командах сайта и МП осуществляются по общим регламентам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4839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Цель проекта - создание единой </a:t>
            </a:r>
            <a:r>
              <a:rPr lang="ru-RU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омниканальной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Ecom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платформы (отказ от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Hybris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решения)</a:t>
            </a:r>
          </a:p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Тестирование, внедрение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поддержка и развитие платформы- веб-сайта, мобильного приложения (МП) и смежных систем для эффективного функционирования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Ecom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Заказчика </a:t>
            </a:r>
          </a:p>
          <a:p>
            <a:pPr>
              <a:lnSpc>
                <a:spcPts val="1800"/>
              </a:lnSpc>
              <a:spcBef>
                <a:spcPts val="1800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запуска проекта в сжатые сроки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стратегии тестирования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отчетности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ранжирования дефектов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причинно-следственного анализа 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Неактуальная тестовая документация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Распределенная кросс-</a:t>
            </a:r>
            <a:r>
              <a:rPr lang="ru-RU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вендорная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проектная команда </a:t>
            </a:r>
            <a:endParaRPr lang="en-US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 в командах сайта и МП осуществляется по разным регламентам</a:t>
            </a:r>
          </a:p>
          <a:p>
            <a:pPr lvl="0">
              <a:lnSpc>
                <a:spcPts val="1800"/>
              </a:lnSpc>
              <a:spcBef>
                <a:spcPts val="1800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  <a:endParaRPr lang="en-US" sz="1600" b="1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Back-end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Java, PHP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Apache Kafka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Front-end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Angular,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RxJS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NgRx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др.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Front-end</a:t>
            </a:r>
            <a:r>
              <a:rPr lang="ru-RU" sz="10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Mobile App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JavaScript, React Native, Kotlin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Elasticsearch, Grafana, Jenkins, GIT, Postman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Sentry,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Browserstack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Jira + Zephyr, Confluence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1С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Android studio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/>
          <p:cNvSpPr>
            <a:spLocks noGrp="1"/>
          </p:cNvSpPr>
          <p:nvPr/>
        </p:nvSpPr>
        <p:spPr bwMode="auto"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платформы для автоматизации горных работ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/>
        </p:nvSpPr>
        <p:spPr bwMode="auto">
          <a:xfrm>
            <a:off x="515937" y="1024701"/>
            <a:ext cx="4984531" cy="303050"/>
          </a:xfrm>
        </p:spPr>
        <p:txBody>
          <a:bodyPr/>
          <a:lstStyle/>
          <a:p>
            <a:pPr>
              <a:defRPr/>
            </a:pPr>
            <a:r>
              <a:rPr lang="ru-RU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Заказчик: Норильский Никель</a:t>
            </a:r>
            <a:endParaRPr lang="en-US"/>
          </a:p>
        </p:txBody>
      </p:sp>
      <p:sp>
        <p:nvSpPr>
          <p:cNvPr id="23" name="Text Placeholder 6"/>
          <p:cNvSpPr>
            <a:spLocks noGrp="1"/>
          </p:cNvSpPr>
          <p:nvPr/>
        </p:nvSpPr>
        <p:spPr bwMode="auto">
          <a:xfrm>
            <a:off x="6696990" y="556339"/>
            <a:ext cx="5188751" cy="5458793"/>
          </a:xfrm>
        </p:spPr>
        <p:txBody>
          <a:bodyPr>
            <a:spAutoFit/>
          </a:bodyPr>
          <a:lstStyle/>
          <a:p>
            <a:pPr>
              <a:lnSpc>
                <a:spcPts val="1799"/>
              </a:lnSpc>
              <a:spcBef>
                <a:spcPts val="1799"/>
              </a:spcBef>
              <a:defRPr/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Микросервисная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архитектура с упором на соответствующий набор шаблонов проектирования и современный стек технологий</a:t>
            </a:r>
            <a:endParaRPr lang="ru-RU" sz="1000" b="0" dirty="0">
              <a:solidFill>
                <a:srgbClr val="000000"/>
              </a:solidFill>
            </a:endParaRP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Запуск проекта и выполнение основного объёма работ осуществлялись в рамках </a:t>
            </a:r>
            <a:r>
              <a:rPr lang="en-US" sz="1000" b="0" dirty="0" err="1">
                <a:solidFill>
                  <a:srgbClr val="000000"/>
                </a:solidFill>
                <a:latin typeface="Stapel"/>
              </a:rPr>
              <a:t>SAFe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-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методологии и сопровождались высоким уровнем неопределённости</a:t>
            </a: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Одна из ключевых особенностей </a:t>
            </a:r>
            <a:r>
              <a:rPr lang="en-US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- 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наличие интеграции с мобильными устройствами - промышленными планшетами исполнителя и бортовыми компьютерами и датчиками, устанавливаемыми на горнодобывающую технику. </a:t>
            </a: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spc="29" dirty="0">
                <a:solidFill>
                  <a:srgbClr val="000000"/>
                </a:solidFill>
                <a:latin typeface="Stapel"/>
              </a:rPr>
              <a:t>Работа с данными,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сгенерированными путем интерпретации информации, полученной с использованием технологии машинного зрения</a:t>
            </a:r>
            <a:endParaRPr sz="1000" b="0" i="0" u="none" strike="noStrike" cap="none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Разработка проводится при поддержке нагрузочного тестирования</a:t>
            </a: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Разработана схема регрессионного тестирования релизов в условиях регулярных поставок для целей бизнес-тестирования и апробации продукта на одном из рудников заказчика</a:t>
            </a:r>
          </a:p>
          <a:p>
            <a:pPr>
              <a:lnSpc>
                <a:spcPts val="1799"/>
              </a:lnSpc>
              <a:spcBef>
                <a:spcPts val="1799"/>
              </a:spcBef>
              <a:defRPr/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Успешно проведена апробация продукта на одном из рудников заказчика</a:t>
            </a:r>
            <a:endParaRPr lang="en-US" sz="1000" b="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Внедрены процессы тестирования в соответствии с созданной стратегией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 - 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процесс тестирования выстроен и задокументирован, введены общие регламенты, создана база знаний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Введена практика нагрузочного тестирования для оперативного получения обратной связи с учётом предъявляемых к системе нефункциональных требований</a:t>
            </a:r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Внедрён </a:t>
            </a:r>
            <a:r>
              <a:rPr lang="ru-RU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релизный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процесс для продукта, состоящего из 50+ </a:t>
            </a:r>
            <a:r>
              <a:rPr lang="ru-RU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микросервисов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endParaRPr lang="ru-RU" sz="1000" b="0" dirty="0">
              <a:solidFill>
                <a:srgbClr val="000000"/>
              </a:solidFill>
            </a:endParaRPr>
          </a:p>
        </p:txBody>
      </p:sp>
      <p:sp>
        <p:nvSpPr>
          <p:cNvPr id="24" name="TextBox 9"/>
          <p:cNvSpPr txBox="1"/>
          <p:nvPr/>
        </p:nvSpPr>
        <p:spPr bwMode="auto">
          <a:xfrm>
            <a:off x="527875" y="1434858"/>
            <a:ext cx="52147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763"/>
              </a:lnSpc>
              <a:spcBef>
                <a:spcPts val="1763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/>
              <a:buNone/>
              <a:defRPr/>
            </a:pPr>
            <a:r>
              <a:rPr lang="ru-RU" sz="1550" b="0" i="0" u="none" strike="noStrike" cap="none" spc="29" dirty="0">
                <a:ln>
                  <a:noFill/>
                </a:ln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Основные моменты</a:t>
            </a:r>
            <a:endParaRPr lang="en-US" sz="1550" b="1" i="0" u="none" strike="noStrike" cap="none" spc="29" dirty="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Цель проекта - создание единой платформы для автоматизации полного цикла горных работ от проектирования до диспетчеризации </a:t>
            </a:r>
            <a:endParaRPr dirty="0" sz="1750"/>
          </a:p>
          <a:p>
            <a:pPr marL="28575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Создание, тестирование, апробация, внедрение платформы и мобильного приложения (СППУ) для эффективной автоматизации производственного процесса Заказчика и замещения текущих разнородных систем единой многофункциональной платформой </a:t>
            </a:r>
            <a:endParaRPr dirty="0" sz="1750"/>
          </a:p>
          <a:p>
            <a:pPr>
              <a:lnSpc>
                <a:spcPts val="1763"/>
              </a:lnSpc>
              <a:spcBef>
                <a:spcPts val="1763"/>
              </a:spcBef>
              <a:buClr>
                <a:srgbClr val="8F0D6B"/>
              </a:buClr>
              <a:buSzPct val="110000"/>
              <a:defRPr/>
            </a:pPr>
            <a:r>
              <a:rPr lang="ru-RU" sz="1550" b="0" spc="29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</a:t>
            </a:r>
            <a:endParaRPr dirty="0" sz="1750"/>
          </a:p>
          <a:p>
            <a:pPr marL="285750" lvl="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Запуск проекта с нуля</a:t>
            </a:r>
            <a:endParaRPr dirty="0" sz="1750"/>
          </a:p>
          <a:p>
            <a:pPr marL="285750" lvl="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Отсутствие базы знаний, стратегии тестирования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</a:t>
            </a: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отчетности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</a:t>
            </a: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ранжирования дефектов</a:t>
            </a:r>
            <a:endParaRPr dirty="0" sz="1750"/>
          </a:p>
          <a:p>
            <a:pPr marL="285750" lvl="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Отсутствие проработанных требований и референсов к системе</a:t>
            </a:r>
            <a:endParaRPr dirty="0" sz="1750"/>
          </a:p>
          <a:p>
            <a:pPr marL="285750" lvl="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Распределенная кросс-</a:t>
            </a:r>
            <a:r>
              <a:rPr lang="ru-RU" sz="1000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вендорная</a:t>
            </a: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проектная команда </a:t>
            </a:r>
            <a:endParaRPr lang="en-US" sz="1000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lvl="0">
              <a:lnSpc>
                <a:spcPts val="1763"/>
              </a:lnSpc>
              <a:spcBef>
                <a:spcPts val="1763"/>
              </a:spcBef>
              <a:buClr>
                <a:srgbClr val="8F0D6B"/>
              </a:buClr>
              <a:buSzPct val="110000"/>
              <a:defRPr/>
            </a:pPr>
            <a:r>
              <a:rPr lang="ru-RU" sz="1550" b="0" spc="29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Инструментарий</a:t>
            </a:r>
            <a:endParaRPr lang="en-US" sz="1550" b="1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lvl="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en-US" sz="1000" spc="29" dirty="0">
                <a:solidFill>
                  <a:srgbClr val="7D70EF"/>
                </a:solidFill>
                <a:latin typeface="Stapel"/>
                <a:ea typeface="Stapel"/>
                <a:cs typeface="Stapel"/>
              </a:rPr>
              <a:t>Back-end</a:t>
            </a: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 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Java, Python</a:t>
            </a: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Kafka, </a:t>
            </a:r>
            <a:r>
              <a:rPr lang="en-US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Keycloak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PostgreSQL, </a:t>
            </a:r>
            <a:r>
              <a:rPr lang="en-US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Clickhouse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</a:t>
            </a:r>
            <a:r>
              <a:rPr lang="en-US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MQTT</a:t>
            </a:r>
            <a:endParaRPr lang="ru-RU" sz="1000" b="0" i="0" u="none" strike="noStrike" cap="none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lvl="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en-US" sz="1000" b="0" i="0" u="none" strike="noStrike" cap="none" spc="29" dirty="0">
                <a:solidFill>
                  <a:srgbClr val="7D70EF"/>
                </a:solidFill>
                <a:latin typeface="Stapel"/>
                <a:ea typeface="Stapel"/>
                <a:cs typeface="Stapel"/>
              </a:rPr>
              <a:t>BFF</a:t>
            </a:r>
            <a:r>
              <a:rPr lang="en-US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 </a:t>
            </a:r>
            <a:r>
              <a:rPr lang="en-US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NodeJs</a:t>
            </a:r>
            <a:endParaRPr lang="ru-RU" dirty="0" sz="1750"/>
          </a:p>
          <a:p>
            <a:pPr marL="285750" lvl="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en-US" sz="1000" spc="29" dirty="0">
                <a:solidFill>
                  <a:srgbClr val="7D70EF"/>
                </a:solidFill>
                <a:latin typeface="Stapel"/>
                <a:ea typeface="Stapel"/>
                <a:cs typeface="Stapel"/>
              </a:rPr>
              <a:t>Front-end</a:t>
            </a: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</a:t>
            </a:r>
            <a:r>
              <a:rPr lang="en-US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TypeScript, ReactJS, NX</a:t>
            </a:r>
            <a:endParaRPr dirty="0" sz="1750"/>
          </a:p>
          <a:p>
            <a:pPr marL="285750" lvl="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en-US" sz="1000" spc="29" dirty="0">
                <a:solidFill>
                  <a:srgbClr val="7D70EF"/>
                </a:solidFill>
                <a:latin typeface="Stapel"/>
                <a:ea typeface="Stapel"/>
                <a:cs typeface="Stapel"/>
              </a:rPr>
              <a:t>Mobile App</a:t>
            </a: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C++, </a:t>
            </a:r>
            <a:r>
              <a:rPr lang="en-US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Qt, </a:t>
            </a:r>
            <a:r>
              <a:rPr lang="en-US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SqlLite</a:t>
            </a:r>
            <a:r>
              <a:rPr lang="en-US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MQTT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</a:t>
            </a:r>
            <a:r>
              <a:rPr lang="en-US" sz="1000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IotDB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Kafka</a:t>
            </a:r>
            <a:endParaRPr lang="ru-RU" sz="1000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lvl="0" indent="-285750">
              <a:spcBef>
                <a:spcPts val="587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en-US" sz="1000" spc="29" dirty="0">
                <a:solidFill>
                  <a:srgbClr val="7D70EF"/>
                </a:solidFill>
                <a:latin typeface="Stapel"/>
                <a:ea typeface="Stapel"/>
                <a:cs typeface="Stapel"/>
              </a:rPr>
              <a:t>QA</a:t>
            </a: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Grafana, Jaeger, GitLab, Postman</a:t>
            </a:r>
            <a:r>
              <a:rPr lang="ru-RU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Test IT, </a:t>
            </a:r>
            <a:r>
              <a:rPr lang="en-US" sz="1000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Playwrite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Allure, K6, </a:t>
            </a:r>
            <a:r>
              <a:rPr lang="en-US" sz="1000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PgAdmin</a:t>
            </a:r>
            <a:r>
              <a:rPr lang="en-US" sz="100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Swagger, Kafka UI</a:t>
            </a:r>
            <a:endParaRPr lang="ru-RU" sz="1000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FCCCA94-22F6-479D-8A6E-9A8B2A12D7E9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промышленного тестирования с нуля</a:t>
            </a:r>
            <a:br>
              <a:rPr lang="ru-RU" dirty="0"/>
            </a:br>
            <a:endParaRPr lang="ru-RU" dirty="0"/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76361F41-4BA3-47D0-AACA-37EDAF229561}"/>
              </a:ext>
            </a:extLst>
          </p:cNvPr>
          <p:cNvSpPr txBox="1"/>
          <p:nvPr/>
        </p:nvSpPr>
        <p:spPr>
          <a:xfrm>
            <a:off x="517392" y="217461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6A7B6EC9-0E51-4BFE-A6C7-BA1D29E53624}"/>
              </a:ext>
            </a:extLst>
          </p:cNvPr>
          <p:cNvSpPr txBox="1"/>
          <p:nvPr/>
        </p:nvSpPr>
        <p:spPr>
          <a:xfrm>
            <a:off x="515936" y="2600815"/>
            <a:ext cx="4967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Сложная промышленная предметная область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отечественной экспертизы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Наличие различных специфических сред, оборудования и контроллеров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9E9E9F59-6716-44C1-A7D8-6041D054EAB0}"/>
              </a:ext>
            </a:extLst>
          </p:cNvPr>
          <p:cNvSpPr txBox="1"/>
          <p:nvPr/>
        </p:nvSpPr>
        <p:spPr>
          <a:xfrm>
            <a:off x="509022" y="502930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941F03A3-596C-4CFA-B51C-0F0A34008835}"/>
              </a:ext>
            </a:extLst>
          </p:cNvPr>
          <p:cNvSpPr txBox="1"/>
          <p:nvPr/>
        </p:nvSpPr>
        <p:spPr>
          <a:xfrm>
            <a:off x="509022" y="5499120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728"/>
              </a:lnSpc>
              <a:spcBef>
                <a:spcPts val="576"/>
              </a:spcBef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Python</a:t>
            </a:r>
            <a:r>
              <a:rPr lang="ru-RU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en-US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150" dirty="0">
                <a:solidFill>
                  <a:srgbClr val="000000"/>
                </a:solidFill>
                <a:latin typeface="+mn-lt"/>
              </a:rPr>
              <a:t>Postman</a:t>
            </a:r>
            <a:r>
              <a:rPr lang="ru-RU" sz="1150" dirty="0">
                <a:solidFill>
                  <a:srgbClr val="000000"/>
                </a:solidFill>
                <a:latin typeface="+mn-lt"/>
              </a:rPr>
              <a:t>,</a:t>
            </a:r>
            <a:r>
              <a:rPr lang="en-US" sz="11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+mn-lt"/>
              </a:rPr>
              <a:t>Youtrack</a:t>
            </a:r>
            <a:r>
              <a:rPr lang="ru-RU" sz="1150" dirty="0">
                <a:solidFill>
                  <a:srgbClr val="000000"/>
                </a:solidFill>
                <a:latin typeface="+mn-lt"/>
              </a:rPr>
              <a:t>,</a:t>
            </a:r>
            <a:r>
              <a:rPr lang="en-US" sz="11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+mn-lt"/>
              </a:rPr>
              <a:t>Jmeter</a:t>
            </a:r>
            <a:r>
              <a:rPr lang="ru-RU" sz="1150" dirty="0">
                <a:solidFill>
                  <a:srgbClr val="000000"/>
                </a:solidFill>
                <a:latin typeface="+mn-lt"/>
              </a:rPr>
              <a:t>,</a:t>
            </a:r>
            <a:r>
              <a:rPr lang="en-US" sz="11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+mn-lt"/>
              </a:rPr>
              <a:t>Xelgo</a:t>
            </a:r>
            <a:r>
              <a:rPr lang="en-US" sz="1150" dirty="0">
                <a:solidFill>
                  <a:srgbClr val="000000"/>
                </a:solidFill>
                <a:latin typeface="+mn-lt"/>
              </a:rPr>
              <a:t> (</a:t>
            </a:r>
            <a:r>
              <a:rPr lang="ru-RU" sz="1150" dirty="0">
                <a:solidFill>
                  <a:srgbClr val="000000"/>
                </a:solidFill>
                <a:latin typeface="+mn-lt"/>
              </a:rPr>
              <a:t>цифровой двойник)</a:t>
            </a:r>
            <a:endParaRPr lang="ru-RU" sz="11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B8C0D14-7FA4-4E4E-8DCE-6C57E0D0AD7E}"/>
              </a:ext>
            </a:extLst>
          </p:cNvPr>
          <p:cNvSpPr>
            <a:spLocks noGrp="1"/>
          </p:cNvSpPr>
          <p:nvPr/>
        </p:nvSpPr>
        <p:spPr>
          <a:xfrm>
            <a:off x="515936" y="1096917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Собственный проект по автоматизации багажных и промышленных процессов аэропортов</a:t>
            </a:r>
            <a:endParaRPr lang="en-US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F7AFACE-5C86-402F-835A-7D49BCFD7EED}"/>
              </a:ext>
            </a:extLst>
          </p:cNvPr>
          <p:cNvSpPr>
            <a:spLocks noGrp="1"/>
          </p:cNvSpPr>
          <p:nvPr/>
        </p:nvSpPr>
        <p:spPr>
          <a:xfrm>
            <a:off x="6703472" y="379926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B86607BC-958E-4A59-8FD5-1CA3EDDD1053}"/>
              </a:ext>
            </a:extLst>
          </p:cNvPr>
          <p:cNvSpPr txBox="1">
            <a:spLocks/>
          </p:cNvSpPr>
          <p:nvPr/>
        </p:nvSpPr>
        <p:spPr>
          <a:xfrm>
            <a:off x="6691534" y="772994"/>
            <a:ext cx="5088009" cy="335511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Программное решение в рамках </a:t>
            </a:r>
            <a:r>
              <a:rPr lang="ru-RU" sz="1100" dirty="0" err="1" b="0">
                <a:solidFill>
                  <a:srgbClr val="FFFFFF"/>
                </a:solidFill>
                <a:latin typeface="Stapel"/>
              </a:rPr>
              <a:t>импортозамещения</a:t>
            </a:r>
            <a:r>
              <a:rPr lang="ru-RU" sz="1100" dirty="0" b="0">
                <a:solidFill>
                  <a:srgbClr val="FFFFFF"/>
                </a:solidFill>
                <a:latin typeface="Stapel"/>
              </a:rPr>
              <a:t> 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Построен процесс контроля качества продукта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Разработан широкий спектр документации по тестированию и приёмке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 команде тестирования появились эксперты в предметной области по работе с контролерами, технологическими средами и протоколами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Команда тестирования работает совместно с командой внедрения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Внедрено </a:t>
            </a:r>
            <a:r>
              <a:rPr lang="ru-RU" sz="1100" dirty="0" err="1" b="0">
                <a:solidFill>
                  <a:srgbClr val="FFFFFF"/>
                </a:solidFill>
                <a:latin typeface="Stapel"/>
              </a:rPr>
              <a:t>Performance</a:t>
            </a:r>
            <a:r>
              <a:rPr lang="ru-RU" sz="1100" dirty="0" b="0">
                <a:solidFill>
                  <a:srgbClr val="FFFFFF"/>
                </a:solidFill>
                <a:latin typeface="Stapel"/>
              </a:rPr>
              <a:t> тестирование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Построен процесс стажировки специалистов по тестированию для вхождения в предметную область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F3A42A68-E1BB-4EB6-8E11-DCEB6A7854E6}"/>
              </a:ext>
            </a:extLst>
          </p:cNvPr>
          <p:cNvSpPr txBox="1">
            <a:spLocks/>
          </p:cNvSpPr>
          <p:nvPr/>
        </p:nvSpPr>
        <p:spPr>
          <a:xfrm>
            <a:off x="6690078" y="3722502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4FE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 sz="150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11947E47-37E5-4821-A2AF-36CB1501D49C}"/>
              </a:ext>
            </a:extLst>
          </p:cNvPr>
          <p:cNvSpPr txBox="1">
            <a:spLocks/>
          </p:cNvSpPr>
          <p:nvPr/>
        </p:nvSpPr>
        <p:spPr>
          <a:xfrm>
            <a:off x="6690078" y="4128108"/>
            <a:ext cx="5165187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 b="0">
                <a:solidFill>
                  <a:srgbClr val="FFFFFF"/>
                </a:solidFill>
                <a:latin typeface="Stapel"/>
              </a:rPr>
              <a:t>Созданы и поддерживаются командой тестирования 4 продукта, внесенные в Реестр Российского программного обеспечения: система  управления багажом на промышленных контроллерах </a:t>
            </a:r>
            <a:r>
              <a:rPr lang="ru-RU" sz="1200" b="0" dirty="0" err="1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Reksoft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BHS, </a:t>
            </a:r>
            <a:r>
              <a:rPr lang="ru-RU" sz="1200" dirty="0" b="0">
                <a:solidFill>
                  <a:srgbClr val="FFFFFF"/>
                </a:solidFill>
                <a:latin typeface="Stapel"/>
              </a:rPr>
              <a:t>система управления сортировкой </a:t>
            </a:r>
            <a:r>
              <a:rPr lang="ru-RU" sz="1200" b="0" dirty="0" err="1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Reksoft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SAC, </a:t>
            </a:r>
            <a:r>
              <a:rPr lang="ru-RU" sz="1200" dirty="0" b="0">
                <a:solidFill>
                  <a:srgbClr val="FFFFFF"/>
                </a:solidFill>
                <a:latin typeface="Stapel"/>
              </a:rPr>
              <a:t>система диспетчеризации и управления оборудованием </a:t>
            </a:r>
            <a:r>
              <a:rPr lang="ru-RU" sz="1200" b="0" dirty="0" err="1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Reksoft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SCADA, </a:t>
            </a:r>
            <a:r>
              <a:rPr lang="ru-RU" sz="1200" dirty="0" b="0">
                <a:solidFill>
                  <a:srgbClr val="FFFFFF"/>
                </a:solidFill>
                <a:latin typeface="Stapel"/>
              </a:rPr>
              <a:t>шина аэропортовых сообщений </a:t>
            </a:r>
            <a:r>
              <a:rPr lang="ru-RU" sz="1200" b="0" dirty="0" err="1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Reksoft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AMG</a:t>
            </a:r>
            <a:endParaRPr lang="ru-RU" sz="1200" dirty="0"/>
          </a:p>
          <a:p>
            <a:r>
              <a:rPr lang="ru-RU" sz="1200" dirty="0" b="0">
                <a:solidFill>
                  <a:srgbClr val="FFFFFF"/>
                </a:solidFill>
                <a:latin typeface="Stapel"/>
              </a:rPr>
              <a:t>Все решения находятся в промышленной эксплуатации под высокой нагрузкой во многих аэропортах России 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омниканальной </a:t>
            </a:r>
            <a:br>
              <a:rPr lang="ru-RU" dirty="0"/>
            </a:b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eСommerce-платформы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М.Видео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процесса пилотирования нового релиза (вывод новой версии сайта и интернет-магазина только на вполне определённый перечень регионов)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Автоматизированные тесты BDD подхода входят в критерии готовности реализованной функциональности (DoD)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Внесение разработанных автоматизированных тестов в регрессионную тестовую модель релиза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Полностью автоматизированная регрессия выполняется ежедневно на разных версиях релиза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Переработан и значительно упрощён процесс покупки товаров в интернет-магазине (корзина и checkout)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Проект включал в себя разработку сайта и интернет-магазина на </a:t>
            </a:r>
            <a:br>
              <a:rPr lang="ru-RU" sz="1050" dirty="0"/>
            </a:br>
            <a:r>
              <a:rPr lang="ru-RU" sz="1050" dirty="0" b="0">
                <a:solidFill>
                  <a:srgbClr val="000000"/>
                </a:solidFill>
                <a:latin typeface="Stapel"/>
              </a:rPr>
              <a:t>e-commerce платформе Oracle ATG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и внедрение процесса пилотирования нового релиза сайта и интернет-магазина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нового процесса покупки (корзина и checkout)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BDD тестов автоматизированного тестирования в нотации Gherkin-а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знаний и опыта разработки на e-commerce платформе Oracle ATG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процесса пилотирования нового релиза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автоматизированных тестов BDD подхода в нотации Gherkin-а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Глобально распределенные команды со стороны Заказчика и различных вендоров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Множество команд, часто работающих над одними и теми же компонентами одновременно, создавая сложности интеграции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Большой набор автоматизированных регрессионных тестов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Selenium WebDriver, Jenkins, Allure, Jira, Cucumber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Возможность вывода нового релиза на ограниченный состав регионов, что позволяет принимать решение о целесообразности / возможности вывода релиза на все регионы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Возможность анализа эффективности новой функциональности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Увеличение конверсии после доработки процесса покупки товаров (корзина и checkout)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&gt; 90 % автоматизированных регрессионных тестов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Возможность разработки тестов BDD подхода в нотации Gherkin-а бизнес-пользователями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493517" y="346078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промышленного тестирования с нуля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5180013" cy="966728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br>
              <a:rPr lang="ru-RU" dirty="0">
                <a:solidFill>
                  <a:srgbClr val="8F0D6B"/>
                </a:solidFill>
              </a:rPr>
            </a:b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Крупная горно-металлургическая компания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Все подкоманды проекта взаимодействуют по </a:t>
            </a:r>
            <a:r>
              <a:rPr lang="en-US" sz="1200" dirty="0" err="1" b="0">
                <a:solidFill>
                  <a:srgbClr val="000000"/>
                </a:solidFill>
                <a:latin typeface="Stapel"/>
              </a:rPr>
              <a:t>SAFe</a:t>
            </a: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3 подкоманды функционального тестирования и подкоманда автоматизированного тестирования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Построен процесс контроля качества продукта и отчетности перед заказчиком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Большое количество разнообразных задач на тестирование каждый спринт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err="1" b="0">
                <a:solidFill>
                  <a:srgbClr val="000000"/>
                </a:solidFill>
                <a:latin typeface="Stapel"/>
              </a:rPr>
              <a:t>Автотестирование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используется для сокращения времени прохождения регрессионных проверок и для прохождения Е2Е сценариев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493517" y="217891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0477" y="2628606"/>
            <a:ext cx="496757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Новый проект – полное отсутствие процессов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в рамках </a:t>
            </a:r>
            <a:r>
              <a:rPr lang="ru-RU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импортозамещения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с обязательствами перед Правительством РФ в рамках ИЦК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Большая команда (200+ сотрудников)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Сложная промышленная предметная область</a:t>
            </a:r>
            <a:endParaRPr lang="en-US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Наличие различных специфических сред, оборудования и контроллеров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0477" y="487611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533810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Kaiten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 It, Playwright, Python,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Pycharm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Allure</a:t>
            </a: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752123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4160459"/>
            <a:ext cx="5100865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Создана с нуля система со сложными интеграциями в </a:t>
            </a:r>
            <a:r>
              <a:rPr lang="ru-RU" sz="1200" dirty="0" err="1" b="0">
                <a:solidFill>
                  <a:srgbClr val="000000"/>
                </a:solidFill>
                <a:latin typeface="Stapel"/>
              </a:rPr>
              <a:t>тч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CAD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(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трехмерный план горной разработки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)</a:t>
            </a: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Успешно пройден аудит качества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ISO 9001</a:t>
            </a: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Продукт в процессе перехода в «коробочное» решение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Потенциальный переход в экспертно-аналитические системы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единой платформы программ лояльности Банков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ВТБ + Почта Банк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 реализации использовался микросервисный подход, соответствующий набор шаблонов проектирования и современный стек технологий с упором на готовые проверенные решения с открытым исходным кодом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Проведено интеграционное тестирование с внешними сервисами Uniteller и Payture, сервисами работы с адресами ФИАС и DaData, внешними партнерами и интернет-магазинами такими как Kinohod, Biletix, Red Kassa и другими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Проведено тестирование клиентского сайта, приложения для сотрудников банка и нативных мобильных приложения под iOS и Android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Особое внимание уделялось адаптивности, доступности и возможности настройки интерфейса «под себя»: проработаны варианты отображения функционала на различных разрешениях, специальные функции для людей с ограниченными возможностями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692"/>
              </a:lnSpc>
              <a:spcBef>
                <a:spcPts val="94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3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3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1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7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1128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950" dirty="0" b="0">
                <a:solidFill>
                  <a:srgbClr val="000000"/>
                </a:solidFill>
                <a:latin typeface="Stapel"/>
              </a:rPr>
              <a:t>Целью проекта являлось создание единой площадки для программ лояльности банков ВТБ и Почта Банк, с последующей трансформацией решения в White Label продукт</a:t>
            </a:r>
          </a:p>
          <a:p>
            <a:pPr marL="285750" indent="-285750">
              <a:lnSpc>
                <a:spcPct val="100000"/>
              </a:lnSpc>
              <a:spcBef>
                <a:spcPts val="1128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950" dirty="0" b="0">
                <a:solidFill>
                  <a:srgbClr val="000000"/>
                </a:solidFill>
                <a:latin typeface="Stapel"/>
              </a:rPr>
              <a:t>Разработка, внедрение и развитие iOS и Android - версии мобильного приложения, включая консалтинг, дизайн приложения, разработку единой бэк-офисной b2b и b2e-платформы, тестирование и поддержку (3 уровень)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430212" y="314859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430212" y="3559340"/>
            <a:ext cx="496757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редизайна всей системы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Переезд инфраструктуры проекта с мощностей ЕРАМ на мощности заказчика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Развитие систем банка предполагало кросс-вендорное взаимодействие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Это первая и единственная на российском банковском рынке объединенная программа лояльности, включающая в себя единую площадку для списания бонусов и единый баланс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430212" y="5261558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430212" y="5649833"/>
            <a:ext cx="4967570" cy="73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en-US" sz="105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Back-end</a:t>
            </a:r>
            <a:r>
              <a:rPr lang="ru-RU" sz="105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: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SOA, Java 8-11, Kotlin, Spring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fontAlgn="auto"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en-US" sz="105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Front-end</a:t>
            </a:r>
            <a:r>
              <a:rPr lang="ru-RU" sz="1050" b="0" spc="3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: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React (functional components), Redux; PostgreSQL, Apache Kafka, Elasticsearch, OpenShift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др.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79248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4200823"/>
            <a:ext cx="4984529" cy="30176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Были интегрированы два приложения — Почта Банк Онлайн и «Мультибонус»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Создан унифицированный фреймворк UI-компонентов, которые используются повторно в других системах банка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Были перенесены 10 000 активных и более 100 000 реализованных задач в Jira заказчика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Были перенесены Confluence c историчностью накопления данных за весь срок жизни проекта – а это около 8 лет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Были перенесены порядка 80 серверов, организованных в более чем 30 тестовых окружений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процесса автоматизации с нуля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НЛМК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9"/>
            <a:ext cx="4984529" cy="2220672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Создан фреймворк автоматизации с использованием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Playwright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и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RestAssured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Настроена тесная связь ручного и автоматизированного тестирования, маппинг автотестов на ручные тест кейсы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Возможность запуска полного набора автотестов на разных продуктах</a:t>
            </a:r>
            <a:endParaRPr lang="en-US" sz="10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Ежедневные прогоны на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master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ветке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Регулярный автоматизированный сбор метрик и статистики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2220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Новый проект – полное отсутствие процессов</a:t>
            </a:r>
          </a:p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Legacy</a:t>
            </a: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система, перешедшая в доработку от предыдущего подрядчика</a:t>
            </a:r>
          </a:p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Общий тестовый стенд для ручного и автоматизированного тестирования для всех подрядчиков</a:t>
            </a:r>
          </a:p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поддержки нескольких продуктов внутри решения</a:t>
            </a:r>
          </a:p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Разница в данных</a:t>
            </a:r>
            <a:r>
              <a:rPr kumimoji="0" lang="en-US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интеграции между разными стендами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437" y="478939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7437" y="5251388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Java, Gradle, Playwright, RestAssured, JDBC, TestNG, Gitlab CI, Allure TestOps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037511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3445847"/>
            <a:ext cx="5197257" cy="30227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656"/>
              </a:lnSpc>
              <a:spcBef>
                <a:spcPts val="92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2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1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ts val="1656"/>
              </a:lnSpc>
              <a:spcBef>
                <a:spcPts val="552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Покрытие </a:t>
            </a:r>
            <a:r>
              <a:rPr kumimoji="0" lang="en-US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smoke</a:t>
            </a: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en-US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70%, </a:t>
            </a: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регрессии – 45%</a:t>
            </a:r>
          </a:p>
          <a:p>
            <a:pPr marL="285750" marR="0" lvl="0" indent="-285750" algn="l" defTabSz="914400" rtl="0" eaLnBrk="1" fontAlgn="auto" latinLnBrk="0" hangingPunct="1">
              <a:lnSpc>
                <a:spcPts val="1656"/>
              </a:lnSpc>
              <a:spcBef>
                <a:spcPts val="552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является неотъемлемым индикатором качества приложения</a:t>
            </a:r>
          </a:p>
          <a:p>
            <a:pPr marL="285750" marR="0" lvl="0" indent="-285750" algn="l" defTabSz="914400" rtl="0" eaLnBrk="1" fontAlgn="auto" latinLnBrk="0" hangingPunct="1">
              <a:lnSpc>
                <a:spcPts val="1656"/>
              </a:lnSpc>
              <a:spcBef>
                <a:spcPts val="552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Запуск автотестов по расписанию, по требованию</a:t>
            </a:r>
          </a:p>
          <a:p>
            <a:pPr marL="285750" marR="0" lvl="0" indent="-285750" algn="l" defTabSz="914400" rtl="0" eaLnBrk="1" fontAlgn="auto" latinLnBrk="0" hangingPunct="1">
              <a:lnSpc>
                <a:spcPts val="1656"/>
              </a:lnSpc>
              <a:spcBef>
                <a:spcPts val="552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Комбинированные тестовые прогоны (ручные + автоматизированные тесты)</a:t>
            </a:r>
          </a:p>
          <a:p>
            <a:pPr marL="285750" marR="0" lvl="0" indent="-285750" algn="l" defTabSz="914400" rtl="0" eaLnBrk="1" fontAlgn="auto" latinLnBrk="0" hangingPunct="1">
              <a:lnSpc>
                <a:spcPts val="1656"/>
              </a:lnSpc>
              <a:spcBef>
                <a:spcPts val="552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Средний процент успешного прохождения автотестов</a:t>
            </a:r>
            <a:r>
              <a:rPr kumimoji="0" lang="en-US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 по причине открытых дефектов </a:t>
            </a:r>
            <a:r>
              <a:rPr kumimoji="0" lang="en-US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~</a:t>
            </a: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9</a:t>
            </a:r>
            <a:r>
              <a:rPr kumimoji="0" lang="en-US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5</a:t>
            </a: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%</a:t>
            </a:r>
          </a:p>
          <a:p>
            <a:pPr marL="285750" marR="0" lvl="0" indent="-285750" algn="l" defTabSz="914400" rtl="0" eaLnBrk="1" fontAlgn="auto" latinLnBrk="0" hangingPunct="1">
              <a:lnSpc>
                <a:spcPts val="1656"/>
              </a:lnSpc>
              <a:spcBef>
                <a:spcPts val="552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Автоматизирован сложный процесс сверок данных и объектных моделей, занимающий человеко-дни ручной работы</a:t>
            </a:r>
          </a:p>
          <a:p>
            <a:pPr marL="285750" marR="0" lvl="0" indent="-285750" algn="l" defTabSz="914400" rtl="0" eaLnBrk="1" fontAlgn="auto" latinLnBrk="0" hangingPunct="1">
              <a:lnSpc>
                <a:spcPts val="1656"/>
              </a:lnSpc>
              <a:spcBef>
                <a:spcPts val="552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Значительно сокращено время проведения регрессионного тестирования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/>
          <p:cNvSpPr>
            <a:spLocks noGrp="1"/>
          </p:cNvSpPr>
          <p:nvPr/>
        </p:nvSpPr>
        <p:spPr bwMode="auto">
          <a:xfrm>
            <a:off x="515937" y="343546"/>
            <a:ext cx="4984531" cy="84765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фаззинг тестирования.</a:t>
            </a:r>
            <a:endParaRPr/>
          </a:p>
        </p:txBody>
      </p:sp>
      <p:sp>
        <p:nvSpPr>
          <p:cNvPr id="22" name="Текст 9"/>
          <p:cNvSpPr>
            <a:spLocks noGrp="1"/>
          </p:cNvSpPr>
          <p:nvPr/>
        </p:nvSpPr>
        <p:spPr bwMode="auto">
          <a:xfrm>
            <a:off x="515936" y="1208212"/>
            <a:ext cx="4984531" cy="303050"/>
          </a:xfrm>
        </p:spPr>
        <p:txBody>
          <a:bodyPr/>
          <a:lstStyle/>
          <a:p>
            <a:pPr>
              <a:defRPr/>
            </a:pPr>
            <a:r>
              <a:rPr lang="ru-RU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b="0" sz="1600">
                <a:solidFill>
                  <a:srgbClr val="7D70EF"/>
                </a:solidFill>
                <a:latin typeface="Stapel"/>
              </a:rPr>
              <a:t>Крупные аэропорты</a:t>
            </a:r>
            <a:endParaRPr lang="ru-RU">
              <a:solidFill>
                <a:srgbClr val="8F0D6B"/>
              </a:solidFill>
            </a:endParaRPr>
          </a:p>
        </p:txBody>
      </p:sp>
      <p:sp>
        <p:nvSpPr>
          <p:cNvPr id="23" name="TextBox 14"/>
          <p:cNvSpPr txBox="1"/>
          <p:nvPr/>
        </p:nvSpPr>
        <p:spPr bwMode="auto">
          <a:xfrm>
            <a:off x="545781" y="1774123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/>
              <a:buNone/>
              <a:defRPr/>
            </a:pPr>
            <a:r>
              <a:rPr lang="ru-RU" sz="16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Основные моменты</a:t>
            </a:r>
            <a:endParaRPr/>
          </a:p>
        </p:txBody>
      </p:sp>
      <p:sp>
        <p:nvSpPr>
          <p:cNvPr id="24" name="Text Placeholder 6"/>
          <p:cNvSpPr txBox="1"/>
          <p:nvPr/>
        </p:nvSpPr>
        <p:spPr bwMode="auto">
          <a:xfrm>
            <a:off x="527437" y="2214209"/>
            <a:ext cx="5229112" cy="12716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/>
              <a:buNone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/>
              <a:buChar char="•"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>
              <a:lnSpc>
                <a:spcPts val="1799"/>
              </a:lnSpc>
              <a:spcBef>
                <a:spcPts val="1199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r>
              <a:rPr lang="ru-RU" sz="1050" b="0">
                <a:solidFill>
                  <a:srgbClr val="000000"/>
                </a:solidFill>
                <a:latin typeface="Stapel"/>
              </a:rPr>
              <a:t>Фаззинг тестирование  </a:t>
            </a:r>
            <a:r>
              <a:rPr lang="en-US" sz="1050" b="0">
                <a:solidFill>
                  <a:srgbClr val="000000"/>
                </a:solidFill>
                <a:latin typeface="Stapel"/>
              </a:rPr>
              <a:t>Rest API </a:t>
            </a:r>
            <a:r>
              <a:rPr lang="ru-RU" sz="1050" b="0">
                <a:solidFill>
                  <a:srgbClr val="000000"/>
                </a:solidFill>
                <a:latin typeface="Stapel"/>
              </a:rPr>
              <a:t>для всех доступных методов</a:t>
            </a:r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Множество микросервисов </a:t>
            </a:r>
            <a:r>
              <a:rPr lang="ru-RU" sz="1050" b="0">
                <a:solidFill>
                  <a:srgbClr val="000000"/>
                </a:solidFill>
                <a:latin typeface="Stapel"/>
              </a:rPr>
              <a:t>необходимо профаззить в короткие сроки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1199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endParaRPr lang="ru-RU" sz="1050">
              <a:solidFill>
                <a:srgbClr val="000000"/>
              </a:solidFill>
            </a:endParaRP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1199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endParaRPr lang="ru-RU" sz="1050" b="0" i="0" u="none" strike="noStrike" cap="none" spc="3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25" name="TextBox 16"/>
          <p:cNvSpPr txBox="1"/>
          <p:nvPr/>
        </p:nvSpPr>
        <p:spPr bwMode="auto">
          <a:xfrm>
            <a:off x="451084" y="332427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/>
              <a:buNone/>
              <a:defRPr/>
            </a:pPr>
            <a:r>
              <a:rPr lang="ru-RU" sz="16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</a:t>
            </a:r>
            <a:endParaRPr/>
          </a:p>
        </p:txBody>
      </p:sp>
      <p:sp>
        <p:nvSpPr>
          <p:cNvPr id="26" name="Text Placeholder 6"/>
          <p:cNvSpPr txBox="1"/>
          <p:nvPr/>
        </p:nvSpPr>
        <p:spPr bwMode="auto">
          <a:xfrm>
            <a:off x="451084" y="3768382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/>
              <a:buNone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/>
              <a:buChar char="•"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Изучение ГОСТов для проведения работ</a:t>
            </a:r>
            <a:endParaRPr/>
          </a:p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Выбор оптимального инструмента и поверхности атаки</a:t>
            </a:r>
            <a:endParaRPr/>
          </a:p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r>
              <a:rPr lang="ru-RU" sz="1050" b="0">
                <a:solidFill>
                  <a:srgbClr val="000000"/>
                </a:solidFill>
                <a:latin typeface="Stapel"/>
              </a:rPr>
              <a:t>Несколько кодовых баз на которых требуется фаззинг тестирование</a:t>
            </a:r>
            <a:endParaRPr lang="ru-RU" sz="1050" b="0" i="0" u="none" strike="noStrike" cap="none" spc="3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Сжатые сроки</a:t>
            </a:r>
            <a:endParaRPr/>
          </a:p>
        </p:txBody>
      </p:sp>
      <p:sp>
        <p:nvSpPr>
          <p:cNvPr id="27" name="Text Placeholder 6"/>
          <p:cNvSpPr txBox="1"/>
          <p:nvPr/>
        </p:nvSpPr>
        <p:spPr bwMode="auto">
          <a:xfrm>
            <a:off x="6307230" y="22142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/>
              <a:buNone/>
              <a:defRPr sz="1500" b="1" i="0" spc="30">
                <a:solidFill>
                  <a:srgbClr val="8F0D6B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/>
              <a:buChar char="•"/>
              <a:defRPr sz="115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15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/>
              <a:buChar char="̵"/>
              <a:defRPr sz="115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/>
              <a:buChar char="•"/>
              <a:defRPr sz="115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7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7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7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7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None/>
              <a:defRPr/>
            </a:pPr>
            <a:r>
              <a:rPr lang="ru-RU" sz="1500" b="0" i="0" u="none" strike="noStrike" cap="none" spc="30">
                <a:ln>
                  <a:noFill/>
                </a:ln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sz="1500"/>
          </a:p>
        </p:txBody>
      </p:sp>
      <p:sp>
        <p:nvSpPr>
          <p:cNvPr id="28" name="Text Placeholder 6"/>
          <p:cNvSpPr txBox="1"/>
          <p:nvPr/>
        </p:nvSpPr>
        <p:spPr bwMode="auto"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/>
              <a:buNone/>
              <a:defRPr sz="1500" b="1" i="0" spc="30">
                <a:solidFill>
                  <a:srgbClr val="8F0D6B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/>
              <a:buChar char="•"/>
              <a:defRPr sz="115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15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/>
              <a:buChar char="̵"/>
              <a:defRPr sz="115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/>
              <a:buChar char="•"/>
              <a:defRPr sz="115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7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7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7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80"/>
              </a:spcBef>
              <a:buFont typeface="Stapel"/>
              <a:buChar char="•"/>
              <a:defRPr sz="17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/>
              <a:buNone/>
              <a:defRPr/>
            </a:pPr>
            <a:r>
              <a:rPr lang="ru-RU" sz="1500" b="0" i="0" u="none" strike="noStrike" cap="none" spc="30">
                <a:ln>
                  <a:noFill/>
                </a:ln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  <a:endParaRPr sz="1500"/>
          </a:p>
        </p:txBody>
      </p:sp>
      <p:sp>
        <p:nvSpPr>
          <p:cNvPr id="29" name="Text Placeholder 7"/>
          <p:cNvSpPr txBox="1"/>
          <p:nvPr/>
        </p:nvSpPr>
        <p:spPr bwMode="auto">
          <a:xfrm>
            <a:off x="6307230" y="2595232"/>
            <a:ext cx="5100865" cy="34862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/>
              <a:buNone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/>
              <a:buChar char="•"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Выбран оптимальный инструмент для фаззинг тестирования исходя из потребностей проектов</a:t>
            </a:r>
            <a:endParaRPr lang="ru-RU" sz="1100" b="0" i="0" u="none" strike="noStrike" cap="none" spc="29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каждом проекте протестировано более 200 эндпоинтов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Выполнено более 260 тысяч запросов с различными данными по каждому проекту</a:t>
            </a:r>
            <a:endParaRPr/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первой итерации проведения тестирования найдено и зарегистрировано более 240 ошибок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К финальной итерации тестов более 90% ошибок в кодовой базе были устранены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Создано несколько отчетов по результатам проведенного фаззинг тестирования для каждого проекта</a:t>
            </a: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endParaRPr lang="ru-RU" sz="1100" b="0" i="0" u="none" strike="noStrike" cap="none" spc="3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30" name="Text Placeholder 7"/>
          <p:cNvSpPr txBox="1"/>
          <p:nvPr/>
        </p:nvSpPr>
        <p:spPr bwMode="auto">
          <a:xfrm>
            <a:off x="6359065" y="624098"/>
            <a:ext cx="5100865" cy="109445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/>
              <a:buNone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/>
              <a:buChar char="•"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основании </a:t>
            </a:r>
            <a:r>
              <a:rPr lang="en-US" sz="11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OpenApi </a:t>
            </a: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спецификации генерируются запросы и тестовые данные. </a:t>
            </a:r>
            <a:endParaRPr/>
          </a:p>
          <a:p>
            <a:pPr marL="171450" marR="0" lvl="0" indent="-171450" algn="just" defTabSz="914400" rtl="0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После рефакторинга сгенерированных запросов начинается этап фаззинга по каждому сервису и в течении нескольких часов или дней проверяется корректность ответов сервиса на различные посылаемые данные</a:t>
            </a:r>
            <a:endParaRPr/>
          </a:p>
        </p:txBody>
      </p:sp>
      <p:sp>
        <p:nvSpPr>
          <p:cNvPr id="31" name="TextBox 24"/>
          <p:cNvSpPr txBox="1"/>
          <p:nvPr/>
        </p:nvSpPr>
        <p:spPr bwMode="auto">
          <a:xfrm>
            <a:off x="451084" y="513683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/>
              <a:buNone/>
              <a:defRPr/>
            </a:pPr>
            <a:r>
              <a:rPr lang="ru-RU" sz="16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Инструментарий</a:t>
            </a:r>
            <a:endParaRPr/>
          </a:p>
        </p:txBody>
      </p:sp>
      <p:sp>
        <p:nvSpPr>
          <p:cNvPr id="32" name="TextBox 25"/>
          <p:cNvSpPr txBox="1"/>
          <p:nvPr/>
        </p:nvSpPr>
        <p:spPr bwMode="auto">
          <a:xfrm>
            <a:off x="515935" y="5542014"/>
            <a:ext cx="4983769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7D70EF"/>
              </a:buClr>
              <a:buSzPct val="110000"/>
              <a:buFont typeface="Stapel"/>
              <a:buChar char="•"/>
              <a:defRPr/>
            </a:pPr>
            <a:r>
              <a:rPr lang="en-US" sz="12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Microsoft </a:t>
            </a:r>
            <a:r>
              <a:rPr lang="en-US" sz="12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restler-fuzzer</a:t>
            </a:r>
            <a:endParaRPr lang="en-US" sz="1200" b="0" i="0" u="none" strike="noStrike" cap="none" spc="3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процесса автоматизации с нуля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интернет-магазин </a:t>
            </a:r>
            <a:r>
              <a:rPr lang="ru-RU" dirty="0" err="1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О’Кей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9"/>
            <a:ext cx="4984529" cy="2220672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Разработали процесс автоматизации с использованием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Pycharm</a:t>
            </a:r>
            <a:endParaRPr lang="ru-RU" sz="10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Внедрение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на всех тестовых окружениях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Ежедневные прогоны на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master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ветке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Процесс тестирования задокументирован, создана база знаний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Регулярный автоматизированный сбор метрик и статистики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Процесс тестирования задокументирован, создана база знаний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CI управляет развертываниями и выполнением тестов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0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000" dirty="0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2374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Полное отсутствие автоматизации</a:t>
            </a:r>
            <a:endParaRPr kumimoji="0" lang="ru-RU" sz="11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Legacy</a:t>
            </a: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система</a:t>
            </a:r>
          </a:p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Общий тестовый стенд для ручного и автоматизированного тестирования</a:t>
            </a:r>
          </a:p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постепенного перехода на </a:t>
            </a:r>
            <a:r>
              <a:rPr kumimoji="0" lang="ru-RU" sz="115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микросервисы</a:t>
            </a:r>
            <a:endParaRPr kumimoji="0" lang="ru-RU" sz="11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576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Разница в данных</a:t>
            </a:r>
            <a:r>
              <a:rPr kumimoji="0" lang="en-US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интеграции между разными стендами</a:t>
            </a:r>
          </a:p>
          <a:p>
            <a:pPr marL="285750" lvl="0" indent="-285750">
              <a:lnSpc>
                <a:spcPts val="1728"/>
              </a:lnSpc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интеграций</a:t>
            </a:r>
          </a:p>
          <a:p>
            <a:pPr marL="285750" lvl="0" indent="-285750">
              <a:lnSpc>
                <a:spcPts val="1728"/>
              </a:lnSpc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Сложные сценарии поведения пользователей</a:t>
            </a:r>
            <a:endParaRPr kumimoji="0" lang="ru-RU" sz="11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437" y="478939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7437" y="5251388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728"/>
              </a:lnSpc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en-US" sz="115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Pytest</a:t>
            </a:r>
            <a:r>
              <a:rPr kumimoji="0" lang="en-US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SoapUI, </a:t>
            </a:r>
            <a:r>
              <a:rPr kumimoji="0" lang="en-US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Gitlab CI, Allure, Jira, Confluence</a:t>
            </a:r>
            <a:endParaRPr kumimoji="0" lang="ru-RU" sz="11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037511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3445847"/>
            <a:ext cx="5197257" cy="30227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Автоматизировано 100%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smoke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-тестов, регрессии – 50%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Запуск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по расписанию, по требованию, быстрый разбор результатов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Средний процент успешного прохождения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– 98 %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Выход в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прод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без блокирующих/критических дефектов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Значительно сокращено время проведения регрессионного тестирования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Минимизированы риски и обеспечен бесшовный переход с монолита на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микросервисную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архитектуру без прерывания бизнес-процессов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5D0089C-92A3-4A03-B400-4955B891B6D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5303838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автоматизированного тестирования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BA30581-FE7B-4C6E-BB3C-A1F3484DBB37}"/>
              </a:ext>
            </a:extLst>
          </p:cNvPr>
          <p:cNvSpPr>
            <a:spLocks noGrp="1"/>
          </p:cNvSpPr>
          <p:nvPr/>
        </p:nvSpPr>
        <p:spPr>
          <a:xfrm>
            <a:off x="6696555" y="220577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990FE4F-2F8C-4621-8264-01F50D60B7F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91445" cy="34206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Росгосстрах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0A0B19B-561C-4645-88DE-E0BCDF4D2AA6}"/>
              </a:ext>
            </a:extLst>
          </p:cNvPr>
          <p:cNvSpPr>
            <a:spLocks noGrp="1"/>
          </p:cNvSpPr>
          <p:nvPr/>
        </p:nvSpPr>
        <p:spPr>
          <a:xfrm>
            <a:off x="527876" y="1891439"/>
            <a:ext cx="5098483" cy="132049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rgbClr val="7D70EF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Около 2000 тестов и 20 тестовых проектов, реализованных с помощью Postman, SoapUI, Selenium + </a:t>
            </a:r>
            <a:r>
              <a:rPr lang="ru-RU" sz="1200" dirty="0" err="1" b="0">
                <a:solidFill>
                  <a:srgbClr val="000000"/>
                </a:solidFill>
                <a:latin typeface="Stapel"/>
              </a:rPr>
              <a:t>Java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и C#</a:t>
            </a:r>
          </a:p>
          <a:p>
            <a:pPr>
              <a:spcBef>
                <a:spcPts val="1200"/>
              </a:spcBef>
              <a:buClr>
                <a:srgbClr val="7D70EF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Отсутствовал инструмент, позволяющий анализировать результаты прохождения тестов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9D407A8-F805-454B-ABE3-5953FE36EC3F}"/>
              </a:ext>
            </a:extLst>
          </p:cNvPr>
          <p:cNvSpPr>
            <a:spLocks noGrp="1"/>
          </p:cNvSpPr>
          <p:nvPr/>
        </p:nvSpPr>
        <p:spPr>
          <a:xfrm>
            <a:off x="6684617" y="593325"/>
            <a:ext cx="5088009" cy="3355114"/>
          </a:xfrm>
        </p:spPr>
        <p:txBody>
          <a:bodyPr>
            <a:normAutofit/>
          </a:bodyPr>
          <a:lstStyle/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Процесс тестирования задокументирован, создана база знаний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Существующие автоматизированные тесты были приоритизированы, а устаревшие тесты были удалены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Функциональные тесты интегрированы в CI/CD как автоматические ворота качества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CI управляет параллельными развертываниями и выполнением тестов с помощью настраиваемого количества потоков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Все существующие проекты автоматизации тестирования были подключены к Report Portal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Проверки SoapUI были оптимизированы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Внедрена автоматизация тестирования в спринте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AD0EBFA4-2168-4E79-9FBC-B5D84B10954E}"/>
              </a:ext>
            </a:extLst>
          </p:cNvPr>
          <p:cNvSpPr txBox="1">
            <a:spLocks/>
          </p:cNvSpPr>
          <p:nvPr/>
        </p:nvSpPr>
        <p:spPr>
          <a:xfrm>
            <a:off x="6696555" y="3429400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4FE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 sz="150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AFD8A66F-97CB-4508-8073-A774225B726A}"/>
              </a:ext>
            </a:extLst>
          </p:cNvPr>
          <p:cNvSpPr txBox="1">
            <a:spLocks/>
          </p:cNvSpPr>
          <p:nvPr/>
        </p:nvSpPr>
        <p:spPr>
          <a:xfrm>
            <a:off x="6696554" y="3813509"/>
            <a:ext cx="5088009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665"/>
              </a:lnSpc>
              <a:spcBef>
                <a:spcPts val="1665"/>
              </a:spcBef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  <a:defRPr sz="12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62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2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62"/>
              </a:spcBef>
              <a:buFont typeface="Stapel" panose="020B0604020202020204" pitchFamily="34" charset="0"/>
              <a:buChar char="•"/>
              <a:defRPr sz="11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62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1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62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62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62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62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62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80"/>
              </a:lnSpc>
              <a:spcBef>
                <a:spcPts val="555"/>
              </a:spcBef>
            </a:pPr>
            <a:r>
              <a:rPr lang="ru-RU" sz="950" dirty="0" b="0">
                <a:solidFill>
                  <a:srgbClr val="FFFFFF"/>
                </a:solidFill>
                <a:latin typeface="Stapel"/>
              </a:rPr>
              <a:t>Время на поддержку тестов и отчетов SoapUI сократилось с 9 до 2 человеко-дней в месяц</a:t>
            </a:r>
          </a:p>
          <a:p>
            <a:pPr>
              <a:lnSpc>
                <a:spcPts val="1480"/>
              </a:lnSpc>
              <a:spcBef>
                <a:spcPts val="555"/>
              </a:spcBef>
            </a:pPr>
            <a:r>
              <a:rPr lang="ru-RU" sz="950" dirty="0" b="0">
                <a:solidFill>
                  <a:srgbClr val="FFFFFF"/>
                </a:solidFill>
                <a:latin typeface="Stapel"/>
              </a:rPr>
              <a:t>Охват автоматизации тестирования для новой функциональности </a:t>
            </a:r>
            <a:r>
              <a:rPr lang="ru-RU" sz="95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увеличен с 10 до 80%</a:t>
            </a:r>
          </a:p>
          <a:p>
            <a:pPr>
              <a:lnSpc>
                <a:spcPts val="1480"/>
              </a:lnSpc>
              <a:spcBef>
                <a:spcPts val="555"/>
              </a:spcBef>
            </a:pPr>
            <a:r>
              <a:rPr lang="ru-RU" sz="950" dirty="0" b="0">
                <a:solidFill>
                  <a:srgbClr val="FFFFFF"/>
                </a:solidFill>
                <a:latin typeface="Stapel"/>
              </a:rPr>
              <a:t>Pass/Rate увеличен </a:t>
            </a:r>
            <a:r>
              <a:rPr lang="ru-RU" sz="95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 10 до 95%</a:t>
            </a:r>
          </a:p>
          <a:p>
            <a:pPr>
              <a:lnSpc>
                <a:spcPts val="1480"/>
              </a:lnSpc>
              <a:spcBef>
                <a:spcPts val="555"/>
              </a:spcBef>
            </a:pPr>
            <a:r>
              <a:rPr lang="ru-RU" sz="950" dirty="0" b="0">
                <a:solidFill>
                  <a:srgbClr val="FFFFFF"/>
                </a:solidFill>
                <a:latin typeface="Stapel"/>
              </a:rPr>
              <a:t>Автоматизированные Smoke тесты выполняются при каждом изменении кода, предоставляя результаты </a:t>
            </a:r>
            <a:r>
              <a:rPr lang="ru-RU" sz="95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менее чем за 30 минут</a:t>
            </a:r>
          </a:p>
          <a:p>
            <a:pPr>
              <a:lnSpc>
                <a:spcPts val="1480"/>
              </a:lnSpc>
              <a:spcBef>
                <a:spcPts val="555"/>
              </a:spcBef>
            </a:pPr>
            <a:r>
              <a:rPr lang="ru-RU" sz="950" dirty="0" b="0">
                <a:solidFill>
                  <a:srgbClr val="FFFFFF"/>
                </a:solidFill>
                <a:latin typeface="Stapel"/>
              </a:rPr>
              <a:t>Автоматизированные тесты стали инструментом для воспроизведения дефектов утечки памяти</a:t>
            </a:r>
          </a:p>
          <a:p>
            <a:pPr>
              <a:lnSpc>
                <a:spcPts val="1480"/>
              </a:lnSpc>
              <a:spcBef>
                <a:spcPts val="555"/>
              </a:spcBef>
            </a:pPr>
            <a:r>
              <a:rPr lang="ru-RU" sz="950" dirty="0" b="0">
                <a:solidFill>
                  <a:srgbClr val="FFFFFF"/>
                </a:solidFill>
                <a:latin typeface="Stapel"/>
              </a:rPr>
              <a:t>Время адаптации новых членов команды сократилось </a:t>
            </a:r>
            <a:r>
              <a:rPr lang="ru-RU" sz="95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 5 до 3 недель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5220F4FE-5B32-4267-BEEE-EBE2AE959A2A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50B927C2-7A2E-4D60-AE6C-23124643F302}"/>
              </a:ext>
            </a:extLst>
          </p:cNvPr>
          <p:cNvSpPr txBox="1"/>
          <p:nvPr/>
        </p:nvSpPr>
        <p:spPr>
          <a:xfrm>
            <a:off x="515937" y="319375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69C9D6D1-EDDE-4A5A-B799-A311D5345CB5}"/>
              </a:ext>
            </a:extLst>
          </p:cNvPr>
          <p:cNvSpPr txBox="1"/>
          <p:nvPr/>
        </p:nvSpPr>
        <p:spPr>
          <a:xfrm>
            <a:off x="515937" y="3665023"/>
            <a:ext cx="4967570" cy="1140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Высокий уровень зависимостей и взаимодействия между приложением и сторонними поставщиками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Единственными источниками информации являются члены команды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1F0C316E-8940-4117-A514-40D31D040364}"/>
              </a:ext>
            </a:extLst>
          </p:cNvPr>
          <p:cNvSpPr txBox="1"/>
          <p:nvPr/>
        </p:nvSpPr>
        <p:spPr>
          <a:xfrm>
            <a:off x="515937" y="509494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A890031C-9C8F-43AA-B355-4E5097F2C1C2}"/>
              </a:ext>
            </a:extLst>
          </p:cNvPr>
          <p:cNvSpPr txBox="1"/>
          <p:nvPr/>
        </p:nvSpPr>
        <p:spPr>
          <a:xfrm>
            <a:off x="515937" y="5589500"/>
            <a:ext cx="4967570" cy="53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Самописный 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framework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.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NET, </a:t>
            </a:r>
            <a:r>
              <a:rPr kumimoji="0" lang="en-US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SpecFlow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Jira, Bamboo, GIT, SoapUI, Report Portal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процесса автоматизации с нуля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br>
              <a:rPr lang="ru-RU" dirty="0">
                <a:solidFill>
                  <a:srgbClr val="8F0D6B"/>
                </a:solidFill>
              </a:rPr>
            </a:b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Российский Союз Автостраховщиков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Создание фреймворка автоматизации с использованием Селениума и RestAssured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Разработали одинаковый процесс автоматизации во всех стримах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Включили результаты прохождения автотестов в CI / CD для контроля качества сборок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Внедрение автотестов на всех тестовых окружениях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Внедрили инструмент отчетности Report Portal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Настроили взаимодействие между фреймворком,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Jira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и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Grafana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для сбора статистики и метрик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198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Новый проект – полное отсутствие процессов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федерального уровня – приложением пользуются все граждане РФ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Очень большая команда (400+ сотрудников)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10+ выделенных стримов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поддержки большого числа выделенных тестовых сред – как в компании, так и у заказчика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437" y="455887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7437" y="5020868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Selenium WebDriver,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RestAssured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Java, maven,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testNG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Jenkins, Report Portal, Jira, Confluence</a:t>
            </a: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752123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4160459"/>
            <a:ext cx="5100865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Автоматизировано 100%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smoke-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тестов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Автоматизация – основной индикатор качества приложения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Запуск автотестов по расписанию, по требованию, по окончанию сборки (среднее время разбора 30-60 минут)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Средний процент успешного прохождения автотестов – 98 %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Два основных выхода в прод (по одному в год) без блокирующих/критических дефектов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FCCCA94-22F6-479D-8A6E-9A8B2A12D7E9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>
            <a:noAutofit/>
          </a:bodyPr>
          <a:lstStyle/>
          <a:p>
            <a:r>
              <a:rPr lang="ru-RU" dirty="0" sz="195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Обновление процесса автоматизации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76361F41-4BA3-47D0-AACA-37EDAF229561}"/>
              </a:ext>
            </a:extLst>
          </p:cNvPr>
          <p:cNvSpPr txBox="1"/>
          <p:nvPr/>
        </p:nvSpPr>
        <p:spPr>
          <a:xfrm>
            <a:off x="510478" y="184226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6A7B6EC9-0E51-4BFE-A6C7-BA1D29E53624}"/>
              </a:ext>
            </a:extLst>
          </p:cNvPr>
          <p:cNvSpPr txBox="1"/>
          <p:nvPr/>
        </p:nvSpPr>
        <p:spPr>
          <a:xfrm>
            <a:off x="509022" y="2268470"/>
            <a:ext cx="4967570" cy="2528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Более 4 тысяч устаревших автотестов (больше 2-х лет)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установленного чёткого процесса автоматизации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Устаревший и дорогой инструмент автоматизации (HP QTP, стоимость около $10,000 в месяц)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Неудобный инструмент контроля версий (заказчик использовал Accurev вместо GIT)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интеграции с CI/CD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требований и документации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9E9E9F59-6716-44C1-A7D8-6041D054EAB0}"/>
              </a:ext>
            </a:extLst>
          </p:cNvPr>
          <p:cNvSpPr txBox="1"/>
          <p:nvPr/>
        </p:nvSpPr>
        <p:spPr>
          <a:xfrm>
            <a:off x="509022" y="502930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941F03A3-596C-4CFA-B51C-0F0A34008835}"/>
              </a:ext>
            </a:extLst>
          </p:cNvPr>
          <p:cNvSpPr txBox="1"/>
          <p:nvPr/>
        </p:nvSpPr>
        <p:spPr>
          <a:xfrm>
            <a:off x="509022" y="5499120"/>
            <a:ext cx="4967570" cy="52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764"/>
              </a:lnSpc>
              <a:spcBef>
                <a:spcPts val="588"/>
              </a:spcBef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Selenium WebDriver, Java, maven, </a:t>
            </a:r>
            <a:r>
              <a:rPr lang="en-US" sz="11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testNG</a:t>
            </a:r>
            <a:r>
              <a:rPr lang="en-US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Jenkins, Report Portal, Jira, Confluence</a:t>
            </a:r>
            <a:endParaRPr lang="ru-RU" sz="11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B8C0D14-7FA4-4E4E-8DCE-6C57E0D0AD7E}"/>
              </a:ext>
            </a:extLst>
          </p:cNvPr>
          <p:cNvSpPr>
            <a:spLocks noGrp="1"/>
          </p:cNvSpPr>
          <p:nvPr/>
        </p:nvSpPr>
        <p:spPr>
          <a:xfrm>
            <a:off x="515936" y="1096917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Провайдер управления персоналом и человеческими ресурсами</a:t>
            </a:r>
            <a:endParaRPr lang="en-US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F7AFACE-5C86-402F-835A-7D49BCFD7EED}"/>
              </a:ext>
            </a:extLst>
          </p:cNvPr>
          <p:cNvSpPr>
            <a:spLocks noGrp="1"/>
          </p:cNvSpPr>
          <p:nvPr/>
        </p:nvSpPr>
        <p:spPr>
          <a:xfrm>
            <a:off x="6703472" y="379926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B86607BC-958E-4A59-8FD5-1CA3EDDD1053}"/>
              </a:ext>
            </a:extLst>
          </p:cNvPr>
          <p:cNvSpPr txBox="1">
            <a:spLocks/>
          </p:cNvSpPr>
          <p:nvPr/>
        </p:nvSpPr>
        <p:spPr>
          <a:xfrm>
            <a:off x="6691534" y="772994"/>
            <a:ext cx="5088009" cy="335511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Перешли с Accurev на GIT, настроили интеграцию GIT и Jenkins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Внедрили фреймворк автоматизации с использованием </a:t>
            </a:r>
            <a:r>
              <a:rPr lang="en-US" sz="1100" dirty="0" b="0">
                <a:solidFill>
                  <a:srgbClr val="FFFFFF"/>
                </a:solidFill>
                <a:latin typeface="Stapel"/>
              </a:rPr>
              <a:t>Selenium</a:t>
            </a:r>
            <a:r>
              <a:rPr lang="ru-RU" sz="1100" dirty="0" b="0">
                <a:solidFill>
                  <a:srgbClr val="FFFFFF"/>
                </a:solidFill>
                <a:latin typeface="Stapel"/>
              </a:rPr>
              <a:t> (бесплатный)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Обновили и удалили устаревшие тесты; написали новые, объединили их в </a:t>
            </a:r>
            <a:r>
              <a:rPr lang="en-US" sz="1100" dirty="0" b="0">
                <a:solidFill>
                  <a:srgbClr val="FFFFFF"/>
                </a:solidFill>
                <a:latin typeface="Stapel"/>
              </a:rPr>
              <a:t>smoke-</a:t>
            </a:r>
            <a:r>
              <a:rPr lang="ru-RU" sz="1100" dirty="0" b="0">
                <a:solidFill>
                  <a:srgbClr val="FFFFFF"/>
                </a:solidFill>
                <a:latin typeface="Stapel"/>
              </a:rPr>
              <a:t>, расширенный и регрессионный наборы тестов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Разработали процесс автоматизации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Включили результаты прохождения автотестов в CI / CD для контроля качества сборок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Внедрили инструмент отчетности Report Portal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Создали обширную базу знаний о проекте и приложении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F3A42A68-E1BB-4EB6-8E11-DCEB6A7854E6}"/>
              </a:ext>
            </a:extLst>
          </p:cNvPr>
          <p:cNvSpPr txBox="1">
            <a:spLocks/>
          </p:cNvSpPr>
          <p:nvPr/>
        </p:nvSpPr>
        <p:spPr>
          <a:xfrm>
            <a:off x="6690078" y="3722502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4FE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 sz="150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11947E47-37E5-4821-A2AF-36CB1501D49C}"/>
              </a:ext>
            </a:extLst>
          </p:cNvPr>
          <p:cNvSpPr txBox="1">
            <a:spLocks/>
          </p:cNvSpPr>
          <p:nvPr/>
        </p:nvSpPr>
        <p:spPr>
          <a:xfrm>
            <a:off x="6690078" y="4128108"/>
            <a:ext cx="5165187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Ежедневные запуски автотестов, разбор результатов в течение 30 минут, быстрые отчет заказчику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Принятие решения о качестве сборок и поставок принималось в первую очередь на основании результатов прогонов автотестов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Средний процент успешного прохождения автотестов – 98 % 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Сэкономили заказчику до $10,000 в месяц при отказе от HP QTP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Сократили время на адаптацию новых членов команды с 2-х до </a:t>
            </a:r>
            <a:br>
              <a:rPr lang="en-US" sz="1100" dirty="0"/>
            </a:br>
            <a:r>
              <a:rPr lang="ru-RU" sz="1100" dirty="0" b="0">
                <a:solidFill>
                  <a:srgbClr val="FFFFFF"/>
                </a:solidFill>
                <a:latin typeface="Stapel"/>
              </a:rPr>
              <a:t>1-й недели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847656"/>
          </a:xfrm>
        </p:spPr>
        <p:txBody>
          <a:bodyPr>
            <a:normAutofit/>
          </a:bodyPr>
          <a:lstStyle/>
          <a:p>
            <a:r>
              <a:rPr lang="ru-RU" dirty="0" sz="18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нагрузочного тестирования при импортозамещении </a:t>
            </a:r>
            <a:r>
              <a:rPr lang="en-US" dirty="0" err="1" sz="18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ecom</a:t>
            </a:r>
            <a:r>
              <a:rPr lang="en-US" dirty="0" sz="18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sz="18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решения</a:t>
            </a:r>
          </a:p>
        </p:txBody>
      </p:sp>
      <p:sp>
        <p:nvSpPr>
          <p:cNvPr id="22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/>
        </p:nvSpPr>
        <p:spPr>
          <a:xfrm>
            <a:off x="515936" y="120821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GJ</a:t>
            </a:r>
            <a:endParaRPr lang="ru-RU" dirty="0">
              <a:solidFill>
                <a:srgbClr val="8F0D6B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27876" y="1619290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437" y="1830829"/>
            <a:ext cx="5229112" cy="14662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Цель проекта - создание единой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омниканальной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1050" dirty="0" err="1" b="0">
                <a:solidFill>
                  <a:srgbClr val="000000"/>
                </a:solidFill>
                <a:latin typeface="Stapel"/>
              </a:rPr>
              <a:t>Ecom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платформы (отказ от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Hybris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решения)</a:t>
            </a:r>
          </a:p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Тестирование, внедрение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поддержка и развитие платформы- веб-сайта, мобильного приложения (МП) и смежных систем для эффективного функционирования </a:t>
            </a:r>
            <a:r>
              <a:rPr lang="en-US" sz="1050" dirty="0" err="1" b="0">
                <a:solidFill>
                  <a:srgbClr val="000000"/>
                </a:solidFill>
                <a:latin typeface="Stapel"/>
              </a:rPr>
              <a:t>Ecom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Заказчика </a:t>
            </a:r>
          </a:p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Нагрузочное тестирование и тестирование производительности на стороне тестовых стендах и в бою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527437" y="3787143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540320" y="4069643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Необходимость запуска проекта в сжатые сроки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Распределенная кросс-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вендорная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проектная команда 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Проблемы с производительностью новых систем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13716" y="41103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Особенности решения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59065" y="4475626"/>
            <a:ext cx="5100865" cy="175827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Продукт запущен в срок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Успешно оценена жизнеспособность нового решения с точки зрения пользовательского опыта и работы под нагрузкой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Введена практика нагрузочного тестирования на регулярной основе для оценки влияния новых доработок на общую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производительность системы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7"/>
            <a:ext cx="5100865" cy="348621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Самостоятельная разработка профиля нагрузки (модель пользовательской активности и транзакций во времени, включающее количество пользователей, типы операций, их распределение и интенсивность выполнения) + фоновые процессы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скрипты, эмулирующие поведение пользователей с учётом параллельного выполнения запросов на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backend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Проведение нагрузочного тестирования в бою после вывода крупных доработок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47E2C182-F294-4868-8EFC-6CA50D81C6D3}"/>
              </a:ext>
            </a:extLst>
          </p:cNvPr>
          <p:cNvSpPr txBox="1"/>
          <p:nvPr/>
        </p:nvSpPr>
        <p:spPr>
          <a:xfrm>
            <a:off x="563687" y="5395146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33F308F8-AEDA-42D8-B925-0F024E57E250}"/>
              </a:ext>
            </a:extLst>
          </p:cNvPr>
          <p:cNvSpPr txBox="1"/>
          <p:nvPr/>
        </p:nvSpPr>
        <p:spPr>
          <a:xfrm>
            <a:off x="527437" y="5704744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JMeter, 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Elasticsearch, Grafana, Jenkins, GIT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Kubernetes</a:t>
            </a:r>
            <a:endParaRPr kumimoji="0" lang="en-US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847656"/>
          </a:xfrm>
        </p:spPr>
        <p:txBody>
          <a:bodyPr>
            <a:normAutofit/>
          </a:bodyPr>
          <a:lstStyle/>
          <a:p>
            <a:r>
              <a:rPr lang="ru-RU" dirty="0" sz="18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нагрузочного тестирования при миграции на другое решение</a:t>
            </a:r>
          </a:p>
        </p:txBody>
      </p:sp>
      <p:sp>
        <p:nvSpPr>
          <p:cNvPr id="22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/>
        </p:nvSpPr>
        <p:spPr>
          <a:xfrm>
            <a:off x="515936" y="120821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Danone</a:t>
            </a:r>
            <a:endParaRPr lang="ru-RU" dirty="0">
              <a:solidFill>
                <a:srgbClr val="8F0D6B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27876" y="1619290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876" y="2101428"/>
            <a:ext cx="5229112" cy="14662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Миграция данных из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Snowflake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Greenplum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ClickHouse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миграция из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Informatica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FormIT, Stonebranch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Airflow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миграция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BI-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слоя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ETL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из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MS Power BI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ClickHouse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Luxms BI	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Нагрузочное тестирование и тестирование производительности на стороне пользователя 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BI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системах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532897" y="356090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545781" y="4071888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Жесткий дедлайн, вызванный ограничениями поставщиков legacy систем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Проблемы с производительностью новых систем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Нестандартный объект нагрузки, эмулирование поведения сложных отчётов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13716" y="41103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Особенности решения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59065" y="4475626"/>
            <a:ext cx="5100865" cy="147181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Успешно оценена жизнеспособность нового решения с точки зрения пользовательского опыта и работы под нагрузкой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Подобраны оптимальные конфигурация и сайзинг сервисов нового решения для достижения максимальной производительности в рамках выделенных ресурсов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7"/>
            <a:ext cx="5100865" cy="348621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Самописный фреймворк на базе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Unicorn.TAF + Selenium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 возможностью запуска эмуляции действий произвольного количества пользователей на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UI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сборе метрик по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UI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производительности отчётов (часть вычислений выполнялась непосредственно на клиенте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влияла на пользовательский опыт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)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скрипты в качестве фоновой нагрузки, эмулирующие поведение сложных отчётов с учётом параллельного выполнения запросов на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backend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в рамках одного пользовательского действия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47E2C182-F294-4868-8EFC-6CA50D81C6D3}"/>
              </a:ext>
            </a:extLst>
          </p:cNvPr>
          <p:cNvSpPr txBox="1"/>
          <p:nvPr/>
        </p:nvSpPr>
        <p:spPr>
          <a:xfrm>
            <a:off x="527437" y="5242746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33F308F8-AEDA-42D8-B925-0F024E57E250}"/>
              </a:ext>
            </a:extLst>
          </p:cNvPr>
          <p:cNvSpPr txBox="1"/>
          <p:nvPr/>
        </p:nvSpPr>
        <p:spPr>
          <a:xfrm>
            <a:off x="527437" y="5704744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JMeter, .NET, Unicorn.TAF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Selenium, MS Power BI, Luxms BI, MS Excel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847656"/>
          </a:xfrm>
        </p:spPr>
        <p:txBody>
          <a:bodyPr>
            <a:normAutofit/>
          </a:bodyPr>
          <a:lstStyle/>
          <a:p>
            <a:r>
              <a:rPr lang="ru-RU" dirty="0" sz="18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нагрузочного тестирования при подготовке к высокому сезону.</a:t>
            </a:r>
          </a:p>
        </p:txBody>
      </p:sp>
      <p:sp>
        <p:nvSpPr>
          <p:cNvPr id="22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/>
        </p:nvSpPr>
        <p:spPr>
          <a:xfrm>
            <a:off x="515936" y="120821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b="0" dirty="0" err="1" sz="1600">
                <a:solidFill>
                  <a:srgbClr val="8F0D6B"/>
                </a:solidFill>
                <a:latin typeface="Stapel"/>
              </a:rPr>
              <a:t>МВидео</a:t>
            </a:r>
            <a:endParaRPr lang="ru-RU" dirty="0">
              <a:solidFill>
                <a:srgbClr val="8F0D6B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45781" y="1774123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437" y="2214209"/>
            <a:ext cx="5229112" cy="12716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Переход от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On-Prem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реализации к облачному на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микросервисной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архитектуре.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Нагрузочное тестирование на стороне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сервиса.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endParaRPr kumimoji="0" lang="ru-RU" sz="10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451084" y="332427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451084" y="3768382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интеграций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Плавающие проблемы с утечками памяти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Длинные транзакции в база.</a:t>
            </a:r>
            <a:endParaRPr kumimoji="0" lang="ru-RU" sz="10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Сложные сценарии поведения пользователей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07231" y="1869340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Особенности решения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13716" y="2319756"/>
            <a:ext cx="5100865" cy="34862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Создана стратегия и методика нагрузочного тестирования.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Определены параметры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SLA/SLO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сервисов.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основе данных с </a:t>
            </a:r>
            <a:r>
              <a:rPr kumimoji="0" lang="ru-RU" sz="11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продуктива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</a:t>
            </a:r>
            <a:r>
              <a:rPr kumimoji="0" lang="ru-RU" sz="1100" b="0" i="0" u="none" strike="noStrike" kern="1200" cap="none" spc="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фоновых процессов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подготовлена модель нагрузки и профили нагрузки для выбранных </a:t>
            </a:r>
            <a:r>
              <a:rPr kumimoji="0" lang="ru-RU" sz="1100" b="0" i="0" u="none" strike="noStrike" kern="1200" cap="none" spc="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видов тестирования.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Проведено тестирование производительности, ёмкости, стабильности, масштабируемости, объёмов.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Регрессионное тестирование помогло устранить утечки памяти, оптимизировать запросы к базе, улучшить производительность.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Конфигурационное тестирование помогло определить оптимальные параметры облачных ресурсов.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Система успешно выдержала нагрузку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“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Черной пятницы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”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высокого сезона.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8"/>
            <a:ext cx="5100865" cy="109445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скрипты, эмулирующие поведение пользователей.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Динамические заглушки на сервере </a:t>
            </a:r>
            <a:r>
              <a:rPr kumimoji="0" lang="en-US" sz="11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для интеграций.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47E2C182-F294-4868-8EFC-6CA50D81C6D3}"/>
              </a:ext>
            </a:extLst>
          </p:cNvPr>
          <p:cNvSpPr txBox="1"/>
          <p:nvPr/>
        </p:nvSpPr>
        <p:spPr>
          <a:xfrm>
            <a:off x="451084" y="513683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33F308F8-AEDA-42D8-B925-0F024E57E250}"/>
              </a:ext>
            </a:extLst>
          </p:cNvPr>
          <p:cNvSpPr txBox="1"/>
          <p:nvPr/>
        </p:nvSpPr>
        <p:spPr>
          <a:xfrm>
            <a:off x="515936" y="5542015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728"/>
              </a:lnSpc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en-US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JMeter, </a:t>
            </a:r>
            <a:r>
              <a:rPr lang="en-US" sz="11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lang="en-US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Jenkins, Grafana, </a:t>
            </a:r>
            <a:r>
              <a:rPr lang="en-US" sz="11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InfluxDB</a:t>
            </a:r>
            <a:r>
              <a:rPr lang="en-US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Kubernetes</a:t>
            </a:r>
            <a:endParaRPr kumimoji="0" lang="en-US" sz="11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миграции</a:t>
            </a:r>
          </a:p>
        </p:txBody>
      </p:sp>
      <p:sp>
        <p:nvSpPr>
          <p:cNvPr id="22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/>
        </p:nvSpPr>
        <p:spPr>
          <a:xfrm>
            <a:off x="515936" y="808644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Danone</a:t>
            </a:r>
            <a:endParaRPr lang="ru-RU" dirty="0">
              <a:solidFill>
                <a:srgbClr val="8F0D6B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27876" y="121972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876" y="1701860"/>
            <a:ext cx="5229112" cy="1880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Миграция данных из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Snowflake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Greenplum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и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ClickHouse</a:t>
            </a:r>
          </a:p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Миграция из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Informatica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FormIT, Stonebranch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Airflow</a:t>
            </a:r>
          </a:p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Миграция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BI-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слоя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ETL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из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MS Power BI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ClickHouse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и Дельта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BI	</a:t>
            </a:r>
          </a:p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Тестирование отчетов 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BI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системах</a:t>
            </a:r>
          </a:p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Ежедневная коммуникация с заказчиком, отчет о проделанной работе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532897" y="359932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545781" y="4110308"/>
            <a:ext cx="5332505" cy="23612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Жесткий дедлайн, вызванный ограничениями поставщиков legacy систем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 процессе миграции возникла необходимость перейти на новую базу знаний L2U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InKnowledge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и новый трекер дефектов Yandex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Tracker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, VPN с Global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Protect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в Check Point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Неполная документация по BI отчетам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Приходилось работать с устаревшей документацией по метаданным и маппингу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Необходимость быстро наращивать экспертизу в новом продукте Дельта BI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Проблемы с производительностью новых систем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13716" y="41103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E92F5B5E-0F7C-46D8-BDA9-7D878D97F3C8}"/>
              </a:ext>
            </a:extLst>
          </p:cNvPr>
          <p:cNvSpPr txBox="1">
            <a:spLocks/>
          </p:cNvSpPr>
          <p:nvPr/>
        </p:nvSpPr>
        <p:spPr>
          <a:xfrm>
            <a:off x="6376845" y="5436136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Инструментарий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59065" y="4475627"/>
            <a:ext cx="5100865" cy="8426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Полностью автоматизирована сверка данных при миграции</a:t>
            </a:r>
          </a:p>
          <a:p>
            <a:pPr marL="171450" indent="-1714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Налажена коммуникация с бизнес-заказчиком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по уточнению требований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B0CE6CC-A6D6-4E64-AD92-78ED64BA003E}"/>
              </a:ext>
            </a:extLst>
          </p:cNvPr>
          <p:cNvSpPr txBox="1">
            <a:spLocks/>
          </p:cNvSpPr>
          <p:nvPr/>
        </p:nvSpPr>
        <p:spPr>
          <a:xfrm>
            <a:off x="6376845" y="5776531"/>
            <a:ext cx="5100865" cy="7371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260"/>
              </a:lnSpc>
              <a:spcBef>
                <a:spcPts val="7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9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35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9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350"/>
              </a:spcBef>
              <a:buFont typeface="Stapel" panose="020B0604020202020204" pitchFamily="34" charset="0"/>
              <a:buChar char="•"/>
              <a:defRPr sz="8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35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8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35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8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350"/>
              </a:spcBef>
              <a:buFont typeface="Stapel" panose="020B0604020202020204" pitchFamily="34" charset="0"/>
              <a:buChar char="•"/>
              <a:defRPr sz="12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350"/>
              </a:spcBef>
              <a:buFont typeface="Stapel" panose="020B0604020202020204" pitchFamily="34" charset="0"/>
              <a:buChar char="•"/>
              <a:defRPr sz="12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350"/>
              </a:spcBef>
              <a:buFont typeface="Stapel" panose="020B0604020202020204" pitchFamily="34" charset="0"/>
              <a:buChar char="•"/>
              <a:defRPr sz="12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350"/>
              </a:spcBef>
              <a:buFont typeface="Stapel" panose="020B0604020202020204" pitchFamily="34" charset="0"/>
              <a:buChar char="•"/>
              <a:defRPr sz="125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420"/>
              </a:spcBef>
              <a:buClr>
                <a:srgbClr val="8F0D6B"/>
              </a:buClr>
            </a:pPr>
            <a:r>
              <a:rPr lang="en-US" sz="800" dirty="0" b="0">
                <a:solidFill>
                  <a:srgbClr val="000000"/>
                </a:solidFill>
                <a:latin typeface="Stapel"/>
              </a:rPr>
              <a:t>PyCharm, </a:t>
            </a:r>
            <a:r>
              <a:rPr lang="ru-RU" sz="800" dirty="0" b="0">
                <a:solidFill>
                  <a:srgbClr val="000000"/>
                </a:solidFill>
                <a:latin typeface="Stapel"/>
              </a:rPr>
              <a:t>Самописный </a:t>
            </a:r>
            <a:r>
              <a:rPr lang="en-US" sz="800" dirty="0" b="0">
                <a:solidFill>
                  <a:srgbClr val="000000"/>
                </a:solidFill>
                <a:latin typeface="Stapel"/>
              </a:rPr>
              <a:t>python</a:t>
            </a:r>
            <a:r>
              <a:rPr lang="ru-RU" sz="8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800" dirty="0" b="0">
                <a:solidFill>
                  <a:srgbClr val="000000"/>
                </a:solidFill>
                <a:latin typeface="Stapel"/>
              </a:rPr>
              <a:t>framework, DBeaver, MS Power BI, </a:t>
            </a:r>
            <a:r>
              <a:rPr lang="ru-RU" sz="800" dirty="0" b="0">
                <a:solidFill>
                  <a:srgbClr val="000000"/>
                </a:solidFill>
                <a:latin typeface="Stapel"/>
              </a:rPr>
              <a:t>Дельта </a:t>
            </a:r>
            <a:r>
              <a:rPr lang="en-US" sz="800" dirty="0" b="0">
                <a:solidFill>
                  <a:srgbClr val="000000"/>
                </a:solidFill>
                <a:latin typeface="Stapel"/>
              </a:rPr>
              <a:t>BI, MS Excel, GitLab (Yandex Cloud), Jira, Confluence, L2U </a:t>
            </a:r>
            <a:r>
              <a:rPr lang="en-US" sz="800" dirty="0" err="1" b="0">
                <a:solidFill>
                  <a:srgbClr val="000000"/>
                </a:solidFill>
                <a:latin typeface="Stapel"/>
              </a:rPr>
              <a:t>InKnowledge</a:t>
            </a:r>
            <a:r>
              <a:rPr lang="en-US" sz="800" dirty="0" b="0">
                <a:solidFill>
                  <a:srgbClr val="000000"/>
                </a:solidFill>
                <a:latin typeface="Stapel"/>
              </a:rPr>
              <a:t>, Yandex Tracker, Element, </a:t>
            </a:r>
            <a:r>
              <a:rPr lang="en-US" sz="800" dirty="0" err="1" b="0">
                <a:solidFill>
                  <a:srgbClr val="000000"/>
                </a:solidFill>
                <a:latin typeface="Stapel"/>
              </a:rPr>
              <a:t>KTalk</a:t>
            </a:r>
            <a:endParaRPr lang="ru-RU" sz="800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7"/>
            <a:ext cx="5100865" cy="348621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Мигрированные данные между разнородными хранилищами и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BI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системами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(DB2, Snowflake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Greenplum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ClickHouse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PBI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Dataflow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)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сравнивались автоматизированным параметризируемым инструментом (</a:t>
            </a:r>
            <a:r>
              <a:rPr lang="en-US" sz="1000" dirty="0" err="1" b="0">
                <a:solidFill>
                  <a:srgbClr val="000000"/>
                </a:solidFill>
                <a:latin typeface="Stapel"/>
              </a:rPr>
              <a:t>SQLAlchemy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, pandas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) с выдачей результатов теста в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Excel-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отчёт и возможностью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логгирования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всех результатов проверок в хранилище</a:t>
            </a:r>
            <a:endParaRPr lang="en-US" sz="1000" dirty="0"/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Конфигурация тестов миграции слоёв хранилища автоматически формировалась из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DDL</a:t>
            </a:r>
            <a:endParaRPr lang="ru-RU" sz="1000" dirty="0"/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Данные из Power BI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Dataflow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экспортировались в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csv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и нормализовывались с помощью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python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-автоматизации</a:t>
            </a:r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Данные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в разных системах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BI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приводились к единому формату с использованием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regExp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excel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и встроенных скриптовых средств</a:t>
            </a:r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Функциональное тестирование визуальных элементов в Дельта BI (диаграммы,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treemap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сводные таблицы)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5D0089C-92A3-4A03-B400-4955B891B6D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Контроль качества данных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BA30581-FE7B-4C6E-BB3C-A1F3484DBB37}"/>
              </a:ext>
            </a:extLst>
          </p:cNvPr>
          <p:cNvSpPr>
            <a:spLocks noGrp="1"/>
          </p:cNvSpPr>
          <p:nvPr/>
        </p:nvSpPr>
        <p:spPr>
          <a:xfrm>
            <a:off x="6684620" y="805078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990FE4F-2F8C-4621-8264-01F50D60B7FC}"/>
              </a:ext>
            </a:extLst>
          </p:cNvPr>
          <p:cNvSpPr>
            <a:spLocks noGrp="1"/>
          </p:cNvSpPr>
          <p:nvPr/>
        </p:nvSpPr>
        <p:spPr>
          <a:xfrm>
            <a:off x="515937" y="871270"/>
            <a:ext cx="4991445" cy="34206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Philip Morris International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0A0B19B-561C-4645-88DE-E0BCDF4D2AA6}"/>
              </a:ext>
            </a:extLst>
          </p:cNvPr>
          <p:cNvSpPr>
            <a:spLocks noGrp="1"/>
          </p:cNvSpPr>
          <p:nvPr/>
        </p:nvSpPr>
        <p:spPr>
          <a:xfrm>
            <a:off x="527876" y="1758024"/>
            <a:ext cx="5098483" cy="841211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rgbClr val="7D70EF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Проект по разработке приложений анализа данных заказчика</a:t>
            </a:r>
          </a:p>
          <a:p>
            <a:pPr>
              <a:spcBef>
                <a:spcPts val="1200"/>
              </a:spcBef>
              <a:buClr>
                <a:srgbClr val="7D70EF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Миграция систем обработки данных логистики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9D407A8-F805-454B-ABE3-5953FE36EC3F}"/>
              </a:ext>
            </a:extLst>
          </p:cNvPr>
          <p:cNvSpPr>
            <a:spLocks noGrp="1"/>
          </p:cNvSpPr>
          <p:nvPr/>
        </p:nvSpPr>
        <p:spPr>
          <a:xfrm>
            <a:off x="6630368" y="1197481"/>
            <a:ext cx="5088009" cy="2053972"/>
          </a:xfrm>
        </p:spPr>
        <p:txBody>
          <a:bodyPr>
            <a:normAutofit/>
          </a:bodyPr>
          <a:lstStyle/>
          <a:p>
            <a:pPr>
              <a:spcBef>
                <a:spcPts val="1110"/>
              </a:spcBef>
            </a:pPr>
            <a:r>
              <a:rPr lang="ru-RU" dirty="0" sz="1250" b="0">
                <a:solidFill>
                  <a:srgbClr val="FFFFFF"/>
                </a:solidFill>
                <a:latin typeface="Stapel"/>
              </a:rPr>
              <a:t>Расширение функционала инструмента мониторинга данных</a:t>
            </a:r>
          </a:p>
          <a:p>
            <a:pPr>
              <a:spcBef>
                <a:spcPts val="1110"/>
              </a:spcBef>
            </a:pPr>
            <a:r>
              <a:rPr lang="ru-RU" dirty="0" sz="1250" b="0">
                <a:solidFill>
                  <a:srgbClr val="FFFFFF"/>
                </a:solidFill>
                <a:latin typeface="Stapel"/>
              </a:rPr>
              <a:t>Внедрение инструмента проверки полноты данных</a:t>
            </a:r>
          </a:p>
          <a:p>
            <a:pPr>
              <a:spcBef>
                <a:spcPts val="1110"/>
              </a:spcBef>
            </a:pPr>
            <a:r>
              <a:rPr lang="ru-RU" dirty="0" sz="1250" b="0">
                <a:solidFill>
                  <a:srgbClr val="FFFFFF"/>
                </a:solidFill>
                <a:latin typeface="Stapel"/>
              </a:rPr>
              <a:t>Проведены анализ и актуализация устаревших метрик</a:t>
            </a:r>
          </a:p>
          <a:p>
            <a:pPr>
              <a:spcBef>
                <a:spcPts val="1110"/>
              </a:spcBef>
            </a:pPr>
            <a:r>
              <a:rPr lang="ru-RU" dirty="0" sz="1250" b="0">
                <a:solidFill>
                  <a:srgbClr val="FFFFFF"/>
                </a:solidFill>
                <a:latin typeface="Stapel"/>
              </a:rPr>
              <a:t>Ежедневный мониторинг корректности данных в хранилище</a:t>
            </a:r>
          </a:p>
          <a:p>
            <a:pPr>
              <a:spcBef>
                <a:spcPts val="1110"/>
              </a:spcBef>
            </a:pPr>
            <a:endParaRPr lang="ru-RU" sz="1100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AD0EBFA4-2168-4E79-9FBC-B5D84B10954E}"/>
              </a:ext>
            </a:extLst>
          </p:cNvPr>
          <p:cNvSpPr txBox="1">
            <a:spLocks/>
          </p:cNvSpPr>
          <p:nvPr/>
        </p:nvSpPr>
        <p:spPr>
          <a:xfrm>
            <a:off x="6708492" y="3253296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4FE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 sz="150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AFD8A66F-97CB-4508-8073-A774225B726A}"/>
              </a:ext>
            </a:extLst>
          </p:cNvPr>
          <p:cNvSpPr txBox="1">
            <a:spLocks/>
          </p:cNvSpPr>
          <p:nvPr/>
        </p:nvSpPr>
        <p:spPr>
          <a:xfrm>
            <a:off x="6696554" y="3813509"/>
            <a:ext cx="5088009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Настроен процесс взаимодействия со сторонними командами</a:t>
            </a:r>
          </a:p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Выявлены и устранены дефекты трансформации данных</a:t>
            </a:r>
          </a:p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Выявлены и устранены дефекты в исходных данных</a:t>
            </a:r>
            <a:endParaRPr lang="ru-RU" sz="1200" dirty="0"/>
          </a:p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Более 80% инцидентов по дефектам данных и систем были успешно решены.</a:t>
            </a:r>
            <a:endParaRPr lang="ru-RU" sz="1200" dirty="0"/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5220F4FE-5B32-4267-BEEE-EBE2AE959A2A}"/>
              </a:ext>
            </a:extLst>
          </p:cNvPr>
          <p:cNvSpPr txBox="1"/>
          <p:nvPr/>
        </p:nvSpPr>
        <p:spPr>
          <a:xfrm>
            <a:off x="545781" y="140444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50B927C2-7A2E-4D60-AE6C-23124643F302}"/>
              </a:ext>
            </a:extLst>
          </p:cNvPr>
          <p:cNvSpPr txBox="1"/>
          <p:nvPr/>
        </p:nvSpPr>
        <p:spPr>
          <a:xfrm>
            <a:off x="515937" y="278483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69C9D6D1-EDDE-4A5A-B799-A311D5345CB5}"/>
              </a:ext>
            </a:extLst>
          </p:cNvPr>
          <p:cNvSpPr txBox="1"/>
          <p:nvPr/>
        </p:nvSpPr>
        <p:spPr>
          <a:xfrm>
            <a:off x="539812" y="3168068"/>
            <a:ext cx="4967570" cy="1297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728"/>
              </a:lnSpc>
              <a:spcBef>
                <a:spcPts val="1152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источников данных, объектов, особенностей в каждом источнике</a:t>
            </a:r>
          </a:p>
          <a:p>
            <a:pPr marL="285750" marR="0" lvl="0" indent="-285750" fontAlgn="auto">
              <a:lnSpc>
                <a:spcPts val="1728"/>
              </a:lnSpc>
              <a:spcBef>
                <a:spcPts val="1152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Плохо налаженная коммуникация со смежными командами</a:t>
            </a:r>
          </a:p>
          <a:p>
            <a:pPr marL="285750" marR="0" lvl="0" indent="-285750" fontAlgn="auto">
              <a:lnSpc>
                <a:spcPts val="1728"/>
              </a:lnSpc>
              <a:spcBef>
                <a:spcPts val="1152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ранее необработанных инцидентов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1F0C316E-8940-4117-A514-40D31D040364}"/>
              </a:ext>
            </a:extLst>
          </p:cNvPr>
          <p:cNvSpPr txBox="1"/>
          <p:nvPr/>
        </p:nvSpPr>
        <p:spPr>
          <a:xfrm>
            <a:off x="539812" y="519731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A890031C-9C8F-43AA-B355-4E5097F2C1C2}"/>
              </a:ext>
            </a:extLst>
          </p:cNvPr>
          <p:cNvSpPr txBox="1"/>
          <p:nvPr/>
        </p:nvSpPr>
        <p:spPr>
          <a:xfrm>
            <a:off x="539812" y="5596219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18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PostgreSQL, ClickHouse, PyCharm, Python, GitHub, Jira, Confluence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5D0089C-92A3-4A03-B400-4955B891B6D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аудита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BA30581-FE7B-4C6E-BB3C-A1F3484DBB37}"/>
              </a:ext>
            </a:extLst>
          </p:cNvPr>
          <p:cNvSpPr>
            <a:spLocks noGrp="1"/>
          </p:cNvSpPr>
          <p:nvPr/>
        </p:nvSpPr>
        <p:spPr>
          <a:xfrm>
            <a:off x="6696554" y="890775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990FE4F-2F8C-4621-8264-01F50D60B7FC}"/>
              </a:ext>
            </a:extLst>
          </p:cNvPr>
          <p:cNvSpPr>
            <a:spLocks noGrp="1"/>
          </p:cNvSpPr>
          <p:nvPr/>
        </p:nvSpPr>
        <p:spPr>
          <a:xfrm>
            <a:off x="515937" y="871270"/>
            <a:ext cx="4991445" cy="34206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РУСАЛ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0A0B19B-561C-4645-88DE-E0BCDF4D2AA6}"/>
              </a:ext>
            </a:extLst>
          </p:cNvPr>
          <p:cNvSpPr>
            <a:spLocks noGrp="1"/>
          </p:cNvSpPr>
          <p:nvPr/>
        </p:nvSpPr>
        <p:spPr>
          <a:xfrm>
            <a:off x="527876" y="1902381"/>
            <a:ext cx="5098483" cy="132049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rgbClr val="7D70EF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Приложение разрабатывалось 6 лет без команды QA и отслеживания дефектов</a:t>
            </a:r>
          </a:p>
          <a:p>
            <a:pPr>
              <a:spcBef>
                <a:spcPts val="1200"/>
              </a:spcBef>
              <a:buClr>
                <a:srgbClr val="7D70EF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Около 1,5К дефектов от пользователей за 6 месяцев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9D407A8-F805-454B-ABE3-5953FE36EC3F}"/>
              </a:ext>
            </a:extLst>
          </p:cNvPr>
          <p:cNvSpPr>
            <a:spLocks noGrp="1"/>
          </p:cNvSpPr>
          <p:nvPr/>
        </p:nvSpPr>
        <p:spPr>
          <a:xfrm>
            <a:off x="6708492" y="1329351"/>
            <a:ext cx="5088009" cy="171514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Было создано предложение по внедрению контроля качества на проекте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Создана стратегия ручного тестирования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Внедрено тестирование требований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Внедрена отчетность в Azure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AD0EBFA4-2168-4E79-9FBC-B5D84B10954E}"/>
              </a:ext>
            </a:extLst>
          </p:cNvPr>
          <p:cNvSpPr txBox="1">
            <a:spLocks/>
          </p:cNvSpPr>
          <p:nvPr/>
        </p:nvSpPr>
        <p:spPr>
          <a:xfrm>
            <a:off x="6708492" y="3253296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4FE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 sz="150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AFD8A66F-97CB-4508-8073-A774225B726A}"/>
              </a:ext>
            </a:extLst>
          </p:cNvPr>
          <p:cNvSpPr txBox="1">
            <a:spLocks/>
          </p:cNvSpPr>
          <p:nvPr/>
        </p:nvSpPr>
        <p:spPr>
          <a:xfrm>
            <a:off x="6696554" y="3813509"/>
            <a:ext cx="5088009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CC4FE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Время на сбор и предоставление еженедельной отчётности сократилось 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 20 до 1 чел/час в месяц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Время на уточнение требований разработчиками в среднем сократилось 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 16 до 1 чел/час на задачу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Заказчик получил пошаговую инструкцию по настройке процесса тестирования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5220F4FE-5B32-4267-BEEE-EBE2AE959A2A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50B927C2-7A2E-4D60-AE6C-23124643F302}"/>
              </a:ext>
            </a:extLst>
          </p:cNvPr>
          <p:cNvSpPr txBox="1"/>
          <p:nvPr/>
        </p:nvSpPr>
        <p:spPr>
          <a:xfrm>
            <a:off x="539812" y="311682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69C9D6D1-EDDE-4A5A-B799-A311D5345CB5}"/>
              </a:ext>
            </a:extLst>
          </p:cNvPr>
          <p:cNvSpPr txBox="1"/>
          <p:nvPr/>
        </p:nvSpPr>
        <p:spPr>
          <a:xfrm>
            <a:off x="515937" y="3665023"/>
            <a:ext cx="4967570" cy="1140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Перед релизом было всего 30 минут дымового ручного тестирования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Единственными источниками информации являются члены команды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1F0C316E-8940-4117-A514-40D31D040364}"/>
              </a:ext>
            </a:extLst>
          </p:cNvPr>
          <p:cNvSpPr txBox="1"/>
          <p:nvPr/>
        </p:nvSpPr>
        <p:spPr>
          <a:xfrm>
            <a:off x="515937" y="509494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A890031C-9C8F-43AA-B355-4E5097F2C1C2}"/>
              </a:ext>
            </a:extLst>
          </p:cNvPr>
          <p:cNvSpPr txBox="1"/>
          <p:nvPr/>
        </p:nvSpPr>
        <p:spPr>
          <a:xfrm>
            <a:off x="515937" y="5589500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172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Azure DevOps</a:t>
            </a:r>
            <a:endParaRPr kumimoji="0" lang="ru-RU" sz="11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аудита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956603"/>
            <a:ext cx="5275263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Заказчик: Департамент природопользования и охраны окружающей среды города Москвы</a:t>
            </a:r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60745" y="650074"/>
            <a:ext cx="4984531" cy="2073251"/>
          </a:xfrm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Проведены интервью с ключевыми носителями знаний</a:t>
            </a:r>
            <a:endParaRPr lang="en-US" sz="1000" b="0" dirty="0">
              <a:solidFill>
                <a:srgbClr val="000000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Изучены процессы ведения задач по их Жизненному циклу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000" b="0" dirty="0">
              <a:solidFill>
                <a:srgbClr val="000000"/>
              </a:solidFill>
            </a:endParaRP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Составлен список «узких» мест в процессе разработки программного обеспечения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Даны рекомендации для оптимизации процесса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15937" y="1872710"/>
            <a:ext cx="500338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Цель проекта – уточнить, на сколько эффективно организован текущий процесс разработки программного обеспечения и предложить пути его оптимизации</a:t>
            </a:r>
          </a:p>
          <a:p>
            <a:pPr>
              <a:lnSpc>
                <a:spcPts val="1800"/>
              </a:lnSpc>
              <a:spcBef>
                <a:spcPts val="1800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Работа с внешним подрядчиком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Интеграции со смежными системами</a:t>
            </a:r>
          </a:p>
          <a:p>
            <a:pPr marL="285750" lvl="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Неактуальная тестовая документация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46B888B9-2810-46FB-BADF-79FC83F90436}"/>
              </a:ext>
            </a:extLst>
          </p:cNvPr>
          <p:cNvSpPr txBox="1"/>
          <p:nvPr/>
        </p:nvSpPr>
        <p:spPr>
          <a:xfrm>
            <a:off x="515937" y="509494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6DA76383-7EE3-4DC6-9205-4CA5F5524E74}"/>
              </a:ext>
            </a:extLst>
          </p:cNvPr>
          <p:cNvSpPr txBox="1"/>
          <p:nvPr/>
        </p:nvSpPr>
        <p:spPr>
          <a:xfrm>
            <a:off x="515937" y="5589500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728"/>
              </a:lnSpc>
              <a:spcBef>
                <a:spcPts val="172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1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МосТрек</a:t>
            </a:r>
            <a:r>
              <a:rPr lang="ru-RU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1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МосВики</a:t>
            </a:r>
            <a:endParaRPr kumimoji="0" lang="ru-RU" sz="11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Импортозамещение платформы для горнодобывающих работ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956603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НорНикель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60745" y="650074"/>
            <a:ext cx="4984531" cy="5612681"/>
          </a:xfrm>
        </p:spPr>
        <p:txBody>
          <a:bodyPr>
            <a:spAutoFit/>
          </a:bodyPr>
          <a:lstStyle/>
          <a:p>
            <a:pPr>
              <a:lnSpc>
                <a:spcPts val="1764"/>
              </a:lnSpc>
              <a:spcBef>
                <a:spcPts val="1764"/>
              </a:spcBef>
            </a:pPr>
            <a:r>
              <a:rPr lang="ru-RU" dirty="0" sz="155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Актуализирована тестовая стратегия, команды начали работать по единым стандартам</a:t>
            </a:r>
            <a:endParaRPr lang="en-US" sz="950" b="0" dirty="0">
              <a:solidFill>
                <a:srgbClr val="000000"/>
              </a:solidFill>
            </a:endParaRP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Введено 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Impact 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тестирование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Актуализирована стратегия тестирования в области системного тестирования и тестирования с использованием интеграционных шин. Изменён подход к тестированию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back-end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задач</a:t>
            </a:r>
            <a:endParaRPr lang="en-US" sz="950" b="0" dirty="0">
              <a:solidFill>
                <a:srgbClr val="000000"/>
              </a:solidFill>
            </a:endParaRP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Введены метрики по платформам, причинам возникновения дефектов и </a:t>
            </a:r>
            <a:r>
              <a:rPr lang="en-US" sz="950" b="0" dirty="0">
                <a:solidFill>
                  <a:srgbClr val="000000"/>
                </a:solidFill>
                <a:latin typeface="Stapel"/>
              </a:rPr>
              <a:t>root cause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анализ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Описаны общие подходы к тестированию отката системы и проведены тренировки с командами 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Описан подход к тестированию установки приложения с нуля 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Адаптирован регламент ежедневной отчётности о статусе прохождения регрессионного тестирования с целью повышения прозрачности статуса прохождения регрессионного тестирования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Внедрён стандартный отчёт о результатах регрессионного тестирования</a:t>
            </a:r>
          </a:p>
          <a:p>
            <a:pPr marL="285750" lvl="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950" b="0" dirty="0">
              <a:solidFill>
                <a:srgbClr val="000000"/>
              </a:solidFill>
            </a:endParaRPr>
          </a:p>
          <a:p>
            <a:pPr>
              <a:lnSpc>
                <a:spcPts val="1764"/>
              </a:lnSpc>
              <a:spcBef>
                <a:spcPts val="1764"/>
              </a:spcBef>
            </a:pPr>
            <a:r>
              <a:rPr lang="ru-RU" dirty="0" sz="155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Сроки проведения регрессионного тестирования сокращены </a:t>
            </a:r>
            <a:r>
              <a:rPr lang="ru-RU" sz="95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 5 до 3 дней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без потери качества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В пилотной команде время на тестирование </a:t>
            </a:r>
            <a:r>
              <a:rPr lang="ru-RU" sz="950" b="0" dirty="0" err="1">
                <a:solidFill>
                  <a:srgbClr val="000000"/>
                </a:solidFill>
                <a:latin typeface="Stapel"/>
              </a:rPr>
              <a:t>back-end</a:t>
            </a:r>
            <a:r>
              <a:rPr lang="ru-RU" sz="950" b="0" dirty="0">
                <a:solidFill>
                  <a:srgbClr val="000000"/>
                </a:solidFill>
                <a:latin typeface="Stapel"/>
              </a:rPr>
              <a:t> задач сократилось на 20%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В пилотной команде в течении 2 месяцев количество дефектов сократилось на 30%</a:t>
            </a:r>
          </a:p>
          <a:p>
            <a:pPr marL="285750" indent="-285750">
              <a:spcBef>
                <a:spcPts val="588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950" b="0" dirty="0">
                <a:solidFill>
                  <a:srgbClr val="000000"/>
                </a:solidFill>
                <a:latin typeface="Stapel"/>
              </a:rPr>
              <a:t>Количество вопросов о ходе регрессионного тестирования со стороны менеджмента сократилось в несколько раз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15937" y="1872710"/>
            <a:ext cx="500338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28"/>
              </a:lnSpc>
              <a:spcBef>
                <a:spcPts val="1728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  <a:endParaRPr kumimoji="0" lang="en-US" sz="150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Цель проекта - создание единой платформы для горнодобывающего концерна</a:t>
            </a:r>
          </a:p>
          <a:p>
            <a:pPr marL="285750" indent="-285750"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Приложение должно работать без в том числе без доступа к интернету под землёй</a:t>
            </a:r>
          </a:p>
          <a:p>
            <a:pPr>
              <a:lnSpc>
                <a:spcPts val="1728"/>
              </a:lnSpc>
              <a:spcBef>
                <a:spcPts val="1728"/>
              </a:spcBef>
              <a:buClr>
                <a:srgbClr val="8F0D6B"/>
              </a:buClr>
              <a:buSzPct val="110000"/>
              <a:defRPr/>
            </a:pPr>
            <a:r>
              <a:rPr lang="ru-RU" sz="15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запуска проекта в сжатые сроки</a:t>
            </a:r>
          </a:p>
          <a:p>
            <a:pPr marL="285750" lvl="0" indent="-285750"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Интеграции со смежными системами</a:t>
            </a:r>
          </a:p>
          <a:p>
            <a:pPr marL="285750" lvl="0" indent="-285750"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Неактуальная тестовая документация</a:t>
            </a:r>
          </a:p>
          <a:p>
            <a:pPr marL="285750" lvl="0" indent="-285750"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Распределенная проектная команда, в том числе по часовым поясам</a:t>
            </a:r>
            <a:endParaRPr lang="en-US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 на реальных устройствах в защищённом контуре</a:t>
            </a:r>
          </a:p>
          <a:p>
            <a:pPr lvl="0">
              <a:lnSpc>
                <a:spcPts val="1728"/>
              </a:lnSpc>
              <a:spcBef>
                <a:spcPts val="1728"/>
              </a:spcBef>
              <a:buClr>
                <a:srgbClr val="8F0D6B"/>
              </a:buClr>
              <a:buSzPct val="110000"/>
              <a:defRPr/>
            </a:pPr>
            <a:r>
              <a:rPr lang="ru-RU" sz="15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  <a:endParaRPr lang="en-US" sz="1500" b="1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00" spc="30" dirty="0">
                <a:solidFill>
                  <a:srgbClr val="7D70E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Grafana, </a:t>
            </a:r>
            <a:r>
              <a:rPr lang="en-US" sz="1000" spc="3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GITLab, 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Postman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TestIT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Kaiten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AFA8DB12-1515-C2A8-4143-A425C58085B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/>
          <a:lstStyle/>
          <a:p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QA 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аудит проекта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B447EE5-8145-43C5-9C5F-C0D7567F8423}"/>
              </a:ext>
            </a:extLst>
          </p:cNvPr>
          <p:cNvSpPr>
            <a:spLocks noGrp="1"/>
          </p:cNvSpPr>
          <p:nvPr/>
        </p:nvSpPr>
        <p:spPr>
          <a:xfrm>
            <a:off x="527876" y="1889752"/>
            <a:ext cx="4979506" cy="303050"/>
          </a:xfrm>
        </p:spPr>
        <p:txBody>
          <a:bodyPr>
            <a:noAutofit/>
          </a:bodyPr>
          <a:lstStyle/>
          <a:p>
            <a:pPr>
              <a:lnSpc>
                <a:spcPts val="1500"/>
              </a:lnSpc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Ключевые особенности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Stapel"/>
              </a:rPr>
              <a:t>Приложение разрабатывалось 1 год другим вендором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Stapel"/>
              </a:rPr>
              <a:t>При передаче приложения к нам имелись только названия ТК без описания шагов, другая тестовая документация отсутствовала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Stapel"/>
              </a:rPr>
              <a:t>Единственными источниками информации были члены команды со стороны заказчика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Stapel"/>
              </a:rPr>
              <a:t>Члены команды тестирования со стороны заказчика отсутствовали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4A86F07-0782-3250-87DE-D27BC74A7AC1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91445" cy="342060"/>
          </a:xfrm>
        </p:spPr>
        <p:txBody>
          <a:bodyPr/>
          <a:lstStyle/>
          <a:p>
            <a:r>
              <a:rPr lang="ru-RU" sz="1450" b="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Разработчик медицинского приложения</a:t>
            </a:r>
            <a:endParaRPr lang="en-US" sz="1450" b="1" dirty="0">
              <a:solidFill>
                <a:srgbClr val="8F0D6B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672C8DC5-5BF7-3DD2-28A9-3A4E179C9622}"/>
              </a:ext>
            </a:extLst>
          </p:cNvPr>
          <p:cNvSpPr txBox="1">
            <a:spLocks/>
          </p:cNvSpPr>
          <p:nvPr/>
        </p:nvSpPr>
        <p:spPr>
          <a:xfrm>
            <a:off x="6452717" y="1889752"/>
            <a:ext cx="5367808" cy="264694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450"/>
              </a:lnSpc>
              <a:spcBef>
                <a:spcPts val="250"/>
              </a:spcBef>
              <a:buClr>
                <a:srgbClr val="DDB6D3"/>
              </a:buClr>
              <a:buFont typeface="+mj-lt"/>
              <a:buNone/>
              <a:defRPr sz="6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125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6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125"/>
              </a:spcBef>
              <a:buFont typeface="Stapel" panose="020B0604020202020204" pitchFamily="34" charset="0"/>
              <a:buChar char="•"/>
              <a:defRPr sz="6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5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6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5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6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125"/>
              </a:spcBef>
              <a:buFont typeface="Stapel" panose="020B0604020202020204" pitchFamily="34" charset="0"/>
              <a:buChar char="•"/>
              <a:defRPr sz="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125"/>
              </a:spcBef>
              <a:buFont typeface="Stapel" panose="020B0604020202020204" pitchFamily="34" charset="0"/>
              <a:buChar char="•"/>
              <a:defRPr sz="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125"/>
              </a:spcBef>
              <a:buFont typeface="Stapel" panose="020B0604020202020204" pitchFamily="34" charset="0"/>
              <a:buChar char="•"/>
              <a:defRPr sz="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125"/>
              </a:spcBef>
              <a:buFont typeface="Stapel" panose="020B0604020202020204" pitchFamily="34" charset="0"/>
              <a:buChar char="•"/>
              <a:defRPr sz="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50"/>
              </a:spcBef>
            </a:pP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3464" indent="-283464">
              <a:lnSpc>
                <a:spcPts val="375"/>
              </a:lnSpc>
              <a:spcBef>
                <a:spcPts val="15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Создана стратегия ручного тестирования</a:t>
            </a:r>
          </a:p>
          <a:p>
            <a:pPr marL="283464" indent="-283464">
              <a:lnSpc>
                <a:spcPts val="375"/>
              </a:lnSpc>
              <a:spcBef>
                <a:spcPts val="15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Создана стратегия автоматизированного тестирования</a:t>
            </a:r>
          </a:p>
          <a:p>
            <a:pPr marL="283464" indent="-283464">
              <a:lnSpc>
                <a:spcPts val="375"/>
              </a:lnSpc>
              <a:spcBef>
                <a:spcPts val="15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Создан PoC фреймворка автоматизированного тестирования</a:t>
            </a:r>
          </a:p>
          <a:p>
            <a:pPr marL="283464" indent="-283464">
              <a:lnSpc>
                <a:spcPts val="375"/>
              </a:lnSpc>
              <a:spcBef>
                <a:spcPts val="15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Заказчик получил пошаговую инструкцию по настройке процесса тестирования</a:t>
            </a:r>
          </a:p>
          <a:p>
            <a:pPr marL="283464" indent="-283464">
              <a:lnSpc>
                <a:spcPts val="375"/>
              </a:lnSpc>
              <a:spcBef>
                <a:spcPts val="15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Скорость тестирования 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увеличилась на 20%</a:t>
            </a:r>
          </a:p>
          <a:p>
            <a:pPr marL="283464" indent="-283464">
              <a:lnSpc>
                <a:spcPts val="375"/>
              </a:lnSpc>
              <a:spcBef>
                <a:spcPts val="15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Раз в спринт стало проводиться спринт аппрувмент тестирование</a:t>
            </a:r>
          </a:p>
          <a:p>
            <a:pPr marL="283464" indent="-283464">
              <a:lnSpc>
                <a:spcPts val="375"/>
              </a:lnSpc>
              <a:spcBef>
                <a:spcPts val="15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Инструментарий: </a:t>
            </a:r>
            <a:r>
              <a:rPr lang="en-US" sz="1200" dirty="0" b="0">
                <a:solidFill>
                  <a:srgbClr val="FFFFFF"/>
                </a:solidFill>
                <a:latin typeface="Stapel"/>
              </a:rPr>
              <a:t>Jira, </a:t>
            </a:r>
            <a:r>
              <a:rPr lang="en-US" sz="1200" dirty="0" err="1" b="0">
                <a:solidFill>
                  <a:srgbClr val="FFFFFF"/>
                </a:solidFill>
                <a:latin typeface="Stapel"/>
              </a:rPr>
              <a:t>Intellij</a:t>
            </a:r>
            <a:r>
              <a:rPr lang="en-US" sz="1200" dirty="0" b="0">
                <a:solidFill>
                  <a:srgbClr val="FFFFFF"/>
                </a:solidFill>
                <a:latin typeface="Stapel"/>
              </a:rPr>
              <a:t> idea, Allure</a:t>
            </a:r>
          </a:p>
          <a:p>
            <a:pPr marL="283464" indent="-283464">
              <a:lnSpc>
                <a:spcPts val="375"/>
              </a:lnSpc>
              <a:spcBef>
                <a:spcPts val="150"/>
              </a:spcBef>
              <a:buFont typeface="Stapel" panose="020B0604020202020204" pitchFamily="34" charset="0"/>
              <a:buChar char="•"/>
            </a:pPr>
            <a:endParaRPr lang="ru-RU" sz="1100" dirty="0">
              <a:solidFill>
                <a:srgbClr val="FFFFFF"/>
              </a:solidFill>
            </a:endParaRPr>
          </a:p>
          <a:p>
            <a:pPr marL="283464" indent="-283464">
              <a:lnSpc>
                <a:spcPts val="375"/>
              </a:lnSpc>
              <a:spcBef>
                <a:spcPts val="150"/>
              </a:spcBef>
              <a:buFont typeface="Stapel" panose="020B0604020202020204" pitchFamily="34" charset="0"/>
              <a:buChar char="•"/>
            </a:pPr>
            <a:endParaRPr lang="ru-RU" sz="1100" dirty="0">
              <a:solidFill>
                <a:srgbClr val="FFFFFF"/>
              </a:solidFill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4">
            <a:extLst>
              <a:ext uri="{FF2B5EF4-FFF2-40B4-BE49-F238E27FC236}">
                <a16:creationId xmlns:a16="http://schemas.microsoft.com/office/drawing/2014/main" id="{1AC1A427-B8F9-BDB9-80FB-8E768828C15E}"/>
              </a:ext>
            </a:extLst>
          </p:cNvPr>
          <p:cNvSpPr>
            <a:spLocks noGrp="1"/>
          </p:cNvSpPr>
          <p:nvPr/>
        </p:nvSpPr>
        <p:spPr>
          <a:xfrm>
            <a:off x="408510" y="342313"/>
            <a:ext cx="4991445" cy="613057"/>
          </a:xfrm>
        </p:spPr>
        <p:txBody>
          <a:bodyPr>
            <a:noAutofit/>
          </a:bodyPr>
          <a:lstStyle/>
          <a:p>
            <a:r>
              <a:rPr lang="ru-RU" dirty="0" sz="185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Выделенная лаборатория тестирования</a:t>
            </a:r>
            <a:endParaRPr lang="en-US" dirty="0" sz="1650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5941FA27-1130-4070-CC1C-9088C6CDC9F5}"/>
              </a:ext>
            </a:extLst>
          </p:cNvPr>
          <p:cNvSpPr>
            <a:spLocks noGrp="1"/>
          </p:cNvSpPr>
          <p:nvPr/>
        </p:nvSpPr>
        <p:spPr>
          <a:xfrm>
            <a:off x="6096000" y="3652571"/>
            <a:ext cx="4979506" cy="303050"/>
          </a:xfrm>
        </p:spPr>
        <p:txBody>
          <a:bodyPr/>
          <a:lstStyle/>
          <a:p>
            <a:r>
              <a:rPr lang="ru-RU" sz="1400" dirty="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sz="1400" dirty="0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308956D7-1B06-D90A-2A54-EE8E25D1DDF9}"/>
              </a:ext>
            </a:extLst>
          </p:cNvPr>
          <p:cNvSpPr>
            <a:spLocks noGrp="1"/>
          </p:cNvSpPr>
          <p:nvPr/>
        </p:nvSpPr>
        <p:spPr>
          <a:xfrm>
            <a:off x="408510" y="1023468"/>
            <a:ext cx="5571297" cy="34206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Международный коммерческий банк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57221BFF-16D1-3939-7E50-A5CF47AE7D41}"/>
              </a:ext>
            </a:extLst>
          </p:cNvPr>
          <p:cNvSpPr>
            <a:spLocks noGrp="1"/>
          </p:cNvSpPr>
          <p:nvPr/>
        </p:nvSpPr>
        <p:spPr>
          <a:xfrm>
            <a:off x="484710" y="1958132"/>
            <a:ext cx="5389561" cy="4726905"/>
          </a:xfrm>
        </p:spPr>
        <p:txBody>
          <a:bodyPr>
            <a:normAutofit/>
          </a:bodyPr>
          <a:lstStyle/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Требование углубленного понимания банковских процессов и бизнеса Заказчика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Разнообразие технологий существующих приложений, в том числе большая доля legacy-систем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Интеграция со множеством внешних компонентов, постоянное взаимодействие с ИТ-командами банка и других подрядчиков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Обеспечение быстрого масштабирования размера команд под нужды приоритетных проектов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Максимальные требования по безопасности и непрерывный контроль со стороны соответствующих отделов банка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Расположение команд строго в определённых офисах заказчика, проектная документация на английском языке</a:t>
            </a:r>
          </a:p>
          <a:p>
            <a:endParaRPr lang="en-US" sz="1200" dirty="0"/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0846C525-A34E-BDB0-324E-83607F8A95A0}"/>
              </a:ext>
            </a:extLst>
          </p:cNvPr>
          <p:cNvSpPr>
            <a:spLocks noGrp="1"/>
          </p:cNvSpPr>
          <p:nvPr/>
        </p:nvSpPr>
        <p:spPr>
          <a:xfrm>
            <a:off x="6212194" y="3955621"/>
            <a:ext cx="5960430" cy="4726905"/>
          </a:xfrm>
        </p:spPr>
        <p:txBody>
          <a:bodyPr>
            <a:noAutofit/>
          </a:bodyPr>
          <a:lstStyle/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ACC4FE"/>
              </a:buClr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За первые 2 года функционирования успешно выполнены проекты в различных архитектурах и стеках технологий, в том числе: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Успешно протестировано Data Warehouse нового поколения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Выполнено тестирование системы выпуска чипованных карт по новой технологии (интеграция модулей различных подрядчиков) под управлением экспертов лаборатории тестирование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Проведена локализация глобальной интернациональной шины обмена данными между подразделениями банка с высоким качеством результата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Выполнены проекты для мобильных платформ, в том числе онлайн-банкинга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endParaRPr lang="en-US" sz="1200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61526659-FE58-5051-0D89-AEE7AA0819B7}"/>
              </a:ext>
            </a:extLst>
          </p:cNvPr>
          <p:cNvSpPr txBox="1">
            <a:spLocks/>
          </p:cNvSpPr>
          <p:nvPr/>
        </p:nvSpPr>
        <p:spPr>
          <a:xfrm>
            <a:off x="408510" y="1510305"/>
            <a:ext cx="7122820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0D6B"/>
              </a:buClr>
              <a:buFont typeface="+mj-lt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 и задачи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3CED94B6-B628-2B2E-E402-BA35FBAAD4BF}"/>
              </a:ext>
            </a:extLst>
          </p:cNvPr>
          <p:cNvSpPr txBox="1">
            <a:spLocks/>
          </p:cNvSpPr>
          <p:nvPr/>
        </p:nvSpPr>
        <p:spPr>
          <a:xfrm>
            <a:off x="6212194" y="653553"/>
            <a:ext cx="7122820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B6D3"/>
              </a:buClr>
              <a:buFont typeface="+mj-lt"/>
              <a:buNone/>
              <a:defRPr sz="1600" b="1" i="0" kern="1200" spc="30" baseline="0">
                <a:solidFill>
                  <a:srgbClr val="DDB6D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Ключевые особенности: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6F8E34F3-2AD7-A5C2-514D-716195020B2A}"/>
              </a:ext>
            </a:extLst>
          </p:cNvPr>
          <p:cNvSpPr txBox="1">
            <a:spLocks/>
          </p:cNvSpPr>
          <p:nvPr/>
        </p:nvSpPr>
        <p:spPr>
          <a:xfrm>
            <a:off x="6212194" y="1122540"/>
            <a:ext cx="5875031" cy="184698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656"/>
              </a:lnSpc>
              <a:spcBef>
                <a:spcPts val="920"/>
              </a:spcBef>
              <a:buClr>
                <a:srgbClr val="DDB6D3"/>
              </a:buClr>
              <a:buFont typeface="+mj-lt"/>
              <a:buNone/>
              <a:defRPr sz="12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125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1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1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Clr>
                <a:srgbClr val="DDB6D3"/>
              </a:buClr>
              <a:buFont typeface="Stapel" panose="020B0604020202020204" pitchFamily="34" charset="0"/>
              <a:buChar char="•"/>
              <a:defRPr sz="11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60"/>
              </a:spcBef>
              <a:buFont typeface="Stapel" panose="020B0604020202020204" pitchFamily="34" charset="0"/>
              <a:buChar char="•"/>
              <a:defRPr sz="16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1472"/>
              </a:lnSpc>
              <a:spcBef>
                <a:spcPts val="276"/>
              </a:spcBef>
              <a:spcAft>
                <a:spcPts val="276"/>
              </a:spcAft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Лаборатория стартовала с небольшой команды (до 5ти тестировщиков), через 2 года численность команды выросла в 10 раз. </a:t>
            </a:r>
          </a:p>
          <a:p>
            <a:pPr marL="285750" indent="-285750">
              <a:lnSpc>
                <a:spcPts val="1472"/>
              </a:lnSpc>
              <a:spcBef>
                <a:spcPts val="276"/>
              </a:spcBef>
              <a:spcAft>
                <a:spcPts val="276"/>
              </a:spcAft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Для реализации самого масштабного проекта количество экспертов лаборатории было увеличено в 2,5 раза в течение 2 месяцев - с 20 до 50 человек, после успешного релиза часть команды перешла на другие проекты</a:t>
            </a:r>
          </a:p>
          <a:p>
            <a:pPr marL="285750" indent="-285750">
              <a:lnSpc>
                <a:spcPts val="1472"/>
              </a:lnSpc>
              <a:spcBef>
                <a:spcPts val="276"/>
              </a:spcBef>
              <a:spcAft>
                <a:spcPts val="276"/>
              </a:spcAft>
              <a:buClr>
                <a:srgbClr val="ACC4FE"/>
              </a:buClr>
              <a:buSzPct val="110000"/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Различная специализация команд тестирования с учетом пула тестируемых приложений: хранилище данных, онлайн клиент, мобильные приложения, глобальные шины обмена данными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5093408" cy="613057"/>
          </a:xfrm>
        </p:spPr>
        <p:txBody>
          <a:bodyPr>
            <a:noAutofit/>
          </a:bodyPr>
          <a:lstStyle/>
          <a:p>
            <a:r>
              <a:rPr lang="ru-RU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Оптимизация 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процесса мобильного тестирования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br>
              <a:rPr lang="ru-RU" dirty="0">
                <a:solidFill>
                  <a:srgbClr val="8F0D6B"/>
                </a:solidFill>
              </a:rPr>
            </a:b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Tutu </a:t>
            </a: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Отели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732740" y="762797"/>
            <a:ext cx="4984529" cy="3239615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Написаны тест-кейсы для тестирования на платформах iOS и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Android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в Allure TestOps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Stapel"/>
              </a:rPr>
              <a:t>C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формированы списки тест-кейсов для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Regression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и Smoke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Проведение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Regression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тестирования мобильных приложений один раз в 2 недели</a:t>
            </a:r>
            <a:endParaRPr lang="en-US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Автоматическая установка приоритета при заведении задач от клиентов 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Группировка похожих проблем с дальнейшим вынесением их в команду разработки и принятия по ним решений (заводим дефект или задачи на аналитику и разработку и берем в спринт)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Проведение QA Гильдий и Ретроспектив по межкомандным процессам</a:t>
            </a:r>
          </a:p>
          <a:p>
            <a:pPr>
              <a:spcBef>
                <a:spcPts val="600"/>
              </a:spcBef>
              <a:buClr>
                <a:srgbClr val="8F0D6B"/>
              </a:buClr>
            </a:pP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2451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Наладить процессы тестирования с нуля на проекте, который уже развивается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Большой неупорядоченный список дефектов и задач на доработку  от реальных клиентов, который копился</a:t>
            </a:r>
            <a:endParaRPr lang="en-US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регрессионного тестирования на платформах iOS и 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Android</a:t>
            </a: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инструмента для тест-кейсов, запусков для прохождения регресса, формирования отчетов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Нескоординированное межкомандное взаимодействие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0477" y="497270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5388455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728"/>
              </a:lnSpc>
              <a:spcBef>
                <a:spcPts val="576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1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Allure TestOps, TestFlight, GitHub Actions, Charles proxy  </a:t>
            </a:r>
            <a:endParaRPr lang="ru-RU" sz="11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86313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Непрерывная доставка новой функциональности и фиксов дефектов до пользователей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Список багов и задач на доработку от реальных клиентов уменьшился в три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Стабильный процесс прогонов ручных тестов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Синхронизированная и эффективная межкомандная работа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8F7BF96A-941C-453B-9A68-B03D6AC084BD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rmAutofit/>
          </a:bodyPr>
          <a:lstStyle/>
          <a:p>
            <a:r>
              <a:rPr lang="ru-RU" dirty="0" sz="18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Организация тестирования на проекте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3E404D90-D1F0-48CD-8905-616402D79A7A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Проект по развитию платформы СИНАПС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2EE5367B-CA18-453C-A827-C65D965FC698}"/>
              </a:ext>
            </a:extLst>
          </p:cNvPr>
          <p:cNvSpPr>
            <a:spLocks noGrp="1"/>
          </p:cNvSpPr>
          <p:nvPr/>
        </p:nvSpPr>
        <p:spPr>
          <a:xfrm>
            <a:off x="545781" y="3216009"/>
            <a:ext cx="4984529" cy="1640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Вызовы: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Короткие сроки на тестирование (2 недели)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Тестированием в последний год занимались только аналитики, централизованный процесс отсутствовал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BEC62FAE-3669-4291-83F1-EDACAA426A01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1CEE77E0-BF5C-4186-B6A2-3064D7C91FE1}"/>
              </a:ext>
            </a:extLst>
          </p:cNvPr>
          <p:cNvSpPr>
            <a:spLocks noGrp="1"/>
          </p:cNvSpPr>
          <p:nvPr/>
        </p:nvSpPr>
        <p:spPr>
          <a:xfrm>
            <a:off x="6696994" y="1485023"/>
            <a:ext cx="4984529" cy="2668044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250" b="0">
                <a:solidFill>
                  <a:srgbClr val="000000"/>
                </a:solidFill>
                <a:latin typeface="Stapel"/>
              </a:rPr>
              <a:t>Составлен план тестирования с учётом сжатых сроков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250" b="0">
                <a:solidFill>
                  <a:srgbClr val="000000"/>
                </a:solidFill>
                <a:latin typeface="Stapel"/>
              </a:rPr>
              <a:t>Созданы тестовые кейсы для проведения демонстраций, </a:t>
            </a:r>
            <a:r>
              <a:rPr lang="en-US" dirty="0" sz="1250" b="0">
                <a:solidFill>
                  <a:srgbClr val="000000"/>
                </a:solidFill>
                <a:latin typeface="Stapel"/>
              </a:rPr>
              <a:t>smoke</a:t>
            </a:r>
            <a:r>
              <a:rPr lang="ru-RU" dirty="0" sz="1250" b="0">
                <a:solidFill>
                  <a:srgbClr val="000000"/>
                </a:solidFill>
                <a:latin typeface="Stapel"/>
              </a:rPr>
              <a:t>, регрессионного тестирования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250" b="0">
                <a:solidFill>
                  <a:srgbClr val="000000"/>
                </a:solidFill>
                <a:latin typeface="Stapel"/>
              </a:rPr>
              <a:t>Автоматизированы тестовые кейсы для проведения демонстраций, </a:t>
            </a:r>
            <a:r>
              <a:rPr lang="en-US" dirty="0" sz="1250" b="0">
                <a:solidFill>
                  <a:srgbClr val="000000"/>
                </a:solidFill>
                <a:latin typeface="Stapel"/>
              </a:rPr>
              <a:t>smoke</a:t>
            </a:r>
            <a:r>
              <a:rPr lang="ru-RU" dirty="0" sz="1250" b="0">
                <a:solidFill>
                  <a:srgbClr val="000000"/>
                </a:solidFill>
                <a:latin typeface="Stapel"/>
              </a:rPr>
              <a:t>, регрессионного тестирования, не изменяющие данные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250" b="0">
                <a:solidFill>
                  <a:srgbClr val="000000"/>
                </a:solidFill>
                <a:latin typeface="Stapel"/>
              </a:rPr>
              <a:t>Произведён анализ требований и выявлены «узкие» места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endParaRPr lang="ru-RU" dirty="0" sz="165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362B3E1D-4DB8-489F-9129-C34C6B460162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8AA59E7-A3F3-4B19-94B3-4C03764414D5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7370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 тестирование перед демонстрацией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в 3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На проекте появилось централизованное хранилище тестовых кейсов/сценариев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После выпуска нового релиза на проверку его работоспособности требуется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около 20 минут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92502B39-2A2D-4F18-8E7D-9BE4CFB3FCD3}"/>
              </a:ext>
            </a:extLst>
          </p:cNvPr>
          <p:cNvSpPr txBox="1">
            <a:spLocks/>
          </p:cNvSpPr>
          <p:nvPr/>
        </p:nvSpPr>
        <p:spPr>
          <a:xfrm>
            <a:off x="527876" y="1758024"/>
            <a:ext cx="5098483" cy="841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Разработка собственного коробочного решения для страховых компаний, которое также может быть использовано как ядро для систем, обрабатывающих большие объёмы данных</a:t>
            </a:r>
            <a:endParaRPr lang="en-US" sz="1000" dirty="0"/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63D2D014-C435-4FB0-A799-257D02ABA037}"/>
              </a:ext>
            </a:extLst>
          </p:cNvPr>
          <p:cNvSpPr txBox="1"/>
          <p:nvPr/>
        </p:nvSpPr>
        <p:spPr>
          <a:xfrm>
            <a:off x="545781" y="140444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052F4B95-766F-40EC-8E1E-479C8A4FD39D}"/>
              </a:ext>
            </a:extLst>
          </p:cNvPr>
          <p:cNvSpPr txBox="1"/>
          <p:nvPr/>
        </p:nvSpPr>
        <p:spPr>
          <a:xfrm>
            <a:off x="510477" y="4972700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92"/>
              </a:lnSpc>
              <a:spcBef>
                <a:spcPts val="1692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886CA590-2FED-486E-AF70-5AD8A1BB7C53}"/>
              </a:ext>
            </a:extLst>
          </p:cNvPr>
          <p:cNvSpPr txBox="1"/>
          <p:nvPr/>
        </p:nvSpPr>
        <p:spPr>
          <a:xfrm>
            <a:off x="510477" y="5388455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2"/>
              </a:lnSpc>
              <a:spcBef>
                <a:spcPts val="564"/>
              </a:spcBef>
              <a:buClr>
                <a:srgbClr val="7D70EF"/>
              </a:buClr>
              <a:buSzPct val="110000"/>
              <a:defRPr/>
            </a:pPr>
            <a:r>
              <a:rPr lang="en-US" sz="9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cursor, </a:t>
            </a:r>
            <a:r>
              <a:rPr lang="en-US" sz="9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PlayWrite</a:t>
            </a:r>
            <a:endParaRPr lang="ru-RU" sz="9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Платформы потоковой обработки продуктов дистанционного зондирования Земли (ДЗЗ)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9531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Заказчик: АО «Терра Тех»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657174"/>
            <a:ext cx="5301524" cy="3017665"/>
          </a:xfrm>
        </p:spPr>
        <p:txBody>
          <a:bodyPr>
            <a:noAutofit/>
          </a:bodyPr>
          <a:lstStyle/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150" dirty="0" b="0">
                <a:latin typeface="+mn-lt"/>
                <a:solidFill>
                  <a:srgbClr val="000000"/>
                </a:solidFill>
              </a:rPr>
              <a:t>Выполнения тест-кейса с </a:t>
            </a:r>
            <a:r>
              <a:rPr lang="ru-RU" sz="1150" dirty="0" b="0">
                <a:effectLst/>
                <a:latin typeface="+mn-lt"/>
                <a:solidFill>
                  <a:srgbClr val="000000"/>
                </a:solidFill>
              </a:rPr>
              <a:t>синхронизацией с </a:t>
            </a:r>
            <a:r>
              <a:rPr lang="en-US" sz="1150" dirty="0" err="1" b="0">
                <a:effectLst/>
                <a:latin typeface="+mn-lt"/>
                <a:solidFill>
                  <a:srgbClr val="000000"/>
                </a:solidFill>
              </a:rPr>
              <a:t>ReportPortal</a:t>
            </a:r>
            <a:endParaRPr lang="ru-RU" sz="1150" dirty="0">
              <a:effectLst/>
              <a:latin typeface="+mn-lt"/>
            </a:endParaRP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150" dirty="0" b="0">
                <a:latin typeface="+mn-lt"/>
                <a:solidFill>
                  <a:srgbClr val="000000"/>
                </a:solidFill>
              </a:rPr>
              <a:t>Ранняя подготовка </a:t>
            </a:r>
            <a:r>
              <a:rPr lang="ru-RU" sz="1150" dirty="0" err="1" b="0">
                <a:latin typeface="+mn-lt"/>
                <a:solidFill>
                  <a:srgbClr val="000000"/>
                </a:solidFill>
              </a:rPr>
              <a:t>автотестов</a:t>
            </a:r>
            <a:r>
              <a:rPr lang="ru-RU" sz="1150" dirty="0" b="0">
                <a:latin typeface="+mn-lt"/>
                <a:solidFill>
                  <a:srgbClr val="000000"/>
                </a:solidFill>
              </a:rPr>
              <a:t> на основе расширенных чек-листов (до готовности самой функциональности)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150" dirty="0" b="0">
                <a:latin typeface="+mn-lt"/>
                <a:solidFill>
                  <a:srgbClr val="000000"/>
                </a:solidFill>
              </a:rPr>
              <a:t>Использование фреймворка </a:t>
            </a:r>
            <a:r>
              <a:rPr lang="en-US" sz="1150" dirty="0" b="0">
                <a:latin typeface="+mn-lt"/>
                <a:solidFill>
                  <a:srgbClr val="000000"/>
                </a:solidFill>
              </a:rPr>
              <a:t>TAF </a:t>
            </a:r>
            <a:r>
              <a:rPr lang="en-US" sz="1150" dirty="0" err="1" b="0">
                <a:latin typeface="+mn-lt"/>
                <a:solidFill>
                  <a:srgbClr val="000000"/>
                </a:solidFill>
              </a:rPr>
              <a:t>Playgriffin</a:t>
            </a:r>
            <a:r>
              <a:rPr lang="en-US" sz="1150" dirty="0" b="0">
                <a:latin typeface="+mn-lt"/>
                <a:solidFill>
                  <a:srgbClr val="000000"/>
                </a:solidFill>
              </a:rPr>
              <a:t> </a:t>
            </a:r>
            <a:r>
              <a:rPr lang="ru-RU" sz="1150" dirty="0" b="0">
                <a:latin typeface="+mn-lt"/>
                <a:solidFill>
                  <a:srgbClr val="000000"/>
                </a:solidFill>
              </a:rPr>
              <a:t>с модульной архитектурой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150" dirty="0" b="0">
                <a:latin typeface="+mn-lt"/>
                <a:solidFill>
                  <a:srgbClr val="000000"/>
                </a:solidFill>
              </a:rPr>
              <a:t>Полностью автоматизированное регрессионное тестирование, выполняемое на регулярной основе 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150" dirty="0" b="0">
                <a:latin typeface="+mn-lt"/>
                <a:solidFill>
                  <a:srgbClr val="000000"/>
                </a:solidFill>
              </a:rPr>
              <a:t>Интеграция нагрузочного тестирования (</a:t>
            </a:r>
            <a:r>
              <a:rPr lang="en-US" sz="1150" dirty="0" b="0">
                <a:latin typeface="+mn-lt"/>
                <a:solidFill>
                  <a:srgbClr val="000000"/>
                </a:solidFill>
              </a:rPr>
              <a:t>Gatling) </a:t>
            </a:r>
            <a:r>
              <a:rPr lang="ru-RU" sz="1150" dirty="0" b="0">
                <a:latin typeface="+mn-lt"/>
                <a:solidFill>
                  <a:srgbClr val="000000"/>
                </a:solidFill>
              </a:rPr>
              <a:t>и </a:t>
            </a:r>
            <a:r>
              <a:rPr lang="ru-RU" sz="1150" dirty="0" err="1" b="0">
                <a:latin typeface="+mn-lt"/>
                <a:solidFill>
                  <a:srgbClr val="000000"/>
                </a:solidFill>
              </a:rPr>
              <a:t>фаззинг</a:t>
            </a:r>
            <a:r>
              <a:rPr lang="ru-RU" sz="1150" dirty="0" b="0">
                <a:latin typeface="+mn-lt"/>
                <a:solidFill>
                  <a:srgbClr val="000000"/>
                </a:solidFill>
              </a:rPr>
              <a:t> тестирования с ИИ 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150" dirty="0" b="0">
                <a:latin typeface="+mn-lt"/>
                <a:solidFill>
                  <a:srgbClr val="000000"/>
                </a:solidFill>
              </a:rPr>
              <a:t>Использование ИИ для генерации тестовых сценариев, анализа ГОСТов и оптимизации форматов данных (JSON) для </a:t>
            </a:r>
            <a:r>
              <a:rPr lang="ru-RU" sz="1150" dirty="0" err="1" b="0">
                <a:latin typeface="+mn-lt"/>
                <a:solidFill>
                  <a:srgbClr val="000000"/>
                </a:solidFill>
              </a:rPr>
              <a:t>автотестов</a:t>
            </a:r>
            <a:endParaRPr lang="ru-RU" sz="1150" dirty="0">
              <a:latin typeface="+mn-lt"/>
            </a:endParaRP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150" dirty="0" b="0">
                <a:latin typeface="+mn-lt"/>
                <a:solidFill>
                  <a:srgbClr val="000000"/>
                </a:solidFill>
              </a:rPr>
              <a:t>Автоматизированный </a:t>
            </a:r>
            <a:r>
              <a:rPr lang="en-US" sz="1150" dirty="0" b="0">
                <a:latin typeface="+mn-lt"/>
                <a:solidFill>
                  <a:srgbClr val="000000"/>
                </a:solidFill>
              </a:rPr>
              <a:t>CI/CD </a:t>
            </a:r>
            <a:r>
              <a:rPr lang="ru-RU" sz="1150" dirty="0" b="0">
                <a:latin typeface="+mn-lt"/>
                <a:solidFill>
                  <a:srgbClr val="000000"/>
                </a:solidFill>
              </a:rPr>
              <a:t>конвейер, несколько тестовых стендов для разных целей тестирования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150" dirty="0" b="0">
                <a:latin typeface="+mn-lt"/>
                <a:solidFill>
                  <a:srgbClr val="000000"/>
                </a:solidFill>
              </a:rPr>
              <a:t>Автоматическая генерация юнит-тестов с помощью ИИ (Qwen-32b)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622115"/>
            <a:ext cx="5098483" cy="1793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Цель проекта: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Платформы космических сервисов ДЗЗ и ее интеграция с системами обработки данных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На стороне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Рексофт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– консалтинг, дизайн, бизнес-аналитика, разработка и тестирование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b2b/b2c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Платформы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Реализовано 170 бизнес-функций и создано 3140 автоматизированных тестов для их тестирования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259924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284602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192835"/>
            <a:ext cx="496757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Недостаточная детализация ТЗ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соответствия большому количеству ГОСТов в области систем ДЗЗ и процессов разработки. Высокие регуляторные требования (в т.ч. к безопасности)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Жесткие временные рамки и параллельные процессы (9 месяцев на разработку функциональности Платформы)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Интеграция с 20+ смежных систем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Управление распределенной командой 55+ человек</a:t>
            </a:r>
          </a:p>
          <a:p>
            <a:pPr marL="285750" marR="0" lvl="0" indent="-285750" fontAlgn="auto">
              <a:spcBef>
                <a:spcPts val="588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Освоение новой доменной области в кратчайшие сроки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876" y="523588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2416" y="5559054"/>
            <a:ext cx="496757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Java 21, Spring, Conductor, Swagger, TypeScript, Next.js, React, Payload CMS, Ant Design TestNG, Playwright(UI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API),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ReportPortal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GitLab/Gitlab CI, Kafka, Jira, Confluence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713955" y="367483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713957" y="3995711"/>
            <a:ext cx="5301524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latin typeface="+mn-lt"/>
                <a:solidFill>
                  <a:srgbClr val="000000"/>
                </a:solidFill>
              </a:rPr>
              <a:t>Выполнили 2-летний объем работ за 9 месяцев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latin typeface="+mn-lt"/>
                <a:solidFill>
                  <a:srgbClr val="000000"/>
                </a:solidFill>
              </a:rPr>
              <a:t>Покрытие регрессионных тестов: 90% в течение первых 4 месяцев проекта, 70–80% на более поздних этапах 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latin typeface="+mn-lt"/>
                <a:solidFill>
                  <a:srgbClr val="000000"/>
                </a:solidFill>
              </a:rPr>
              <a:t>Общий процент прохождения </a:t>
            </a:r>
            <a:r>
              <a:rPr lang="ru-RU" sz="1000" dirty="0" err="1" b="0">
                <a:latin typeface="+mn-lt"/>
                <a:solidFill>
                  <a:srgbClr val="000000"/>
                </a:solidFill>
              </a:rPr>
              <a:t>автотестов</a:t>
            </a:r>
            <a:r>
              <a:rPr lang="ru-RU" sz="1000" dirty="0" b="0">
                <a:latin typeface="+mn-lt"/>
                <a:solidFill>
                  <a:srgbClr val="000000"/>
                </a:solidFill>
              </a:rPr>
              <a:t> — 93%, API-тесты — 97%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Автоматизация позволила сократить ручное регрессионное тестирование на 70% и освободить ресурсы для тестирования новых бизнес-функций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Благодаря ИИ сократили время на создание тестов безопасности и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фаззинг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-тестирования на 30%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Благодаря ИИ сократили время на создание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Unit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тестов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на 30%</a:t>
            </a:r>
            <a:endParaRPr lang="ru-RU" sz="1000" dirty="0">
              <a:latin typeface="+mn-lt"/>
            </a:endParaRP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latin typeface="+mn-lt"/>
                <a:solidFill>
                  <a:srgbClr val="000000"/>
                </a:solidFill>
              </a:rPr>
              <a:t>Проект успешно прошел ре-сертификацию СМК </a:t>
            </a:r>
            <a:r>
              <a:rPr lang="ru-RU" sz="1000" dirty="0" err="1" b="0">
                <a:latin typeface="+mn-lt"/>
                <a:solidFill>
                  <a:srgbClr val="000000"/>
                </a:solidFill>
              </a:rPr>
              <a:t>Рексофт</a:t>
            </a:r>
            <a:r>
              <a:rPr lang="ru-RU" sz="1000" dirty="0" b="0">
                <a:latin typeface="+mn-lt"/>
                <a:solidFill>
                  <a:srgbClr val="000000"/>
                </a:solidFill>
              </a:rPr>
              <a:t> по стандарту ISO 9001-2015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Проект успешно прошел </a:t>
            </a:r>
            <a:r>
              <a:rPr lang="ru-RU" sz="1000" dirty="0" b="0">
                <a:latin typeface="+mn-lt"/>
                <a:solidFill>
                  <a:srgbClr val="000000"/>
                </a:solidFill>
              </a:rPr>
              <a:t>автономные испытания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Создали собственный фреймворк TAF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Playgriffin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который доступен другим проектам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8F7BF96A-941C-453B-9A68-B03D6AC084BD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rmAutofit/>
          </a:bodyPr>
          <a:lstStyle/>
          <a:p>
            <a:r>
              <a:rPr lang="ru-RU" dirty="0" sz="165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</a:t>
            </a:r>
            <a:r>
              <a:rPr lang="en-US" dirty="0" sz="165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RAG-based </a:t>
            </a:r>
            <a:r>
              <a:rPr lang="ru-RU" dirty="0" sz="165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систем </a:t>
            </a:r>
            <a:br>
              <a:rPr lang="ru-RU" dirty="0"/>
            </a:br>
            <a:r>
              <a:rPr lang="ru-RU" dirty="0" sz="165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 помощью </a:t>
            </a:r>
            <a:r>
              <a:rPr lang="en-US" dirty="0" sz="165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LLM</a:t>
            </a:r>
            <a:endParaRPr lang="ru-RU" dirty="0" sz="1500"/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3E404D90-D1F0-48CD-8905-616402D79A7A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Юридический ассистент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2EE5367B-CA18-453C-A827-C65D965FC698}"/>
              </a:ext>
            </a:extLst>
          </p:cNvPr>
          <p:cNvSpPr>
            <a:spLocks noGrp="1"/>
          </p:cNvSpPr>
          <p:nvPr/>
        </p:nvSpPr>
        <p:spPr>
          <a:xfrm>
            <a:off x="545781" y="3216009"/>
            <a:ext cx="4984529" cy="1640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Вызовы: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Короткие сроки на тестирование (3 недели)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Отсутствие требований – команда сама решала, что должно быть реализовано в пилотной версии продукта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Критерии качества продукта не установлены заказчиком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Примеры реальных диалогов с клиентами отсутствуют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BEC62FAE-3669-4291-83F1-EDACAA426A01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Решение с помощью системы ИИ-агентов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1CEE77E0-BF5C-4186-B6A2-3064D7C91FE1}"/>
              </a:ext>
            </a:extLst>
          </p:cNvPr>
          <p:cNvSpPr>
            <a:spLocks noGrp="1"/>
          </p:cNvSpPr>
          <p:nvPr/>
        </p:nvSpPr>
        <p:spPr>
          <a:xfrm>
            <a:off x="6696994" y="1485023"/>
            <a:ext cx="4984529" cy="266804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Была создана система ИИ-агентов, решающая следующие задачи: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Первый агент анализировал предоставленные документы и генерировал тестовые данные (вопросы, которые может задать пользователь) 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Второй агент генерировал «эталонный» ответ (он же ожидаемый результат – что должен ответить ассистент)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Третий агент сравнивал «эталонный» ответ с реальным ответом нашего ассистента и оценивал на релевантность, корректность, полноту (использовали </a:t>
            </a:r>
            <a:r>
              <a:rPr lang="en-US" dirty="0" sz="850" b="0">
                <a:solidFill>
                  <a:srgbClr val="000000"/>
                </a:solidFill>
                <a:latin typeface="Stapel"/>
              </a:rPr>
              <a:t>RAGAS)</a:t>
            </a:r>
            <a:endParaRPr lang="ru-RU" dirty="0" sz="110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Четвёртый агент ранжировал существующие тест-кейсы по приоритетам и составлял тест-планы (например, </a:t>
            </a:r>
            <a:r>
              <a:rPr lang="en-US" dirty="0" sz="850" b="0">
                <a:solidFill>
                  <a:srgbClr val="000000"/>
                </a:solidFill>
                <a:latin typeface="Stapel"/>
              </a:rPr>
              <a:t>smoke-</a:t>
            </a:r>
            <a:r>
              <a:rPr lang="ru-RU" dirty="0" sz="850" b="0">
                <a:solidFill>
                  <a:srgbClr val="000000"/>
                </a:solidFill>
                <a:latin typeface="Stapel"/>
              </a:rPr>
              <a:t>набор)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Пятый агент преобразовывал тест-кейсы из </a:t>
            </a:r>
            <a:r>
              <a:rPr lang="en-US" dirty="0" sz="850" b="0">
                <a:solidFill>
                  <a:srgbClr val="000000"/>
                </a:solidFill>
                <a:latin typeface="Stapel"/>
              </a:rPr>
              <a:t>.md</a:t>
            </a:r>
            <a:r>
              <a:rPr lang="ru-RU" dirty="0" sz="850" b="0">
                <a:solidFill>
                  <a:srgbClr val="000000"/>
                </a:solidFill>
                <a:latin typeface="Stapel"/>
              </a:rPr>
              <a:t>-формата в </a:t>
            </a:r>
            <a:r>
              <a:rPr lang="en-US" dirty="0" sz="850" b="0">
                <a:solidFill>
                  <a:srgbClr val="000000"/>
                </a:solidFill>
                <a:latin typeface="Stapel"/>
              </a:rPr>
              <a:t>.csv</a:t>
            </a:r>
            <a:r>
              <a:rPr lang="ru-RU" dirty="0" sz="850" b="0">
                <a:solidFill>
                  <a:srgbClr val="000000"/>
                </a:solidFill>
                <a:latin typeface="Stapel"/>
              </a:rPr>
              <a:t>-файлы для дальнейшего импорта в </a:t>
            </a:r>
            <a:r>
              <a:rPr lang="en-US" dirty="0" sz="850" b="0">
                <a:solidFill>
                  <a:srgbClr val="000000"/>
                </a:solidFill>
                <a:latin typeface="Stapel"/>
              </a:rPr>
              <a:t>TMS (Allure </a:t>
            </a:r>
            <a:r>
              <a:rPr lang="en-US" dirty="0" err="1" sz="850" b="0">
                <a:solidFill>
                  <a:srgbClr val="000000"/>
                </a:solidFill>
                <a:latin typeface="Stapel"/>
              </a:rPr>
              <a:t>TestOps</a:t>
            </a:r>
            <a:r>
              <a:rPr lang="en-US" dirty="0" sz="850" b="0">
                <a:solidFill>
                  <a:srgbClr val="000000"/>
                </a:solidFill>
                <a:latin typeface="Stapel"/>
              </a:rPr>
              <a:t>)</a:t>
            </a:r>
            <a:endParaRPr lang="ru-RU" dirty="0" sz="110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362B3E1D-4DB8-489F-9129-C34C6B460162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8AA59E7-A3F3-4B19-94B3-4C03764414D5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54599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написания тестовых кейсов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в 3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 поддержку тестовых кейсов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в 2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 подготовку тест-плана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в 2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 подготовку эксплуатационной документации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с 2 дней до 3 часов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92502B39-2A2D-4F18-8E7D-9BE4CFB3FCD3}"/>
              </a:ext>
            </a:extLst>
          </p:cNvPr>
          <p:cNvSpPr txBox="1">
            <a:spLocks/>
          </p:cNvSpPr>
          <p:nvPr/>
        </p:nvSpPr>
        <p:spPr>
          <a:xfrm>
            <a:off x="527876" y="1758024"/>
            <a:ext cx="5098483" cy="841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Проект по разработке онлайн ассистента по юридическим вопросам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 приложение загружены документы с юридической базой по жизненным ситуациям (например, процедура смены фамилии ребёнку)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Документы загружены дважды – исходная версия и расширенная. Расширенная постоянно дополнялась и заливалась на тестовые среды (нечёткий вход)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63D2D014-C435-4FB0-A799-257D02ABA037}"/>
              </a:ext>
            </a:extLst>
          </p:cNvPr>
          <p:cNvSpPr txBox="1"/>
          <p:nvPr/>
        </p:nvSpPr>
        <p:spPr>
          <a:xfrm>
            <a:off x="545781" y="140444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052F4B95-766F-40EC-8E1E-479C8A4FD39D}"/>
              </a:ext>
            </a:extLst>
          </p:cNvPr>
          <p:cNvSpPr txBox="1"/>
          <p:nvPr/>
        </p:nvSpPr>
        <p:spPr>
          <a:xfrm>
            <a:off x="510477" y="4972700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92"/>
              </a:lnSpc>
              <a:spcBef>
                <a:spcPts val="1692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886CA590-2FED-486E-AF70-5AD8A1BB7C53}"/>
              </a:ext>
            </a:extLst>
          </p:cNvPr>
          <p:cNvSpPr txBox="1"/>
          <p:nvPr/>
        </p:nvSpPr>
        <p:spPr>
          <a:xfrm>
            <a:off x="510477" y="5388455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buClr>
                <a:srgbClr val="7D70EF"/>
              </a:buClr>
              <a:buSzPct val="110000"/>
              <a:defRPr/>
            </a:pP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cursor,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я.трекер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allure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testOps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python,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powershell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Chat-assistant API, Sputnik AI (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прокси)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70AFF3FC-24F3-445A-B1DE-E39FDC80210C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Автоматизация с помощью ИИ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1C25E7EB-668D-4880-BF9E-B12EB23DD8EC}"/>
              </a:ext>
            </a:extLst>
          </p:cNvPr>
          <p:cNvSpPr>
            <a:spLocks noGrp="1"/>
          </p:cNvSpPr>
          <p:nvPr/>
        </p:nvSpPr>
        <p:spPr>
          <a:xfrm>
            <a:off x="510477" y="805078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Юридический ассистент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43FC0EC1-90F4-4799-B462-D15242A1C723}"/>
              </a:ext>
            </a:extLst>
          </p:cNvPr>
          <p:cNvSpPr>
            <a:spLocks noGrp="1"/>
          </p:cNvSpPr>
          <p:nvPr/>
        </p:nvSpPr>
        <p:spPr>
          <a:xfrm>
            <a:off x="579392" y="2914682"/>
            <a:ext cx="4984529" cy="219764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1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Вызовы:</a:t>
            </a:r>
          </a:p>
          <a:p>
            <a:pPr marL="285750" indent="-285750">
              <a:lnSpc>
                <a:spcPct val="11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Ассистент на один и тот же вопрос может отвечать по-разному</a:t>
            </a:r>
          </a:p>
          <a:p>
            <a:pPr marL="285750" indent="-285750">
              <a:lnSpc>
                <a:spcPct val="11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Вопросы могут быть заданы «с разных сторон» – от лица родителя, ребёнка, от третьего лица</a:t>
            </a:r>
          </a:p>
          <a:p>
            <a:pPr marL="285750" indent="-285750">
              <a:lnSpc>
                <a:spcPct val="11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У ассистента есть «отбивки» ответов на токсичные вопросы, попытки взлома, вопросы вне компетенции (вне загруженных жизненных ситуаций) и вне юридической тематики</a:t>
            </a:r>
          </a:p>
          <a:p>
            <a:pPr marL="285750" indent="-285750">
              <a:lnSpc>
                <a:spcPct val="11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Отсутствие удобной визуализации результатов запуска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(300+ кейсов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* N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попыток) для анализа работы ассистента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CF25881B-C058-4F68-830C-9D3A7CEBBA26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Решения по автоматизации с помощью ИИ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F209F570-9912-42DC-9A8E-EAD3490B2F17}"/>
              </a:ext>
            </a:extLst>
          </p:cNvPr>
          <p:cNvSpPr>
            <a:spLocks noGrp="1"/>
          </p:cNvSpPr>
          <p:nvPr/>
        </p:nvSpPr>
        <p:spPr>
          <a:xfrm>
            <a:off x="6696994" y="1485023"/>
            <a:ext cx="4984529" cy="235070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Ночные прогоны на 3-5 попыток для каждого кейса (вопроса), средняя оценка по каждому кейсу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Генерация дополнительных кейсов для проверки «отбивок», с опечатками, с ошибками в падежах и др.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Выявление паттернов поведения и подстановка «отбивок» в ожидаемый результат в явном виде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Реализован </a:t>
            </a:r>
            <a:r>
              <a:rPr lang="ru-RU" dirty="0" err="1" sz="850" b="0">
                <a:solidFill>
                  <a:srgbClr val="000000"/>
                </a:solidFill>
                <a:latin typeface="Stapel"/>
              </a:rPr>
              <a:t>автогенерируемый</a:t>
            </a:r>
            <a:r>
              <a:rPr lang="ru-RU" dirty="0" sz="850" b="0">
                <a:solidFill>
                  <a:srgbClr val="000000"/>
                </a:solidFill>
                <a:latin typeface="Stapel"/>
              </a:rPr>
              <a:t> отчёт о результатах запуска автоматизированных тестов, одинаково понятный для технических специалистов и менеджмента, который содержал статистику о результатах и рекомендации по улучшению, сгенерированные ИИ. 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850" b="0">
                <a:solidFill>
                  <a:srgbClr val="000000"/>
                </a:solidFill>
                <a:latin typeface="Stapel"/>
              </a:rPr>
              <a:t>Также в случае падения тестов вместо ответов ассистента отображался лог ошибки (например, таймаут)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F7E17B1-5A4B-430B-8203-A5A6377E813C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35675C3-E57A-4ABE-BEEA-2130D5FBA7D9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86313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анализа результатов прогонов сократилось в 3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Сократилось время отладки на 20%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Покрытие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smoke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10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0%,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регрессии – 95% (не покрыты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UI/UX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)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Рекомендации в отчёте сократили время на поддержку автоматизированных тестов на 15% 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3B7B27B1-7C9E-4467-8F3A-770FD31E7CA1}"/>
              </a:ext>
            </a:extLst>
          </p:cNvPr>
          <p:cNvSpPr txBox="1">
            <a:spLocks/>
          </p:cNvSpPr>
          <p:nvPr/>
        </p:nvSpPr>
        <p:spPr>
          <a:xfrm>
            <a:off x="522416" y="1538401"/>
            <a:ext cx="5098483" cy="841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Проект по разработке онлайн ассистента по юридическим вопросам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 приложение загружены документы с юридической базой по жизненным ситуациям (например, процедура смены фамилии ребёнку)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Документы загружены дважды – исходная версия и расширенная. Расширенная постоянно дополнялась и заливалась на тестовые среды (нечёткий вход)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C6AE4624-07ED-46D7-9531-AB9F401B51A6}"/>
              </a:ext>
            </a:extLst>
          </p:cNvPr>
          <p:cNvSpPr txBox="1"/>
          <p:nvPr/>
        </p:nvSpPr>
        <p:spPr>
          <a:xfrm>
            <a:off x="540321" y="118481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DC8C1AC1-0D6C-46EA-9DDC-92F4FA0D84F7}"/>
              </a:ext>
            </a:extLst>
          </p:cNvPr>
          <p:cNvSpPr txBox="1"/>
          <p:nvPr/>
        </p:nvSpPr>
        <p:spPr>
          <a:xfrm>
            <a:off x="510477" y="4972700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92"/>
              </a:lnSpc>
              <a:spcBef>
                <a:spcPts val="1692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9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70015509-C0BC-4E22-A6EA-9FB10ACC0FF9}"/>
              </a:ext>
            </a:extLst>
          </p:cNvPr>
          <p:cNvSpPr txBox="1"/>
          <p:nvPr/>
        </p:nvSpPr>
        <p:spPr>
          <a:xfrm>
            <a:off x="510477" y="5388455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buClr>
                <a:srgbClr val="7D70EF"/>
              </a:buClr>
              <a:buSzPct val="110000"/>
              <a:defRPr/>
            </a:pP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cursor,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я.трекер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allure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testOps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python,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powershell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Chat-assistant API, Sputnik AI (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прокси)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страховой платформы на базе СИНАНС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БестДоктор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Создание </a:t>
            </a:r>
            <a:r>
              <a:rPr lang="en-US" sz="1200" dirty="0" err="1" b="0">
                <a:solidFill>
                  <a:srgbClr val="000000"/>
                </a:solidFill>
                <a:latin typeface="Stapel"/>
              </a:rPr>
              <a:t>PoC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будущего решения (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UI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)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, c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деланного полностью с помощью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AI</a:t>
            </a:r>
            <a:endParaRPr lang="ru-RU" sz="1200" dirty="0"/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Агент по анализу требований – анализ текущих требований с учетом подгружаемого контекста. Поиск скрытых зависимостей, связей. Исследование потенциала на развитие функционала.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Агент по созданию тестовых артефакт – создание чек листов и текст кейсов под разные виды тестирования. Учитывается позитивные и негативные сценарии с учетом применения техник тест дизайна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Единая платформа для ведения страховых договоров различных типов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Огромное количество неописанных требований</a:t>
            </a:r>
            <a:endParaRPr lang="en-US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Отсутствие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UI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продукта на начальном этапе разработки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5 </a:t>
            </a:r>
            <a:r>
              <a:rPr lang="ru-RU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стримов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разных направлениях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интеграций с внутренними и внешними системами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Сжатые сроки проекта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Перманентный процесс изменения требований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Reksoft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AI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Hub 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15% снижение времени по обработки одного документа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22% сокращения времени на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Refinements </a:t>
            </a:r>
            <a:endParaRPr lang="ru-RU" sz="1200" dirty="0"/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10% снижение времени на создание тестов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15% увеличение качества тестов по неочевидных связям и скрытым зависимостям. 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25% снижение времени на обновление тестов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5280564" cy="613057"/>
          </a:xfrm>
        </p:spPr>
        <p:txBody>
          <a:bodyPr>
            <a:noAutofit/>
          </a:bodyPr>
          <a:lstStyle/>
          <a:p>
            <a:r>
              <a:rPr lang="ru-RU" dirty="0" sz="195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Расширение фреймворка автоматизации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Диасофт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Использование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для генерации кода для сложных бизнес объектов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Внедрение </a:t>
            </a:r>
            <a:r>
              <a:rPr lang="en-US" sz="1200" dirty="0" err="1" b="0">
                <a:solidFill>
                  <a:srgbClr val="000000"/>
                </a:solidFill>
                <a:latin typeface="Stapel"/>
              </a:rPr>
              <a:t>ReportPortal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с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анализом полученных результатов.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Цель проекта – расширение покрытия автоматизации тест кейсов.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Сложные бизнес процесс.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легаси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кода и текущего фреймворка.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Подключение к существующему процессу и его улучшение.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Короткий срок на расширение количество и качества автоматизированных тестов.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Сложные бизнес процесс и бизнес объектов.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Небольшая команда АТ.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Reksoft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AI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Hub 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До 90% сокращения времени на генерацию кода для сложных бизнес объектов.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15% сокращения времени на создание готового автоматизированного теста.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5280564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умного помощника для страховых брокеров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D70EF"/>
                </a:solidFill>
                <a:latin typeface="Stapel Medium"/>
                <a:ea typeface="Stapel Medium"/>
                <a:cs typeface="Stapel Medium"/>
              </a:rPr>
              <a:t>СберБрокер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Создание полуавтоматический фреймворка для интеллектуального помощника по оценке качества ответов и проверки безопасности.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Генерация тестовой стратегии для обеспечения качества продукта и корректного подхода к тестированию.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Реализация механизма по генерации базы с вопросами/ответами для валидации корректности ответов.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Реализация общего подхода для страхового агрегатора/брокера и его клиентов или потребителей.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Унификация интерфейса для доступа к информации для внутренних и внешних пользователей.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Информационное сопровождение бизнеса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Минимальное количество документации по различным областям.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Современный интерфейс на естественном языке, вместо большого количества разнородных интерфейсов.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Сжатые сроки проекта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Огромное количество вариаций и трактований ответов.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D70EF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Reksoft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AI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Hub 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0EF"/>
              </a:buClr>
              <a:buFont typeface="Stapel" panose="020B0604020202020204" pitchFamily="34" charset="0"/>
              <a:buNone/>
              <a:defRPr sz="15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15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15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480"/>
              </a:spcBef>
              <a:buFont typeface="Stapel" panose="020B0604020202020204" pitchFamily="34" charset="0"/>
              <a:buChar char="•"/>
              <a:defRPr sz="17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5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D70EF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D70E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До 90% сокращение времени на разработку опросника оценки качества ответов.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50% сокращение времени на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LLM Penetration test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за счет автоматизированной генерации и редактирования запросов на проверку уязвимостей приложения. 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25% сокращение времени на создание требований по новым исследованным областям.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ru-RU"/>
              <a:t>Контакты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ru-RU" sz="1200"/>
              <a:t>Тел: +7 (920) 637-33-81</a:t>
            </a:r>
          </a:p>
          <a:p>
            <a:r>
              <a:rPr lang="ru-RU" sz="1200"/>
              <a:t>Email: andrey_myskin@rntgroup.com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ru-RU"/>
              <a:t>Андрей Мыськин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504748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Stapel"/>
              </a:rPr>
              <a:t>Руководитель практики тестирования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Reksoft">
      <a:dk1>
        <a:srgbClr val="000000"/>
      </a:dk1>
      <a:lt1>
        <a:srgbClr val="FFFFFF"/>
      </a:lt1>
      <a:dk2>
        <a:srgbClr val="CF0522"/>
      </a:dk2>
      <a:lt2>
        <a:srgbClr val="F5F4F4"/>
      </a:lt2>
      <a:accent1>
        <a:srgbClr val="FFA4A3"/>
      </a:accent1>
      <a:accent2>
        <a:srgbClr val="EF80BB"/>
      </a:accent2>
      <a:accent3>
        <a:srgbClr val="8F0D6B"/>
      </a:accent3>
      <a:accent4>
        <a:srgbClr val="C007A7"/>
      </a:accent4>
      <a:accent5>
        <a:srgbClr val="722BC3"/>
      </a:accent5>
      <a:accent6>
        <a:srgbClr val="ACC4FE"/>
      </a:accent6>
      <a:hlink>
        <a:srgbClr val="CF0522"/>
      </a:hlink>
      <a:folHlink>
        <a:srgbClr val="7D70EF"/>
      </a:folHlink>
    </a:clrScheme>
    <a:fontScheme name="Reksoft">
      <a:majorFont>
        <a:latin typeface="Stapel"/>
        <a:ea typeface=""/>
        <a:cs typeface=""/>
      </a:majorFont>
      <a:minorFont>
        <a:latin typeface="Stape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/>
      </a:spPr>
      <a:bodyPr vert="horz" wrap="square" lIns="0" tIns="0" rIns="0" bIns="0" rtlCol="0" anchor="b">
        <a:normAutofit/>
      </a:bodyPr>
      <a:lstStyle>
        <a:defPPr algn="l">
          <a:defRPr dirty="0">
            <a:latin typeface="Stapel" panose="020B0504020202020204" pitchFamily="34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Типографика" id="{DBA017C3-C1C1-45B1-9C0D-A9BFE40BAE58}" vid="{916948D9-D356-4CE1-BAEC-90C7B8A8D74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Reksoft_template_FINAL</Template>
  <TotalTime>465</TotalTime>
  <Words>27888</Words>
  <Application>Microsoft Macintosh PowerPoint</Application>
  <PresentationFormat>Widescreen</PresentationFormat>
  <Paragraphs>4366</Paragraphs>
  <Slides>133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38" baseType="lpstr">
      <vt:lpstr>Stapel Medium</vt:lpstr>
      <vt:lpstr>Calibri</vt:lpstr>
      <vt:lpstr>Stapel</vt:lpstr>
      <vt:lpstr>Arial</vt:lpstr>
      <vt:lpstr>Специальное оформление</vt:lpstr>
      <vt:lpstr>Типографика</vt:lpstr>
      <vt:lpstr>Правила работы с цветом в презентации</vt:lpstr>
      <vt:lpstr>Правила работы с цветом в презентации</vt:lpstr>
      <vt:lpstr>Правила работы с таблицами в презентации</vt:lpstr>
      <vt:lpstr>PowerPoint Presentation</vt:lpstr>
      <vt:lpstr>PowerPoint Presentation</vt:lpstr>
      <vt:lpstr>PowerPoint Presentation</vt:lpstr>
      <vt:lpstr>PowerPoint Presentation</vt:lpstr>
      <vt:lpstr>Конфиденциальность и характер документа</vt:lpstr>
      <vt:lpstr>Содержание</vt:lpstr>
      <vt:lpstr>Содержание</vt:lpstr>
      <vt:lpstr>Разделительный слайд</vt:lpstr>
      <vt:lpstr>PowerPoint Presentation</vt:lpstr>
      <vt:lpstr>PowerPoint Presentation</vt:lpstr>
      <vt:lpstr>Предпосылки проекта и подход к реализации</vt:lpstr>
      <vt:lpstr>Предпосылки проекта и подход к реализации</vt:lpstr>
      <vt:lpstr>Предпосылки проекта и подход к реализации</vt:lpstr>
      <vt:lpstr>Предпосылки проекта и подход к реализации</vt:lpstr>
      <vt:lpstr>Текстовый слайд с 2 колонками и списками</vt:lpstr>
      <vt:lpstr>Текстовый слайд с 3 колонками и списками</vt:lpstr>
      <vt:lpstr>Текстовый слайд с 3 колонками и рисунком</vt:lpstr>
      <vt:lpstr>Таблица</vt:lpstr>
      <vt:lpstr>Таблица + выносы/фактоиды</vt:lpstr>
      <vt:lpstr>Анализ эффективности</vt:lpstr>
      <vt:lpstr>Анализ эффективности</vt:lpstr>
      <vt:lpstr>Анализ эффективности</vt:lpstr>
      <vt:lpstr>Таймлайн</vt:lpstr>
      <vt:lpstr>Таймлайн</vt:lpstr>
      <vt:lpstr>Таймлайн</vt:lpstr>
      <vt:lpstr>Таймлайн</vt:lpstr>
      <vt:lpstr>Дорожная карта проекта</vt:lpstr>
      <vt:lpstr>Дорожная карта проекта</vt:lpstr>
      <vt:lpstr>Дорожная карта проекта</vt:lpstr>
      <vt:lpstr>Направление 1. Дизайн операционной модели</vt:lpstr>
      <vt:lpstr>Направление 1. Дизайн операционной модели</vt:lpstr>
      <vt:lpstr>Направление 1. Дизайн операционной модели</vt:lpstr>
      <vt:lpstr>Детализация ключевых задач:  Этап 1. Концепция цифровизации</vt:lpstr>
      <vt:lpstr>Детализация ключевых задач:  Этап 1. Концепция цифровизации</vt:lpstr>
      <vt:lpstr>Детализация ключевых задач:  Этап 1. Концепция цифровизации</vt:lpstr>
      <vt:lpstr>Этапы работ</vt:lpstr>
      <vt:lpstr>Этапы работ</vt:lpstr>
      <vt:lpstr>Стоимость проекта</vt:lpstr>
      <vt:lpstr>Стоимость проекта</vt:lpstr>
      <vt:lpstr>Текст с графиком</vt:lpstr>
      <vt:lpstr>Текст с графиком</vt:lpstr>
      <vt:lpstr>Текст с графиком</vt:lpstr>
      <vt:lpstr>Текст с графиком</vt:lpstr>
      <vt:lpstr>Графики план-факт</vt:lpstr>
      <vt:lpstr>Графики план-факт</vt:lpstr>
      <vt:lpstr>Графики план-факт</vt:lpstr>
      <vt:lpstr>Графики план-факт</vt:lpstr>
      <vt:lpstr>Графики план-факт</vt:lpstr>
      <vt:lpstr>Графики и диаграммы с текстом</vt:lpstr>
      <vt:lpstr>Графики и диаграммы с текстом</vt:lpstr>
      <vt:lpstr>Графики и диаграммы с текстом</vt:lpstr>
      <vt:lpstr>Графики</vt:lpstr>
      <vt:lpstr>Графики</vt:lpstr>
      <vt:lpstr>Графики</vt:lpstr>
      <vt:lpstr>Графики</vt:lpstr>
      <vt:lpstr>Схема</vt:lpstr>
      <vt:lpstr>Схема</vt:lpstr>
      <vt:lpstr>Схема</vt:lpstr>
      <vt:lpstr>Схема</vt:lpstr>
      <vt:lpstr>Схема с пояснениями</vt:lpstr>
      <vt:lpstr>Текстовый слайд с выносом</vt:lpstr>
      <vt:lpstr>Текстовый слайд</vt:lpstr>
      <vt:lpstr>Текстовый слайд</vt:lpstr>
      <vt:lpstr>Текстовый слайд с выводом</vt:lpstr>
      <vt:lpstr>Текстовый слайд с фактоидом и плитками</vt:lpstr>
      <vt:lpstr>Плитки 4 штуки</vt:lpstr>
      <vt:lpstr>Плитки 4 штуки</vt:lpstr>
      <vt:lpstr>Плитки 6 штук</vt:lpstr>
      <vt:lpstr>Плитки 12 штук</vt:lpstr>
      <vt:lpstr>Плитки 12 штук</vt:lpstr>
      <vt:lpstr>Хронология</vt:lpstr>
      <vt:lpstr>Столбцы с текстом</vt:lpstr>
      <vt:lpstr>Слайд с сегментацией</vt:lpstr>
      <vt:lpstr>Слайд с сегментацией</vt:lpstr>
      <vt:lpstr>Слайд с сегментацией</vt:lpstr>
      <vt:lpstr>Слайд с сегментацией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Заголовок</vt:lpstr>
      <vt:lpstr>Заголовок</vt:lpstr>
      <vt:lpstr>Заголовок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Текст + фактоиды с подписями</vt:lpstr>
      <vt:lpstr>Фактоиды с подписями</vt:lpstr>
      <vt:lpstr>Список с иконками и пояснениями</vt:lpstr>
      <vt:lpstr>Опыт (компактный вид по отраслям)</vt:lpstr>
      <vt:lpstr>Опыт</vt:lpstr>
      <vt:lpstr>Опыт</vt:lpstr>
      <vt:lpstr>Представление команды</vt:lpstr>
      <vt:lpstr>Представление команды</vt:lpstr>
      <vt:lpstr>Предлагаемая организационная структура  проектной команды</vt:lpstr>
      <vt:lpstr>Контакты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Рексофт</dc:title>
  <dc:subject>PptxGenJS Presentation</dc:subject>
  <dc:creator>Reksoft</dc:creator>
  <cp:lastModifiedBy>Microsoft Office User</cp:lastModifiedBy>
  <cp:revision>59</cp:revision>
  <dcterms:created xsi:type="dcterms:W3CDTF">2025-10-23T13:34:07Z</dcterms:created>
  <dcterms:modified xsi:type="dcterms:W3CDTF">2026-02-13T14:47:04Z</dcterms:modified>
</cp:coreProperties>
</file>